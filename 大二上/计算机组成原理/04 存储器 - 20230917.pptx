
<file path=[Content_Types].xml><?xml version="1.0" encoding="utf-8"?>
<Types xmlns="http://schemas.openxmlformats.org/package/2006/content-types">
  <Default Extension="jpeg" ContentType="image/jpeg"/>
  <Default Extension="JPG" ContentType="image/.jpg"/>
  <Default Extension="vml" ContentType="application/vnd.openxmlformats-officedocument.vmlDrawing"/>
  <Default Extension="bin" ContentType="application/vnd.openxmlformats-officedocument.oleObject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09"/>
  </p:notesMasterIdLst>
  <p:sldIdLst>
    <p:sldId id="410" r:id="rId3"/>
    <p:sldId id="411" r:id="rId4"/>
    <p:sldId id="412" r:id="rId5"/>
    <p:sldId id="413" r:id="rId6"/>
    <p:sldId id="414" r:id="rId7"/>
    <p:sldId id="415" r:id="rId8"/>
    <p:sldId id="416" r:id="rId9"/>
    <p:sldId id="417" r:id="rId10"/>
    <p:sldId id="418" r:id="rId11"/>
    <p:sldId id="419" r:id="rId12"/>
    <p:sldId id="420" r:id="rId13"/>
    <p:sldId id="421" r:id="rId14"/>
    <p:sldId id="422" r:id="rId15"/>
    <p:sldId id="423" r:id="rId16"/>
    <p:sldId id="424" r:id="rId17"/>
    <p:sldId id="425" r:id="rId18"/>
    <p:sldId id="426" r:id="rId19"/>
    <p:sldId id="427" r:id="rId20"/>
    <p:sldId id="428" r:id="rId21"/>
    <p:sldId id="429" r:id="rId22"/>
    <p:sldId id="430" r:id="rId23"/>
    <p:sldId id="431" r:id="rId24"/>
    <p:sldId id="432" r:id="rId25"/>
    <p:sldId id="433" r:id="rId26"/>
    <p:sldId id="434" r:id="rId27"/>
    <p:sldId id="435" r:id="rId28"/>
    <p:sldId id="436" r:id="rId29"/>
    <p:sldId id="437" r:id="rId30"/>
    <p:sldId id="438" r:id="rId31"/>
    <p:sldId id="439" r:id="rId32"/>
    <p:sldId id="440" r:id="rId33"/>
    <p:sldId id="441" r:id="rId34"/>
    <p:sldId id="442" r:id="rId35"/>
    <p:sldId id="443" r:id="rId36"/>
    <p:sldId id="444" r:id="rId37"/>
    <p:sldId id="445" r:id="rId38"/>
    <p:sldId id="446" r:id="rId39"/>
    <p:sldId id="447" r:id="rId40"/>
    <p:sldId id="448" r:id="rId41"/>
    <p:sldId id="449" r:id="rId42"/>
    <p:sldId id="450" r:id="rId43"/>
    <p:sldId id="451" r:id="rId44"/>
    <p:sldId id="452" r:id="rId45"/>
    <p:sldId id="453" r:id="rId46"/>
    <p:sldId id="454" r:id="rId47"/>
    <p:sldId id="455" r:id="rId48"/>
    <p:sldId id="456" r:id="rId49"/>
    <p:sldId id="457" r:id="rId50"/>
    <p:sldId id="458" r:id="rId51"/>
    <p:sldId id="459" r:id="rId52"/>
    <p:sldId id="460" r:id="rId53"/>
    <p:sldId id="1000" r:id="rId54"/>
    <p:sldId id="462" r:id="rId55"/>
    <p:sldId id="463" r:id="rId56"/>
    <p:sldId id="464" r:id="rId57"/>
    <p:sldId id="973" r:id="rId58"/>
    <p:sldId id="868" r:id="rId59"/>
    <p:sldId id="974" r:id="rId60"/>
    <p:sldId id="975" r:id="rId61"/>
    <p:sldId id="976" r:id="rId62"/>
    <p:sldId id="977" r:id="rId63"/>
    <p:sldId id="978" r:id="rId64"/>
    <p:sldId id="979" r:id="rId65"/>
    <p:sldId id="980" r:id="rId66"/>
    <p:sldId id="981" r:id="rId67"/>
    <p:sldId id="475" r:id="rId68"/>
    <p:sldId id="476" r:id="rId69"/>
    <p:sldId id="477" r:id="rId70"/>
    <p:sldId id="478" r:id="rId71"/>
    <p:sldId id="1008" r:id="rId72"/>
    <p:sldId id="1009" r:id="rId73"/>
    <p:sldId id="1010" r:id="rId74"/>
    <p:sldId id="1011" r:id="rId75"/>
    <p:sldId id="1012" r:id="rId76"/>
    <p:sldId id="1013" r:id="rId77"/>
    <p:sldId id="1014" r:id="rId78"/>
    <p:sldId id="481" r:id="rId79"/>
    <p:sldId id="482" r:id="rId80"/>
    <p:sldId id="483" r:id="rId81"/>
    <p:sldId id="982" r:id="rId82"/>
    <p:sldId id="983" r:id="rId83"/>
    <p:sldId id="486" r:id="rId84"/>
    <p:sldId id="487" r:id="rId85"/>
    <p:sldId id="984" r:id="rId86"/>
    <p:sldId id="489" r:id="rId87"/>
    <p:sldId id="490" r:id="rId88"/>
    <p:sldId id="491" r:id="rId89"/>
    <p:sldId id="492" r:id="rId90"/>
    <p:sldId id="493" r:id="rId91"/>
    <p:sldId id="494" r:id="rId92"/>
    <p:sldId id="495" r:id="rId93"/>
    <p:sldId id="498" r:id="rId94"/>
    <p:sldId id="499" r:id="rId95"/>
    <p:sldId id="500" r:id="rId96"/>
    <p:sldId id="501" r:id="rId97"/>
    <p:sldId id="502" r:id="rId98"/>
    <p:sldId id="867" r:id="rId99"/>
    <p:sldId id="504" r:id="rId100"/>
    <p:sldId id="505" r:id="rId101"/>
    <p:sldId id="507" r:id="rId102"/>
    <p:sldId id="508" r:id="rId103"/>
    <p:sldId id="509" r:id="rId104"/>
    <p:sldId id="510" r:id="rId105"/>
    <p:sldId id="506" r:id="rId106"/>
    <p:sldId id="1015" r:id="rId107"/>
    <p:sldId id="1016" r:id="rId108"/>
    <p:sldId id="1017" r:id="rId110"/>
    <p:sldId id="511" r:id="rId111"/>
  </p:sldIdLst>
  <p:sldSz cx="12192000" cy="6858000"/>
  <p:notesSz cx="6858000" cy="9144000"/>
  <p:custDataLst>
    <p:tags r:id="rId115"/>
  </p:custDataLst>
  <p:kinsoku lang="zh-CN" invalStChars="!),.:;?]}、。—ˇ¨〃々～‖…’”〕〉》」』〗】∶！＂＇），．：；？］｀｜｝·" invalEndChars="([{‘“〔〈《「『〖【（［｛．·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默认节" id="{623E4596-A153-4953-A0DA-B29946D8A160}">
          <p14:sldIdLst>
            <p14:sldId id="410"/>
          </p14:sldIdLst>
        </p14:section>
        <p14:section name="I 概述" id="{A0A0B6B7-84F1-421D-AF9B-5B075DEADAB4}">
          <p14:sldIdLst>
            <p14:sldId id="411"/>
            <p14:sldId id="412"/>
            <p14:sldId id="413"/>
            <p14:sldId id="414"/>
            <p14:sldId id="415"/>
          </p14:sldIdLst>
        </p14:section>
        <p14:section name="II 主存储器" id="{65C7038F-F462-4DF8-BEAB-2267125FD7E5}">
          <p14:sldIdLst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27"/>
            <p14:sldId id="428"/>
            <p14:sldId id="429"/>
            <p14:sldId id="430"/>
            <p14:sldId id="431"/>
            <p14:sldId id="432"/>
            <p14:sldId id="433"/>
            <p14:sldId id="434"/>
            <p14:sldId id="435"/>
            <p14:sldId id="436"/>
            <p14:sldId id="437"/>
            <p14:sldId id="438"/>
            <p14:sldId id="439"/>
            <p14:sldId id="440"/>
            <p14:sldId id="441"/>
            <p14:sldId id="442"/>
            <p14:sldId id="443"/>
            <p14:sldId id="444"/>
            <p14:sldId id="445"/>
            <p14:sldId id="446"/>
            <p14:sldId id="447"/>
            <p14:sldId id="448"/>
            <p14:sldId id="449"/>
            <p14:sldId id="450"/>
            <p14:sldId id="451"/>
            <p14:sldId id="452"/>
            <p14:sldId id="453"/>
            <p14:sldId id="454"/>
            <p14:sldId id="455"/>
            <p14:sldId id="456"/>
            <p14:sldId id="457"/>
            <p14:sldId id="458"/>
            <p14:sldId id="459"/>
            <p14:sldId id="460"/>
            <p14:sldId id="1000"/>
            <p14:sldId id="462"/>
            <p14:sldId id="463"/>
            <p14:sldId id="464"/>
            <p14:sldId id="973"/>
            <p14:sldId id="868"/>
            <p14:sldId id="974"/>
            <p14:sldId id="975"/>
            <p14:sldId id="976"/>
            <p14:sldId id="977"/>
            <p14:sldId id="978"/>
            <p14:sldId id="979"/>
            <p14:sldId id="980"/>
            <p14:sldId id="981"/>
            <p14:sldId id="475"/>
            <p14:sldId id="476"/>
            <p14:sldId id="477"/>
            <p14:sldId id="478"/>
            <p14:sldId id="1008"/>
            <p14:sldId id="1009"/>
            <p14:sldId id="1010"/>
            <p14:sldId id="1011"/>
            <p14:sldId id="1012"/>
            <p14:sldId id="1013"/>
            <p14:sldId id="1014"/>
            <p14:sldId id="481"/>
            <p14:sldId id="482"/>
            <p14:sldId id="483"/>
            <p14:sldId id="982"/>
            <p14:sldId id="983"/>
            <p14:sldId id="486"/>
            <p14:sldId id="487"/>
            <p14:sldId id="984"/>
            <p14:sldId id="489"/>
            <p14:sldId id="490"/>
            <p14:sldId id="491"/>
            <p14:sldId id="492"/>
            <p14:sldId id="493"/>
            <p14:sldId id="494"/>
            <p14:sldId id="495"/>
          </p14:sldIdLst>
        </p14:section>
        <p14:section name="III 高速缓存" id="{3E01ED59-4B3F-4C0E-A404-623F5BE152EC}">
          <p14:sldIdLst>
            <p14:sldId id="498"/>
            <p14:sldId id="499"/>
            <p14:sldId id="500"/>
            <p14:sldId id="501"/>
            <p14:sldId id="502"/>
            <p14:sldId id="867"/>
            <p14:sldId id="504"/>
            <p14:sldId id="505"/>
            <p14:sldId id="507"/>
            <p14:sldId id="508"/>
            <p14:sldId id="509"/>
            <p14:sldId id="510"/>
            <p14:sldId id="506"/>
            <p14:sldId id="1015"/>
            <p14:sldId id="1016"/>
            <p14:sldId id="1017"/>
          </p14:sldIdLst>
        </p14:section>
        <p14:section name="IV 辅助存储" id="{8614BA60-BEF2-4A71-A0BF-3274446DF904}">
          <p14:sldIdLst>
            <p14:sldId id="511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23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33CC"/>
    <a:srgbClr val="003399"/>
    <a:srgbClr val="3366FF"/>
    <a:srgbClr val="0066FF"/>
    <a:srgbClr val="C28F3E"/>
    <a:srgbClr val="BC7D3E"/>
    <a:srgbClr val="B0753A"/>
    <a:srgbClr val="996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无样式，无网格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9" autoAdjust="0"/>
    <p:restoredTop sz="94669" autoAdjust="0"/>
  </p:normalViewPr>
  <p:slideViewPr>
    <p:cSldViewPr showGuides="1">
      <p:cViewPr varScale="1">
        <p:scale>
          <a:sx n="150" d="100"/>
          <a:sy n="150" d="100"/>
        </p:scale>
        <p:origin x="2886" y="138"/>
      </p:cViewPr>
      <p:guideLst>
        <p:guide orient="horz" pos="2123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345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7.xml"/><Relationship Id="rId98" Type="http://schemas.openxmlformats.org/officeDocument/2006/relationships/slide" Target="slides/slide96.xml"/><Relationship Id="rId97" Type="http://schemas.openxmlformats.org/officeDocument/2006/relationships/slide" Target="slides/slide95.xml"/><Relationship Id="rId96" Type="http://schemas.openxmlformats.org/officeDocument/2006/relationships/slide" Target="slides/slide94.xml"/><Relationship Id="rId95" Type="http://schemas.openxmlformats.org/officeDocument/2006/relationships/slide" Target="slides/slide93.xml"/><Relationship Id="rId94" Type="http://schemas.openxmlformats.org/officeDocument/2006/relationships/slide" Target="slides/slide92.xml"/><Relationship Id="rId93" Type="http://schemas.openxmlformats.org/officeDocument/2006/relationships/slide" Target="slides/slide91.xml"/><Relationship Id="rId92" Type="http://schemas.openxmlformats.org/officeDocument/2006/relationships/slide" Target="slides/slide90.xml"/><Relationship Id="rId91" Type="http://schemas.openxmlformats.org/officeDocument/2006/relationships/slide" Target="slides/slide89.xml"/><Relationship Id="rId90" Type="http://schemas.openxmlformats.org/officeDocument/2006/relationships/slide" Target="slides/slide88.xml"/><Relationship Id="rId9" Type="http://schemas.openxmlformats.org/officeDocument/2006/relationships/slide" Target="slides/slide7.xml"/><Relationship Id="rId89" Type="http://schemas.openxmlformats.org/officeDocument/2006/relationships/slide" Target="slides/slide87.xml"/><Relationship Id="rId88" Type="http://schemas.openxmlformats.org/officeDocument/2006/relationships/slide" Target="slides/slide86.xml"/><Relationship Id="rId87" Type="http://schemas.openxmlformats.org/officeDocument/2006/relationships/slide" Target="slides/slide85.xml"/><Relationship Id="rId86" Type="http://schemas.openxmlformats.org/officeDocument/2006/relationships/slide" Target="slides/slide84.xml"/><Relationship Id="rId85" Type="http://schemas.openxmlformats.org/officeDocument/2006/relationships/slide" Target="slides/slide83.xml"/><Relationship Id="rId84" Type="http://schemas.openxmlformats.org/officeDocument/2006/relationships/slide" Target="slides/slide82.xml"/><Relationship Id="rId83" Type="http://schemas.openxmlformats.org/officeDocument/2006/relationships/slide" Target="slides/slide81.xml"/><Relationship Id="rId82" Type="http://schemas.openxmlformats.org/officeDocument/2006/relationships/slide" Target="slides/slide80.xml"/><Relationship Id="rId81" Type="http://schemas.openxmlformats.org/officeDocument/2006/relationships/slide" Target="slides/slide79.xml"/><Relationship Id="rId80" Type="http://schemas.openxmlformats.org/officeDocument/2006/relationships/slide" Target="slides/slide78.xml"/><Relationship Id="rId8" Type="http://schemas.openxmlformats.org/officeDocument/2006/relationships/slide" Target="slides/slide6.xml"/><Relationship Id="rId79" Type="http://schemas.openxmlformats.org/officeDocument/2006/relationships/slide" Target="slides/slide77.xml"/><Relationship Id="rId78" Type="http://schemas.openxmlformats.org/officeDocument/2006/relationships/slide" Target="slides/slide76.xml"/><Relationship Id="rId77" Type="http://schemas.openxmlformats.org/officeDocument/2006/relationships/slide" Target="slides/slide75.xml"/><Relationship Id="rId76" Type="http://schemas.openxmlformats.org/officeDocument/2006/relationships/slide" Target="slides/slide74.xml"/><Relationship Id="rId75" Type="http://schemas.openxmlformats.org/officeDocument/2006/relationships/slide" Target="slides/slide73.xml"/><Relationship Id="rId74" Type="http://schemas.openxmlformats.org/officeDocument/2006/relationships/slide" Target="slides/slide72.xml"/><Relationship Id="rId73" Type="http://schemas.openxmlformats.org/officeDocument/2006/relationships/slide" Target="slides/slide71.xml"/><Relationship Id="rId72" Type="http://schemas.openxmlformats.org/officeDocument/2006/relationships/slide" Target="slides/slide70.xml"/><Relationship Id="rId71" Type="http://schemas.openxmlformats.org/officeDocument/2006/relationships/slide" Target="slides/slide69.xml"/><Relationship Id="rId70" Type="http://schemas.openxmlformats.org/officeDocument/2006/relationships/slide" Target="slides/slide68.xml"/><Relationship Id="rId7" Type="http://schemas.openxmlformats.org/officeDocument/2006/relationships/slide" Target="slides/slide5.xml"/><Relationship Id="rId69" Type="http://schemas.openxmlformats.org/officeDocument/2006/relationships/slide" Target="slides/slide67.xml"/><Relationship Id="rId68" Type="http://schemas.openxmlformats.org/officeDocument/2006/relationships/slide" Target="slides/slide66.xml"/><Relationship Id="rId67" Type="http://schemas.openxmlformats.org/officeDocument/2006/relationships/slide" Target="slides/slide65.xml"/><Relationship Id="rId66" Type="http://schemas.openxmlformats.org/officeDocument/2006/relationships/slide" Target="slides/slide64.xml"/><Relationship Id="rId65" Type="http://schemas.openxmlformats.org/officeDocument/2006/relationships/slide" Target="slides/slide63.xml"/><Relationship Id="rId64" Type="http://schemas.openxmlformats.org/officeDocument/2006/relationships/slide" Target="slides/slide62.xml"/><Relationship Id="rId63" Type="http://schemas.openxmlformats.org/officeDocument/2006/relationships/slide" Target="slides/slide61.xml"/><Relationship Id="rId62" Type="http://schemas.openxmlformats.org/officeDocument/2006/relationships/slide" Target="slides/slide60.xml"/><Relationship Id="rId61" Type="http://schemas.openxmlformats.org/officeDocument/2006/relationships/slide" Target="slides/slide59.xml"/><Relationship Id="rId60" Type="http://schemas.openxmlformats.org/officeDocument/2006/relationships/slide" Target="slides/slide58.xml"/><Relationship Id="rId6" Type="http://schemas.openxmlformats.org/officeDocument/2006/relationships/slide" Target="slides/slide4.xml"/><Relationship Id="rId59" Type="http://schemas.openxmlformats.org/officeDocument/2006/relationships/slide" Target="slides/slide57.xml"/><Relationship Id="rId58" Type="http://schemas.openxmlformats.org/officeDocument/2006/relationships/slide" Target="slides/slide56.xml"/><Relationship Id="rId57" Type="http://schemas.openxmlformats.org/officeDocument/2006/relationships/slide" Target="slides/slide55.xml"/><Relationship Id="rId56" Type="http://schemas.openxmlformats.org/officeDocument/2006/relationships/slide" Target="slides/slide54.xml"/><Relationship Id="rId55" Type="http://schemas.openxmlformats.org/officeDocument/2006/relationships/slide" Target="slides/slide53.xml"/><Relationship Id="rId54" Type="http://schemas.openxmlformats.org/officeDocument/2006/relationships/slide" Target="slides/slide52.xml"/><Relationship Id="rId53" Type="http://schemas.openxmlformats.org/officeDocument/2006/relationships/slide" Target="slides/slide51.xml"/><Relationship Id="rId52" Type="http://schemas.openxmlformats.org/officeDocument/2006/relationships/slide" Target="slides/slide50.xml"/><Relationship Id="rId51" Type="http://schemas.openxmlformats.org/officeDocument/2006/relationships/slide" Target="slides/slide49.xml"/><Relationship Id="rId50" Type="http://schemas.openxmlformats.org/officeDocument/2006/relationships/slide" Target="slides/slide48.xml"/><Relationship Id="rId5" Type="http://schemas.openxmlformats.org/officeDocument/2006/relationships/slide" Target="slides/slide3.xml"/><Relationship Id="rId49" Type="http://schemas.openxmlformats.org/officeDocument/2006/relationships/slide" Target="slides/slide47.xml"/><Relationship Id="rId48" Type="http://schemas.openxmlformats.org/officeDocument/2006/relationships/slide" Target="slides/slide46.xml"/><Relationship Id="rId47" Type="http://schemas.openxmlformats.org/officeDocument/2006/relationships/slide" Target="slides/slide45.xml"/><Relationship Id="rId46" Type="http://schemas.openxmlformats.org/officeDocument/2006/relationships/slide" Target="slides/slide44.xml"/><Relationship Id="rId45" Type="http://schemas.openxmlformats.org/officeDocument/2006/relationships/slide" Target="slides/slide43.xml"/><Relationship Id="rId44" Type="http://schemas.openxmlformats.org/officeDocument/2006/relationships/slide" Target="slides/slide42.xml"/><Relationship Id="rId43" Type="http://schemas.openxmlformats.org/officeDocument/2006/relationships/slide" Target="slides/slide41.xml"/><Relationship Id="rId42" Type="http://schemas.openxmlformats.org/officeDocument/2006/relationships/slide" Target="slides/slide40.xml"/><Relationship Id="rId41" Type="http://schemas.openxmlformats.org/officeDocument/2006/relationships/slide" Target="slides/slide39.xml"/><Relationship Id="rId40" Type="http://schemas.openxmlformats.org/officeDocument/2006/relationships/slide" Target="slides/slide38.xml"/><Relationship Id="rId4" Type="http://schemas.openxmlformats.org/officeDocument/2006/relationships/slide" Target="slides/slide2.xml"/><Relationship Id="rId39" Type="http://schemas.openxmlformats.org/officeDocument/2006/relationships/slide" Target="slides/slide37.xml"/><Relationship Id="rId38" Type="http://schemas.openxmlformats.org/officeDocument/2006/relationships/slide" Target="slides/slide36.xml"/><Relationship Id="rId37" Type="http://schemas.openxmlformats.org/officeDocument/2006/relationships/slide" Target="slides/slide35.xml"/><Relationship Id="rId36" Type="http://schemas.openxmlformats.org/officeDocument/2006/relationships/slide" Target="slides/slide34.xml"/><Relationship Id="rId35" Type="http://schemas.openxmlformats.org/officeDocument/2006/relationships/slide" Target="slides/slide33.xml"/><Relationship Id="rId34" Type="http://schemas.openxmlformats.org/officeDocument/2006/relationships/slide" Target="slides/slide32.xml"/><Relationship Id="rId33" Type="http://schemas.openxmlformats.org/officeDocument/2006/relationships/slide" Target="slides/slide31.xml"/><Relationship Id="rId32" Type="http://schemas.openxmlformats.org/officeDocument/2006/relationships/slide" Target="slides/slide30.xml"/><Relationship Id="rId31" Type="http://schemas.openxmlformats.org/officeDocument/2006/relationships/slide" Target="slides/slide29.xml"/><Relationship Id="rId30" Type="http://schemas.openxmlformats.org/officeDocument/2006/relationships/slide" Target="slides/slide28.xml"/><Relationship Id="rId3" Type="http://schemas.openxmlformats.org/officeDocument/2006/relationships/slide" Target="slides/slide1.xml"/><Relationship Id="rId29" Type="http://schemas.openxmlformats.org/officeDocument/2006/relationships/slide" Target="slides/slide27.xml"/><Relationship Id="rId28" Type="http://schemas.openxmlformats.org/officeDocument/2006/relationships/slide" Target="slides/slide26.xml"/><Relationship Id="rId27" Type="http://schemas.openxmlformats.org/officeDocument/2006/relationships/slide" Target="slides/slide25.xml"/><Relationship Id="rId26" Type="http://schemas.openxmlformats.org/officeDocument/2006/relationships/slide" Target="slides/slide24.xml"/><Relationship Id="rId25" Type="http://schemas.openxmlformats.org/officeDocument/2006/relationships/slide" Target="slides/slide23.xml"/><Relationship Id="rId24" Type="http://schemas.openxmlformats.org/officeDocument/2006/relationships/slide" Target="slides/slide22.xml"/><Relationship Id="rId23" Type="http://schemas.openxmlformats.org/officeDocument/2006/relationships/slide" Target="slides/slide21.xml"/><Relationship Id="rId22" Type="http://schemas.openxmlformats.org/officeDocument/2006/relationships/slide" Target="slides/slide20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5" Type="http://schemas.openxmlformats.org/officeDocument/2006/relationships/tags" Target="tags/tag1.xml"/><Relationship Id="rId114" Type="http://schemas.openxmlformats.org/officeDocument/2006/relationships/tableStyles" Target="tableStyles.xml"/><Relationship Id="rId113" Type="http://schemas.openxmlformats.org/officeDocument/2006/relationships/viewProps" Target="viewProps.xml"/><Relationship Id="rId112" Type="http://schemas.openxmlformats.org/officeDocument/2006/relationships/presProps" Target="presProps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9.xml"/><Relationship Id="rId109" Type="http://schemas.openxmlformats.org/officeDocument/2006/relationships/notesMaster" Target="notesMasters/notesMaster1.xml"/><Relationship Id="rId108" Type="http://schemas.openxmlformats.org/officeDocument/2006/relationships/slide" Target="slides/slide106.xml"/><Relationship Id="rId107" Type="http://schemas.openxmlformats.org/officeDocument/2006/relationships/slide" Target="slides/slide105.xml"/><Relationship Id="rId106" Type="http://schemas.openxmlformats.org/officeDocument/2006/relationships/slide" Target="slides/slide104.xml"/><Relationship Id="rId105" Type="http://schemas.openxmlformats.org/officeDocument/2006/relationships/slide" Target="slides/slide103.xml"/><Relationship Id="rId104" Type="http://schemas.openxmlformats.org/officeDocument/2006/relationships/slide" Target="slides/slide102.xml"/><Relationship Id="rId103" Type="http://schemas.openxmlformats.org/officeDocument/2006/relationships/slide" Target="slides/slide101.xml"/><Relationship Id="rId102" Type="http://schemas.openxmlformats.org/officeDocument/2006/relationships/slide" Target="slides/slide100.xml"/><Relationship Id="rId101" Type="http://schemas.openxmlformats.org/officeDocument/2006/relationships/slide" Target="slides/slide99.xml"/><Relationship Id="rId100" Type="http://schemas.openxmlformats.org/officeDocument/2006/relationships/slide" Target="slides/slide98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spcBef>
                <a:spcPct val="20000"/>
              </a:spcBef>
              <a:defRPr sz="12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120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 eaLnBrk="1" hangingPunct="1">
              <a:spcBef>
                <a:spcPct val="20000"/>
              </a:spcBef>
              <a:defRPr sz="120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20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5120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noProof="0"/>
              <a:t>单击此处编辑母版文本样式</a:t>
            </a:r>
            <a:endParaRPr lang="zh-CN" altLang="en-US" noProof="0"/>
          </a:p>
          <a:p>
            <a:pPr lvl="1"/>
            <a:r>
              <a:rPr lang="zh-CN" altLang="en-US" noProof="0"/>
              <a:t>第二级</a:t>
            </a:r>
            <a:endParaRPr lang="zh-CN" altLang="en-US" noProof="0"/>
          </a:p>
          <a:p>
            <a:pPr lvl="2"/>
            <a:r>
              <a:rPr lang="zh-CN" altLang="en-US" noProof="0"/>
              <a:t>第三级</a:t>
            </a:r>
            <a:endParaRPr lang="zh-CN" altLang="en-US" noProof="0"/>
          </a:p>
          <a:p>
            <a:pPr lvl="3"/>
            <a:r>
              <a:rPr lang="zh-CN" altLang="en-US" noProof="0"/>
              <a:t>第四级</a:t>
            </a:r>
            <a:endParaRPr lang="zh-CN" altLang="en-US" noProof="0"/>
          </a:p>
          <a:p>
            <a:pPr lvl="4"/>
            <a:r>
              <a:rPr lang="zh-CN" altLang="en-US" noProof="0"/>
              <a:t>第五级</a:t>
            </a:r>
            <a:endParaRPr lang="zh-CN" altLang="en-US" noProof="0"/>
          </a:p>
        </p:txBody>
      </p:sp>
      <p:sp>
        <p:nvSpPr>
          <p:cNvPr id="5120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eaLnBrk="1" hangingPunct="1">
              <a:spcBef>
                <a:spcPct val="20000"/>
              </a:spcBef>
              <a:defRPr sz="120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120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 eaLnBrk="1" hangingPunct="1">
              <a:spcBef>
                <a:spcPct val="20000"/>
              </a:spcBef>
              <a:defRPr sz="1200"/>
            </a:lvl1pPr>
          </a:lstStyle>
          <a:p>
            <a:fld id="{A27F7DF3-40C4-4B2B-81C3-0D64AE9D8C84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6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幻灯片图像占位符 1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15715" name="备注占位符 2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zh-CN" altLang="en-US"/>
          </a:p>
        </p:txBody>
      </p:sp>
      <p:sp>
        <p:nvSpPr>
          <p:cNvPr id="115716" name="灯片编号占位符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fld id="{B42E2544-D29C-4E00-ABC7-81D9DB0D8CB1}" type="slidenum">
              <a:rPr lang="en-US" altLang="zh-CN" sz="1200">
                <a:latin typeface="Times New Roman" panose="02020603050405020304" pitchFamily="18" charset="0"/>
              </a:rPr>
            </a:fld>
            <a:endParaRPr lang="en-US" altLang="zh-CN" sz="1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1D68EE-E587-4E39-B593-5FE8EAB93A16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582440-E661-4AC3-AD92-98A05641D833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6D1918-0FF3-49B0-81BB-6B755C994B4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521DCF-7563-40EF-A890-717A1C7B42F6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6456C0-D02B-485F-8F51-408873220FF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920B96-D4EF-49C1-8721-DB5421762E05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3D8FCE7-FEA8-4DD5-B15F-563B2269C602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514769-34DE-43F4-A37C-82A78FE30608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7CAE9A-AB45-47EF-AA58-C2ABF2E63139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6ABE86-8F09-45A0-B83B-15A21439A2F7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A2996E-FB49-48E5-9E62-728EF86E80D8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F217301-1F63-4384-9524-16B76046089A}" type="slidenum">
              <a:rPr lang="zh-CN" altLang="en-US" smtClean="0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.vml"/><Relationship Id="rId4" Type="http://schemas.openxmlformats.org/officeDocument/2006/relationships/slideLayout" Target="../slideLayouts/slideLayout7.xml"/><Relationship Id="rId3" Type="http://schemas.openxmlformats.org/officeDocument/2006/relationships/slide" Target="slide1.xml"/><Relationship Id="rId2" Type="http://schemas.openxmlformats.org/officeDocument/2006/relationships/image" Target="../media/image1.emf"/><Relationship Id="rId1" Type="http://schemas.openxmlformats.org/officeDocument/2006/relationships/oleObject" Target="../embeddings/oleObject1.bin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.jpe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.jpeg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slide" Target="slide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slide" Target="slide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slide" Target="slide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4.emf"/><Relationship Id="rId1" Type="http://schemas.openxmlformats.org/officeDocument/2006/relationships/oleObject" Target="../embeddings/oleObject2.bin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3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5.emf"/><Relationship Id="rId1" Type="http://schemas.openxmlformats.org/officeDocument/2006/relationships/oleObject" Target="../embeddings/oleObject3.bin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image" Target="../media/image6.emf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title"/>
          </p:nvPr>
        </p:nvSpPr>
        <p:spPr>
          <a:xfrm>
            <a:off x="177309" y="7519"/>
            <a:ext cx="7772400" cy="1143000"/>
          </a:xfrm>
        </p:spPr>
        <p:txBody>
          <a:bodyPr/>
          <a:lstStyle/>
          <a:p>
            <a:pPr eaLnBrk="1" hangingPunct="1"/>
            <a:r>
              <a:rPr lang="zh-CN" altLang="en-US" b="1" dirty="0"/>
              <a:t>存储及优化</a:t>
            </a:r>
            <a:endParaRPr lang="zh-CN" altLang="en-US" b="1" dirty="0"/>
          </a:p>
        </p:txBody>
      </p:sp>
      <p:sp>
        <p:nvSpPr>
          <p:cNvPr id="5123" name="Text Box 3"/>
          <p:cNvSpPr txBox="1">
            <a:spLocks noChangeArrowheads="1"/>
          </p:cNvSpPr>
          <p:nvPr/>
        </p:nvSpPr>
        <p:spPr bwMode="auto">
          <a:xfrm>
            <a:off x="1775519" y="1502023"/>
            <a:ext cx="25733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200" dirty="0">
                <a:latin typeface="Times New Roman" panose="02020603050405020304" pitchFamily="18" charset="0"/>
              </a:rPr>
              <a:t>I </a:t>
            </a:r>
            <a:r>
              <a:rPr lang="zh-CN" altLang="en-US" sz="3200" dirty="0">
                <a:latin typeface="Times New Roman" panose="02020603050405020304" pitchFamily="18" charset="0"/>
              </a:rPr>
              <a:t>概述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5124" name="Text Box 4"/>
          <p:cNvSpPr txBox="1">
            <a:spLocks noChangeArrowheads="1"/>
          </p:cNvSpPr>
          <p:nvPr/>
        </p:nvSpPr>
        <p:spPr bwMode="auto">
          <a:xfrm>
            <a:off x="1775519" y="2681537"/>
            <a:ext cx="38036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en-US" altLang="zh-CN" sz="3200" dirty="0">
                <a:latin typeface="Times New Roman" panose="02020603050405020304" pitchFamily="18" charset="0"/>
              </a:rPr>
              <a:t>II </a:t>
            </a:r>
            <a:r>
              <a:rPr lang="zh-CN" altLang="en-US" sz="3200" dirty="0">
                <a:latin typeface="Times New Roman" panose="02020603050405020304" pitchFamily="18" charset="0"/>
              </a:rPr>
              <a:t>主存储器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5125" name="Text Box 5"/>
          <p:cNvSpPr txBox="1">
            <a:spLocks noChangeArrowheads="1"/>
          </p:cNvSpPr>
          <p:nvPr/>
        </p:nvSpPr>
        <p:spPr bwMode="auto">
          <a:xfrm>
            <a:off x="1775520" y="3861048"/>
            <a:ext cx="950505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200" dirty="0">
                <a:latin typeface="Times New Roman" panose="02020603050405020304" pitchFamily="18" charset="0"/>
              </a:rPr>
              <a:t>III </a:t>
            </a:r>
            <a:r>
              <a:rPr lang="zh-CN" altLang="en-US" sz="3200" dirty="0">
                <a:latin typeface="Times New Roman" panose="02020603050405020304" pitchFamily="18" charset="0"/>
              </a:rPr>
              <a:t>高速缓冲存储器及优化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5126" name="Text Box 6"/>
          <p:cNvSpPr txBox="1">
            <a:spLocks noChangeArrowheads="1"/>
          </p:cNvSpPr>
          <p:nvPr/>
        </p:nvSpPr>
        <p:spPr bwMode="auto">
          <a:xfrm>
            <a:off x="1775520" y="5040562"/>
            <a:ext cx="828092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200" dirty="0">
                <a:latin typeface="Times New Roman" panose="02020603050405020304" pitchFamily="18" charset="0"/>
              </a:rPr>
              <a:t>IV </a:t>
            </a:r>
            <a:r>
              <a:rPr lang="zh-CN" altLang="en-US" sz="3200" dirty="0">
                <a:latin typeface="Times New Roman" panose="02020603050405020304" pitchFamily="18" charset="0"/>
              </a:rPr>
              <a:t>辅助存储器 （自行阅读唐朔飞教材）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title"/>
          </p:nvPr>
        </p:nvSpPr>
        <p:spPr>
          <a:xfrm>
            <a:off x="335360" y="2629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b="1" dirty="0"/>
              <a:t>I </a:t>
            </a:r>
            <a:r>
              <a:rPr lang="zh-CN" altLang="en-US" b="1" dirty="0"/>
              <a:t>概  述</a:t>
            </a:r>
            <a:endParaRPr lang="zh-CN" altLang="en-US" b="1" dirty="0"/>
          </a:p>
        </p:txBody>
      </p:sp>
      <p:sp>
        <p:nvSpPr>
          <p:cNvPr id="194563" name="Text Box 3"/>
          <p:cNvSpPr txBox="1">
            <a:spLocks noChangeArrowheads="1"/>
          </p:cNvSpPr>
          <p:nvPr/>
        </p:nvSpPr>
        <p:spPr bwMode="auto">
          <a:xfrm>
            <a:off x="1137493" y="1198340"/>
            <a:ext cx="3395662" cy="585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0000"/>
            </a:pPr>
            <a:r>
              <a:rPr lang="zh-CN" altLang="en-US" sz="3600">
                <a:latin typeface="Times New Roman" panose="02020603050405020304" pitchFamily="18" charset="0"/>
              </a:rPr>
              <a:t>一、存储器分类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194564" name="Text Box 4"/>
          <p:cNvSpPr txBox="1">
            <a:spLocks noChangeArrowheads="1"/>
          </p:cNvSpPr>
          <p:nvPr/>
        </p:nvSpPr>
        <p:spPr bwMode="auto">
          <a:xfrm>
            <a:off x="1408955" y="2044477"/>
            <a:ext cx="3581430" cy="5355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0000"/>
            </a:pPr>
            <a:r>
              <a:rPr lang="zh-CN" altLang="en-US" sz="3200">
                <a:latin typeface="Times New Roman" panose="02020603050405020304" pitchFamily="18" charset="0"/>
              </a:rPr>
              <a:t>1.  按存储介质分类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94565" name="Text Box 5"/>
          <p:cNvSpPr txBox="1">
            <a:spLocks noChangeArrowheads="1"/>
          </p:cNvSpPr>
          <p:nvPr/>
        </p:nvSpPr>
        <p:spPr bwMode="auto">
          <a:xfrm>
            <a:off x="1913011" y="3006502"/>
            <a:ext cx="28321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(1) 半导体存储器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4566" name="Text Box 6"/>
          <p:cNvSpPr txBox="1">
            <a:spLocks noChangeArrowheads="1"/>
          </p:cNvSpPr>
          <p:nvPr/>
        </p:nvSpPr>
        <p:spPr bwMode="auto">
          <a:xfrm>
            <a:off x="1913011" y="3936777"/>
            <a:ext cx="31686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(2) 磁表面存储器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4567" name="Text Box 7"/>
          <p:cNvSpPr txBox="1">
            <a:spLocks noChangeArrowheads="1"/>
          </p:cNvSpPr>
          <p:nvPr/>
        </p:nvSpPr>
        <p:spPr bwMode="auto">
          <a:xfrm>
            <a:off x="1913012" y="4868639"/>
            <a:ext cx="247491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(3) 磁芯存储器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4568" name="Text Box 8"/>
          <p:cNvSpPr txBox="1">
            <a:spLocks noChangeArrowheads="1"/>
          </p:cNvSpPr>
          <p:nvPr/>
        </p:nvSpPr>
        <p:spPr bwMode="auto">
          <a:xfrm>
            <a:off x="1913012" y="5800502"/>
            <a:ext cx="24749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(4) 光盘存储器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4569" name="Text Box 9"/>
          <p:cNvSpPr txBox="1">
            <a:spLocks noChangeArrowheads="1"/>
          </p:cNvSpPr>
          <p:nvPr/>
        </p:nvSpPr>
        <p:spPr bwMode="auto">
          <a:xfrm>
            <a:off x="8739262" y="2949352"/>
            <a:ext cx="1008609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易失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94570" name="Text Box 10"/>
          <p:cNvSpPr txBox="1">
            <a:spLocks noChangeArrowheads="1"/>
          </p:cNvSpPr>
          <p:nvPr/>
        </p:nvSpPr>
        <p:spPr bwMode="auto">
          <a:xfrm>
            <a:off x="5303912" y="3006502"/>
            <a:ext cx="21494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latin typeface="Times New Roman" panose="02020603050405020304" pitchFamily="18" charset="0"/>
              </a:rPr>
              <a:t>TTL 、MOS</a:t>
            </a:r>
            <a:endParaRPr lang="en-US" altLang="zh-CN" sz="2800">
              <a:latin typeface="Times New Roman" panose="02020603050405020304" pitchFamily="18" charset="0"/>
            </a:endParaRPr>
          </a:p>
        </p:txBody>
      </p:sp>
      <p:sp>
        <p:nvSpPr>
          <p:cNvPr id="194571" name="Text Box 11"/>
          <p:cNvSpPr txBox="1">
            <a:spLocks noChangeArrowheads="1"/>
          </p:cNvSpPr>
          <p:nvPr/>
        </p:nvSpPr>
        <p:spPr bwMode="auto">
          <a:xfrm>
            <a:off x="5303911" y="3936777"/>
            <a:ext cx="26733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磁头、载磁体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4572" name="Text Box 12"/>
          <p:cNvSpPr txBox="1">
            <a:spLocks noChangeArrowheads="1"/>
          </p:cNvSpPr>
          <p:nvPr/>
        </p:nvSpPr>
        <p:spPr bwMode="auto">
          <a:xfrm>
            <a:off x="5303911" y="4873402"/>
            <a:ext cx="339883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硬磁材料、环状元件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4573" name="Text Box 13"/>
          <p:cNvSpPr txBox="1">
            <a:spLocks noChangeArrowheads="1"/>
          </p:cNvSpPr>
          <p:nvPr/>
        </p:nvSpPr>
        <p:spPr bwMode="auto">
          <a:xfrm>
            <a:off x="5303912" y="5805264"/>
            <a:ext cx="268446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激光、磁光材料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194574" name="Group 14"/>
          <p:cNvGrpSpPr/>
          <p:nvPr/>
        </p:nvGrpSpPr>
        <p:grpSpPr bwMode="auto">
          <a:xfrm>
            <a:off x="8739266" y="4162201"/>
            <a:ext cx="965201" cy="2057400"/>
            <a:chOff x="4944" y="2640"/>
            <a:chExt cx="608" cy="1296"/>
          </a:xfrm>
        </p:grpSpPr>
        <p:sp>
          <p:nvSpPr>
            <p:cNvPr id="6160" name="Text Box 15"/>
            <p:cNvSpPr txBox="1">
              <a:spLocks noChangeArrowheads="1"/>
            </p:cNvSpPr>
            <p:nvPr/>
          </p:nvSpPr>
          <p:spPr bwMode="auto">
            <a:xfrm>
              <a:off x="5176" y="2809"/>
              <a:ext cx="376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非</a:t>
              </a:r>
              <a:endParaRPr lang="zh-CN" altLang="en-US" sz="32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易</a:t>
              </a:r>
              <a:endParaRPr lang="zh-CN" altLang="en-US" sz="32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失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6161" name="AutoShape 16"/>
            <p:cNvSpPr/>
            <p:nvPr/>
          </p:nvSpPr>
          <p:spPr bwMode="auto">
            <a:xfrm>
              <a:off x="4944" y="2640"/>
              <a:ext cx="242" cy="1296"/>
            </a:xfrm>
            <a:prstGeom prst="rightBrace">
              <a:avLst>
                <a:gd name="adj1" fmla="val 44628"/>
                <a:gd name="adj2" fmla="val 51681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4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4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94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94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94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94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94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4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94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94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45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45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94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94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63" grpId="0" autoUpdateAnimBg="0"/>
      <p:bldP spid="194564" grpId="0" autoUpdateAnimBg="0"/>
      <p:bldP spid="194565" grpId="0" autoUpdateAnimBg="0"/>
      <p:bldP spid="194566" grpId="0" autoUpdateAnimBg="0"/>
      <p:bldP spid="194567" grpId="0" autoUpdateAnimBg="0"/>
      <p:bldP spid="194568" grpId="0" autoUpdateAnimBg="0"/>
      <p:bldP spid="194569" grpId="0" autoUpdateAnimBg="0"/>
      <p:bldP spid="194570" grpId="0" autoUpdateAnimBg="0"/>
      <p:bldP spid="194571" grpId="0" autoUpdateAnimBg="0"/>
      <p:bldP spid="194572" grpId="0" autoUpdateAnimBg="0"/>
      <p:bldP spid="194573" grpId="0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Text Box 2"/>
          <p:cNvSpPr txBox="1">
            <a:spLocks noChangeArrowheads="1"/>
          </p:cNvSpPr>
          <p:nvPr/>
        </p:nvSpPr>
        <p:spPr bwMode="auto">
          <a:xfrm>
            <a:off x="1222500" y="1143993"/>
            <a:ext cx="7768473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(1) 存取时间与物理地址无关（随机访问）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95587" name="Text Box 3"/>
          <p:cNvSpPr txBox="1">
            <a:spLocks noChangeArrowheads="1"/>
          </p:cNvSpPr>
          <p:nvPr/>
        </p:nvSpPr>
        <p:spPr bwMode="auto">
          <a:xfrm>
            <a:off x="1703512" y="4401542"/>
            <a:ext cx="409439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顺序存取存储器    磁带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173" name="Text Box 5"/>
          <p:cNvSpPr txBox="1">
            <a:spLocks noChangeArrowheads="1"/>
          </p:cNvSpPr>
          <p:nvPr/>
        </p:nvSpPr>
        <p:spPr bwMode="auto">
          <a:xfrm>
            <a:off x="623392" y="197505"/>
            <a:ext cx="39671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2.  按存取方式分类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195590" name="Text Box 6"/>
          <p:cNvSpPr txBox="1">
            <a:spLocks noChangeArrowheads="1"/>
          </p:cNvSpPr>
          <p:nvPr/>
        </p:nvSpPr>
        <p:spPr bwMode="auto">
          <a:xfrm>
            <a:off x="1208212" y="3579217"/>
            <a:ext cx="76946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(2) 存取时间与物理地址有关（串行访问）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95591" name="Text Box 7"/>
          <p:cNvSpPr txBox="1">
            <a:spLocks noChangeArrowheads="1"/>
          </p:cNvSpPr>
          <p:nvPr/>
        </p:nvSpPr>
        <p:spPr bwMode="auto">
          <a:xfrm>
            <a:off x="1703511" y="2023468"/>
            <a:ext cx="3403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随机存储器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5592" name="Text Box 8"/>
          <p:cNvSpPr txBox="1">
            <a:spLocks noChangeArrowheads="1"/>
          </p:cNvSpPr>
          <p:nvPr/>
        </p:nvSpPr>
        <p:spPr bwMode="auto">
          <a:xfrm>
            <a:off x="1703511" y="2826743"/>
            <a:ext cx="3022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只读存储器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5593" name="Text Box 9"/>
          <p:cNvSpPr txBox="1">
            <a:spLocks noChangeArrowheads="1"/>
          </p:cNvSpPr>
          <p:nvPr/>
        </p:nvSpPr>
        <p:spPr bwMode="auto">
          <a:xfrm>
            <a:off x="1703512" y="5157192"/>
            <a:ext cx="409439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直接存取存储器    磁盘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5594" name="Text Box 10"/>
          <p:cNvSpPr txBox="1">
            <a:spLocks noChangeArrowheads="1"/>
          </p:cNvSpPr>
          <p:nvPr/>
        </p:nvSpPr>
        <p:spPr bwMode="auto">
          <a:xfrm>
            <a:off x="4223792" y="2010066"/>
            <a:ext cx="6477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在程序的执行过程中 </a:t>
            </a:r>
            <a:r>
              <a:rPr lang="zh-CN" altLang="en-US" sz="2800" dirty="0">
                <a:latin typeface="Times New Roman" panose="02020603050405020304" pitchFamily="18" charset="0"/>
              </a:rPr>
              <a:t>可 </a:t>
            </a: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 </a:t>
            </a:r>
            <a:r>
              <a:rPr lang="zh-CN" altLang="en-US" sz="2800" dirty="0">
                <a:latin typeface="Times New Roman" panose="02020603050405020304" pitchFamily="18" charset="0"/>
              </a:rPr>
              <a:t>可 </a:t>
            </a: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28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5595" name="Text Box 11"/>
          <p:cNvSpPr txBox="1">
            <a:spLocks noChangeArrowheads="1"/>
          </p:cNvSpPr>
          <p:nvPr/>
        </p:nvSpPr>
        <p:spPr bwMode="auto">
          <a:xfrm>
            <a:off x="4188105" y="2810477"/>
            <a:ext cx="6477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在程序的执行过程中 </a:t>
            </a:r>
            <a:r>
              <a:rPr lang="zh-CN" altLang="en-US" sz="2800" dirty="0">
                <a:latin typeface="Times New Roman" panose="02020603050405020304" pitchFamily="18" charset="0"/>
              </a:rPr>
              <a:t>只 </a:t>
            </a: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28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5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5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95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95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95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95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95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5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586" grpId="0" autoUpdateAnimBg="0"/>
      <p:bldP spid="195587" grpId="0" autoUpdateAnimBg="0"/>
      <p:bldP spid="195590" grpId="0" autoUpdateAnimBg="0"/>
      <p:bldP spid="195591" grpId="0" autoUpdateAnimBg="0"/>
      <p:bldP spid="195592" grpId="0" autoUpdateAnimBg="0"/>
      <p:bldP spid="195593" grpId="0" autoUpdateAnimBg="0"/>
      <p:bldP spid="195594" grpId="0" autoUpdateAnimBg="0"/>
      <p:bldP spid="195595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Text Box 2"/>
          <p:cNvSpPr txBox="1">
            <a:spLocks noChangeArrowheads="1"/>
          </p:cNvSpPr>
          <p:nvPr/>
        </p:nvSpPr>
        <p:spPr bwMode="auto">
          <a:xfrm>
            <a:off x="5657850" y="5897564"/>
            <a:ext cx="35623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磁盘、磁带、光盘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96611" name="Text Box 3"/>
          <p:cNvSpPr txBox="1">
            <a:spLocks noChangeArrowheads="1"/>
          </p:cNvSpPr>
          <p:nvPr/>
        </p:nvSpPr>
        <p:spPr bwMode="auto">
          <a:xfrm>
            <a:off x="3100388" y="4983164"/>
            <a:ext cx="56626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高速缓冲存储器（</a:t>
            </a:r>
            <a:r>
              <a:rPr lang="en-US" altLang="zh-CN" sz="3200">
                <a:latin typeface="Times New Roman" panose="02020603050405020304" pitchFamily="18" charset="0"/>
              </a:rPr>
              <a:t>Cache）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96612" name="Text Box 4"/>
          <p:cNvSpPr txBox="1">
            <a:spLocks noChangeArrowheads="1"/>
          </p:cNvSpPr>
          <p:nvPr/>
        </p:nvSpPr>
        <p:spPr bwMode="auto">
          <a:xfrm>
            <a:off x="3100388" y="4090989"/>
            <a:ext cx="37576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200">
                <a:latin typeface="Times New Roman" panose="02020603050405020304" pitchFamily="18" charset="0"/>
              </a:rPr>
              <a:t>Flash  Memory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96613" name="Text Box 5"/>
          <p:cNvSpPr txBox="1">
            <a:spLocks noChangeArrowheads="1"/>
          </p:cNvSpPr>
          <p:nvPr/>
        </p:nvSpPr>
        <p:spPr bwMode="auto">
          <a:xfrm>
            <a:off x="1873250" y="3500438"/>
            <a:ext cx="596638" cy="15696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存</a:t>
            </a:r>
            <a:endParaRPr lang="zh-CN" altLang="en-US" sz="3200">
              <a:latin typeface="Times New Roman" panose="02020603050405020304" pitchFamily="18" charset="0"/>
            </a:endParaRPr>
          </a:p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储</a:t>
            </a:r>
            <a:endParaRPr lang="zh-CN" altLang="en-US" sz="3200">
              <a:latin typeface="Times New Roman" panose="02020603050405020304" pitchFamily="18" charset="0"/>
            </a:endParaRPr>
          </a:p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器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196614" name="Group 6"/>
          <p:cNvGrpSpPr/>
          <p:nvPr/>
        </p:nvGrpSpPr>
        <p:grpSpPr bwMode="auto">
          <a:xfrm>
            <a:off x="3100389" y="2195514"/>
            <a:ext cx="2244725" cy="4286249"/>
            <a:chOff x="993" y="1383"/>
            <a:chExt cx="1414" cy="2700"/>
          </a:xfrm>
        </p:grpSpPr>
        <p:sp>
          <p:nvSpPr>
            <p:cNvPr id="8217" name="Text Box 7"/>
            <p:cNvSpPr txBox="1">
              <a:spLocks noChangeArrowheads="1"/>
            </p:cNvSpPr>
            <p:nvPr/>
          </p:nvSpPr>
          <p:spPr bwMode="auto">
            <a:xfrm>
              <a:off x="993" y="1383"/>
              <a:ext cx="115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主存储器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218" name="Text Box 8"/>
            <p:cNvSpPr txBox="1">
              <a:spLocks noChangeArrowheads="1"/>
            </p:cNvSpPr>
            <p:nvPr/>
          </p:nvSpPr>
          <p:spPr bwMode="auto">
            <a:xfrm>
              <a:off x="993" y="3715"/>
              <a:ext cx="1414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辅助存储器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196617" name="AutoShape 9"/>
          <p:cNvSpPr/>
          <p:nvPr/>
        </p:nvSpPr>
        <p:spPr bwMode="auto">
          <a:xfrm>
            <a:off x="2616200" y="2460626"/>
            <a:ext cx="431800" cy="3833813"/>
          </a:xfrm>
          <a:prstGeom prst="leftBrace">
            <a:avLst>
              <a:gd name="adj1" fmla="val 73989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196618" name="Group 10"/>
          <p:cNvGrpSpPr/>
          <p:nvPr/>
        </p:nvGrpSpPr>
        <p:grpSpPr bwMode="auto">
          <a:xfrm>
            <a:off x="6842125" y="2379663"/>
            <a:ext cx="3455988" cy="1917700"/>
            <a:chOff x="3350" y="1499"/>
            <a:chExt cx="2177" cy="1208"/>
          </a:xfrm>
        </p:grpSpPr>
        <p:sp>
          <p:nvSpPr>
            <p:cNvPr id="8213" name="Text Box 11"/>
            <p:cNvSpPr txBox="1">
              <a:spLocks noChangeArrowheads="1"/>
            </p:cNvSpPr>
            <p:nvPr/>
          </p:nvSpPr>
          <p:spPr bwMode="auto">
            <a:xfrm>
              <a:off x="3350" y="1499"/>
              <a:ext cx="121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MROM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8214" name="Text Box 12"/>
            <p:cNvSpPr txBox="1">
              <a:spLocks noChangeArrowheads="1"/>
            </p:cNvSpPr>
            <p:nvPr/>
          </p:nvSpPr>
          <p:spPr bwMode="auto">
            <a:xfrm>
              <a:off x="3350" y="1805"/>
              <a:ext cx="110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PROM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8215" name="Text Box 13"/>
            <p:cNvSpPr txBox="1">
              <a:spLocks noChangeArrowheads="1"/>
            </p:cNvSpPr>
            <p:nvPr/>
          </p:nvSpPr>
          <p:spPr bwMode="auto">
            <a:xfrm>
              <a:off x="3350" y="2112"/>
              <a:ext cx="131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EPROM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8216" name="Text Box 14"/>
            <p:cNvSpPr txBox="1">
              <a:spLocks noChangeArrowheads="1"/>
            </p:cNvSpPr>
            <p:nvPr/>
          </p:nvSpPr>
          <p:spPr bwMode="auto">
            <a:xfrm>
              <a:off x="3350" y="2419"/>
              <a:ext cx="217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EEPROM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196623" name="AutoShape 15"/>
          <p:cNvSpPr/>
          <p:nvPr/>
        </p:nvSpPr>
        <p:spPr bwMode="auto">
          <a:xfrm>
            <a:off x="6565900" y="2590801"/>
            <a:ext cx="292100" cy="1484313"/>
          </a:xfrm>
          <a:prstGeom prst="leftBrace">
            <a:avLst>
              <a:gd name="adj1" fmla="val 42346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196624" name="Group 16"/>
          <p:cNvGrpSpPr/>
          <p:nvPr/>
        </p:nvGrpSpPr>
        <p:grpSpPr bwMode="auto">
          <a:xfrm>
            <a:off x="5300663" y="1296988"/>
            <a:ext cx="1052512" cy="2347912"/>
            <a:chOff x="2379" y="817"/>
            <a:chExt cx="663" cy="1479"/>
          </a:xfrm>
        </p:grpSpPr>
        <p:sp>
          <p:nvSpPr>
            <p:cNvPr id="8211" name="Text Box 17"/>
            <p:cNvSpPr txBox="1">
              <a:spLocks noChangeArrowheads="1"/>
            </p:cNvSpPr>
            <p:nvPr/>
          </p:nvSpPr>
          <p:spPr bwMode="auto">
            <a:xfrm>
              <a:off x="2379" y="817"/>
              <a:ext cx="65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>
                  <a:latin typeface="Times New Roman" panose="02020603050405020304" pitchFamily="18" charset="0"/>
                </a:rPr>
                <a:t>RAM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8212" name="Text Box 18"/>
            <p:cNvSpPr txBox="1">
              <a:spLocks noChangeArrowheads="1"/>
            </p:cNvSpPr>
            <p:nvPr/>
          </p:nvSpPr>
          <p:spPr bwMode="auto">
            <a:xfrm>
              <a:off x="2379" y="1969"/>
              <a:ext cx="66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>
                  <a:latin typeface="Times New Roman" panose="02020603050405020304" pitchFamily="18" charset="0"/>
                </a:rPr>
                <a:t>ROM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196627" name="AutoShape 19"/>
          <p:cNvSpPr/>
          <p:nvPr/>
        </p:nvSpPr>
        <p:spPr bwMode="auto">
          <a:xfrm>
            <a:off x="4986338" y="1535114"/>
            <a:ext cx="271462" cy="1893887"/>
          </a:xfrm>
          <a:prstGeom prst="leftBrace">
            <a:avLst>
              <a:gd name="adj1" fmla="val 58138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196628" name="Group 20"/>
          <p:cNvGrpSpPr/>
          <p:nvPr/>
        </p:nvGrpSpPr>
        <p:grpSpPr bwMode="auto">
          <a:xfrm>
            <a:off x="6778625" y="990601"/>
            <a:ext cx="2311400" cy="1123951"/>
            <a:chOff x="3310" y="624"/>
            <a:chExt cx="1456" cy="708"/>
          </a:xfrm>
        </p:grpSpPr>
        <p:sp>
          <p:nvSpPr>
            <p:cNvPr id="8209" name="Text Box 21"/>
            <p:cNvSpPr txBox="1">
              <a:spLocks noChangeArrowheads="1"/>
            </p:cNvSpPr>
            <p:nvPr/>
          </p:nvSpPr>
          <p:spPr bwMode="auto">
            <a:xfrm>
              <a:off x="3310" y="624"/>
              <a:ext cx="145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静态 </a:t>
              </a:r>
              <a:r>
                <a:rPr lang="en-US" altLang="zh-CN" sz="2400">
                  <a:latin typeface="Times New Roman" panose="02020603050405020304" pitchFamily="18" charset="0"/>
                </a:rPr>
                <a:t>RAM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8210" name="Text Box 22"/>
            <p:cNvSpPr txBox="1">
              <a:spLocks noChangeArrowheads="1"/>
            </p:cNvSpPr>
            <p:nvPr/>
          </p:nvSpPr>
          <p:spPr bwMode="auto">
            <a:xfrm>
              <a:off x="3310" y="1041"/>
              <a:ext cx="101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动态 </a:t>
              </a:r>
              <a:r>
                <a:rPr lang="en-US" altLang="zh-CN" sz="2400">
                  <a:latin typeface="Times New Roman" panose="02020603050405020304" pitchFamily="18" charset="0"/>
                </a:rPr>
                <a:t>RAM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196631" name="AutoShape 23"/>
          <p:cNvSpPr/>
          <p:nvPr/>
        </p:nvSpPr>
        <p:spPr bwMode="auto">
          <a:xfrm>
            <a:off x="6565901" y="1143001"/>
            <a:ext cx="207963" cy="784225"/>
          </a:xfrm>
          <a:prstGeom prst="leftBrace">
            <a:avLst>
              <a:gd name="adj1" fmla="val 31425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8206" name="Text Box 24"/>
          <p:cNvSpPr txBox="1">
            <a:spLocks noChangeArrowheads="1"/>
          </p:cNvSpPr>
          <p:nvPr/>
        </p:nvSpPr>
        <p:spPr bwMode="auto">
          <a:xfrm>
            <a:off x="479376" y="158947"/>
            <a:ext cx="58023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3.  按在计算机中的作用分类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6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1" dur="500"/>
                                        <p:tgtEl>
                                          <p:spTgt spid="196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196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196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196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1" dur="500"/>
                                        <p:tgtEl>
                                          <p:spTgt spid="196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96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1" dur="500"/>
                                        <p:tgtEl>
                                          <p:spTgt spid="196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196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196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196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196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610" grpId="0" autoUpdateAnimBg="0"/>
      <p:bldP spid="196611" grpId="0" autoUpdateAnimBg="0"/>
      <p:bldP spid="196612" grpId="0" autoUpdateAnimBg="0"/>
      <p:bldP spid="196613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Text Box 2"/>
          <p:cNvSpPr txBox="1">
            <a:spLocks noChangeArrowheads="1"/>
          </p:cNvSpPr>
          <p:nvPr/>
        </p:nvSpPr>
        <p:spPr bwMode="auto">
          <a:xfrm>
            <a:off x="8711431" y="2490788"/>
            <a:ext cx="4905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高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197635" name="Group 3"/>
          <p:cNvGrpSpPr/>
          <p:nvPr/>
        </p:nvGrpSpPr>
        <p:grpSpPr bwMode="auto">
          <a:xfrm>
            <a:off x="8711431" y="3143250"/>
            <a:ext cx="490538" cy="2566988"/>
            <a:chOff x="5040" y="2108"/>
            <a:chExt cx="309" cy="1617"/>
          </a:xfrm>
        </p:grpSpPr>
        <p:sp>
          <p:nvSpPr>
            <p:cNvPr id="9278" name="Text Box 4"/>
            <p:cNvSpPr txBox="1">
              <a:spLocks noChangeArrowheads="1"/>
            </p:cNvSpPr>
            <p:nvPr/>
          </p:nvSpPr>
          <p:spPr bwMode="auto">
            <a:xfrm>
              <a:off x="5040" y="3437"/>
              <a:ext cx="30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低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79" name="Line 5"/>
            <p:cNvSpPr>
              <a:spLocks noChangeShapeType="1"/>
            </p:cNvSpPr>
            <p:nvPr/>
          </p:nvSpPr>
          <p:spPr bwMode="auto">
            <a:xfrm>
              <a:off x="5220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9220" name="Text Box 6"/>
          <p:cNvSpPr txBox="1">
            <a:spLocks noChangeArrowheads="1"/>
          </p:cNvSpPr>
          <p:nvPr/>
        </p:nvSpPr>
        <p:spPr bwMode="auto">
          <a:xfrm>
            <a:off x="-790575" y="5253038"/>
            <a:ext cx="1841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7639" name="Text Box 7"/>
          <p:cNvSpPr txBox="1">
            <a:spLocks noChangeArrowheads="1"/>
          </p:cNvSpPr>
          <p:nvPr/>
        </p:nvSpPr>
        <p:spPr bwMode="auto">
          <a:xfrm>
            <a:off x="7655745" y="2490788"/>
            <a:ext cx="49053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小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197640" name="Group 8"/>
          <p:cNvGrpSpPr/>
          <p:nvPr/>
        </p:nvGrpSpPr>
        <p:grpSpPr bwMode="auto">
          <a:xfrm>
            <a:off x="7655745" y="3143250"/>
            <a:ext cx="490537" cy="2566988"/>
            <a:chOff x="4375" y="2108"/>
            <a:chExt cx="309" cy="1617"/>
          </a:xfrm>
        </p:grpSpPr>
        <p:sp>
          <p:nvSpPr>
            <p:cNvPr id="9276" name="Text Box 9"/>
            <p:cNvSpPr txBox="1">
              <a:spLocks noChangeArrowheads="1"/>
            </p:cNvSpPr>
            <p:nvPr/>
          </p:nvSpPr>
          <p:spPr bwMode="auto">
            <a:xfrm>
              <a:off x="4375" y="3437"/>
              <a:ext cx="30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大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77" name="Line 10"/>
            <p:cNvSpPr>
              <a:spLocks noChangeShapeType="1"/>
            </p:cNvSpPr>
            <p:nvPr/>
          </p:nvSpPr>
          <p:spPr bwMode="auto">
            <a:xfrm>
              <a:off x="4548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7643" name="Text Box 11"/>
          <p:cNvSpPr txBox="1">
            <a:spLocks noChangeArrowheads="1"/>
          </p:cNvSpPr>
          <p:nvPr/>
        </p:nvSpPr>
        <p:spPr bwMode="auto">
          <a:xfrm>
            <a:off x="6600056" y="2490788"/>
            <a:ext cx="4905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快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197644" name="Group 12"/>
          <p:cNvGrpSpPr/>
          <p:nvPr/>
        </p:nvGrpSpPr>
        <p:grpSpPr bwMode="auto">
          <a:xfrm>
            <a:off x="6600056" y="3143250"/>
            <a:ext cx="490538" cy="2566988"/>
            <a:chOff x="3710" y="2108"/>
            <a:chExt cx="309" cy="1617"/>
          </a:xfrm>
        </p:grpSpPr>
        <p:sp>
          <p:nvSpPr>
            <p:cNvPr id="9274" name="Text Box 13"/>
            <p:cNvSpPr txBox="1">
              <a:spLocks noChangeArrowheads="1"/>
            </p:cNvSpPr>
            <p:nvPr/>
          </p:nvSpPr>
          <p:spPr bwMode="auto">
            <a:xfrm>
              <a:off x="3710" y="3437"/>
              <a:ext cx="30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慢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75" name="Line 14"/>
            <p:cNvSpPr>
              <a:spLocks noChangeShapeType="1"/>
            </p:cNvSpPr>
            <p:nvPr/>
          </p:nvSpPr>
          <p:spPr bwMode="auto">
            <a:xfrm>
              <a:off x="3852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7647" name="Group 15"/>
          <p:cNvGrpSpPr/>
          <p:nvPr/>
        </p:nvGrpSpPr>
        <p:grpSpPr bwMode="auto">
          <a:xfrm>
            <a:off x="4945881" y="4340226"/>
            <a:ext cx="1284288" cy="1287463"/>
            <a:chOff x="2668" y="2862"/>
            <a:chExt cx="809" cy="811"/>
          </a:xfrm>
        </p:grpSpPr>
        <p:sp>
          <p:nvSpPr>
            <p:cNvPr id="9270" name="Text Box 16"/>
            <p:cNvSpPr txBox="1">
              <a:spLocks noChangeArrowheads="1"/>
            </p:cNvSpPr>
            <p:nvPr/>
          </p:nvSpPr>
          <p:spPr bwMode="auto">
            <a:xfrm>
              <a:off x="3023" y="3063"/>
              <a:ext cx="349" cy="4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辅存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71" name="Line 17"/>
            <p:cNvSpPr>
              <a:spLocks noChangeShapeType="1"/>
            </p:cNvSpPr>
            <p:nvPr/>
          </p:nvSpPr>
          <p:spPr bwMode="auto">
            <a:xfrm rot="10800000">
              <a:off x="3180" y="2862"/>
              <a:ext cx="0" cy="20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72" name="Line 18"/>
            <p:cNvSpPr>
              <a:spLocks noChangeShapeType="1"/>
            </p:cNvSpPr>
            <p:nvPr/>
          </p:nvSpPr>
          <p:spPr bwMode="auto">
            <a:xfrm>
              <a:off x="3180" y="3483"/>
              <a:ext cx="0" cy="179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73" name="Freeform 19"/>
            <p:cNvSpPr/>
            <p:nvPr/>
          </p:nvSpPr>
          <p:spPr bwMode="auto">
            <a:xfrm>
              <a:off x="2668" y="3672"/>
              <a:ext cx="809" cy="1"/>
            </a:xfrm>
            <a:custGeom>
              <a:avLst/>
              <a:gdLst>
                <a:gd name="T0" fmla="*/ 0 w 809"/>
                <a:gd name="T1" fmla="*/ 0 h 1"/>
                <a:gd name="T2" fmla="*/ 809 w 80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9" h="1">
                  <a:moveTo>
                    <a:pt x="0" y="0"/>
                  </a:moveTo>
                  <a:lnTo>
                    <a:pt x="809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7652" name="Group 20"/>
          <p:cNvGrpSpPr/>
          <p:nvPr/>
        </p:nvGrpSpPr>
        <p:grpSpPr bwMode="auto">
          <a:xfrm>
            <a:off x="1200969" y="2316164"/>
            <a:ext cx="3810000" cy="3330575"/>
            <a:chOff x="309" y="1587"/>
            <a:chExt cx="2400" cy="2098"/>
          </a:xfrm>
        </p:grpSpPr>
        <p:sp>
          <p:nvSpPr>
            <p:cNvPr id="9254" name="Freeform 21"/>
            <p:cNvSpPr/>
            <p:nvPr/>
          </p:nvSpPr>
          <p:spPr bwMode="auto">
            <a:xfrm>
              <a:off x="618" y="3141"/>
              <a:ext cx="1785" cy="1"/>
            </a:xfrm>
            <a:custGeom>
              <a:avLst/>
              <a:gdLst>
                <a:gd name="T0" fmla="*/ 0 w 1785"/>
                <a:gd name="T1" fmla="*/ 0 h 1"/>
                <a:gd name="T2" fmla="*/ 1785 w 178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5" h="1">
                  <a:moveTo>
                    <a:pt x="0" y="0"/>
                  </a:moveTo>
                  <a:lnTo>
                    <a:pt x="178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55" name="Freeform 22"/>
            <p:cNvSpPr/>
            <p:nvPr/>
          </p:nvSpPr>
          <p:spPr bwMode="auto">
            <a:xfrm>
              <a:off x="777" y="2871"/>
              <a:ext cx="1464" cy="1"/>
            </a:xfrm>
            <a:custGeom>
              <a:avLst/>
              <a:gdLst>
                <a:gd name="T0" fmla="*/ 0 w 1464"/>
                <a:gd name="T1" fmla="*/ 0 h 1"/>
                <a:gd name="T2" fmla="*/ 1464 w 14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4" h="1">
                  <a:moveTo>
                    <a:pt x="0" y="0"/>
                  </a:moveTo>
                  <a:lnTo>
                    <a:pt x="146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56" name="Freeform 23"/>
            <p:cNvSpPr/>
            <p:nvPr/>
          </p:nvSpPr>
          <p:spPr bwMode="auto">
            <a:xfrm>
              <a:off x="1065" y="2352"/>
              <a:ext cx="876" cy="3"/>
            </a:xfrm>
            <a:custGeom>
              <a:avLst/>
              <a:gdLst>
                <a:gd name="T0" fmla="*/ 0 w 876"/>
                <a:gd name="T1" fmla="*/ 0 h 3"/>
                <a:gd name="T2" fmla="*/ 876 w 876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6" h="3">
                  <a:moveTo>
                    <a:pt x="0" y="0"/>
                  </a:moveTo>
                  <a:lnTo>
                    <a:pt x="876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57" name="Text Box 24"/>
            <p:cNvSpPr txBox="1">
              <a:spLocks noChangeArrowheads="1"/>
            </p:cNvSpPr>
            <p:nvPr/>
          </p:nvSpPr>
          <p:spPr bwMode="auto">
            <a:xfrm>
              <a:off x="1148" y="2081"/>
              <a:ext cx="69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寄存器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58" name="Text Box 25"/>
            <p:cNvSpPr txBox="1">
              <a:spLocks noChangeArrowheads="1"/>
            </p:cNvSpPr>
            <p:nvPr/>
          </p:nvSpPr>
          <p:spPr bwMode="auto">
            <a:xfrm>
              <a:off x="1244" y="2333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缓存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59" name="Text Box 26"/>
            <p:cNvSpPr txBox="1">
              <a:spLocks noChangeArrowheads="1"/>
            </p:cNvSpPr>
            <p:nvPr/>
          </p:nvSpPr>
          <p:spPr bwMode="auto">
            <a:xfrm>
              <a:off x="1244" y="2593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主存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60" name="Text Box 27"/>
            <p:cNvSpPr txBox="1">
              <a:spLocks noChangeArrowheads="1"/>
            </p:cNvSpPr>
            <p:nvPr/>
          </p:nvSpPr>
          <p:spPr bwMode="auto">
            <a:xfrm>
              <a:off x="1244" y="2861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磁盘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61" name="Text Box 28"/>
            <p:cNvSpPr txBox="1">
              <a:spLocks noChangeArrowheads="1"/>
            </p:cNvSpPr>
            <p:nvPr/>
          </p:nvSpPr>
          <p:spPr bwMode="auto">
            <a:xfrm>
              <a:off x="1244" y="3141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光盘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62" name="Text Box 29"/>
            <p:cNvSpPr txBox="1">
              <a:spLocks noChangeArrowheads="1"/>
            </p:cNvSpPr>
            <p:nvPr/>
          </p:nvSpPr>
          <p:spPr bwMode="auto">
            <a:xfrm>
              <a:off x="1244" y="3397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磁带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63" name="Freeform 30"/>
            <p:cNvSpPr/>
            <p:nvPr/>
          </p:nvSpPr>
          <p:spPr bwMode="auto">
            <a:xfrm>
              <a:off x="309" y="3672"/>
              <a:ext cx="2397" cy="1"/>
            </a:xfrm>
            <a:custGeom>
              <a:avLst/>
              <a:gdLst>
                <a:gd name="T0" fmla="*/ 0 w 2397"/>
                <a:gd name="T1" fmla="*/ 0 h 1"/>
                <a:gd name="T2" fmla="*/ 2397 w 239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97" h="1">
                  <a:moveTo>
                    <a:pt x="0" y="0"/>
                  </a:moveTo>
                  <a:lnTo>
                    <a:pt x="239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64" name="Freeform 31"/>
            <p:cNvSpPr/>
            <p:nvPr/>
          </p:nvSpPr>
          <p:spPr bwMode="auto">
            <a:xfrm>
              <a:off x="1512" y="1599"/>
              <a:ext cx="1197" cy="2073"/>
            </a:xfrm>
            <a:custGeom>
              <a:avLst/>
              <a:gdLst>
                <a:gd name="T0" fmla="*/ 0 w 1197"/>
                <a:gd name="T1" fmla="*/ 0 h 2073"/>
                <a:gd name="T2" fmla="*/ 1197 w 1197"/>
                <a:gd name="T3" fmla="*/ 2073 h 20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7" h="2073">
                  <a:moveTo>
                    <a:pt x="0" y="0"/>
                  </a:moveTo>
                  <a:lnTo>
                    <a:pt x="1197" y="207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65" name="Freeform 32"/>
            <p:cNvSpPr/>
            <p:nvPr/>
          </p:nvSpPr>
          <p:spPr bwMode="auto">
            <a:xfrm>
              <a:off x="456" y="3417"/>
              <a:ext cx="2103" cy="3"/>
            </a:xfrm>
            <a:custGeom>
              <a:avLst/>
              <a:gdLst>
                <a:gd name="T0" fmla="*/ 0 w 2103"/>
                <a:gd name="T1" fmla="*/ 0 h 3"/>
                <a:gd name="T2" fmla="*/ 2103 w 2103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03" h="3">
                  <a:moveTo>
                    <a:pt x="0" y="0"/>
                  </a:moveTo>
                  <a:lnTo>
                    <a:pt x="2103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66" name="Freeform 33"/>
            <p:cNvSpPr/>
            <p:nvPr/>
          </p:nvSpPr>
          <p:spPr bwMode="auto">
            <a:xfrm>
              <a:off x="912" y="2625"/>
              <a:ext cx="1191" cy="1"/>
            </a:xfrm>
            <a:custGeom>
              <a:avLst/>
              <a:gdLst>
                <a:gd name="T0" fmla="*/ 0 w 1191"/>
                <a:gd name="T1" fmla="*/ 0 h 1"/>
                <a:gd name="T2" fmla="*/ 1191 w 119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1" h="1">
                  <a:moveTo>
                    <a:pt x="0" y="0"/>
                  </a:moveTo>
                  <a:lnTo>
                    <a:pt x="119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67" name="Text Box 34"/>
            <p:cNvSpPr txBox="1">
              <a:spLocks noChangeArrowheads="1"/>
            </p:cNvSpPr>
            <p:nvPr/>
          </p:nvSpPr>
          <p:spPr bwMode="auto">
            <a:xfrm>
              <a:off x="1244" y="3141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光盘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68" name="Text Box 35"/>
            <p:cNvSpPr txBox="1">
              <a:spLocks noChangeArrowheads="1"/>
            </p:cNvSpPr>
            <p:nvPr/>
          </p:nvSpPr>
          <p:spPr bwMode="auto">
            <a:xfrm>
              <a:off x="1244" y="3397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磁带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69" name="Freeform 36"/>
            <p:cNvSpPr/>
            <p:nvPr/>
          </p:nvSpPr>
          <p:spPr bwMode="auto">
            <a:xfrm>
              <a:off x="309" y="1587"/>
              <a:ext cx="1203" cy="2085"/>
            </a:xfrm>
            <a:custGeom>
              <a:avLst/>
              <a:gdLst>
                <a:gd name="T0" fmla="*/ 1203 w 1203"/>
                <a:gd name="T1" fmla="*/ 0 h 2085"/>
                <a:gd name="T2" fmla="*/ 0 w 1203"/>
                <a:gd name="T3" fmla="*/ 2085 h 20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3" h="2085">
                  <a:moveTo>
                    <a:pt x="1203" y="0"/>
                  </a:moveTo>
                  <a:lnTo>
                    <a:pt x="0" y="20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7669" name="Group 37"/>
          <p:cNvGrpSpPr/>
          <p:nvPr/>
        </p:nvGrpSpPr>
        <p:grpSpPr bwMode="auto">
          <a:xfrm>
            <a:off x="6365106" y="1778000"/>
            <a:ext cx="3392488" cy="541338"/>
            <a:chOff x="3562" y="1248"/>
            <a:chExt cx="2137" cy="341"/>
          </a:xfrm>
        </p:grpSpPr>
        <p:sp>
          <p:nvSpPr>
            <p:cNvPr id="9250" name="Text Box 38"/>
            <p:cNvSpPr txBox="1">
              <a:spLocks noChangeArrowheads="1"/>
            </p:cNvSpPr>
            <p:nvPr/>
          </p:nvSpPr>
          <p:spPr bwMode="auto">
            <a:xfrm>
              <a:off x="3562" y="1261"/>
              <a:ext cx="56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速度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51" name="Text Box 39"/>
            <p:cNvSpPr txBox="1">
              <a:spLocks noChangeArrowheads="1"/>
            </p:cNvSpPr>
            <p:nvPr/>
          </p:nvSpPr>
          <p:spPr bwMode="auto">
            <a:xfrm>
              <a:off x="4206" y="1261"/>
              <a:ext cx="56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容量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52" name="Text Box 40"/>
            <p:cNvSpPr txBox="1">
              <a:spLocks noChangeArrowheads="1"/>
            </p:cNvSpPr>
            <p:nvPr/>
          </p:nvSpPr>
          <p:spPr bwMode="auto">
            <a:xfrm>
              <a:off x="4796" y="1262"/>
              <a:ext cx="90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价格  位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53" name="Text Box 41"/>
            <p:cNvSpPr txBox="1">
              <a:spLocks noChangeArrowheads="1"/>
            </p:cNvSpPr>
            <p:nvPr/>
          </p:nvSpPr>
          <p:spPr bwMode="auto">
            <a:xfrm>
              <a:off x="5199" y="1248"/>
              <a:ext cx="34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／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197674" name="Text Box 42"/>
          <p:cNvSpPr txBox="1">
            <a:spLocks noChangeArrowheads="1"/>
          </p:cNvSpPr>
          <p:nvPr/>
        </p:nvSpPr>
        <p:spPr bwMode="auto">
          <a:xfrm>
            <a:off x="1629594" y="1071564"/>
            <a:ext cx="55880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200">
                <a:latin typeface="Times New Roman" panose="02020603050405020304" pitchFamily="18" charset="0"/>
              </a:rPr>
              <a:t>1.  存储器三个主要特性的关系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9229" name="Text Box 43"/>
          <p:cNvSpPr txBox="1">
            <a:spLocks noChangeArrowheads="1"/>
          </p:cNvSpPr>
          <p:nvPr/>
        </p:nvSpPr>
        <p:spPr bwMode="auto">
          <a:xfrm>
            <a:off x="214760" y="88901"/>
            <a:ext cx="48863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 二、存储器的层次结构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grpSp>
        <p:nvGrpSpPr>
          <p:cNvPr id="197676" name="Group 44"/>
          <p:cNvGrpSpPr/>
          <p:nvPr/>
        </p:nvGrpSpPr>
        <p:grpSpPr bwMode="auto">
          <a:xfrm>
            <a:off x="3123431" y="2324100"/>
            <a:ext cx="1468438" cy="1208088"/>
            <a:chOff x="1520" y="1592"/>
            <a:chExt cx="925" cy="761"/>
          </a:xfrm>
        </p:grpSpPr>
        <p:sp>
          <p:nvSpPr>
            <p:cNvPr id="9245" name="Freeform 45"/>
            <p:cNvSpPr/>
            <p:nvPr/>
          </p:nvSpPr>
          <p:spPr bwMode="auto">
            <a:xfrm>
              <a:off x="1944" y="2352"/>
              <a:ext cx="468" cy="1"/>
            </a:xfrm>
            <a:custGeom>
              <a:avLst/>
              <a:gdLst>
                <a:gd name="T0" fmla="*/ 0 w 468"/>
                <a:gd name="T1" fmla="*/ 0 h 1"/>
                <a:gd name="T2" fmla="*/ 468 w 46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8" h="1">
                  <a:moveTo>
                    <a:pt x="0" y="0"/>
                  </a:moveTo>
                  <a:lnTo>
                    <a:pt x="468" y="1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6" name="Freeform 46"/>
            <p:cNvSpPr/>
            <p:nvPr/>
          </p:nvSpPr>
          <p:spPr bwMode="auto">
            <a:xfrm>
              <a:off x="2172" y="1592"/>
              <a:ext cx="1" cy="217"/>
            </a:xfrm>
            <a:custGeom>
              <a:avLst/>
              <a:gdLst>
                <a:gd name="T0" fmla="*/ 0 w 1"/>
                <a:gd name="T1" fmla="*/ 217 h 217"/>
                <a:gd name="T2" fmla="*/ 0 w 1"/>
                <a:gd name="T3" fmla="*/ 0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17">
                  <a:moveTo>
                    <a:pt x="0" y="217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7" name="Freeform 47"/>
            <p:cNvSpPr/>
            <p:nvPr/>
          </p:nvSpPr>
          <p:spPr bwMode="auto">
            <a:xfrm>
              <a:off x="2184" y="2142"/>
              <a:ext cx="1" cy="201"/>
            </a:xfrm>
            <a:custGeom>
              <a:avLst/>
              <a:gdLst>
                <a:gd name="T0" fmla="*/ 0 w 1"/>
                <a:gd name="T1" fmla="*/ 0 h 201"/>
                <a:gd name="T2" fmla="*/ 1 w 1"/>
                <a:gd name="T3" fmla="*/ 201 h 2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1">
                  <a:moveTo>
                    <a:pt x="0" y="0"/>
                  </a:moveTo>
                  <a:lnTo>
                    <a:pt x="1" y="201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8" name="Text Box 48"/>
            <p:cNvSpPr txBox="1">
              <a:spLocks noChangeArrowheads="1"/>
            </p:cNvSpPr>
            <p:nvPr/>
          </p:nvSpPr>
          <p:spPr bwMode="auto">
            <a:xfrm>
              <a:off x="1934" y="1826"/>
              <a:ext cx="51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CPU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9249" name="Line 49"/>
            <p:cNvSpPr>
              <a:spLocks noChangeShapeType="1"/>
            </p:cNvSpPr>
            <p:nvPr/>
          </p:nvSpPr>
          <p:spPr bwMode="auto">
            <a:xfrm>
              <a:off x="1520" y="1593"/>
              <a:ext cx="87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7682" name="Group 50"/>
          <p:cNvGrpSpPr/>
          <p:nvPr/>
        </p:nvGrpSpPr>
        <p:grpSpPr bwMode="auto">
          <a:xfrm>
            <a:off x="3994969" y="2306638"/>
            <a:ext cx="1416050" cy="1662112"/>
            <a:chOff x="2069" y="1581"/>
            <a:chExt cx="892" cy="1047"/>
          </a:xfrm>
        </p:grpSpPr>
        <p:sp>
          <p:nvSpPr>
            <p:cNvPr id="9240" name="Freeform 51"/>
            <p:cNvSpPr/>
            <p:nvPr/>
          </p:nvSpPr>
          <p:spPr bwMode="auto">
            <a:xfrm>
              <a:off x="2069" y="2627"/>
              <a:ext cx="882" cy="1"/>
            </a:xfrm>
            <a:custGeom>
              <a:avLst/>
              <a:gdLst>
                <a:gd name="T0" fmla="*/ 0 w 882"/>
                <a:gd name="T1" fmla="*/ 1 h 1"/>
                <a:gd name="T2" fmla="*/ 882 w 8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2" h="1">
                  <a:moveTo>
                    <a:pt x="0" y="1"/>
                  </a:moveTo>
                  <a:lnTo>
                    <a:pt x="882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1" name="Line 52"/>
            <p:cNvSpPr>
              <a:spLocks noChangeShapeType="1"/>
            </p:cNvSpPr>
            <p:nvPr/>
          </p:nvSpPr>
          <p:spPr bwMode="auto">
            <a:xfrm rot="10800000">
              <a:off x="2664" y="1581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2" name="Line 53"/>
            <p:cNvSpPr>
              <a:spLocks noChangeShapeType="1"/>
            </p:cNvSpPr>
            <p:nvPr/>
          </p:nvSpPr>
          <p:spPr bwMode="auto">
            <a:xfrm>
              <a:off x="2676" y="2321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3" name="Text Box 54"/>
            <p:cNvSpPr txBox="1">
              <a:spLocks noChangeArrowheads="1"/>
            </p:cNvSpPr>
            <p:nvPr/>
          </p:nvSpPr>
          <p:spPr bwMode="auto">
            <a:xfrm>
              <a:off x="2450" y="1982"/>
              <a:ext cx="51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CPU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9244" name="Line 55"/>
            <p:cNvSpPr>
              <a:spLocks noChangeShapeType="1"/>
            </p:cNvSpPr>
            <p:nvPr/>
          </p:nvSpPr>
          <p:spPr bwMode="auto">
            <a:xfrm>
              <a:off x="2390" y="1593"/>
              <a:ext cx="53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7688" name="Group 56"/>
          <p:cNvGrpSpPr/>
          <p:nvPr/>
        </p:nvGrpSpPr>
        <p:grpSpPr bwMode="auto">
          <a:xfrm>
            <a:off x="4283894" y="2311400"/>
            <a:ext cx="1960562" cy="2044700"/>
            <a:chOff x="2251" y="1584"/>
            <a:chExt cx="1235" cy="1288"/>
          </a:xfrm>
        </p:grpSpPr>
        <p:sp>
          <p:nvSpPr>
            <p:cNvPr id="9235" name="Text Box 57"/>
            <p:cNvSpPr txBox="1">
              <a:spLocks noChangeArrowheads="1"/>
            </p:cNvSpPr>
            <p:nvPr/>
          </p:nvSpPr>
          <p:spPr bwMode="auto">
            <a:xfrm>
              <a:off x="3023" y="2011"/>
              <a:ext cx="349" cy="4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主机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236" name="Line 58"/>
            <p:cNvSpPr>
              <a:spLocks noChangeShapeType="1"/>
            </p:cNvSpPr>
            <p:nvPr/>
          </p:nvSpPr>
          <p:spPr bwMode="auto">
            <a:xfrm>
              <a:off x="2251" y="2872"/>
              <a:ext cx="1235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37" name="Line 59"/>
            <p:cNvSpPr>
              <a:spLocks noChangeShapeType="1"/>
            </p:cNvSpPr>
            <p:nvPr/>
          </p:nvSpPr>
          <p:spPr bwMode="auto">
            <a:xfrm rot="10800000">
              <a:off x="3180" y="1584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38" name="Line 60"/>
            <p:cNvSpPr>
              <a:spLocks noChangeShapeType="1"/>
            </p:cNvSpPr>
            <p:nvPr/>
          </p:nvSpPr>
          <p:spPr bwMode="auto">
            <a:xfrm>
              <a:off x="3180" y="2566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39" name="Line 61"/>
            <p:cNvSpPr>
              <a:spLocks noChangeShapeType="1"/>
            </p:cNvSpPr>
            <p:nvPr/>
          </p:nvSpPr>
          <p:spPr bwMode="auto">
            <a:xfrm>
              <a:off x="2917" y="1593"/>
              <a:ext cx="53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7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7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97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97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97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97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97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7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197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97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7" dur="500"/>
                                        <p:tgtEl>
                                          <p:spTgt spid="197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97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7" dur="500"/>
                                        <p:tgtEl>
                                          <p:spTgt spid="197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34" grpId="0" autoUpdateAnimBg="0"/>
      <p:bldP spid="197639" grpId="0" autoUpdateAnimBg="0"/>
      <p:bldP spid="197643" grpId="0" autoUpdateAnimBg="0"/>
      <p:bldP spid="197674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658" name="Group 2"/>
          <p:cNvGrpSpPr/>
          <p:nvPr/>
        </p:nvGrpSpPr>
        <p:grpSpPr bwMode="auto">
          <a:xfrm>
            <a:off x="3349304" y="1888744"/>
            <a:ext cx="1433513" cy="860425"/>
            <a:chOff x="1908" y="1378"/>
            <a:chExt cx="903" cy="603"/>
          </a:xfrm>
        </p:grpSpPr>
        <p:sp>
          <p:nvSpPr>
            <p:cNvPr id="10291" name="Text Box 3"/>
            <p:cNvSpPr txBox="1">
              <a:spLocks noChangeArrowheads="1"/>
            </p:cNvSpPr>
            <p:nvPr/>
          </p:nvSpPr>
          <p:spPr bwMode="auto">
            <a:xfrm>
              <a:off x="2055" y="1478"/>
              <a:ext cx="756" cy="4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缓存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0292" name="Rectangle 4"/>
            <p:cNvSpPr>
              <a:spLocks noChangeArrowheads="1"/>
            </p:cNvSpPr>
            <p:nvPr/>
          </p:nvSpPr>
          <p:spPr bwMode="auto">
            <a:xfrm>
              <a:off x="1908" y="1378"/>
              <a:ext cx="893" cy="603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198661" name="Group 5"/>
          <p:cNvGrpSpPr/>
          <p:nvPr/>
        </p:nvGrpSpPr>
        <p:grpSpPr bwMode="auto">
          <a:xfrm>
            <a:off x="1114103" y="1888744"/>
            <a:ext cx="5888038" cy="860425"/>
            <a:chOff x="500" y="1378"/>
            <a:chExt cx="3709" cy="603"/>
          </a:xfrm>
        </p:grpSpPr>
        <p:grpSp>
          <p:nvGrpSpPr>
            <p:cNvPr id="10285" name="Group 6"/>
            <p:cNvGrpSpPr/>
            <p:nvPr/>
          </p:nvGrpSpPr>
          <p:grpSpPr bwMode="auto">
            <a:xfrm>
              <a:off x="500" y="1378"/>
              <a:ext cx="893" cy="602"/>
              <a:chOff x="500" y="1378"/>
              <a:chExt cx="893" cy="602"/>
            </a:xfrm>
          </p:grpSpPr>
          <p:sp>
            <p:nvSpPr>
              <p:cNvPr id="10289" name="Text Box 7"/>
              <p:cNvSpPr txBox="1">
                <a:spLocks noChangeArrowheads="1"/>
              </p:cNvSpPr>
              <p:nvPr/>
            </p:nvSpPr>
            <p:spPr bwMode="auto">
              <a:xfrm>
                <a:off x="622" y="1478"/>
                <a:ext cx="770" cy="4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3200">
                    <a:latin typeface="Times New Roman" panose="02020603050405020304" pitchFamily="18" charset="0"/>
                  </a:rPr>
                  <a:t>CPU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290" name="Rectangle 8"/>
              <p:cNvSpPr>
                <a:spLocks noChangeArrowheads="1"/>
              </p:cNvSpPr>
              <p:nvPr/>
            </p:nvSpPr>
            <p:spPr bwMode="auto">
              <a:xfrm>
                <a:off x="500" y="1378"/>
                <a:ext cx="893" cy="602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grpSp>
          <p:nvGrpSpPr>
            <p:cNvPr id="10286" name="Group 9"/>
            <p:cNvGrpSpPr/>
            <p:nvPr/>
          </p:nvGrpSpPr>
          <p:grpSpPr bwMode="auto">
            <a:xfrm>
              <a:off x="3316" y="1378"/>
              <a:ext cx="893" cy="603"/>
              <a:chOff x="3316" y="1378"/>
              <a:chExt cx="893" cy="603"/>
            </a:xfrm>
          </p:grpSpPr>
          <p:sp>
            <p:nvSpPr>
              <p:cNvPr id="10287" name="Text Box 10"/>
              <p:cNvSpPr txBox="1">
                <a:spLocks noChangeArrowheads="1"/>
              </p:cNvSpPr>
              <p:nvPr/>
            </p:nvSpPr>
            <p:spPr bwMode="auto">
              <a:xfrm>
                <a:off x="3453" y="1478"/>
                <a:ext cx="660" cy="4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主存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288" name="Rectangle 11"/>
              <p:cNvSpPr>
                <a:spLocks noChangeArrowheads="1"/>
              </p:cNvSpPr>
              <p:nvPr/>
            </p:nvSpPr>
            <p:spPr bwMode="auto">
              <a:xfrm>
                <a:off x="3316" y="1378"/>
                <a:ext cx="893" cy="603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</p:grpSp>
      <p:grpSp>
        <p:nvGrpSpPr>
          <p:cNvPr id="198668" name="Group 12"/>
          <p:cNvGrpSpPr/>
          <p:nvPr/>
        </p:nvGrpSpPr>
        <p:grpSpPr bwMode="auto">
          <a:xfrm>
            <a:off x="7819703" y="1888744"/>
            <a:ext cx="1417638" cy="860425"/>
            <a:chOff x="4724" y="1378"/>
            <a:chExt cx="893" cy="603"/>
          </a:xfrm>
        </p:grpSpPr>
        <p:sp>
          <p:nvSpPr>
            <p:cNvPr id="10283" name="Text Box 13"/>
            <p:cNvSpPr txBox="1">
              <a:spLocks noChangeArrowheads="1"/>
            </p:cNvSpPr>
            <p:nvPr/>
          </p:nvSpPr>
          <p:spPr bwMode="auto">
            <a:xfrm>
              <a:off x="4827" y="1478"/>
              <a:ext cx="756" cy="4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辅存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0284" name="Rectangle 14"/>
            <p:cNvSpPr>
              <a:spLocks noChangeArrowheads="1"/>
            </p:cNvSpPr>
            <p:nvPr/>
          </p:nvSpPr>
          <p:spPr bwMode="auto">
            <a:xfrm>
              <a:off x="4724" y="1378"/>
              <a:ext cx="893" cy="603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198671" name="Freeform 15"/>
          <p:cNvSpPr/>
          <p:nvPr/>
        </p:nvSpPr>
        <p:spPr bwMode="auto">
          <a:xfrm>
            <a:off x="1817366" y="2749168"/>
            <a:ext cx="4513262" cy="446088"/>
          </a:xfrm>
          <a:custGeom>
            <a:avLst/>
            <a:gdLst>
              <a:gd name="T0" fmla="*/ 0 w 2610"/>
              <a:gd name="T1" fmla="*/ 0 h 282"/>
              <a:gd name="T2" fmla="*/ 0 w 2610"/>
              <a:gd name="T3" fmla="*/ 705654269 h 282"/>
              <a:gd name="T4" fmla="*/ 2147483646 w 2610"/>
              <a:gd name="T5" fmla="*/ 705654269 h 282"/>
              <a:gd name="T6" fmla="*/ 2147483646 w 2610"/>
              <a:gd name="T7" fmla="*/ 0 h 28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610" h="282">
                <a:moveTo>
                  <a:pt x="0" y="0"/>
                </a:moveTo>
                <a:lnTo>
                  <a:pt x="0" y="282"/>
                </a:lnTo>
                <a:lnTo>
                  <a:pt x="2610" y="282"/>
                </a:lnTo>
                <a:lnTo>
                  <a:pt x="2610" y="0"/>
                </a:lnTo>
              </a:path>
            </a:pathLst>
          </a:custGeom>
          <a:noFill/>
          <a:ln w="38100" cmpd="sng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2" name="Freeform 16"/>
          <p:cNvSpPr/>
          <p:nvPr/>
        </p:nvSpPr>
        <p:spPr bwMode="auto">
          <a:xfrm rot="10800000">
            <a:off x="1799904" y="1420432"/>
            <a:ext cx="4511675" cy="447675"/>
          </a:xfrm>
          <a:custGeom>
            <a:avLst/>
            <a:gdLst>
              <a:gd name="T0" fmla="*/ 0 w 2610"/>
              <a:gd name="T1" fmla="*/ 0 h 282"/>
              <a:gd name="T2" fmla="*/ 0 w 2610"/>
              <a:gd name="T3" fmla="*/ 710684063 h 282"/>
              <a:gd name="T4" fmla="*/ 2147483646 w 2610"/>
              <a:gd name="T5" fmla="*/ 710684063 h 282"/>
              <a:gd name="T6" fmla="*/ 2147483646 w 2610"/>
              <a:gd name="T7" fmla="*/ 0 h 28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610" h="282">
                <a:moveTo>
                  <a:pt x="0" y="0"/>
                </a:moveTo>
                <a:lnTo>
                  <a:pt x="0" y="282"/>
                </a:lnTo>
                <a:lnTo>
                  <a:pt x="2610" y="282"/>
                </a:lnTo>
                <a:lnTo>
                  <a:pt x="2610" y="0"/>
                </a:lnTo>
              </a:path>
            </a:pathLst>
          </a:custGeom>
          <a:noFill/>
          <a:ln w="38100" cmpd="sng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3" name="Line 17"/>
          <p:cNvSpPr>
            <a:spLocks noChangeShapeType="1"/>
          </p:cNvSpPr>
          <p:nvPr/>
        </p:nvSpPr>
        <p:spPr bwMode="auto">
          <a:xfrm>
            <a:off x="2538091" y="2191956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4" name="Line 18"/>
          <p:cNvSpPr>
            <a:spLocks noChangeShapeType="1"/>
          </p:cNvSpPr>
          <p:nvPr/>
        </p:nvSpPr>
        <p:spPr bwMode="auto">
          <a:xfrm>
            <a:off x="4766941" y="2211006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5" name="Line 19"/>
          <p:cNvSpPr>
            <a:spLocks noChangeShapeType="1"/>
          </p:cNvSpPr>
          <p:nvPr/>
        </p:nvSpPr>
        <p:spPr bwMode="auto">
          <a:xfrm>
            <a:off x="7014841" y="2211006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6" name="Line 20"/>
          <p:cNvSpPr>
            <a:spLocks noChangeShapeType="1"/>
          </p:cNvSpPr>
          <p:nvPr/>
        </p:nvSpPr>
        <p:spPr bwMode="auto">
          <a:xfrm rot="10800000">
            <a:off x="6995791" y="2496756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7" name="Line 21"/>
          <p:cNvSpPr>
            <a:spLocks noChangeShapeType="1"/>
          </p:cNvSpPr>
          <p:nvPr/>
        </p:nvSpPr>
        <p:spPr bwMode="auto">
          <a:xfrm rot="10800000">
            <a:off x="4766941" y="2496756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8" name="Line 22"/>
          <p:cNvSpPr>
            <a:spLocks noChangeShapeType="1"/>
          </p:cNvSpPr>
          <p:nvPr/>
        </p:nvSpPr>
        <p:spPr bwMode="auto">
          <a:xfrm rot="10800000">
            <a:off x="2519041" y="2496756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0253" name="Group 23"/>
          <p:cNvGrpSpPr/>
          <p:nvPr/>
        </p:nvGrpSpPr>
        <p:grpSpPr bwMode="auto">
          <a:xfrm>
            <a:off x="326488" y="216697"/>
            <a:ext cx="7540625" cy="641350"/>
            <a:chOff x="170" y="292"/>
            <a:chExt cx="4750" cy="404"/>
          </a:xfrm>
        </p:grpSpPr>
        <p:sp>
          <p:nvSpPr>
            <p:cNvPr id="10280" name="Text Box 24"/>
            <p:cNvSpPr txBox="1">
              <a:spLocks noChangeArrowheads="1"/>
            </p:cNvSpPr>
            <p:nvPr/>
          </p:nvSpPr>
          <p:spPr bwMode="auto">
            <a:xfrm>
              <a:off x="170" y="292"/>
              <a:ext cx="4750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3600">
                  <a:latin typeface="Times New Roman" panose="02020603050405020304" pitchFamily="18" charset="0"/>
                </a:rPr>
                <a:t>2.  缓存   主存层次和主存    辅存层次</a:t>
              </a:r>
              <a:endParaRPr lang="zh-CN" altLang="en-US" sz="3600">
                <a:latin typeface="Times New Roman" panose="02020603050405020304" pitchFamily="18" charset="0"/>
              </a:endParaRPr>
            </a:p>
          </p:txBody>
        </p:sp>
        <p:sp>
          <p:nvSpPr>
            <p:cNvPr id="10281" name="Line 25"/>
            <p:cNvSpPr>
              <a:spLocks noChangeShapeType="1"/>
            </p:cNvSpPr>
            <p:nvPr/>
          </p:nvSpPr>
          <p:spPr bwMode="auto">
            <a:xfrm>
              <a:off x="118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282" name="Line 26"/>
            <p:cNvSpPr>
              <a:spLocks noChangeShapeType="1"/>
            </p:cNvSpPr>
            <p:nvPr/>
          </p:nvSpPr>
          <p:spPr bwMode="auto">
            <a:xfrm>
              <a:off x="343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8683" name="Group 27"/>
          <p:cNvGrpSpPr/>
          <p:nvPr/>
        </p:nvGrpSpPr>
        <p:grpSpPr bwMode="auto">
          <a:xfrm>
            <a:off x="4284343" y="3830252"/>
            <a:ext cx="1985963" cy="523874"/>
            <a:chOff x="2353" y="2553"/>
            <a:chExt cx="1251" cy="330"/>
          </a:xfrm>
        </p:grpSpPr>
        <p:sp>
          <p:nvSpPr>
            <p:cNvPr id="10277" name="Text Box 28"/>
            <p:cNvSpPr txBox="1">
              <a:spLocks noChangeArrowheads="1"/>
            </p:cNvSpPr>
            <p:nvPr/>
          </p:nvSpPr>
          <p:spPr bwMode="auto">
            <a:xfrm>
              <a:off x="2353" y="2553"/>
              <a:ext cx="57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缓存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278" name="Text Box 29"/>
            <p:cNvSpPr txBox="1">
              <a:spLocks noChangeArrowheads="1"/>
            </p:cNvSpPr>
            <p:nvPr/>
          </p:nvSpPr>
          <p:spPr bwMode="auto">
            <a:xfrm>
              <a:off x="3033" y="2553"/>
              <a:ext cx="57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279" name="Line 30"/>
            <p:cNvSpPr>
              <a:spLocks noChangeShapeType="1"/>
            </p:cNvSpPr>
            <p:nvPr/>
          </p:nvSpPr>
          <p:spPr bwMode="auto">
            <a:xfrm>
              <a:off x="2905" y="2717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8687" name="Group 31"/>
          <p:cNvGrpSpPr/>
          <p:nvPr/>
        </p:nvGrpSpPr>
        <p:grpSpPr bwMode="auto">
          <a:xfrm>
            <a:off x="6456040" y="3830252"/>
            <a:ext cx="2041524" cy="523874"/>
            <a:chOff x="3721" y="2553"/>
            <a:chExt cx="1286" cy="330"/>
          </a:xfrm>
        </p:grpSpPr>
        <p:sp>
          <p:nvSpPr>
            <p:cNvPr id="10274" name="Text Box 32"/>
            <p:cNvSpPr txBox="1">
              <a:spLocks noChangeArrowheads="1"/>
            </p:cNvSpPr>
            <p:nvPr/>
          </p:nvSpPr>
          <p:spPr bwMode="auto">
            <a:xfrm>
              <a:off x="4436" y="2553"/>
              <a:ext cx="57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辅存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275" name="Text Box 33"/>
            <p:cNvSpPr txBox="1">
              <a:spLocks noChangeArrowheads="1"/>
            </p:cNvSpPr>
            <p:nvPr/>
          </p:nvSpPr>
          <p:spPr bwMode="auto">
            <a:xfrm>
              <a:off x="3721" y="2553"/>
              <a:ext cx="57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276" name="Line 34"/>
            <p:cNvSpPr>
              <a:spLocks noChangeShapeType="1"/>
            </p:cNvSpPr>
            <p:nvPr/>
          </p:nvSpPr>
          <p:spPr bwMode="auto">
            <a:xfrm>
              <a:off x="4275" y="2717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8691" name="Group 35"/>
          <p:cNvGrpSpPr/>
          <p:nvPr/>
        </p:nvGrpSpPr>
        <p:grpSpPr bwMode="auto">
          <a:xfrm>
            <a:off x="6743379" y="4312856"/>
            <a:ext cx="815975" cy="844550"/>
            <a:chOff x="4021" y="2905"/>
            <a:chExt cx="514" cy="532"/>
          </a:xfrm>
        </p:grpSpPr>
        <p:sp>
          <p:nvSpPr>
            <p:cNvPr id="10272" name="Rectangle 36"/>
            <p:cNvSpPr>
              <a:spLocks noChangeArrowheads="1"/>
            </p:cNvSpPr>
            <p:nvPr/>
          </p:nvSpPr>
          <p:spPr bwMode="auto">
            <a:xfrm>
              <a:off x="4412" y="2905"/>
              <a:ext cx="122" cy="343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273" name="AutoShape 37"/>
            <p:cNvSpPr>
              <a:spLocks noChangeArrowheads="1"/>
            </p:cNvSpPr>
            <p:nvPr/>
          </p:nvSpPr>
          <p:spPr bwMode="auto">
            <a:xfrm>
              <a:off x="4021" y="3190"/>
              <a:ext cx="514" cy="247"/>
            </a:xfrm>
            <a:prstGeom prst="leftArrow">
              <a:avLst>
                <a:gd name="adj1" fmla="val 50120"/>
                <a:gd name="adj2" fmla="val 41947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198694" name="Text Box 38"/>
          <p:cNvSpPr txBox="1">
            <a:spLocks noChangeArrowheads="1"/>
          </p:cNvSpPr>
          <p:nvPr/>
        </p:nvSpPr>
        <p:spPr bwMode="auto">
          <a:xfrm>
            <a:off x="4928867" y="4730368"/>
            <a:ext cx="171608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虚拟存储器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198695" name="Group 39"/>
          <p:cNvGrpSpPr/>
          <p:nvPr/>
        </p:nvGrpSpPr>
        <p:grpSpPr bwMode="auto">
          <a:xfrm>
            <a:off x="1082353" y="1509332"/>
            <a:ext cx="7232650" cy="396875"/>
            <a:chOff x="445" y="1139"/>
            <a:chExt cx="4556" cy="250"/>
          </a:xfrm>
        </p:grpSpPr>
        <p:sp>
          <p:nvSpPr>
            <p:cNvPr id="10268" name="Text Box 40"/>
            <p:cNvSpPr txBox="1">
              <a:spLocks noChangeArrowheads="1"/>
            </p:cNvSpPr>
            <p:nvPr/>
          </p:nvSpPr>
          <p:spPr bwMode="auto">
            <a:xfrm>
              <a:off x="445" y="1139"/>
              <a:ext cx="46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10 </a:t>
              </a:r>
              <a:r>
                <a:rPr lang="en-US" altLang="zh-CN" sz="2000">
                  <a:latin typeface="Times New Roman" panose="02020603050405020304" pitchFamily="18" charset="0"/>
                </a:rPr>
                <a:t>ns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0269" name="Text Box 41"/>
            <p:cNvSpPr txBox="1">
              <a:spLocks noChangeArrowheads="1"/>
            </p:cNvSpPr>
            <p:nvPr/>
          </p:nvSpPr>
          <p:spPr bwMode="auto">
            <a:xfrm>
              <a:off x="1834" y="1139"/>
              <a:ext cx="46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20 </a:t>
              </a:r>
              <a:r>
                <a:rPr lang="en-US" altLang="zh-CN" sz="2000">
                  <a:latin typeface="Times New Roman" panose="02020603050405020304" pitchFamily="18" charset="0"/>
                </a:rPr>
                <a:t>ns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0270" name="Text Box 42"/>
            <p:cNvSpPr txBox="1">
              <a:spLocks noChangeArrowheads="1"/>
            </p:cNvSpPr>
            <p:nvPr/>
          </p:nvSpPr>
          <p:spPr bwMode="auto">
            <a:xfrm>
              <a:off x="3203" y="1139"/>
              <a:ext cx="54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200 </a:t>
              </a:r>
              <a:r>
                <a:rPr lang="en-US" altLang="zh-CN" sz="2000">
                  <a:latin typeface="Times New Roman" panose="02020603050405020304" pitchFamily="18" charset="0"/>
                </a:rPr>
                <a:t>ns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0271" name="Text Box 43"/>
            <p:cNvSpPr txBox="1">
              <a:spLocks noChangeArrowheads="1"/>
            </p:cNvSpPr>
            <p:nvPr/>
          </p:nvSpPr>
          <p:spPr bwMode="auto">
            <a:xfrm>
              <a:off x="4690" y="1139"/>
              <a:ext cx="3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ms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</p:grpSp>
      <p:sp>
        <p:nvSpPr>
          <p:cNvPr id="198700" name="AutoShape 44"/>
          <p:cNvSpPr>
            <a:spLocks noChangeArrowheads="1"/>
          </p:cNvSpPr>
          <p:nvPr/>
        </p:nvSpPr>
        <p:spPr bwMode="auto">
          <a:xfrm>
            <a:off x="4928866" y="5278056"/>
            <a:ext cx="1155854" cy="510778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虚地址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8701" name="Text Box 45"/>
          <p:cNvSpPr txBox="1">
            <a:spLocks noChangeArrowheads="1"/>
          </p:cNvSpPr>
          <p:nvPr/>
        </p:nvSpPr>
        <p:spPr bwMode="auto">
          <a:xfrm>
            <a:off x="4928866" y="5859082"/>
            <a:ext cx="1422184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逻辑地址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8702" name="Text Box 46"/>
          <p:cNvSpPr txBox="1">
            <a:spLocks noChangeArrowheads="1"/>
          </p:cNvSpPr>
          <p:nvPr/>
        </p:nvSpPr>
        <p:spPr bwMode="auto">
          <a:xfrm>
            <a:off x="3093717" y="5293932"/>
            <a:ext cx="111280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实地址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8703" name="Text Box 47"/>
          <p:cNvSpPr txBox="1">
            <a:spLocks noChangeArrowheads="1"/>
          </p:cNvSpPr>
          <p:nvPr/>
        </p:nvSpPr>
        <p:spPr bwMode="auto">
          <a:xfrm>
            <a:off x="3093716" y="5859081"/>
            <a:ext cx="1409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物理地址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8704" name="Text Box 48"/>
          <p:cNvSpPr txBox="1">
            <a:spLocks noChangeArrowheads="1"/>
          </p:cNvSpPr>
          <p:nvPr/>
        </p:nvSpPr>
        <p:spPr bwMode="auto">
          <a:xfrm>
            <a:off x="3093716" y="4730368"/>
            <a:ext cx="1409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主存储器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8706" name="Text Box 50"/>
          <p:cNvSpPr txBox="1">
            <a:spLocks noChangeArrowheads="1"/>
          </p:cNvSpPr>
          <p:nvPr/>
        </p:nvSpPr>
        <p:spPr bwMode="auto">
          <a:xfrm>
            <a:off x="4470079" y="3358768"/>
            <a:ext cx="16273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（速度）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198707" name="Text Box 51"/>
          <p:cNvSpPr txBox="1">
            <a:spLocks noChangeArrowheads="1"/>
          </p:cNvSpPr>
          <p:nvPr/>
        </p:nvSpPr>
        <p:spPr bwMode="auto">
          <a:xfrm>
            <a:off x="6614792" y="3358768"/>
            <a:ext cx="16273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（容量）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8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198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6" dur="500"/>
                                        <p:tgtEl>
                                          <p:spTgt spid="198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98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6" dur="500"/>
                                        <p:tgtEl>
                                          <p:spTgt spid="19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0" dur="500"/>
                                        <p:tgtEl>
                                          <p:spTgt spid="19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198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0" dur="500"/>
                                        <p:tgtEl>
                                          <p:spTgt spid="198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44" dur="500"/>
                                        <p:tgtEl>
                                          <p:spTgt spid="19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9" dur="500"/>
                                        <p:tgtEl>
                                          <p:spTgt spid="198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3" dur="500"/>
                                        <p:tgtEl>
                                          <p:spTgt spid="19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198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198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19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198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198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3" dur="500"/>
                                        <p:tgtEl>
                                          <p:spTgt spid="198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198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198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8" dur="500"/>
                                        <p:tgtEl>
                                          <p:spTgt spid="198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198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198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500"/>
                                        <p:tgtEl>
                                          <p:spTgt spid="198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694" grpId="0" autoUpdateAnimBg="0"/>
      <p:bldP spid="198700" grpId="0" autoUpdateAnimBg="0"/>
      <p:bldP spid="198701" grpId="0" autoUpdateAnimBg="0"/>
      <p:bldP spid="198702" grpId="0" autoUpdateAnimBg="0"/>
      <p:bldP spid="198703" grpId="0" autoUpdateAnimBg="0"/>
      <p:bldP spid="198704" grpId="0" autoUpdateAnimBg="0"/>
      <p:bldP spid="198706" grpId="0" autoUpdateAnimBg="0"/>
      <p:bldP spid="198707" grpId="0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9" y="-100804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b="1" dirty="0"/>
              <a:t>II </a:t>
            </a:r>
            <a:r>
              <a:rPr lang="zh-CN" altLang="en-US" b="1" dirty="0"/>
              <a:t>主存储器</a:t>
            </a:r>
            <a:endParaRPr lang="zh-CN" altLang="en-US" b="1" dirty="0"/>
          </a:p>
        </p:txBody>
      </p:sp>
      <p:sp>
        <p:nvSpPr>
          <p:cNvPr id="199683" name="Text Box 3"/>
          <p:cNvSpPr txBox="1">
            <a:spLocks noChangeArrowheads="1"/>
          </p:cNvSpPr>
          <p:nvPr/>
        </p:nvSpPr>
        <p:spPr bwMode="auto">
          <a:xfrm>
            <a:off x="993073" y="925600"/>
            <a:ext cx="2037737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600" dirty="0">
                <a:latin typeface="Times New Roman" panose="02020603050405020304" pitchFamily="18" charset="0"/>
              </a:rPr>
              <a:t>一、概述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199684" name="Text Box 4"/>
          <p:cNvSpPr txBox="1">
            <a:spLocks noChangeArrowheads="1"/>
          </p:cNvSpPr>
          <p:nvPr/>
        </p:nvSpPr>
        <p:spPr bwMode="auto">
          <a:xfrm>
            <a:off x="2422526" y="1543050"/>
            <a:ext cx="35480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1.  主存的基本组成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199763" name="Group 83"/>
          <p:cNvGrpSpPr/>
          <p:nvPr/>
        </p:nvGrpSpPr>
        <p:grpSpPr bwMode="auto">
          <a:xfrm>
            <a:off x="2982914" y="2225676"/>
            <a:ext cx="6630987" cy="4467225"/>
            <a:chOff x="919" y="1402"/>
            <a:chExt cx="4177" cy="2814"/>
          </a:xfrm>
        </p:grpSpPr>
        <p:grpSp>
          <p:nvGrpSpPr>
            <p:cNvPr id="11271" name="Group 82"/>
            <p:cNvGrpSpPr/>
            <p:nvPr/>
          </p:nvGrpSpPr>
          <p:grpSpPr bwMode="auto">
            <a:xfrm>
              <a:off x="919" y="1402"/>
              <a:ext cx="4177" cy="2814"/>
              <a:chOff x="919" y="1402"/>
              <a:chExt cx="4177" cy="2814"/>
            </a:xfrm>
          </p:grpSpPr>
          <p:grpSp>
            <p:nvGrpSpPr>
              <p:cNvPr id="11277" name="Group 81"/>
              <p:cNvGrpSpPr/>
              <p:nvPr/>
            </p:nvGrpSpPr>
            <p:grpSpPr bwMode="auto">
              <a:xfrm>
                <a:off x="919" y="1402"/>
                <a:ext cx="4177" cy="2814"/>
                <a:chOff x="919" y="1402"/>
                <a:chExt cx="4177" cy="2814"/>
              </a:xfrm>
            </p:grpSpPr>
            <p:sp>
              <p:nvSpPr>
                <p:cNvPr id="11279" name="Rectangle 7"/>
                <p:cNvSpPr>
                  <a:spLocks noChangeArrowheads="1"/>
                </p:cNvSpPr>
                <p:nvPr/>
              </p:nvSpPr>
              <p:spPr bwMode="auto">
                <a:xfrm>
                  <a:off x="919" y="2609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11280" name="Freeform 8"/>
                <p:cNvSpPr/>
                <p:nvPr/>
              </p:nvSpPr>
              <p:spPr bwMode="auto">
                <a:xfrm>
                  <a:off x="1392" y="3912"/>
                  <a:ext cx="190" cy="220"/>
                </a:xfrm>
                <a:custGeom>
                  <a:avLst/>
                  <a:gdLst>
                    <a:gd name="T0" fmla="*/ 0 w 178"/>
                    <a:gd name="T1" fmla="*/ 36 h 328"/>
                    <a:gd name="T2" fmla="*/ 49 w 178"/>
                    <a:gd name="T3" fmla="*/ 36 h 328"/>
                    <a:gd name="T4" fmla="*/ 49 w 178"/>
                    <a:gd name="T5" fmla="*/ 148 h 328"/>
                    <a:gd name="T6" fmla="*/ 153 w 178"/>
                    <a:gd name="T7" fmla="*/ 148 h 328"/>
                    <a:gd name="T8" fmla="*/ 153 w 178"/>
                    <a:gd name="T9" fmla="*/ 36 h 328"/>
                    <a:gd name="T10" fmla="*/ 203 w 178"/>
                    <a:gd name="T11" fmla="*/ 36 h 328"/>
                    <a:gd name="T12" fmla="*/ 98 w 178"/>
                    <a:gd name="T13" fmla="*/ 0 h 328"/>
                    <a:gd name="T14" fmla="*/ 0 w 178"/>
                    <a:gd name="T15" fmla="*/ 36 h 3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8" h="328">
                      <a:moveTo>
                        <a:pt x="0" y="80"/>
                      </a:moveTo>
                      <a:lnTo>
                        <a:pt x="43" y="80"/>
                      </a:lnTo>
                      <a:lnTo>
                        <a:pt x="43" y="328"/>
                      </a:lnTo>
                      <a:lnTo>
                        <a:pt x="134" y="328"/>
                      </a:lnTo>
                      <a:lnTo>
                        <a:pt x="134" y="80"/>
                      </a:lnTo>
                      <a:lnTo>
                        <a:pt x="178" y="80"/>
                      </a:lnTo>
                      <a:lnTo>
                        <a:pt x="8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281" name="Freeform 9"/>
                <p:cNvSpPr/>
                <p:nvPr/>
              </p:nvSpPr>
              <p:spPr bwMode="auto">
                <a:xfrm>
                  <a:off x="4198" y="1792"/>
                  <a:ext cx="898" cy="164"/>
                </a:xfrm>
                <a:custGeom>
                  <a:avLst/>
                  <a:gdLst>
                    <a:gd name="T0" fmla="*/ 0 w 898"/>
                    <a:gd name="T1" fmla="*/ 80 h 164"/>
                    <a:gd name="T2" fmla="*/ 178 w 898"/>
                    <a:gd name="T3" fmla="*/ 164 h 164"/>
                    <a:gd name="T4" fmla="*/ 178 w 898"/>
                    <a:gd name="T5" fmla="*/ 120 h 164"/>
                    <a:gd name="T6" fmla="*/ 720 w 898"/>
                    <a:gd name="T7" fmla="*/ 120 h 164"/>
                    <a:gd name="T8" fmla="*/ 720 w 898"/>
                    <a:gd name="T9" fmla="*/ 164 h 164"/>
                    <a:gd name="T10" fmla="*/ 898 w 898"/>
                    <a:gd name="T11" fmla="*/ 80 h 164"/>
                    <a:gd name="T12" fmla="*/ 720 w 898"/>
                    <a:gd name="T13" fmla="*/ 0 h 164"/>
                    <a:gd name="T14" fmla="*/ 720 w 898"/>
                    <a:gd name="T15" fmla="*/ 40 h 164"/>
                    <a:gd name="T16" fmla="*/ 178 w 898"/>
                    <a:gd name="T17" fmla="*/ 40 h 164"/>
                    <a:gd name="T18" fmla="*/ 178 w 898"/>
                    <a:gd name="T19" fmla="*/ 0 h 164"/>
                    <a:gd name="T20" fmla="*/ 0 w 898"/>
                    <a:gd name="T21" fmla="*/ 80 h 16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98" h="164">
                      <a:moveTo>
                        <a:pt x="0" y="80"/>
                      </a:moveTo>
                      <a:lnTo>
                        <a:pt x="178" y="164"/>
                      </a:lnTo>
                      <a:lnTo>
                        <a:pt x="178" y="120"/>
                      </a:lnTo>
                      <a:lnTo>
                        <a:pt x="720" y="120"/>
                      </a:lnTo>
                      <a:lnTo>
                        <a:pt x="720" y="164"/>
                      </a:lnTo>
                      <a:lnTo>
                        <a:pt x="898" y="80"/>
                      </a:lnTo>
                      <a:lnTo>
                        <a:pt x="720" y="0"/>
                      </a:lnTo>
                      <a:lnTo>
                        <a:pt x="720" y="40"/>
                      </a:lnTo>
                      <a:lnTo>
                        <a:pt x="178" y="40"/>
                      </a:lnTo>
                      <a:lnTo>
                        <a:pt x="178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282" name="Rectangle 10"/>
                <p:cNvSpPr>
                  <a:spLocks noChangeArrowheads="1"/>
                </p:cNvSpPr>
                <p:nvPr/>
              </p:nvSpPr>
              <p:spPr bwMode="auto">
                <a:xfrm>
                  <a:off x="2208" y="2828"/>
                  <a:ext cx="1267" cy="300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11283" name="Freeform 11"/>
                <p:cNvSpPr/>
                <p:nvPr/>
              </p:nvSpPr>
              <p:spPr bwMode="auto">
                <a:xfrm>
                  <a:off x="2731" y="2383"/>
                  <a:ext cx="240" cy="445"/>
                </a:xfrm>
                <a:custGeom>
                  <a:avLst/>
                  <a:gdLst>
                    <a:gd name="T0" fmla="*/ 0 w 240"/>
                    <a:gd name="T1" fmla="*/ 147 h 445"/>
                    <a:gd name="T2" fmla="*/ 58 w 240"/>
                    <a:gd name="T3" fmla="*/ 147 h 445"/>
                    <a:gd name="T4" fmla="*/ 58 w 240"/>
                    <a:gd name="T5" fmla="*/ 445 h 445"/>
                    <a:gd name="T6" fmla="*/ 178 w 240"/>
                    <a:gd name="T7" fmla="*/ 445 h 445"/>
                    <a:gd name="T8" fmla="*/ 178 w 240"/>
                    <a:gd name="T9" fmla="*/ 147 h 445"/>
                    <a:gd name="T10" fmla="*/ 240 w 240"/>
                    <a:gd name="T11" fmla="*/ 147 h 445"/>
                    <a:gd name="T12" fmla="*/ 120 w 240"/>
                    <a:gd name="T13" fmla="*/ 0 h 445"/>
                    <a:gd name="T14" fmla="*/ 0 w 240"/>
                    <a:gd name="T15" fmla="*/ 147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40" h="445">
                      <a:moveTo>
                        <a:pt x="0" y="147"/>
                      </a:moveTo>
                      <a:lnTo>
                        <a:pt x="58" y="147"/>
                      </a:lnTo>
                      <a:lnTo>
                        <a:pt x="58" y="445"/>
                      </a:lnTo>
                      <a:lnTo>
                        <a:pt x="178" y="445"/>
                      </a:lnTo>
                      <a:lnTo>
                        <a:pt x="178" y="147"/>
                      </a:lnTo>
                      <a:lnTo>
                        <a:pt x="240" y="147"/>
                      </a:lnTo>
                      <a:lnTo>
                        <a:pt x="120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1284" name="Group 12"/>
                <p:cNvGrpSpPr/>
                <p:nvPr/>
              </p:nvGrpSpPr>
              <p:grpSpPr bwMode="auto">
                <a:xfrm>
                  <a:off x="931" y="1410"/>
                  <a:ext cx="1085" cy="943"/>
                  <a:chOff x="931" y="1410"/>
                  <a:chExt cx="1085" cy="943"/>
                </a:xfrm>
              </p:grpSpPr>
              <p:sp>
                <p:nvSpPr>
                  <p:cNvPr id="11315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931" y="1410"/>
                    <a:ext cx="1085" cy="943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11316" name="Text Box 1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054" y="1709"/>
                    <a:ext cx="839" cy="346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3000">
                        <a:latin typeface="Times New Roman" panose="02020603050405020304" pitchFamily="18" charset="0"/>
                      </a:rPr>
                      <a:t>存储体</a:t>
                    </a:r>
                    <a:endParaRPr lang="zh-CN" altLang="en-US" sz="3000">
                      <a:latin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1285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1140" y="2610"/>
                  <a:ext cx="647" cy="2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200">
                      <a:latin typeface="Times New Roman" panose="02020603050405020304" pitchFamily="18" charset="0"/>
                    </a:rPr>
                    <a:t>驱动器</a:t>
                  </a:r>
                  <a:endParaRPr lang="zh-CN" altLang="en-US" sz="2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286" name="Rectangle 16"/>
                <p:cNvSpPr>
                  <a:spLocks noChangeArrowheads="1"/>
                </p:cNvSpPr>
                <p:nvPr/>
              </p:nvSpPr>
              <p:spPr bwMode="auto">
                <a:xfrm>
                  <a:off x="919" y="3113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287" name="Text Box 17"/>
                <p:cNvSpPr txBox="1">
                  <a:spLocks noChangeArrowheads="1"/>
                </p:cNvSpPr>
                <p:nvPr/>
              </p:nvSpPr>
              <p:spPr bwMode="auto">
                <a:xfrm>
                  <a:off x="1140" y="3114"/>
                  <a:ext cx="647" cy="2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200">
                      <a:latin typeface="Times New Roman" panose="02020603050405020304" pitchFamily="18" charset="0"/>
                    </a:rPr>
                    <a:t>译码器</a:t>
                  </a:r>
                  <a:endParaRPr lang="zh-CN" altLang="en-US" sz="2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288" name="Rectangle 18"/>
                <p:cNvSpPr>
                  <a:spLocks noChangeArrowheads="1"/>
                </p:cNvSpPr>
                <p:nvPr/>
              </p:nvSpPr>
              <p:spPr bwMode="auto">
                <a:xfrm>
                  <a:off x="919" y="3628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11289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1195" y="3630"/>
                  <a:ext cx="536" cy="2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200">
                      <a:latin typeface="Times New Roman" panose="02020603050405020304" pitchFamily="18" charset="0"/>
                    </a:rPr>
                    <a:t>MAR</a:t>
                  </a:r>
                  <a:endParaRPr lang="en-US" altLang="zh-CN" sz="2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290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2429" y="2843"/>
                  <a:ext cx="824" cy="2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200">
                      <a:latin typeface="Times New Roman" panose="02020603050405020304" pitchFamily="18" charset="0"/>
                    </a:rPr>
                    <a:t>控制电路</a:t>
                  </a:r>
                  <a:endParaRPr lang="zh-CN" altLang="en-US" sz="22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1291" name="Group 21"/>
                <p:cNvGrpSpPr/>
                <p:nvPr/>
              </p:nvGrpSpPr>
              <p:grpSpPr bwMode="auto">
                <a:xfrm>
                  <a:off x="2568" y="1402"/>
                  <a:ext cx="547" cy="942"/>
                  <a:chOff x="2568" y="1402"/>
                  <a:chExt cx="547" cy="942"/>
                </a:xfrm>
              </p:grpSpPr>
              <p:sp>
                <p:nvSpPr>
                  <p:cNvPr id="11313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2568" y="1402"/>
                    <a:ext cx="547" cy="942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11314" name="Text Box 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87" y="1421"/>
                    <a:ext cx="309" cy="91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200">
                        <a:latin typeface="Times New Roman" panose="02020603050405020304" pitchFamily="18" charset="0"/>
                      </a:rPr>
                      <a:t>读</a:t>
                    </a:r>
                    <a:endParaRPr lang="zh-CN" altLang="en-US" sz="2200">
                      <a:latin typeface="Times New Roman" panose="02020603050405020304" pitchFamily="18" charset="0"/>
                    </a:endParaRPr>
                  </a:p>
                  <a:p>
                    <a:pPr eaLnBrk="1" hangingPunct="1"/>
                    <a:r>
                      <a:rPr lang="zh-CN" altLang="en-US" sz="2200">
                        <a:latin typeface="Times New Roman" panose="02020603050405020304" pitchFamily="18" charset="0"/>
                      </a:rPr>
                      <a:t>写</a:t>
                    </a:r>
                    <a:endParaRPr lang="zh-CN" altLang="en-US" sz="2200">
                      <a:latin typeface="Times New Roman" panose="02020603050405020304" pitchFamily="18" charset="0"/>
                    </a:endParaRPr>
                  </a:p>
                  <a:p>
                    <a:pPr eaLnBrk="1" hangingPunct="1"/>
                    <a:r>
                      <a:rPr lang="zh-CN" altLang="en-US" sz="2200">
                        <a:latin typeface="Times New Roman" panose="02020603050405020304" pitchFamily="18" charset="0"/>
                      </a:rPr>
                      <a:t>电</a:t>
                    </a:r>
                    <a:endParaRPr lang="zh-CN" altLang="en-US" sz="2200">
                      <a:latin typeface="Times New Roman" panose="02020603050405020304" pitchFamily="18" charset="0"/>
                    </a:endParaRPr>
                  </a:p>
                  <a:p>
                    <a:pPr eaLnBrk="1" hangingPunct="1"/>
                    <a:r>
                      <a:rPr lang="zh-CN" altLang="en-US" sz="2200">
                        <a:latin typeface="Times New Roman" panose="02020603050405020304" pitchFamily="18" charset="0"/>
                      </a:rPr>
                      <a:t>路</a:t>
                    </a:r>
                    <a:endParaRPr lang="zh-CN" altLang="en-US" sz="2200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1292" name="Group 24"/>
                <p:cNvGrpSpPr/>
                <p:nvPr/>
              </p:nvGrpSpPr>
              <p:grpSpPr bwMode="auto">
                <a:xfrm>
                  <a:off x="3652" y="1410"/>
                  <a:ext cx="553" cy="943"/>
                  <a:chOff x="3652" y="1410"/>
                  <a:chExt cx="553" cy="943"/>
                </a:xfrm>
              </p:grpSpPr>
              <p:sp>
                <p:nvSpPr>
                  <p:cNvPr id="11311" name="Rectangle 25"/>
                  <p:cNvSpPr>
                    <a:spLocks noChangeArrowheads="1"/>
                  </p:cNvSpPr>
                  <p:nvPr/>
                </p:nvSpPr>
                <p:spPr bwMode="auto">
                  <a:xfrm>
                    <a:off x="3652" y="1410"/>
                    <a:ext cx="547" cy="943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11312" name="Text Box 2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669" y="1747"/>
                    <a:ext cx="536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en-US" altLang="zh-CN" sz="2200">
                        <a:latin typeface="Times New Roman" panose="02020603050405020304" pitchFamily="18" charset="0"/>
                      </a:rPr>
                      <a:t>MDR</a:t>
                    </a:r>
                    <a:endParaRPr lang="en-US" altLang="zh-CN" sz="2200">
                      <a:latin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1293" name="Line 27"/>
                <p:cNvSpPr>
                  <a:spLocks noChangeShapeType="1"/>
                </p:cNvSpPr>
                <p:nvPr/>
              </p:nvSpPr>
              <p:spPr bwMode="auto">
                <a:xfrm>
                  <a:off x="3114" y="1623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294" name="Line 28"/>
                <p:cNvSpPr>
                  <a:spLocks noChangeShapeType="1"/>
                </p:cNvSpPr>
                <p:nvPr/>
              </p:nvSpPr>
              <p:spPr bwMode="auto">
                <a:xfrm>
                  <a:off x="3114" y="2163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295" name="Line 34"/>
                <p:cNvSpPr>
                  <a:spLocks noChangeShapeType="1"/>
                </p:cNvSpPr>
                <p:nvPr/>
              </p:nvSpPr>
              <p:spPr bwMode="auto">
                <a:xfrm>
                  <a:off x="2034" y="1635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296" name="Line 35"/>
                <p:cNvSpPr>
                  <a:spLocks noChangeShapeType="1"/>
                </p:cNvSpPr>
                <p:nvPr/>
              </p:nvSpPr>
              <p:spPr bwMode="auto">
                <a:xfrm>
                  <a:off x="2034" y="2175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297" name="Line 41"/>
                <p:cNvSpPr>
                  <a:spLocks noChangeShapeType="1"/>
                </p:cNvSpPr>
                <p:nvPr/>
              </p:nvSpPr>
              <p:spPr bwMode="auto">
                <a:xfrm flipV="1">
                  <a:off x="1110" y="235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298" name="Line 46"/>
                <p:cNvSpPr>
                  <a:spLocks noChangeShapeType="1"/>
                </p:cNvSpPr>
                <p:nvPr/>
              </p:nvSpPr>
              <p:spPr bwMode="auto">
                <a:xfrm flipV="1">
                  <a:off x="1782" y="2367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299" name="Line 47"/>
                <p:cNvSpPr>
                  <a:spLocks noChangeShapeType="1"/>
                </p:cNvSpPr>
                <p:nvPr/>
              </p:nvSpPr>
              <p:spPr bwMode="auto">
                <a:xfrm flipV="1">
                  <a:off x="1110" y="2859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300" name="Line 52"/>
                <p:cNvSpPr>
                  <a:spLocks noChangeShapeType="1"/>
                </p:cNvSpPr>
                <p:nvPr/>
              </p:nvSpPr>
              <p:spPr bwMode="auto">
                <a:xfrm flipV="1">
                  <a:off x="1782" y="2871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301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1110" y="337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302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782" y="3387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303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1605" y="3928"/>
                  <a:ext cx="888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400">
                      <a:latin typeface="Times New Roman" panose="02020603050405020304" pitchFamily="18" charset="0"/>
                    </a:rPr>
                    <a:t>地址总线</a:t>
                  </a:r>
                  <a:endParaRPr lang="zh-CN" altLang="en-US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304" name="Text Box 60"/>
                <p:cNvSpPr txBox="1">
                  <a:spLocks noChangeArrowheads="1"/>
                </p:cNvSpPr>
                <p:nvPr/>
              </p:nvSpPr>
              <p:spPr bwMode="auto">
                <a:xfrm>
                  <a:off x="4224" y="1536"/>
                  <a:ext cx="824" cy="2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200">
                      <a:latin typeface="Times New Roman" panose="02020603050405020304" pitchFamily="18" charset="0"/>
                    </a:rPr>
                    <a:t>数据总线</a:t>
                  </a:r>
                  <a:endParaRPr lang="zh-CN" altLang="en-US" sz="22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1305" name="Group 61"/>
                <p:cNvGrpSpPr/>
                <p:nvPr/>
              </p:nvGrpSpPr>
              <p:grpSpPr bwMode="auto">
                <a:xfrm>
                  <a:off x="2331" y="3116"/>
                  <a:ext cx="309" cy="670"/>
                  <a:chOff x="2315" y="3116"/>
                  <a:chExt cx="309" cy="670"/>
                </a:xfrm>
              </p:grpSpPr>
              <p:sp>
                <p:nvSpPr>
                  <p:cNvPr id="11309" name="Line 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70" y="3116"/>
                    <a:ext cx="0" cy="397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tailEnd type="stealth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10" name="Text Box 6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15" y="3498"/>
                    <a:ext cx="309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读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1306" name="Group 64"/>
                <p:cNvGrpSpPr/>
                <p:nvPr/>
              </p:nvGrpSpPr>
              <p:grpSpPr bwMode="auto">
                <a:xfrm>
                  <a:off x="3024" y="3116"/>
                  <a:ext cx="309" cy="670"/>
                  <a:chOff x="2999" y="3116"/>
                  <a:chExt cx="309" cy="670"/>
                </a:xfrm>
              </p:grpSpPr>
              <p:sp>
                <p:nvSpPr>
                  <p:cNvPr id="11307" name="Line 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4" y="3116"/>
                    <a:ext cx="0" cy="397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tailEnd type="stealth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08" name="Text Box 6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99" y="3498"/>
                    <a:ext cx="309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写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</p:grpSp>
          </p:grpSp>
          <p:sp>
            <p:nvSpPr>
              <p:cNvPr id="11278" name="Line 67"/>
              <p:cNvSpPr>
                <a:spLocks noChangeShapeType="1"/>
              </p:cNvSpPr>
              <p:nvPr/>
            </p:nvSpPr>
            <p:spPr bwMode="auto">
              <a:xfrm>
                <a:off x="1455" y="4128"/>
                <a:ext cx="66" cy="0"/>
              </a:xfrm>
              <a:prstGeom prst="line">
                <a:avLst/>
              </a:prstGeom>
              <a:noFill/>
              <a:ln w="571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1272" name="Text Box 76"/>
            <p:cNvSpPr txBox="1">
              <a:spLocks noChangeArrowheads="1"/>
            </p:cNvSpPr>
            <p:nvPr/>
          </p:nvSpPr>
          <p:spPr bwMode="auto">
            <a:xfrm>
              <a:off x="1292" y="2840"/>
              <a:ext cx="36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273" name="Text Box 77"/>
            <p:cNvSpPr txBox="1">
              <a:spLocks noChangeArrowheads="1"/>
            </p:cNvSpPr>
            <p:nvPr/>
          </p:nvSpPr>
          <p:spPr bwMode="auto">
            <a:xfrm>
              <a:off x="1292" y="3353"/>
              <a:ext cx="36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274" name="Text Box 78"/>
            <p:cNvSpPr txBox="1">
              <a:spLocks noChangeArrowheads="1"/>
            </p:cNvSpPr>
            <p:nvPr/>
          </p:nvSpPr>
          <p:spPr bwMode="auto">
            <a:xfrm>
              <a:off x="1292" y="2333"/>
              <a:ext cx="36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275" name="Text Box 79"/>
            <p:cNvSpPr txBox="1">
              <a:spLocks noChangeArrowheads="1"/>
            </p:cNvSpPr>
            <p:nvPr/>
          </p:nvSpPr>
          <p:spPr bwMode="auto">
            <a:xfrm rot="-5400000">
              <a:off x="2056" y="1726"/>
              <a:ext cx="36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276" name="Text Box 80"/>
            <p:cNvSpPr txBox="1">
              <a:spLocks noChangeArrowheads="1"/>
            </p:cNvSpPr>
            <p:nvPr/>
          </p:nvSpPr>
          <p:spPr bwMode="auto">
            <a:xfrm rot="-5400000">
              <a:off x="3144" y="1726"/>
              <a:ext cx="36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9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9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99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683" grpId="0" autoUpdateAnimBg="0"/>
      <p:bldP spid="199684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"/>
          <p:cNvSpPr txBox="1">
            <a:spLocks noChangeArrowheads="1"/>
          </p:cNvSpPr>
          <p:nvPr/>
        </p:nvSpPr>
        <p:spPr bwMode="auto">
          <a:xfrm>
            <a:off x="1127448" y="404664"/>
            <a:ext cx="4721164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2.  主存和 </a:t>
            </a:r>
            <a:r>
              <a:rPr lang="en-US" altLang="zh-CN" sz="3600">
                <a:latin typeface="Times New Roman" panose="02020603050405020304" pitchFamily="18" charset="0"/>
              </a:rPr>
              <a:t>CPU </a:t>
            </a:r>
            <a:r>
              <a:rPr lang="zh-CN" altLang="en-US" sz="3600">
                <a:latin typeface="Times New Roman" panose="02020603050405020304" pitchFamily="18" charset="0"/>
              </a:rPr>
              <a:t>的联系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grpSp>
        <p:nvGrpSpPr>
          <p:cNvPr id="200707" name="Group 3"/>
          <p:cNvGrpSpPr/>
          <p:nvPr/>
        </p:nvGrpSpPr>
        <p:grpSpPr bwMode="auto">
          <a:xfrm>
            <a:off x="2495600" y="1844824"/>
            <a:ext cx="6934200" cy="3556000"/>
            <a:chOff x="672" y="1168"/>
            <a:chExt cx="4368" cy="2240"/>
          </a:xfrm>
        </p:grpSpPr>
        <p:sp>
          <p:nvSpPr>
            <p:cNvPr id="12294" name="Rectangle 4"/>
            <p:cNvSpPr>
              <a:spLocks noChangeArrowheads="1"/>
            </p:cNvSpPr>
            <p:nvPr/>
          </p:nvSpPr>
          <p:spPr bwMode="auto">
            <a:xfrm>
              <a:off x="672" y="1168"/>
              <a:ext cx="1464" cy="224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12295" name="Group 5"/>
            <p:cNvGrpSpPr/>
            <p:nvPr/>
          </p:nvGrpSpPr>
          <p:grpSpPr bwMode="auto">
            <a:xfrm>
              <a:off x="889" y="1433"/>
              <a:ext cx="1031" cy="370"/>
              <a:chOff x="930" y="1433"/>
              <a:chExt cx="1031" cy="370"/>
            </a:xfrm>
          </p:grpSpPr>
          <p:sp>
            <p:nvSpPr>
              <p:cNvPr id="12315" name="Rectangle 6"/>
              <p:cNvSpPr>
                <a:spLocks noChangeArrowheads="1"/>
              </p:cNvSpPr>
              <p:nvPr/>
            </p:nvSpPr>
            <p:spPr bwMode="auto">
              <a:xfrm>
                <a:off x="930" y="1433"/>
                <a:ext cx="1031" cy="37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2316" name="Rectangle 7"/>
              <p:cNvSpPr>
                <a:spLocks noChangeArrowheads="1"/>
              </p:cNvSpPr>
              <p:nvPr/>
            </p:nvSpPr>
            <p:spPr bwMode="auto">
              <a:xfrm>
                <a:off x="1191" y="1471"/>
                <a:ext cx="51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0">
                    <a:latin typeface="Times New Roman" panose="02020603050405020304" pitchFamily="18" charset="0"/>
                  </a:rPr>
                  <a:t>MDR</a:t>
                </a:r>
                <a:endParaRPr lang="en-US" altLang="zh-CN" sz="2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2296" name="Group 8"/>
            <p:cNvGrpSpPr/>
            <p:nvPr/>
          </p:nvGrpSpPr>
          <p:grpSpPr bwMode="auto">
            <a:xfrm>
              <a:off x="889" y="2736"/>
              <a:ext cx="1031" cy="370"/>
              <a:chOff x="930" y="2938"/>
              <a:chExt cx="1031" cy="370"/>
            </a:xfrm>
          </p:grpSpPr>
          <p:sp>
            <p:nvSpPr>
              <p:cNvPr id="12313" name="Rectangle 9"/>
              <p:cNvSpPr>
                <a:spLocks noChangeArrowheads="1"/>
              </p:cNvSpPr>
              <p:nvPr/>
            </p:nvSpPr>
            <p:spPr bwMode="auto">
              <a:xfrm>
                <a:off x="930" y="2938"/>
                <a:ext cx="1031" cy="37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2314" name="Rectangle 10"/>
              <p:cNvSpPr>
                <a:spLocks noChangeArrowheads="1"/>
              </p:cNvSpPr>
              <p:nvPr/>
            </p:nvSpPr>
            <p:spPr bwMode="auto">
              <a:xfrm>
                <a:off x="1191" y="2975"/>
                <a:ext cx="51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0">
                    <a:latin typeface="Times New Roman" panose="02020603050405020304" pitchFamily="18" charset="0"/>
                  </a:rPr>
                  <a:t>MAR</a:t>
                </a:r>
                <a:endParaRPr lang="en-US" altLang="zh-CN" sz="28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2297" name="Rectangle 11"/>
            <p:cNvSpPr>
              <a:spLocks noChangeArrowheads="1"/>
            </p:cNvSpPr>
            <p:nvPr/>
          </p:nvSpPr>
          <p:spPr bwMode="auto">
            <a:xfrm>
              <a:off x="1155" y="2135"/>
              <a:ext cx="503" cy="3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 b="0">
                  <a:latin typeface="Times New Roman" panose="02020603050405020304" pitchFamily="18" charset="0"/>
                </a:rPr>
                <a:t>CPU</a:t>
              </a:r>
              <a:endParaRPr lang="en-US" altLang="zh-CN" sz="3200" b="0">
                <a:latin typeface="Times New Roman" panose="02020603050405020304" pitchFamily="18" charset="0"/>
              </a:endParaRPr>
            </a:p>
          </p:txBody>
        </p:sp>
        <p:grpSp>
          <p:nvGrpSpPr>
            <p:cNvPr id="12298" name="Group 12"/>
            <p:cNvGrpSpPr/>
            <p:nvPr/>
          </p:nvGrpSpPr>
          <p:grpSpPr bwMode="auto">
            <a:xfrm>
              <a:off x="3891" y="1168"/>
              <a:ext cx="1149" cy="2240"/>
              <a:chOff x="3891" y="1168"/>
              <a:chExt cx="1149" cy="2240"/>
            </a:xfrm>
          </p:grpSpPr>
          <p:sp>
            <p:nvSpPr>
              <p:cNvPr id="12311" name="Rectangle 13"/>
              <p:cNvSpPr>
                <a:spLocks noChangeArrowheads="1"/>
              </p:cNvSpPr>
              <p:nvPr/>
            </p:nvSpPr>
            <p:spPr bwMode="auto">
              <a:xfrm>
                <a:off x="3891" y="1168"/>
                <a:ext cx="1149" cy="224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2312" name="Text Box 14"/>
              <p:cNvSpPr txBox="1">
                <a:spLocks noChangeArrowheads="1"/>
              </p:cNvSpPr>
              <p:nvPr/>
            </p:nvSpPr>
            <p:spPr bwMode="auto">
              <a:xfrm>
                <a:off x="4087" y="2095"/>
                <a:ext cx="765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主  存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2299" name="Group 15"/>
            <p:cNvGrpSpPr/>
            <p:nvPr/>
          </p:nvGrpSpPr>
          <p:grpSpPr bwMode="auto">
            <a:xfrm>
              <a:off x="2143" y="1806"/>
              <a:ext cx="1737" cy="262"/>
              <a:chOff x="2143" y="1806"/>
              <a:chExt cx="1737" cy="262"/>
            </a:xfrm>
          </p:grpSpPr>
          <p:sp>
            <p:nvSpPr>
              <p:cNvPr id="12309" name="Rectangle 16"/>
              <p:cNvSpPr>
                <a:spLocks noChangeArrowheads="1"/>
              </p:cNvSpPr>
              <p:nvPr/>
            </p:nvSpPr>
            <p:spPr bwMode="auto">
              <a:xfrm>
                <a:off x="2915" y="1806"/>
                <a:ext cx="19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/>
                  <a:t>读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310" name="Freeform 17"/>
              <p:cNvSpPr/>
              <p:nvPr/>
            </p:nvSpPr>
            <p:spPr bwMode="auto">
              <a:xfrm>
                <a:off x="2143" y="2067"/>
                <a:ext cx="1737" cy="1"/>
              </a:xfrm>
              <a:custGeom>
                <a:avLst/>
                <a:gdLst>
                  <a:gd name="T0" fmla="*/ 0 w 1737"/>
                  <a:gd name="T1" fmla="*/ 0 h 1"/>
                  <a:gd name="T2" fmla="*/ 1737 w 17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37" h="1">
                    <a:moveTo>
                      <a:pt x="0" y="0"/>
                    </a:moveTo>
                    <a:lnTo>
                      <a:pt x="1737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300" name="Group 18"/>
            <p:cNvGrpSpPr/>
            <p:nvPr/>
          </p:nvGrpSpPr>
          <p:grpSpPr bwMode="auto">
            <a:xfrm>
              <a:off x="1920" y="1310"/>
              <a:ext cx="1968" cy="370"/>
              <a:chOff x="1920" y="1310"/>
              <a:chExt cx="1968" cy="370"/>
            </a:xfrm>
          </p:grpSpPr>
          <p:sp>
            <p:nvSpPr>
              <p:cNvPr id="12307" name="Rectangle 19"/>
              <p:cNvSpPr>
                <a:spLocks noChangeArrowheads="1"/>
              </p:cNvSpPr>
              <p:nvPr/>
            </p:nvSpPr>
            <p:spPr bwMode="auto">
              <a:xfrm>
                <a:off x="2626" y="1310"/>
                <a:ext cx="780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/>
                  <a:t>数据总线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308" name="AutoShape 20"/>
              <p:cNvSpPr>
                <a:spLocks noChangeArrowheads="1"/>
              </p:cNvSpPr>
              <p:nvPr/>
            </p:nvSpPr>
            <p:spPr bwMode="auto">
              <a:xfrm>
                <a:off x="1920" y="1536"/>
                <a:ext cx="1968" cy="144"/>
              </a:xfrm>
              <a:prstGeom prst="leftRightArrow">
                <a:avLst>
                  <a:gd name="adj1" fmla="val 50000"/>
                  <a:gd name="adj2" fmla="val 131605"/>
                </a:avLst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grpSp>
          <p:nvGrpSpPr>
            <p:cNvPr id="12301" name="Group 21"/>
            <p:cNvGrpSpPr/>
            <p:nvPr/>
          </p:nvGrpSpPr>
          <p:grpSpPr bwMode="auto">
            <a:xfrm>
              <a:off x="1920" y="2640"/>
              <a:ext cx="1968" cy="348"/>
              <a:chOff x="1920" y="2640"/>
              <a:chExt cx="1968" cy="348"/>
            </a:xfrm>
          </p:grpSpPr>
          <p:sp>
            <p:nvSpPr>
              <p:cNvPr id="12305" name="Rectangle 22"/>
              <p:cNvSpPr>
                <a:spLocks noChangeArrowheads="1"/>
              </p:cNvSpPr>
              <p:nvPr/>
            </p:nvSpPr>
            <p:spPr bwMode="auto">
              <a:xfrm>
                <a:off x="2626" y="2640"/>
                <a:ext cx="780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/>
                  <a:t>地址总线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306" name="AutoShape 23"/>
              <p:cNvSpPr>
                <a:spLocks noChangeArrowheads="1"/>
              </p:cNvSpPr>
              <p:nvPr/>
            </p:nvSpPr>
            <p:spPr bwMode="auto">
              <a:xfrm>
                <a:off x="1920" y="2844"/>
                <a:ext cx="1968" cy="144"/>
              </a:xfrm>
              <a:prstGeom prst="rightArrow">
                <a:avLst>
                  <a:gd name="adj1" fmla="val 50000"/>
                  <a:gd name="adj2" fmla="val 129137"/>
                </a:avLst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grpSp>
          <p:nvGrpSpPr>
            <p:cNvPr id="12302" name="Group 24"/>
            <p:cNvGrpSpPr/>
            <p:nvPr/>
          </p:nvGrpSpPr>
          <p:grpSpPr bwMode="auto">
            <a:xfrm>
              <a:off x="2144" y="2196"/>
              <a:ext cx="1737" cy="260"/>
              <a:chOff x="2144" y="2196"/>
              <a:chExt cx="1737" cy="260"/>
            </a:xfrm>
          </p:grpSpPr>
          <p:sp>
            <p:nvSpPr>
              <p:cNvPr id="12303" name="Rectangle 25"/>
              <p:cNvSpPr>
                <a:spLocks noChangeArrowheads="1"/>
              </p:cNvSpPr>
              <p:nvPr/>
            </p:nvSpPr>
            <p:spPr bwMode="auto">
              <a:xfrm>
                <a:off x="2915" y="2196"/>
                <a:ext cx="19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/>
                  <a:t>写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304" name="Freeform 26"/>
              <p:cNvSpPr/>
              <p:nvPr/>
            </p:nvSpPr>
            <p:spPr bwMode="auto">
              <a:xfrm>
                <a:off x="2144" y="2455"/>
                <a:ext cx="1737" cy="1"/>
              </a:xfrm>
              <a:custGeom>
                <a:avLst/>
                <a:gdLst>
                  <a:gd name="T0" fmla="*/ 0 w 1737"/>
                  <a:gd name="T1" fmla="*/ 0 h 1"/>
                  <a:gd name="T2" fmla="*/ 1737 w 17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37" h="1">
                    <a:moveTo>
                      <a:pt x="0" y="0"/>
                    </a:moveTo>
                    <a:lnTo>
                      <a:pt x="1737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0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Text Box 2"/>
          <p:cNvSpPr txBox="1">
            <a:spLocks noChangeArrowheads="1"/>
          </p:cNvSpPr>
          <p:nvPr/>
        </p:nvSpPr>
        <p:spPr bwMode="auto">
          <a:xfrm>
            <a:off x="-249230" y="1792067"/>
            <a:ext cx="605967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 dirty="0">
                <a:latin typeface="Times New Roman" panose="02020603050405020304" pitchFamily="18" charset="0"/>
              </a:rPr>
              <a:t>       </a:t>
            </a:r>
            <a:r>
              <a:rPr lang="zh-CN" altLang="en-US" sz="2400" dirty="0">
                <a:solidFill>
                  <a:schemeClr val="folHlink"/>
                </a:solidFill>
                <a:latin typeface="Times New Roman" panose="02020603050405020304" pitchFamily="18" charset="0"/>
              </a:rPr>
              <a:t>高位字节 </a:t>
            </a:r>
            <a:r>
              <a:rPr lang="zh-CN" altLang="en-US" sz="2400" dirty="0">
                <a:latin typeface="Times New Roman" panose="02020603050405020304" pitchFamily="18" charset="0"/>
              </a:rPr>
              <a:t>地址为字地址（大端表示法）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201731" name="Text Box 3"/>
          <p:cNvSpPr txBox="1">
            <a:spLocks noChangeArrowheads="1"/>
          </p:cNvSpPr>
          <p:nvPr/>
        </p:nvSpPr>
        <p:spPr bwMode="auto">
          <a:xfrm>
            <a:off x="6071458" y="1795790"/>
            <a:ext cx="57518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 dirty="0">
                <a:latin typeface="Times New Roman" panose="02020603050405020304" pitchFamily="18" charset="0"/>
              </a:rPr>
              <a:t>   </a:t>
            </a:r>
            <a:r>
              <a:rPr lang="zh-CN" altLang="en-US" sz="2400" dirty="0">
                <a:solidFill>
                  <a:schemeClr val="folHlink"/>
                </a:solidFill>
                <a:latin typeface="Times New Roman" panose="02020603050405020304" pitchFamily="18" charset="0"/>
              </a:rPr>
              <a:t>低位字节 </a:t>
            </a:r>
            <a:r>
              <a:rPr lang="zh-CN" altLang="en-US" sz="2400" dirty="0">
                <a:latin typeface="Times New Roman" panose="02020603050405020304" pitchFamily="18" charset="0"/>
              </a:rPr>
              <a:t>地址为字地址（小端表示法）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201732" name="Text Box 4"/>
          <p:cNvSpPr txBox="1">
            <a:spLocks noChangeArrowheads="1"/>
          </p:cNvSpPr>
          <p:nvPr/>
        </p:nvSpPr>
        <p:spPr bwMode="auto">
          <a:xfrm>
            <a:off x="2554388" y="4919941"/>
            <a:ext cx="350043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设地址线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24 </a:t>
            </a:r>
            <a:r>
              <a:rPr lang="zh-CN" altLang="en-US" sz="2400">
                <a:latin typeface="Times New Roman" panose="02020603050405020304" pitchFamily="18" charset="0"/>
              </a:rPr>
              <a:t>根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1733" name="Text Box 5"/>
          <p:cNvSpPr txBox="1">
            <a:spLocks noChangeArrowheads="1"/>
          </p:cNvSpPr>
          <p:nvPr/>
        </p:nvSpPr>
        <p:spPr bwMode="auto">
          <a:xfrm>
            <a:off x="5300762" y="4919941"/>
            <a:ext cx="235426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按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字节 </a:t>
            </a:r>
            <a:r>
              <a:rPr lang="zh-CN" altLang="en-US" sz="2400">
                <a:latin typeface="Times New Roman" panose="02020603050405020304" pitchFamily="18" charset="0"/>
              </a:rPr>
              <a:t>寻址</a:t>
            </a:r>
            <a:endParaRPr lang="en-US" altLang="zh-CN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34" name="Text Box 6"/>
          <p:cNvSpPr txBox="1">
            <a:spLocks noChangeArrowheads="1"/>
          </p:cNvSpPr>
          <p:nvPr/>
        </p:nvSpPr>
        <p:spPr bwMode="auto">
          <a:xfrm>
            <a:off x="5308700" y="5453341"/>
            <a:ext cx="27273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按  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字</a:t>
            </a:r>
            <a:r>
              <a:rPr lang="zh-CN" altLang="en-US" sz="2400">
                <a:latin typeface="Times New Roman" panose="02020603050405020304" pitchFamily="18" charset="0"/>
              </a:rPr>
              <a:t>   寻址</a:t>
            </a:r>
            <a:endParaRPr lang="en-US" altLang="zh-CN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35" name="Text Box 7"/>
          <p:cNvSpPr txBox="1">
            <a:spLocks noChangeArrowheads="1"/>
          </p:cNvSpPr>
          <p:nvPr/>
        </p:nvSpPr>
        <p:spPr bwMode="auto">
          <a:xfrm>
            <a:off x="2562324" y="5453341"/>
            <a:ext cx="28829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若字长为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16 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1736" name="Text Box 8"/>
          <p:cNvSpPr txBox="1">
            <a:spLocks noChangeArrowheads="1"/>
          </p:cNvSpPr>
          <p:nvPr/>
        </p:nvSpPr>
        <p:spPr bwMode="auto">
          <a:xfrm>
            <a:off x="5296000" y="5985154"/>
            <a:ext cx="40354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按  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字</a:t>
            </a:r>
            <a:r>
              <a:rPr lang="zh-CN" altLang="en-US" sz="2400">
                <a:latin typeface="Times New Roman" panose="02020603050405020304" pitchFamily="18" charset="0"/>
              </a:rPr>
              <a:t>   寻址</a:t>
            </a:r>
            <a:endParaRPr lang="en-US" altLang="zh-CN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37" name="Text Box 9"/>
          <p:cNvSpPr txBox="1">
            <a:spLocks noChangeArrowheads="1"/>
          </p:cNvSpPr>
          <p:nvPr/>
        </p:nvSpPr>
        <p:spPr bwMode="auto">
          <a:xfrm>
            <a:off x="2549624" y="5985154"/>
            <a:ext cx="3657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若字长为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32</a:t>
            </a:r>
            <a:r>
              <a:rPr lang="zh-CN" altLang="en-US" sz="2400">
                <a:latin typeface="Times New Roman" panose="02020603050405020304" pitchFamily="18" charset="0"/>
              </a:rPr>
              <a:t> 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01738" name="Group 10"/>
          <p:cNvGrpSpPr/>
          <p:nvPr/>
        </p:nvGrpSpPr>
        <p:grpSpPr bwMode="auto">
          <a:xfrm>
            <a:off x="985144" y="2443289"/>
            <a:ext cx="3852862" cy="2027237"/>
            <a:chOff x="309" y="1296"/>
            <a:chExt cx="2427" cy="1277"/>
          </a:xfrm>
        </p:grpSpPr>
        <p:sp>
          <p:nvSpPr>
            <p:cNvPr id="13350" name="Text Box 11"/>
            <p:cNvSpPr txBox="1">
              <a:spLocks noChangeArrowheads="1"/>
            </p:cNvSpPr>
            <p:nvPr/>
          </p:nvSpPr>
          <p:spPr bwMode="auto">
            <a:xfrm>
              <a:off x="309" y="1392"/>
              <a:ext cx="791" cy="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200">
                  <a:latin typeface="Times New Roman" panose="02020603050405020304" pitchFamily="18" charset="0"/>
                </a:rPr>
                <a:t>字地址</a:t>
              </a: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13351" name="Text Box 12"/>
            <p:cNvSpPr txBox="1">
              <a:spLocks noChangeArrowheads="1"/>
            </p:cNvSpPr>
            <p:nvPr/>
          </p:nvSpPr>
          <p:spPr bwMode="auto">
            <a:xfrm>
              <a:off x="1440" y="1296"/>
              <a:ext cx="824" cy="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200">
                  <a:latin typeface="Times New Roman" panose="02020603050405020304" pitchFamily="18" charset="0"/>
                </a:rPr>
                <a:t>字节地址</a:t>
              </a: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13352" name="AutoShape 13"/>
            <p:cNvSpPr/>
            <p:nvPr/>
          </p:nvSpPr>
          <p:spPr bwMode="auto">
            <a:xfrm rot="5400000">
              <a:off x="1746" y="719"/>
              <a:ext cx="144" cy="1836"/>
            </a:xfrm>
            <a:prstGeom prst="leftBrace">
              <a:avLst>
                <a:gd name="adj1" fmla="val 106250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13353" name="Group 14"/>
            <p:cNvGrpSpPr/>
            <p:nvPr/>
          </p:nvGrpSpPr>
          <p:grpSpPr bwMode="auto">
            <a:xfrm>
              <a:off x="912" y="1705"/>
              <a:ext cx="1824" cy="868"/>
              <a:chOff x="912" y="1961"/>
              <a:chExt cx="1824" cy="868"/>
            </a:xfrm>
          </p:grpSpPr>
          <p:sp>
            <p:nvSpPr>
              <p:cNvPr id="13357" name="Rectangle 15"/>
              <p:cNvSpPr>
                <a:spLocks noChangeArrowheads="1"/>
              </p:cNvSpPr>
              <p:nvPr/>
            </p:nvSpPr>
            <p:spPr bwMode="auto">
              <a:xfrm>
                <a:off x="2280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B</a:t>
                </a:r>
                <a:endParaRPr lang="en-US" altLang="zh-CN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58" name="Rectangle 16"/>
              <p:cNvSpPr>
                <a:spLocks noChangeArrowheads="1"/>
              </p:cNvSpPr>
              <p:nvPr/>
            </p:nvSpPr>
            <p:spPr bwMode="auto">
              <a:xfrm>
                <a:off x="1824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A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59" name="Rectangle 17"/>
              <p:cNvSpPr>
                <a:spLocks noChangeArrowheads="1"/>
              </p:cNvSpPr>
              <p:nvPr/>
            </p:nvSpPr>
            <p:spPr bwMode="auto">
              <a:xfrm>
                <a:off x="1368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9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0" name="Rectangle 18"/>
              <p:cNvSpPr>
                <a:spLocks noChangeArrowheads="1"/>
              </p:cNvSpPr>
              <p:nvPr/>
            </p:nvSpPr>
            <p:spPr bwMode="auto">
              <a:xfrm>
                <a:off x="912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8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1" name="Rectangle 19"/>
              <p:cNvSpPr>
                <a:spLocks noChangeArrowheads="1"/>
              </p:cNvSpPr>
              <p:nvPr/>
            </p:nvSpPr>
            <p:spPr bwMode="auto">
              <a:xfrm>
                <a:off x="2280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7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2" name="Rectangle 20"/>
              <p:cNvSpPr>
                <a:spLocks noChangeArrowheads="1"/>
              </p:cNvSpPr>
              <p:nvPr/>
            </p:nvSpPr>
            <p:spPr bwMode="auto">
              <a:xfrm>
                <a:off x="1824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6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3" name="Rectangle 21"/>
              <p:cNvSpPr>
                <a:spLocks noChangeArrowheads="1"/>
              </p:cNvSpPr>
              <p:nvPr/>
            </p:nvSpPr>
            <p:spPr bwMode="auto">
              <a:xfrm>
                <a:off x="1368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5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4" name="Rectangle 22"/>
              <p:cNvSpPr>
                <a:spLocks noChangeArrowheads="1"/>
              </p:cNvSpPr>
              <p:nvPr/>
            </p:nvSpPr>
            <p:spPr bwMode="auto">
              <a:xfrm>
                <a:off x="912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4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5" name="Rectangle 23"/>
              <p:cNvSpPr>
                <a:spLocks noChangeArrowheads="1"/>
              </p:cNvSpPr>
              <p:nvPr/>
            </p:nvSpPr>
            <p:spPr bwMode="auto">
              <a:xfrm>
                <a:off x="2280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 dirty="0">
                    <a:latin typeface="Times New Roman" panose="02020603050405020304" pitchFamily="18" charset="0"/>
                  </a:rPr>
                  <a:t>3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6" name="Rectangle 24"/>
              <p:cNvSpPr>
                <a:spLocks noChangeArrowheads="1"/>
              </p:cNvSpPr>
              <p:nvPr/>
            </p:nvSpPr>
            <p:spPr bwMode="auto">
              <a:xfrm>
                <a:off x="1824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2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7" name="Rectangle 25"/>
              <p:cNvSpPr>
                <a:spLocks noChangeArrowheads="1"/>
              </p:cNvSpPr>
              <p:nvPr/>
            </p:nvSpPr>
            <p:spPr bwMode="auto">
              <a:xfrm>
                <a:off x="1368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8" name="Rectangle 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69" name="Line 27"/>
              <p:cNvSpPr>
                <a:spLocks noChangeShapeType="1"/>
              </p:cNvSpPr>
              <p:nvPr/>
            </p:nvSpPr>
            <p:spPr bwMode="auto">
              <a:xfrm>
                <a:off x="912" y="2255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0" name="Line 28"/>
              <p:cNvSpPr>
                <a:spLocks noChangeShapeType="1"/>
              </p:cNvSpPr>
              <p:nvPr/>
            </p:nvSpPr>
            <p:spPr bwMode="auto">
              <a:xfrm>
                <a:off x="912" y="2542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1" name="Line 29"/>
              <p:cNvSpPr>
                <a:spLocks noChangeShapeType="1"/>
              </p:cNvSpPr>
              <p:nvPr/>
            </p:nvSpPr>
            <p:spPr bwMode="auto">
              <a:xfrm>
                <a:off x="912" y="2829"/>
                <a:ext cx="182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2" name="Line 30"/>
              <p:cNvSpPr>
                <a:spLocks noChangeShapeType="1"/>
              </p:cNvSpPr>
              <p:nvPr/>
            </p:nvSpPr>
            <p:spPr bwMode="auto">
              <a:xfrm>
                <a:off x="912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3" name="Line 31"/>
              <p:cNvSpPr>
                <a:spLocks noChangeShapeType="1"/>
              </p:cNvSpPr>
              <p:nvPr/>
            </p:nvSpPr>
            <p:spPr bwMode="auto">
              <a:xfrm>
                <a:off x="1368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4" name="Line 32"/>
              <p:cNvSpPr>
                <a:spLocks noChangeShapeType="1"/>
              </p:cNvSpPr>
              <p:nvPr/>
            </p:nvSpPr>
            <p:spPr bwMode="auto">
              <a:xfrm>
                <a:off x="1824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5" name="Line 33"/>
              <p:cNvSpPr>
                <a:spLocks noChangeShapeType="1"/>
              </p:cNvSpPr>
              <p:nvPr/>
            </p:nvSpPr>
            <p:spPr bwMode="auto">
              <a:xfrm>
                <a:off x="2280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6" name="Line 34"/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3377" name="Freeform 35"/>
              <p:cNvSpPr/>
              <p:nvPr/>
            </p:nvSpPr>
            <p:spPr bwMode="auto">
              <a:xfrm>
                <a:off x="912" y="1961"/>
                <a:ext cx="1821" cy="5"/>
              </a:xfrm>
              <a:custGeom>
                <a:avLst/>
                <a:gdLst>
                  <a:gd name="T0" fmla="*/ 0 w 1821"/>
                  <a:gd name="T1" fmla="*/ 5 h 5"/>
                  <a:gd name="T2" fmla="*/ 1821 w 182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21" h="5">
                    <a:moveTo>
                      <a:pt x="0" y="5"/>
                    </a:moveTo>
                    <a:lnTo>
                      <a:pt x="1821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13354" name="Rectangle 36"/>
            <p:cNvSpPr>
              <a:spLocks noChangeArrowheads="1"/>
            </p:cNvSpPr>
            <p:nvPr/>
          </p:nvSpPr>
          <p:spPr bwMode="auto">
            <a:xfrm>
              <a:off x="384" y="2286"/>
              <a:ext cx="456" cy="2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8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3355" name="Rectangle 37"/>
            <p:cNvSpPr>
              <a:spLocks noChangeArrowheads="1"/>
            </p:cNvSpPr>
            <p:nvPr/>
          </p:nvSpPr>
          <p:spPr bwMode="auto">
            <a:xfrm>
              <a:off x="384" y="1999"/>
              <a:ext cx="456" cy="2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4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3356" name="Rectangle 38"/>
            <p:cNvSpPr>
              <a:spLocks noChangeArrowheads="1"/>
            </p:cNvSpPr>
            <p:nvPr/>
          </p:nvSpPr>
          <p:spPr bwMode="auto">
            <a:xfrm>
              <a:off x="384" y="1712"/>
              <a:ext cx="456" cy="2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13324" name="Text Box 60"/>
          <p:cNvSpPr txBox="1">
            <a:spLocks noChangeArrowheads="1"/>
          </p:cNvSpPr>
          <p:nvPr/>
        </p:nvSpPr>
        <p:spPr bwMode="auto">
          <a:xfrm>
            <a:off x="565150" y="160337"/>
            <a:ext cx="62611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600">
                <a:latin typeface="Times New Roman" panose="02020603050405020304" pitchFamily="18" charset="0"/>
              </a:rPr>
              <a:t>3.  主存中存储单元地址的分配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01790" name="Text Box 62"/>
          <p:cNvSpPr txBox="1">
            <a:spLocks noChangeArrowheads="1"/>
          </p:cNvSpPr>
          <p:nvPr/>
        </p:nvSpPr>
        <p:spPr bwMode="auto">
          <a:xfrm>
            <a:off x="7274024" y="4919941"/>
            <a:ext cx="2209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400" baseline="45000">
                <a:solidFill>
                  <a:schemeClr val="folHlink"/>
                </a:solidFill>
                <a:latin typeface="Times New Roman" panose="02020603050405020304" pitchFamily="18" charset="0"/>
              </a:rPr>
              <a:t>24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 = 16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91" name="Text Box 63"/>
          <p:cNvSpPr txBox="1">
            <a:spLocks noChangeArrowheads="1"/>
          </p:cNvSpPr>
          <p:nvPr/>
        </p:nvSpPr>
        <p:spPr bwMode="auto">
          <a:xfrm>
            <a:off x="8112224" y="5453341"/>
            <a:ext cx="2057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8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201792" name="Text Box 64"/>
          <p:cNvSpPr txBox="1">
            <a:spLocks noChangeArrowheads="1"/>
          </p:cNvSpPr>
          <p:nvPr/>
        </p:nvSpPr>
        <p:spPr bwMode="auto">
          <a:xfrm>
            <a:off x="8112224" y="5985154"/>
            <a:ext cx="2057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4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" name="Group 10"/>
          <p:cNvGrpSpPr/>
          <p:nvPr/>
        </p:nvGrpSpPr>
        <p:grpSpPr bwMode="auto">
          <a:xfrm>
            <a:off x="6823879" y="2443289"/>
            <a:ext cx="3852862" cy="2027237"/>
            <a:chOff x="309" y="1296"/>
            <a:chExt cx="2427" cy="1277"/>
          </a:xfrm>
        </p:grpSpPr>
        <p:sp>
          <p:nvSpPr>
            <p:cNvPr id="3" name="Text Box 11"/>
            <p:cNvSpPr txBox="1">
              <a:spLocks noChangeArrowheads="1"/>
            </p:cNvSpPr>
            <p:nvPr/>
          </p:nvSpPr>
          <p:spPr bwMode="auto">
            <a:xfrm>
              <a:off x="309" y="1392"/>
              <a:ext cx="791" cy="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200">
                  <a:latin typeface="Times New Roman" panose="02020603050405020304" pitchFamily="18" charset="0"/>
                </a:rPr>
                <a:t>字地址</a:t>
              </a: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4" name="Text Box 12"/>
            <p:cNvSpPr txBox="1">
              <a:spLocks noChangeArrowheads="1"/>
            </p:cNvSpPr>
            <p:nvPr/>
          </p:nvSpPr>
          <p:spPr bwMode="auto">
            <a:xfrm>
              <a:off x="1440" y="1296"/>
              <a:ext cx="824" cy="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200">
                  <a:latin typeface="Times New Roman" panose="02020603050405020304" pitchFamily="18" charset="0"/>
                </a:rPr>
                <a:t>字节地址</a:t>
              </a: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5" name="AutoShape 13"/>
            <p:cNvSpPr/>
            <p:nvPr/>
          </p:nvSpPr>
          <p:spPr bwMode="auto">
            <a:xfrm rot="5400000">
              <a:off x="1746" y="719"/>
              <a:ext cx="144" cy="1836"/>
            </a:xfrm>
            <a:prstGeom prst="leftBrace">
              <a:avLst>
                <a:gd name="adj1" fmla="val 106250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6" name="Group 14"/>
            <p:cNvGrpSpPr/>
            <p:nvPr/>
          </p:nvGrpSpPr>
          <p:grpSpPr bwMode="auto">
            <a:xfrm>
              <a:off x="912" y="1705"/>
              <a:ext cx="1824" cy="868"/>
              <a:chOff x="912" y="1961"/>
              <a:chExt cx="1824" cy="868"/>
            </a:xfrm>
          </p:grpSpPr>
          <p:sp>
            <p:nvSpPr>
              <p:cNvPr id="10" name="Rectangle 15"/>
              <p:cNvSpPr>
                <a:spLocks noChangeArrowheads="1"/>
              </p:cNvSpPr>
              <p:nvPr/>
            </p:nvSpPr>
            <p:spPr bwMode="auto">
              <a:xfrm>
                <a:off x="2280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8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6"/>
              <p:cNvSpPr>
                <a:spLocks noChangeArrowheads="1"/>
              </p:cNvSpPr>
              <p:nvPr/>
            </p:nvSpPr>
            <p:spPr bwMode="auto">
              <a:xfrm>
                <a:off x="1824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9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7"/>
              <p:cNvSpPr>
                <a:spLocks noChangeArrowheads="1"/>
              </p:cNvSpPr>
              <p:nvPr/>
            </p:nvSpPr>
            <p:spPr bwMode="auto">
              <a:xfrm>
                <a:off x="1368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A</a:t>
                </a:r>
                <a:endParaRPr lang="en-US" altLang="zh-CN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8"/>
              <p:cNvSpPr>
                <a:spLocks noChangeArrowheads="1"/>
              </p:cNvSpPr>
              <p:nvPr/>
            </p:nvSpPr>
            <p:spPr bwMode="auto">
              <a:xfrm>
                <a:off x="912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B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9"/>
              <p:cNvSpPr>
                <a:spLocks noChangeArrowheads="1"/>
              </p:cNvSpPr>
              <p:nvPr/>
            </p:nvSpPr>
            <p:spPr bwMode="auto">
              <a:xfrm>
                <a:off x="2280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4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20"/>
              <p:cNvSpPr>
                <a:spLocks noChangeArrowheads="1"/>
              </p:cNvSpPr>
              <p:nvPr/>
            </p:nvSpPr>
            <p:spPr bwMode="auto">
              <a:xfrm>
                <a:off x="1824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5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21"/>
              <p:cNvSpPr>
                <a:spLocks noChangeArrowheads="1"/>
              </p:cNvSpPr>
              <p:nvPr/>
            </p:nvSpPr>
            <p:spPr bwMode="auto">
              <a:xfrm>
                <a:off x="1368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6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22"/>
              <p:cNvSpPr>
                <a:spLocks noChangeArrowheads="1"/>
              </p:cNvSpPr>
              <p:nvPr/>
            </p:nvSpPr>
            <p:spPr bwMode="auto">
              <a:xfrm>
                <a:off x="912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7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" name="Rectangle 23"/>
              <p:cNvSpPr>
                <a:spLocks noChangeArrowheads="1"/>
              </p:cNvSpPr>
              <p:nvPr/>
            </p:nvSpPr>
            <p:spPr bwMode="auto">
              <a:xfrm>
                <a:off x="2280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0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" name="Rectangle 24"/>
              <p:cNvSpPr>
                <a:spLocks noChangeArrowheads="1"/>
              </p:cNvSpPr>
              <p:nvPr/>
            </p:nvSpPr>
            <p:spPr bwMode="auto">
              <a:xfrm>
                <a:off x="1824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1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" name="Rectangle 25"/>
              <p:cNvSpPr>
                <a:spLocks noChangeArrowheads="1"/>
              </p:cNvSpPr>
              <p:nvPr/>
            </p:nvSpPr>
            <p:spPr bwMode="auto">
              <a:xfrm>
                <a:off x="1368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2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" name="Rectangle 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en-US" altLang="zh-CN" sz="2400" dirty="0">
                    <a:latin typeface="Times New Roman" panose="02020603050405020304" pitchFamily="18" charset="0"/>
                  </a:rPr>
                  <a:t>3</a:t>
                </a:r>
                <a:endParaRPr lang="zh-CN" altLang="en-US" sz="24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" name="Line 27"/>
              <p:cNvSpPr>
                <a:spLocks noChangeShapeType="1"/>
              </p:cNvSpPr>
              <p:nvPr/>
            </p:nvSpPr>
            <p:spPr bwMode="auto">
              <a:xfrm>
                <a:off x="912" y="2255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3" name="Line 28"/>
              <p:cNvSpPr>
                <a:spLocks noChangeShapeType="1"/>
              </p:cNvSpPr>
              <p:nvPr/>
            </p:nvSpPr>
            <p:spPr bwMode="auto">
              <a:xfrm>
                <a:off x="912" y="2542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4" name="Line 29"/>
              <p:cNvSpPr>
                <a:spLocks noChangeShapeType="1"/>
              </p:cNvSpPr>
              <p:nvPr/>
            </p:nvSpPr>
            <p:spPr bwMode="auto">
              <a:xfrm>
                <a:off x="912" y="2829"/>
                <a:ext cx="182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5" name="Line 30"/>
              <p:cNvSpPr>
                <a:spLocks noChangeShapeType="1"/>
              </p:cNvSpPr>
              <p:nvPr/>
            </p:nvSpPr>
            <p:spPr bwMode="auto">
              <a:xfrm>
                <a:off x="912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6" name="Line 31"/>
              <p:cNvSpPr>
                <a:spLocks noChangeShapeType="1"/>
              </p:cNvSpPr>
              <p:nvPr/>
            </p:nvSpPr>
            <p:spPr bwMode="auto">
              <a:xfrm>
                <a:off x="1368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7" name="Line 32"/>
              <p:cNvSpPr>
                <a:spLocks noChangeShapeType="1"/>
              </p:cNvSpPr>
              <p:nvPr/>
            </p:nvSpPr>
            <p:spPr bwMode="auto">
              <a:xfrm>
                <a:off x="1824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8" name="Line 33"/>
              <p:cNvSpPr>
                <a:spLocks noChangeShapeType="1"/>
              </p:cNvSpPr>
              <p:nvPr/>
            </p:nvSpPr>
            <p:spPr bwMode="auto">
              <a:xfrm>
                <a:off x="2280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9" name="Line 34"/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30" name="Freeform 35"/>
              <p:cNvSpPr/>
              <p:nvPr/>
            </p:nvSpPr>
            <p:spPr bwMode="auto">
              <a:xfrm>
                <a:off x="912" y="1961"/>
                <a:ext cx="1821" cy="5"/>
              </a:xfrm>
              <a:custGeom>
                <a:avLst/>
                <a:gdLst>
                  <a:gd name="T0" fmla="*/ 0 w 1821"/>
                  <a:gd name="T1" fmla="*/ 5 h 5"/>
                  <a:gd name="T2" fmla="*/ 1821 w 182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21" h="5">
                    <a:moveTo>
                      <a:pt x="0" y="5"/>
                    </a:moveTo>
                    <a:lnTo>
                      <a:pt x="1821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7" name="Rectangle 36"/>
            <p:cNvSpPr>
              <a:spLocks noChangeArrowheads="1"/>
            </p:cNvSpPr>
            <p:nvPr/>
          </p:nvSpPr>
          <p:spPr bwMode="auto">
            <a:xfrm>
              <a:off x="384" y="2286"/>
              <a:ext cx="456" cy="2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8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37"/>
            <p:cNvSpPr>
              <a:spLocks noChangeArrowheads="1"/>
            </p:cNvSpPr>
            <p:nvPr/>
          </p:nvSpPr>
          <p:spPr bwMode="auto">
            <a:xfrm>
              <a:off x="384" y="1999"/>
              <a:ext cx="456" cy="2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4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38"/>
            <p:cNvSpPr>
              <a:spLocks noChangeArrowheads="1"/>
            </p:cNvSpPr>
            <p:nvPr/>
          </p:nvSpPr>
          <p:spPr bwMode="auto">
            <a:xfrm>
              <a:off x="384" y="1712"/>
              <a:ext cx="456" cy="2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 dirty="0">
                  <a:latin typeface="Times New Roman" panose="02020603050405020304" pitchFamily="18" charset="0"/>
                </a:rPr>
                <a:t>0</a:t>
              </a:r>
              <a:endParaRPr lang="zh-CN" altLang="en-US" sz="2400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31" name="Text Box 2"/>
          <p:cNvSpPr txBox="1">
            <a:spLocks noChangeArrowheads="1"/>
          </p:cNvSpPr>
          <p:nvPr/>
        </p:nvSpPr>
        <p:spPr bwMode="auto">
          <a:xfrm>
            <a:off x="-386537" y="1017838"/>
            <a:ext cx="6489065" cy="460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 dirty="0">
                <a:latin typeface="Times New Roman" panose="02020603050405020304" pitchFamily="18" charset="0"/>
              </a:rPr>
              <a:t>       要存</a:t>
            </a:r>
            <a:r>
              <a:rPr lang="en-US" altLang="zh-CN" sz="2400" dirty="0">
                <a:latin typeface="Times New Roman" panose="02020603050405020304" pitchFamily="18" charset="0"/>
              </a:rPr>
              <a:t>3</a:t>
            </a:r>
            <a:r>
              <a:rPr lang="zh-CN" altLang="en-US" sz="2400" dirty="0">
                <a:latin typeface="Times New Roman" panose="02020603050405020304" pitchFamily="18" charset="0"/>
              </a:rPr>
              <a:t>个</a:t>
            </a:r>
            <a:r>
              <a:rPr lang="zh-CN" sz="2400" dirty="0">
                <a:latin typeface="Times New Roman" panose="02020603050405020304" pitchFamily="18" charset="0"/>
              </a:rPr>
              <a:t>字符串</a:t>
            </a:r>
            <a:r>
              <a:rPr lang="zh-CN" altLang="en-US" sz="2400" dirty="0">
                <a:latin typeface="Times New Roman" panose="02020603050405020304" pitchFamily="18" charset="0"/>
              </a:rPr>
              <a:t>，分别为</a:t>
            </a:r>
            <a:r>
              <a:rPr lang="en-US" altLang="zh-CN" sz="2400" dirty="0">
                <a:latin typeface="Times New Roman" panose="02020603050405020304" pitchFamily="18" charset="0"/>
              </a:rPr>
              <a:t>0123</a:t>
            </a:r>
            <a:r>
              <a:rPr lang="zh-CN" altLang="en-US" sz="2400" dirty="0">
                <a:latin typeface="Times New Roman" panose="02020603050405020304" pitchFamily="18" charset="0"/>
              </a:rPr>
              <a:t>，</a:t>
            </a:r>
            <a:r>
              <a:rPr lang="en-US" altLang="zh-CN" sz="2400" dirty="0">
                <a:latin typeface="Times New Roman" panose="02020603050405020304" pitchFamily="18" charset="0"/>
              </a:rPr>
              <a:t>4567</a:t>
            </a:r>
            <a:r>
              <a:rPr lang="zh-CN" altLang="en-US" sz="2400" dirty="0">
                <a:latin typeface="Times New Roman" panose="02020603050405020304" pitchFamily="18" charset="0"/>
              </a:rPr>
              <a:t>，</a:t>
            </a:r>
            <a:r>
              <a:rPr lang="en-US" altLang="zh-CN" sz="2400" dirty="0">
                <a:latin typeface="Times New Roman" panose="02020603050405020304" pitchFamily="18" charset="0"/>
              </a:rPr>
              <a:t>89AB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1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0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01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01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1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1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1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1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01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01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0" grpId="0" autoUpdateAnimBg="0"/>
      <p:bldP spid="201731" grpId="0" autoUpdateAnimBg="0"/>
      <p:bldP spid="201732" grpId="0" autoUpdateAnimBg="0"/>
      <p:bldP spid="201733" grpId="0" autoUpdateAnimBg="0"/>
      <p:bldP spid="201734" grpId="0" autoUpdateAnimBg="0"/>
      <p:bldP spid="201735" grpId="0" autoUpdateAnimBg="0"/>
      <p:bldP spid="201736" grpId="0" autoUpdateAnimBg="0"/>
      <p:bldP spid="201737" grpId="0" autoUpdateAnimBg="0"/>
      <p:bldP spid="201790" grpId="0" autoUpdateAnimBg="0"/>
      <p:bldP spid="201791" grpId="0" autoUpdateAnimBg="0"/>
      <p:bldP spid="201792" grpId="0" autoUpdateAnimBg="0"/>
      <p:bldP spid="31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Text Box 2"/>
          <p:cNvSpPr txBox="1">
            <a:spLocks noChangeArrowheads="1"/>
          </p:cNvSpPr>
          <p:nvPr/>
        </p:nvSpPr>
        <p:spPr bwMode="auto">
          <a:xfrm>
            <a:off x="1220490" y="1934368"/>
            <a:ext cx="31670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(2) 存储速度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4339" name="Text Box 3"/>
          <p:cNvSpPr txBox="1">
            <a:spLocks noChangeArrowheads="1"/>
          </p:cNvSpPr>
          <p:nvPr/>
        </p:nvSpPr>
        <p:spPr bwMode="auto">
          <a:xfrm>
            <a:off x="725190" y="248443"/>
            <a:ext cx="39671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4.  主存的技术指标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02756" name="Text Box 4"/>
          <p:cNvSpPr txBox="1">
            <a:spLocks noChangeArrowheads="1"/>
          </p:cNvSpPr>
          <p:nvPr/>
        </p:nvSpPr>
        <p:spPr bwMode="auto">
          <a:xfrm>
            <a:off x="1220490" y="1185068"/>
            <a:ext cx="30908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(1) 存储容量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2757" name="Text Box 5"/>
          <p:cNvSpPr txBox="1">
            <a:spLocks noChangeArrowheads="1"/>
          </p:cNvSpPr>
          <p:nvPr/>
        </p:nvSpPr>
        <p:spPr bwMode="auto">
          <a:xfrm>
            <a:off x="1220490" y="5703093"/>
            <a:ext cx="41576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(3) 存储器的带宽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2758" name="Text Box 6"/>
          <p:cNvSpPr txBox="1">
            <a:spLocks noChangeArrowheads="1"/>
          </p:cNvSpPr>
          <p:nvPr/>
        </p:nvSpPr>
        <p:spPr bwMode="auto">
          <a:xfrm>
            <a:off x="3924002" y="1213644"/>
            <a:ext cx="52641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主存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存放二进制代码的总位数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3924003" y="3194844"/>
            <a:ext cx="35845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 读出时间   写入时间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2760" name="Text Box 8"/>
          <p:cNvSpPr txBox="1">
            <a:spLocks noChangeArrowheads="1"/>
          </p:cNvSpPr>
          <p:nvPr/>
        </p:nvSpPr>
        <p:spPr bwMode="auto">
          <a:xfrm>
            <a:off x="3924002" y="2604293"/>
            <a:ext cx="333937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 存储器的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访问时间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202761" name="Group 9"/>
          <p:cNvGrpSpPr/>
          <p:nvPr/>
        </p:nvGrpSpPr>
        <p:grpSpPr bwMode="auto">
          <a:xfrm>
            <a:off x="1839615" y="2604294"/>
            <a:ext cx="1931988" cy="1819276"/>
            <a:chOff x="939" y="1696"/>
            <a:chExt cx="1217" cy="1146"/>
          </a:xfrm>
        </p:grpSpPr>
        <p:sp>
          <p:nvSpPr>
            <p:cNvPr id="14353" name="Text Box 10"/>
            <p:cNvSpPr txBox="1">
              <a:spLocks noChangeArrowheads="1"/>
            </p:cNvSpPr>
            <p:nvPr/>
          </p:nvSpPr>
          <p:spPr bwMode="auto">
            <a:xfrm>
              <a:off x="939" y="1696"/>
              <a:ext cx="116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Char char="•"/>
              </a:pPr>
              <a:r>
                <a:rPr lang="zh-CN" altLang="en-US" sz="2800">
                  <a:latin typeface="Times New Roman" panose="02020603050405020304" pitchFamily="18" charset="0"/>
                </a:rPr>
                <a:t> 存取时间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4354" name="Text Box 11"/>
            <p:cNvSpPr txBox="1">
              <a:spLocks noChangeArrowheads="1"/>
            </p:cNvSpPr>
            <p:nvPr/>
          </p:nvSpPr>
          <p:spPr bwMode="auto">
            <a:xfrm>
              <a:off x="939" y="2512"/>
              <a:ext cx="1217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Tx/>
                <a:buChar char="•"/>
              </a:pPr>
              <a:r>
                <a:rPr lang="zh-CN" altLang="en-US" sz="2800">
                  <a:latin typeface="Times New Roman" panose="02020603050405020304" pitchFamily="18" charset="0"/>
                </a:rPr>
                <a:t> 存取周期 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202764" name="Text Box 12"/>
          <p:cNvSpPr txBox="1">
            <a:spLocks noChangeArrowheads="1"/>
          </p:cNvSpPr>
          <p:nvPr/>
        </p:nvSpPr>
        <p:spPr bwMode="auto">
          <a:xfrm>
            <a:off x="3924002" y="5099844"/>
            <a:ext cx="39179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 读周期   写周期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202765" name="Group 13"/>
          <p:cNvGrpSpPr/>
          <p:nvPr/>
        </p:nvGrpSpPr>
        <p:grpSpPr bwMode="auto">
          <a:xfrm>
            <a:off x="3924002" y="3899693"/>
            <a:ext cx="5568950" cy="1119188"/>
            <a:chOff x="2252" y="2512"/>
            <a:chExt cx="3508" cy="705"/>
          </a:xfrm>
        </p:grpSpPr>
        <p:sp>
          <p:nvSpPr>
            <p:cNvPr id="14351" name="Text Box 14"/>
            <p:cNvSpPr txBox="1">
              <a:spLocks noChangeArrowheads="1"/>
            </p:cNvSpPr>
            <p:nvPr/>
          </p:nvSpPr>
          <p:spPr bwMode="auto">
            <a:xfrm>
              <a:off x="2252" y="2512"/>
              <a:ext cx="350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连续两次独立的存储器操作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352" name="Text Box 15"/>
            <p:cNvSpPr txBox="1">
              <a:spLocks noChangeArrowheads="1"/>
            </p:cNvSpPr>
            <p:nvPr/>
          </p:nvSpPr>
          <p:spPr bwMode="auto">
            <a:xfrm>
              <a:off x="2252" y="2890"/>
              <a:ext cx="350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（读或写）所需的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最小间隔时间</a:t>
              </a:r>
              <a:r>
                <a:rPr lang="zh-CN" altLang="en-US" sz="2800">
                  <a:latin typeface="Times New Roman" panose="02020603050405020304" pitchFamily="18" charset="0"/>
                </a:rPr>
                <a:t> 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202768" name="Text Box 16"/>
          <p:cNvSpPr txBox="1">
            <a:spLocks noChangeArrowheads="1"/>
          </p:cNvSpPr>
          <p:nvPr/>
        </p:nvSpPr>
        <p:spPr bwMode="auto">
          <a:xfrm>
            <a:off x="4655840" y="5733256"/>
            <a:ext cx="186531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位/秒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2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02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02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2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2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2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2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2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2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4" grpId="0" autoUpdateAnimBg="0"/>
      <p:bldP spid="202756" grpId="0" autoUpdateAnimBg="0"/>
      <p:bldP spid="202757" grpId="0" autoUpdateAnimBg="0"/>
      <p:bldP spid="202758" grpId="0" autoUpdateAnimBg="0"/>
      <p:bldP spid="202759" grpId="0" autoUpdateAnimBg="0"/>
      <p:bldP spid="202760" grpId="0" autoUpdateAnimBg="0"/>
      <p:bldP spid="202764" grpId="0" autoUpdateAnimBg="0"/>
      <p:bldP spid="202768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Text Box 2"/>
          <p:cNvSpPr txBox="1">
            <a:spLocks noChangeArrowheads="1"/>
          </p:cNvSpPr>
          <p:nvPr/>
        </p:nvSpPr>
        <p:spPr bwMode="auto">
          <a:xfrm>
            <a:off x="6971780" y="4499893"/>
            <a:ext cx="23463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芯片容量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5363" name="Text Box 3"/>
          <p:cNvSpPr txBox="1">
            <a:spLocks noChangeArrowheads="1"/>
          </p:cNvSpPr>
          <p:nvPr/>
        </p:nvSpPr>
        <p:spPr bwMode="auto">
          <a:xfrm>
            <a:off x="268288" y="180395"/>
            <a:ext cx="52308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二、半导体存储芯片简介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03780" name="Text Box 4"/>
          <p:cNvSpPr txBox="1">
            <a:spLocks noChangeArrowheads="1"/>
          </p:cNvSpPr>
          <p:nvPr/>
        </p:nvSpPr>
        <p:spPr bwMode="auto">
          <a:xfrm>
            <a:off x="1358379" y="955005"/>
            <a:ext cx="5588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1.  半导体存储芯片的基本结构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203781" name="Group 5"/>
          <p:cNvGrpSpPr/>
          <p:nvPr/>
        </p:nvGrpSpPr>
        <p:grpSpPr bwMode="auto">
          <a:xfrm>
            <a:off x="3052243" y="1742405"/>
            <a:ext cx="4624387" cy="2471738"/>
            <a:chOff x="1429" y="1300"/>
            <a:chExt cx="2913" cy="1557"/>
          </a:xfrm>
        </p:grpSpPr>
        <p:sp>
          <p:nvSpPr>
            <p:cNvPr id="15405" name="Rectangle 6"/>
            <p:cNvSpPr>
              <a:spLocks noChangeArrowheads="1"/>
            </p:cNvSpPr>
            <p:nvPr/>
          </p:nvSpPr>
          <p:spPr bwMode="auto">
            <a:xfrm>
              <a:off x="1429" y="1300"/>
              <a:ext cx="2913" cy="1557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5406" name="Rectangle 7"/>
            <p:cNvSpPr>
              <a:spLocks noChangeArrowheads="1"/>
            </p:cNvSpPr>
            <p:nvPr/>
          </p:nvSpPr>
          <p:spPr bwMode="auto">
            <a:xfrm>
              <a:off x="1584" y="1513"/>
              <a:ext cx="461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5407" name="Rectangle 8"/>
            <p:cNvSpPr>
              <a:spLocks noChangeArrowheads="1"/>
            </p:cNvSpPr>
            <p:nvPr/>
          </p:nvSpPr>
          <p:spPr bwMode="auto">
            <a:xfrm>
              <a:off x="2196" y="1512"/>
              <a:ext cx="1379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5408" name="Rectangle 9"/>
            <p:cNvSpPr>
              <a:spLocks noChangeArrowheads="1"/>
            </p:cNvSpPr>
            <p:nvPr/>
          </p:nvSpPr>
          <p:spPr bwMode="auto">
            <a:xfrm>
              <a:off x="3726" y="1502"/>
              <a:ext cx="461" cy="1129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5409" name="Text Box 10"/>
            <p:cNvSpPr txBox="1">
              <a:spLocks noChangeArrowheads="1"/>
            </p:cNvSpPr>
            <p:nvPr/>
          </p:nvSpPr>
          <p:spPr bwMode="auto">
            <a:xfrm>
              <a:off x="1652" y="1549"/>
              <a:ext cx="325" cy="10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译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码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驱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动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5410" name="Text Box 11"/>
            <p:cNvSpPr txBox="1">
              <a:spLocks noChangeArrowheads="1"/>
            </p:cNvSpPr>
            <p:nvPr/>
          </p:nvSpPr>
          <p:spPr bwMode="auto">
            <a:xfrm>
              <a:off x="2715" y="1548"/>
              <a:ext cx="341" cy="10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存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储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矩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阵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5411" name="Text Box 12"/>
            <p:cNvSpPr txBox="1">
              <a:spLocks noChangeArrowheads="1"/>
            </p:cNvSpPr>
            <p:nvPr/>
          </p:nvSpPr>
          <p:spPr bwMode="auto">
            <a:xfrm>
              <a:off x="3794" y="1537"/>
              <a:ext cx="325" cy="10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读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写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电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路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</p:grpSp>
      <p:sp>
        <p:nvSpPr>
          <p:cNvPr id="203789" name="Text Box 13"/>
          <p:cNvSpPr txBox="1">
            <a:spLocks noChangeArrowheads="1"/>
          </p:cNvSpPr>
          <p:nvPr/>
        </p:nvSpPr>
        <p:spPr bwMode="auto">
          <a:xfrm>
            <a:off x="7032104" y="497773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1</a:t>
            </a:r>
            <a:r>
              <a:rPr lang="en-US" altLang="zh-CN" sz="2400">
                <a:latin typeface="Times New Roman" panose="02020603050405020304" pitchFamily="18" charset="0"/>
              </a:rPr>
              <a:t>K×4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790" name="Text Box 14"/>
          <p:cNvSpPr txBox="1">
            <a:spLocks noChangeArrowheads="1"/>
          </p:cNvSpPr>
          <p:nvPr/>
        </p:nvSpPr>
        <p:spPr bwMode="auto">
          <a:xfrm>
            <a:off x="6879704" y="5449218"/>
            <a:ext cx="1981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16</a:t>
            </a:r>
            <a:r>
              <a:rPr lang="en-US" altLang="zh-CN" sz="2400">
                <a:latin typeface="Times New Roman" panose="02020603050405020304" pitchFamily="18" charset="0"/>
              </a:rPr>
              <a:t>K×1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791" name="Text Box 15"/>
          <p:cNvSpPr txBox="1">
            <a:spLocks noChangeArrowheads="1"/>
          </p:cNvSpPr>
          <p:nvPr/>
        </p:nvSpPr>
        <p:spPr bwMode="auto">
          <a:xfrm>
            <a:off x="7032104" y="594928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8</a:t>
            </a:r>
            <a:r>
              <a:rPr lang="en-US" altLang="zh-CN" sz="2400">
                <a:latin typeface="Times New Roman" panose="02020603050405020304" pitchFamily="18" charset="0"/>
              </a:rPr>
              <a:t>K×8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03792" name="Group 16"/>
          <p:cNvGrpSpPr/>
          <p:nvPr/>
        </p:nvGrpSpPr>
        <p:grpSpPr bwMode="auto">
          <a:xfrm>
            <a:off x="1205980" y="3688680"/>
            <a:ext cx="1863725" cy="488950"/>
            <a:chOff x="266" y="2526"/>
            <a:chExt cx="1174" cy="308"/>
          </a:xfrm>
        </p:grpSpPr>
        <p:sp>
          <p:nvSpPr>
            <p:cNvPr id="15403" name="Text Box 17"/>
            <p:cNvSpPr txBox="1">
              <a:spLocks noChangeArrowheads="1"/>
            </p:cNvSpPr>
            <p:nvPr/>
          </p:nvSpPr>
          <p:spPr bwMode="auto">
            <a:xfrm>
              <a:off x="266" y="2526"/>
              <a:ext cx="743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片选线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5404" name="Line 18"/>
            <p:cNvSpPr>
              <a:spLocks noChangeShapeType="1"/>
            </p:cNvSpPr>
            <p:nvPr/>
          </p:nvSpPr>
          <p:spPr bwMode="auto">
            <a:xfrm>
              <a:off x="960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3795" name="Group 19"/>
          <p:cNvGrpSpPr/>
          <p:nvPr/>
        </p:nvGrpSpPr>
        <p:grpSpPr bwMode="auto">
          <a:xfrm>
            <a:off x="7660755" y="3914105"/>
            <a:ext cx="2068513" cy="488950"/>
            <a:chOff x="4332" y="2668"/>
            <a:chExt cx="1303" cy="308"/>
          </a:xfrm>
        </p:grpSpPr>
        <p:sp>
          <p:nvSpPr>
            <p:cNvPr id="15401" name="Text Box 20"/>
            <p:cNvSpPr txBox="1">
              <a:spLocks noChangeArrowheads="1"/>
            </p:cNvSpPr>
            <p:nvPr/>
          </p:nvSpPr>
          <p:spPr bwMode="auto">
            <a:xfrm>
              <a:off x="4416" y="2668"/>
              <a:ext cx="1219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读/写控制线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5402" name="Line 21"/>
            <p:cNvSpPr>
              <a:spLocks noChangeShapeType="1"/>
            </p:cNvSpPr>
            <p:nvPr/>
          </p:nvSpPr>
          <p:spPr bwMode="auto">
            <a:xfrm rot="10800000">
              <a:off x="4332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3829" name="Group 53"/>
          <p:cNvGrpSpPr/>
          <p:nvPr/>
        </p:nvGrpSpPr>
        <p:grpSpPr bwMode="auto">
          <a:xfrm>
            <a:off x="1472680" y="2017043"/>
            <a:ext cx="1597025" cy="1547812"/>
            <a:chOff x="434" y="1473"/>
            <a:chExt cx="1006" cy="975"/>
          </a:xfrm>
        </p:grpSpPr>
        <p:sp>
          <p:nvSpPr>
            <p:cNvPr id="15394" name="Freeform 23"/>
            <p:cNvSpPr/>
            <p:nvPr/>
          </p:nvSpPr>
          <p:spPr bwMode="auto">
            <a:xfrm>
              <a:off x="790" y="1473"/>
              <a:ext cx="133" cy="954"/>
            </a:xfrm>
            <a:custGeom>
              <a:avLst/>
              <a:gdLst>
                <a:gd name="T0" fmla="*/ 290 w 61"/>
                <a:gd name="T1" fmla="*/ 0 h 930"/>
                <a:gd name="T2" fmla="*/ 233 w 61"/>
                <a:gd name="T3" fmla="*/ 9 h 930"/>
                <a:gd name="T4" fmla="*/ 194 w 61"/>
                <a:gd name="T5" fmla="*/ 27 h 930"/>
                <a:gd name="T6" fmla="*/ 157 w 61"/>
                <a:gd name="T7" fmla="*/ 51 h 930"/>
                <a:gd name="T8" fmla="*/ 137 w 61"/>
                <a:gd name="T9" fmla="*/ 82 h 930"/>
                <a:gd name="T10" fmla="*/ 137 w 61"/>
                <a:gd name="T11" fmla="*/ 408 h 930"/>
                <a:gd name="T12" fmla="*/ 137 w 61"/>
                <a:gd name="T13" fmla="*/ 439 h 930"/>
                <a:gd name="T14" fmla="*/ 100 w 61"/>
                <a:gd name="T15" fmla="*/ 464 h 930"/>
                <a:gd name="T16" fmla="*/ 57 w 61"/>
                <a:gd name="T17" fmla="*/ 481 h 930"/>
                <a:gd name="T18" fmla="*/ 0 w 61"/>
                <a:gd name="T19" fmla="*/ 489 h 930"/>
                <a:gd name="T20" fmla="*/ 57 w 61"/>
                <a:gd name="T21" fmla="*/ 494 h 930"/>
                <a:gd name="T22" fmla="*/ 100 w 61"/>
                <a:gd name="T23" fmla="*/ 512 h 930"/>
                <a:gd name="T24" fmla="*/ 137 w 61"/>
                <a:gd name="T25" fmla="*/ 536 h 930"/>
                <a:gd name="T26" fmla="*/ 137 w 61"/>
                <a:gd name="T27" fmla="*/ 571 h 930"/>
                <a:gd name="T28" fmla="*/ 137 w 61"/>
                <a:gd name="T29" fmla="*/ 898 h 930"/>
                <a:gd name="T30" fmla="*/ 157 w 61"/>
                <a:gd name="T31" fmla="*/ 927 h 930"/>
                <a:gd name="T32" fmla="*/ 194 w 61"/>
                <a:gd name="T33" fmla="*/ 953 h 930"/>
                <a:gd name="T34" fmla="*/ 233 w 61"/>
                <a:gd name="T35" fmla="*/ 970 h 930"/>
                <a:gd name="T36" fmla="*/ 290 w 61"/>
                <a:gd name="T37" fmla="*/ 979 h 9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930">
                  <a:moveTo>
                    <a:pt x="61" y="0"/>
                  </a:moveTo>
                  <a:lnTo>
                    <a:pt x="49" y="9"/>
                  </a:lnTo>
                  <a:lnTo>
                    <a:pt x="41" y="25"/>
                  </a:lnTo>
                  <a:lnTo>
                    <a:pt x="33" y="49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7"/>
                  </a:lnTo>
                  <a:lnTo>
                    <a:pt x="21" y="441"/>
                  </a:lnTo>
                  <a:lnTo>
                    <a:pt x="12" y="457"/>
                  </a:lnTo>
                  <a:lnTo>
                    <a:pt x="0" y="465"/>
                  </a:lnTo>
                  <a:lnTo>
                    <a:pt x="12" y="470"/>
                  </a:lnTo>
                  <a:lnTo>
                    <a:pt x="21" y="486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53"/>
                  </a:lnTo>
                  <a:lnTo>
                    <a:pt x="33" y="881"/>
                  </a:lnTo>
                  <a:lnTo>
                    <a:pt x="41" y="906"/>
                  </a:lnTo>
                  <a:lnTo>
                    <a:pt x="49" y="922"/>
                  </a:lnTo>
                  <a:lnTo>
                    <a:pt x="61" y="93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5" name="Text Box 24"/>
            <p:cNvSpPr txBox="1">
              <a:spLocks noChangeArrowheads="1"/>
            </p:cNvSpPr>
            <p:nvPr/>
          </p:nvSpPr>
          <p:spPr bwMode="auto">
            <a:xfrm>
              <a:off x="434" y="1544"/>
              <a:ext cx="309" cy="8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地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址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5396" name="Line 25"/>
            <p:cNvSpPr>
              <a:spLocks noChangeShapeType="1"/>
            </p:cNvSpPr>
            <p:nvPr/>
          </p:nvSpPr>
          <p:spPr bwMode="auto">
            <a:xfrm>
              <a:off x="960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7" name="Line 26"/>
            <p:cNvSpPr>
              <a:spLocks noChangeShapeType="1"/>
            </p:cNvSpPr>
            <p:nvPr/>
          </p:nvSpPr>
          <p:spPr bwMode="auto">
            <a:xfrm>
              <a:off x="960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8" name="Line 27"/>
            <p:cNvSpPr>
              <a:spLocks noChangeShapeType="1"/>
            </p:cNvSpPr>
            <p:nvPr/>
          </p:nvSpPr>
          <p:spPr bwMode="auto">
            <a:xfrm>
              <a:off x="960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9" name="Line 28"/>
            <p:cNvSpPr>
              <a:spLocks noChangeShapeType="1"/>
            </p:cNvSpPr>
            <p:nvPr/>
          </p:nvSpPr>
          <p:spPr bwMode="auto">
            <a:xfrm>
              <a:off x="960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00" name="Text Box 29"/>
            <p:cNvSpPr txBox="1">
              <a:spLocks noChangeArrowheads="1"/>
            </p:cNvSpPr>
            <p:nvPr/>
          </p:nvSpPr>
          <p:spPr bwMode="auto">
            <a:xfrm>
              <a:off x="1013" y="1791"/>
              <a:ext cx="427" cy="3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3828" name="Group 52"/>
          <p:cNvGrpSpPr/>
          <p:nvPr/>
        </p:nvGrpSpPr>
        <p:grpSpPr bwMode="auto">
          <a:xfrm>
            <a:off x="7660755" y="2040856"/>
            <a:ext cx="1547813" cy="1528763"/>
            <a:chOff x="4332" y="1488"/>
            <a:chExt cx="975" cy="963"/>
          </a:xfrm>
        </p:grpSpPr>
        <p:sp>
          <p:nvSpPr>
            <p:cNvPr id="15387" name="Freeform 31"/>
            <p:cNvSpPr/>
            <p:nvPr/>
          </p:nvSpPr>
          <p:spPr bwMode="auto">
            <a:xfrm>
              <a:off x="4852" y="1525"/>
              <a:ext cx="101" cy="926"/>
            </a:xfrm>
            <a:custGeom>
              <a:avLst/>
              <a:gdLst>
                <a:gd name="T0" fmla="*/ 0 w 53"/>
                <a:gd name="T1" fmla="*/ 0 h 926"/>
                <a:gd name="T2" fmla="*/ 44 w 53"/>
                <a:gd name="T3" fmla="*/ 4 h 926"/>
                <a:gd name="T4" fmla="*/ 72 w 53"/>
                <a:gd name="T5" fmla="*/ 20 h 926"/>
                <a:gd name="T6" fmla="*/ 105 w 53"/>
                <a:gd name="T7" fmla="*/ 45 h 926"/>
                <a:gd name="T8" fmla="*/ 105 w 53"/>
                <a:gd name="T9" fmla="*/ 78 h 926"/>
                <a:gd name="T10" fmla="*/ 105 w 53"/>
                <a:gd name="T11" fmla="*/ 388 h 926"/>
                <a:gd name="T12" fmla="*/ 105 w 53"/>
                <a:gd name="T13" fmla="*/ 416 h 926"/>
                <a:gd name="T14" fmla="*/ 135 w 53"/>
                <a:gd name="T15" fmla="*/ 441 h 926"/>
                <a:gd name="T16" fmla="*/ 149 w 53"/>
                <a:gd name="T17" fmla="*/ 457 h 926"/>
                <a:gd name="T18" fmla="*/ 192 w 53"/>
                <a:gd name="T19" fmla="*/ 465 h 926"/>
                <a:gd name="T20" fmla="*/ 149 w 53"/>
                <a:gd name="T21" fmla="*/ 469 h 926"/>
                <a:gd name="T22" fmla="*/ 135 w 53"/>
                <a:gd name="T23" fmla="*/ 485 h 926"/>
                <a:gd name="T24" fmla="*/ 105 w 53"/>
                <a:gd name="T25" fmla="*/ 510 h 926"/>
                <a:gd name="T26" fmla="*/ 105 w 53"/>
                <a:gd name="T27" fmla="*/ 543 h 926"/>
                <a:gd name="T28" fmla="*/ 105 w 53"/>
                <a:gd name="T29" fmla="*/ 848 h 926"/>
                <a:gd name="T30" fmla="*/ 105 w 53"/>
                <a:gd name="T31" fmla="*/ 881 h 926"/>
                <a:gd name="T32" fmla="*/ 72 w 53"/>
                <a:gd name="T33" fmla="*/ 906 h 926"/>
                <a:gd name="T34" fmla="*/ 44 w 53"/>
                <a:gd name="T35" fmla="*/ 922 h 926"/>
                <a:gd name="T36" fmla="*/ 0 w 53"/>
                <a:gd name="T37" fmla="*/ 926 h 9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26">
                  <a:moveTo>
                    <a:pt x="0" y="0"/>
                  </a:moveTo>
                  <a:lnTo>
                    <a:pt x="12" y="4"/>
                  </a:lnTo>
                  <a:lnTo>
                    <a:pt x="20" y="20"/>
                  </a:lnTo>
                  <a:lnTo>
                    <a:pt x="29" y="45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6"/>
                  </a:lnTo>
                  <a:lnTo>
                    <a:pt x="37" y="441"/>
                  </a:lnTo>
                  <a:lnTo>
                    <a:pt x="41" y="457"/>
                  </a:lnTo>
                  <a:lnTo>
                    <a:pt x="53" y="465"/>
                  </a:lnTo>
                  <a:lnTo>
                    <a:pt x="41" y="469"/>
                  </a:lnTo>
                  <a:lnTo>
                    <a:pt x="37" y="485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48"/>
                  </a:lnTo>
                  <a:lnTo>
                    <a:pt x="29" y="881"/>
                  </a:lnTo>
                  <a:lnTo>
                    <a:pt x="20" y="906"/>
                  </a:lnTo>
                  <a:lnTo>
                    <a:pt x="12" y="922"/>
                  </a:lnTo>
                  <a:lnTo>
                    <a:pt x="0" y="926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8" name="Text Box 32"/>
            <p:cNvSpPr txBox="1">
              <a:spLocks noChangeArrowheads="1"/>
            </p:cNvSpPr>
            <p:nvPr/>
          </p:nvSpPr>
          <p:spPr bwMode="auto">
            <a:xfrm>
              <a:off x="4982" y="1592"/>
              <a:ext cx="325" cy="8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数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据</a:t>
              </a:r>
              <a:endParaRPr lang="zh-CN" altLang="en-US" sz="26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600">
                  <a:latin typeface="Times New Roman" panose="02020603050405020304" pitchFamily="18" charset="0"/>
                </a:rPr>
                <a:t>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5389" name="Line 33"/>
            <p:cNvSpPr>
              <a:spLocks noChangeShapeType="1"/>
            </p:cNvSpPr>
            <p:nvPr/>
          </p:nvSpPr>
          <p:spPr bwMode="auto">
            <a:xfrm rot="10800000">
              <a:off x="4332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0" name="Line 34"/>
            <p:cNvSpPr>
              <a:spLocks noChangeShapeType="1"/>
            </p:cNvSpPr>
            <p:nvPr/>
          </p:nvSpPr>
          <p:spPr bwMode="auto">
            <a:xfrm rot="10800000">
              <a:off x="4332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1" name="Line 35"/>
            <p:cNvSpPr>
              <a:spLocks noChangeShapeType="1"/>
            </p:cNvSpPr>
            <p:nvPr/>
          </p:nvSpPr>
          <p:spPr bwMode="auto">
            <a:xfrm rot="10800000">
              <a:off x="4332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2" name="Line 36"/>
            <p:cNvSpPr>
              <a:spLocks noChangeShapeType="1"/>
            </p:cNvSpPr>
            <p:nvPr/>
          </p:nvSpPr>
          <p:spPr bwMode="auto">
            <a:xfrm rot="10800000">
              <a:off x="4332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93" name="Text Box 37"/>
            <p:cNvSpPr txBox="1">
              <a:spLocks noChangeArrowheads="1"/>
            </p:cNvSpPr>
            <p:nvPr/>
          </p:nvSpPr>
          <p:spPr bwMode="auto">
            <a:xfrm>
              <a:off x="4421" y="1791"/>
              <a:ext cx="427" cy="3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3814" name="Group 38"/>
          <p:cNvGrpSpPr/>
          <p:nvPr/>
        </p:nvGrpSpPr>
        <p:grpSpPr bwMode="auto">
          <a:xfrm>
            <a:off x="2155305" y="4499899"/>
            <a:ext cx="2290763" cy="461963"/>
            <a:chOff x="864" y="3037"/>
            <a:chExt cx="1443" cy="291"/>
          </a:xfrm>
        </p:grpSpPr>
        <p:sp>
          <p:nvSpPr>
            <p:cNvPr id="15385" name="Text Box 39"/>
            <p:cNvSpPr txBox="1">
              <a:spLocks noChangeArrowheads="1"/>
            </p:cNvSpPr>
            <p:nvPr/>
          </p:nvSpPr>
          <p:spPr bwMode="auto">
            <a:xfrm>
              <a:off x="864" y="3037"/>
              <a:ext cx="115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地址线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386" name="Text Box 40"/>
            <p:cNvSpPr txBox="1">
              <a:spLocks noChangeArrowheads="1"/>
            </p:cNvSpPr>
            <p:nvPr/>
          </p:nvSpPr>
          <p:spPr bwMode="auto">
            <a:xfrm>
              <a:off x="1411" y="3037"/>
              <a:ext cx="89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（单向）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3817" name="Group 41"/>
          <p:cNvGrpSpPr/>
          <p:nvPr/>
        </p:nvGrpSpPr>
        <p:grpSpPr bwMode="auto">
          <a:xfrm>
            <a:off x="4530204" y="4499893"/>
            <a:ext cx="2654300" cy="457200"/>
            <a:chOff x="2360" y="3037"/>
            <a:chExt cx="1672" cy="288"/>
          </a:xfrm>
        </p:grpSpPr>
        <p:sp>
          <p:nvSpPr>
            <p:cNvPr id="15383" name="Text Box 42"/>
            <p:cNvSpPr txBox="1">
              <a:spLocks noChangeArrowheads="1"/>
            </p:cNvSpPr>
            <p:nvPr/>
          </p:nvSpPr>
          <p:spPr bwMode="auto">
            <a:xfrm>
              <a:off x="2360" y="3037"/>
              <a:ext cx="114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数据线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384" name="Text Box 43"/>
            <p:cNvSpPr txBox="1">
              <a:spLocks noChangeArrowheads="1"/>
            </p:cNvSpPr>
            <p:nvPr/>
          </p:nvSpPr>
          <p:spPr bwMode="auto">
            <a:xfrm>
              <a:off x="2908" y="3037"/>
              <a:ext cx="112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（双向）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03820" name="Text Box 44"/>
          <p:cNvSpPr txBox="1">
            <a:spLocks noChangeArrowheads="1"/>
          </p:cNvSpPr>
          <p:nvPr/>
        </p:nvSpPr>
        <p:spPr bwMode="auto">
          <a:xfrm>
            <a:off x="2825229" y="4977730"/>
            <a:ext cx="488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10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821" name="Text Box 45"/>
          <p:cNvSpPr txBox="1">
            <a:spLocks noChangeArrowheads="1"/>
          </p:cNvSpPr>
          <p:nvPr/>
        </p:nvSpPr>
        <p:spPr bwMode="auto">
          <a:xfrm>
            <a:off x="5171554" y="4977730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4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822" name="Text Box 46"/>
          <p:cNvSpPr txBox="1">
            <a:spLocks noChangeArrowheads="1"/>
          </p:cNvSpPr>
          <p:nvPr/>
        </p:nvSpPr>
        <p:spPr bwMode="auto">
          <a:xfrm>
            <a:off x="2825229" y="5449218"/>
            <a:ext cx="488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14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823" name="Text Box 47"/>
          <p:cNvSpPr txBox="1">
            <a:spLocks noChangeArrowheads="1"/>
          </p:cNvSpPr>
          <p:nvPr/>
        </p:nvSpPr>
        <p:spPr bwMode="auto">
          <a:xfrm>
            <a:off x="5171554" y="5449218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1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824" name="Text Box 48"/>
          <p:cNvSpPr txBox="1">
            <a:spLocks noChangeArrowheads="1"/>
          </p:cNvSpPr>
          <p:nvPr/>
        </p:nvSpPr>
        <p:spPr bwMode="auto">
          <a:xfrm>
            <a:off x="2825229" y="5949280"/>
            <a:ext cx="488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13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3825" name="Text Box 49"/>
          <p:cNvSpPr txBox="1">
            <a:spLocks noChangeArrowheads="1"/>
          </p:cNvSpPr>
          <p:nvPr/>
        </p:nvSpPr>
        <p:spPr bwMode="auto">
          <a:xfrm>
            <a:off x="5171554" y="5949280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8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3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03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203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2" dur="500"/>
                                        <p:tgtEl>
                                          <p:spTgt spid="203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7" dur="500"/>
                                        <p:tgtEl>
                                          <p:spTgt spid="203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2" dur="500"/>
                                        <p:tgtEl>
                                          <p:spTgt spid="203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3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3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3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3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03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03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03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03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203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203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203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203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78" grpId="0" autoUpdateAnimBg="0"/>
      <p:bldP spid="203780" grpId="0" autoUpdateAnimBg="0"/>
      <p:bldP spid="203789" grpId="0" autoUpdateAnimBg="0"/>
      <p:bldP spid="203790" grpId="0" autoUpdateAnimBg="0"/>
      <p:bldP spid="203791" grpId="0" autoUpdateAnimBg="0"/>
      <p:bldP spid="203820" grpId="0" autoUpdateAnimBg="0"/>
      <p:bldP spid="203821" grpId="0" autoUpdateAnimBg="0"/>
      <p:bldP spid="203822" grpId="0" autoUpdateAnimBg="0"/>
      <p:bldP spid="203823" grpId="0" autoUpdateAnimBg="0"/>
      <p:bldP spid="203824" grpId="0" autoUpdateAnimBg="0"/>
      <p:bldP spid="203825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6" name="Group 60"/>
          <p:cNvGrpSpPr/>
          <p:nvPr/>
        </p:nvGrpSpPr>
        <p:grpSpPr bwMode="auto">
          <a:xfrm>
            <a:off x="261939" y="101600"/>
            <a:ext cx="10226675" cy="4600575"/>
            <a:chOff x="-798" y="78"/>
            <a:chExt cx="6442" cy="2898"/>
          </a:xfrm>
        </p:grpSpPr>
        <p:sp>
          <p:nvSpPr>
            <p:cNvPr id="16410" name="Text Box 3"/>
            <p:cNvSpPr txBox="1">
              <a:spLocks noChangeArrowheads="1"/>
            </p:cNvSpPr>
            <p:nvPr/>
          </p:nvSpPr>
          <p:spPr bwMode="auto">
            <a:xfrm>
              <a:off x="-798" y="78"/>
              <a:ext cx="3295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600" dirty="0">
                  <a:latin typeface="Times New Roman" panose="02020603050405020304" pitchFamily="18" charset="0"/>
                </a:rPr>
                <a:t>二、半导体存储芯片简介</a:t>
              </a:r>
              <a:endParaRPr lang="zh-CN" altLang="en-US" sz="3600" dirty="0">
                <a:latin typeface="Times New Roman" panose="02020603050405020304" pitchFamily="18" charset="0"/>
              </a:endParaRPr>
            </a:p>
          </p:txBody>
        </p:sp>
        <p:sp>
          <p:nvSpPr>
            <p:cNvPr id="16411" name="Text Box 4"/>
            <p:cNvSpPr txBox="1">
              <a:spLocks noChangeArrowheads="1"/>
            </p:cNvSpPr>
            <p:nvPr/>
          </p:nvSpPr>
          <p:spPr bwMode="auto">
            <a:xfrm>
              <a:off x="362" y="804"/>
              <a:ext cx="352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1.  半导体存储芯片的基本结构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16412" name="Group 5"/>
            <p:cNvGrpSpPr/>
            <p:nvPr/>
          </p:nvGrpSpPr>
          <p:grpSpPr bwMode="auto">
            <a:xfrm>
              <a:off x="1429" y="1300"/>
              <a:ext cx="2913" cy="1557"/>
              <a:chOff x="1429" y="1300"/>
              <a:chExt cx="2913" cy="1557"/>
            </a:xfrm>
          </p:grpSpPr>
          <p:sp>
            <p:nvSpPr>
              <p:cNvPr id="16435" name="Rectangle 6"/>
              <p:cNvSpPr>
                <a:spLocks noChangeArrowheads="1"/>
              </p:cNvSpPr>
              <p:nvPr/>
            </p:nvSpPr>
            <p:spPr bwMode="auto">
              <a:xfrm>
                <a:off x="1429" y="1300"/>
                <a:ext cx="2913" cy="1557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6436" name="Rectangle 7"/>
              <p:cNvSpPr>
                <a:spLocks noChangeArrowheads="1"/>
              </p:cNvSpPr>
              <p:nvPr/>
            </p:nvSpPr>
            <p:spPr bwMode="auto">
              <a:xfrm>
                <a:off x="1584" y="1513"/>
                <a:ext cx="461" cy="113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6437" name="Rectangle 8"/>
              <p:cNvSpPr>
                <a:spLocks noChangeArrowheads="1"/>
              </p:cNvSpPr>
              <p:nvPr/>
            </p:nvSpPr>
            <p:spPr bwMode="auto">
              <a:xfrm>
                <a:off x="2196" y="1512"/>
                <a:ext cx="1379" cy="113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6438" name="Rectangle 9"/>
              <p:cNvSpPr>
                <a:spLocks noChangeArrowheads="1"/>
              </p:cNvSpPr>
              <p:nvPr/>
            </p:nvSpPr>
            <p:spPr bwMode="auto">
              <a:xfrm>
                <a:off x="3726" y="1502"/>
                <a:ext cx="461" cy="1129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6439" name="Text Box 10"/>
              <p:cNvSpPr txBox="1">
                <a:spLocks noChangeArrowheads="1"/>
              </p:cNvSpPr>
              <p:nvPr/>
            </p:nvSpPr>
            <p:spPr bwMode="auto">
              <a:xfrm>
                <a:off x="1652" y="1549"/>
                <a:ext cx="325" cy="105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译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码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驱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动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40" name="Text Box 11"/>
              <p:cNvSpPr txBox="1">
                <a:spLocks noChangeArrowheads="1"/>
              </p:cNvSpPr>
              <p:nvPr/>
            </p:nvSpPr>
            <p:spPr bwMode="auto">
              <a:xfrm>
                <a:off x="2715" y="1548"/>
                <a:ext cx="341" cy="105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存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储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矩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阵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41" name="Text Box 12"/>
              <p:cNvSpPr txBox="1">
                <a:spLocks noChangeArrowheads="1"/>
              </p:cNvSpPr>
              <p:nvPr/>
            </p:nvSpPr>
            <p:spPr bwMode="auto">
              <a:xfrm>
                <a:off x="3794" y="1537"/>
                <a:ext cx="325" cy="105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读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写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电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路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6413" name="Group 13"/>
            <p:cNvGrpSpPr/>
            <p:nvPr/>
          </p:nvGrpSpPr>
          <p:grpSpPr bwMode="auto">
            <a:xfrm>
              <a:off x="257" y="2526"/>
              <a:ext cx="1174" cy="308"/>
              <a:chOff x="266" y="2526"/>
              <a:chExt cx="1174" cy="308"/>
            </a:xfrm>
          </p:grpSpPr>
          <p:sp>
            <p:nvSpPr>
              <p:cNvPr id="16433" name="Text Box 14"/>
              <p:cNvSpPr txBox="1">
                <a:spLocks noChangeArrowheads="1"/>
              </p:cNvSpPr>
              <p:nvPr/>
            </p:nvSpPr>
            <p:spPr bwMode="auto">
              <a:xfrm>
                <a:off x="266" y="2526"/>
                <a:ext cx="743" cy="3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 dirty="0">
                    <a:latin typeface="Times New Roman" panose="02020603050405020304" pitchFamily="18" charset="0"/>
                  </a:rPr>
                  <a:t>片选线</a:t>
                </a:r>
                <a:endParaRPr lang="zh-CN" altLang="en-US" sz="26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34" name="Line 15"/>
              <p:cNvSpPr>
                <a:spLocks noChangeShapeType="1"/>
              </p:cNvSpPr>
              <p:nvPr/>
            </p:nvSpPr>
            <p:spPr bwMode="auto">
              <a:xfrm>
                <a:off x="960" y="26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6414" name="Group 16"/>
            <p:cNvGrpSpPr/>
            <p:nvPr/>
          </p:nvGrpSpPr>
          <p:grpSpPr bwMode="auto">
            <a:xfrm>
              <a:off x="4341" y="2668"/>
              <a:ext cx="1303" cy="308"/>
              <a:chOff x="4332" y="2668"/>
              <a:chExt cx="1303" cy="308"/>
            </a:xfrm>
          </p:grpSpPr>
          <p:sp>
            <p:nvSpPr>
              <p:cNvPr id="16431" name="Text Box 17"/>
              <p:cNvSpPr txBox="1">
                <a:spLocks noChangeArrowheads="1"/>
              </p:cNvSpPr>
              <p:nvPr/>
            </p:nvSpPr>
            <p:spPr bwMode="auto">
              <a:xfrm>
                <a:off x="4416" y="2668"/>
                <a:ext cx="1219" cy="3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读/写控制线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32" name="Line 18"/>
              <p:cNvSpPr>
                <a:spLocks noChangeShapeType="1"/>
              </p:cNvSpPr>
              <p:nvPr/>
            </p:nvSpPr>
            <p:spPr bwMode="auto">
              <a:xfrm rot="10800000">
                <a:off x="4332" y="26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6415" name="Group 58"/>
            <p:cNvGrpSpPr/>
            <p:nvPr/>
          </p:nvGrpSpPr>
          <p:grpSpPr bwMode="auto">
            <a:xfrm>
              <a:off x="434" y="1473"/>
              <a:ext cx="1006" cy="975"/>
              <a:chOff x="434" y="1473"/>
              <a:chExt cx="1006" cy="975"/>
            </a:xfrm>
          </p:grpSpPr>
          <p:sp>
            <p:nvSpPr>
              <p:cNvPr id="16424" name="Freeform 20"/>
              <p:cNvSpPr/>
              <p:nvPr/>
            </p:nvSpPr>
            <p:spPr bwMode="auto">
              <a:xfrm>
                <a:off x="790" y="1473"/>
                <a:ext cx="133" cy="954"/>
              </a:xfrm>
              <a:custGeom>
                <a:avLst/>
                <a:gdLst>
                  <a:gd name="T0" fmla="*/ 290 w 61"/>
                  <a:gd name="T1" fmla="*/ 0 h 930"/>
                  <a:gd name="T2" fmla="*/ 233 w 61"/>
                  <a:gd name="T3" fmla="*/ 9 h 930"/>
                  <a:gd name="T4" fmla="*/ 194 w 61"/>
                  <a:gd name="T5" fmla="*/ 27 h 930"/>
                  <a:gd name="T6" fmla="*/ 157 w 61"/>
                  <a:gd name="T7" fmla="*/ 51 h 930"/>
                  <a:gd name="T8" fmla="*/ 137 w 61"/>
                  <a:gd name="T9" fmla="*/ 82 h 930"/>
                  <a:gd name="T10" fmla="*/ 137 w 61"/>
                  <a:gd name="T11" fmla="*/ 408 h 930"/>
                  <a:gd name="T12" fmla="*/ 137 w 61"/>
                  <a:gd name="T13" fmla="*/ 439 h 930"/>
                  <a:gd name="T14" fmla="*/ 100 w 61"/>
                  <a:gd name="T15" fmla="*/ 464 h 930"/>
                  <a:gd name="T16" fmla="*/ 57 w 61"/>
                  <a:gd name="T17" fmla="*/ 481 h 930"/>
                  <a:gd name="T18" fmla="*/ 0 w 61"/>
                  <a:gd name="T19" fmla="*/ 489 h 930"/>
                  <a:gd name="T20" fmla="*/ 57 w 61"/>
                  <a:gd name="T21" fmla="*/ 494 h 930"/>
                  <a:gd name="T22" fmla="*/ 100 w 61"/>
                  <a:gd name="T23" fmla="*/ 512 h 930"/>
                  <a:gd name="T24" fmla="*/ 137 w 61"/>
                  <a:gd name="T25" fmla="*/ 536 h 930"/>
                  <a:gd name="T26" fmla="*/ 137 w 61"/>
                  <a:gd name="T27" fmla="*/ 571 h 930"/>
                  <a:gd name="T28" fmla="*/ 137 w 61"/>
                  <a:gd name="T29" fmla="*/ 898 h 930"/>
                  <a:gd name="T30" fmla="*/ 157 w 61"/>
                  <a:gd name="T31" fmla="*/ 927 h 930"/>
                  <a:gd name="T32" fmla="*/ 194 w 61"/>
                  <a:gd name="T33" fmla="*/ 953 h 930"/>
                  <a:gd name="T34" fmla="*/ 233 w 61"/>
                  <a:gd name="T35" fmla="*/ 970 h 930"/>
                  <a:gd name="T36" fmla="*/ 290 w 61"/>
                  <a:gd name="T37" fmla="*/ 979 h 9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" h="930">
                    <a:moveTo>
                      <a:pt x="61" y="0"/>
                    </a:moveTo>
                    <a:lnTo>
                      <a:pt x="49" y="9"/>
                    </a:lnTo>
                    <a:lnTo>
                      <a:pt x="41" y="25"/>
                    </a:lnTo>
                    <a:lnTo>
                      <a:pt x="33" y="49"/>
                    </a:lnTo>
                    <a:lnTo>
                      <a:pt x="29" y="78"/>
                    </a:lnTo>
                    <a:lnTo>
                      <a:pt x="29" y="388"/>
                    </a:lnTo>
                    <a:lnTo>
                      <a:pt x="29" y="417"/>
                    </a:lnTo>
                    <a:lnTo>
                      <a:pt x="21" y="441"/>
                    </a:lnTo>
                    <a:lnTo>
                      <a:pt x="12" y="457"/>
                    </a:lnTo>
                    <a:lnTo>
                      <a:pt x="0" y="465"/>
                    </a:lnTo>
                    <a:lnTo>
                      <a:pt x="12" y="470"/>
                    </a:lnTo>
                    <a:lnTo>
                      <a:pt x="21" y="486"/>
                    </a:lnTo>
                    <a:lnTo>
                      <a:pt x="29" y="510"/>
                    </a:lnTo>
                    <a:lnTo>
                      <a:pt x="29" y="543"/>
                    </a:lnTo>
                    <a:lnTo>
                      <a:pt x="29" y="853"/>
                    </a:lnTo>
                    <a:lnTo>
                      <a:pt x="33" y="881"/>
                    </a:lnTo>
                    <a:lnTo>
                      <a:pt x="41" y="906"/>
                    </a:lnTo>
                    <a:lnTo>
                      <a:pt x="49" y="922"/>
                    </a:lnTo>
                    <a:lnTo>
                      <a:pt x="61" y="93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folHlink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25" name="Text Box 21"/>
              <p:cNvSpPr txBox="1">
                <a:spLocks noChangeArrowheads="1"/>
              </p:cNvSpPr>
              <p:nvPr/>
            </p:nvSpPr>
            <p:spPr bwMode="auto">
              <a:xfrm>
                <a:off x="434" y="1544"/>
                <a:ext cx="309" cy="8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地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址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线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26" name="Line 22"/>
              <p:cNvSpPr>
                <a:spLocks noChangeShapeType="1"/>
              </p:cNvSpPr>
              <p:nvPr/>
            </p:nvSpPr>
            <p:spPr bwMode="auto">
              <a:xfrm>
                <a:off x="960" y="14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7" name="Line 23"/>
              <p:cNvSpPr>
                <a:spLocks noChangeShapeType="1"/>
              </p:cNvSpPr>
              <p:nvPr/>
            </p:nvSpPr>
            <p:spPr bwMode="auto">
              <a:xfrm>
                <a:off x="960" y="1632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8" name="Line 24"/>
              <p:cNvSpPr>
                <a:spLocks noChangeShapeType="1"/>
              </p:cNvSpPr>
              <p:nvPr/>
            </p:nvSpPr>
            <p:spPr bwMode="auto">
              <a:xfrm>
                <a:off x="960" y="2304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9" name="Line 25"/>
              <p:cNvSpPr>
                <a:spLocks noChangeShapeType="1"/>
              </p:cNvSpPr>
              <p:nvPr/>
            </p:nvSpPr>
            <p:spPr bwMode="auto">
              <a:xfrm>
                <a:off x="960" y="244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30" name="Text Box 26"/>
              <p:cNvSpPr txBox="1">
                <a:spLocks noChangeArrowheads="1"/>
              </p:cNvSpPr>
              <p:nvPr/>
            </p:nvSpPr>
            <p:spPr bwMode="auto">
              <a:xfrm>
                <a:off x="1013" y="1800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 dirty="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 dirty="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6416" name="Group 59"/>
            <p:cNvGrpSpPr/>
            <p:nvPr/>
          </p:nvGrpSpPr>
          <p:grpSpPr bwMode="auto">
            <a:xfrm>
              <a:off x="4332" y="1488"/>
              <a:ext cx="975" cy="963"/>
              <a:chOff x="4332" y="1488"/>
              <a:chExt cx="975" cy="963"/>
            </a:xfrm>
          </p:grpSpPr>
          <p:sp>
            <p:nvSpPr>
              <p:cNvPr id="16417" name="Freeform 28"/>
              <p:cNvSpPr/>
              <p:nvPr/>
            </p:nvSpPr>
            <p:spPr bwMode="auto">
              <a:xfrm>
                <a:off x="4852" y="1525"/>
                <a:ext cx="101" cy="926"/>
              </a:xfrm>
              <a:custGeom>
                <a:avLst/>
                <a:gdLst>
                  <a:gd name="T0" fmla="*/ 0 w 53"/>
                  <a:gd name="T1" fmla="*/ 0 h 926"/>
                  <a:gd name="T2" fmla="*/ 44 w 53"/>
                  <a:gd name="T3" fmla="*/ 4 h 926"/>
                  <a:gd name="T4" fmla="*/ 72 w 53"/>
                  <a:gd name="T5" fmla="*/ 20 h 926"/>
                  <a:gd name="T6" fmla="*/ 105 w 53"/>
                  <a:gd name="T7" fmla="*/ 45 h 926"/>
                  <a:gd name="T8" fmla="*/ 105 w 53"/>
                  <a:gd name="T9" fmla="*/ 78 h 926"/>
                  <a:gd name="T10" fmla="*/ 105 w 53"/>
                  <a:gd name="T11" fmla="*/ 388 h 926"/>
                  <a:gd name="T12" fmla="*/ 105 w 53"/>
                  <a:gd name="T13" fmla="*/ 416 h 926"/>
                  <a:gd name="T14" fmla="*/ 135 w 53"/>
                  <a:gd name="T15" fmla="*/ 441 h 926"/>
                  <a:gd name="T16" fmla="*/ 149 w 53"/>
                  <a:gd name="T17" fmla="*/ 457 h 926"/>
                  <a:gd name="T18" fmla="*/ 192 w 53"/>
                  <a:gd name="T19" fmla="*/ 465 h 926"/>
                  <a:gd name="T20" fmla="*/ 149 w 53"/>
                  <a:gd name="T21" fmla="*/ 469 h 926"/>
                  <a:gd name="T22" fmla="*/ 135 w 53"/>
                  <a:gd name="T23" fmla="*/ 485 h 926"/>
                  <a:gd name="T24" fmla="*/ 105 w 53"/>
                  <a:gd name="T25" fmla="*/ 510 h 926"/>
                  <a:gd name="T26" fmla="*/ 105 w 53"/>
                  <a:gd name="T27" fmla="*/ 543 h 926"/>
                  <a:gd name="T28" fmla="*/ 105 w 53"/>
                  <a:gd name="T29" fmla="*/ 848 h 926"/>
                  <a:gd name="T30" fmla="*/ 105 w 53"/>
                  <a:gd name="T31" fmla="*/ 881 h 926"/>
                  <a:gd name="T32" fmla="*/ 72 w 53"/>
                  <a:gd name="T33" fmla="*/ 906 h 926"/>
                  <a:gd name="T34" fmla="*/ 44 w 53"/>
                  <a:gd name="T35" fmla="*/ 922 h 926"/>
                  <a:gd name="T36" fmla="*/ 0 w 53"/>
                  <a:gd name="T37" fmla="*/ 926 h 9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926">
                    <a:moveTo>
                      <a:pt x="0" y="0"/>
                    </a:moveTo>
                    <a:lnTo>
                      <a:pt x="12" y="4"/>
                    </a:lnTo>
                    <a:lnTo>
                      <a:pt x="20" y="20"/>
                    </a:lnTo>
                    <a:lnTo>
                      <a:pt x="29" y="45"/>
                    </a:lnTo>
                    <a:lnTo>
                      <a:pt x="29" y="78"/>
                    </a:lnTo>
                    <a:lnTo>
                      <a:pt x="29" y="388"/>
                    </a:lnTo>
                    <a:lnTo>
                      <a:pt x="29" y="416"/>
                    </a:lnTo>
                    <a:lnTo>
                      <a:pt x="37" y="441"/>
                    </a:lnTo>
                    <a:lnTo>
                      <a:pt x="41" y="457"/>
                    </a:lnTo>
                    <a:lnTo>
                      <a:pt x="53" y="465"/>
                    </a:lnTo>
                    <a:lnTo>
                      <a:pt x="41" y="469"/>
                    </a:lnTo>
                    <a:lnTo>
                      <a:pt x="37" y="485"/>
                    </a:lnTo>
                    <a:lnTo>
                      <a:pt x="29" y="510"/>
                    </a:lnTo>
                    <a:lnTo>
                      <a:pt x="29" y="543"/>
                    </a:lnTo>
                    <a:lnTo>
                      <a:pt x="29" y="848"/>
                    </a:lnTo>
                    <a:lnTo>
                      <a:pt x="29" y="881"/>
                    </a:lnTo>
                    <a:lnTo>
                      <a:pt x="20" y="906"/>
                    </a:lnTo>
                    <a:lnTo>
                      <a:pt x="12" y="922"/>
                    </a:lnTo>
                    <a:lnTo>
                      <a:pt x="0" y="926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folHlink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18" name="Text Box 29"/>
              <p:cNvSpPr txBox="1">
                <a:spLocks noChangeArrowheads="1"/>
              </p:cNvSpPr>
              <p:nvPr/>
            </p:nvSpPr>
            <p:spPr bwMode="auto">
              <a:xfrm>
                <a:off x="4982" y="1592"/>
                <a:ext cx="325" cy="8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数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据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600">
                    <a:latin typeface="Times New Roman" panose="02020603050405020304" pitchFamily="18" charset="0"/>
                  </a:rPr>
                  <a:t>线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19" name="Line 30"/>
              <p:cNvSpPr>
                <a:spLocks noChangeShapeType="1"/>
              </p:cNvSpPr>
              <p:nvPr/>
            </p:nvSpPr>
            <p:spPr bwMode="auto">
              <a:xfrm rot="10800000">
                <a:off x="4332" y="244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0" name="Line 31"/>
              <p:cNvSpPr>
                <a:spLocks noChangeShapeType="1"/>
              </p:cNvSpPr>
              <p:nvPr/>
            </p:nvSpPr>
            <p:spPr bwMode="auto">
              <a:xfrm rot="10800000">
                <a:off x="4332" y="2304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1" name="Line 32"/>
              <p:cNvSpPr>
                <a:spLocks noChangeShapeType="1"/>
              </p:cNvSpPr>
              <p:nvPr/>
            </p:nvSpPr>
            <p:spPr bwMode="auto">
              <a:xfrm rot="10800000">
                <a:off x="4332" y="1632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2" name="Line 33"/>
              <p:cNvSpPr>
                <a:spLocks noChangeShapeType="1"/>
              </p:cNvSpPr>
              <p:nvPr/>
            </p:nvSpPr>
            <p:spPr bwMode="auto">
              <a:xfrm rot="10800000">
                <a:off x="4332" y="14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423" name="Text Box 34"/>
              <p:cNvSpPr txBox="1">
                <a:spLocks noChangeArrowheads="1"/>
              </p:cNvSpPr>
              <p:nvPr/>
            </p:nvSpPr>
            <p:spPr bwMode="auto">
              <a:xfrm>
                <a:off x="4421" y="1809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04835" name="Text Box 35"/>
          <p:cNvSpPr txBox="1">
            <a:spLocks noChangeArrowheads="1"/>
          </p:cNvSpPr>
          <p:nvPr/>
        </p:nvSpPr>
        <p:spPr bwMode="auto">
          <a:xfrm>
            <a:off x="2967038" y="4821238"/>
            <a:ext cx="276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片选线　　　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4836" name="Text Box 36"/>
          <p:cNvSpPr txBox="1">
            <a:spLocks noChangeArrowheads="1"/>
          </p:cNvSpPr>
          <p:nvPr/>
        </p:nvSpPr>
        <p:spPr bwMode="auto">
          <a:xfrm>
            <a:off x="2967038" y="5516563"/>
            <a:ext cx="2520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读</a:t>
            </a:r>
            <a:r>
              <a:rPr lang="en-US" altLang="zh-CN" sz="2400">
                <a:latin typeface="Times New Roman" panose="02020603050405020304" pitchFamily="18" charset="0"/>
              </a:rPr>
              <a:t>/</a:t>
            </a:r>
            <a:r>
              <a:rPr lang="zh-CN" altLang="en-US" sz="2400">
                <a:latin typeface="Times New Roman" panose="02020603050405020304" pitchFamily="18" charset="0"/>
              </a:rPr>
              <a:t>写控制线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4837" name="Text Box 37"/>
          <p:cNvSpPr txBox="1">
            <a:spLocks noChangeArrowheads="1"/>
          </p:cNvSpPr>
          <p:nvPr/>
        </p:nvSpPr>
        <p:spPr bwMode="auto">
          <a:xfrm>
            <a:off x="5664200" y="5516563"/>
            <a:ext cx="421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（低电平写  高电平读）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4838" name="Text Box 38"/>
          <p:cNvSpPr txBox="1">
            <a:spLocks noChangeArrowheads="1"/>
          </p:cNvSpPr>
          <p:nvPr/>
        </p:nvSpPr>
        <p:spPr bwMode="auto">
          <a:xfrm>
            <a:off x="5664201" y="6067425"/>
            <a:ext cx="2232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（允许读）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04840" name="Group 40"/>
          <p:cNvGrpSpPr/>
          <p:nvPr/>
        </p:nvGrpSpPr>
        <p:grpSpPr bwMode="auto">
          <a:xfrm>
            <a:off x="4367214" y="4868863"/>
            <a:ext cx="1330325" cy="457200"/>
            <a:chOff x="1791" y="3067"/>
            <a:chExt cx="838" cy="288"/>
          </a:xfrm>
        </p:grpSpPr>
        <p:grpSp>
          <p:nvGrpSpPr>
            <p:cNvPr id="16404" name="Group 41"/>
            <p:cNvGrpSpPr/>
            <p:nvPr/>
          </p:nvGrpSpPr>
          <p:grpSpPr bwMode="auto">
            <a:xfrm>
              <a:off x="1791" y="3067"/>
              <a:ext cx="362" cy="288"/>
              <a:chOff x="2902" y="1440"/>
              <a:chExt cx="362" cy="288"/>
            </a:xfrm>
          </p:grpSpPr>
          <p:sp>
            <p:nvSpPr>
              <p:cNvPr id="16408" name="Text Box 42"/>
              <p:cNvSpPr txBox="1">
                <a:spLocks noChangeArrowheads="1"/>
              </p:cNvSpPr>
              <p:nvPr/>
            </p:nvSpPr>
            <p:spPr bwMode="auto">
              <a:xfrm>
                <a:off x="2902" y="1440"/>
                <a:ext cx="36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  <a:endPara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09" name="Line 43"/>
              <p:cNvSpPr>
                <a:spLocks noChangeShapeType="1"/>
              </p:cNvSpPr>
              <p:nvPr/>
            </p:nvSpPr>
            <p:spPr bwMode="auto">
              <a:xfrm>
                <a:off x="2938" y="1488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6405" name="Group 44"/>
            <p:cNvGrpSpPr/>
            <p:nvPr/>
          </p:nvGrpSpPr>
          <p:grpSpPr bwMode="auto">
            <a:xfrm>
              <a:off x="2246" y="3067"/>
              <a:ext cx="383" cy="288"/>
              <a:chOff x="2246" y="3191"/>
              <a:chExt cx="383" cy="288"/>
            </a:xfrm>
          </p:grpSpPr>
          <p:sp>
            <p:nvSpPr>
              <p:cNvPr id="16406" name="Text Box 45"/>
              <p:cNvSpPr txBox="1">
                <a:spLocks noChangeArrowheads="1"/>
              </p:cNvSpPr>
              <p:nvPr/>
            </p:nvSpPr>
            <p:spPr bwMode="auto">
              <a:xfrm>
                <a:off x="2246" y="3191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CE</a:t>
                </a:r>
                <a:endPara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07" name="Line 46"/>
              <p:cNvSpPr>
                <a:spLocks noChangeShapeType="1"/>
              </p:cNvSpPr>
              <p:nvPr/>
            </p:nvSpPr>
            <p:spPr bwMode="auto">
              <a:xfrm>
                <a:off x="2282" y="3239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04847" name="Group 47"/>
          <p:cNvGrpSpPr/>
          <p:nvPr/>
        </p:nvGrpSpPr>
        <p:grpSpPr bwMode="auto">
          <a:xfrm>
            <a:off x="5089525" y="5535613"/>
            <a:ext cx="692150" cy="457200"/>
            <a:chOff x="2246" y="3487"/>
            <a:chExt cx="436" cy="288"/>
          </a:xfrm>
        </p:grpSpPr>
        <p:sp>
          <p:nvSpPr>
            <p:cNvPr id="16402" name="Text Box 48"/>
            <p:cNvSpPr txBox="1">
              <a:spLocks noChangeArrowheads="1"/>
            </p:cNvSpPr>
            <p:nvPr/>
          </p:nvSpPr>
          <p:spPr bwMode="auto">
            <a:xfrm>
              <a:off x="2246" y="3487"/>
              <a:ext cx="4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403" name="Freeform 49"/>
            <p:cNvSpPr/>
            <p:nvPr/>
          </p:nvSpPr>
          <p:spPr bwMode="auto">
            <a:xfrm>
              <a:off x="2288" y="3524"/>
              <a:ext cx="330" cy="136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04850" name="Text Box 50"/>
          <p:cNvSpPr txBox="1">
            <a:spLocks noChangeArrowheads="1"/>
          </p:cNvSpPr>
          <p:nvPr/>
        </p:nvSpPr>
        <p:spPr bwMode="auto">
          <a:xfrm>
            <a:off x="7751764" y="6067425"/>
            <a:ext cx="2232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（允许写）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04851" name="Group 51"/>
          <p:cNvGrpSpPr/>
          <p:nvPr/>
        </p:nvGrpSpPr>
        <p:grpSpPr bwMode="auto">
          <a:xfrm>
            <a:off x="7248525" y="6086475"/>
            <a:ext cx="692150" cy="457200"/>
            <a:chOff x="2382" y="3357"/>
            <a:chExt cx="436" cy="288"/>
          </a:xfrm>
        </p:grpSpPr>
        <p:sp>
          <p:nvSpPr>
            <p:cNvPr id="16400" name="Text Box 52"/>
            <p:cNvSpPr txBox="1">
              <a:spLocks noChangeArrowheads="1"/>
            </p:cNvSpPr>
            <p:nvPr/>
          </p:nvSpPr>
          <p:spPr bwMode="auto">
            <a:xfrm>
              <a:off x="2382" y="3357"/>
              <a:ext cx="4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401" name="Freeform 53"/>
            <p:cNvSpPr/>
            <p:nvPr/>
          </p:nvSpPr>
          <p:spPr bwMode="auto">
            <a:xfrm>
              <a:off x="2424" y="3394"/>
              <a:ext cx="330" cy="136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04854" name="Group 54"/>
          <p:cNvGrpSpPr/>
          <p:nvPr/>
        </p:nvGrpSpPr>
        <p:grpSpPr bwMode="auto">
          <a:xfrm>
            <a:off x="5089525" y="6086475"/>
            <a:ext cx="623888" cy="457200"/>
            <a:chOff x="2381" y="3657"/>
            <a:chExt cx="393" cy="288"/>
          </a:xfrm>
        </p:grpSpPr>
        <p:sp>
          <p:nvSpPr>
            <p:cNvPr id="16398" name="Text Box 55"/>
            <p:cNvSpPr txBox="1">
              <a:spLocks noChangeArrowheads="1"/>
            </p:cNvSpPr>
            <p:nvPr/>
          </p:nvSpPr>
          <p:spPr bwMode="auto">
            <a:xfrm>
              <a:off x="2381" y="3657"/>
              <a:ext cx="3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OE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399" name="Freeform 56"/>
            <p:cNvSpPr/>
            <p:nvPr/>
          </p:nvSpPr>
          <p:spPr bwMode="auto">
            <a:xfrm>
              <a:off x="2423" y="3694"/>
              <a:ext cx="330" cy="136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4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4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04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04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4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4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4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4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3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826" name="Group 2"/>
          <p:cNvGrpSpPr/>
          <p:nvPr/>
        </p:nvGrpSpPr>
        <p:grpSpPr bwMode="auto">
          <a:xfrm>
            <a:off x="2422376" y="3219094"/>
            <a:ext cx="7267575" cy="1974850"/>
            <a:chOff x="894" y="2123"/>
            <a:chExt cx="4578" cy="1244"/>
          </a:xfrm>
        </p:grpSpPr>
        <p:grpSp>
          <p:nvGrpSpPr>
            <p:cNvPr id="17499" name="Group 3"/>
            <p:cNvGrpSpPr/>
            <p:nvPr/>
          </p:nvGrpSpPr>
          <p:grpSpPr bwMode="auto">
            <a:xfrm>
              <a:off x="4206" y="2130"/>
              <a:ext cx="1266" cy="1237"/>
              <a:chOff x="3860" y="2130"/>
              <a:chExt cx="1266" cy="1237"/>
            </a:xfrm>
          </p:grpSpPr>
          <p:sp>
            <p:nvSpPr>
              <p:cNvPr id="17530" name="Line 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1" name="Line 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2" name="Line 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3" name="Line 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4" name="Line 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5" name="Line 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6" name="Line 1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7" name="Line 1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38" name="Line 1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7500" name="Group 13"/>
            <p:cNvGrpSpPr/>
            <p:nvPr/>
          </p:nvGrpSpPr>
          <p:grpSpPr bwMode="auto">
            <a:xfrm>
              <a:off x="3102" y="2123"/>
              <a:ext cx="1266" cy="1237"/>
              <a:chOff x="3860" y="2130"/>
              <a:chExt cx="1266" cy="1237"/>
            </a:xfrm>
          </p:grpSpPr>
          <p:sp>
            <p:nvSpPr>
              <p:cNvPr id="17521" name="Line 1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2" name="Line 1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3" name="Line 1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4" name="Line 1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5" name="Line 1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6" name="Line 1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7" name="Line 2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8" name="Line 2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9" name="Line 2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7501" name="Group 23"/>
            <p:cNvGrpSpPr/>
            <p:nvPr/>
          </p:nvGrpSpPr>
          <p:grpSpPr bwMode="auto">
            <a:xfrm>
              <a:off x="2016" y="2123"/>
              <a:ext cx="1266" cy="1237"/>
              <a:chOff x="3860" y="2130"/>
              <a:chExt cx="1266" cy="1237"/>
            </a:xfrm>
          </p:grpSpPr>
          <p:sp>
            <p:nvSpPr>
              <p:cNvPr id="17512" name="Line 2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3" name="Line 2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4" name="Line 2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5" name="Line 2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6" name="Line 2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7" name="Line 2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8" name="Line 3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9" name="Line 3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20" name="Line 3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7502" name="Group 33"/>
            <p:cNvGrpSpPr/>
            <p:nvPr/>
          </p:nvGrpSpPr>
          <p:grpSpPr bwMode="auto">
            <a:xfrm>
              <a:off x="894" y="2123"/>
              <a:ext cx="1266" cy="1237"/>
              <a:chOff x="3860" y="2130"/>
              <a:chExt cx="1266" cy="1237"/>
            </a:xfrm>
          </p:grpSpPr>
          <p:sp>
            <p:nvSpPr>
              <p:cNvPr id="17503" name="Line 3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04" name="Line 3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05" name="Line 3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06" name="Line 3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07" name="Line 3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08" name="Line 3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09" name="Line 4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0" name="Line 4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511" name="Line 4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7411" name="Text Box 43"/>
          <p:cNvSpPr txBox="1">
            <a:spLocks noChangeArrowheads="1"/>
          </p:cNvSpPr>
          <p:nvPr/>
        </p:nvSpPr>
        <p:spPr bwMode="auto">
          <a:xfrm>
            <a:off x="242887" y="155575"/>
            <a:ext cx="47720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存储芯片片选线的作用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05868" name="Text Box 44"/>
          <p:cNvSpPr txBox="1">
            <a:spLocks noChangeArrowheads="1"/>
          </p:cNvSpPr>
          <p:nvPr/>
        </p:nvSpPr>
        <p:spPr bwMode="auto">
          <a:xfrm>
            <a:off x="955675" y="871317"/>
            <a:ext cx="77851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600" dirty="0">
                <a:latin typeface="Times New Roman" panose="02020603050405020304" pitchFamily="18" charset="0"/>
              </a:rPr>
              <a:t>用 16</a:t>
            </a:r>
            <a:r>
              <a:rPr lang="en-US" altLang="zh-CN" sz="2600" dirty="0">
                <a:latin typeface="Times New Roman" panose="02020603050405020304" pitchFamily="18" charset="0"/>
              </a:rPr>
              <a:t>K </a:t>
            </a:r>
            <a:r>
              <a:rPr lang="en-US" altLang="zh-CN" sz="2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600" dirty="0">
                <a:latin typeface="Times New Roman" panose="02020603050405020304" pitchFamily="18" charset="0"/>
              </a:rPr>
              <a:t> 1</a:t>
            </a:r>
            <a:r>
              <a:rPr lang="zh-CN" altLang="en-US" sz="2600" dirty="0">
                <a:latin typeface="Times New Roman" panose="02020603050405020304" pitchFamily="18" charset="0"/>
              </a:rPr>
              <a:t>位 的存储芯片组成 64</a:t>
            </a:r>
            <a:r>
              <a:rPr lang="en-US" altLang="zh-CN" sz="2600" dirty="0">
                <a:latin typeface="Times New Roman" panose="02020603050405020304" pitchFamily="18" charset="0"/>
              </a:rPr>
              <a:t>K </a:t>
            </a:r>
            <a:r>
              <a:rPr lang="en-US" altLang="zh-CN" sz="2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600" dirty="0">
                <a:latin typeface="Times New Roman" panose="02020603050405020304" pitchFamily="18" charset="0"/>
              </a:rPr>
              <a:t> 8</a:t>
            </a:r>
            <a:r>
              <a:rPr lang="zh-CN" altLang="en-US" sz="2600" dirty="0">
                <a:latin typeface="Times New Roman" panose="02020603050405020304" pitchFamily="18" charset="0"/>
              </a:rPr>
              <a:t>位 的存储器</a:t>
            </a:r>
            <a:endParaRPr lang="zh-CN" altLang="en-US" sz="2600" dirty="0">
              <a:latin typeface="Times New Roman" panose="02020603050405020304" pitchFamily="18" charset="0"/>
            </a:endParaRPr>
          </a:p>
        </p:txBody>
      </p:sp>
      <p:sp>
        <p:nvSpPr>
          <p:cNvPr id="205869" name="Rectangle 45"/>
          <p:cNvSpPr>
            <a:spLocks noChangeArrowheads="1"/>
          </p:cNvSpPr>
          <p:nvPr/>
        </p:nvSpPr>
        <p:spPr bwMode="auto">
          <a:xfrm>
            <a:off x="3327250" y="2839681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5870" name="Rectangle 46"/>
          <p:cNvSpPr>
            <a:spLocks noChangeArrowheads="1"/>
          </p:cNvSpPr>
          <p:nvPr/>
        </p:nvSpPr>
        <p:spPr bwMode="auto">
          <a:xfrm>
            <a:off x="3098650" y="3071456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5871" name="Rectangle 47"/>
          <p:cNvSpPr>
            <a:spLocks noChangeArrowheads="1"/>
          </p:cNvSpPr>
          <p:nvPr/>
        </p:nvSpPr>
        <p:spPr bwMode="auto">
          <a:xfrm>
            <a:off x="2870050" y="3303231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5872" name="Rectangle 48"/>
          <p:cNvSpPr>
            <a:spLocks noChangeArrowheads="1"/>
          </p:cNvSpPr>
          <p:nvPr/>
        </p:nvSpPr>
        <p:spPr bwMode="auto">
          <a:xfrm>
            <a:off x="2641450" y="3535006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5873" name="Rectangle 49"/>
          <p:cNvSpPr>
            <a:spLocks noChangeArrowheads="1"/>
          </p:cNvSpPr>
          <p:nvPr/>
        </p:nvSpPr>
        <p:spPr bwMode="auto">
          <a:xfrm>
            <a:off x="2412850" y="3765194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5874" name="Rectangle 50"/>
          <p:cNvSpPr>
            <a:spLocks noChangeArrowheads="1"/>
          </p:cNvSpPr>
          <p:nvPr/>
        </p:nvSpPr>
        <p:spPr bwMode="auto">
          <a:xfrm>
            <a:off x="2165200" y="3996969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5875" name="Rectangle 51"/>
          <p:cNvSpPr>
            <a:spLocks noChangeArrowheads="1"/>
          </p:cNvSpPr>
          <p:nvPr/>
        </p:nvSpPr>
        <p:spPr bwMode="auto">
          <a:xfrm>
            <a:off x="1917550" y="4228744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5876" name="Rectangle 52"/>
          <p:cNvSpPr>
            <a:spLocks noChangeArrowheads="1"/>
          </p:cNvSpPr>
          <p:nvPr/>
        </p:nvSpPr>
        <p:spPr bwMode="auto">
          <a:xfrm>
            <a:off x="1688950" y="4458931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05877" name="Group 53"/>
          <p:cNvGrpSpPr/>
          <p:nvPr/>
        </p:nvGrpSpPr>
        <p:grpSpPr bwMode="auto">
          <a:xfrm>
            <a:off x="3365350" y="2858731"/>
            <a:ext cx="2476500" cy="2114550"/>
            <a:chOff x="1344" y="1896"/>
            <a:chExt cx="1560" cy="1332"/>
          </a:xfrm>
        </p:grpSpPr>
        <p:sp>
          <p:nvSpPr>
            <p:cNvPr id="17491" name="Rectangle 54"/>
            <p:cNvSpPr>
              <a:spLocks noChangeArrowheads="1"/>
            </p:cNvSpPr>
            <p:nvPr/>
          </p:nvSpPr>
          <p:spPr bwMode="auto">
            <a:xfrm>
              <a:off x="2376" y="189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92" name="Rectangle 55"/>
            <p:cNvSpPr>
              <a:spLocks noChangeArrowheads="1"/>
            </p:cNvSpPr>
            <p:nvPr/>
          </p:nvSpPr>
          <p:spPr bwMode="auto">
            <a:xfrm>
              <a:off x="2232" y="2042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93" name="Rectangle 56"/>
            <p:cNvSpPr>
              <a:spLocks noChangeArrowheads="1"/>
            </p:cNvSpPr>
            <p:nvPr/>
          </p:nvSpPr>
          <p:spPr bwMode="auto">
            <a:xfrm>
              <a:off x="2088" y="2188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94" name="Rectangle 57"/>
            <p:cNvSpPr>
              <a:spLocks noChangeArrowheads="1"/>
            </p:cNvSpPr>
            <p:nvPr/>
          </p:nvSpPr>
          <p:spPr bwMode="auto">
            <a:xfrm>
              <a:off x="1944" y="2334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95" name="Rectangle 58"/>
            <p:cNvSpPr>
              <a:spLocks noChangeArrowheads="1"/>
            </p:cNvSpPr>
            <p:nvPr/>
          </p:nvSpPr>
          <p:spPr bwMode="auto">
            <a:xfrm>
              <a:off x="1800" y="2479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96" name="Rectangle 59"/>
            <p:cNvSpPr>
              <a:spLocks noChangeArrowheads="1"/>
            </p:cNvSpPr>
            <p:nvPr/>
          </p:nvSpPr>
          <p:spPr bwMode="auto">
            <a:xfrm>
              <a:off x="1644" y="2625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97" name="Rectangle 60"/>
            <p:cNvSpPr>
              <a:spLocks noChangeArrowheads="1"/>
            </p:cNvSpPr>
            <p:nvPr/>
          </p:nvSpPr>
          <p:spPr bwMode="auto">
            <a:xfrm>
              <a:off x="1488" y="2771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7498" name="Rectangle 61"/>
            <p:cNvSpPr>
              <a:spLocks noChangeArrowheads="1"/>
            </p:cNvSpPr>
            <p:nvPr/>
          </p:nvSpPr>
          <p:spPr bwMode="auto">
            <a:xfrm>
              <a:off x="1344" y="291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5886" name="Group 62"/>
          <p:cNvGrpSpPr/>
          <p:nvPr/>
        </p:nvGrpSpPr>
        <p:grpSpPr bwMode="auto">
          <a:xfrm>
            <a:off x="5165575" y="2858731"/>
            <a:ext cx="2476500" cy="2114550"/>
            <a:chOff x="2220" y="1896"/>
            <a:chExt cx="1560" cy="1332"/>
          </a:xfrm>
        </p:grpSpPr>
        <p:sp>
          <p:nvSpPr>
            <p:cNvPr id="17483" name="Rectangle 63"/>
            <p:cNvSpPr>
              <a:spLocks noChangeArrowheads="1"/>
            </p:cNvSpPr>
            <p:nvPr/>
          </p:nvSpPr>
          <p:spPr bwMode="auto">
            <a:xfrm>
              <a:off x="3252" y="189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4" name="Rectangle 64"/>
            <p:cNvSpPr>
              <a:spLocks noChangeArrowheads="1"/>
            </p:cNvSpPr>
            <p:nvPr/>
          </p:nvSpPr>
          <p:spPr bwMode="auto">
            <a:xfrm>
              <a:off x="3108" y="2042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5" name="Rectangle 65"/>
            <p:cNvSpPr>
              <a:spLocks noChangeArrowheads="1"/>
            </p:cNvSpPr>
            <p:nvPr/>
          </p:nvSpPr>
          <p:spPr bwMode="auto">
            <a:xfrm>
              <a:off x="2964" y="2188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6" name="Rectangle 66"/>
            <p:cNvSpPr>
              <a:spLocks noChangeArrowheads="1"/>
            </p:cNvSpPr>
            <p:nvPr/>
          </p:nvSpPr>
          <p:spPr bwMode="auto">
            <a:xfrm>
              <a:off x="2820" y="2334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7" name="Rectangle 67"/>
            <p:cNvSpPr>
              <a:spLocks noChangeArrowheads="1"/>
            </p:cNvSpPr>
            <p:nvPr/>
          </p:nvSpPr>
          <p:spPr bwMode="auto">
            <a:xfrm>
              <a:off x="2676" y="2479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8" name="Rectangle 68"/>
            <p:cNvSpPr>
              <a:spLocks noChangeArrowheads="1"/>
            </p:cNvSpPr>
            <p:nvPr/>
          </p:nvSpPr>
          <p:spPr bwMode="auto">
            <a:xfrm>
              <a:off x="2520" y="2625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9" name="Rectangle 69"/>
            <p:cNvSpPr>
              <a:spLocks noChangeArrowheads="1"/>
            </p:cNvSpPr>
            <p:nvPr/>
          </p:nvSpPr>
          <p:spPr bwMode="auto">
            <a:xfrm>
              <a:off x="2364" y="2771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7490" name="Rectangle 70"/>
            <p:cNvSpPr>
              <a:spLocks noChangeArrowheads="1"/>
            </p:cNvSpPr>
            <p:nvPr/>
          </p:nvSpPr>
          <p:spPr bwMode="auto">
            <a:xfrm>
              <a:off x="2220" y="291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5895" name="Group 71"/>
          <p:cNvGrpSpPr/>
          <p:nvPr/>
        </p:nvGrpSpPr>
        <p:grpSpPr bwMode="auto">
          <a:xfrm>
            <a:off x="6848325" y="2896831"/>
            <a:ext cx="2476500" cy="2114550"/>
            <a:chOff x="3228" y="1920"/>
            <a:chExt cx="1560" cy="1332"/>
          </a:xfrm>
        </p:grpSpPr>
        <p:sp>
          <p:nvSpPr>
            <p:cNvPr id="17475" name="Rectangle 72"/>
            <p:cNvSpPr>
              <a:spLocks noChangeArrowheads="1"/>
            </p:cNvSpPr>
            <p:nvPr/>
          </p:nvSpPr>
          <p:spPr bwMode="auto">
            <a:xfrm>
              <a:off x="4260" y="1920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76" name="Rectangle 73"/>
            <p:cNvSpPr>
              <a:spLocks noChangeArrowheads="1"/>
            </p:cNvSpPr>
            <p:nvPr/>
          </p:nvSpPr>
          <p:spPr bwMode="auto">
            <a:xfrm>
              <a:off x="4116" y="206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77" name="Rectangle 74"/>
            <p:cNvSpPr>
              <a:spLocks noChangeArrowheads="1"/>
            </p:cNvSpPr>
            <p:nvPr/>
          </p:nvSpPr>
          <p:spPr bwMode="auto">
            <a:xfrm>
              <a:off x="3972" y="2212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78" name="Rectangle 75"/>
            <p:cNvSpPr>
              <a:spLocks noChangeArrowheads="1"/>
            </p:cNvSpPr>
            <p:nvPr/>
          </p:nvSpPr>
          <p:spPr bwMode="auto">
            <a:xfrm>
              <a:off x="3828" y="2358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79" name="Rectangle 76"/>
            <p:cNvSpPr>
              <a:spLocks noChangeArrowheads="1"/>
            </p:cNvSpPr>
            <p:nvPr/>
          </p:nvSpPr>
          <p:spPr bwMode="auto">
            <a:xfrm>
              <a:off x="3684" y="2503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0" name="Rectangle 77"/>
            <p:cNvSpPr>
              <a:spLocks noChangeArrowheads="1"/>
            </p:cNvSpPr>
            <p:nvPr/>
          </p:nvSpPr>
          <p:spPr bwMode="auto">
            <a:xfrm>
              <a:off x="3528" y="2649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7481" name="Rectangle 78"/>
            <p:cNvSpPr>
              <a:spLocks noChangeArrowheads="1"/>
            </p:cNvSpPr>
            <p:nvPr/>
          </p:nvSpPr>
          <p:spPr bwMode="auto">
            <a:xfrm>
              <a:off x="3372" y="2795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7482" name="Rectangle 79"/>
            <p:cNvSpPr>
              <a:spLocks noChangeArrowheads="1"/>
            </p:cNvSpPr>
            <p:nvPr/>
          </p:nvSpPr>
          <p:spPr bwMode="auto">
            <a:xfrm>
              <a:off x="3228" y="2940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05904" name="AutoShape 80"/>
          <p:cNvSpPr>
            <a:spLocks noChangeArrowheads="1"/>
          </p:cNvSpPr>
          <p:nvPr/>
        </p:nvSpPr>
        <p:spPr bwMode="auto">
          <a:xfrm>
            <a:off x="767408" y="1995377"/>
            <a:ext cx="1085850" cy="592138"/>
          </a:xfrm>
          <a:prstGeom prst="wedgeRoundRectCallout">
            <a:avLst>
              <a:gd name="adj1" fmla="val 26606"/>
              <a:gd name="adj2" fmla="val -156435"/>
              <a:gd name="adj3" fmla="val 16667"/>
            </a:avLst>
          </a:prstGeom>
          <a:noFill/>
          <a:ln w="38100">
            <a:solidFill>
              <a:schemeClr val="folHlink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26000" rIns="0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9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32片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205905" name="Group 81"/>
          <p:cNvGrpSpPr/>
          <p:nvPr/>
        </p:nvGrpSpPr>
        <p:grpSpPr bwMode="auto">
          <a:xfrm>
            <a:off x="7680176" y="3230206"/>
            <a:ext cx="2009775" cy="1963738"/>
            <a:chOff x="3860" y="2130"/>
            <a:chExt cx="1266" cy="1237"/>
          </a:xfrm>
        </p:grpSpPr>
        <p:sp>
          <p:nvSpPr>
            <p:cNvPr id="17466" name="Line 8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7" name="Line 8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8" name="Line 8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9" name="Line 8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70" name="Line 8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71" name="Line 8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72" name="Line 8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73" name="Line 8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74" name="Line 9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5915" name="Group 91"/>
          <p:cNvGrpSpPr/>
          <p:nvPr/>
        </p:nvGrpSpPr>
        <p:grpSpPr bwMode="auto">
          <a:xfrm>
            <a:off x="7680176" y="3230206"/>
            <a:ext cx="2009775" cy="1963738"/>
            <a:chOff x="3860" y="2130"/>
            <a:chExt cx="1266" cy="1237"/>
          </a:xfrm>
        </p:grpSpPr>
        <p:sp>
          <p:nvSpPr>
            <p:cNvPr id="17457" name="Line 9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8" name="Line 9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9" name="Line 9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0" name="Line 9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1" name="Line 9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2" name="Line 9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3" name="Line 9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4" name="Line 9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65" name="Line 10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5925" name="Group 101"/>
          <p:cNvGrpSpPr/>
          <p:nvPr/>
        </p:nvGrpSpPr>
        <p:grpSpPr bwMode="auto">
          <a:xfrm>
            <a:off x="7680176" y="3230206"/>
            <a:ext cx="2009775" cy="1963738"/>
            <a:chOff x="3860" y="2130"/>
            <a:chExt cx="1266" cy="1237"/>
          </a:xfrm>
        </p:grpSpPr>
        <p:sp>
          <p:nvSpPr>
            <p:cNvPr id="17448" name="Line 10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9" name="Line 10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0" name="Line 10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1" name="Line 10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2" name="Line 10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3" name="Line 10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4" name="Line 10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5" name="Line 10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56" name="Line 11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5935" name="Group 111"/>
          <p:cNvGrpSpPr/>
          <p:nvPr/>
        </p:nvGrpSpPr>
        <p:grpSpPr bwMode="auto">
          <a:xfrm>
            <a:off x="7680176" y="3230206"/>
            <a:ext cx="2009775" cy="1963738"/>
            <a:chOff x="3860" y="2130"/>
            <a:chExt cx="1266" cy="1237"/>
          </a:xfrm>
        </p:grpSpPr>
        <p:sp>
          <p:nvSpPr>
            <p:cNvPr id="17439" name="Line 11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dirty="0"/>
            </a:p>
          </p:txBody>
        </p:sp>
        <p:sp>
          <p:nvSpPr>
            <p:cNvPr id="17440" name="Line 11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1" name="Line 11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2" name="Line 11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3" name="Line 11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4" name="Line 11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5" name="Line 11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6" name="Line 11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47" name="Line 12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5945" name="Group 121"/>
          <p:cNvGrpSpPr/>
          <p:nvPr/>
        </p:nvGrpSpPr>
        <p:grpSpPr bwMode="auto">
          <a:xfrm>
            <a:off x="2944814" y="5334001"/>
            <a:ext cx="6580187" cy="1006475"/>
            <a:chOff x="895" y="3360"/>
            <a:chExt cx="4145" cy="634"/>
          </a:xfrm>
        </p:grpSpPr>
        <p:sp>
          <p:nvSpPr>
            <p:cNvPr id="17437" name="Text Box 122"/>
            <p:cNvSpPr txBox="1">
              <a:spLocks noChangeArrowheads="1"/>
            </p:cNvSpPr>
            <p:nvPr/>
          </p:nvSpPr>
          <p:spPr bwMode="auto">
            <a:xfrm>
              <a:off x="895" y="3667"/>
              <a:ext cx="414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当地址为 65 535 时，此 8 片的片选有效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7438" name="Freeform 123"/>
            <p:cNvSpPr/>
            <p:nvPr/>
          </p:nvSpPr>
          <p:spPr bwMode="auto">
            <a:xfrm>
              <a:off x="3466" y="3360"/>
              <a:ext cx="564" cy="284"/>
            </a:xfrm>
            <a:custGeom>
              <a:avLst/>
              <a:gdLst>
                <a:gd name="T0" fmla="*/ 0 w 564"/>
                <a:gd name="T1" fmla="*/ 284 h 284"/>
                <a:gd name="T2" fmla="*/ 564 w 564"/>
                <a:gd name="T3" fmla="*/ 0 h 2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4" h="284">
                  <a:moveTo>
                    <a:pt x="0" y="284"/>
                  </a:moveTo>
                  <a:lnTo>
                    <a:pt x="564" y="0"/>
                  </a:lnTo>
                </a:path>
              </a:pathLst>
            </a:custGeom>
            <a:noFill/>
            <a:ln w="9525">
              <a:solidFill>
                <a:srgbClr val="FFFF00"/>
              </a:solidFill>
              <a:rou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dirty="0"/>
            </a:p>
          </p:txBody>
        </p:sp>
      </p:grpSp>
      <p:grpSp>
        <p:nvGrpSpPr>
          <p:cNvPr id="205948" name="Group 124"/>
          <p:cNvGrpSpPr/>
          <p:nvPr/>
        </p:nvGrpSpPr>
        <p:grpSpPr bwMode="auto">
          <a:xfrm>
            <a:off x="3247876" y="1925282"/>
            <a:ext cx="6899275" cy="862013"/>
            <a:chOff x="1414" y="1308"/>
            <a:chExt cx="4346" cy="543"/>
          </a:xfrm>
        </p:grpSpPr>
        <p:sp>
          <p:nvSpPr>
            <p:cNvPr id="17433" name="Text Box 125"/>
            <p:cNvSpPr txBox="1">
              <a:spLocks noChangeArrowheads="1"/>
            </p:cNvSpPr>
            <p:nvPr/>
          </p:nvSpPr>
          <p:spPr bwMode="auto">
            <a:xfrm>
              <a:off x="1414" y="1308"/>
              <a:ext cx="1274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  8片</a:t>
              </a:r>
              <a:endParaRPr lang="zh-CN" altLang="en-US" sz="24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7434" name="Text Box 126"/>
            <p:cNvSpPr txBox="1">
              <a:spLocks noChangeArrowheads="1"/>
            </p:cNvSpPr>
            <p:nvPr/>
          </p:nvSpPr>
          <p:spPr bwMode="auto">
            <a:xfrm>
              <a:off x="2486" y="1308"/>
              <a:ext cx="1210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 8片</a:t>
              </a:r>
              <a:endParaRPr lang="zh-CN" altLang="en-US" sz="24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7435" name="Text Box 127"/>
            <p:cNvSpPr txBox="1">
              <a:spLocks noChangeArrowheads="1"/>
            </p:cNvSpPr>
            <p:nvPr/>
          </p:nvSpPr>
          <p:spPr bwMode="auto">
            <a:xfrm>
              <a:off x="3558" y="1308"/>
              <a:ext cx="1093" cy="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Times New Roman" panose="02020603050405020304" pitchFamily="18" charset="0"/>
                </a:rPr>
                <a:t>     8片</a:t>
              </a:r>
              <a:endParaRPr lang="zh-CN" altLang="en-US" sz="2400" dirty="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400" dirty="0">
                  <a:latin typeface="Times New Roman" panose="02020603050405020304" pitchFamily="18" charset="0"/>
                </a:rPr>
                <a:t>16</a:t>
              </a:r>
              <a:r>
                <a:rPr lang="en-US" altLang="zh-CN" sz="2400" dirty="0">
                  <a:latin typeface="Times New Roman" panose="02020603050405020304" pitchFamily="18" charset="0"/>
                </a:rPr>
                <a:t>K </a:t>
              </a:r>
              <a:r>
                <a:rPr lang="en-US" altLang="zh-CN" sz="2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 dirty="0">
                  <a:latin typeface="Times New Roman" panose="02020603050405020304" pitchFamily="18" charset="0"/>
                </a:rPr>
                <a:t> 1</a:t>
              </a:r>
              <a:r>
                <a:rPr lang="zh-CN" altLang="en-US" sz="2400" dirty="0">
                  <a:latin typeface="Times New Roman" panose="02020603050405020304" pitchFamily="18" charset="0"/>
                </a:rPr>
                <a:t>位</a:t>
              </a:r>
              <a:endParaRPr lang="zh-CN" altLang="en-US" sz="2400" dirty="0">
                <a:latin typeface="Times New Roman" panose="02020603050405020304" pitchFamily="18" charset="0"/>
              </a:endParaRPr>
            </a:p>
          </p:txBody>
        </p:sp>
        <p:sp>
          <p:nvSpPr>
            <p:cNvPr id="17436" name="Text Box 128"/>
            <p:cNvSpPr txBox="1">
              <a:spLocks noChangeArrowheads="1"/>
            </p:cNvSpPr>
            <p:nvPr/>
          </p:nvSpPr>
          <p:spPr bwMode="auto">
            <a:xfrm>
              <a:off x="4630" y="1308"/>
              <a:ext cx="1130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 8片</a:t>
              </a:r>
              <a:endParaRPr lang="zh-CN" altLang="en-US" sz="24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5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205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6" dur="500"/>
                                        <p:tgtEl>
                                          <p:spTgt spid="205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0" dur="500"/>
                                        <p:tgtEl>
                                          <p:spTgt spid="205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4" dur="500"/>
                                        <p:tgtEl>
                                          <p:spTgt spid="205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8" dur="500"/>
                                        <p:tgtEl>
                                          <p:spTgt spid="205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2" dur="500"/>
                                        <p:tgtEl>
                                          <p:spTgt spid="205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6" dur="500"/>
                                        <p:tgtEl>
                                          <p:spTgt spid="205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0" dur="500"/>
                                        <p:tgtEl>
                                          <p:spTgt spid="205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5" dur="500"/>
                                        <p:tgtEl>
                                          <p:spTgt spid="205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0" dur="500"/>
                                        <p:tgtEl>
                                          <p:spTgt spid="205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5" dur="500"/>
                                        <p:tgtEl>
                                          <p:spTgt spid="205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205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5" dur="500"/>
                                        <p:tgtEl>
                                          <p:spTgt spid="205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0" dur="500"/>
                                        <p:tgtEl>
                                          <p:spTgt spid="205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205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0" dur="500"/>
                                        <p:tgtEl>
                                          <p:spTgt spid="205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"/>
                            </p:stCondLst>
                            <p:childTnLst>
                              <p:par>
                                <p:cTn id="82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4" dur="500"/>
                                        <p:tgtEl>
                                          <p:spTgt spid="205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8" dur="500"/>
                                        <p:tgtEl>
                                          <p:spTgt spid="205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500"/>
                            </p:stCondLst>
                            <p:childTnLst>
                              <p:par>
                                <p:cTn id="90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92" dur="500"/>
                                        <p:tgtEl>
                                          <p:spTgt spid="205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868" grpId="0" autoUpdateAnimBg="0"/>
      <p:bldP spid="205875" grpId="0" animBg="1" autoUpdateAnimBg="0"/>
      <p:bldP spid="205876" grpId="0" animBg="1" autoUpdateAnimBg="0"/>
      <p:bldP spid="205904" grpId="0" animBg="1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946" name="Group 98"/>
          <p:cNvGrpSpPr/>
          <p:nvPr/>
        </p:nvGrpSpPr>
        <p:grpSpPr bwMode="auto">
          <a:xfrm>
            <a:off x="2279576" y="1556792"/>
            <a:ext cx="6567487" cy="4862512"/>
            <a:chOff x="505" y="1201"/>
            <a:chExt cx="4137" cy="3063"/>
          </a:xfrm>
        </p:grpSpPr>
        <p:grpSp>
          <p:nvGrpSpPr>
            <p:cNvPr id="18474" name="Group 97"/>
            <p:cNvGrpSpPr/>
            <p:nvPr/>
          </p:nvGrpSpPr>
          <p:grpSpPr bwMode="auto">
            <a:xfrm>
              <a:off x="505" y="1201"/>
              <a:ext cx="4137" cy="3063"/>
              <a:chOff x="505" y="1201"/>
              <a:chExt cx="4137" cy="3063"/>
            </a:xfrm>
          </p:grpSpPr>
          <p:sp>
            <p:nvSpPr>
              <p:cNvPr id="18477" name="Rectangle 4"/>
              <p:cNvSpPr>
                <a:spLocks noChangeArrowheads="1"/>
              </p:cNvSpPr>
              <p:nvPr/>
            </p:nvSpPr>
            <p:spPr bwMode="auto">
              <a:xfrm>
                <a:off x="2445" y="1392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0,0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78" name="Rectangle 5"/>
              <p:cNvSpPr>
                <a:spLocks noChangeArrowheads="1"/>
              </p:cNvSpPr>
              <p:nvPr/>
            </p:nvSpPr>
            <p:spPr bwMode="auto">
              <a:xfrm>
                <a:off x="2445" y="2585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15,0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79" name="Rectangle 6"/>
              <p:cNvSpPr>
                <a:spLocks noChangeArrowheads="1"/>
              </p:cNvSpPr>
              <p:nvPr/>
            </p:nvSpPr>
            <p:spPr bwMode="auto">
              <a:xfrm>
                <a:off x="3776" y="2585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15,7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80" name="Rectangle 7"/>
              <p:cNvSpPr>
                <a:spLocks noChangeArrowheads="1"/>
              </p:cNvSpPr>
              <p:nvPr/>
            </p:nvSpPr>
            <p:spPr bwMode="auto">
              <a:xfrm>
                <a:off x="3776" y="1392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0,7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8481" name="Group 8"/>
              <p:cNvGrpSpPr/>
              <p:nvPr/>
            </p:nvGrpSpPr>
            <p:grpSpPr bwMode="auto">
              <a:xfrm>
                <a:off x="2267" y="3523"/>
                <a:ext cx="2226" cy="404"/>
                <a:chOff x="2267" y="3523"/>
                <a:chExt cx="2226" cy="404"/>
              </a:xfrm>
            </p:grpSpPr>
            <p:sp>
              <p:nvSpPr>
                <p:cNvPr id="18527" name="Rectangle 9"/>
                <p:cNvSpPr>
                  <a:spLocks noChangeArrowheads="1"/>
                </p:cNvSpPr>
                <p:nvPr/>
              </p:nvSpPr>
              <p:spPr bwMode="auto">
                <a:xfrm rot="5400000">
                  <a:off x="3188" y="2622"/>
                  <a:ext cx="384" cy="222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folHlink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18528" name="Text Box 10"/>
                <p:cNvSpPr txBox="1">
                  <a:spLocks noChangeArrowheads="1"/>
                </p:cNvSpPr>
                <p:nvPr/>
              </p:nvSpPr>
              <p:spPr bwMode="auto">
                <a:xfrm>
                  <a:off x="2449" y="3523"/>
                  <a:ext cx="1775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    </a:t>
                  </a:r>
                  <a:r>
                    <a:rPr lang="zh-CN" altLang="en-US" sz="2400">
                      <a:latin typeface="Times New Roman" panose="02020603050405020304" pitchFamily="18" charset="0"/>
                    </a:rPr>
                    <a:t>读/写控制电路</a:t>
                  </a:r>
                  <a:r>
                    <a:rPr lang="zh-CN" altLang="en-US" sz="3200">
                      <a:latin typeface="Times New Roman" panose="02020603050405020304" pitchFamily="18" charset="0"/>
                    </a:rPr>
                    <a:t>   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8482" name="Rectangle 11"/>
              <p:cNvSpPr>
                <a:spLocks noChangeArrowheads="1"/>
              </p:cNvSpPr>
              <p:nvPr/>
            </p:nvSpPr>
            <p:spPr bwMode="auto">
              <a:xfrm>
                <a:off x="1236" y="1203"/>
                <a:ext cx="384" cy="2227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fol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8483" name="Rectangle 12"/>
              <p:cNvSpPr>
                <a:spLocks noChangeArrowheads="1"/>
              </p:cNvSpPr>
              <p:nvPr/>
            </p:nvSpPr>
            <p:spPr bwMode="auto">
              <a:xfrm>
                <a:off x="2160" y="1201"/>
                <a:ext cx="2482" cy="2058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prstDash val="lgDash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8484" name="Text Box 13"/>
              <p:cNvSpPr txBox="1">
                <a:spLocks noChangeArrowheads="1"/>
              </p:cNvSpPr>
              <p:nvPr/>
            </p:nvSpPr>
            <p:spPr bwMode="auto">
              <a:xfrm>
                <a:off x="1275" y="1680"/>
                <a:ext cx="311" cy="1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85" name="Freeform 14"/>
              <p:cNvSpPr/>
              <p:nvPr/>
            </p:nvSpPr>
            <p:spPr bwMode="auto">
              <a:xfrm>
                <a:off x="1626" y="1715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86" name="Freeform 15"/>
              <p:cNvSpPr/>
              <p:nvPr/>
            </p:nvSpPr>
            <p:spPr bwMode="auto">
              <a:xfrm>
                <a:off x="2748" y="1728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87" name="Freeform 16"/>
              <p:cNvSpPr/>
              <p:nvPr/>
            </p:nvSpPr>
            <p:spPr bwMode="auto">
              <a:xfrm>
                <a:off x="1631" y="2916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88" name="Freeform 17"/>
              <p:cNvSpPr/>
              <p:nvPr/>
            </p:nvSpPr>
            <p:spPr bwMode="auto">
              <a:xfrm>
                <a:off x="2748" y="2929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89" name="Text Box 18"/>
              <p:cNvSpPr txBox="1">
                <a:spLocks noChangeArrowheads="1"/>
              </p:cNvSpPr>
              <p:nvPr/>
            </p:nvSpPr>
            <p:spPr bwMode="auto">
              <a:xfrm>
                <a:off x="1599" y="1472"/>
                <a:ext cx="51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200">
                    <a:latin typeface="Times New Roman" panose="02020603050405020304" pitchFamily="18" charset="0"/>
                  </a:rPr>
                  <a:t>字线</a:t>
                </a:r>
                <a:endParaRPr lang="zh-CN" altLang="en-US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90" name="Text Box 19"/>
              <p:cNvSpPr txBox="1">
                <a:spLocks noChangeArrowheads="1"/>
              </p:cNvSpPr>
              <p:nvPr/>
            </p:nvSpPr>
            <p:spPr bwMode="auto">
              <a:xfrm>
                <a:off x="1779" y="172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91" name="Text Box 20"/>
              <p:cNvSpPr txBox="1">
                <a:spLocks noChangeArrowheads="1"/>
              </p:cNvSpPr>
              <p:nvPr/>
            </p:nvSpPr>
            <p:spPr bwMode="auto">
              <a:xfrm>
                <a:off x="1743" y="28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15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92" name="Freeform 21"/>
              <p:cNvSpPr/>
              <p:nvPr/>
            </p:nvSpPr>
            <p:spPr bwMode="auto">
              <a:xfrm>
                <a:off x="2740" y="3248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93" name="Freeform 22"/>
              <p:cNvSpPr/>
              <p:nvPr/>
            </p:nvSpPr>
            <p:spPr bwMode="auto">
              <a:xfrm>
                <a:off x="4032" y="3254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94" name="Text Box 23"/>
              <p:cNvSpPr txBox="1">
                <a:spLocks noChangeArrowheads="1"/>
              </p:cNvSpPr>
              <p:nvPr/>
            </p:nvSpPr>
            <p:spPr bwMode="auto">
              <a:xfrm>
                <a:off x="3080" y="316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95" name="Text Box 24"/>
              <p:cNvSpPr txBox="1">
                <a:spLocks noChangeArrowheads="1"/>
              </p:cNvSpPr>
              <p:nvPr/>
            </p:nvSpPr>
            <p:spPr bwMode="auto">
              <a:xfrm rot="5400000">
                <a:off x="1747" y="2263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96" name="Freeform 25"/>
              <p:cNvSpPr/>
              <p:nvPr/>
            </p:nvSpPr>
            <p:spPr bwMode="auto">
              <a:xfrm>
                <a:off x="2740" y="3917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97" name="Freeform 26"/>
              <p:cNvSpPr/>
              <p:nvPr/>
            </p:nvSpPr>
            <p:spPr bwMode="auto">
              <a:xfrm>
                <a:off x="4032" y="3917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98" name="Text Box 27"/>
              <p:cNvSpPr txBox="1">
                <a:spLocks noChangeArrowheads="1"/>
              </p:cNvSpPr>
              <p:nvPr/>
            </p:nvSpPr>
            <p:spPr bwMode="auto">
              <a:xfrm>
                <a:off x="2960" y="1996"/>
                <a:ext cx="911" cy="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200">
                    <a:latin typeface="Times New Roman" panose="02020603050405020304" pitchFamily="18" charset="0"/>
                  </a:rPr>
                  <a:t>16×8矩阵</a:t>
                </a:r>
                <a:endParaRPr lang="zh-CN" altLang="en-US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99" name="Text Box 28"/>
              <p:cNvSpPr txBox="1">
                <a:spLocks noChangeArrowheads="1"/>
              </p:cNvSpPr>
              <p:nvPr/>
            </p:nvSpPr>
            <p:spPr bwMode="auto">
              <a:xfrm rot="5400000">
                <a:off x="2637" y="207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0" name="Text Box 29"/>
              <p:cNvSpPr txBox="1">
                <a:spLocks noChangeArrowheads="1"/>
              </p:cNvSpPr>
              <p:nvPr/>
            </p:nvSpPr>
            <p:spPr bwMode="auto">
              <a:xfrm rot="5400000">
                <a:off x="3932" y="207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1" name="Text Box 30"/>
              <p:cNvSpPr txBox="1">
                <a:spLocks noChangeArrowheads="1"/>
              </p:cNvSpPr>
              <p:nvPr/>
            </p:nvSpPr>
            <p:spPr bwMode="auto">
              <a:xfrm>
                <a:off x="3080" y="3819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2" name="Text Box 31"/>
              <p:cNvSpPr txBox="1">
                <a:spLocks noChangeArrowheads="1"/>
              </p:cNvSpPr>
              <p:nvPr/>
            </p:nvSpPr>
            <p:spPr bwMode="auto">
              <a:xfrm>
                <a:off x="2501" y="3255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3" name="Text Box 32"/>
              <p:cNvSpPr txBox="1">
                <a:spLocks noChangeArrowheads="1"/>
              </p:cNvSpPr>
              <p:nvPr/>
            </p:nvSpPr>
            <p:spPr bwMode="auto">
              <a:xfrm>
                <a:off x="3797" y="326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7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4" name="Text Box 33"/>
              <p:cNvSpPr txBox="1">
                <a:spLocks noChangeArrowheads="1"/>
              </p:cNvSpPr>
              <p:nvPr/>
            </p:nvSpPr>
            <p:spPr bwMode="auto">
              <a:xfrm>
                <a:off x="2369" y="395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5" name="Text Box 34"/>
              <p:cNvSpPr txBox="1">
                <a:spLocks noChangeArrowheads="1"/>
              </p:cNvSpPr>
              <p:nvPr/>
            </p:nvSpPr>
            <p:spPr bwMode="auto">
              <a:xfrm>
                <a:off x="2528" y="4072"/>
                <a:ext cx="172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400">
                    <a:latin typeface="Times New Roman" panose="02020603050405020304" pitchFamily="18" charset="0"/>
                  </a:rPr>
                  <a:t>0</a:t>
                </a:r>
                <a:endParaRPr lang="zh-CN" altLang="en-US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6" name="Text Box 35"/>
              <p:cNvSpPr txBox="1">
                <a:spLocks noChangeArrowheads="1"/>
              </p:cNvSpPr>
              <p:nvPr/>
            </p:nvSpPr>
            <p:spPr bwMode="auto">
              <a:xfrm>
                <a:off x="3837" y="4064"/>
                <a:ext cx="172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400">
                    <a:latin typeface="Times New Roman" panose="02020603050405020304" pitchFamily="18" charset="0"/>
                  </a:rPr>
                  <a:t>7</a:t>
                </a:r>
                <a:endParaRPr lang="zh-CN" altLang="en-US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7" name="Text Box 36"/>
              <p:cNvSpPr txBox="1">
                <a:spLocks noChangeArrowheads="1"/>
              </p:cNvSpPr>
              <p:nvPr/>
            </p:nvSpPr>
            <p:spPr bwMode="auto">
              <a:xfrm>
                <a:off x="3665" y="395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8" name="Text Box 37"/>
              <p:cNvSpPr txBox="1">
                <a:spLocks noChangeArrowheads="1"/>
              </p:cNvSpPr>
              <p:nvPr/>
            </p:nvSpPr>
            <p:spPr bwMode="auto">
              <a:xfrm>
                <a:off x="4075" y="3293"/>
                <a:ext cx="514" cy="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200">
                    <a:latin typeface="Times New Roman" panose="02020603050405020304" pitchFamily="18" charset="0"/>
                  </a:rPr>
                  <a:t> 位线</a:t>
                </a:r>
                <a:endParaRPr lang="zh-CN" altLang="en-US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09" name="Line 38"/>
              <p:cNvSpPr>
                <a:spLocks noChangeShapeType="1"/>
              </p:cNvSpPr>
              <p:nvPr/>
            </p:nvSpPr>
            <p:spPr bwMode="auto">
              <a:xfrm>
                <a:off x="1740" y="3727"/>
                <a:ext cx="5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510" name="Text Box 39"/>
              <p:cNvSpPr txBox="1">
                <a:spLocks noChangeArrowheads="1"/>
              </p:cNvSpPr>
              <p:nvPr/>
            </p:nvSpPr>
            <p:spPr bwMode="auto">
              <a:xfrm>
                <a:off x="673" y="3625"/>
                <a:ext cx="1093" cy="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200">
                    <a:latin typeface="Times New Roman" panose="02020603050405020304" pitchFamily="18" charset="0"/>
                  </a:rPr>
                  <a:t>   读 / 写选通</a:t>
                </a:r>
                <a:endParaRPr lang="zh-CN" altLang="en-US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11" name="Line 40"/>
              <p:cNvSpPr>
                <a:spLocks noChangeShapeType="1"/>
              </p:cNvSpPr>
              <p:nvPr/>
            </p:nvSpPr>
            <p:spPr bwMode="auto">
              <a:xfrm>
                <a:off x="835" y="1593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512" name="Line 41"/>
              <p:cNvSpPr>
                <a:spLocks noChangeShapeType="1"/>
              </p:cNvSpPr>
              <p:nvPr/>
            </p:nvSpPr>
            <p:spPr bwMode="auto">
              <a:xfrm>
                <a:off x="833" y="2093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513" name="Line 42"/>
              <p:cNvSpPr>
                <a:spLocks noChangeShapeType="1"/>
              </p:cNvSpPr>
              <p:nvPr/>
            </p:nvSpPr>
            <p:spPr bwMode="auto">
              <a:xfrm>
                <a:off x="831" y="2593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514" name="Line 43"/>
              <p:cNvSpPr>
                <a:spLocks noChangeShapeType="1"/>
              </p:cNvSpPr>
              <p:nvPr/>
            </p:nvSpPr>
            <p:spPr bwMode="auto">
              <a:xfrm>
                <a:off x="842" y="3094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8515" name="Group 44"/>
              <p:cNvGrpSpPr/>
              <p:nvPr/>
            </p:nvGrpSpPr>
            <p:grpSpPr bwMode="auto">
              <a:xfrm>
                <a:off x="505" y="1440"/>
                <a:ext cx="356" cy="295"/>
                <a:chOff x="457" y="1440"/>
                <a:chExt cx="356" cy="295"/>
              </a:xfrm>
            </p:grpSpPr>
            <p:sp>
              <p:nvSpPr>
                <p:cNvPr id="18525" name="Text Box 45"/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8526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3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516" name="Group 47"/>
              <p:cNvGrpSpPr/>
              <p:nvPr/>
            </p:nvGrpSpPr>
            <p:grpSpPr bwMode="auto">
              <a:xfrm>
                <a:off x="505" y="1936"/>
                <a:ext cx="356" cy="295"/>
                <a:chOff x="445" y="1968"/>
                <a:chExt cx="356" cy="295"/>
              </a:xfrm>
            </p:grpSpPr>
            <p:sp>
              <p:nvSpPr>
                <p:cNvPr id="18523" name="Text Box 48"/>
                <p:cNvSpPr txBox="1">
                  <a:spLocks noChangeArrowheads="1"/>
                </p:cNvSpPr>
                <p:nvPr/>
              </p:nvSpPr>
              <p:spPr bwMode="auto">
                <a:xfrm>
                  <a:off x="445" y="1968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8524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629" y="207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2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517" name="Group 50"/>
              <p:cNvGrpSpPr/>
              <p:nvPr/>
            </p:nvGrpSpPr>
            <p:grpSpPr bwMode="auto">
              <a:xfrm>
                <a:off x="505" y="2432"/>
                <a:ext cx="356" cy="295"/>
                <a:chOff x="481" y="2460"/>
                <a:chExt cx="356" cy="295"/>
              </a:xfrm>
            </p:grpSpPr>
            <p:sp>
              <p:nvSpPr>
                <p:cNvPr id="18521" name="Text Box 51"/>
                <p:cNvSpPr txBox="1">
                  <a:spLocks noChangeArrowheads="1"/>
                </p:cNvSpPr>
                <p:nvPr/>
              </p:nvSpPr>
              <p:spPr bwMode="auto">
                <a:xfrm>
                  <a:off x="481" y="2460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8522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665" y="256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1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518" name="Group 53"/>
              <p:cNvGrpSpPr/>
              <p:nvPr/>
            </p:nvGrpSpPr>
            <p:grpSpPr bwMode="auto">
              <a:xfrm>
                <a:off x="505" y="2928"/>
                <a:ext cx="356" cy="295"/>
                <a:chOff x="409" y="2928"/>
                <a:chExt cx="356" cy="295"/>
              </a:xfrm>
            </p:grpSpPr>
            <p:sp>
              <p:nvSpPr>
                <p:cNvPr id="18519" name="Text Box 54"/>
                <p:cNvSpPr txBox="1">
                  <a:spLocks noChangeArrowheads="1"/>
                </p:cNvSpPr>
                <p:nvPr/>
              </p:nvSpPr>
              <p:spPr bwMode="auto">
                <a:xfrm>
                  <a:off x="409" y="2928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8520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593" y="303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0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8475" name="Text Box 56"/>
            <p:cNvSpPr txBox="1">
              <a:spLocks noChangeArrowheads="1"/>
            </p:cNvSpPr>
            <p:nvPr/>
          </p:nvSpPr>
          <p:spPr bwMode="auto">
            <a:xfrm>
              <a:off x="3216" y="1392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8476" name="Text Box 57"/>
            <p:cNvSpPr txBox="1">
              <a:spLocks noChangeArrowheads="1"/>
            </p:cNvSpPr>
            <p:nvPr/>
          </p:nvSpPr>
          <p:spPr bwMode="auto">
            <a:xfrm>
              <a:off x="3216" y="2544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18435" name="Text Box 58"/>
          <p:cNvSpPr txBox="1">
            <a:spLocks noChangeArrowheads="1"/>
          </p:cNvSpPr>
          <p:nvPr/>
        </p:nvSpPr>
        <p:spPr bwMode="auto">
          <a:xfrm>
            <a:off x="245933" y="146051"/>
            <a:ext cx="7337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600" dirty="0">
                <a:latin typeface="Times New Roman" panose="02020603050405020304" pitchFamily="18" charset="0"/>
              </a:rPr>
              <a:t>2. 半导体存储芯片的译码驱动方式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06907" name="Text Box 59"/>
          <p:cNvSpPr txBox="1">
            <a:spLocks noChangeArrowheads="1"/>
          </p:cNvSpPr>
          <p:nvPr/>
        </p:nvSpPr>
        <p:spPr bwMode="auto">
          <a:xfrm>
            <a:off x="710936" y="827882"/>
            <a:ext cx="19827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(1) 线选法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206909" name="Group 61"/>
          <p:cNvGrpSpPr/>
          <p:nvPr/>
        </p:nvGrpSpPr>
        <p:grpSpPr bwMode="auto">
          <a:xfrm>
            <a:off x="3070150" y="1804442"/>
            <a:ext cx="336550" cy="2832100"/>
            <a:chOff x="367" y="1429"/>
            <a:chExt cx="212" cy="1784"/>
          </a:xfrm>
        </p:grpSpPr>
        <p:sp>
          <p:nvSpPr>
            <p:cNvPr id="18470" name="Text Box 62"/>
            <p:cNvSpPr txBox="1">
              <a:spLocks noChangeArrowheads="1"/>
            </p:cNvSpPr>
            <p:nvPr/>
          </p:nvSpPr>
          <p:spPr bwMode="auto">
            <a:xfrm>
              <a:off x="367" y="1429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71" name="Text Box 63"/>
            <p:cNvSpPr txBox="1">
              <a:spLocks noChangeArrowheads="1"/>
            </p:cNvSpPr>
            <p:nvPr/>
          </p:nvSpPr>
          <p:spPr bwMode="auto">
            <a:xfrm>
              <a:off x="367" y="1927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72" name="Text Box 64"/>
            <p:cNvSpPr txBox="1">
              <a:spLocks noChangeArrowheads="1"/>
            </p:cNvSpPr>
            <p:nvPr/>
          </p:nvSpPr>
          <p:spPr bwMode="auto">
            <a:xfrm>
              <a:off x="367" y="242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73" name="Text Box 65"/>
            <p:cNvSpPr txBox="1">
              <a:spLocks noChangeArrowheads="1"/>
            </p:cNvSpPr>
            <p:nvPr/>
          </p:nvSpPr>
          <p:spPr bwMode="auto">
            <a:xfrm>
              <a:off x="367" y="2925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6914" name="Group 66"/>
          <p:cNvGrpSpPr/>
          <p:nvPr/>
        </p:nvGrpSpPr>
        <p:grpSpPr bwMode="auto">
          <a:xfrm>
            <a:off x="5359325" y="1858418"/>
            <a:ext cx="3041650" cy="528637"/>
            <a:chOff x="2445" y="1391"/>
            <a:chExt cx="1916" cy="333"/>
          </a:xfrm>
        </p:grpSpPr>
        <p:grpSp>
          <p:nvGrpSpPr>
            <p:cNvPr id="18466" name="Group 67"/>
            <p:cNvGrpSpPr/>
            <p:nvPr/>
          </p:nvGrpSpPr>
          <p:grpSpPr bwMode="auto">
            <a:xfrm>
              <a:off x="2445" y="1392"/>
              <a:ext cx="1916" cy="332"/>
              <a:chOff x="2445" y="1392"/>
              <a:chExt cx="1916" cy="332"/>
            </a:xfrm>
          </p:grpSpPr>
          <p:sp>
            <p:nvSpPr>
              <p:cNvPr id="18468" name="Rectangle 68"/>
              <p:cNvSpPr>
                <a:spLocks noChangeArrowheads="1"/>
              </p:cNvSpPr>
              <p:nvPr/>
            </p:nvSpPr>
            <p:spPr bwMode="auto">
              <a:xfrm>
                <a:off x="2445" y="1392"/>
                <a:ext cx="585" cy="332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0,0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69" name="Rectangle 69"/>
              <p:cNvSpPr>
                <a:spLocks noChangeArrowheads="1"/>
              </p:cNvSpPr>
              <p:nvPr/>
            </p:nvSpPr>
            <p:spPr bwMode="auto">
              <a:xfrm>
                <a:off x="3776" y="1392"/>
                <a:ext cx="585" cy="332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0,7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8467" name="Text Box 70"/>
            <p:cNvSpPr txBox="1">
              <a:spLocks noChangeArrowheads="1"/>
            </p:cNvSpPr>
            <p:nvPr/>
          </p:nvSpPr>
          <p:spPr bwMode="auto">
            <a:xfrm>
              <a:off x="3216" y="1391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6919" name="Group 71"/>
          <p:cNvGrpSpPr/>
          <p:nvPr/>
        </p:nvGrpSpPr>
        <p:grpSpPr bwMode="auto">
          <a:xfrm>
            <a:off x="4059163" y="2372768"/>
            <a:ext cx="3819525" cy="466725"/>
            <a:chOff x="1626" y="1715"/>
            <a:chExt cx="2406" cy="294"/>
          </a:xfrm>
        </p:grpSpPr>
        <p:grpSp>
          <p:nvGrpSpPr>
            <p:cNvPr id="18462" name="Group 72"/>
            <p:cNvGrpSpPr/>
            <p:nvPr/>
          </p:nvGrpSpPr>
          <p:grpSpPr bwMode="auto">
            <a:xfrm>
              <a:off x="1626" y="1715"/>
              <a:ext cx="2406" cy="243"/>
              <a:chOff x="1626" y="1715"/>
              <a:chExt cx="2406" cy="243"/>
            </a:xfrm>
          </p:grpSpPr>
          <p:sp>
            <p:nvSpPr>
              <p:cNvPr id="18464" name="Freeform 73"/>
              <p:cNvSpPr/>
              <p:nvPr/>
            </p:nvSpPr>
            <p:spPr bwMode="auto">
              <a:xfrm>
                <a:off x="1626" y="1715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465" name="Freeform 74"/>
              <p:cNvSpPr/>
              <p:nvPr/>
            </p:nvSpPr>
            <p:spPr bwMode="auto">
              <a:xfrm>
                <a:off x="2748" y="1728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8463" name="Text Box 75"/>
            <p:cNvSpPr txBox="1">
              <a:spLocks noChangeArrowheads="1"/>
            </p:cNvSpPr>
            <p:nvPr/>
          </p:nvSpPr>
          <p:spPr bwMode="auto">
            <a:xfrm>
              <a:off x="1779" y="172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6924" name="Group 76"/>
          <p:cNvGrpSpPr/>
          <p:nvPr/>
        </p:nvGrpSpPr>
        <p:grpSpPr bwMode="auto">
          <a:xfrm>
            <a:off x="5448225" y="4668293"/>
            <a:ext cx="2432050" cy="623887"/>
            <a:chOff x="2501" y="3161"/>
            <a:chExt cx="1532" cy="393"/>
          </a:xfrm>
        </p:grpSpPr>
        <p:sp>
          <p:nvSpPr>
            <p:cNvPr id="18457" name="Freeform 77"/>
            <p:cNvSpPr/>
            <p:nvPr/>
          </p:nvSpPr>
          <p:spPr bwMode="auto">
            <a:xfrm>
              <a:off x="2740" y="3248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58" name="Freeform 78"/>
            <p:cNvSpPr/>
            <p:nvPr/>
          </p:nvSpPr>
          <p:spPr bwMode="auto">
            <a:xfrm>
              <a:off x="4032" y="3254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59" name="Text Box 79"/>
            <p:cNvSpPr txBox="1">
              <a:spLocks noChangeArrowheads="1"/>
            </p:cNvSpPr>
            <p:nvPr/>
          </p:nvSpPr>
          <p:spPr bwMode="auto">
            <a:xfrm>
              <a:off x="3080" y="316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60" name="Text Box 80"/>
            <p:cNvSpPr txBox="1">
              <a:spLocks noChangeArrowheads="1"/>
            </p:cNvSpPr>
            <p:nvPr/>
          </p:nvSpPr>
          <p:spPr bwMode="auto">
            <a:xfrm>
              <a:off x="2501" y="3255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61" name="Text Box 81"/>
            <p:cNvSpPr txBox="1">
              <a:spLocks noChangeArrowheads="1"/>
            </p:cNvSpPr>
            <p:nvPr/>
          </p:nvSpPr>
          <p:spPr bwMode="auto">
            <a:xfrm>
              <a:off x="3797" y="326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7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6930" name="Group 82"/>
          <p:cNvGrpSpPr/>
          <p:nvPr/>
        </p:nvGrpSpPr>
        <p:grpSpPr bwMode="auto">
          <a:xfrm>
            <a:off x="5238675" y="5712868"/>
            <a:ext cx="2641600" cy="706437"/>
            <a:chOff x="2369" y="3819"/>
            <a:chExt cx="1664" cy="445"/>
          </a:xfrm>
        </p:grpSpPr>
        <p:sp>
          <p:nvSpPr>
            <p:cNvPr id="18450" name="Freeform 83"/>
            <p:cNvSpPr/>
            <p:nvPr/>
          </p:nvSpPr>
          <p:spPr bwMode="auto">
            <a:xfrm>
              <a:off x="2740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51" name="Freeform 84"/>
            <p:cNvSpPr/>
            <p:nvPr/>
          </p:nvSpPr>
          <p:spPr bwMode="auto">
            <a:xfrm>
              <a:off x="4032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52" name="Text Box 85"/>
            <p:cNvSpPr txBox="1">
              <a:spLocks noChangeArrowheads="1"/>
            </p:cNvSpPr>
            <p:nvPr/>
          </p:nvSpPr>
          <p:spPr bwMode="auto">
            <a:xfrm>
              <a:off x="3080" y="381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53" name="Text Box 86"/>
            <p:cNvSpPr txBox="1">
              <a:spLocks noChangeArrowheads="1"/>
            </p:cNvSpPr>
            <p:nvPr/>
          </p:nvSpPr>
          <p:spPr bwMode="auto">
            <a:xfrm>
              <a:off x="2369" y="3953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54" name="Text Box 87"/>
            <p:cNvSpPr txBox="1">
              <a:spLocks noChangeArrowheads="1"/>
            </p:cNvSpPr>
            <p:nvPr/>
          </p:nvSpPr>
          <p:spPr bwMode="auto">
            <a:xfrm>
              <a:off x="2528" y="4072"/>
              <a:ext cx="17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1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55" name="Text Box 88"/>
            <p:cNvSpPr txBox="1">
              <a:spLocks noChangeArrowheads="1"/>
            </p:cNvSpPr>
            <p:nvPr/>
          </p:nvSpPr>
          <p:spPr bwMode="auto">
            <a:xfrm>
              <a:off x="3837" y="4064"/>
              <a:ext cx="17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7</a:t>
              </a:r>
              <a:endParaRPr lang="zh-CN" altLang="en-US" sz="1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8456" name="Text Box 89"/>
            <p:cNvSpPr txBox="1">
              <a:spLocks noChangeArrowheads="1"/>
            </p:cNvSpPr>
            <p:nvPr/>
          </p:nvSpPr>
          <p:spPr bwMode="auto">
            <a:xfrm>
              <a:off x="3665" y="3953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6938" name="Group 90"/>
          <p:cNvGrpSpPr/>
          <p:nvPr/>
        </p:nvGrpSpPr>
        <p:grpSpPr bwMode="auto">
          <a:xfrm>
            <a:off x="2546276" y="5404893"/>
            <a:ext cx="2530475" cy="427037"/>
            <a:chOff x="673" y="3625"/>
            <a:chExt cx="1594" cy="269"/>
          </a:xfrm>
        </p:grpSpPr>
        <p:sp>
          <p:nvSpPr>
            <p:cNvPr id="18448" name="Line 91"/>
            <p:cNvSpPr>
              <a:spLocks noChangeShapeType="1"/>
            </p:cNvSpPr>
            <p:nvPr/>
          </p:nvSpPr>
          <p:spPr bwMode="auto">
            <a:xfrm>
              <a:off x="1740" y="3727"/>
              <a:ext cx="5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49" name="Text Box 92"/>
            <p:cNvSpPr txBox="1">
              <a:spLocks noChangeArrowheads="1"/>
            </p:cNvSpPr>
            <p:nvPr/>
          </p:nvSpPr>
          <p:spPr bwMode="auto">
            <a:xfrm>
              <a:off x="673" y="3625"/>
              <a:ext cx="1391" cy="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读 / </a:t>
              </a:r>
              <a:r>
                <a:rPr lang="zh-CN" altLang="en-US" sz="2200">
                  <a:latin typeface="Times New Roman" panose="02020603050405020304" pitchFamily="18" charset="0"/>
                </a:rPr>
                <a:t>写</a:t>
              </a:r>
              <a:r>
                <a:rPr lang="zh-CN" altLang="en-US" sz="2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选通</a:t>
              </a:r>
              <a:endParaRPr lang="zh-CN" altLang="en-US" sz="2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6941" name="Group 93"/>
          <p:cNvGrpSpPr/>
          <p:nvPr/>
        </p:nvGrpSpPr>
        <p:grpSpPr bwMode="auto">
          <a:xfrm>
            <a:off x="5076751" y="5239792"/>
            <a:ext cx="3533775" cy="641350"/>
            <a:chOff x="2267" y="3706"/>
            <a:chExt cx="2226" cy="404"/>
          </a:xfrm>
        </p:grpSpPr>
        <p:sp>
          <p:nvSpPr>
            <p:cNvPr id="18446" name="Rectangle 94"/>
            <p:cNvSpPr>
              <a:spLocks noChangeArrowheads="1"/>
            </p:cNvSpPr>
            <p:nvPr/>
          </p:nvSpPr>
          <p:spPr bwMode="auto">
            <a:xfrm rot="5400000">
              <a:off x="3188" y="2805"/>
              <a:ext cx="384" cy="2226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8447" name="Text Box 95"/>
            <p:cNvSpPr txBox="1">
              <a:spLocks noChangeArrowheads="1"/>
            </p:cNvSpPr>
            <p:nvPr/>
          </p:nvSpPr>
          <p:spPr bwMode="auto">
            <a:xfrm>
              <a:off x="2449" y="3706"/>
              <a:ext cx="1792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 </a:t>
              </a:r>
              <a:r>
                <a: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读/写控制电路</a:t>
              </a:r>
              <a:r>
                <a:rPr lang="zh-CN" altLang="en-US" sz="3200">
                  <a:latin typeface="Times New Roman" panose="02020603050405020304" pitchFamily="18" charset="0"/>
                </a:rPr>
                <a:t>   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6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06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206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2" dur="500"/>
                                        <p:tgtEl>
                                          <p:spTgt spid="206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06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206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06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06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06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907" grpId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874" name="Group 2"/>
          <p:cNvGrpSpPr/>
          <p:nvPr/>
        </p:nvGrpSpPr>
        <p:grpSpPr bwMode="auto">
          <a:xfrm>
            <a:off x="1415480" y="1052736"/>
            <a:ext cx="9047163" cy="5451475"/>
            <a:chOff x="0" y="816"/>
            <a:chExt cx="5699" cy="3434"/>
          </a:xfrm>
        </p:grpSpPr>
        <p:grpSp>
          <p:nvGrpSpPr>
            <p:cNvPr id="19508" name="Group 3"/>
            <p:cNvGrpSpPr/>
            <p:nvPr/>
          </p:nvGrpSpPr>
          <p:grpSpPr bwMode="auto">
            <a:xfrm>
              <a:off x="0" y="1513"/>
              <a:ext cx="729" cy="295"/>
              <a:chOff x="0" y="1513"/>
              <a:chExt cx="729" cy="295"/>
            </a:xfrm>
          </p:grpSpPr>
          <p:sp>
            <p:nvSpPr>
              <p:cNvPr id="19614" name="Line 4"/>
              <p:cNvSpPr>
                <a:spLocks noChangeShapeType="1"/>
              </p:cNvSpPr>
              <p:nvPr/>
            </p:nvSpPr>
            <p:spPr bwMode="auto">
              <a:xfrm>
                <a:off x="331" y="1666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615" name="Group 5"/>
              <p:cNvGrpSpPr/>
              <p:nvPr/>
            </p:nvGrpSpPr>
            <p:grpSpPr bwMode="auto">
              <a:xfrm>
                <a:off x="0" y="1513"/>
                <a:ext cx="357" cy="295"/>
                <a:chOff x="457" y="1440"/>
                <a:chExt cx="356" cy="295"/>
              </a:xfrm>
            </p:grpSpPr>
            <p:sp>
              <p:nvSpPr>
                <p:cNvPr id="19616" name="Text Box 6"/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617" name="Text Box 7"/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3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9509" name="Group 8"/>
            <p:cNvGrpSpPr/>
            <p:nvPr/>
          </p:nvGrpSpPr>
          <p:grpSpPr bwMode="auto">
            <a:xfrm>
              <a:off x="0" y="1969"/>
              <a:ext cx="727" cy="295"/>
              <a:chOff x="0" y="1969"/>
              <a:chExt cx="727" cy="295"/>
            </a:xfrm>
          </p:grpSpPr>
          <p:sp>
            <p:nvSpPr>
              <p:cNvPr id="19610" name="Line 9"/>
              <p:cNvSpPr>
                <a:spLocks noChangeShapeType="1"/>
              </p:cNvSpPr>
              <p:nvPr/>
            </p:nvSpPr>
            <p:spPr bwMode="auto">
              <a:xfrm>
                <a:off x="329" y="2126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611" name="Group 10"/>
              <p:cNvGrpSpPr/>
              <p:nvPr/>
            </p:nvGrpSpPr>
            <p:grpSpPr bwMode="auto">
              <a:xfrm>
                <a:off x="0" y="1969"/>
                <a:ext cx="357" cy="295"/>
                <a:chOff x="445" y="1968"/>
                <a:chExt cx="356" cy="295"/>
              </a:xfrm>
            </p:grpSpPr>
            <p:sp>
              <p:nvSpPr>
                <p:cNvPr id="19612" name="Text Box 11"/>
                <p:cNvSpPr txBox="1">
                  <a:spLocks noChangeArrowheads="1"/>
                </p:cNvSpPr>
                <p:nvPr/>
              </p:nvSpPr>
              <p:spPr bwMode="auto">
                <a:xfrm>
                  <a:off x="445" y="1968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613" name="Text Box 12"/>
                <p:cNvSpPr txBox="1">
                  <a:spLocks noChangeArrowheads="1"/>
                </p:cNvSpPr>
                <p:nvPr/>
              </p:nvSpPr>
              <p:spPr bwMode="auto">
                <a:xfrm>
                  <a:off x="629" y="207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2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9510" name="Group 13"/>
            <p:cNvGrpSpPr/>
            <p:nvPr/>
          </p:nvGrpSpPr>
          <p:grpSpPr bwMode="auto">
            <a:xfrm>
              <a:off x="0" y="2425"/>
              <a:ext cx="725" cy="297"/>
              <a:chOff x="0" y="2425"/>
              <a:chExt cx="725" cy="297"/>
            </a:xfrm>
          </p:grpSpPr>
          <p:sp>
            <p:nvSpPr>
              <p:cNvPr id="19606" name="Line 14"/>
              <p:cNvSpPr>
                <a:spLocks noChangeShapeType="1"/>
              </p:cNvSpPr>
              <p:nvPr/>
            </p:nvSpPr>
            <p:spPr bwMode="auto">
              <a:xfrm>
                <a:off x="327" y="2587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607" name="Group 15"/>
              <p:cNvGrpSpPr/>
              <p:nvPr/>
            </p:nvGrpSpPr>
            <p:grpSpPr bwMode="auto">
              <a:xfrm>
                <a:off x="0" y="2425"/>
                <a:ext cx="357" cy="297"/>
                <a:chOff x="481" y="2460"/>
                <a:chExt cx="356" cy="296"/>
              </a:xfrm>
            </p:grpSpPr>
            <p:sp>
              <p:nvSpPr>
                <p:cNvPr id="19608" name="Text Box 16"/>
                <p:cNvSpPr txBox="1">
                  <a:spLocks noChangeArrowheads="1"/>
                </p:cNvSpPr>
                <p:nvPr/>
              </p:nvSpPr>
              <p:spPr bwMode="auto">
                <a:xfrm>
                  <a:off x="481" y="2460"/>
                  <a:ext cx="256" cy="29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609" name="Text Box 17"/>
                <p:cNvSpPr txBox="1">
                  <a:spLocks noChangeArrowheads="1"/>
                </p:cNvSpPr>
                <p:nvPr/>
              </p:nvSpPr>
              <p:spPr bwMode="auto">
                <a:xfrm>
                  <a:off x="665" y="2563"/>
                  <a:ext cx="172" cy="19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1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9511" name="Group 18"/>
            <p:cNvGrpSpPr/>
            <p:nvPr/>
          </p:nvGrpSpPr>
          <p:grpSpPr bwMode="auto">
            <a:xfrm>
              <a:off x="0" y="2882"/>
              <a:ext cx="736" cy="295"/>
              <a:chOff x="0" y="2882"/>
              <a:chExt cx="736" cy="295"/>
            </a:xfrm>
          </p:grpSpPr>
          <p:sp>
            <p:nvSpPr>
              <p:cNvPr id="19602" name="Line 19"/>
              <p:cNvSpPr>
                <a:spLocks noChangeShapeType="1"/>
              </p:cNvSpPr>
              <p:nvPr/>
            </p:nvSpPr>
            <p:spPr bwMode="auto">
              <a:xfrm>
                <a:off x="338" y="3048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603" name="Group 20"/>
              <p:cNvGrpSpPr/>
              <p:nvPr/>
            </p:nvGrpSpPr>
            <p:grpSpPr bwMode="auto">
              <a:xfrm>
                <a:off x="0" y="2882"/>
                <a:ext cx="357" cy="295"/>
                <a:chOff x="409" y="2928"/>
                <a:chExt cx="356" cy="295"/>
              </a:xfrm>
            </p:grpSpPr>
            <p:sp>
              <p:nvSpPr>
                <p:cNvPr id="19604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409" y="2928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605" name="Text Box 22"/>
                <p:cNvSpPr txBox="1">
                  <a:spLocks noChangeArrowheads="1"/>
                </p:cNvSpPr>
                <p:nvPr/>
              </p:nvSpPr>
              <p:spPr bwMode="auto">
                <a:xfrm>
                  <a:off x="593" y="303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0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9512" name="Group 23"/>
            <p:cNvGrpSpPr/>
            <p:nvPr/>
          </p:nvGrpSpPr>
          <p:grpSpPr bwMode="auto">
            <a:xfrm>
              <a:off x="24" y="1057"/>
              <a:ext cx="714" cy="295"/>
              <a:chOff x="24" y="1057"/>
              <a:chExt cx="714" cy="295"/>
            </a:xfrm>
          </p:grpSpPr>
          <p:sp>
            <p:nvSpPr>
              <p:cNvPr id="19598" name="Line 24"/>
              <p:cNvSpPr>
                <a:spLocks noChangeShapeType="1"/>
              </p:cNvSpPr>
              <p:nvPr/>
            </p:nvSpPr>
            <p:spPr bwMode="auto">
              <a:xfrm>
                <a:off x="340" y="1210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599" name="Group 25"/>
              <p:cNvGrpSpPr/>
              <p:nvPr/>
            </p:nvGrpSpPr>
            <p:grpSpPr bwMode="auto">
              <a:xfrm>
                <a:off x="24" y="1057"/>
                <a:ext cx="357" cy="295"/>
                <a:chOff x="457" y="1440"/>
                <a:chExt cx="356" cy="295"/>
              </a:xfrm>
            </p:grpSpPr>
            <p:sp>
              <p:nvSpPr>
                <p:cNvPr id="19600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601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4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9513" name="Group 28"/>
            <p:cNvGrpSpPr/>
            <p:nvPr/>
          </p:nvGrpSpPr>
          <p:grpSpPr bwMode="auto">
            <a:xfrm>
              <a:off x="733" y="816"/>
              <a:ext cx="4966" cy="3434"/>
              <a:chOff x="733" y="816"/>
              <a:chExt cx="4966" cy="3434"/>
            </a:xfrm>
          </p:grpSpPr>
          <p:sp>
            <p:nvSpPr>
              <p:cNvPr id="19514" name="Rectangle 29"/>
              <p:cNvSpPr>
                <a:spLocks noChangeArrowheads="1"/>
              </p:cNvSpPr>
              <p:nvPr/>
            </p:nvSpPr>
            <p:spPr bwMode="auto">
              <a:xfrm>
                <a:off x="3732" y="1019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0,31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15" name="Rectangle 30"/>
              <p:cNvSpPr>
                <a:spLocks noChangeArrowheads="1"/>
              </p:cNvSpPr>
              <p:nvPr/>
            </p:nvSpPr>
            <p:spPr bwMode="auto">
              <a:xfrm>
                <a:off x="1944" y="1007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0,0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16" name="Rectangle 31"/>
              <p:cNvSpPr>
                <a:spLocks noChangeArrowheads="1"/>
              </p:cNvSpPr>
              <p:nvPr/>
            </p:nvSpPr>
            <p:spPr bwMode="auto">
              <a:xfrm>
                <a:off x="1944" y="2200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31,0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17" name="Rectangle 32"/>
              <p:cNvSpPr>
                <a:spLocks noChangeArrowheads="1"/>
              </p:cNvSpPr>
              <p:nvPr/>
            </p:nvSpPr>
            <p:spPr bwMode="auto">
              <a:xfrm>
                <a:off x="1769" y="816"/>
                <a:ext cx="3077" cy="2059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prstDash val="lgDash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9518" name="Freeform 33"/>
              <p:cNvSpPr/>
              <p:nvPr/>
            </p:nvSpPr>
            <p:spPr bwMode="auto">
              <a:xfrm rot="10800000">
                <a:off x="2539" y="2368"/>
                <a:ext cx="334" cy="1"/>
              </a:xfrm>
              <a:custGeom>
                <a:avLst/>
                <a:gdLst>
                  <a:gd name="T0" fmla="*/ 335 w 333"/>
                  <a:gd name="T1" fmla="*/ 0 h 1"/>
                  <a:gd name="T2" fmla="*/ 0 w 33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3" h="1">
                    <a:moveTo>
                      <a:pt x="333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19" name="Rectangle 34"/>
              <p:cNvSpPr>
                <a:spLocks noChangeArrowheads="1"/>
              </p:cNvSpPr>
              <p:nvPr/>
            </p:nvSpPr>
            <p:spPr bwMode="auto">
              <a:xfrm>
                <a:off x="3732" y="2200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31,31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20" name="Rectangle 35"/>
              <p:cNvSpPr>
                <a:spLocks noChangeArrowheads="1"/>
              </p:cNvSpPr>
              <p:nvPr/>
            </p:nvSpPr>
            <p:spPr bwMode="auto">
              <a:xfrm rot="5400000">
                <a:off x="2868" y="2293"/>
                <a:ext cx="384" cy="293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fol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9521" name="Text Box 36"/>
              <p:cNvSpPr txBox="1">
                <a:spLocks noChangeArrowheads="1"/>
              </p:cNvSpPr>
              <p:nvPr/>
            </p:nvSpPr>
            <p:spPr bwMode="auto">
              <a:xfrm>
                <a:off x="1836" y="3559"/>
                <a:ext cx="1903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          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Y </a:t>
                </a:r>
                <a:r>
                  <a:rPr lang="zh-CN" altLang="en-US" sz="2400">
                    <a:latin typeface="Times New Roman" panose="02020603050405020304" pitchFamily="18" charset="0"/>
                  </a:rPr>
                  <a:t>地址译码器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22" name="Rectangle 37"/>
              <p:cNvSpPr>
                <a:spLocks noChangeArrowheads="1"/>
              </p:cNvSpPr>
              <p:nvPr/>
            </p:nvSpPr>
            <p:spPr bwMode="auto">
              <a:xfrm>
                <a:off x="733" y="1036"/>
                <a:ext cx="385" cy="222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fol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9523" name="Text Box 38"/>
              <p:cNvSpPr txBox="1">
                <a:spLocks noChangeArrowheads="1"/>
              </p:cNvSpPr>
              <p:nvPr/>
            </p:nvSpPr>
            <p:spPr bwMode="auto">
              <a:xfrm>
                <a:off x="768" y="1394"/>
                <a:ext cx="309" cy="14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X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24" name="Freeform 39"/>
              <p:cNvSpPr/>
              <p:nvPr/>
            </p:nvSpPr>
            <p:spPr bwMode="auto">
              <a:xfrm>
                <a:off x="1125" y="1347"/>
                <a:ext cx="2907" cy="237"/>
              </a:xfrm>
              <a:custGeom>
                <a:avLst/>
                <a:gdLst>
                  <a:gd name="T0" fmla="*/ 0 w 2907"/>
                  <a:gd name="T1" fmla="*/ 237 h 237"/>
                  <a:gd name="T2" fmla="*/ 2904 w 2907"/>
                  <a:gd name="T3" fmla="*/ 237 h 237"/>
                  <a:gd name="T4" fmla="*/ 2907 w 2907"/>
                  <a:gd name="T5" fmla="*/ 0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07" h="237">
                    <a:moveTo>
                      <a:pt x="0" y="237"/>
                    </a:moveTo>
                    <a:lnTo>
                      <a:pt x="2904" y="237"/>
                    </a:lnTo>
                    <a:lnTo>
                      <a:pt x="2907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25" name="Freeform 40"/>
              <p:cNvSpPr/>
              <p:nvPr/>
            </p:nvSpPr>
            <p:spPr bwMode="auto">
              <a:xfrm>
                <a:off x="2229" y="1344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26" name="Freeform 41"/>
              <p:cNvSpPr/>
              <p:nvPr/>
            </p:nvSpPr>
            <p:spPr bwMode="auto">
              <a:xfrm>
                <a:off x="1129" y="2531"/>
                <a:ext cx="2963" cy="256"/>
              </a:xfrm>
              <a:custGeom>
                <a:avLst/>
                <a:gdLst>
                  <a:gd name="T0" fmla="*/ 0 w 2406"/>
                  <a:gd name="T1" fmla="*/ 270 h 243"/>
                  <a:gd name="T2" fmla="*/ 3649 w 2406"/>
                  <a:gd name="T3" fmla="*/ 270 h 243"/>
                  <a:gd name="T4" fmla="*/ 3649 w 2406"/>
                  <a:gd name="T5" fmla="*/ 0 h 2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27" name="Freeform 42"/>
              <p:cNvSpPr/>
              <p:nvPr/>
            </p:nvSpPr>
            <p:spPr bwMode="auto">
              <a:xfrm>
                <a:off x="2248" y="2545"/>
                <a:ext cx="1" cy="239"/>
              </a:xfrm>
              <a:custGeom>
                <a:avLst/>
                <a:gdLst>
                  <a:gd name="T0" fmla="*/ 0 w 1"/>
                  <a:gd name="T1" fmla="*/ 0 h 239"/>
                  <a:gd name="T2" fmla="*/ 0 w 1"/>
                  <a:gd name="T3" fmla="*/ 239 h 2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9">
                    <a:moveTo>
                      <a:pt x="0" y="0"/>
                    </a:moveTo>
                    <a:lnTo>
                      <a:pt x="0" y="23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28" name="Freeform 43"/>
              <p:cNvSpPr/>
              <p:nvPr/>
            </p:nvSpPr>
            <p:spPr bwMode="auto">
              <a:xfrm>
                <a:off x="2132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29" name="Freeform 44"/>
              <p:cNvSpPr/>
              <p:nvPr/>
            </p:nvSpPr>
            <p:spPr bwMode="auto">
              <a:xfrm>
                <a:off x="4088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30" name="Text Box 45"/>
              <p:cNvSpPr txBox="1">
                <a:spLocks noChangeArrowheads="1"/>
              </p:cNvSpPr>
              <p:nvPr/>
            </p:nvSpPr>
            <p:spPr bwMode="auto">
              <a:xfrm>
                <a:off x="2461" y="1564"/>
                <a:ext cx="1079" cy="5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       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32×32  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           矩阵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31" name="Text Box 46"/>
              <p:cNvSpPr txBox="1">
                <a:spLocks noChangeArrowheads="1"/>
              </p:cNvSpPr>
              <p:nvPr/>
            </p:nvSpPr>
            <p:spPr bwMode="auto">
              <a:xfrm rot="5400000">
                <a:off x="2137" y="1692"/>
                <a:ext cx="372" cy="3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32" name="Text Box 47"/>
              <p:cNvSpPr txBox="1">
                <a:spLocks noChangeArrowheads="1"/>
              </p:cNvSpPr>
              <p:nvPr/>
            </p:nvSpPr>
            <p:spPr bwMode="auto">
              <a:xfrm rot="5400000">
                <a:off x="3928" y="1704"/>
                <a:ext cx="372" cy="3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533" name="Group 48"/>
              <p:cNvGrpSpPr/>
              <p:nvPr/>
            </p:nvGrpSpPr>
            <p:grpSpPr bwMode="auto">
              <a:xfrm>
                <a:off x="1808" y="3939"/>
                <a:ext cx="356" cy="311"/>
                <a:chOff x="1808" y="3939"/>
                <a:chExt cx="356" cy="311"/>
              </a:xfrm>
            </p:grpSpPr>
            <p:sp>
              <p:nvSpPr>
                <p:cNvPr id="19596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1808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97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1992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9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34" name="Group 51"/>
              <p:cNvGrpSpPr/>
              <p:nvPr/>
            </p:nvGrpSpPr>
            <p:grpSpPr bwMode="auto">
              <a:xfrm>
                <a:off x="2031" y="2949"/>
                <a:ext cx="48" cy="243"/>
                <a:chOff x="2031" y="2949"/>
                <a:chExt cx="48" cy="243"/>
              </a:xfrm>
            </p:grpSpPr>
            <p:sp>
              <p:nvSpPr>
                <p:cNvPr id="19594" name="Line 52"/>
                <p:cNvSpPr>
                  <a:spLocks noChangeShapeType="1"/>
                </p:cNvSpPr>
                <p:nvPr/>
              </p:nvSpPr>
              <p:spPr bwMode="auto">
                <a:xfrm rot="-5400000">
                  <a:off x="1909" y="3071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9595" name="Line 53"/>
                <p:cNvSpPr>
                  <a:spLocks noChangeShapeType="1"/>
                </p:cNvSpPr>
                <p:nvPr/>
              </p:nvSpPr>
              <p:spPr bwMode="auto">
                <a:xfrm rot="-5400000">
                  <a:off x="2005" y="307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535" name="Group 54"/>
              <p:cNvGrpSpPr/>
              <p:nvPr/>
            </p:nvGrpSpPr>
            <p:grpSpPr bwMode="auto">
              <a:xfrm>
                <a:off x="2416" y="2949"/>
                <a:ext cx="49" cy="243"/>
                <a:chOff x="2416" y="2949"/>
                <a:chExt cx="49" cy="243"/>
              </a:xfrm>
            </p:grpSpPr>
            <p:sp>
              <p:nvSpPr>
                <p:cNvPr id="19592" name="Line 55"/>
                <p:cNvSpPr>
                  <a:spLocks noChangeShapeType="1"/>
                </p:cNvSpPr>
                <p:nvPr/>
              </p:nvSpPr>
              <p:spPr bwMode="auto">
                <a:xfrm rot="5400000">
                  <a:off x="2343" y="3071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9593" name="Line 56"/>
                <p:cNvSpPr>
                  <a:spLocks noChangeShapeType="1"/>
                </p:cNvSpPr>
                <p:nvPr/>
              </p:nvSpPr>
              <p:spPr bwMode="auto">
                <a:xfrm rot="5400000">
                  <a:off x="2342" y="3068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536" name="Group 57"/>
              <p:cNvGrpSpPr/>
              <p:nvPr/>
            </p:nvGrpSpPr>
            <p:grpSpPr bwMode="auto">
              <a:xfrm>
                <a:off x="3832" y="2961"/>
                <a:ext cx="48" cy="243"/>
                <a:chOff x="3832" y="2961"/>
                <a:chExt cx="48" cy="243"/>
              </a:xfrm>
            </p:grpSpPr>
            <p:sp>
              <p:nvSpPr>
                <p:cNvPr id="19590" name="Line 58"/>
                <p:cNvSpPr>
                  <a:spLocks noChangeShapeType="1"/>
                </p:cNvSpPr>
                <p:nvPr/>
              </p:nvSpPr>
              <p:spPr bwMode="auto">
                <a:xfrm rot="-5400000">
                  <a:off x="3710" y="3083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9591" name="Line 59"/>
                <p:cNvSpPr>
                  <a:spLocks noChangeShapeType="1"/>
                </p:cNvSpPr>
                <p:nvPr/>
              </p:nvSpPr>
              <p:spPr bwMode="auto">
                <a:xfrm rot="-5400000">
                  <a:off x="3806" y="3086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537" name="Group 60"/>
              <p:cNvGrpSpPr/>
              <p:nvPr/>
            </p:nvGrpSpPr>
            <p:grpSpPr bwMode="auto">
              <a:xfrm>
                <a:off x="4217" y="2961"/>
                <a:ext cx="48" cy="243"/>
                <a:chOff x="4217" y="2961"/>
                <a:chExt cx="48" cy="243"/>
              </a:xfrm>
            </p:grpSpPr>
            <p:sp>
              <p:nvSpPr>
                <p:cNvPr id="19588" name="Line 61"/>
                <p:cNvSpPr>
                  <a:spLocks noChangeShapeType="1"/>
                </p:cNvSpPr>
                <p:nvPr/>
              </p:nvSpPr>
              <p:spPr bwMode="auto">
                <a:xfrm rot="5400000">
                  <a:off x="4143" y="3083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9589" name="Line 62"/>
                <p:cNvSpPr>
                  <a:spLocks noChangeShapeType="1"/>
                </p:cNvSpPr>
                <p:nvPr/>
              </p:nvSpPr>
              <p:spPr bwMode="auto">
                <a:xfrm rot="5400000">
                  <a:off x="4143" y="3080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9538" name="Rectangle 63"/>
              <p:cNvSpPr>
                <a:spLocks noChangeArrowheads="1"/>
              </p:cNvSpPr>
              <p:nvPr/>
            </p:nvSpPr>
            <p:spPr bwMode="auto">
              <a:xfrm>
                <a:off x="4834" y="3088"/>
                <a:ext cx="589" cy="3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39" name="Freeform 64"/>
              <p:cNvSpPr/>
              <p:nvPr/>
            </p:nvSpPr>
            <p:spPr bwMode="auto">
              <a:xfrm>
                <a:off x="2465" y="3120"/>
                <a:ext cx="2366" cy="168"/>
              </a:xfrm>
              <a:custGeom>
                <a:avLst/>
                <a:gdLst>
                  <a:gd name="T0" fmla="*/ 0 w 2361"/>
                  <a:gd name="T1" fmla="*/ 0 h 168"/>
                  <a:gd name="T2" fmla="*/ 418 w 2361"/>
                  <a:gd name="T3" fmla="*/ 0 h 168"/>
                  <a:gd name="T4" fmla="*/ 419 w 2361"/>
                  <a:gd name="T5" fmla="*/ 168 h 168"/>
                  <a:gd name="T6" fmla="*/ 2371 w 2361"/>
                  <a:gd name="T7" fmla="*/ 167 h 1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61" h="168">
                    <a:moveTo>
                      <a:pt x="0" y="0"/>
                    </a:moveTo>
                    <a:lnTo>
                      <a:pt x="416" y="0"/>
                    </a:lnTo>
                    <a:lnTo>
                      <a:pt x="417" y="168"/>
                    </a:lnTo>
                    <a:lnTo>
                      <a:pt x="2361" y="16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0" name="Freeform 65"/>
              <p:cNvSpPr/>
              <p:nvPr/>
            </p:nvSpPr>
            <p:spPr bwMode="auto">
              <a:xfrm>
                <a:off x="1625" y="3123"/>
                <a:ext cx="3207" cy="284"/>
              </a:xfrm>
              <a:custGeom>
                <a:avLst/>
                <a:gdLst>
                  <a:gd name="T0" fmla="*/ 405 w 3200"/>
                  <a:gd name="T1" fmla="*/ 0 h 284"/>
                  <a:gd name="T2" fmla="*/ 0 w 3200"/>
                  <a:gd name="T3" fmla="*/ 0 h 284"/>
                  <a:gd name="T4" fmla="*/ 1 w 3200"/>
                  <a:gd name="T5" fmla="*/ 284 h 284"/>
                  <a:gd name="T6" fmla="*/ 3214 w 3200"/>
                  <a:gd name="T7" fmla="*/ 284 h 2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00" h="284">
                    <a:moveTo>
                      <a:pt x="403" y="0"/>
                    </a:moveTo>
                    <a:lnTo>
                      <a:pt x="0" y="0"/>
                    </a:lnTo>
                    <a:lnTo>
                      <a:pt x="1" y="284"/>
                    </a:lnTo>
                    <a:lnTo>
                      <a:pt x="3200" y="28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1" name="Freeform 66"/>
              <p:cNvSpPr/>
              <p:nvPr/>
            </p:nvSpPr>
            <p:spPr bwMode="auto">
              <a:xfrm>
                <a:off x="1584" y="1172"/>
                <a:ext cx="445" cy="1852"/>
              </a:xfrm>
              <a:custGeom>
                <a:avLst/>
                <a:gdLst>
                  <a:gd name="T0" fmla="*/ 445 w 445"/>
                  <a:gd name="T1" fmla="*/ 1852 h 1852"/>
                  <a:gd name="T2" fmla="*/ 1 w 445"/>
                  <a:gd name="T3" fmla="*/ 1852 h 1852"/>
                  <a:gd name="T4" fmla="*/ 0 w 445"/>
                  <a:gd name="T5" fmla="*/ 0 h 1852"/>
                  <a:gd name="T6" fmla="*/ 357 w 445"/>
                  <a:gd name="T7" fmla="*/ 1 h 18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5" h="1852">
                    <a:moveTo>
                      <a:pt x="445" y="1852"/>
                    </a:moveTo>
                    <a:lnTo>
                      <a:pt x="1" y="1852"/>
                    </a:lnTo>
                    <a:lnTo>
                      <a:pt x="0" y="0"/>
                    </a:lnTo>
                    <a:lnTo>
                      <a:pt x="35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2" name="Freeform 67"/>
              <p:cNvSpPr/>
              <p:nvPr/>
            </p:nvSpPr>
            <p:spPr bwMode="auto">
              <a:xfrm>
                <a:off x="2465" y="1178"/>
                <a:ext cx="417" cy="1849"/>
              </a:xfrm>
              <a:custGeom>
                <a:avLst/>
                <a:gdLst>
                  <a:gd name="T0" fmla="*/ 66 w 416"/>
                  <a:gd name="T1" fmla="*/ 0 h 1848"/>
                  <a:gd name="T2" fmla="*/ 416 w 416"/>
                  <a:gd name="T3" fmla="*/ 0 h 1848"/>
                  <a:gd name="T4" fmla="*/ 418 w 416"/>
                  <a:gd name="T5" fmla="*/ 1849 h 1848"/>
                  <a:gd name="T6" fmla="*/ 0 w 416"/>
                  <a:gd name="T7" fmla="*/ 1850 h 18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6" h="1848">
                    <a:moveTo>
                      <a:pt x="66" y="0"/>
                    </a:moveTo>
                    <a:lnTo>
                      <a:pt x="414" y="0"/>
                    </a:lnTo>
                    <a:lnTo>
                      <a:pt x="416" y="1847"/>
                    </a:lnTo>
                    <a:lnTo>
                      <a:pt x="0" y="184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3" name="Freeform 68"/>
              <p:cNvSpPr/>
              <p:nvPr/>
            </p:nvSpPr>
            <p:spPr bwMode="auto">
              <a:xfrm>
                <a:off x="2081" y="3073"/>
                <a:ext cx="329" cy="1"/>
              </a:xfrm>
              <a:custGeom>
                <a:avLst/>
                <a:gdLst>
                  <a:gd name="T0" fmla="*/ 0 w 329"/>
                  <a:gd name="T1" fmla="*/ 0 h 1"/>
                  <a:gd name="T2" fmla="*/ 329 w 329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4" name="Freeform 69"/>
              <p:cNvSpPr/>
              <p:nvPr/>
            </p:nvSpPr>
            <p:spPr bwMode="auto">
              <a:xfrm>
                <a:off x="4263" y="1172"/>
                <a:ext cx="412" cy="1855"/>
              </a:xfrm>
              <a:custGeom>
                <a:avLst/>
                <a:gdLst>
                  <a:gd name="T0" fmla="*/ 63 w 412"/>
                  <a:gd name="T1" fmla="*/ 3 h 1855"/>
                  <a:gd name="T2" fmla="*/ 412 w 412"/>
                  <a:gd name="T3" fmla="*/ 0 h 1855"/>
                  <a:gd name="T4" fmla="*/ 411 w 412"/>
                  <a:gd name="T5" fmla="*/ 1852 h 1855"/>
                  <a:gd name="T6" fmla="*/ 0 w 412"/>
                  <a:gd name="T7" fmla="*/ 1855 h 18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2" h="1855">
                    <a:moveTo>
                      <a:pt x="63" y="3"/>
                    </a:moveTo>
                    <a:lnTo>
                      <a:pt x="412" y="0"/>
                    </a:lnTo>
                    <a:lnTo>
                      <a:pt x="411" y="1852"/>
                    </a:lnTo>
                    <a:lnTo>
                      <a:pt x="0" y="185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5" name="Freeform 70"/>
              <p:cNvSpPr/>
              <p:nvPr/>
            </p:nvSpPr>
            <p:spPr bwMode="auto">
              <a:xfrm>
                <a:off x="3406" y="1172"/>
                <a:ext cx="415" cy="1852"/>
              </a:xfrm>
              <a:custGeom>
                <a:avLst/>
                <a:gdLst>
                  <a:gd name="T0" fmla="*/ 416 w 414"/>
                  <a:gd name="T1" fmla="*/ 1853 h 1851"/>
                  <a:gd name="T2" fmla="*/ 3 w 414"/>
                  <a:gd name="T3" fmla="*/ 1853 h 1851"/>
                  <a:gd name="T4" fmla="*/ 0 w 414"/>
                  <a:gd name="T5" fmla="*/ 3 h 1851"/>
                  <a:gd name="T6" fmla="*/ 320 w 414"/>
                  <a:gd name="T7" fmla="*/ 0 h 18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4" h="1851">
                    <a:moveTo>
                      <a:pt x="414" y="1851"/>
                    </a:moveTo>
                    <a:lnTo>
                      <a:pt x="3" y="1851"/>
                    </a:lnTo>
                    <a:lnTo>
                      <a:pt x="0" y="3"/>
                    </a:lnTo>
                    <a:lnTo>
                      <a:pt x="31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6" name="Freeform 71"/>
              <p:cNvSpPr/>
              <p:nvPr/>
            </p:nvSpPr>
            <p:spPr bwMode="auto">
              <a:xfrm>
                <a:off x="2253" y="3069"/>
                <a:ext cx="3" cy="489"/>
              </a:xfrm>
              <a:custGeom>
                <a:avLst/>
                <a:gdLst>
                  <a:gd name="T0" fmla="*/ 3 w 3"/>
                  <a:gd name="T1" fmla="*/ 0 h 489"/>
                  <a:gd name="T2" fmla="*/ 0 w 3"/>
                  <a:gd name="T3" fmla="*/ 489 h 4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89">
                    <a:moveTo>
                      <a:pt x="3" y="0"/>
                    </a:moveTo>
                    <a:lnTo>
                      <a:pt x="0" y="48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7" name="Freeform 72"/>
              <p:cNvSpPr/>
              <p:nvPr/>
            </p:nvSpPr>
            <p:spPr bwMode="auto">
              <a:xfrm>
                <a:off x="4043" y="3071"/>
                <a:ext cx="2" cy="490"/>
              </a:xfrm>
              <a:custGeom>
                <a:avLst/>
                <a:gdLst>
                  <a:gd name="T0" fmla="*/ 0 w 2"/>
                  <a:gd name="T1" fmla="*/ 0 h 490"/>
                  <a:gd name="T2" fmla="*/ 2 w 2"/>
                  <a:gd name="T3" fmla="*/ 490 h 4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90">
                    <a:moveTo>
                      <a:pt x="0" y="0"/>
                    </a:moveTo>
                    <a:lnTo>
                      <a:pt x="2" y="49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8" name="Freeform 73"/>
              <p:cNvSpPr/>
              <p:nvPr/>
            </p:nvSpPr>
            <p:spPr bwMode="auto">
              <a:xfrm>
                <a:off x="3885" y="3073"/>
                <a:ext cx="330" cy="1"/>
              </a:xfrm>
              <a:custGeom>
                <a:avLst/>
                <a:gdLst>
                  <a:gd name="T0" fmla="*/ 0 w 329"/>
                  <a:gd name="T1" fmla="*/ 0 h 1"/>
                  <a:gd name="T2" fmla="*/ 331 w 329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49" name="Freeform 74"/>
              <p:cNvSpPr/>
              <p:nvPr/>
            </p:nvSpPr>
            <p:spPr bwMode="auto">
              <a:xfrm>
                <a:off x="3395" y="3125"/>
                <a:ext cx="430" cy="283"/>
              </a:xfrm>
              <a:custGeom>
                <a:avLst/>
                <a:gdLst>
                  <a:gd name="T0" fmla="*/ 430 w 430"/>
                  <a:gd name="T1" fmla="*/ 0 h 283"/>
                  <a:gd name="T2" fmla="*/ 0 w 430"/>
                  <a:gd name="T3" fmla="*/ 0 h 283"/>
                  <a:gd name="T4" fmla="*/ 4 w 430"/>
                  <a:gd name="T5" fmla="*/ 283 h 2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0" h="283">
                    <a:moveTo>
                      <a:pt x="430" y="0"/>
                    </a:moveTo>
                    <a:lnTo>
                      <a:pt x="0" y="0"/>
                    </a:lnTo>
                    <a:lnTo>
                      <a:pt x="4" y="28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50" name="Freeform 75"/>
              <p:cNvSpPr/>
              <p:nvPr/>
            </p:nvSpPr>
            <p:spPr bwMode="auto">
              <a:xfrm>
                <a:off x="4266" y="3122"/>
                <a:ext cx="418" cy="163"/>
              </a:xfrm>
              <a:custGeom>
                <a:avLst/>
                <a:gdLst>
                  <a:gd name="T0" fmla="*/ 0 w 417"/>
                  <a:gd name="T1" fmla="*/ 1 h 163"/>
                  <a:gd name="T2" fmla="*/ 419 w 417"/>
                  <a:gd name="T3" fmla="*/ 0 h 163"/>
                  <a:gd name="T4" fmla="*/ 419 w 417"/>
                  <a:gd name="T5" fmla="*/ 163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7" h="163">
                    <a:moveTo>
                      <a:pt x="0" y="1"/>
                    </a:moveTo>
                    <a:lnTo>
                      <a:pt x="417" y="0"/>
                    </a:lnTo>
                    <a:lnTo>
                      <a:pt x="417" y="16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51" name="Freeform 76"/>
              <p:cNvSpPr/>
              <p:nvPr/>
            </p:nvSpPr>
            <p:spPr bwMode="auto">
              <a:xfrm>
                <a:off x="2621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52" name="Freeform 77"/>
              <p:cNvSpPr/>
              <p:nvPr/>
            </p:nvSpPr>
            <p:spPr bwMode="auto">
              <a:xfrm>
                <a:off x="3110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53" name="Freeform 78"/>
              <p:cNvSpPr/>
              <p:nvPr/>
            </p:nvSpPr>
            <p:spPr bwMode="auto">
              <a:xfrm>
                <a:off x="3599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554" name="Group 79"/>
              <p:cNvGrpSpPr/>
              <p:nvPr/>
            </p:nvGrpSpPr>
            <p:grpSpPr bwMode="auto">
              <a:xfrm>
                <a:off x="2289" y="3939"/>
                <a:ext cx="356" cy="311"/>
                <a:chOff x="2289" y="3939"/>
                <a:chExt cx="356" cy="311"/>
              </a:xfrm>
            </p:grpSpPr>
            <p:sp>
              <p:nvSpPr>
                <p:cNvPr id="19586" name="Text Box 80"/>
                <p:cNvSpPr txBox="1">
                  <a:spLocks noChangeArrowheads="1"/>
                </p:cNvSpPr>
                <p:nvPr/>
              </p:nvSpPr>
              <p:spPr bwMode="auto">
                <a:xfrm>
                  <a:off x="2289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87" name="Text Box 81"/>
                <p:cNvSpPr txBox="1">
                  <a:spLocks noChangeArrowheads="1"/>
                </p:cNvSpPr>
                <p:nvPr/>
              </p:nvSpPr>
              <p:spPr bwMode="auto">
                <a:xfrm>
                  <a:off x="2473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8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55" name="Group 82"/>
              <p:cNvGrpSpPr/>
              <p:nvPr/>
            </p:nvGrpSpPr>
            <p:grpSpPr bwMode="auto">
              <a:xfrm>
                <a:off x="2782" y="3939"/>
                <a:ext cx="356" cy="311"/>
                <a:chOff x="2782" y="3939"/>
                <a:chExt cx="356" cy="311"/>
              </a:xfrm>
            </p:grpSpPr>
            <p:sp>
              <p:nvSpPr>
                <p:cNvPr id="19584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2782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85" name="Text Box 84"/>
                <p:cNvSpPr txBox="1">
                  <a:spLocks noChangeArrowheads="1"/>
                </p:cNvSpPr>
                <p:nvPr/>
              </p:nvSpPr>
              <p:spPr bwMode="auto">
                <a:xfrm>
                  <a:off x="2966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7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56" name="Group 85"/>
              <p:cNvGrpSpPr/>
              <p:nvPr/>
            </p:nvGrpSpPr>
            <p:grpSpPr bwMode="auto">
              <a:xfrm>
                <a:off x="3757" y="3939"/>
                <a:ext cx="355" cy="311"/>
                <a:chOff x="3757" y="3939"/>
                <a:chExt cx="355" cy="311"/>
              </a:xfrm>
            </p:grpSpPr>
            <p:sp>
              <p:nvSpPr>
                <p:cNvPr id="19582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3757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83" name="Text Box 87"/>
                <p:cNvSpPr txBox="1">
                  <a:spLocks noChangeArrowheads="1"/>
                </p:cNvSpPr>
                <p:nvPr/>
              </p:nvSpPr>
              <p:spPr bwMode="auto">
                <a:xfrm>
                  <a:off x="3940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5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57" name="Group 88"/>
              <p:cNvGrpSpPr/>
              <p:nvPr/>
            </p:nvGrpSpPr>
            <p:grpSpPr bwMode="auto">
              <a:xfrm>
                <a:off x="3275" y="3939"/>
                <a:ext cx="344" cy="303"/>
                <a:chOff x="3275" y="3939"/>
                <a:chExt cx="344" cy="303"/>
              </a:xfrm>
            </p:grpSpPr>
            <p:sp>
              <p:nvSpPr>
                <p:cNvPr id="19580" name="Text Box 89"/>
                <p:cNvSpPr txBox="1">
                  <a:spLocks noChangeArrowheads="1"/>
                </p:cNvSpPr>
                <p:nvPr/>
              </p:nvSpPr>
              <p:spPr bwMode="auto">
                <a:xfrm>
                  <a:off x="3447" y="4050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6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81" name="Text Box 90"/>
                <p:cNvSpPr txBox="1">
                  <a:spLocks noChangeArrowheads="1"/>
                </p:cNvSpPr>
                <p:nvPr/>
              </p:nvSpPr>
              <p:spPr bwMode="auto">
                <a:xfrm>
                  <a:off x="3275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58" name="Group 91"/>
              <p:cNvGrpSpPr/>
              <p:nvPr/>
            </p:nvGrpSpPr>
            <p:grpSpPr bwMode="auto">
              <a:xfrm>
                <a:off x="2025" y="3531"/>
                <a:ext cx="307" cy="311"/>
                <a:chOff x="2025" y="3531"/>
                <a:chExt cx="307" cy="311"/>
              </a:xfrm>
            </p:grpSpPr>
            <p:sp>
              <p:nvSpPr>
                <p:cNvPr id="19578" name="Text Box 92"/>
                <p:cNvSpPr txBox="1">
                  <a:spLocks noChangeArrowheads="1"/>
                </p:cNvSpPr>
                <p:nvPr/>
              </p:nvSpPr>
              <p:spPr bwMode="auto">
                <a:xfrm>
                  <a:off x="2025" y="353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Y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79" name="Text Box 93"/>
                <p:cNvSpPr txBox="1">
                  <a:spLocks noChangeArrowheads="1"/>
                </p:cNvSpPr>
                <p:nvPr/>
              </p:nvSpPr>
              <p:spPr bwMode="auto">
                <a:xfrm>
                  <a:off x="2160" y="3650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0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59" name="Group 94"/>
              <p:cNvGrpSpPr/>
              <p:nvPr/>
            </p:nvGrpSpPr>
            <p:grpSpPr bwMode="auto">
              <a:xfrm>
                <a:off x="3853" y="3531"/>
                <a:ext cx="359" cy="311"/>
                <a:chOff x="3853" y="3531"/>
                <a:chExt cx="359" cy="311"/>
              </a:xfrm>
            </p:grpSpPr>
            <p:sp>
              <p:nvSpPr>
                <p:cNvPr id="19576" name="Text Box 95"/>
                <p:cNvSpPr txBox="1">
                  <a:spLocks noChangeArrowheads="1"/>
                </p:cNvSpPr>
                <p:nvPr/>
              </p:nvSpPr>
              <p:spPr bwMode="auto">
                <a:xfrm>
                  <a:off x="3853" y="353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Y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77" name="Text Box 96"/>
                <p:cNvSpPr txBox="1">
                  <a:spLocks noChangeArrowheads="1"/>
                </p:cNvSpPr>
                <p:nvPr/>
              </p:nvSpPr>
              <p:spPr bwMode="auto">
                <a:xfrm>
                  <a:off x="3984" y="3650"/>
                  <a:ext cx="228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31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60" name="Group 97"/>
              <p:cNvGrpSpPr/>
              <p:nvPr/>
            </p:nvGrpSpPr>
            <p:grpSpPr bwMode="auto">
              <a:xfrm>
                <a:off x="1203" y="1296"/>
                <a:ext cx="365" cy="299"/>
                <a:chOff x="1203" y="1296"/>
                <a:chExt cx="365" cy="299"/>
              </a:xfrm>
            </p:grpSpPr>
            <p:sp>
              <p:nvSpPr>
                <p:cNvPr id="19574" name="Text Box 98"/>
                <p:cNvSpPr txBox="1">
                  <a:spLocks noChangeArrowheads="1"/>
                </p:cNvSpPr>
                <p:nvPr/>
              </p:nvSpPr>
              <p:spPr bwMode="auto">
                <a:xfrm>
                  <a:off x="1203" y="12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X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75" name="Text Box 99"/>
                <p:cNvSpPr txBox="1">
                  <a:spLocks noChangeArrowheads="1"/>
                </p:cNvSpPr>
                <p:nvPr/>
              </p:nvSpPr>
              <p:spPr bwMode="auto">
                <a:xfrm>
                  <a:off x="1388" y="1383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600">
                      <a:latin typeface="Times New Roman" panose="02020603050405020304" pitchFamily="18" charset="0"/>
                    </a:rPr>
                    <a:t>0</a:t>
                  </a:r>
                  <a:endParaRPr lang="zh-CN" altLang="en-US" sz="16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9561" name="Group 100"/>
              <p:cNvGrpSpPr/>
              <p:nvPr/>
            </p:nvGrpSpPr>
            <p:grpSpPr bwMode="auto">
              <a:xfrm>
                <a:off x="1203" y="2496"/>
                <a:ext cx="412" cy="295"/>
                <a:chOff x="1203" y="2496"/>
                <a:chExt cx="412" cy="295"/>
              </a:xfrm>
            </p:grpSpPr>
            <p:sp>
              <p:nvSpPr>
                <p:cNvPr id="19572" name="Text Box 101"/>
                <p:cNvSpPr txBox="1">
                  <a:spLocks noChangeArrowheads="1"/>
                </p:cNvSpPr>
                <p:nvPr/>
              </p:nvSpPr>
              <p:spPr bwMode="auto">
                <a:xfrm>
                  <a:off x="1203" y="24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X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73" name="Text Box 102"/>
                <p:cNvSpPr txBox="1">
                  <a:spLocks noChangeArrowheads="1"/>
                </p:cNvSpPr>
                <p:nvPr/>
              </p:nvSpPr>
              <p:spPr bwMode="auto">
                <a:xfrm>
                  <a:off x="1387" y="2599"/>
                  <a:ext cx="228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1400">
                      <a:latin typeface="Times New Roman" panose="02020603050405020304" pitchFamily="18" charset="0"/>
                    </a:rPr>
                    <a:t>31</a:t>
                  </a:r>
                  <a:endParaRPr lang="zh-CN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9562" name="Text Box 103"/>
              <p:cNvSpPr txBox="1">
                <a:spLocks noChangeArrowheads="1"/>
              </p:cNvSpPr>
              <p:nvPr/>
            </p:nvSpPr>
            <p:spPr bwMode="auto">
              <a:xfrm>
                <a:off x="1388" y="1392"/>
                <a:ext cx="116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63" name="Text Box 104"/>
              <p:cNvSpPr txBox="1">
                <a:spLocks noChangeArrowheads="1"/>
              </p:cNvSpPr>
              <p:nvPr/>
            </p:nvSpPr>
            <p:spPr bwMode="auto">
              <a:xfrm>
                <a:off x="5444" y="2992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64" name="Freeform 105"/>
              <p:cNvSpPr/>
              <p:nvPr/>
            </p:nvSpPr>
            <p:spPr bwMode="auto">
              <a:xfrm>
                <a:off x="1581" y="2367"/>
                <a:ext cx="365" cy="1"/>
              </a:xfrm>
              <a:custGeom>
                <a:avLst/>
                <a:gdLst>
                  <a:gd name="T0" fmla="*/ 365 w 365"/>
                  <a:gd name="T1" fmla="*/ 1 h 1"/>
                  <a:gd name="T2" fmla="*/ 0 w 36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" h="1">
                    <a:moveTo>
                      <a:pt x="365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65" name="Freeform 106"/>
              <p:cNvSpPr/>
              <p:nvPr/>
            </p:nvSpPr>
            <p:spPr bwMode="auto">
              <a:xfrm>
                <a:off x="5440" y="3306"/>
                <a:ext cx="259" cy="1"/>
              </a:xfrm>
              <a:custGeom>
                <a:avLst/>
                <a:gdLst>
                  <a:gd name="T0" fmla="*/ 0 w 258"/>
                  <a:gd name="T1" fmla="*/ 1 h 1"/>
                  <a:gd name="T2" fmla="*/ 260 w 25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8" h="1">
                    <a:moveTo>
                      <a:pt x="0" y="1"/>
                    </a:moveTo>
                    <a:lnTo>
                      <a:pt x="25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66" name="Freeform 107"/>
              <p:cNvSpPr/>
              <p:nvPr/>
            </p:nvSpPr>
            <p:spPr bwMode="auto">
              <a:xfrm rot="10800000">
                <a:off x="4331" y="2368"/>
                <a:ext cx="334" cy="1"/>
              </a:xfrm>
              <a:custGeom>
                <a:avLst/>
                <a:gdLst>
                  <a:gd name="T0" fmla="*/ 335 w 333"/>
                  <a:gd name="T1" fmla="*/ 0 h 1"/>
                  <a:gd name="T2" fmla="*/ 0 w 33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3" h="1">
                    <a:moveTo>
                      <a:pt x="333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67" name="Freeform 108"/>
              <p:cNvSpPr/>
              <p:nvPr/>
            </p:nvSpPr>
            <p:spPr bwMode="auto">
              <a:xfrm>
                <a:off x="3405" y="2367"/>
                <a:ext cx="321" cy="1"/>
              </a:xfrm>
              <a:custGeom>
                <a:avLst/>
                <a:gdLst>
                  <a:gd name="T0" fmla="*/ 321 w 321"/>
                  <a:gd name="T1" fmla="*/ 0 h 1"/>
                  <a:gd name="T2" fmla="*/ 0 w 32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1" h="1">
                    <a:moveTo>
                      <a:pt x="32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68" name="Line 109"/>
              <p:cNvSpPr>
                <a:spLocks noChangeShapeType="1"/>
              </p:cNvSpPr>
              <p:nvPr/>
            </p:nvSpPr>
            <p:spPr bwMode="auto">
              <a:xfrm flipV="1">
                <a:off x="5109" y="3444"/>
                <a:ext cx="0" cy="33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569" name="Text Box 110"/>
              <p:cNvSpPr txBox="1">
                <a:spLocks noChangeArrowheads="1"/>
              </p:cNvSpPr>
              <p:nvPr/>
            </p:nvSpPr>
            <p:spPr bwMode="auto">
              <a:xfrm>
                <a:off x="4821" y="3772"/>
                <a:ext cx="74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读/写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70" name="Text Box 111"/>
              <p:cNvSpPr txBox="1">
                <a:spLocks noChangeArrowheads="1"/>
              </p:cNvSpPr>
              <p:nvPr/>
            </p:nvSpPr>
            <p:spPr bwMode="auto">
              <a:xfrm>
                <a:off x="3024" y="1034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71" name="Text Box 112"/>
              <p:cNvSpPr txBox="1">
                <a:spLocks noChangeArrowheads="1"/>
              </p:cNvSpPr>
              <p:nvPr/>
            </p:nvSpPr>
            <p:spPr bwMode="auto">
              <a:xfrm>
                <a:off x="3024" y="2160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19459" name="Text Box 113"/>
          <p:cNvSpPr txBox="1">
            <a:spLocks noChangeArrowheads="1"/>
          </p:cNvSpPr>
          <p:nvPr/>
        </p:nvSpPr>
        <p:spPr bwMode="auto">
          <a:xfrm>
            <a:off x="217873" y="96840"/>
            <a:ext cx="22082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(2) 重合法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grpSp>
        <p:nvGrpSpPr>
          <p:cNvPr id="207987" name="Group 115"/>
          <p:cNvGrpSpPr/>
          <p:nvPr/>
        </p:nvGrpSpPr>
        <p:grpSpPr bwMode="auto">
          <a:xfrm>
            <a:off x="2112392" y="1227361"/>
            <a:ext cx="6229350" cy="5376863"/>
            <a:chOff x="439" y="945"/>
            <a:chExt cx="3924" cy="3387"/>
          </a:xfrm>
        </p:grpSpPr>
        <p:grpSp>
          <p:nvGrpSpPr>
            <p:cNvPr id="19495" name="Group 116"/>
            <p:cNvGrpSpPr/>
            <p:nvPr/>
          </p:nvGrpSpPr>
          <p:grpSpPr bwMode="auto">
            <a:xfrm>
              <a:off x="2195" y="4044"/>
              <a:ext cx="2168" cy="288"/>
              <a:chOff x="2147" y="3989"/>
              <a:chExt cx="2168" cy="288"/>
            </a:xfrm>
          </p:grpSpPr>
          <p:sp>
            <p:nvSpPr>
              <p:cNvPr id="19503" name="Text Box 117"/>
              <p:cNvSpPr txBox="1">
                <a:spLocks noChangeArrowheads="1"/>
              </p:cNvSpPr>
              <p:nvPr/>
            </p:nvSpPr>
            <p:spPr bwMode="auto">
              <a:xfrm>
                <a:off x="2147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04" name="Text Box 118"/>
              <p:cNvSpPr txBox="1">
                <a:spLocks noChangeArrowheads="1"/>
              </p:cNvSpPr>
              <p:nvPr/>
            </p:nvSpPr>
            <p:spPr bwMode="auto">
              <a:xfrm>
                <a:off x="2642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05" name="Text Box 119"/>
              <p:cNvSpPr txBox="1">
                <a:spLocks noChangeArrowheads="1"/>
              </p:cNvSpPr>
              <p:nvPr/>
            </p:nvSpPr>
            <p:spPr bwMode="auto">
              <a:xfrm>
                <a:off x="3125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06" name="Text Box 120"/>
              <p:cNvSpPr txBox="1">
                <a:spLocks noChangeArrowheads="1"/>
              </p:cNvSpPr>
              <p:nvPr/>
            </p:nvSpPr>
            <p:spPr bwMode="auto">
              <a:xfrm>
                <a:off x="3620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07" name="Text Box 121"/>
              <p:cNvSpPr txBox="1">
                <a:spLocks noChangeArrowheads="1"/>
              </p:cNvSpPr>
              <p:nvPr/>
            </p:nvSpPr>
            <p:spPr bwMode="auto">
              <a:xfrm>
                <a:off x="4103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9496" name="Group 122"/>
            <p:cNvGrpSpPr/>
            <p:nvPr/>
          </p:nvGrpSpPr>
          <p:grpSpPr bwMode="auto">
            <a:xfrm>
              <a:off x="439" y="945"/>
              <a:ext cx="224" cy="2120"/>
              <a:chOff x="439" y="757"/>
              <a:chExt cx="224" cy="2120"/>
            </a:xfrm>
          </p:grpSpPr>
          <p:grpSp>
            <p:nvGrpSpPr>
              <p:cNvPr id="19497" name="Group 123"/>
              <p:cNvGrpSpPr/>
              <p:nvPr/>
            </p:nvGrpSpPr>
            <p:grpSpPr bwMode="auto">
              <a:xfrm>
                <a:off x="439" y="1203"/>
                <a:ext cx="212" cy="1674"/>
                <a:chOff x="439" y="1203"/>
                <a:chExt cx="212" cy="1674"/>
              </a:xfrm>
            </p:grpSpPr>
            <p:sp>
              <p:nvSpPr>
                <p:cNvPr id="19499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39" y="1203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00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39" y="1673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01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39" y="2119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502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39" y="2589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9498" name="Text Box 128"/>
              <p:cNvSpPr txBox="1">
                <a:spLocks noChangeArrowheads="1"/>
              </p:cNvSpPr>
              <p:nvPr/>
            </p:nvSpPr>
            <p:spPr bwMode="auto">
              <a:xfrm>
                <a:off x="451" y="757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08001" name="Freeform 129"/>
          <p:cNvSpPr/>
          <p:nvPr/>
        </p:nvSpPr>
        <p:spPr bwMode="auto">
          <a:xfrm>
            <a:off x="5339779" y="1619474"/>
            <a:ext cx="660400" cy="2935287"/>
          </a:xfrm>
          <a:custGeom>
            <a:avLst/>
            <a:gdLst>
              <a:gd name="T0" fmla="*/ 1043344688 w 416"/>
              <a:gd name="T1" fmla="*/ 0 h 1849"/>
              <a:gd name="T2" fmla="*/ 1043344688 w 416"/>
              <a:gd name="T3" fmla="*/ 2519362 h 1849"/>
              <a:gd name="T4" fmla="*/ 1048385000 w 416"/>
              <a:gd name="T5" fmla="*/ 2147483646 h 1849"/>
              <a:gd name="T6" fmla="*/ 0 w 416"/>
              <a:gd name="T7" fmla="*/ 2147483646 h 184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16" h="1849">
                <a:moveTo>
                  <a:pt x="414" y="0"/>
                </a:moveTo>
                <a:lnTo>
                  <a:pt x="414" y="1"/>
                </a:lnTo>
                <a:lnTo>
                  <a:pt x="416" y="1848"/>
                </a:lnTo>
                <a:lnTo>
                  <a:pt x="0" y="1849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08002" name="Group 130"/>
          <p:cNvGrpSpPr/>
          <p:nvPr/>
        </p:nvGrpSpPr>
        <p:grpSpPr bwMode="auto">
          <a:xfrm>
            <a:off x="4506343" y="1357535"/>
            <a:ext cx="3760787" cy="2420938"/>
            <a:chOff x="1947" y="1008"/>
            <a:chExt cx="2369" cy="1525"/>
          </a:xfrm>
        </p:grpSpPr>
        <p:grpSp>
          <p:nvGrpSpPr>
            <p:cNvPr id="19488" name="Group 131"/>
            <p:cNvGrpSpPr/>
            <p:nvPr/>
          </p:nvGrpSpPr>
          <p:grpSpPr bwMode="auto">
            <a:xfrm>
              <a:off x="1947" y="1008"/>
              <a:ext cx="2369" cy="1525"/>
              <a:chOff x="1953" y="1008"/>
              <a:chExt cx="2369" cy="1525"/>
            </a:xfrm>
          </p:grpSpPr>
          <p:grpSp>
            <p:nvGrpSpPr>
              <p:cNvPr id="19490" name="Group 132"/>
              <p:cNvGrpSpPr/>
              <p:nvPr/>
            </p:nvGrpSpPr>
            <p:grpSpPr bwMode="auto">
              <a:xfrm>
                <a:off x="1953" y="1008"/>
                <a:ext cx="2369" cy="1525"/>
                <a:chOff x="1953" y="1008"/>
                <a:chExt cx="2369" cy="1525"/>
              </a:xfrm>
            </p:grpSpPr>
            <p:sp>
              <p:nvSpPr>
                <p:cNvPr id="19492" name="Rectangle 133"/>
                <p:cNvSpPr>
                  <a:spLocks noChangeArrowheads="1"/>
                </p:cNvSpPr>
                <p:nvPr/>
              </p:nvSpPr>
              <p:spPr bwMode="auto">
                <a:xfrm>
                  <a:off x="1953" y="1008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zh-CN" altLang="en-US" sz="28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0,0</a:t>
                  </a:r>
                  <a:endParaRPr lang="zh-CN" altLang="en-US" sz="28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493" name="Rectangle 134"/>
                <p:cNvSpPr>
                  <a:spLocks noChangeArrowheads="1"/>
                </p:cNvSpPr>
                <p:nvPr/>
              </p:nvSpPr>
              <p:spPr bwMode="auto">
                <a:xfrm>
                  <a:off x="1953" y="2201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zh-CN" altLang="en-US" sz="24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31,0</a:t>
                  </a:r>
                  <a:endParaRPr lang="zh-CN" altLang="en-US" sz="24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494" name="Rectangle 135"/>
                <p:cNvSpPr>
                  <a:spLocks noChangeArrowheads="1"/>
                </p:cNvSpPr>
                <p:nvPr/>
              </p:nvSpPr>
              <p:spPr bwMode="auto">
                <a:xfrm>
                  <a:off x="3737" y="1020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zh-CN" altLang="en-US" sz="24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0,31</a:t>
                  </a:r>
                  <a:endParaRPr lang="zh-CN" altLang="en-US" sz="24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9491" name="Text Box 136"/>
              <p:cNvSpPr txBox="1">
                <a:spLocks noChangeArrowheads="1"/>
              </p:cNvSpPr>
              <p:nvPr/>
            </p:nvSpPr>
            <p:spPr bwMode="auto">
              <a:xfrm rot="5400000">
                <a:off x="2145" y="1693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9489" name="Text Box 137"/>
            <p:cNvSpPr txBox="1">
              <a:spLocks noChangeArrowheads="1"/>
            </p:cNvSpPr>
            <p:nvPr/>
          </p:nvSpPr>
          <p:spPr bwMode="auto">
            <a:xfrm>
              <a:off x="3024" y="1033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8010" name="Group 138"/>
          <p:cNvGrpSpPr/>
          <p:nvPr/>
        </p:nvGrpSpPr>
        <p:grpSpPr bwMode="auto">
          <a:xfrm>
            <a:off x="9092629" y="4507136"/>
            <a:ext cx="1371600" cy="728663"/>
            <a:chOff x="4836" y="2997"/>
            <a:chExt cx="864" cy="459"/>
          </a:xfrm>
        </p:grpSpPr>
        <p:sp>
          <p:nvSpPr>
            <p:cNvPr id="19484" name="Rectangle 139"/>
            <p:cNvSpPr>
              <a:spLocks noChangeArrowheads="1"/>
            </p:cNvSpPr>
            <p:nvPr/>
          </p:nvSpPr>
          <p:spPr bwMode="auto">
            <a:xfrm>
              <a:off x="4836" y="3088"/>
              <a:ext cx="588" cy="368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I/O</a:t>
              </a:r>
              <a:endParaRPr lang="en-US" altLang="zh-CN" sz="24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19485" name="Group 140"/>
            <p:cNvGrpSpPr/>
            <p:nvPr/>
          </p:nvGrpSpPr>
          <p:grpSpPr bwMode="auto">
            <a:xfrm>
              <a:off x="5441" y="2997"/>
              <a:ext cx="259" cy="315"/>
              <a:chOff x="5441" y="2983"/>
              <a:chExt cx="259" cy="315"/>
            </a:xfrm>
          </p:grpSpPr>
          <p:sp>
            <p:nvSpPr>
              <p:cNvPr id="19486" name="Freeform 141"/>
              <p:cNvSpPr/>
              <p:nvPr/>
            </p:nvSpPr>
            <p:spPr bwMode="auto">
              <a:xfrm>
                <a:off x="5441" y="3297"/>
                <a:ext cx="258" cy="1"/>
              </a:xfrm>
              <a:custGeom>
                <a:avLst/>
                <a:gdLst>
                  <a:gd name="T0" fmla="*/ 0 w 258"/>
                  <a:gd name="T1" fmla="*/ 1 h 1"/>
                  <a:gd name="T2" fmla="*/ 258 w 25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8" h="1">
                    <a:moveTo>
                      <a:pt x="0" y="1"/>
                    </a:moveTo>
                    <a:lnTo>
                      <a:pt x="258" y="0"/>
                    </a:lnTo>
                  </a:path>
                </a:pathLst>
              </a:custGeom>
              <a:solidFill>
                <a:schemeClr val="folHlink"/>
              </a:solidFill>
              <a:ln w="38100" cmpd="sng">
                <a:solidFill>
                  <a:schemeClr val="folHlink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87" name="Text Box 142"/>
              <p:cNvSpPr txBox="1">
                <a:spLocks noChangeArrowheads="1"/>
              </p:cNvSpPr>
              <p:nvPr/>
            </p:nvSpPr>
            <p:spPr bwMode="auto">
              <a:xfrm>
                <a:off x="5445" y="298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08015" name="Freeform 143"/>
          <p:cNvSpPr/>
          <p:nvPr/>
        </p:nvSpPr>
        <p:spPr bwMode="auto">
          <a:xfrm>
            <a:off x="5339779" y="4702399"/>
            <a:ext cx="3746500" cy="268287"/>
          </a:xfrm>
          <a:custGeom>
            <a:avLst/>
            <a:gdLst>
              <a:gd name="T0" fmla="*/ 0 w 2360"/>
              <a:gd name="T1" fmla="*/ 0 h 169"/>
              <a:gd name="T2" fmla="*/ 1055946263 w 2360"/>
              <a:gd name="T3" fmla="*/ 5040303 h 169"/>
              <a:gd name="T4" fmla="*/ 1050905950 w 2360"/>
              <a:gd name="T5" fmla="*/ 423385461 h 169"/>
              <a:gd name="T6" fmla="*/ 2147483646 w 2360"/>
              <a:gd name="T7" fmla="*/ 425904819 h 1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60" h="169">
                <a:moveTo>
                  <a:pt x="0" y="0"/>
                </a:moveTo>
                <a:lnTo>
                  <a:pt x="419" y="2"/>
                </a:lnTo>
                <a:lnTo>
                  <a:pt x="417" y="168"/>
                </a:lnTo>
                <a:lnTo>
                  <a:pt x="2360" y="169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08016" name="Group 144"/>
          <p:cNvGrpSpPr/>
          <p:nvPr/>
        </p:nvGrpSpPr>
        <p:grpSpPr bwMode="auto">
          <a:xfrm>
            <a:off x="3180779" y="1882998"/>
            <a:ext cx="4635500" cy="3522662"/>
            <a:chOff x="1112" y="1339"/>
            <a:chExt cx="2920" cy="2219"/>
          </a:xfrm>
        </p:grpSpPr>
        <p:grpSp>
          <p:nvGrpSpPr>
            <p:cNvPr id="19473" name="Group 145"/>
            <p:cNvGrpSpPr/>
            <p:nvPr/>
          </p:nvGrpSpPr>
          <p:grpSpPr bwMode="auto">
            <a:xfrm>
              <a:off x="1112" y="1339"/>
              <a:ext cx="2920" cy="2219"/>
              <a:chOff x="1112" y="1339"/>
              <a:chExt cx="2920" cy="2219"/>
            </a:xfrm>
          </p:grpSpPr>
          <p:sp>
            <p:nvSpPr>
              <p:cNvPr id="19477" name="Freeform 146"/>
              <p:cNvSpPr/>
              <p:nvPr/>
            </p:nvSpPr>
            <p:spPr bwMode="auto">
              <a:xfrm>
                <a:off x="1112" y="1348"/>
                <a:ext cx="2920" cy="232"/>
              </a:xfrm>
              <a:custGeom>
                <a:avLst/>
                <a:gdLst>
                  <a:gd name="T0" fmla="*/ 0 w 2920"/>
                  <a:gd name="T1" fmla="*/ 232 h 232"/>
                  <a:gd name="T2" fmla="*/ 2920 w 2920"/>
                  <a:gd name="T3" fmla="*/ 232 h 232"/>
                  <a:gd name="T4" fmla="*/ 2920 w 2920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20" h="232">
                    <a:moveTo>
                      <a:pt x="0" y="232"/>
                    </a:moveTo>
                    <a:lnTo>
                      <a:pt x="2920" y="232"/>
                    </a:lnTo>
                    <a:lnTo>
                      <a:pt x="2920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78" name="Freeform 147"/>
              <p:cNvSpPr/>
              <p:nvPr/>
            </p:nvSpPr>
            <p:spPr bwMode="auto">
              <a:xfrm>
                <a:off x="2233" y="1339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479" name="Group 148"/>
              <p:cNvGrpSpPr/>
              <p:nvPr/>
            </p:nvGrpSpPr>
            <p:grpSpPr bwMode="auto">
              <a:xfrm>
                <a:off x="2025" y="2943"/>
                <a:ext cx="49" cy="252"/>
                <a:chOff x="2025" y="2943"/>
                <a:chExt cx="49" cy="252"/>
              </a:xfrm>
            </p:grpSpPr>
            <p:sp>
              <p:nvSpPr>
                <p:cNvPr id="19482" name="Freeform 149"/>
                <p:cNvSpPr/>
                <p:nvPr/>
              </p:nvSpPr>
              <p:spPr bwMode="auto">
                <a:xfrm>
                  <a:off x="2025" y="2943"/>
                  <a:ext cx="1" cy="252"/>
                </a:xfrm>
                <a:custGeom>
                  <a:avLst/>
                  <a:gdLst>
                    <a:gd name="T0" fmla="*/ 0 w 1"/>
                    <a:gd name="T1" fmla="*/ 252 h 252"/>
                    <a:gd name="T2" fmla="*/ 0 w 1"/>
                    <a:gd name="T3" fmla="*/ 0 h 25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52">
                      <a:moveTo>
                        <a:pt x="0" y="25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9483" name="Freeform 150"/>
                <p:cNvSpPr/>
                <p:nvPr/>
              </p:nvSpPr>
              <p:spPr bwMode="auto">
                <a:xfrm>
                  <a:off x="2073" y="2985"/>
                  <a:ext cx="1" cy="162"/>
                </a:xfrm>
                <a:custGeom>
                  <a:avLst/>
                  <a:gdLst>
                    <a:gd name="T0" fmla="*/ 0 w 1"/>
                    <a:gd name="T1" fmla="*/ 162 h 162"/>
                    <a:gd name="T2" fmla="*/ 0 w 1"/>
                    <a:gd name="T3" fmla="*/ 0 h 16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2">
                      <a:moveTo>
                        <a:pt x="0" y="16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9480" name="Freeform 151"/>
              <p:cNvSpPr/>
              <p:nvPr/>
            </p:nvSpPr>
            <p:spPr bwMode="auto">
              <a:xfrm>
                <a:off x="2066" y="3068"/>
                <a:ext cx="329" cy="1"/>
              </a:xfrm>
              <a:custGeom>
                <a:avLst/>
                <a:gdLst>
                  <a:gd name="T0" fmla="*/ 0 w 329"/>
                  <a:gd name="T1" fmla="*/ 0 h 1"/>
                  <a:gd name="T2" fmla="*/ 329 w 329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81" name="Freeform 152"/>
              <p:cNvSpPr/>
              <p:nvPr/>
            </p:nvSpPr>
            <p:spPr bwMode="auto">
              <a:xfrm>
                <a:off x="2255" y="3063"/>
                <a:ext cx="1" cy="495"/>
              </a:xfrm>
              <a:custGeom>
                <a:avLst/>
                <a:gdLst>
                  <a:gd name="T0" fmla="*/ 0 w 1"/>
                  <a:gd name="T1" fmla="*/ 0 h 495"/>
                  <a:gd name="T2" fmla="*/ 0 w 1"/>
                  <a:gd name="T3" fmla="*/ 495 h 4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95">
                    <a:moveTo>
                      <a:pt x="0" y="0"/>
                    </a:moveTo>
                    <a:lnTo>
                      <a:pt x="0" y="495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9474" name="Group 153"/>
            <p:cNvGrpSpPr/>
            <p:nvPr/>
          </p:nvGrpSpPr>
          <p:grpSpPr bwMode="auto">
            <a:xfrm>
              <a:off x="2412" y="2946"/>
              <a:ext cx="49" cy="246"/>
              <a:chOff x="2412" y="2946"/>
              <a:chExt cx="49" cy="246"/>
            </a:xfrm>
          </p:grpSpPr>
          <p:sp>
            <p:nvSpPr>
              <p:cNvPr id="19475" name="Freeform 154"/>
              <p:cNvSpPr/>
              <p:nvPr/>
            </p:nvSpPr>
            <p:spPr bwMode="auto">
              <a:xfrm>
                <a:off x="2460" y="2946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76" name="Freeform 155"/>
              <p:cNvSpPr/>
              <p:nvPr/>
            </p:nvSpPr>
            <p:spPr bwMode="auto">
              <a:xfrm>
                <a:off x="2412" y="2988"/>
                <a:ext cx="1" cy="156"/>
              </a:xfrm>
              <a:custGeom>
                <a:avLst/>
                <a:gdLst>
                  <a:gd name="T0" fmla="*/ 0 w 1"/>
                  <a:gd name="T1" fmla="*/ 0 h 156"/>
                  <a:gd name="T2" fmla="*/ 0 w 1"/>
                  <a:gd name="T3" fmla="*/ 156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6">
                    <a:moveTo>
                      <a:pt x="0" y="0"/>
                    </a:moveTo>
                    <a:lnTo>
                      <a:pt x="0" y="15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08028" name="Freeform 156"/>
          <p:cNvSpPr/>
          <p:nvPr/>
        </p:nvSpPr>
        <p:spPr bwMode="auto">
          <a:xfrm>
            <a:off x="5446143" y="1617885"/>
            <a:ext cx="593725" cy="1588"/>
          </a:xfrm>
          <a:custGeom>
            <a:avLst/>
            <a:gdLst>
              <a:gd name="T0" fmla="*/ 0 w 367"/>
              <a:gd name="T1" fmla="*/ 0 h 1"/>
              <a:gd name="T2" fmla="*/ 960516010 w 367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67" h="1">
                <a:moveTo>
                  <a:pt x="0" y="0"/>
                </a:moveTo>
                <a:lnTo>
                  <a:pt x="367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029" name="Rectangle 157"/>
          <p:cNvSpPr>
            <a:spLocks noChangeArrowheads="1"/>
          </p:cNvSpPr>
          <p:nvPr/>
        </p:nvSpPr>
        <p:spPr bwMode="auto">
          <a:xfrm>
            <a:off x="4501580" y="1357535"/>
            <a:ext cx="931863" cy="527050"/>
          </a:xfrm>
          <a:prstGeom prst="rect">
            <a:avLst/>
          </a:prstGeom>
          <a:solidFill>
            <a:srgbClr val="AA7D00"/>
          </a:solidFill>
          <a:ln w="38100">
            <a:solidFill>
              <a:srgbClr val="AA7D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0,0</a:t>
            </a:r>
            <a:endParaRPr lang="zh-CN" altLang="en-US" sz="2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08030" name="Group 158"/>
          <p:cNvGrpSpPr/>
          <p:nvPr/>
        </p:nvGrpSpPr>
        <p:grpSpPr bwMode="auto">
          <a:xfrm>
            <a:off x="9068817" y="5224685"/>
            <a:ext cx="1185862" cy="952500"/>
            <a:chOff x="4821" y="3444"/>
            <a:chExt cx="747" cy="600"/>
          </a:xfrm>
        </p:grpSpPr>
        <p:sp>
          <p:nvSpPr>
            <p:cNvPr id="19471" name="Text Box 159"/>
            <p:cNvSpPr txBox="1">
              <a:spLocks noChangeArrowheads="1"/>
            </p:cNvSpPr>
            <p:nvPr/>
          </p:nvSpPr>
          <p:spPr bwMode="auto">
            <a:xfrm>
              <a:off x="4821" y="3756"/>
              <a:ext cx="74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9472" name="Line 160"/>
            <p:cNvSpPr>
              <a:spLocks noChangeShapeType="1"/>
            </p:cNvSpPr>
            <p:nvPr/>
          </p:nvSpPr>
          <p:spPr bwMode="auto">
            <a:xfrm flipV="1">
              <a:off x="5109" y="3444"/>
              <a:ext cx="0" cy="33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7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207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208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08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8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208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208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208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" dur="500"/>
                                        <p:tgtEl>
                                          <p:spTgt spid="208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208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029" grpId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ext Box 2"/>
          <p:cNvSpPr txBox="1">
            <a:spLocks noChangeArrowheads="1"/>
          </p:cNvSpPr>
          <p:nvPr/>
        </p:nvSpPr>
        <p:spPr bwMode="auto">
          <a:xfrm>
            <a:off x="197112" y="175202"/>
            <a:ext cx="6341801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 三、随机存取存储器 ( </a:t>
            </a:r>
            <a:r>
              <a:rPr lang="en-US" altLang="zh-CN" sz="3600" dirty="0">
                <a:latin typeface="Times New Roman" panose="02020603050405020304" pitchFamily="18" charset="0"/>
              </a:rPr>
              <a:t>RAM ) </a:t>
            </a:r>
            <a:endParaRPr lang="en-US" altLang="zh-CN" sz="3600" dirty="0">
              <a:latin typeface="Times New Roman" panose="02020603050405020304" pitchFamily="18" charset="0"/>
            </a:endParaRPr>
          </a:p>
        </p:txBody>
      </p:sp>
      <p:sp>
        <p:nvSpPr>
          <p:cNvPr id="208899" name="Text Box 3"/>
          <p:cNvSpPr txBox="1">
            <a:spLocks noChangeArrowheads="1"/>
          </p:cNvSpPr>
          <p:nvPr/>
        </p:nvSpPr>
        <p:spPr bwMode="auto">
          <a:xfrm>
            <a:off x="2279650" y="1066800"/>
            <a:ext cx="45783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1. 静态 </a:t>
            </a:r>
            <a:r>
              <a:rPr lang="en-US" altLang="zh-CN" sz="3200">
                <a:latin typeface="Times New Roman" panose="02020603050405020304" pitchFamily="18" charset="0"/>
              </a:rPr>
              <a:t>RAM (SRAM)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08900" name="Text Box 4"/>
          <p:cNvSpPr txBox="1">
            <a:spLocks noChangeArrowheads="1"/>
          </p:cNvSpPr>
          <p:nvPr/>
        </p:nvSpPr>
        <p:spPr bwMode="auto">
          <a:xfrm>
            <a:off x="2743200" y="1752601"/>
            <a:ext cx="5105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 (1) 静态 </a:t>
            </a:r>
            <a:r>
              <a:rPr lang="en-US" altLang="zh-CN" sz="2800">
                <a:latin typeface="Times New Roman" panose="02020603050405020304" pitchFamily="18" charset="0"/>
              </a:rPr>
              <a:t>RAM </a:t>
            </a:r>
            <a:r>
              <a:rPr lang="zh-CN" altLang="en-US" sz="2800">
                <a:latin typeface="Times New Roman" panose="02020603050405020304" pitchFamily="18" charset="0"/>
              </a:rPr>
              <a:t>基本电路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8901" name="Text Box 5"/>
          <p:cNvSpPr txBox="1">
            <a:spLocks noChangeArrowheads="1"/>
          </p:cNvSpPr>
          <p:nvPr/>
        </p:nvSpPr>
        <p:spPr bwMode="auto">
          <a:xfrm>
            <a:off x="7985125" y="6208713"/>
            <a:ext cx="21669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zh-CN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´ </a:t>
            </a:r>
            <a:r>
              <a:rPr lang="zh-CN" altLang="en-US" sz="2400">
                <a:latin typeface="Times New Roman" panose="02020603050405020304" pitchFamily="18" charset="0"/>
              </a:rPr>
              <a:t>触发器非端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08902" name="Group 6"/>
          <p:cNvGrpSpPr/>
          <p:nvPr/>
        </p:nvGrpSpPr>
        <p:grpSpPr bwMode="auto">
          <a:xfrm>
            <a:off x="7848601" y="2332038"/>
            <a:ext cx="2301875" cy="481012"/>
            <a:chOff x="4070" y="1034"/>
            <a:chExt cx="1450" cy="303"/>
          </a:xfrm>
        </p:grpSpPr>
        <p:grpSp>
          <p:nvGrpSpPr>
            <p:cNvPr id="20578" name="Group 7"/>
            <p:cNvGrpSpPr/>
            <p:nvPr/>
          </p:nvGrpSpPr>
          <p:grpSpPr bwMode="auto">
            <a:xfrm>
              <a:off x="4070" y="1034"/>
              <a:ext cx="338" cy="297"/>
              <a:chOff x="4070" y="1034"/>
              <a:chExt cx="338" cy="297"/>
            </a:xfrm>
          </p:grpSpPr>
          <p:sp>
            <p:nvSpPr>
              <p:cNvPr id="20584" name="Rectangle 8"/>
              <p:cNvSpPr>
                <a:spLocks noChangeArrowheads="1"/>
              </p:cNvSpPr>
              <p:nvPr/>
            </p:nvSpPr>
            <p:spPr bwMode="auto">
              <a:xfrm>
                <a:off x="4228" y="1119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1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85" name="Text Box 9"/>
              <p:cNvSpPr txBox="1">
                <a:spLocks noChangeArrowheads="1"/>
              </p:cNvSpPr>
              <p:nvPr/>
            </p:nvSpPr>
            <p:spPr bwMode="auto">
              <a:xfrm>
                <a:off x="4070" y="103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0579" name="Group 10"/>
            <p:cNvGrpSpPr/>
            <p:nvPr/>
          </p:nvGrpSpPr>
          <p:grpSpPr bwMode="auto">
            <a:xfrm>
              <a:off x="4502" y="1040"/>
              <a:ext cx="338" cy="297"/>
              <a:chOff x="4070" y="1034"/>
              <a:chExt cx="338" cy="297"/>
            </a:xfrm>
          </p:grpSpPr>
          <p:sp>
            <p:nvSpPr>
              <p:cNvPr id="20582" name="Rectangle 11"/>
              <p:cNvSpPr>
                <a:spLocks noChangeArrowheads="1"/>
              </p:cNvSpPr>
              <p:nvPr/>
            </p:nvSpPr>
            <p:spPr bwMode="auto">
              <a:xfrm>
                <a:off x="4228" y="1119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4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83" name="Text Box 12"/>
              <p:cNvSpPr txBox="1">
                <a:spLocks noChangeArrowheads="1"/>
              </p:cNvSpPr>
              <p:nvPr/>
            </p:nvSpPr>
            <p:spPr bwMode="auto">
              <a:xfrm>
                <a:off x="4070" y="103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0580" name="Text Box 13"/>
            <p:cNvSpPr txBox="1">
              <a:spLocks noChangeArrowheads="1"/>
            </p:cNvSpPr>
            <p:nvPr/>
          </p:nvSpPr>
          <p:spPr bwMode="auto">
            <a:xfrm>
              <a:off x="4358" y="1034"/>
              <a:ext cx="22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Times New Roman" panose="02020603050405020304" pitchFamily="18" charset="0"/>
                </a:rPr>
                <a:t>~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581" name="Text Box 14"/>
            <p:cNvSpPr txBox="1">
              <a:spLocks noChangeArrowheads="1"/>
            </p:cNvSpPr>
            <p:nvPr/>
          </p:nvSpPr>
          <p:spPr bwMode="auto">
            <a:xfrm>
              <a:off x="4825" y="1041"/>
              <a:ext cx="69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触发器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8911" name="Group 15"/>
          <p:cNvGrpSpPr/>
          <p:nvPr/>
        </p:nvGrpSpPr>
        <p:grpSpPr bwMode="auto">
          <a:xfrm>
            <a:off x="7848601" y="3076576"/>
            <a:ext cx="2322513" cy="474663"/>
            <a:chOff x="5881" y="1761"/>
            <a:chExt cx="1463" cy="299"/>
          </a:xfrm>
        </p:grpSpPr>
        <p:grpSp>
          <p:nvGrpSpPr>
            <p:cNvPr id="20570" name="Group 16"/>
            <p:cNvGrpSpPr/>
            <p:nvPr/>
          </p:nvGrpSpPr>
          <p:grpSpPr bwMode="auto">
            <a:xfrm>
              <a:off x="5881" y="1769"/>
              <a:ext cx="338" cy="288"/>
              <a:chOff x="4032" y="1337"/>
              <a:chExt cx="338" cy="288"/>
            </a:xfrm>
          </p:grpSpPr>
          <p:sp>
            <p:nvSpPr>
              <p:cNvPr id="20576" name="Rectangle 17"/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5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77" name="Text Box 18"/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0571" name="Group 19"/>
            <p:cNvGrpSpPr/>
            <p:nvPr/>
          </p:nvGrpSpPr>
          <p:grpSpPr bwMode="auto">
            <a:xfrm>
              <a:off x="6323" y="1769"/>
              <a:ext cx="338" cy="291"/>
              <a:chOff x="4464" y="1337"/>
              <a:chExt cx="338" cy="291"/>
            </a:xfrm>
          </p:grpSpPr>
          <p:sp>
            <p:nvSpPr>
              <p:cNvPr id="20574" name="Text Box 20"/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75" name="Rectangle 21"/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6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0572" name="Text Box 22"/>
            <p:cNvSpPr txBox="1">
              <a:spLocks noChangeArrowheads="1"/>
            </p:cNvSpPr>
            <p:nvPr/>
          </p:nvSpPr>
          <p:spPr bwMode="auto">
            <a:xfrm>
              <a:off x="6169" y="1770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Times New Roman" panose="02020603050405020304" pitchFamily="18" charset="0"/>
                </a:rPr>
                <a:t>、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573" name="Text Box 23"/>
            <p:cNvSpPr txBox="1">
              <a:spLocks noChangeArrowheads="1"/>
            </p:cNvSpPr>
            <p:nvPr/>
          </p:nvSpPr>
          <p:spPr bwMode="auto">
            <a:xfrm>
              <a:off x="6649" y="1761"/>
              <a:ext cx="69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行开关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8920" name="Group 24"/>
          <p:cNvGrpSpPr/>
          <p:nvPr/>
        </p:nvGrpSpPr>
        <p:grpSpPr bwMode="auto">
          <a:xfrm>
            <a:off x="7848601" y="3790951"/>
            <a:ext cx="2322513" cy="474663"/>
            <a:chOff x="4201" y="1857"/>
            <a:chExt cx="1463" cy="299"/>
          </a:xfrm>
        </p:grpSpPr>
        <p:grpSp>
          <p:nvGrpSpPr>
            <p:cNvPr id="20562" name="Group 25"/>
            <p:cNvGrpSpPr/>
            <p:nvPr/>
          </p:nvGrpSpPr>
          <p:grpSpPr bwMode="auto">
            <a:xfrm>
              <a:off x="4201" y="1865"/>
              <a:ext cx="338" cy="288"/>
              <a:chOff x="4032" y="1337"/>
              <a:chExt cx="338" cy="288"/>
            </a:xfrm>
          </p:grpSpPr>
          <p:sp>
            <p:nvSpPr>
              <p:cNvPr id="20568" name="Rectangle 26"/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7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69" name="Text Box 27"/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0563" name="Group 28"/>
            <p:cNvGrpSpPr/>
            <p:nvPr/>
          </p:nvGrpSpPr>
          <p:grpSpPr bwMode="auto">
            <a:xfrm>
              <a:off x="4643" y="1865"/>
              <a:ext cx="338" cy="291"/>
              <a:chOff x="4464" y="1337"/>
              <a:chExt cx="338" cy="291"/>
            </a:xfrm>
          </p:grpSpPr>
          <p:sp>
            <p:nvSpPr>
              <p:cNvPr id="20566" name="Text Box 29"/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67" name="Rectangle 30"/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8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0564" name="Text Box 31"/>
            <p:cNvSpPr txBox="1">
              <a:spLocks noChangeArrowheads="1"/>
            </p:cNvSpPr>
            <p:nvPr/>
          </p:nvSpPr>
          <p:spPr bwMode="auto">
            <a:xfrm>
              <a:off x="4489" y="1866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Times New Roman" panose="02020603050405020304" pitchFamily="18" charset="0"/>
                </a:rPr>
                <a:t>、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565" name="Text Box 32"/>
            <p:cNvSpPr txBox="1">
              <a:spLocks noChangeArrowheads="1"/>
            </p:cNvSpPr>
            <p:nvPr/>
          </p:nvSpPr>
          <p:spPr bwMode="auto">
            <a:xfrm>
              <a:off x="4969" y="1857"/>
              <a:ext cx="69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列开关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08929" name="Group 33"/>
          <p:cNvGrpSpPr/>
          <p:nvPr/>
        </p:nvGrpSpPr>
        <p:grpSpPr bwMode="auto">
          <a:xfrm>
            <a:off x="7848600" y="4505326"/>
            <a:ext cx="2628900" cy="474663"/>
            <a:chOff x="4176" y="2193"/>
            <a:chExt cx="1656" cy="299"/>
          </a:xfrm>
        </p:grpSpPr>
        <p:grpSp>
          <p:nvGrpSpPr>
            <p:cNvPr id="20554" name="Group 34"/>
            <p:cNvGrpSpPr/>
            <p:nvPr/>
          </p:nvGrpSpPr>
          <p:grpSpPr bwMode="auto">
            <a:xfrm>
              <a:off x="4176" y="2201"/>
              <a:ext cx="338" cy="288"/>
              <a:chOff x="4032" y="1337"/>
              <a:chExt cx="338" cy="288"/>
            </a:xfrm>
          </p:grpSpPr>
          <p:sp>
            <p:nvSpPr>
              <p:cNvPr id="20560" name="Rectangle 35"/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7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61" name="Text Box 36"/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0555" name="Group 37"/>
            <p:cNvGrpSpPr/>
            <p:nvPr/>
          </p:nvGrpSpPr>
          <p:grpSpPr bwMode="auto">
            <a:xfrm>
              <a:off x="4618" y="2201"/>
              <a:ext cx="338" cy="291"/>
              <a:chOff x="4464" y="1337"/>
              <a:chExt cx="338" cy="291"/>
            </a:xfrm>
          </p:grpSpPr>
          <p:sp>
            <p:nvSpPr>
              <p:cNvPr id="20558" name="Text Box 38"/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559" name="Rectangle 39"/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8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0556" name="Text Box 40"/>
            <p:cNvSpPr txBox="1">
              <a:spLocks noChangeArrowheads="1"/>
            </p:cNvSpPr>
            <p:nvPr/>
          </p:nvSpPr>
          <p:spPr bwMode="auto">
            <a:xfrm>
              <a:off x="4464" y="2202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Times New Roman" panose="02020603050405020304" pitchFamily="18" charset="0"/>
                </a:rPr>
                <a:t>、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557" name="Text Box 41"/>
            <p:cNvSpPr txBox="1">
              <a:spLocks noChangeArrowheads="1"/>
            </p:cNvSpPr>
            <p:nvPr/>
          </p:nvSpPr>
          <p:spPr bwMode="auto">
            <a:xfrm>
              <a:off x="4944" y="2193"/>
              <a:ext cx="88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一列共用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08938" name="Text Box 42"/>
          <p:cNvSpPr txBox="1">
            <a:spLocks noChangeArrowheads="1"/>
          </p:cNvSpPr>
          <p:nvPr/>
        </p:nvSpPr>
        <p:spPr bwMode="auto">
          <a:xfrm>
            <a:off x="7985125" y="5461000"/>
            <a:ext cx="20891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 </a:t>
            </a:r>
            <a:r>
              <a:rPr lang="en-US" altLang="zh-CN" sz="2400" b="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触发器原端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grpSp>
        <p:nvGrpSpPr>
          <p:cNvPr id="208939" name="Group 43"/>
          <p:cNvGrpSpPr/>
          <p:nvPr/>
        </p:nvGrpSpPr>
        <p:grpSpPr bwMode="auto">
          <a:xfrm>
            <a:off x="1570038" y="2457450"/>
            <a:ext cx="6608762" cy="4281488"/>
            <a:chOff x="29" y="1548"/>
            <a:chExt cx="4163" cy="2697"/>
          </a:xfrm>
        </p:grpSpPr>
        <p:sp>
          <p:nvSpPr>
            <p:cNvPr id="20495" name="Rectangle 44"/>
            <p:cNvSpPr>
              <a:spLocks noChangeArrowheads="1"/>
            </p:cNvSpPr>
            <p:nvPr/>
          </p:nvSpPr>
          <p:spPr bwMode="auto">
            <a:xfrm>
              <a:off x="1431" y="1728"/>
              <a:ext cx="960" cy="38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0496" name="Text Box 45"/>
            <p:cNvSpPr txBox="1">
              <a:spLocks noChangeArrowheads="1"/>
            </p:cNvSpPr>
            <p:nvPr/>
          </p:nvSpPr>
          <p:spPr bwMode="auto">
            <a:xfrm>
              <a:off x="1526" y="1776"/>
              <a:ext cx="787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2400" b="0">
                  <a:latin typeface="Times New Roman" panose="02020603050405020304" pitchFamily="18" charset="0"/>
                </a:rPr>
                <a:t>   ~  </a:t>
              </a: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4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0497" name="Freeform 46"/>
            <p:cNvSpPr/>
            <p:nvPr/>
          </p:nvSpPr>
          <p:spPr bwMode="auto">
            <a:xfrm>
              <a:off x="2391" y="1920"/>
              <a:ext cx="318" cy="141"/>
            </a:xfrm>
            <a:custGeom>
              <a:avLst/>
              <a:gdLst>
                <a:gd name="T0" fmla="*/ 0 w 318"/>
                <a:gd name="T1" fmla="*/ 0 h 141"/>
                <a:gd name="T2" fmla="*/ 315 w 318"/>
                <a:gd name="T3" fmla="*/ 0 h 141"/>
                <a:gd name="T4" fmla="*/ 318 w 318"/>
                <a:gd name="T5" fmla="*/ 141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141">
                  <a:moveTo>
                    <a:pt x="0" y="0"/>
                  </a:moveTo>
                  <a:lnTo>
                    <a:pt x="315" y="0"/>
                  </a:lnTo>
                  <a:lnTo>
                    <a:pt x="318" y="14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498" name="Freeform 47"/>
            <p:cNvSpPr/>
            <p:nvPr/>
          </p:nvSpPr>
          <p:spPr bwMode="auto">
            <a:xfrm>
              <a:off x="1104" y="1920"/>
              <a:ext cx="327" cy="144"/>
            </a:xfrm>
            <a:custGeom>
              <a:avLst/>
              <a:gdLst>
                <a:gd name="T0" fmla="*/ 327 w 327"/>
                <a:gd name="T1" fmla="*/ 0 h 144"/>
                <a:gd name="T2" fmla="*/ 0 w 327"/>
                <a:gd name="T3" fmla="*/ 0 h 144"/>
                <a:gd name="T4" fmla="*/ 0 w 327"/>
                <a:gd name="T5" fmla="*/ 14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144">
                  <a:moveTo>
                    <a:pt x="327" y="0"/>
                  </a:moveTo>
                  <a:lnTo>
                    <a:pt x="0" y="0"/>
                  </a:lnTo>
                  <a:lnTo>
                    <a:pt x="0" y="1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499" name="Group 48"/>
            <p:cNvGrpSpPr/>
            <p:nvPr/>
          </p:nvGrpSpPr>
          <p:grpSpPr bwMode="auto">
            <a:xfrm>
              <a:off x="2634" y="2064"/>
              <a:ext cx="243" cy="48"/>
              <a:chOff x="3459" y="1296"/>
              <a:chExt cx="243" cy="48"/>
            </a:xfrm>
          </p:grpSpPr>
          <p:sp>
            <p:nvSpPr>
              <p:cNvPr id="20552" name="Line 49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553" name="Line 50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0500" name="Group 51"/>
            <p:cNvGrpSpPr/>
            <p:nvPr/>
          </p:nvGrpSpPr>
          <p:grpSpPr bwMode="auto">
            <a:xfrm>
              <a:off x="948" y="2064"/>
              <a:ext cx="243" cy="48"/>
              <a:chOff x="3459" y="1296"/>
              <a:chExt cx="243" cy="48"/>
            </a:xfrm>
          </p:grpSpPr>
          <p:sp>
            <p:nvSpPr>
              <p:cNvPr id="20550" name="Line 5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551" name="Line 5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0501" name="Group 54"/>
            <p:cNvGrpSpPr/>
            <p:nvPr/>
          </p:nvGrpSpPr>
          <p:grpSpPr bwMode="auto">
            <a:xfrm rot="5400000">
              <a:off x="2917" y="2772"/>
              <a:ext cx="243" cy="48"/>
              <a:chOff x="3459" y="1296"/>
              <a:chExt cx="243" cy="48"/>
            </a:xfrm>
          </p:grpSpPr>
          <p:sp>
            <p:nvSpPr>
              <p:cNvPr id="20548" name="Line 55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549" name="Line 56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0502" name="Group 57"/>
            <p:cNvGrpSpPr/>
            <p:nvPr/>
          </p:nvGrpSpPr>
          <p:grpSpPr bwMode="auto">
            <a:xfrm rot="-5400000">
              <a:off x="709" y="2772"/>
              <a:ext cx="243" cy="48"/>
              <a:chOff x="3459" y="1296"/>
              <a:chExt cx="243" cy="48"/>
            </a:xfrm>
          </p:grpSpPr>
          <p:sp>
            <p:nvSpPr>
              <p:cNvPr id="20546" name="Line 58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547" name="Line 59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503" name="Line 60"/>
            <p:cNvSpPr>
              <a:spLocks noChangeShapeType="1"/>
            </p:cNvSpPr>
            <p:nvPr/>
          </p:nvSpPr>
          <p:spPr bwMode="auto">
            <a:xfrm>
              <a:off x="855" y="2784"/>
              <a:ext cx="2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04" name="Freeform 61"/>
            <p:cNvSpPr/>
            <p:nvPr/>
          </p:nvSpPr>
          <p:spPr bwMode="auto">
            <a:xfrm>
              <a:off x="3063" y="2832"/>
              <a:ext cx="192" cy="672"/>
            </a:xfrm>
            <a:custGeom>
              <a:avLst/>
              <a:gdLst>
                <a:gd name="T0" fmla="*/ 0 w 192"/>
                <a:gd name="T1" fmla="*/ 0 h 672"/>
                <a:gd name="T2" fmla="*/ 192 w 192"/>
                <a:gd name="T3" fmla="*/ 0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05" name="AutoShape 62"/>
            <p:cNvSpPr>
              <a:spLocks noChangeArrowheads="1"/>
            </p:cNvSpPr>
            <p:nvPr/>
          </p:nvSpPr>
          <p:spPr bwMode="auto">
            <a:xfrm rot="5400000">
              <a:off x="2055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0506" name="Group 63"/>
            <p:cNvGrpSpPr/>
            <p:nvPr/>
          </p:nvGrpSpPr>
          <p:grpSpPr bwMode="auto">
            <a:xfrm rot="10800000">
              <a:off x="1335" y="3360"/>
              <a:ext cx="384" cy="288"/>
              <a:chOff x="1248" y="3648"/>
              <a:chExt cx="384" cy="288"/>
            </a:xfrm>
          </p:grpSpPr>
          <p:sp>
            <p:nvSpPr>
              <p:cNvPr id="20544" name="AutoShape 64"/>
              <p:cNvSpPr>
                <a:spLocks noChangeArrowheads="1"/>
              </p:cNvSpPr>
              <p:nvPr/>
            </p:nvSpPr>
            <p:spPr bwMode="auto">
              <a:xfrm rot="5400000">
                <a:off x="1248" y="3648"/>
                <a:ext cx="288" cy="288"/>
              </a:xfrm>
              <a:prstGeom prst="triangle">
                <a:avLst>
                  <a:gd name="adj" fmla="val 50000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0545" name="Oval 65"/>
              <p:cNvSpPr>
                <a:spLocks noChangeArrowheads="1"/>
              </p:cNvSpPr>
              <p:nvPr/>
            </p:nvSpPr>
            <p:spPr bwMode="auto">
              <a:xfrm>
                <a:off x="1536" y="3744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sp>
          <p:nvSpPr>
            <p:cNvPr id="20507" name="Line 66"/>
            <p:cNvSpPr>
              <a:spLocks noChangeShapeType="1"/>
            </p:cNvSpPr>
            <p:nvPr/>
          </p:nvSpPr>
          <p:spPr bwMode="auto">
            <a:xfrm>
              <a:off x="2343" y="3504"/>
              <a:ext cx="1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08" name="AutoShape 67"/>
            <p:cNvSpPr>
              <a:spLocks noChangeArrowheads="1"/>
            </p:cNvSpPr>
            <p:nvPr/>
          </p:nvSpPr>
          <p:spPr bwMode="auto">
            <a:xfrm rot="5400000">
              <a:off x="3447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0509" name="Line 68"/>
            <p:cNvSpPr>
              <a:spLocks noChangeShapeType="1"/>
            </p:cNvSpPr>
            <p:nvPr/>
          </p:nvSpPr>
          <p:spPr bwMode="auto">
            <a:xfrm>
              <a:off x="3735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0" name="Line 69"/>
            <p:cNvSpPr>
              <a:spLocks noChangeShapeType="1"/>
            </p:cNvSpPr>
            <p:nvPr/>
          </p:nvSpPr>
          <p:spPr bwMode="auto">
            <a:xfrm>
              <a:off x="1719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1" name="Line 70"/>
            <p:cNvSpPr>
              <a:spLocks noChangeShapeType="1"/>
            </p:cNvSpPr>
            <p:nvPr/>
          </p:nvSpPr>
          <p:spPr bwMode="auto">
            <a:xfrm>
              <a:off x="1888" y="3504"/>
              <a:ext cx="0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2" name="Line 71"/>
            <p:cNvSpPr>
              <a:spLocks noChangeShapeType="1"/>
            </p:cNvSpPr>
            <p:nvPr/>
          </p:nvSpPr>
          <p:spPr bwMode="auto">
            <a:xfrm flipV="1">
              <a:off x="2199" y="3576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3" name="Freeform 72"/>
            <p:cNvSpPr/>
            <p:nvPr/>
          </p:nvSpPr>
          <p:spPr bwMode="auto">
            <a:xfrm>
              <a:off x="1575" y="3586"/>
              <a:ext cx="624" cy="314"/>
            </a:xfrm>
            <a:custGeom>
              <a:avLst/>
              <a:gdLst>
                <a:gd name="T0" fmla="*/ 2 w 576"/>
                <a:gd name="T1" fmla="*/ 0 h 314"/>
                <a:gd name="T2" fmla="*/ 0 w 576"/>
                <a:gd name="T3" fmla="*/ 314 h 314"/>
                <a:gd name="T4" fmla="*/ 676 w 576"/>
                <a:gd name="T5" fmla="*/ 314 h 3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6" h="314">
                  <a:moveTo>
                    <a:pt x="2" y="0"/>
                  </a:moveTo>
                  <a:lnTo>
                    <a:pt x="0" y="314"/>
                  </a:lnTo>
                  <a:lnTo>
                    <a:pt x="576" y="31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4" name="Freeform 73"/>
            <p:cNvSpPr/>
            <p:nvPr/>
          </p:nvSpPr>
          <p:spPr bwMode="auto">
            <a:xfrm>
              <a:off x="567" y="2832"/>
              <a:ext cx="768" cy="672"/>
            </a:xfrm>
            <a:custGeom>
              <a:avLst/>
              <a:gdLst>
                <a:gd name="T0" fmla="*/ 240 w 768"/>
                <a:gd name="T1" fmla="*/ 0 h 720"/>
                <a:gd name="T2" fmla="*/ 0 w 768"/>
                <a:gd name="T3" fmla="*/ 0 h 720"/>
                <a:gd name="T4" fmla="*/ 0 w 768"/>
                <a:gd name="T5" fmla="*/ 627 h 720"/>
                <a:gd name="T6" fmla="*/ 768 w 768"/>
                <a:gd name="T7" fmla="*/ 627 h 7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8" h="720">
                  <a:moveTo>
                    <a:pt x="240" y="0"/>
                  </a:moveTo>
                  <a:lnTo>
                    <a:pt x="0" y="0"/>
                  </a:lnTo>
                  <a:lnTo>
                    <a:pt x="0" y="720"/>
                  </a:lnTo>
                  <a:lnTo>
                    <a:pt x="768" y="7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5" name="Freeform 74"/>
            <p:cNvSpPr/>
            <p:nvPr/>
          </p:nvSpPr>
          <p:spPr bwMode="auto">
            <a:xfrm>
              <a:off x="327" y="2112"/>
              <a:ext cx="2425" cy="384"/>
            </a:xfrm>
            <a:custGeom>
              <a:avLst/>
              <a:gdLst>
                <a:gd name="T0" fmla="*/ 2149 w 2736"/>
                <a:gd name="T1" fmla="*/ 0 h 240"/>
                <a:gd name="T2" fmla="*/ 2149 w 2736"/>
                <a:gd name="T3" fmla="*/ 614 h 240"/>
                <a:gd name="T4" fmla="*/ 0 w 2736"/>
                <a:gd name="T5" fmla="*/ 614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6" name="Freeform 75"/>
            <p:cNvSpPr/>
            <p:nvPr/>
          </p:nvSpPr>
          <p:spPr bwMode="auto">
            <a:xfrm>
              <a:off x="1059" y="2112"/>
              <a:ext cx="2" cy="383"/>
            </a:xfrm>
            <a:custGeom>
              <a:avLst/>
              <a:gdLst>
                <a:gd name="T0" fmla="*/ 0 w 2"/>
                <a:gd name="T1" fmla="*/ 0 h 383"/>
                <a:gd name="T2" fmla="*/ 2 w 2"/>
                <a:gd name="T3" fmla="*/ 383 h 3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83">
                  <a:moveTo>
                    <a:pt x="0" y="0"/>
                  </a:moveTo>
                  <a:lnTo>
                    <a:pt x="2" y="3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7" name="Freeform 76"/>
            <p:cNvSpPr/>
            <p:nvPr/>
          </p:nvSpPr>
          <p:spPr bwMode="auto">
            <a:xfrm>
              <a:off x="375" y="2784"/>
              <a:ext cx="1536" cy="384"/>
            </a:xfrm>
            <a:custGeom>
              <a:avLst/>
              <a:gdLst>
                <a:gd name="T0" fmla="*/ 1260 w 1872"/>
                <a:gd name="T1" fmla="*/ 0 h 384"/>
                <a:gd name="T2" fmla="*/ 1260 w 1872"/>
                <a:gd name="T3" fmla="*/ 384 h 384"/>
                <a:gd name="T4" fmla="*/ 0 w 1872"/>
                <a:gd name="T5" fmla="*/ 384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8" name="Line 77"/>
            <p:cNvSpPr>
              <a:spLocks noChangeShapeType="1"/>
            </p:cNvSpPr>
            <p:nvPr/>
          </p:nvSpPr>
          <p:spPr bwMode="auto">
            <a:xfrm flipV="1">
              <a:off x="3591" y="3588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19" name="Freeform 78"/>
            <p:cNvSpPr/>
            <p:nvPr/>
          </p:nvSpPr>
          <p:spPr bwMode="auto">
            <a:xfrm>
              <a:off x="567" y="1920"/>
              <a:ext cx="459" cy="816"/>
            </a:xfrm>
            <a:custGeom>
              <a:avLst/>
              <a:gdLst>
                <a:gd name="T0" fmla="*/ 459 w 459"/>
                <a:gd name="T1" fmla="*/ 144 h 816"/>
                <a:gd name="T2" fmla="*/ 459 w 459"/>
                <a:gd name="T3" fmla="*/ 0 h 816"/>
                <a:gd name="T4" fmla="*/ 0 w 459"/>
                <a:gd name="T5" fmla="*/ 0 h 816"/>
                <a:gd name="T6" fmla="*/ 0 w 459"/>
                <a:gd name="T7" fmla="*/ 816 h 816"/>
                <a:gd name="T8" fmla="*/ 240 w 459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816">
                  <a:moveTo>
                    <a:pt x="459" y="144"/>
                  </a:moveTo>
                  <a:lnTo>
                    <a:pt x="459" y="0"/>
                  </a:lnTo>
                  <a:lnTo>
                    <a:pt x="0" y="0"/>
                  </a:lnTo>
                  <a:lnTo>
                    <a:pt x="0" y="816"/>
                  </a:lnTo>
                  <a:lnTo>
                    <a:pt x="240" y="81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20" name="Freeform 79"/>
            <p:cNvSpPr/>
            <p:nvPr/>
          </p:nvSpPr>
          <p:spPr bwMode="auto">
            <a:xfrm>
              <a:off x="2793" y="1920"/>
              <a:ext cx="462" cy="818"/>
            </a:xfrm>
            <a:custGeom>
              <a:avLst/>
              <a:gdLst>
                <a:gd name="T0" fmla="*/ 3 w 462"/>
                <a:gd name="T1" fmla="*/ 144 h 818"/>
                <a:gd name="T2" fmla="*/ 0 w 462"/>
                <a:gd name="T3" fmla="*/ 0 h 818"/>
                <a:gd name="T4" fmla="*/ 462 w 462"/>
                <a:gd name="T5" fmla="*/ 0 h 818"/>
                <a:gd name="T6" fmla="*/ 462 w 462"/>
                <a:gd name="T7" fmla="*/ 816 h 818"/>
                <a:gd name="T8" fmla="*/ 272 w 462"/>
                <a:gd name="T9" fmla="*/ 818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2" h="818">
                  <a:moveTo>
                    <a:pt x="3" y="144"/>
                  </a:moveTo>
                  <a:lnTo>
                    <a:pt x="0" y="0"/>
                  </a:lnTo>
                  <a:lnTo>
                    <a:pt x="462" y="0"/>
                  </a:lnTo>
                  <a:lnTo>
                    <a:pt x="462" y="816"/>
                  </a:lnTo>
                  <a:lnTo>
                    <a:pt x="272" y="81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521" name="Text Box 80"/>
            <p:cNvSpPr txBox="1">
              <a:spLocks noChangeArrowheads="1"/>
            </p:cNvSpPr>
            <p:nvPr/>
          </p:nvSpPr>
          <p:spPr bwMode="auto">
            <a:xfrm>
              <a:off x="733" y="1910"/>
              <a:ext cx="278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15000">
                  <a:latin typeface="Times New Roman" panose="02020603050405020304" pitchFamily="18" charset="0"/>
                </a:rPr>
                <a:t>5</a:t>
              </a:r>
              <a:endParaRPr lang="zh-CN" altLang="en-US" sz="2000" baseline="-15000">
                <a:latin typeface="Times New Roman" panose="02020603050405020304" pitchFamily="18" charset="0"/>
              </a:endParaRPr>
            </a:p>
          </p:txBody>
        </p:sp>
        <p:sp>
          <p:nvSpPr>
            <p:cNvPr id="20522" name="Text Box 81"/>
            <p:cNvSpPr txBox="1">
              <a:spLocks noChangeArrowheads="1"/>
            </p:cNvSpPr>
            <p:nvPr/>
          </p:nvSpPr>
          <p:spPr bwMode="auto">
            <a:xfrm>
              <a:off x="2825" y="1910"/>
              <a:ext cx="278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15000">
                  <a:latin typeface="Times New Roman" panose="02020603050405020304" pitchFamily="18" charset="0"/>
                </a:rPr>
                <a:t>6</a:t>
              </a:r>
              <a:endParaRPr lang="zh-CN" altLang="en-US" sz="2000" baseline="-15000">
                <a:latin typeface="Times New Roman" panose="02020603050405020304" pitchFamily="18" charset="0"/>
              </a:endParaRPr>
            </a:p>
          </p:txBody>
        </p:sp>
        <p:sp>
          <p:nvSpPr>
            <p:cNvPr id="20523" name="Text Box 82"/>
            <p:cNvSpPr txBox="1">
              <a:spLocks noChangeArrowheads="1"/>
            </p:cNvSpPr>
            <p:nvPr/>
          </p:nvSpPr>
          <p:spPr bwMode="auto">
            <a:xfrm>
              <a:off x="816" y="2544"/>
              <a:ext cx="22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524" name="Text Box 83"/>
            <p:cNvSpPr txBox="1">
              <a:spLocks noChangeArrowheads="1"/>
            </p:cNvSpPr>
            <p:nvPr/>
          </p:nvSpPr>
          <p:spPr bwMode="auto">
            <a:xfrm>
              <a:off x="912" y="2624"/>
              <a:ext cx="17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>
                  <a:latin typeface="Times New Roman" panose="02020603050405020304" pitchFamily="18" charset="0"/>
                </a:rPr>
                <a:t>7</a:t>
              </a:r>
              <a:endParaRPr lang="zh-CN" altLang="en-US" sz="1400">
                <a:latin typeface="Times New Roman" panose="02020603050405020304" pitchFamily="18" charset="0"/>
              </a:endParaRPr>
            </a:p>
          </p:txBody>
        </p:sp>
        <p:sp>
          <p:nvSpPr>
            <p:cNvPr id="20525" name="Text Box 84"/>
            <p:cNvSpPr txBox="1">
              <a:spLocks noChangeArrowheads="1"/>
            </p:cNvSpPr>
            <p:nvPr/>
          </p:nvSpPr>
          <p:spPr bwMode="auto">
            <a:xfrm>
              <a:off x="2753" y="2544"/>
              <a:ext cx="22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526" name="Text Box 85"/>
            <p:cNvSpPr txBox="1">
              <a:spLocks noChangeArrowheads="1"/>
            </p:cNvSpPr>
            <p:nvPr/>
          </p:nvSpPr>
          <p:spPr bwMode="auto">
            <a:xfrm>
              <a:off x="2875" y="2624"/>
              <a:ext cx="17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>
                  <a:latin typeface="Times New Roman" panose="02020603050405020304" pitchFamily="18" charset="0"/>
                </a:rPr>
                <a:t>8</a:t>
              </a:r>
              <a:endParaRPr lang="zh-CN" altLang="en-US" sz="1400">
                <a:latin typeface="Times New Roman" panose="02020603050405020304" pitchFamily="18" charset="0"/>
              </a:endParaRPr>
            </a:p>
          </p:txBody>
        </p:sp>
        <p:sp>
          <p:nvSpPr>
            <p:cNvPr id="20527" name="Text Box 86"/>
            <p:cNvSpPr txBox="1">
              <a:spLocks noChangeArrowheads="1"/>
            </p:cNvSpPr>
            <p:nvPr/>
          </p:nvSpPr>
          <p:spPr bwMode="auto">
            <a:xfrm>
              <a:off x="1200" y="1680"/>
              <a:ext cx="315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A</a:t>
              </a:r>
              <a:r>
                <a:rPr lang="zh-CN" altLang="en-US" sz="20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  <a:endParaRPr lang="zh-CN" alt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8" name="Text Box 87"/>
            <p:cNvSpPr txBox="1">
              <a:spLocks noChangeArrowheads="1"/>
            </p:cNvSpPr>
            <p:nvPr/>
          </p:nvSpPr>
          <p:spPr bwMode="auto">
            <a:xfrm>
              <a:off x="2360" y="1680"/>
              <a:ext cx="23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A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529" name="Text Box 88"/>
            <p:cNvSpPr txBox="1">
              <a:spLocks noChangeArrowheads="1"/>
            </p:cNvSpPr>
            <p:nvPr/>
          </p:nvSpPr>
          <p:spPr bwMode="auto">
            <a:xfrm>
              <a:off x="927" y="3225"/>
              <a:ext cx="702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30" name="Text Box 89"/>
            <p:cNvSpPr txBox="1">
              <a:spLocks noChangeArrowheads="1"/>
            </p:cNvSpPr>
            <p:nvPr/>
          </p:nvSpPr>
          <p:spPr bwMode="auto">
            <a:xfrm>
              <a:off x="2151" y="3225"/>
              <a:ext cx="702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31" name="Text Box 90"/>
            <p:cNvSpPr txBox="1">
              <a:spLocks noChangeArrowheads="1"/>
            </p:cNvSpPr>
            <p:nvPr/>
          </p:nvSpPr>
          <p:spPr bwMode="auto">
            <a:xfrm>
              <a:off x="1726" y="3993"/>
              <a:ext cx="35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IN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0532" name="Text Box 91"/>
            <p:cNvSpPr txBox="1">
              <a:spLocks noChangeArrowheads="1"/>
            </p:cNvSpPr>
            <p:nvPr/>
          </p:nvSpPr>
          <p:spPr bwMode="auto">
            <a:xfrm>
              <a:off x="2176" y="3936"/>
              <a:ext cx="5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33" name="Text Box 92"/>
            <p:cNvSpPr txBox="1">
              <a:spLocks noChangeArrowheads="1"/>
            </p:cNvSpPr>
            <p:nvPr/>
          </p:nvSpPr>
          <p:spPr bwMode="auto">
            <a:xfrm>
              <a:off x="3040" y="3945"/>
              <a:ext cx="5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34" name="Text Box 93"/>
            <p:cNvSpPr txBox="1">
              <a:spLocks noChangeArrowheads="1"/>
            </p:cNvSpPr>
            <p:nvPr/>
          </p:nvSpPr>
          <p:spPr bwMode="auto">
            <a:xfrm>
              <a:off x="3725" y="3177"/>
              <a:ext cx="46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OUT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0535" name="Text Box 94"/>
            <p:cNvSpPr txBox="1">
              <a:spLocks noChangeArrowheads="1"/>
            </p:cNvSpPr>
            <p:nvPr/>
          </p:nvSpPr>
          <p:spPr bwMode="auto">
            <a:xfrm>
              <a:off x="3377" y="3129"/>
              <a:ext cx="4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读放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36" name="Text Box 95"/>
            <p:cNvSpPr txBox="1">
              <a:spLocks noChangeArrowheads="1"/>
            </p:cNvSpPr>
            <p:nvPr/>
          </p:nvSpPr>
          <p:spPr bwMode="auto">
            <a:xfrm>
              <a:off x="3351" y="1680"/>
              <a:ext cx="51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20537" name="Freeform 96"/>
            <p:cNvSpPr/>
            <p:nvPr/>
          </p:nvSpPr>
          <p:spPr bwMode="auto">
            <a:xfrm>
              <a:off x="3284" y="1900"/>
              <a:ext cx="259" cy="136"/>
            </a:xfrm>
            <a:custGeom>
              <a:avLst/>
              <a:gdLst>
                <a:gd name="T0" fmla="*/ 259 w 259"/>
                <a:gd name="T1" fmla="*/ 0 h 260"/>
                <a:gd name="T2" fmla="*/ 0 w 259"/>
                <a:gd name="T3" fmla="*/ 260 h 2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9" h="260">
                  <a:moveTo>
                    <a:pt x="259" y="0"/>
                  </a:moveTo>
                  <a:lnTo>
                    <a:pt x="0" y="2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0538" name="Text Box 97"/>
            <p:cNvSpPr txBox="1">
              <a:spLocks noChangeArrowheads="1"/>
            </p:cNvSpPr>
            <p:nvPr/>
          </p:nvSpPr>
          <p:spPr bwMode="auto">
            <a:xfrm>
              <a:off x="29" y="1680"/>
              <a:ext cx="51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39" name="Text Box 98"/>
            <p:cNvSpPr txBox="1">
              <a:spLocks noChangeArrowheads="1"/>
            </p:cNvSpPr>
            <p:nvPr/>
          </p:nvSpPr>
          <p:spPr bwMode="auto">
            <a:xfrm>
              <a:off x="413" y="1603"/>
              <a:ext cx="247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  <a:endPara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0" name="Line 99"/>
            <p:cNvSpPr>
              <a:spLocks noChangeShapeType="1"/>
            </p:cNvSpPr>
            <p:nvPr/>
          </p:nvSpPr>
          <p:spPr bwMode="auto">
            <a:xfrm>
              <a:off x="279" y="192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0541" name="Text Box 100"/>
            <p:cNvSpPr txBox="1">
              <a:spLocks noChangeArrowheads="1"/>
            </p:cNvSpPr>
            <p:nvPr/>
          </p:nvSpPr>
          <p:spPr bwMode="auto">
            <a:xfrm>
              <a:off x="734" y="2937"/>
              <a:ext cx="84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列地址选择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42" name="Text Box 101"/>
            <p:cNvSpPr txBox="1">
              <a:spLocks noChangeArrowheads="1"/>
            </p:cNvSpPr>
            <p:nvPr/>
          </p:nvSpPr>
          <p:spPr bwMode="auto">
            <a:xfrm>
              <a:off x="1325" y="2256"/>
              <a:ext cx="84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行地址选择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543" name="Rectangle 102"/>
            <p:cNvSpPr>
              <a:spLocks noChangeArrowheads="1"/>
            </p:cNvSpPr>
            <p:nvPr/>
          </p:nvSpPr>
          <p:spPr bwMode="auto">
            <a:xfrm>
              <a:off x="708" y="1548"/>
              <a:ext cx="2400" cy="72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lgDash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209000" name="Text Box 104"/>
          <p:cNvSpPr txBox="1">
            <a:spLocks noChangeArrowheads="1"/>
          </p:cNvSpPr>
          <p:nvPr/>
        </p:nvSpPr>
        <p:spPr bwMode="auto">
          <a:xfrm>
            <a:off x="3946525" y="2819401"/>
            <a:ext cx="124906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2400" b="0">
                <a:solidFill>
                  <a:schemeClr val="folHlink"/>
                </a:solidFill>
                <a:latin typeface="Times New Roman" panose="02020603050405020304" pitchFamily="18" charset="0"/>
              </a:rPr>
              <a:t>   ~  </a:t>
            </a: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zh-CN" altLang="en-US" sz="2000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8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8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08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08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9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8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8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8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8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8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899" grpId="0" autoUpdateAnimBg="0"/>
      <p:bldP spid="208900" grpId="0" autoUpdateAnimBg="0"/>
      <p:bldP spid="208901" grpId="0" autoUpdateAnimBg="0"/>
      <p:bldP spid="208938" grpId="0" autoUpdateAnimBg="0"/>
      <p:bldP spid="209000" grpId="0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922" name="Group 2"/>
          <p:cNvGrpSpPr/>
          <p:nvPr/>
        </p:nvGrpSpPr>
        <p:grpSpPr bwMode="auto">
          <a:xfrm>
            <a:off x="695400" y="1066801"/>
            <a:ext cx="7388225" cy="5872163"/>
            <a:chOff x="0" y="672"/>
            <a:chExt cx="4654" cy="3699"/>
          </a:xfrm>
        </p:grpSpPr>
        <p:sp>
          <p:nvSpPr>
            <p:cNvPr id="21559" name="Text Box 3"/>
            <p:cNvSpPr txBox="1">
              <a:spLocks noChangeArrowheads="1"/>
            </p:cNvSpPr>
            <p:nvPr/>
          </p:nvSpPr>
          <p:spPr bwMode="auto">
            <a:xfrm>
              <a:off x="1148" y="739"/>
              <a:ext cx="387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  <a:endPara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0" name="Rectangle 4"/>
            <p:cNvSpPr>
              <a:spLocks noChangeArrowheads="1"/>
            </p:cNvSpPr>
            <p:nvPr/>
          </p:nvSpPr>
          <p:spPr bwMode="auto">
            <a:xfrm>
              <a:off x="1452" y="866"/>
              <a:ext cx="1046" cy="43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561" name="Text Box 5"/>
            <p:cNvSpPr txBox="1">
              <a:spLocks noChangeArrowheads="1"/>
            </p:cNvSpPr>
            <p:nvPr/>
          </p:nvSpPr>
          <p:spPr bwMode="auto">
            <a:xfrm>
              <a:off x="1536" y="906"/>
              <a:ext cx="114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2800" b="0" baseline="-25000">
                  <a:latin typeface="Times New Roman" panose="02020603050405020304" pitchFamily="18" charset="0"/>
                </a:rPr>
                <a:t> </a:t>
              </a:r>
              <a:r>
                <a:rPr lang="en-US" altLang="zh-CN" sz="2800" b="0">
                  <a:latin typeface="Times New Roman" panose="02020603050405020304" pitchFamily="18" charset="0"/>
                </a:rPr>
                <a:t>  ~  </a:t>
              </a: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</a:t>
              </a:r>
              <a:endParaRPr lang="zh-CN" altLang="en-US" sz="24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62" name="Freeform 6"/>
            <p:cNvSpPr/>
            <p:nvPr/>
          </p:nvSpPr>
          <p:spPr bwMode="auto">
            <a:xfrm>
              <a:off x="2498" y="1109"/>
              <a:ext cx="343" cy="213"/>
            </a:xfrm>
            <a:custGeom>
              <a:avLst/>
              <a:gdLst>
                <a:gd name="T0" fmla="*/ 0 w 336"/>
                <a:gd name="T1" fmla="*/ 0 h 144"/>
                <a:gd name="T2" fmla="*/ 350 w 336"/>
                <a:gd name="T3" fmla="*/ 0 h 144"/>
                <a:gd name="T4" fmla="*/ 350 w 336"/>
                <a:gd name="T5" fmla="*/ 315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144">
                  <a:moveTo>
                    <a:pt x="0" y="0"/>
                  </a:moveTo>
                  <a:lnTo>
                    <a:pt x="336" y="0"/>
                  </a:lnTo>
                  <a:lnTo>
                    <a:pt x="336" y="1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63" name="Freeform 7"/>
            <p:cNvSpPr/>
            <p:nvPr/>
          </p:nvSpPr>
          <p:spPr bwMode="auto">
            <a:xfrm>
              <a:off x="1105" y="1102"/>
              <a:ext cx="331" cy="226"/>
            </a:xfrm>
            <a:custGeom>
              <a:avLst/>
              <a:gdLst>
                <a:gd name="T0" fmla="*/ 343 w 319"/>
                <a:gd name="T1" fmla="*/ 0 h 184"/>
                <a:gd name="T2" fmla="*/ 0 w 319"/>
                <a:gd name="T3" fmla="*/ 0 h 184"/>
                <a:gd name="T4" fmla="*/ 0 w 319"/>
                <a:gd name="T5" fmla="*/ 278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184">
                  <a:moveTo>
                    <a:pt x="319" y="0"/>
                  </a:move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564" name="Group 8"/>
            <p:cNvGrpSpPr/>
            <p:nvPr/>
          </p:nvGrpSpPr>
          <p:grpSpPr bwMode="auto">
            <a:xfrm>
              <a:off x="2770" y="1328"/>
              <a:ext cx="265" cy="74"/>
              <a:chOff x="3459" y="1296"/>
              <a:chExt cx="243" cy="48"/>
            </a:xfrm>
          </p:grpSpPr>
          <p:sp>
            <p:nvSpPr>
              <p:cNvPr id="21613" name="Line 9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614" name="Line 10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65" name="Group 11"/>
            <p:cNvGrpSpPr/>
            <p:nvPr/>
          </p:nvGrpSpPr>
          <p:grpSpPr bwMode="auto">
            <a:xfrm>
              <a:off x="933" y="1328"/>
              <a:ext cx="264" cy="74"/>
              <a:chOff x="3459" y="1296"/>
              <a:chExt cx="243" cy="48"/>
            </a:xfrm>
          </p:grpSpPr>
          <p:sp>
            <p:nvSpPr>
              <p:cNvPr id="21611" name="Line 1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612" name="Line 1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66" name="Group 14"/>
            <p:cNvGrpSpPr/>
            <p:nvPr/>
          </p:nvGrpSpPr>
          <p:grpSpPr bwMode="auto">
            <a:xfrm>
              <a:off x="3143" y="2256"/>
              <a:ext cx="76" cy="369"/>
              <a:chOff x="3143" y="2256"/>
              <a:chExt cx="76" cy="369"/>
            </a:xfrm>
          </p:grpSpPr>
          <p:sp>
            <p:nvSpPr>
              <p:cNvPr id="21609" name="Line 15"/>
              <p:cNvSpPr>
                <a:spLocks noChangeShapeType="1"/>
              </p:cNvSpPr>
              <p:nvPr/>
            </p:nvSpPr>
            <p:spPr bwMode="auto">
              <a:xfrm rot="5400000">
                <a:off x="3034" y="2441"/>
                <a:ext cx="3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610" name="Line 16"/>
              <p:cNvSpPr>
                <a:spLocks noChangeShapeType="1"/>
              </p:cNvSpPr>
              <p:nvPr/>
            </p:nvSpPr>
            <p:spPr bwMode="auto">
              <a:xfrm rot="5400000">
                <a:off x="3031" y="2436"/>
                <a:ext cx="2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67" name="Group 17"/>
            <p:cNvGrpSpPr/>
            <p:nvPr/>
          </p:nvGrpSpPr>
          <p:grpSpPr bwMode="auto">
            <a:xfrm>
              <a:off x="771" y="2256"/>
              <a:ext cx="76" cy="369"/>
              <a:chOff x="771" y="2256"/>
              <a:chExt cx="76" cy="369"/>
            </a:xfrm>
          </p:grpSpPr>
          <p:sp>
            <p:nvSpPr>
              <p:cNvPr id="21607" name="Line 18"/>
              <p:cNvSpPr>
                <a:spLocks noChangeShapeType="1"/>
              </p:cNvSpPr>
              <p:nvPr/>
            </p:nvSpPr>
            <p:spPr bwMode="auto">
              <a:xfrm rot="-5400000">
                <a:off x="586" y="2441"/>
                <a:ext cx="3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608" name="Line 19"/>
              <p:cNvSpPr>
                <a:spLocks noChangeShapeType="1"/>
              </p:cNvSpPr>
              <p:nvPr/>
            </p:nvSpPr>
            <p:spPr bwMode="auto">
              <a:xfrm rot="-5400000">
                <a:off x="735" y="2446"/>
                <a:ext cx="2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568" name="Freeform 20"/>
            <p:cNvSpPr/>
            <p:nvPr/>
          </p:nvSpPr>
          <p:spPr bwMode="auto">
            <a:xfrm>
              <a:off x="860" y="2423"/>
              <a:ext cx="2272" cy="1"/>
            </a:xfrm>
            <a:custGeom>
              <a:avLst/>
              <a:gdLst>
                <a:gd name="T0" fmla="*/ 0 w 2272"/>
                <a:gd name="T1" fmla="*/ 0 h 1"/>
                <a:gd name="T2" fmla="*/ 2272 w 227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72" h="1">
                  <a:moveTo>
                    <a:pt x="0" y="0"/>
                  </a:moveTo>
                  <a:lnTo>
                    <a:pt x="2272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69" name="Freeform 21"/>
            <p:cNvSpPr/>
            <p:nvPr/>
          </p:nvSpPr>
          <p:spPr bwMode="auto">
            <a:xfrm>
              <a:off x="3230" y="2495"/>
              <a:ext cx="210" cy="1023"/>
            </a:xfrm>
            <a:custGeom>
              <a:avLst/>
              <a:gdLst>
                <a:gd name="T0" fmla="*/ 0 w 192"/>
                <a:gd name="T1" fmla="*/ 0 h 672"/>
                <a:gd name="T2" fmla="*/ 230 w 192"/>
                <a:gd name="T3" fmla="*/ 0 h 672"/>
                <a:gd name="T4" fmla="*/ 230 w 192"/>
                <a:gd name="T5" fmla="*/ 1557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70" name="AutoShape 22"/>
            <p:cNvSpPr>
              <a:spLocks noChangeArrowheads="1"/>
            </p:cNvSpPr>
            <p:nvPr/>
          </p:nvSpPr>
          <p:spPr bwMode="auto">
            <a:xfrm rot="5400000">
              <a:off x="2070" y="3361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571" name="AutoShape 23"/>
            <p:cNvSpPr>
              <a:spLocks noChangeArrowheads="1"/>
            </p:cNvSpPr>
            <p:nvPr/>
          </p:nvSpPr>
          <p:spPr bwMode="auto">
            <a:xfrm rot="-5400000">
              <a:off x="1389" y="3360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572" name="Oval 24"/>
            <p:cNvSpPr>
              <a:spLocks noChangeArrowheads="1"/>
            </p:cNvSpPr>
            <p:nvPr/>
          </p:nvSpPr>
          <p:spPr bwMode="auto">
            <a:xfrm rot="10800000">
              <a:off x="1380" y="3484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573" name="Line 25"/>
            <p:cNvSpPr>
              <a:spLocks noChangeShapeType="1"/>
            </p:cNvSpPr>
            <p:nvPr/>
          </p:nvSpPr>
          <p:spPr bwMode="auto">
            <a:xfrm>
              <a:off x="2446" y="3518"/>
              <a:ext cx="120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74" name="AutoShape 26"/>
            <p:cNvSpPr>
              <a:spLocks noChangeArrowheads="1"/>
            </p:cNvSpPr>
            <p:nvPr/>
          </p:nvSpPr>
          <p:spPr bwMode="auto">
            <a:xfrm rot="5400000">
              <a:off x="3587" y="3361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575" name="Line 27"/>
            <p:cNvSpPr>
              <a:spLocks noChangeShapeType="1"/>
            </p:cNvSpPr>
            <p:nvPr/>
          </p:nvSpPr>
          <p:spPr bwMode="auto">
            <a:xfrm>
              <a:off x="3963" y="3518"/>
              <a:ext cx="3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76" name="Line 28"/>
            <p:cNvSpPr>
              <a:spLocks noChangeShapeType="1"/>
            </p:cNvSpPr>
            <p:nvPr/>
          </p:nvSpPr>
          <p:spPr bwMode="auto">
            <a:xfrm>
              <a:off x="1766" y="3518"/>
              <a:ext cx="3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77" name="Freeform 29"/>
            <p:cNvSpPr/>
            <p:nvPr/>
          </p:nvSpPr>
          <p:spPr bwMode="auto">
            <a:xfrm>
              <a:off x="1951" y="3518"/>
              <a:ext cx="1" cy="622"/>
            </a:xfrm>
            <a:custGeom>
              <a:avLst/>
              <a:gdLst>
                <a:gd name="T0" fmla="*/ 0 w 1"/>
                <a:gd name="T1" fmla="*/ 0 h 622"/>
                <a:gd name="T2" fmla="*/ 1 w 1"/>
                <a:gd name="T3" fmla="*/ 622 h 6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22">
                  <a:moveTo>
                    <a:pt x="0" y="0"/>
                  </a:moveTo>
                  <a:lnTo>
                    <a:pt x="1" y="62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78" name="Freeform 30"/>
            <p:cNvSpPr/>
            <p:nvPr/>
          </p:nvSpPr>
          <p:spPr bwMode="auto">
            <a:xfrm>
              <a:off x="2267" y="3639"/>
              <a:ext cx="6" cy="498"/>
            </a:xfrm>
            <a:custGeom>
              <a:avLst/>
              <a:gdLst>
                <a:gd name="T0" fmla="*/ 4 w 6"/>
                <a:gd name="T1" fmla="*/ 498 h 498"/>
                <a:gd name="T2" fmla="*/ 0 w 6"/>
                <a:gd name="T3" fmla="*/ 9 h 498"/>
                <a:gd name="T4" fmla="*/ 6 w 6"/>
                <a:gd name="T5" fmla="*/ 0 h 498"/>
                <a:gd name="T6" fmla="*/ 6 w 6"/>
                <a:gd name="T7" fmla="*/ 2 h 4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98">
                  <a:moveTo>
                    <a:pt x="4" y="498"/>
                  </a:moveTo>
                  <a:lnTo>
                    <a:pt x="0" y="9"/>
                  </a:lnTo>
                  <a:lnTo>
                    <a:pt x="6" y="0"/>
                  </a:lnTo>
                  <a:lnTo>
                    <a:pt x="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79" name="Freeform 31"/>
            <p:cNvSpPr/>
            <p:nvPr/>
          </p:nvSpPr>
          <p:spPr bwMode="auto">
            <a:xfrm>
              <a:off x="1596" y="3624"/>
              <a:ext cx="677" cy="312"/>
            </a:xfrm>
            <a:custGeom>
              <a:avLst/>
              <a:gdLst>
                <a:gd name="T0" fmla="*/ 0 w 677"/>
                <a:gd name="T1" fmla="*/ 0 h 312"/>
                <a:gd name="T2" fmla="*/ 0 w 677"/>
                <a:gd name="T3" fmla="*/ 306 h 312"/>
                <a:gd name="T4" fmla="*/ 677 w 677"/>
                <a:gd name="T5" fmla="*/ 312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7" h="312">
                  <a:moveTo>
                    <a:pt x="0" y="0"/>
                  </a:moveTo>
                  <a:lnTo>
                    <a:pt x="0" y="306"/>
                  </a:lnTo>
                  <a:lnTo>
                    <a:pt x="677" y="31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lg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80" name="Freeform 32"/>
            <p:cNvSpPr/>
            <p:nvPr/>
          </p:nvSpPr>
          <p:spPr bwMode="auto">
            <a:xfrm>
              <a:off x="510" y="2495"/>
              <a:ext cx="862" cy="1023"/>
            </a:xfrm>
            <a:custGeom>
              <a:avLst/>
              <a:gdLst>
                <a:gd name="T0" fmla="*/ 262 w 862"/>
                <a:gd name="T1" fmla="*/ 0 h 1023"/>
                <a:gd name="T2" fmla="*/ 0 w 862"/>
                <a:gd name="T3" fmla="*/ 0 h 1023"/>
                <a:gd name="T4" fmla="*/ 0 w 862"/>
                <a:gd name="T5" fmla="*/ 1023 h 1023"/>
                <a:gd name="T6" fmla="*/ 862 w 862"/>
                <a:gd name="T7" fmla="*/ 1023 h 1023"/>
                <a:gd name="T8" fmla="*/ 838 w 862"/>
                <a:gd name="T9" fmla="*/ 1023 h 10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2" h="1023">
                  <a:moveTo>
                    <a:pt x="262" y="0"/>
                  </a:moveTo>
                  <a:lnTo>
                    <a:pt x="0" y="0"/>
                  </a:lnTo>
                  <a:lnTo>
                    <a:pt x="0" y="1023"/>
                  </a:lnTo>
                  <a:lnTo>
                    <a:pt x="862" y="1023"/>
                  </a:lnTo>
                  <a:lnTo>
                    <a:pt x="838" y="102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81" name="Freeform 33"/>
            <p:cNvSpPr/>
            <p:nvPr/>
          </p:nvSpPr>
          <p:spPr bwMode="auto">
            <a:xfrm>
              <a:off x="301" y="2423"/>
              <a:ext cx="1674" cy="583"/>
            </a:xfrm>
            <a:custGeom>
              <a:avLst/>
              <a:gdLst>
                <a:gd name="T0" fmla="*/ 1497 w 1872"/>
                <a:gd name="T1" fmla="*/ 0 h 384"/>
                <a:gd name="T2" fmla="*/ 1497 w 1872"/>
                <a:gd name="T3" fmla="*/ 885 h 384"/>
                <a:gd name="T4" fmla="*/ 0 w 1872"/>
                <a:gd name="T5" fmla="*/ 885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82" name="Line 34"/>
            <p:cNvSpPr>
              <a:spLocks noChangeShapeType="1"/>
            </p:cNvSpPr>
            <p:nvPr/>
          </p:nvSpPr>
          <p:spPr bwMode="auto">
            <a:xfrm flipV="1">
              <a:off x="3806" y="3641"/>
              <a:ext cx="0" cy="7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83" name="Freeform 35"/>
            <p:cNvSpPr/>
            <p:nvPr/>
          </p:nvSpPr>
          <p:spPr bwMode="auto">
            <a:xfrm>
              <a:off x="510" y="1091"/>
              <a:ext cx="492" cy="1259"/>
            </a:xfrm>
            <a:custGeom>
              <a:avLst/>
              <a:gdLst>
                <a:gd name="T0" fmla="*/ 492 w 492"/>
                <a:gd name="T1" fmla="*/ 233 h 1259"/>
                <a:gd name="T2" fmla="*/ 492 w 492"/>
                <a:gd name="T3" fmla="*/ 0 h 1259"/>
                <a:gd name="T4" fmla="*/ 1 w 492"/>
                <a:gd name="T5" fmla="*/ 0 h 1259"/>
                <a:gd name="T6" fmla="*/ 0 w 492"/>
                <a:gd name="T7" fmla="*/ 1259 h 1259"/>
                <a:gd name="T8" fmla="*/ 262 w 492"/>
                <a:gd name="T9" fmla="*/ 1259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2" h="1259">
                  <a:moveTo>
                    <a:pt x="492" y="233"/>
                  </a:moveTo>
                  <a:lnTo>
                    <a:pt x="492" y="0"/>
                  </a:lnTo>
                  <a:lnTo>
                    <a:pt x="1" y="0"/>
                  </a:lnTo>
                  <a:lnTo>
                    <a:pt x="0" y="1259"/>
                  </a:lnTo>
                  <a:lnTo>
                    <a:pt x="262" y="12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84" name="Freeform 36"/>
            <p:cNvSpPr/>
            <p:nvPr/>
          </p:nvSpPr>
          <p:spPr bwMode="auto">
            <a:xfrm>
              <a:off x="2942" y="1109"/>
              <a:ext cx="523" cy="1244"/>
            </a:xfrm>
            <a:custGeom>
              <a:avLst/>
              <a:gdLst>
                <a:gd name="T0" fmla="*/ 0 w 523"/>
                <a:gd name="T1" fmla="*/ 219 h 1244"/>
                <a:gd name="T2" fmla="*/ 0 w 523"/>
                <a:gd name="T3" fmla="*/ 0 h 1244"/>
                <a:gd name="T4" fmla="*/ 523 w 523"/>
                <a:gd name="T5" fmla="*/ 0 h 1244"/>
                <a:gd name="T6" fmla="*/ 523 w 523"/>
                <a:gd name="T7" fmla="*/ 1244 h 1244"/>
                <a:gd name="T8" fmla="*/ 278 w 523"/>
                <a:gd name="T9" fmla="*/ 1244 h 1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3" h="1244">
                  <a:moveTo>
                    <a:pt x="0" y="219"/>
                  </a:moveTo>
                  <a:lnTo>
                    <a:pt x="0" y="0"/>
                  </a:lnTo>
                  <a:lnTo>
                    <a:pt x="523" y="0"/>
                  </a:lnTo>
                  <a:lnTo>
                    <a:pt x="523" y="1244"/>
                  </a:lnTo>
                  <a:lnTo>
                    <a:pt x="278" y="12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85" name="Text Box 37"/>
            <p:cNvSpPr txBox="1">
              <a:spLocks noChangeArrowheads="1"/>
            </p:cNvSpPr>
            <p:nvPr/>
          </p:nvSpPr>
          <p:spPr bwMode="auto">
            <a:xfrm>
              <a:off x="685" y="1231"/>
              <a:ext cx="278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5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86" name="Text Box 38"/>
            <p:cNvSpPr txBox="1">
              <a:spLocks noChangeArrowheads="1"/>
            </p:cNvSpPr>
            <p:nvPr/>
          </p:nvSpPr>
          <p:spPr bwMode="auto">
            <a:xfrm>
              <a:off x="3037" y="1231"/>
              <a:ext cx="278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6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87" name="Text Box 39"/>
            <p:cNvSpPr txBox="1">
              <a:spLocks noChangeArrowheads="1"/>
            </p:cNvSpPr>
            <p:nvPr/>
          </p:nvSpPr>
          <p:spPr bwMode="auto">
            <a:xfrm>
              <a:off x="824" y="2150"/>
              <a:ext cx="278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7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88" name="Text Box 40"/>
            <p:cNvSpPr txBox="1">
              <a:spLocks noChangeArrowheads="1"/>
            </p:cNvSpPr>
            <p:nvPr/>
          </p:nvSpPr>
          <p:spPr bwMode="auto">
            <a:xfrm>
              <a:off x="2864" y="2150"/>
              <a:ext cx="278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8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89" name="Text Box 41"/>
            <p:cNvSpPr txBox="1">
              <a:spLocks noChangeArrowheads="1"/>
            </p:cNvSpPr>
            <p:nvPr/>
          </p:nvSpPr>
          <p:spPr bwMode="auto">
            <a:xfrm>
              <a:off x="2540" y="816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1590" name="Freeform 42"/>
            <p:cNvSpPr/>
            <p:nvPr/>
          </p:nvSpPr>
          <p:spPr bwMode="auto">
            <a:xfrm>
              <a:off x="249" y="1402"/>
              <a:ext cx="2642" cy="365"/>
            </a:xfrm>
            <a:custGeom>
              <a:avLst/>
              <a:gdLst>
                <a:gd name="T0" fmla="*/ 2551 w 2736"/>
                <a:gd name="T1" fmla="*/ 0 h 240"/>
                <a:gd name="T2" fmla="*/ 2551 w 2736"/>
                <a:gd name="T3" fmla="*/ 555 h 240"/>
                <a:gd name="T4" fmla="*/ 0 w 2736"/>
                <a:gd name="T5" fmla="*/ 555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91" name="Line 43"/>
            <p:cNvSpPr>
              <a:spLocks noChangeShapeType="1"/>
            </p:cNvSpPr>
            <p:nvPr/>
          </p:nvSpPr>
          <p:spPr bwMode="auto">
            <a:xfrm>
              <a:off x="1045" y="1402"/>
              <a:ext cx="0" cy="3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92" name="Text Box 44"/>
            <p:cNvSpPr txBox="1">
              <a:spLocks noChangeArrowheads="1"/>
            </p:cNvSpPr>
            <p:nvPr/>
          </p:nvSpPr>
          <p:spPr bwMode="auto">
            <a:xfrm>
              <a:off x="907" y="3230"/>
              <a:ext cx="702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593" name="Text Box 45"/>
            <p:cNvSpPr txBox="1">
              <a:spLocks noChangeArrowheads="1"/>
            </p:cNvSpPr>
            <p:nvPr/>
          </p:nvSpPr>
          <p:spPr bwMode="auto">
            <a:xfrm>
              <a:off x="2289" y="3225"/>
              <a:ext cx="702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594" name="Text Box 46"/>
            <p:cNvSpPr txBox="1">
              <a:spLocks noChangeArrowheads="1"/>
            </p:cNvSpPr>
            <p:nvPr/>
          </p:nvSpPr>
          <p:spPr bwMode="auto">
            <a:xfrm>
              <a:off x="1449" y="3993"/>
              <a:ext cx="35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IN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95" name="Text Box 47"/>
            <p:cNvSpPr txBox="1">
              <a:spLocks noChangeArrowheads="1"/>
            </p:cNvSpPr>
            <p:nvPr/>
          </p:nvSpPr>
          <p:spPr bwMode="auto">
            <a:xfrm>
              <a:off x="2290" y="3984"/>
              <a:ext cx="5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596" name="Text Box 48"/>
            <p:cNvSpPr txBox="1">
              <a:spLocks noChangeArrowheads="1"/>
            </p:cNvSpPr>
            <p:nvPr/>
          </p:nvSpPr>
          <p:spPr bwMode="auto">
            <a:xfrm>
              <a:off x="3262" y="3993"/>
              <a:ext cx="5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597" name="Text Box 49"/>
            <p:cNvSpPr txBox="1">
              <a:spLocks noChangeArrowheads="1"/>
            </p:cNvSpPr>
            <p:nvPr/>
          </p:nvSpPr>
          <p:spPr bwMode="auto">
            <a:xfrm>
              <a:off x="3539" y="2976"/>
              <a:ext cx="4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读放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598" name="Text Box 50"/>
            <p:cNvSpPr txBox="1">
              <a:spLocks noChangeArrowheads="1"/>
            </p:cNvSpPr>
            <p:nvPr/>
          </p:nvSpPr>
          <p:spPr bwMode="auto">
            <a:xfrm>
              <a:off x="3657" y="729"/>
              <a:ext cx="51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21599" name="Line 51"/>
            <p:cNvSpPr>
              <a:spLocks noChangeShapeType="1"/>
            </p:cNvSpPr>
            <p:nvPr/>
          </p:nvSpPr>
          <p:spPr bwMode="auto">
            <a:xfrm flipH="1">
              <a:off x="3513" y="912"/>
              <a:ext cx="288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1600" name="Group 52"/>
            <p:cNvGrpSpPr/>
            <p:nvPr/>
          </p:nvGrpSpPr>
          <p:grpSpPr bwMode="auto">
            <a:xfrm>
              <a:off x="0" y="672"/>
              <a:ext cx="631" cy="368"/>
              <a:chOff x="-58" y="1603"/>
              <a:chExt cx="631" cy="368"/>
            </a:xfrm>
          </p:grpSpPr>
          <p:sp>
            <p:nvSpPr>
              <p:cNvPr id="21605" name="Text Box 53"/>
              <p:cNvSpPr txBox="1">
                <a:spLocks noChangeArrowheads="1"/>
              </p:cNvSpPr>
              <p:nvPr/>
            </p:nvSpPr>
            <p:spPr bwMode="auto">
              <a:xfrm>
                <a:off x="-58" y="1680"/>
                <a:ext cx="514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位线</a:t>
                </a:r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06" name="Text Box 54"/>
              <p:cNvSpPr txBox="1">
                <a:spLocks noChangeArrowheads="1"/>
              </p:cNvSpPr>
              <p:nvPr/>
            </p:nvSpPr>
            <p:spPr bwMode="auto">
              <a:xfrm>
                <a:off x="326" y="1603"/>
                <a:ext cx="247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´</a:t>
                </a:r>
                <a:endPara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1601" name="Line 55"/>
            <p:cNvSpPr>
              <a:spLocks noChangeShapeType="1"/>
            </p:cNvSpPr>
            <p:nvPr/>
          </p:nvSpPr>
          <p:spPr bwMode="auto">
            <a:xfrm>
              <a:off x="249" y="96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2" name="Text Box 56"/>
            <p:cNvSpPr txBox="1">
              <a:spLocks noChangeArrowheads="1"/>
            </p:cNvSpPr>
            <p:nvPr/>
          </p:nvSpPr>
          <p:spPr bwMode="auto">
            <a:xfrm>
              <a:off x="825" y="2736"/>
              <a:ext cx="84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列地址选择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03" name="Text Box 57"/>
            <p:cNvSpPr txBox="1">
              <a:spLocks noChangeArrowheads="1"/>
            </p:cNvSpPr>
            <p:nvPr/>
          </p:nvSpPr>
          <p:spPr bwMode="auto">
            <a:xfrm>
              <a:off x="1497" y="1488"/>
              <a:ext cx="84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行地址选择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04" name="Text Box 58"/>
            <p:cNvSpPr txBox="1">
              <a:spLocks noChangeArrowheads="1"/>
            </p:cNvSpPr>
            <p:nvPr/>
          </p:nvSpPr>
          <p:spPr bwMode="auto">
            <a:xfrm>
              <a:off x="4122" y="3216"/>
              <a:ext cx="53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OUT</a:t>
              </a:r>
              <a:endParaRPr lang="en-US" altLang="zh-CN" sz="2400" baseline="-25000">
                <a:latin typeface="Times New Roman" panose="02020603050405020304" pitchFamily="18" charset="0"/>
              </a:endParaRPr>
            </a:p>
          </p:txBody>
        </p:sp>
      </p:grpSp>
      <p:sp>
        <p:nvSpPr>
          <p:cNvPr id="21507" name="Text Box 59"/>
          <p:cNvSpPr txBox="1">
            <a:spLocks noChangeArrowheads="1"/>
          </p:cNvSpPr>
          <p:nvPr/>
        </p:nvSpPr>
        <p:spPr bwMode="auto">
          <a:xfrm>
            <a:off x="533400" y="241592"/>
            <a:ext cx="7010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① </a:t>
            </a:r>
            <a:r>
              <a:rPr lang="zh-CN" altLang="en-US" sz="3200" dirty="0">
                <a:latin typeface="Times New Roman" panose="02020603050405020304" pitchFamily="18" charset="0"/>
              </a:rPr>
              <a:t>静态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基本电路的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r>
              <a: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操作  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sp>
        <p:nvSpPr>
          <p:cNvPr id="209980" name="Freeform 60"/>
          <p:cNvSpPr/>
          <p:nvPr/>
        </p:nvSpPr>
        <p:spPr bwMode="auto">
          <a:xfrm>
            <a:off x="1170063" y="3862388"/>
            <a:ext cx="2657475" cy="925512"/>
          </a:xfrm>
          <a:custGeom>
            <a:avLst/>
            <a:gdLst>
              <a:gd name="T0" fmla="*/ 2147483646 w 1872"/>
              <a:gd name="T1" fmla="*/ 0 h 384"/>
              <a:gd name="T2" fmla="*/ 2147483646 w 1872"/>
              <a:gd name="T3" fmla="*/ 2147483646 h 384"/>
              <a:gd name="T4" fmla="*/ 0 w 1872"/>
              <a:gd name="T5" fmla="*/ 2147483646 h 38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872" h="384">
                <a:moveTo>
                  <a:pt x="1872" y="0"/>
                </a:moveTo>
                <a:lnTo>
                  <a:pt x="1872" y="384"/>
                </a:lnTo>
                <a:lnTo>
                  <a:pt x="0" y="38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81" name="Freeform 61"/>
          <p:cNvSpPr/>
          <p:nvPr/>
        </p:nvSpPr>
        <p:spPr bwMode="auto">
          <a:xfrm>
            <a:off x="2027313" y="3867151"/>
            <a:ext cx="3640137" cy="3175"/>
          </a:xfrm>
          <a:custGeom>
            <a:avLst/>
            <a:gdLst>
              <a:gd name="T0" fmla="*/ 0 w 2293"/>
              <a:gd name="T1" fmla="*/ 5040313 h 2"/>
              <a:gd name="T2" fmla="*/ 2147483646 w 2293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293" h="2">
                <a:moveTo>
                  <a:pt x="0" y="2"/>
                </a:moveTo>
                <a:lnTo>
                  <a:pt x="2293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82" name="Freeform 62"/>
          <p:cNvSpPr/>
          <p:nvPr/>
        </p:nvSpPr>
        <p:spPr bwMode="auto">
          <a:xfrm>
            <a:off x="4648275" y="1752601"/>
            <a:ext cx="542925" cy="347663"/>
          </a:xfrm>
          <a:custGeom>
            <a:avLst/>
            <a:gdLst>
              <a:gd name="T0" fmla="*/ 0 w 342"/>
              <a:gd name="T1" fmla="*/ 0 h 219"/>
              <a:gd name="T2" fmla="*/ 861893438 w 342"/>
              <a:gd name="T3" fmla="*/ 0 h 219"/>
              <a:gd name="T4" fmla="*/ 861893438 w 342"/>
              <a:gd name="T5" fmla="*/ 551915806 h 2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42" h="219">
                <a:moveTo>
                  <a:pt x="0" y="0"/>
                </a:moveTo>
                <a:lnTo>
                  <a:pt x="342" y="0"/>
                </a:lnTo>
                <a:lnTo>
                  <a:pt x="342" y="219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09983" name="Group 63"/>
          <p:cNvGrpSpPr/>
          <p:nvPr/>
        </p:nvGrpSpPr>
        <p:grpSpPr bwMode="auto">
          <a:xfrm>
            <a:off x="1914599" y="3581400"/>
            <a:ext cx="3886200" cy="585788"/>
            <a:chOff x="768" y="2256"/>
            <a:chExt cx="2448" cy="369"/>
          </a:xfrm>
        </p:grpSpPr>
        <p:grpSp>
          <p:nvGrpSpPr>
            <p:cNvPr id="21553" name="Group 64"/>
            <p:cNvGrpSpPr/>
            <p:nvPr/>
          </p:nvGrpSpPr>
          <p:grpSpPr bwMode="auto">
            <a:xfrm>
              <a:off x="768" y="2256"/>
              <a:ext cx="76" cy="369"/>
              <a:chOff x="768" y="2256"/>
              <a:chExt cx="76" cy="369"/>
            </a:xfrm>
          </p:grpSpPr>
          <p:sp>
            <p:nvSpPr>
              <p:cNvPr id="21557" name="Line 65"/>
              <p:cNvSpPr>
                <a:spLocks noChangeShapeType="1"/>
              </p:cNvSpPr>
              <p:nvPr/>
            </p:nvSpPr>
            <p:spPr bwMode="auto">
              <a:xfrm rot="-5400000">
                <a:off x="583" y="2441"/>
                <a:ext cx="369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58" name="Line 66"/>
              <p:cNvSpPr>
                <a:spLocks noChangeShapeType="1"/>
              </p:cNvSpPr>
              <p:nvPr/>
            </p:nvSpPr>
            <p:spPr bwMode="auto">
              <a:xfrm rot="-5400000">
                <a:off x="732" y="2446"/>
                <a:ext cx="224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54" name="Group 67"/>
            <p:cNvGrpSpPr/>
            <p:nvPr/>
          </p:nvGrpSpPr>
          <p:grpSpPr bwMode="auto">
            <a:xfrm>
              <a:off x="3140" y="2256"/>
              <a:ext cx="76" cy="369"/>
              <a:chOff x="3140" y="2256"/>
              <a:chExt cx="76" cy="369"/>
            </a:xfrm>
          </p:grpSpPr>
          <p:sp>
            <p:nvSpPr>
              <p:cNvPr id="21555" name="Line 68"/>
              <p:cNvSpPr>
                <a:spLocks noChangeShapeType="1"/>
              </p:cNvSpPr>
              <p:nvPr/>
            </p:nvSpPr>
            <p:spPr bwMode="auto">
              <a:xfrm rot="5400000">
                <a:off x="3031" y="2441"/>
                <a:ext cx="369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56" name="Line 69"/>
              <p:cNvSpPr>
                <a:spLocks noChangeShapeType="1"/>
              </p:cNvSpPr>
              <p:nvPr/>
            </p:nvSpPr>
            <p:spPr bwMode="auto">
              <a:xfrm rot="5400000">
                <a:off x="3028" y="2436"/>
                <a:ext cx="224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09990" name="Freeform 70"/>
          <p:cNvSpPr/>
          <p:nvPr/>
        </p:nvSpPr>
        <p:spPr bwMode="auto">
          <a:xfrm>
            <a:off x="5800800" y="3956051"/>
            <a:ext cx="333375" cy="1622425"/>
          </a:xfrm>
          <a:custGeom>
            <a:avLst/>
            <a:gdLst>
              <a:gd name="T0" fmla="*/ 0 w 192"/>
              <a:gd name="T1" fmla="*/ 0 h 672"/>
              <a:gd name="T2" fmla="*/ 578848389 w 192"/>
              <a:gd name="T3" fmla="*/ 0 h 672"/>
              <a:gd name="T4" fmla="*/ 578848389 w 192"/>
              <a:gd name="T5" fmla="*/ 2147483646 h 67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92" h="672">
                <a:moveTo>
                  <a:pt x="0" y="0"/>
                </a:moveTo>
                <a:lnTo>
                  <a:pt x="192" y="0"/>
                </a:lnTo>
                <a:lnTo>
                  <a:pt x="192" y="672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91" name="Line 71"/>
          <p:cNvSpPr>
            <a:spLocks noChangeShapeType="1"/>
          </p:cNvSpPr>
          <p:nvPr/>
        </p:nvSpPr>
        <p:spPr bwMode="auto">
          <a:xfrm>
            <a:off x="6145287" y="5562600"/>
            <a:ext cx="354012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92" name="Freeform 72"/>
          <p:cNvSpPr/>
          <p:nvPr/>
        </p:nvSpPr>
        <p:spPr bwMode="auto">
          <a:xfrm>
            <a:off x="6737425" y="5738814"/>
            <a:ext cx="3175" cy="1138237"/>
          </a:xfrm>
          <a:custGeom>
            <a:avLst/>
            <a:gdLst>
              <a:gd name="T0" fmla="*/ 5040313 w 2"/>
              <a:gd name="T1" fmla="*/ 1806950444 h 717"/>
              <a:gd name="T2" fmla="*/ 0 w 2"/>
              <a:gd name="T3" fmla="*/ 0 h 717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" h="717">
                <a:moveTo>
                  <a:pt x="2" y="717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tailEnd type="stealth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93" name="AutoShape 73"/>
          <p:cNvSpPr>
            <a:spLocks noChangeArrowheads="1"/>
          </p:cNvSpPr>
          <p:nvPr/>
        </p:nvSpPr>
        <p:spPr bwMode="auto">
          <a:xfrm rot="5400000">
            <a:off x="6372299" y="5372100"/>
            <a:ext cx="685800" cy="457200"/>
          </a:xfrm>
          <a:prstGeom prst="triangle">
            <a:avLst>
              <a:gd name="adj" fmla="val 47912"/>
            </a:avLst>
          </a:prstGeom>
          <a:noFill/>
          <a:ln w="76200">
            <a:solidFill>
              <a:schemeClr val="folHlink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09994" name="Freeform 74"/>
          <p:cNvSpPr/>
          <p:nvPr/>
        </p:nvSpPr>
        <p:spPr bwMode="auto">
          <a:xfrm>
            <a:off x="5343600" y="1743076"/>
            <a:ext cx="830263" cy="1984375"/>
          </a:xfrm>
          <a:custGeom>
            <a:avLst/>
            <a:gdLst>
              <a:gd name="T0" fmla="*/ 7561267 w 523"/>
              <a:gd name="T1" fmla="*/ 0 h 1250"/>
              <a:gd name="T2" fmla="*/ 0 w 523"/>
              <a:gd name="T3" fmla="*/ 15120938 h 1250"/>
              <a:gd name="T4" fmla="*/ 1318043306 w 523"/>
              <a:gd name="T5" fmla="*/ 15120938 h 1250"/>
              <a:gd name="T6" fmla="*/ 1318043306 w 523"/>
              <a:gd name="T7" fmla="*/ 2147483646 h 1250"/>
              <a:gd name="T8" fmla="*/ 700603859 w 523"/>
              <a:gd name="T9" fmla="*/ 2147483646 h 12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23" h="1250">
                <a:moveTo>
                  <a:pt x="3" y="0"/>
                </a:moveTo>
                <a:lnTo>
                  <a:pt x="0" y="6"/>
                </a:lnTo>
                <a:lnTo>
                  <a:pt x="523" y="6"/>
                </a:lnTo>
                <a:lnTo>
                  <a:pt x="523" y="1250"/>
                </a:lnTo>
                <a:lnTo>
                  <a:pt x="278" y="125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09995" name="Group 75"/>
          <p:cNvGrpSpPr/>
          <p:nvPr/>
        </p:nvGrpSpPr>
        <p:grpSpPr bwMode="auto">
          <a:xfrm>
            <a:off x="7192963" y="2060575"/>
            <a:ext cx="3155950" cy="579438"/>
            <a:chOff x="3552" y="1344"/>
            <a:chExt cx="1988" cy="365"/>
          </a:xfrm>
        </p:grpSpPr>
        <p:sp>
          <p:nvSpPr>
            <p:cNvPr id="21550" name="Text Box 76"/>
            <p:cNvSpPr txBox="1">
              <a:spLocks noChangeArrowheads="1"/>
            </p:cNvSpPr>
            <p:nvPr/>
          </p:nvSpPr>
          <p:spPr bwMode="auto">
            <a:xfrm>
              <a:off x="3552" y="1344"/>
              <a:ext cx="1287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dirty="0">
                  <a:latin typeface="Times New Roman" panose="02020603050405020304" pitchFamily="18" charset="0"/>
                </a:rPr>
                <a:t>行选</a:t>
              </a:r>
              <a:r>
                <a:rPr lang="zh-CN" altLang="en-US" sz="3200" dirty="0">
                  <a:latin typeface="Times New Roman" panose="02020603050405020304" pitchFamily="18" charset="0"/>
                </a:rPr>
                <a:t>     </a:t>
              </a:r>
              <a:endParaRPr lang="zh-CN" altLang="en-US" sz="3200" dirty="0">
                <a:latin typeface="Times New Roman" panose="02020603050405020304" pitchFamily="18" charset="0"/>
              </a:endParaRPr>
            </a:p>
          </p:txBody>
        </p:sp>
        <p:sp>
          <p:nvSpPr>
            <p:cNvPr id="21551" name="Text Box 77"/>
            <p:cNvSpPr txBox="1">
              <a:spLocks noChangeArrowheads="1"/>
            </p:cNvSpPr>
            <p:nvPr/>
          </p:nvSpPr>
          <p:spPr bwMode="auto">
            <a:xfrm>
              <a:off x="4427" y="1382"/>
              <a:ext cx="111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5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6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1552" name="Line 78"/>
            <p:cNvSpPr>
              <a:spLocks noChangeShapeType="1"/>
            </p:cNvSpPr>
            <p:nvPr/>
          </p:nvSpPr>
          <p:spPr bwMode="auto">
            <a:xfrm>
              <a:off x="4032" y="1536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9999" name="Freeform 79"/>
          <p:cNvSpPr/>
          <p:nvPr/>
        </p:nvSpPr>
        <p:spPr bwMode="auto">
          <a:xfrm>
            <a:off x="5338838" y="1714500"/>
            <a:ext cx="1587" cy="376238"/>
          </a:xfrm>
          <a:custGeom>
            <a:avLst/>
            <a:gdLst>
              <a:gd name="T0" fmla="*/ 0 w 1"/>
              <a:gd name="T1" fmla="*/ 597278619 h 237"/>
              <a:gd name="T2" fmla="*/ 0 w 1"/>
              <a:gd name="T3" fmla="*/ 0 h 237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37">
                <a:moveTo>
                  <a:pt x="0" y="237"/>
                </a:moveTo>
                <a:lnTo>
                  <a:pt x="0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10001" name="Group 81"/>
          <p:cNvGrpSpPr/>
          <p:nvPr/>
        </p:nvGrpSpPr>
        <p:grpSpPr bwMode="auto">
          <a:xfrm>
            <a:off x="1090688" y="2225675"/>
            <a:ext cx="4194175" cy="579438"/>
            <a:chOff x="249" y="1402"/>
            <a:chExt cx="2642" cy="365"/>
          </a:xfrm>
        </p:grpSpPr>
        <p:sp>
          <p:nvSpPr>
            <p:cNvPr id="21548" name="Freeform 82"/>
            <p:cNvSpPr/>
            <p:nvPr/>
          </p:nvSpPr>
          <p:spPr bwMode="auto">
            <a:xfrm>
              <a:off x="249" y="1402"/>
              <a:ext cx="2642" cy="365"/>
            </a:xfrm>
            <a:custGeom>
              <a:avLst/>
              <a:gdLst>
                <a:gd name="T0" fmla="*/ 2551 w 2736"/>
                <a:gd name="T1" fmla="*/ 0 h 240"/>
                <a:gd name="T2" fmla="*/ 2551 w 2736"/>
                <a:gd name="T3" fmla="*/ 555 h 240"/>
                <a:gd name="T4" fmla="*/ 0 w 2736"/>
                <a:gd name="T5" fmla="*/ 555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49" name="Line 83"/>
            <p:cNvSpPr>
              <a:spLocks noChangeShapeType="1"/>
            </p:cNvSpPr>
            <p:nvPr/>
          </p:nvSpPr>
          <p:spPr bwMode="auto">
            <a:xfrm>
              <a:off x="1056" y="1402"/>
              <a:ext cx="0" cy="365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10004" name="Group 84"/>
          <p:cNvGrpSpPr/>
          <p:nvPr/>
        </p:nvGrpSpPr>
        <p:grpSpPr bwMode="auto">
          <a:xfrm>
            <a:off x="2176538" y="2108201"/>
            <a:ext cx="3336925" cy="117475"/>
            <a:chOff x="933" y="1328"/>
            <a:chExt cx="2102" cy="74"/>
          </a:xfrm>
        </p:grpSpPr>
        <p:grpSp>
          <p:nvGrpSpPr>
            <p:cNvPr id="21542" name="Group 85"/>
            <p:cNvGrpSpPr/>
            <p:nvPr/>
          </p:nvGrpSpPr>
          <p:grpSpPr bwMode="auto">
            <a:xfrm>
              <a:off x="933" y="1328"/>
              <a:ext cx="264" cy="74"/>
              <a:chOff x="3459" y="1296"/>
              <a:chExt cx="243" cy="48"/>
            </a:xfrm>
          </p:grpSpPr>
          <p:sp>
            <p:nvSpPr>
              <p:cNvPr id="21546" name="Line 86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47" name="Line 87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43" name="Group 88"/>
            <p:cNvGrpSpPr/>
            <p:nvPr/>
          </p:nvGrpSpPr>
          <p:grpSpPr bwMode="auto">
            <a:xfrm>
              <a:off x="2770" y="1328"/>
              <a:ext cx="265" cy="74"/>
              <a:chOff x="3459" y="1296"/>
              <a:chExt cx="243" cy="48"/>
            </a:xfrm>
          </p:grpSpPr>
          <p:sp>
            <p:nvSpPr>
              <p:cNvPr id="21544" name="Line 89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45" name="Line 90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0011" name="Group 91"/>
          <p:cNvGrpSpPr/>
          <p:nvPr/>
        </p:nvGrpSpPr>
        <p:grpSpPr bwMode="auto">
          <a:xfrm>
            <a:off x="7269163" y="2746375"/>
            <a:ext cx="3079750" cy="457200"/>
            <a:chOff x="3600" y="1776"/>
            <a:chExt cx="1940" cy="288"/>
          </a:xfrm>
        </p:grpSpPr>
        <p:sp>
          <p:nvSpPr>
            <p:cNvPr id="21539" name="Text Box 92"/>
            <p:cNvSpPr txBox="1">
              <a:spLocks noChangeArrowheads="1"/>
            </p:cNvSpPr>
            <p:nvPr/>
          </p:nvSpPr>
          <p:spPr bwMode="auto">
            <a:xfrm>
              <a:off x="4427" y="1776"/>
              <a:ext cx="111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8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1540" name="Text Box 93"/>
            <p:cNvSpPr txBox="1">
              <a:spLocks noChangeArrowheads="1"/>
            </p:cNvSpPr>
            <p:nvPr/>
          </p:nvSpPr>
          <p:spPr bwMode="auto">
            <a:xfrm>
              <a:off x="3600" y="1776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列选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1541" name="Line 94"/>
            <p:cNvSpPr>
              <a:spLocks noChangeShapeType="1"/>
            </p:cNvSpPr>
            <p:nvPr/>
          </p:nvSpPr>
          <p:spPr bwMode="auto">
            <a:xfrm>
              <a:off x="4032" y="1929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10015" name="Group 95"/>
          <p:cNvGrpSpPr/>
          <p:nvPr/>
        </p:nvGrpSpPr>
        <p:grpSpPr bwMode="auto">
          <a:xfrm>
            <a:off x="7258051" y="3871913"/>
            <a:ext cx="4132263" cy="1084262"/>
            <a:chOff x="3612" y="2149"/>
            <a:chExt cx="2603" cy="683"/>
          </a:xfrm>
        </p:grpSpPr>
        <p:sp>
          <p:nvSpPr>
            <p:cNvPr id="21529" name="Text Box 96"/>
            <p:cNvSpPr txBox="1">
              <a:spLocks noChangeArrowheads="1"/>
            </p:cNvSpPr>
            <p:nvPr/>
          </p:nvSpPr>
          <p:spPr bwMode="auto">
            <a:xfrm>
              <a:off x="4416" y="2544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读放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1530" name="Text Box 97"/>
            <p:cNvSpPr txBox="1">
              <a:spLocks noChangeArrowheads="1"/>
            </p:cNvSpPr>
            <p:nvPr/>
          </p:nvSpPr>
          <p:spPr bwMode="auto">
            <a:xfrm>
              <a:off x="5136" y="2544"/>
              <a:ext cx="10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OUT</a:t>
              </a:r>
              <a:endParaRPr lang="en-US" altLang="zh-CN" sz="24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531" name="Line 98"/>
            <p:cNvSpPr>
              <a:spLocks noChangeShapeType="1"/>
            </p:cNvSpPr>
            <p:nvPr/>
          </p:nvSpPr>
          <p:spPr bwMode="auto">
            <a:xfrm>
              <a:off x="4051" y="2688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32" name="Line 99"/>
            <p:cNvSpPr>
              <a:spLocks noChangeShapeType="1"/>
            </p:cNvSpPr>
            <p:nvPr/>
          </p:nvSpPr>
          <p:spPr bwMode="auto">
            <a:xfrm>
              <a:off x="4850" y="2688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533" name="Group 100"/>
            <p:cNvGrpSpPr/>
            <p:nvPr/>
          </p:nvGrpSpPr>
          <p:grpSpPr bwMode="auto">
            <a:xfrm>
              <a:off x="3612" y="2149"/>
              <a:ext cx="1832" cy="288"/>
              <a:chOff x="3612" y="2149"/>
              <a:chExt cx="1832" cy="288"/>
            </a:xfrm>
          </p:grpSpPr>
          <p:sp>
            <p:nvSpPr>
              <p:cNvPr id="21534" name="Text Box 101"/>
              <p:cNvSpPr txBox="1">
                <a:spLocks noChangeArrowheads="1"/>
              </p:cNvSpPr>
              <p:nvPr/>
            </p:nvSpPr>
            <p:spPr bwMode="auto">
              <a:xfrm>
                <a:off x="3612" y="2149"/>
                <a:ext cx="871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A</a:t>
                </a:r>
                <a:endParaRPr lang="en-US" altLang="zh-CN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5" name="Line 102"/>
              <p:cNvSpPr>
                <a:spLocks noChangeShapeType="1"/>
              </p:cNvSpPr>
              <p:nvPr/>
            </p:nvSpPr>
            <p:spPr bwMode="auto">
              <a:xfrm>
                <a:off x="4051" y="2304"/>
                <a:ext cx="30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36" name="Line 103"/>
              <p:cNvSpPr>
                <a:spLocks noChangeShapeType="1"/>
              </p:cNvSpPr>
              <p:nvPr/>
            </p:nvSpPr>
            <p:spPr bwMode="auto">
              <a:xfrm>
                <a:off x="4850" y="2304"/>
                <a:ext cx="30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537" name="Rectangle 104"/>
              <p:cNvSpPr>
                <a:spLocks noChangeArrowheads="1"/>
              </p:cNvSpPr>
              <p:nvPr/>
            </p:nvSpPr>
            <p:spPr bwMode="auto">
              <a:xfrm>
                <a:off x="4446" y="2149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6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8" name="Rectangle 105"/>
              <p:cNvSpPr>
                <a:spLocks noChangeArrowheads="1"/>
              </p:cNvSpPr>
              <p:nvPr/>
            </p:nvSpPr>
            <p:spPr bwMode="auto">
              <a:xfrm>
                <a:off x="5136" y="2149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8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0026" name="Group 106"/>
          <p:cNvGrpSpPr/>
          <p:nvPr/>
        </p:nvGrpSpPr>
        <p:grpSpPr bwMode="auto">
          <a:xfrm>
            <a:off x="6924750" y="5105400"/>
            <a:ext cx="1158875" cy="482600"/>
            <a:chOff x="3924" y="3216"/>
            <a:chExt cx="730" cy="304"/>
          </a:xfrm>
        </p:grpSpPr>
        <p:sp>
          <p:nvSpPr>
            <p:cNvPr id="21527" name="Freeform 107"/>
            <p:cNvSpPr/>
            <p:nvPr/>
          </p:nvSpPr>
          <p:spPr bwMode="auto">
            <a:xfrm>
              <a:off x="3924" y="3519"/>
              <a:ext cx="398" cy="1"/>
            </a:xfrm>
            <a:custGeom>
              <a:avLst/>
              <a:gdLst>
                <a:gd name="T0" fmla="*/ 0 w 398"/>
                <a:gd name="T1" fmla="*/ 0 h 1"/>
                <a:gd name="T2" fmla="*/ 398 w 39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8" h="1">
                  <a:moveTo>
                    <a:pt x="0" y="0"/>
                  </a:moveTo>
                  <a:lnTo>
                    <a:pt x="398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28" name="Text Box 108"/>
            <p:cNvSpPr txBox="1">
              <a:spLocks noChangeArrowheads="1"/>
            </p:cNvSpPr>
            <p:nvPr/>
          </p:nvSpPr>
          <p:spPr bwMode="auto">
            <a:xfrm>
              <a:off x="4122" y="3216"/>
              <a:ext cx="53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  <a:endPara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10029" name="Text Box 109"/>
          <p:cNvSpPr txBox="1">
            <a:spLocks noChangeArrowheads="1"/>
          </p:cNvSpPr>
          <p:nvPr/>
        </p:nvSpPr>
        <p:spPr bwMode="auto">
          <a:xfrm>
            <a:off x="7200901" y="3322638"/>
            <a:ext cx="26654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读选择有效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9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9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210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210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210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209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209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209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210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9" dur="500"/>
                                        <p:tgtEl>
                                          <p:spTgt spid="209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210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209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4" dur="500"/>
                                        <p:tgtEl>
                                          <p:spTgt spid="209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8" dur="500"/>
                                        <p:tgtEl>
                                          <p:spTgt spid="209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20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7" dur="500"/>
                                        <p:tgtEl>
                                          <p:spTgt spid="209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209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6" dur="500"/>
                                        <p:tgtEl>
                                          <p:spTgt spid="210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02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Text Box 57"/>
          <p:cNvSpPr txBox="1">
            <a:spLocks noChangeArrowheads="1"/>
          </p:cNvSpPr>
          <p:nvPr/>
        </p:nvSpPr>
        <p:spPr bwMode="auto">
          <a:xfrm>
            <a:off x="67469" y="19777"/>
            <a:ext cx="7010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静态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基本电路的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lang="en-US" altLang="zh-CN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操作  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grpSp>
        <p:nvGrpSpPr>
          <p:cNvPr id="211044" name="Group 100"/>
          <p:cNvGrpSpPr/>
          <p:nvPr/>
        </p:nvGrpSpPr>
        <p:grpSpPr bwMode="auto">
          <a:xfrm>
            <a:off x="7299326" y="1949450"/>
            <a:ext cx="3368675" cy="457200"/>
            <a:chOff x="3638" y="1228"/>
            <a:chExt cx="2122" cy="288"/>
          </a:xfrm>
        </p:grpSpPr>
        <p:sp>
          <p:nvSpPr>
            <p:cNvPr id="22583" name="Text Box 101"/>
            <p:cNvSpPr txBox="1">
              <a:spLocks noChangeArrowheads="1"/>
            </p:cNvSpPr>
            <p:nvPr/>
          </p:nvSpPr>
          <p:spPr bwMode="auto">
            <a:xfrm>
              <a:off x="3638" y="1228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行选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2584" name="Text Box 102"/>
            <p:cNvSpPr txBox="1">
              <a:spLocks noChangeArrowheads="1"/>
            </p:cNvSpPr>
            <p:nvPr/>
          </p:nvSpPr>
          <p:spPr bwMode="auto">
            <a:xfrm>
              <a:off x="4416" y="1228"/>
              <a:ext cx="13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5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6 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2585" name="Line 103"/>
            <p:cNvSpPr>
              <a:spLocks noChangeShapeType="1"/>
            </p:cNvSpPr>
            <p:nvPr/>
          </p:nvSpPr>
          <p:spPr bwMode="auto">
            <a:xfrm>
              <a:off x="4128" y="1373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11048" name="Group 104"/>
          <p:cNvGrpSpPr/>
          <p:nvPr/>
        </p:nvGrpSpPr>
        <p:grpSpPr bwMode="auto">
          <a:xfrm>
            <a:off x="7299326" y="3692525"/>
            <a:ext cx="2759075" cy="457200"/>
            <a:chOff x="3638" y="2038"/>
            <a:chExt cx="1738" cy="288"/>
          </a:xfrm>
        </p:grpSpPr>
        <p:sp>
          <p:nvSpPr>
            <p:cNvPr id="22580" name="Text Box 105"/>
            <p:cNvSpPr txBox="1">
              <a:spLocks noChangeArrowheads="1"/>
            </p:cNvSpPr>
            <p:nvPr/>
          </p:nvSpPr>
          <p:spPr bwMode="auto">
            <a:xfrm>
              <a:off x="4368" y="2038"/>
              <a:ext cx="10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两个写放 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22581" name="Line 106"/>
            <p:cNvSpPr>
              <a:spLocks noChangeShapeType="1"/>
            </p:cNvSpPr>
            <p:nvPr/>
          </p:nvSpPr>
          <p:spPr bwMode="auto">
            <a:xfrm>
              <a:off x="4128" y="2208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82" name="Text Box 107"/>
            <p:cNvSpPr txBox="1">
              <a:spLocks noChangeArrowheads="1"/>
            </p:cNvSpPr>
            <p:nvPr/>
          </p:nvSpPr>
          <p:spPr bwMode="auto">
            <a:xfrm>
              <a:off x="3638" y="2038"/>
              <a:ext cx="39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IN</a:t>
              </a:r>
              <a:endParaRPr lang="en-US" altLang="zh-CN" sz="24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1054" name="Group 110"/>
          <p:cNvGrpSpPr/>
          <p:nvPr/>
        </p:nvGrpSpPr>
        <p:grpSpPr bwMode="auto">
          <a:xfrm>
            <a:off x="7299326" y="2571750"/>
            <a:ext cx="3368675" cy="457200"/>
            <a:chOff x="3638" y="1620"/>
            <a:chExt cx="2122" cy="288"/>
          </a:xfrm>
        </p:grpSpPr>
        <p:grpSp>
          <p:nvGrpSpPr>
            <p:cNvPr id="22576" name="Group 111"/>
            <p:cNvGrpSpPr/>
            <p:nvPr/>
          </p:nvGrpSpPr>
          <p:grpSpPr bwMode="auto">
            <a:xfrm>
              <a:off x="3638" y="1620"/>
              <a:ext cx="720" cy="288"/>
              <a:chOff x="3638" y="1620"/>
              <a:chExt cx="720" cy="288"/>
            </a:xfrm>
          </p:grpSpPr>
          <p:sp>
            <p:nvSpPr>
              <p:cNvPr id="22578" name="Text Box 112"/>
              <p:cNvSpPr txBox="1">
                <a:spLocks noChangeArrowheads="1"/>
              </p:cNvSpPr>
              <p:nvPr/>
            </p:nvSpPr>
            <p:spPr bwMode="auto">
              <a:xfrm>
                <a:off x="3638" y="1620"/>
                <a:ext cx="48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8000" rIns="1800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列选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79" name="Line 113"/>
              <p:cNvSpPr>
                <a:spLocks noChangeShapeType="1"/>
              </p:cNvSpPr>
              <p:nvPr/>
            </p:nvSpPr>
            <p:spPr bwMode="auto">
              <a:xfrm>
                <a:off x="4118" y="1764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2577" name="Text Box 114"/>
            <p:cNvSpPr txBox="1">
              <a:spLocks noChangeArrowheads="1"/>
            </p:cNvSpPr>
            <p:nvPr/>
          </p:nvSpPr>
          <p:spPr bwMode="auto">
            <a:xfrm>
              <a:off x="4416" y="1620"/>
              <a:ext cx="13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8 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1059" name="Group 115"/>
          <p:cNvGrpSpPr/>
          <p:nvPr/>
        </p:nvGrpSpPr>
        <p:grpSpPr bwMode="auto">
          <a:xfrm>
            <a:off x="4876800" y="5646739"/>
            <a:ext cx="5638800" cy="1038225"/>
            <a:chOff x="2112" y="3609"/>
            <a:chExt cx="3552" cy="654"/>
          </a:xfrm>
        </p:grpSpPr>
        <p:grpSp>
          <p:nvGrpSpPr>
            <p:cNvPr id="22557" name="Group 116"/>
            <p:cNvGrpSpPr/>
            <p:nvPr/>
          </p:nvGrpSpPr>
          <p:grpSpPr bwMode="auto">
            <a:xfrm>
              <a:off x="2112" y="3609"/>
              <a:ext cx="3552" cy="654"/>
              <a:chOff x="2112" y="3609"/>
              <a:chExt cx="3552" cy="654"/>
            </a:xfrm>
          </p:grpSpPr>
          <p:sp>
            <p:nvSpPr>
              <p:cNvPr id="22559" name="Text Box 117"/>
              <p:cNvSpPr txBox="1">
                <a:spLocks noChangeArrowheads="1"/>
              </p:cNvSpPr>
              <p:nvPr/>
            </p:nvSpPr>
            <p:spPr bwMode="auto">
              <a:xfrm>
                <a:off x="2112" y="3609"/>
                <a:ext cx="91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（左）</a:t>
                </a:r>
                <a:r>
                  <a:rPr lang="zh-CN" altLang="en-US" sz="2800">
                    <a:latin typeface="Times New Roman" panose="02020603050405020304" pitchFamily="18" charset="0"/>
                  </a:rPr>
                  <a:t> 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60" name="Text Box 118"/>
              <p:cNvSpPr txBox="1">
                <a:spLocks noChangeArrowheads="1"/>
              </p:cNvSpPr>
              <p:nvPr/>
            </p:nvSpPr>
            <p:spPr bwMode="auto">
              <a:xfrm>
                <a:off x="3360" y="3628"/>
                <a:ext cx="62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反相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61" name="Line 119"/>
              <p:cNvSpPr>
                <a:spLocks noChangeShapeType="1"/>
              </p:cNvSpPr>
              <p:nvPr/>
            </p:nvSpPr>
            <p:spPr bwMode="auto">
              <a:xfrm>
                <a:off x="3120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2" name="Line 120"/>
              <p:cNvSpPr>
                <a:spLocks noChangeShapeType="1"/>
              </p:cNvSpPr>
              <p:nvPr/>
            </p:nvSpPr>
            <p:spPr bwMode="auto">
              <a:xfrm>
                <a:off x="3888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3" name="Line 121"/>
              <p:cNvSpPr>
                <a:spLocks noChangeShapeType="1"/>
              </p:cNvSpPr>
              <p:nvPr/>
            </p:nvSpPr>
            <p:spPr bwMode="auto">
              <a:xfrm>
                <a:off x="4464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4" name="Rectangle 122"/>
              <p:cNvSpPr>
                <a:spLocks noChangeArrowheads="1"/>
              </p:cNvSpPr>
              <p:nvPr/>
            </p:nvSpPr>
            <p:spPr bwMode="auto">
              <a:xfrm>
                <a:off x="4700" y="3641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5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65" name="Line 123"/>
              <p:cNvSpPr>
                <a:spLocks noChangeShapeType="1"/>
              </p:cNvSpPr>
              <p:nvPr/>
            </p:nvSpPr>
            <p:spPr bwMode="auto">
              <a:xfrm>
                <a:off x="5036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6" name="Text Box 124"/>
              <p:cNvSpPr txBox="1">
                <a:spLocks noChangeArrowheads="1"/>
              </p:cNvSpPr>
              <p:nvPr/>
            </p:nvSpPr>
            <p:spPr bwMode="auto">
              <a:xfrm>
                <a:off x="5324" y="3609"/>
                <a:ext cx="33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8000" rIns="1800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A</a:t>
                </a:r>
                <a:r>
                  <a:rPr lang="zh-CN" altLang="en-US" sz="28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´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67" name="Text Box 125"/>
              <p:cNvSpPr txBox="1">
                <a:spLocks noChangeArrowheads="1"/>
              </p:cNvSpPr>
              <p:nvPr/>
            </p:nvSpPr>
            <p:spPr bwMode="auto">
              <a:xfrm>
                <a:off x="2112" y="3936"/>
                <a:ext cx="864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（右）</a:t>
                </a:r>
                <a:r>
                  <a:rPr lang="zh-CN" altLang="en-US" sz="2800">
                    <a:latin typeface="Times New Roman" panose="02020603050405020304" pitchFamily="18" charset="0"/>
                  </a:rPr>
                  <a:t> 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68" name="Freeform 126"/>
              <p:cNvSpPr/>
              <p:nvPr/>
            </p:nvSpPr>
            <p:spPr bwMode="auto">
              <a:xfrm>
                <a:off x="3120" y="4101"/>
                <a:ext cx="1014" cy="1"/>
              </a:xfrm>
              <a:custGeom>
                <a:avLst/>
                <a:gdLst>
                  <a:gd name="T0" fmla="*/ 0 w 1014"/>
                  <a:gd name="T1" fmla="*/ 0 h 1"/>
                  <a:gd name="T2" fmla="*/ 1014 w 101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1">
                    <a:moveTo>
                      <a:pt x="0" y="0"/>
                    </a:moveTo>
                    <a:lnTo>
                      <a:pt x="1014" y="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69" name="Rectangle 127"/>
              <p:cNvSpPr>
                <a:spLocks noChangeArrowheads="1"/>
              </p:cNvSpPr>
              <p:nvPr/>
            </p:nvSpPr>
            <p:spPr bwMode="auto">
              <a:xfrm>
                <a:off x="4132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8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70" name="Line 128"/>
              <p:cNvSpPr>
                <a:spLocks noChangeShapeType="1"/>
              </p:cNvSpPr>
              <p:nvPr/>
            </p:nvSpPr>
            <p:spPr bwMode="auto">
              <a:xfrm>
                <a:off x="4468" y="4108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71" name="Rectangle 129"/>
              <p:cNvSpPr>
                <a:spLocks noChangeArrowheads="1"/>
              </p:cNvSpPr>
              <p:nvPr/>
            </p:nvSpPr>
            <p:spPr bwMode="auto">
              <a:xfrm>
                <a:off x="4704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6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72" name="Line 130"/>
              <p:cNvSpPr>
                <a:spLocks noChangeShapeType="1"/>
              </p:cNvSpPr>
              <p:nvPr/>
            </p:nvSpPr>
            <p:spPr bwMode="auto">
              <a:xfrm>
                <a:off x="5040" y="4108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573" name="Text Box 131"/>
              <p:cNvSpPr txBox="1">
                <a:spLocks noChangeArrowheads="1"/>
              </p:cNvSpPr>
              <p:nvPr/>
            </p:nvSpPr>
            <p:spPr bwMode="auto">
              <a:xfrm>
                <a:off x="5328" y="3936"/>
                <a:ext cx="33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8000" rIns="1800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A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74" name="Text Box 132"/>
              <p:cNvSpPr txBox="1">
                <a:spLocks noChangeArrowheads="1"/>
              </p:cNvSpPr>
              <p:nvPr/>
            </p:nvSpPr>
            <p:spPr bwMode="auto">
              <a:xfrm>
                <a:off x="2736" y="3629"/>
                <a:ext cx="39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IN</a:t>
                </a:r>
                <a:endParaRPr lang="en-US" altLang="zh-CN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75" name="Text Box 133"/>
              <p:cNvSpPr txBox="1">
                <a:spLocks noChangeArrowheads="1"/>
              </p:cNvSpPr>
              <p:nvPr/>
            </p:nvSpPr>
            <p:spPr bwMode="auto">
              <a:xfrm>
                <a:off x="2736" y="3964"/>
                <a:ext cx="39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IN</a:t>
                </a:r>
                <a:endParaRPr lang="en-US" altLang="zh-CN" sz="2400" baseline="-25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2558" name="Rectangle 134"/>
            <p:cNvSpPr>
              <a:spLocks noChangeArrowheads="1"/>
            </p:cNvSpPr>
            <p:nvPr/>
          </p:nvSpPr>
          <p:spPr bwMode="auto">
            <a:xfrm>
              <a:off x="4156" y="3641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</a:t>
              </a:r>
              <a:endParaRPr lang="zh-CN" altLang="en-US" sz="2400" baseline="-25000">
                <a:latin typeface="Times New Roman" panose="02020603050405020304" pitchFamily="18" charset="0"/>
              </a:endParaRPr>
            </a:p>
          </p:txBody>
        </p:sp>
      </p:grpSp>
      <p:sp>
        <p:nvSpPr>
          <p:cNvPr id="211079" name="Text Box 135"/>
          <p:cNvSpPr txBox="1">
            <a:spLocks noChangeArrowheads="1"/>
          </p:cNvSpPr>
          <p:nvPr/>
        </p:nvSpPr>
        <p:spPr bwMode="auto">
          <a:xfrm>
            <a:off x="7200901" y="3141663"/>
            <a:ext cx="26654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写选择有效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" name="Group 2"/>
          <p:cNvGrpSpPr/>
          <p:nvPr/>
        </p:nvGrpSpPr>
        <p:grpSpPr bwMode="auto">
          <a:xfrm>
            <a:off x="766763" y="930277"/>
            <a:ext cx="7202488" cy="5257800"/>
            <a:chOff x="134" y="643"/>
            <a:chExt cx="4537" cy="3312"/>
          </a:xfrm>
        </p:grpSpPr>
        <p:sp>
          <p:nvSpPr>
            <p:cNvPr id="3" name="Rectangle 3"/>
            <p:cNvSpPr>
              <a:spLocks noChangeArrowheads="1"/>
            </p:cNvSpPr>
            <p:nvPr/>
          </p:nvSpPr>
          <p:spPr bwMode="auto">
            <a:xfrm>
              <a:off x="1413" y="798"/>
              <a:ext cx="1009" cy="40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" name="Text Box 4"/>
            <p:cNvSpPr txBox="1">
              <a:spLocks noChangeArrowheads="1"/>
            </p:cNvSpPr>
            <p:nvPr/>
          </p:nvSpPr>
          <p:spPr bwMode="auto">
            <a:xfrm>
              <a:off x="1451" y="801"/>
              <a:ext cx="90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2800" b="0">
                  <a:latin typeface="Times New Roman" panose="02020603050405020304" pitchFamily="18" charset="0"/>
                </a:rPr>
                <a:t>   ~  </a:t>
              </a: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</a:t>
              </a:r>
              <a:endParaRPr lang="zh-CN" altLang="en-US" sz="24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5" name="Freeform 5"/>
            <p:cNvSpPr/>
            <p:nvPr/>
          </p:nvSpPr>
          <p:spPr bwMode="auto">
            <a:xfrm>
              <a:off x="2422" y="1034"/>
              <a:ext cx="310" cy="171"/>
            </a:xfrm>
            <a:custGeom>
              <a:avLst/>
              <a:gdLst>
                <a:gd name="T0" fmla="*/ 0 w 310"/>
                <a:gd name="T1" fmla="*/ 1 h 171"/>
                <a:gd name="T2" fmla="*/ 308 w 310"/>
                <a:gd name="T3" fmla="*/ 0 h 171"/>
                <a:gd name="T4" fmla="*/ 310 w 310"/>
                <a:gd name="T5" fmla="*/ 17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171">
                  <a:moveTo>
                    <a:pt x="0" y="1"/>
                  </a:moveTo>
                  <a:lnTo>
                    <a:pt x="308" y="0"/>
                  </a:lnTo>
                  <a:lnTo>
                    <a:pt x="310" y="17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106" y="1029"/>
              <a:ext cx="291" cy="179"/>
            </a:xfrm>
            <a:custGeom>
              <a:avLst/>
              <a:gdLst>
                <a:gd name="T0" fmla="*/ 291 w 291"/>
                <a:gd name="T1" fmla="*/ 0 h 179"/>
                <a:gd name="T2" fmla="*/ 0 w 291"/>
                <a:gd name="T3" fmla="*/ 2 h 179"/>
                <a:gd name="T4" fmla="*/ 0 w 291"/>
                <a:gd name="T5" fmla="*/ 179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79">
                  <a:moveTo>
                    <a:pt x="291" y="0"/>
                  </a:moveTo>
                  <a:lnTo>
                    <a:pt x="0" y="2"/>
                  </a:lnTo>
                  <a:lnTo>
                    <a:pt x="0" y="17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7" name="Group 7"/>
            <p:cNvGrpSpPr/>
            <p:nvPr/>
          </p:nvGrpSpPr>
          <p:grpSpPr bwMode="auto">
            <a:xfrm>
              <a:off x="2673" y="1213"/>
              <a:ext cx="256" cy="60"/>
              <a:chOff x="2673" y="1213"/>
              <a:chExt cx="256" cy="60"/>
            </a:xfrm>
          </p:grpSpPr>
          <p:sp>
            <p:nvSpPr>
              <p:cNvPr id="55" name="Line 8"/>
              <p:cNvSpPr>
                <a:spLocks noChangeShapeType="1"/>
              </p:cNvSpPr>
              <p:nvPr/>
            </p:nvSpPr>
            <p:spPr bwMode="auto">
              <a:xfrm>
                <a:off x="2673" y="1213"/>
                <a:ext cx="25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" name="Line 9"/>
              <p:cNvSpPr>
                <a:spLocks noChangeShapeType="1"/>
              </p:cNvSpPr>
              <p:nvPr/>
            </p:nvSpPr>
            <p:spPr bwMode="auto">
              <a:xfrm>
                <a:off x="2720" y="1273"/>
                <a:ext cx="15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8" name="Group 10"/>
            <p:cNvGrpSpPr/>
            <p:nvPr/>
          </p:nvGrpSpPr>
          <p:grpSpPr bwMode="auto">
            <a:xfrm>
              <a:off x="941" y="1212"/>
              <a:ext cx="244" cy="62"/>
              <a:chOff x="941" y="1212"/>
              <a:chExt cx="244" cy="62"/>
            </a:xfrm>
          </p:grpSpPr>
          <p:sp>
            <p:nvSpPr>
              <p:cNvPr id="53" name="Freeform 11"/>
              <p:cNvSpPr/>
              <p:nvPr/>
            </p:nvSpPr>
            <p:spPr bwMode="auto">
              <a:xfrm>
                <a:off x="941" y="1212"/>
                <a:ext cx="244" cy="1"/>
              </a:xfrm>
              <a:custGeom>
                <a:avLst/>
                <a:gdLst>
                  <a:gd name="T0" fmla="*/ 0 w 244"/>
                  <a:gd name="T1" fmla="*/ 1 h 1"/>
                  <a:gd name="T2" fmla="*/ 244 w 24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4" h="1">
                    <a:moveTo>
                      <a:pt x="0" y="1"/>
                    </a:moveTo>
                    <a:lnTo>
                      <a:pt x="24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" name="Freeform 12"/>
              <p:cNvSpPr/>
              <p:nvPr/>
            </p:nvSpPr>
            <p:spPr bwMode="auto">
              <a:xfrm>
                <a:off x="988" y="1273"/>
                <a:ext cx="149" cy="1"/>
              </a:xfrm>
              <a:custGeom>
                <a:avLst/>
                <a:gdLst>
                  <a:gd name="T0" fmla="*/ 0 w 149"/>
                  <a:gd name="T1" fmla="*/ 0 h 1"/>
                  <a:gd name="T2" fmla="*/ 149 w 149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9" h="1">
                    <a:moveTo>
                      <a:pt x="0" y="0"/>
                    </a:moveTo>
                    <a:lnTo>
                      <a:pt x="149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9" name="Group 13"/>
            <p:cNvGrpSpPr/>
            <p:nvPr/>
          </p:nvGrpSpPr>
          <p:grpSpPr bwMode="auto">
            <a:xfrm>
              <a:off x="3045" y="1965"/>
              <a:ext cx="75" cy="303"/>
              <a:chOff x="3045" y="1965"/>
              <a:chExt cx="75" cy="303"/>
            </a:xfrm>
          </p:grpSpPr>
          <p:sp>
            <p:nvSpPr>
              <p:cNvPr id="51" name="Freeform 14"/>
              <p:cNvSpPr/>
              <p:nvPr/>
            </p:nvSpPr>
            <p:spPr bwMode="auto">
              <a:xfrm>
                <a:off x="3119" y="1965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0 w 1"/>
                  <a:gd name="T3" fmla="*/ 303 h 3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03">
                    <a:moveTo>
                      <a:pt x="0" y="0"/>
                    </a:moveTo>
                    <a:lnTo>
                      <a:pt x="0" y="30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" name="Freeform 15"/>
              <p:cNvSpPr/>
              <p:nvPr/>
            </p:nvSpPr>
            <p:spPr bwMode="auto">
              <a:xfrm>
                <a:off x="3045" y="2025"/>
                <a:ext cx="1" cy="179"/>
              </a:xfrm>
              <a:custGeom>
                <a:avLst/>
                <a:gdLst>
                  <a:gd name="T0" fmla="*/ 0 w 1"/>
                  <a:gd name="T1" fmla="*/ 0 h 179"/>
                  <a:gd name="T2" fmla="*/ 0 w 1"/>
                  <a:gd name="T3" fmla="*/ 179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9">
                    <a:moveTo>
                      <a:pt x="0" y="0"/>
                    </a:moveTo>
                    <a:lnTo>
                      <a:pt x="0" y="17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0" name="Group 16"/>
            <p:cNvGrpSpPr/>
            <p:nvPr/>
          </p:nvGrpSpPr>
          <p:grpSpPr bwMode="auto">
            <a:xfrm>
              <a:off x="747" y="1968"/>
              <a:ext cx="75" cy="297"/>
              <a:chOff x="747" y="1968"/>
              <a:chExt cx="75" cy="297"/>
            </a:xfrm>
          </p:grpSpPr>
          <p:sp>
            <p:nvSpPr>
              <p:cNvPr id="49" name="Freeform 17"/>
              <p:cNvSpPr/>
              <p:nvPr/>
            </p:nvSpPr>
            <p:spPr bwMode="auto">
              <a:xfrm>
                <a:off x="747" y="1968"/>
                <a:ext cx="1" cy="297"/>
              </a:xfrm>
              <a:custGeom>
                <a:avLst/>
                <a:gdLst>
                  <a:gd name="T0" fmla="*/ 0 w 1"/>
                  <a:gd name="T1" fmla="*/ 297 h 297"/>
                  <a:gd name="T2" fmla="*/ 0 w 1"/>
                  <a:gd name="T3" fmla="*/ 0 h 2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7">
                    <a:moveTo>
                      <a:pt x="0" y="297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" name="Freeform 18"/>
              <p:cNvSpPr/>
              <p:nvPr/>
            </p:nvSpPr>
            <p:spPr bwMode="auto">
              <a:xfrm>
                <a:off x="821" y="2033"/>
                <a:ext cx="1" cy="180"/>
              </a:xfrm>
              <a:custGeom>
                <a:avLst/>
                <a:gdLst>
                  <a:gd name="T0" fmla="*/ 0 w 1"/>
                  <a:gd name="T1" fmla="*/ 180 h 180"/>
                  <a:gd name="T2" fmla="*/ 1 w 1"/>
                  <a:gd name="T3" fmla="*/ 0 h 1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80">
                    <a:moveTo>
                      <a:pt x="0" y="180"/>
                    </a:move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1" name="Freeform 19"/>
            <p:cNvSpPr/>
            <p:nvPr/>
          </p:nvSpPr>
          <p:spPr bwMode="auto">
            <a:xfrm>
              <a:off x="816" y="2112"/>
              <a:ext cx="2217" cy="3"/>
            </a:xfrm>
            <a:custGeom>
              <a:avLst/>
              <a:gdLst>
                <a:gd name="T0" fmla="*/ 0 w 2225"/>
                <a:gd name="T1" fmla="*/ 0 h 3"/>
                <a:gd name="T2" fmla="*/ 2209 w 222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25" h="3">
                  <a:moveTo>
                    <a:pt x="0" y="0"/>
                  </a:moveTo>
                  <a:lnTo>
                    <a:pt x="2225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" name="Freeform 20"/>
            <p:cNvSpPr/>
            <p:nvPr/>
          </p:nvSpPr>
          <p:spPr bwMode="auto">
            <a:xfrm>
              <a:off x="3128" y="2163"/>
              <a:ext cx="202" cy="832"/>
            </a:xfrm>
            <a:custGeom>
              <a:avLst/>
              <a:gdLst>
                <a:gd name="T0" fmla="*/ 0 w 192"/>
                <a:gd name="T1" fmla="*/ 0 h 672"/>
                <a:gd name="T2" fmla="*/ 213 w 192"/>
                <a:gd name="T3" fmla="*/ 0 h 672"/>
                <a:gd name="T4" fmla="*/ 213 w 192"/>
                <a:gd name="T5" fmla="*/ 1030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AutoShape 21"/>
            <p:cNvSpPr>
              <a:spLocks noChangeArrowheads="1"/>
            </p:cNvSpPr>
            <p:nvPr/>
          </p:nvSpPr>
          <p:spPr bwMode="auto">
            <a:xfrm rot="5400000">
              <a:off x="2024" y="2840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4" name="AutoShape 22"/>
            <p:cNvSpPr>
              <a:spLocks noChangeArrowheads="1"/>
            </p:cNvSpPr>
            <p:nvPr/>
          </p:nvSpPr>
          <p:spPr bwMode="auto">
            <a:xfrm rot="-5400000">
              <a:off x="1404" y="2837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5" name="Oval 23"/>
            <p:cNvSpPr>
              <a:spLocks noChangeArrowheads="1"/>
            </p:cNvSpPr>
            <p:nvPr/>
          </p:nvSpPr>
          <p:spPr bwMode="auto">
            <a:xfrm rot="10800000">
              <a:off x="1343" y="2956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6" name="Freeform 24"/>
            <p:cNvSpPr/>
            <p:nvPr/>
          </p:nvSpPr>
          <p:spPr bwMode="auto">
            <a:xfrm>
              <a:off x="2352" y="2987"/>
              <a:ext cx="1181" cy="1"/>
            </a:xfrm>
            <a:custGeom>
              <a:avLst/>
              <a:gdLst>
                <a:gd name="T0" fmla="*/ 0 w 1181"/>
                <a:gd name="T1" fmla="*/ 0 h 1"/>
                <a:gd name="T2" fmla="*/ 1181 w 118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1" h="1">
                  <a:moveTo>
                    <a:pt x="0" y="0"/>
                  </a:moveTo>
                  <a:lnTo>
                    <a:pt x="1181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AutoShape 25"/>
            <p:cNvSpPr>
              <a:spLocks noChangeArrowheads="1"/>
            </p:cNvSpPr>
            <p:nvPr/>
          </p:nvSpPr>
          <p:spPr bwMode="auto">
            <a:xfrm rot="5400000">
              <a:off x="3506" y="2843"/>
              <a:ext cx="356" cy="303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8" name="Line 26"/>
            <p:cNvSpPr>
              <a:spLocks noChangeShapeType="1"/>
            </p:cNvSpPr>
            <p:nvPr/>
          </p:nvSpPr>
          <p:spPr bwMode="auto">
            <a:xfrm>
              <a:off x="3835" y="2995"/>
              <a:ext cx="35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Freeform 27"/>
            <p:cNvSpPr/>
            <p:nvPr/>
          </p:nvSpPr>
          <p:spPr bwMode="auto">
            <a:xfrm>
              <a:off x="1731" y="2994"/>
              <a:ext cx="320" cy="2"/>
            </a:xfrm>
            <a:custGeom>
              <a:avLst/>
              <a:gdLst>
                <a:gd name="T0" fmla="*/ 0 w 320"/>
                <a:gd name="T1" fmla="*/ 0 h 2"/>
                <a:gd name="T2" fmla="*/ 320 w 32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0" h="2">
                  <a:moveTo>
                    <a:pt x="0" y="0"/>
                  </a:moveTo>
                  <a:lnTo>
                    <a:pt x="32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" name="Freeform 28"/>
            <p:cNvSpPr/>
            <p:nvPr/>
          </p:nvSpPr>
          <p:spPr bwMode="auto">
            <a:xfrm>
              <a:off x="1880" y="2996"/>
              <a:ext cx="1" cy="649"/>
            </a:xfrm>
            <a:custGeom>
              <a:avLst/>
              <a:gdLst>
                <a:gd name="T0" fmla="*/ 0 w 1"/>
                <a:gd name="T1" fmla="*/ 0 h 649"/>
                <a:gd name="T2" fmla="*/ 0 w 1"/>
                <a:gd name="T3" fmla="*/ 649 h 6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49">
                  <a:moveTo>
                    <a:pt x="0" y="0"/>
                  </a:moveTo>
                  <a:lnTo>
                    <a:pt x="0" y="64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" name="Freeform 29"/>
            <p:cNvSpPr/>
            <p:nvPr/>
          </p:nvSpPr>
          <p:spPr bwMode="auto">
            <a:xfrm>
              <a:off x="2202" y="3074"/>
              <a:ext cx="2" cy="571"/>
            </a:xfrm>
            <a:custGeom>
              <a:avLst/>
              <a:gdLst>
                <a:gd name="T0" fmla="*/ 0 w 2"/>
                <a:gd name="T1" fmla="*/ 571 h 571"/>
                <a:gd name="T2" fmla="*/ 2 w 2"/>
                <a:gd name="T3" fmla="*/ 0 h 5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71">
                  <a:moveTo>
                    <a:pt x="0" y="571"/>
                  </a:move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" name="Freeform 30"/>
            <p:cNvSpPr/>
            <p:nvPr/>
          </p:nvSpPr>
          <p:spPr bwMode="auto">
            <a:xfrm>
              <a:off x="1553" y="3043"/>
              <a:ext cx="652" cy="377"/>
            </a:xfrm>
            <a:custGeom>
              <a:avLst/>
              <a:gdLst>
                <a:gd name="T0" fmla="*/ 0 w 652"/>
                <a:gd name="T1" fmla="*/ 0 h 377"/>
                <a:gd name="T2" fmla="*/ 1 w 652"/>
                <a:gd name="T3" fmla="*/ 377 h 377"/>
                <a:gd name="T4" fmla="*/ 652 w 652"/>
                <a:gd name="T5" fmla="*/ 374 h 3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2" h="377">
                  <a:moveTo>
                    <a:pt x="0" y="0"/>
                  </a:moveTo>
                  <a:lnTo>
                    <a:pt x="1" y="377"/>
                  </a:lnTo>
                  <a:lnTo>
                    <a:pt x="652" y="37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lg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" name="Freeform 31"/>
            <p:cNvSpPr/>
            <p:nvPr/>
          </p:nvSpPr>
          <p:spPr bwMode="auto">
            <a:xfrm>
              <a:off x="492" y="2159"/>
              <a:ext cx="858" cy="829"/>
            </a:xfrm>
            <a:custGeom>
              <a:avLst/>
              <a:gdLst>
                <a:gd name="T0" fmla="*/ 266 w 858"/>
                <a:gd name="T1" fmla="*/ 0 h 829"/>
                <a:gd name="T2" fmla="*/ 0 w 858"/>
                <a:gd name="T3" fmla="*/ 0 h 829"/>
                <a:gd name="T4" fmla="*/ 0 w 858"/>
                <a:gd name="T5" fmla="*/ 828 h 829"/>
                <a:gd name="T6" fmla="*/ 858 w 858"/>
                <a:gd name="T7" fmla="*/ 829 h 8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8" h="829">
                  <a:moveTo>
                    <a:pt x="266" y="0"/>
                  </a:moveTo>
                  <a:lnTo>
                    <a:pt x="0" y="0"/>
                  </a:lnTo>
                  <a:lnTo>
                    <a:pt x="0" y="828"/>
                  </a:lnTo>
                  <a:lnTo>
                    <a:pt x="858" y="82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" name="Freeform 32"/>
            <p:cNvSpPr/>
            <p:nvPr/>
          </p:nvSpPr>
          <p:spPr bwMode="auto">
            <a:xfrm>
              <a:off x="302" y="2104"/>
              <a:ext cx="1615" cy="475"/>
            </a:xfrm>
            <a:custGeom>
              <a:avLst/>
              <a:gdLst>
                <a:gd name="T0" fmla="*/ 1393 w 1872"/>
                <a:gd name="T1" fmla="*/ 0 h 384"/>
                <a:gd name="T2" fmla="*/ 1393 w 1872"/>
                <a:gd name="T3" fmla="*/ 588 h 384"/>
                <a:gd name="T4" fmla="*/ 0 w 1872"/>
                <a:gd name="T5" fmla="*/ 588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" name="Freeform 33"/>
            <p:cNvSpPr/>
            <p:nvPr/>
          </p:nvSpPr>
          <p:spPr bwMode="auto">
            <a:xfrm>
              <a:off x="3684" y="3072"/>
              <a:ext cx="1" cy="456"/>
            </a:xfrm>
            <a:custGeom>
              <a:avLst/>
              <a:gdLst>
                <a:gd name="T0" fmla="*/ 0 w 1"/>
                <a:gd name="T1" fmla="*/ 456 h 456"/>
                <a:gd name="T2" fmla="*/ 0 w 1"/>
                <a:gd name="T3" fmla="*/ 0 h 4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56">
                  <a:moveTo>
                    <a:pt x="0" y="45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Freeform 34"/>
            <p:cNvSpPr/>
            <p:nvPr/>
          </p:nvSpPr>
          <p:spPr bwMode="auto">
            <a:xfrm>
              <a:off x="491" y="1040"/>
              <a:ext cx="526" cy="1017"/>
            </a:xfrm>
            <a:custGeom>
              <a:avLst/>
              <a:gdLst>
                <a:gd name="T0" fmla="*/ 526 w 526"/>
                <a:gd name="T1" fmla="*/ 173 h 1017"/>
                <a:gd name="T2" fmla="*/ 526 w 526"/>
                <a:gd name="T3" fmla="*/ 0 h 1017"/>
                <a:gd name="T4" fmla="*/ 1 w 526"/>
                <a:gd name="T5" fmla="*/ 0 h 1017"/>
                <a:gd name="T6" fmla="*/ 0 w 526"/>
                <a:gd name="T7" fmla="*/ 1017 h 1017"/>
                <a:gd name="T8" fmla="*/ 264 w 526"/>
                <a:gd name="T9" fmla="*/ 1017 h 10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1017">
                  <a:moveTo>
                    <a:pt x="526" y="173"/>
                  </a:moveTo>
                  <a:lnTo>
                    <a:pt x="526" y="0"/>
                  </a:lnTo>
                  <a:lnTo>
                    <a:pt x="1" y="0"/>
                  </a:lnTo>
                  <a:lnTo>
                    <a:pt x="0" y="1017"/>
                  </a:lnTo>
                  <a:lnTo>
                    <a:pt x="264" y="101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Text Box 35"/>
            <p:cNvSpPr txBox="1">
              <a:spLocks noChangeArrowheads="1"/>
            </p:cNvSpPr>
            <p:nvPr/>
          </p:nvSpPr>
          <p:spPr bwMode="auto">
            <a:xfrm>
              <a:off x="685" y="1094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5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8" name="Text Box 36"/>
            <p:cNvSpPr txBox="1">
              <a:spLocks noChangeArrowheads="1"/>
            </p:cNvSpPr>
            <p:nvPr/>
          </p:nvSpPr>
          <p:spPr bwMode="auto">
            <a:xfrm>
              <a:off x="2941" y="1094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6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9" name="Text Box 37"/>
            <p:cNvSpPr txBox="1">
              <a:spLocks noChangeArrowheads="1"/>
            </p:cNvSpPr>
            <p:nvPr/>
          </p:nvSpPr>
          <p:spPr bwMode="auto">
            <a:xfrm>
              <a:off x="807" y="1838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7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0" name="Text Box 38"/>
            <p:cNvSpPr txBox="1">
              <a:spLocks noChangeArrowheads="1"/>
            </p:cNvSpPr>
            <p:nvPr/>
          </p:nvSpPr>
          <p:spPr bwMode="auto">
            <a:xfrm>
              <a:off x="2775" y="1838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8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1" name="Text Box 39"/>
            <p:cNvSpPr txBox="1">
              <a:spLocks noChangeArrowheads="1"/>
            </p:cNvSpPr>
            <p:nvPr/>
          </p:nvSpPr>
          <p:spPr bwMode="auto">
            <a:xfrm>
              <a:off x="1104" y="643"/>
              <a:ext cx="38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  <a:endPara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Text Box 40"/>
            <p:cNvSpPr txBox="1">
              <a:spLocks noChangeArrowheads="1"/>
            </p:cNvSpPr>
            <p:nvPr/>
          </p:nvSpPr>
          <p:spPr bwMode="auto">
            <a:xfrm>
              <a:off x="2462" y="711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33" name="Freeform 41"/>
            <p:cNvSpPr/>
            <p:nvPr/>
          </p:nvSpPr>
          <p:spPr bwMode="auto">
            <a:xfrm>
              <a:off x="240" y="1273"/>
              <a:ext cx="2549" cy="297"/>
            </a:xfrm>
            <a:custGeom>
              <a:avLst/>
              <a:gdLst>
                <a:gd name="T0" fmla="*/ 2375 w 2736"/>
                <a:gd name="T1" fmla="*/ 0 h 240"/>
                <a:gd name="T2" fmla="*/ 2375 w 2736"/>
                <a:gd name="T3" fmla="*/ 368 h 240"/>
                <a:gd name="T4" fmla="*/ 0 w 2736"/>
                <a:gd name="T5" fmla="*/ 368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Line 42"/>
            <p:cNvSpPr>
              <a:spLocks noChangeShapeType="1"/>
            </p:cNvSpPr>
            <p:nvPr/>
          </p:nvSpPr>
          <p:spPr bwMode="auto">
            <a:xfrm>
              <a:off x="1068" y="1285"/>
              <a:ext cx="0" cy="2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Freeform 43"/>
            <p:cNvSpPr/>
            <p:nvPr/>
          </p:nvSpPr>
          <p:spPr bwMode="auto">
            <a:xfrm>
              <a:off x="2844" y="1031"/>
              <a:ext cx="480" cy="1008"/>
            </a:xfrm>
            <a:custGeom>
              <a:avLst/>
              <a:gdLst>
                <a:gd name="T0" fmla="*/ 0 w 480"/>
                <a:gd name="T1" fmla="*/ 192 h 1008"/>
                <a:gd name="T2" fmla="*/ 0 w 480"/>
                <a:gd name="T3" fmla="*/ 0 h 1008"/>
                <a:gd name="T4" fmla="*/ 480 w 480"/>
                <a:gd name="T5" fmla="*/ 0 h 1008"/>
                <a:gd name="T6" fmla="*/ 480 w 480"/>
                <a:gd name="T7" fmla="*/ 1008 h 1008"/>
                <a:gd name="T8" fmla="*/ 288 w 480"/>
                <a:gd name="T9" fmla="*/ 1008 h 10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0" h="1008">
                  <a:moveTo>
                    <a:pt x="0" y="192"/>
                  </a:moveTo>
                  <a:lnTo>
                    <a:pt x="0" y="0"/>
                  </a:lnTo>
                  <a:lnTo>
                    <a:pt x="480" y="0"/>
                  </a:lnTo>
                  <a:lnTo>
                    <a:pt x="480" y="1008"/>
                  </a:lnTo>
                  <a:lnTo>
                    <a:pt x="288" y="1008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6" name="Text Box 44"/>
            <p:cNvSpPr txBox="1">
              <a:spLocks noChangeArrowheads="1"/>
            </p:cNvSpPr>
            <p:nvPr/>
          </p:nvSpPr>
          <p:spPr bwMode="auto">
            <a:xfrm>
              <a:off x="1670" y="3705"/>
              <a:ext cx="34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IN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7" name="Text Box 45"/>
            <p:cNvSpPr txBox="1">
              <a:spLocks noChangeArrowheads="1"/>
            </p:cNvSpPr>
            <p:nvPr/>
          </p:nvSpPr>
          <p:spPr bwMode="auto">
            <a:xfrm>
              <a:off x="3312" y="681"/>
              <a:ext cx="50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38" name="Freeform 46"/>
            <p:cNvSpPr/>
            <p:nvPr/>
          </p:nvSpPr>
          <p:spPr bwMode="auto">
            <a:xfrm>
              <a:off x="3360" y="927"/>
              <a:ext cx="221" cy="321"/>
            </a:xfrm>
            <a:custGeom>
              <a:avLst/>
              <a:gdLst>
                <a:gd name="T0" fmla="*/ 221 w 221"/>
                <a:gd name="T1" fmla="*/ 0 h 321"/>
                <a:gd name="T2" fmla="*/ 0 w 221"/>
                <a:gd name="T3" fmla="*/ 321 h 3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1" h="321">
                  <a:moveTo>
                    <a:pt x="221" y="0"/>
                  </a:moveTo>
                  <a:lnTo>
                    <a:pt x="0" y="32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9" name="Text Box 47"/>
            <p:cNvSpPr txBox="1">
              <a:spLocks noChangeArrowheads="1"/>
            </p:cNvSpPr>
            <p:nvPr/>
          </p:nvSpPr>
          <p:spPr bwMode="auto">
            <a:xfrm>
              <a:off x="134" y="666"/>
              <a:ext cx="64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2000">
                  <a:latin typeface="Times New Roman" panose="02020603050405020304" pitchFamily="18" charset="0"/>
                </a:rPr>
                <a:t>A </a:t>
              </a:r>
              <a:r>
                <a:rPr lang="zh-CN" altLang="en-US" sz="20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  <a:endParaRPr lang="en-US" altLang="zh-CN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48"/>
            <p:cNvSpPr/>
            <p:nvPr/>
          </p:nvSpPr>
          <p:spPr bwMode="auto">
            <a:xfrm>
              <a:off x="297" y="900"/>
              <a:ext cx="176" cy="299"/>
            </a:xfrm>
            <a:custGeom>
              <a:avLst/>
              <a:gdLst>
                <a:gd name="T0" fmla="*/ 0 w 176"/>
                <a:gd name="T1" fmla="*/ 0 h 299"/>
                <a:gd name="T2" fmla="*/ 176 w 176"/>
                <a:gd name="T3" fmla="*/ 299 h 2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299">
                  <a:moveTo>
                    <a:pt x="0" y="0"/>
                  </a:moveTo>
                  <a:lnTo>
                    <a:pt x="176" y="29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1" name="Text Box 49"/>
            <p:cNvSpPr txBox="1">
              <a:spLocks noChangeArrowheads="1"/>
            </p:cNvSpPr>
            <p:nvPr/>
          </p:nvSpPr>
          <p:spPr bwMode="auto">
            <a:xfrm>
              <a:off x="902" y="2361"/>
              <a:ext cx="8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列地址选择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42" name="Text Box 50"/>
            <p:cNvSpPr txBox="1">
              <a:spLocks noChangeArrowheads="1"/>
            </p:cNvSpPr>
            <p:nvPr/>
          </p:nvSpPr>
          <p:spPr bwMode="auto">
            <a:xfrm>
              <a:off x="1574" y="1353"/>
              <a:ext cx="8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行地址选择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43" name="Text Box 51"/>
            <p:cNvSpPr txBox="1">
              <a:spLocks noChangeArrowheads="1"/>
            </p:cNvSpPr>
            <p:nvPr/>
          </p:nvSpPr>
          <p:spPr bwMode="auto">
            <a:xfrm>
              <a:off x="1200" y="2697"/>
              <a:ext cx="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44" name="Text Box 52"/>
            <p:cNvSpPr txBox="1">
              <a:spLocks noChangeArrowheads="1"/>
            </p:cNvSpPr>
            <p:nvPr/>
          </p:nvSpPr>
          <p:spPr bwMode="auto">
            <a:xfrm>
              <a:off x="2138" y="2697"/>
              <a:ext cx="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45" name="Text Box 53"/>
            <p:cNvSpPr txBox="1">
              <a:spLocks noChangeArrowheads="1"/>
            </p:cNvSpPr>
            <p:nvPr/>
          </p:nvSpPr>
          <p:spPr bwMode="auto">
            <a:xfrm>
              <a:off x="3578" y="2649"/>
              <a:ext cx="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读放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46" name="Text Box 54"/>
            <p:cNvSpPr txBox="1">
              <a:spLocks noChangeArrowheads="1"/>
            </p:cNvSpPr>
            <p:nvPr/>
          </p:nvSpPr>
          <p:spPr bwMode="auto">
            <a:xfrm>
              <a:off x="4214" y="3033"/>
              <a:ext cx="45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OUT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47" name="Text Box 55"/>
            <p:cNvSpPr txBox="1">
              <a:spLocks noChangeArrowheads="1"/>
            </p:cNvSpPr>
            <p:nvPr/>
          </p:nvSpPr>
          <p:spPr bwMode="auto">
            <a:xfrm>
              <a:off x="2208" y="3312"/>
              <a:ext cx="54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48" name="Text Box 56"/>
            <p:cNvSpPr txBox="1">
              <a:spLocks noChangeArrowheads="1"/>
            </p:cNvSpPr>
            <p:nvPr/>
          </p:nvSpPr>
          <p:spPr bwMode="auto">
            <a:xfrm>
              <a:off x="3696" y="3326"/>
              <a:ext cx="54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读选择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7" name="Group 58"/>
          <p:cNvGrpSpPr/>
          <p:nvPr/>
        </p:nvGrpSpPr>
        <p:grpSpPr bwMode="auto">
          <a:xfrm>
            <a:off x="935038" y="1949452"/>
            <a:ext cx="4046538" cy="474662"/>
            <a:chOff x="240" y="1285"/>
            <a:chExt cx="2549" cy="299"/>
          </a:xfrm>
        </p:grpSpPr>
        <p:sp>
          <p:nvSpPr>
            <p:cNvPr id="58" name="Freeform 59"/>
            <p:cNvSpPr/>
            <p:nvPr/>
          </p:nvSpPr>
          <p:spPr bwMode="auto">
            <a:xfrm>
              <a:off x="240" y="1287"/>
              <a:ext cx="2549" cy="297"/>
            </a:xfrm>
            <a:custGeom>
              <a:avLst/>
              <a:gdLst>
                <a:gd name="T0" fmla="*/ 2375 w 2736"/>
                <a:gd name="T1" fmla="*/ 0 h 240"/>
                <a:gd name="T2" fmla="*/ 2375 w 2736"/>
                <a:gd name="T3" fmla="*/ 368 h 240"/>
                <a:gd name="T4" fmla="*/ 0 w 2736"/>
                <a:gd name="T5" fmla="*/ 368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9" name="Line 60"/>
            <p:cNvSpPr>
              <a:spLocks noChangeShapeType="1"/>
            </p:cNvSpPr>
            <p:nvPr/>
          </p:nvSpPr>
          <p:spPr bwMode="auto">
            <a:xfrm>
              <a:off x="1056" y="1285"/>
              <a:ext cx="0" cy="286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0" name="Freeform 61"/>
          <p:cNvSpPr/>
          <p:nvPr/>
        </p:nvSpPr>
        <p:spPr bwMode="auto">
          <a:xfrm>
            <a:off x="1038226" y="3262314"/>
            <a:ext cx="2563812" cy="754063"/>
          </a:xfrm>
          <a:custGeom>
            <a:avLst/>
            <a:gdLst>
              <a:gd name="T0" fmla="*/ 2147483646 w 1872"/>
              <a:gd name="T1" fmla="*/ 0 h 384"/>
              <a:gd name="T2" fmla="*/ 2147483646 w 1872"/>
              <a:gd name="T3" fmla="*/ 1480757833 h 384"/>
              <a:gd name="T4" fmla="*/ 0 w 1872"/>
              <a:gd name="T5" fmla="*/ 1480757833 h 38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872" h="384">
                <a:moveTo>
                  <a:pt x="1872" y="0"/>
                </a:moveTo>
                <a:lnTo>
                  <a:pt x="1872" y="384"/>
                </a:lnTo>
                <a:lnTo>
                  <a:pt x="0" y="38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1" name="Freeform 62"/>
          <p:cNvSpPr/>
          <p:nvPr/>
        </p:nvSpPr>
        <p:spPr bwMode="auto">
          <a:xfrm>
            <a:off x="1868488" y="3281364"/>
            <a:ext cx="3524250" cy="1588"/>
          </a:xfrm>
          <a:custGeom>
            <a:avLst/>
            <a:gdLst>
              <a:gd name="T0" fmla="*/ 0 w 2220"/>
              <a:gd name="T1" fmla="*/ 0 h 1"/>
              <a:gd name="T2" fmla="*/ 2147483646 w 2220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220" h="1">
                <a:moveTo>
                  <a:pt x="0" y="0"/>
                </a:moveTo>
                <a:lnTo>
                  <a:pt x="222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2" name="Line 63"/>
          <p:cNvSpPr>
            <a:spLocks noChangeShapeType="1"/>
          </p:cNvSpPr>
          <p:nvPr/>
        </p:nvSpPr>
        <p:spPr bwMode="auto">
          <a:xfrm>
            <a:off x="3538538" y="4662489"/>
            <a:ext cx="0" cy="1036638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63" name="Group 64"/>
          <p:cNvGrpSpPr/>
          <p:nvPr/>
        </p:nvGrpSpPr>
        <p:grpSpPr bwMode="auto">
          <a:xfrm>
            <a:off x="2668588" y="4371977"/>
            <a:ext cx="1619250" cy="566737"/>
            <a:chOff x="1332" y="2811"/>
            <a:chExt cx="1020" cy="357"/>
          </a:xfrm>
        </p:grpSpPr>
        <p:grpSp>
          <p:nvGrpSpPr>
            <p:cNvPr id="211009" name="Group 65"/>
            <p:cNvGrpSpPr/>
            <p:nvPr/>
          </p:nvGrpSpPr>
          <p:grpSpPr bwMode="auto">
            <a:xfrm>
              <a:off x="1332" y="2811"/>
              <a:ext cx="396" cy="356"/>
              <a:chOff x="1332" y="2811"/>
              <a:chExt cx="396" cy="356"/>
            </a:xfrm>
          </p:grpSpPr>
          <p:sp>
            <p:nvSpPr>
              <p:cNvPr id="211011" name="AutoShape 66"/>
              <p:cNvSpPr>
                <a:spLocks noChangeArrowheads="1"/>
              </p:cNvSpPr>
              <p:nvPr/>
            </p:nvSpPr>
            <p:spPr bwMode="auto">
              <a:xfrm rot="-5400000">
                <a:off x="1399" y="2838"/>
                <a:ext cx="356" cy="302"/>
              </a:xfrm>
              <a:prstGeom prst="triangle">
                <a:avLst>
                  <a:gd name="adj" fmla="val 50000"/>
                </a:avLst>
              </a:prstGeom>
              <a:noFill/>
              <a:ln w="76200">
                <a:solidFill>
                  <a:schemeClr val="folHlink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1012" name="Oval 67"/>
              <p:cNvSpPr>
                <a:spLocks noChangeArrowheads="1"/>
              </p:cNvSpPr>
              <p:nvPr/>
            </p:nvSpPr>
            <p:spPr bwMode="auto">
              <a:xfrm rot="10800000">
                <a:off x="1332" y="2958"/>
                <a:ext cx="79" cy="79"/>
              </a:xfrm>
              <a:prstGeom prst="ellipse">
                <a:avLst/>
              </a:prstGeom>
              <a:noFill/>
              <a:ln w="762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sp>
          <p:nvSpPr>
            <p:cNvPr id="211010" name="AutoShape 68"/>
            <p:cNvSpPr>
              <a:spLocks noChangeArrowheads="1"/>
            </p:cNvSpPr>
            <p:nvPr/>
          </p:nvSpPr>
          <p:spPr bwMode="auto">
            <a:xfrm rot="5400000">
              <a:off x="2023" y="2839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762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211014" name="Group 69"/>
          <p:cNvGrpSpPr/>
          <p:nvPr/>
        </p:nvGrpSpPr>
        <p:grpSpPr bwMode="auto">
          <a:xfrm>
            <a:off x="1296988" y="4651377"/>
            <a:ext cx="4522788" cy="1587"/>
            <a:chOff x="462" y="2987"/>
            <a:chExt cx="2849" cy="1"/>
          </a:xfrm>
        </p:grpSpPr>
        <p:sp>
          <p:nvSpPr>
            <p:cNvPr id="211015" name="Line 70"/>
            <p:cNvSpPr>
              <a:spLocks noChangeShapeType="1"/>
            </p:cNvSpPr>
            <p:nvPr/>
          </p:nvSpPr>
          <p:spPr bwMode="auto">
            <a:xfrm>
              <a:off x="2351" y="2987"/>
              <a:ext cx="960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1017" name="Freeform 71"/>
            <p:cNvSpPr/>
            <p:nvPr/>
          </p:nvSpPr>
          <p:spPr bwMode="auto">
            <a:xfrm>
              <a:off x="462" y="2987"/>
              <a:ext cx="845" cy="1"/>
            </a:xfrm>
            <a:custGeom>
              <a:avLst/>
              <a:gdLst>
                <a:gd name="T0" fmla="*/ 833 w 845"/>
                <a:gd name="T1" fmla="*/ 0 h 1"/>
                <a:gd name="T2" fmla="*/ 845 w 845"/>
                <a:gd name="T3" fmla="*/ 1 h 1"/>
                <a:gd name="T4" fmla="*/ 0 w 845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5" h="1">
                  <a:moveTo>
                    <a:pt x="833" y="0"/>
                  </a:moveTo>
                  <a:lnTo>
                    <a:pt x="845" y="1"/>
                  </a:lnTo>
                  <a:lnTo>
                    <a:pt x="0" y="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1018" name="Group 72"/>
          <p:cNvGrpSpPr/>
          <p:nvPr/>
        </p:nvGrpSpPr>
        <p:grpSpPr bwMode="auto">
          <a:xfrm>
            <a:off x="1338263" y="1528764"/>
            <a:ext cx="4481513" cy="1685925"/>
            <a:chOff x="494" y="1020"/>
            <a:chExt cx="2823" cy="1062"/>
          </a:xfrm>
        </p:grpSpPr>
        <p:sp>
          <p:nvSpPr>
            <p:cNvPr id="211020" name="Freeform 73"/>
            <p:cNvSpPr/>
            <p:nvPr/>
          </p:nvSpPr>
          <p:spPr bwMode="auto">
            <a:xfrm>
              <a:off x="494" y="1043"/>
              <a:ext cx="515" cy="1039"/>
            </a:xfrm>
            <a:custGeom>
              <a:avLst/>
              <a:gdLst>
                <a:gd name="T0" fmla="*/ 1 w 515"/>
                <a:gd name="T1" fmla="*/ 1039 h 1039"/>
                <a:gd name="T2" fmla="*/ 0 w 515"/>
                <a:gd name="T3" fmla="*/ 0 h 1039"/>
                <a:gd name="T4" fmla="*/ 515 w 515"/>
                <a:gd name="T5" fmla="*/ 0 h 1039"/>
                <a:gd name="T6" fmla="*/ 515 w 515"/>
                <a:gd name="T7" fmla="*/ 164 h 10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1039">
                  <a:moveTo>
                    <a:pt x="1" y="1039"/>
                  </a:moveTo>
                  <a:lnTo>
                    <a:pt x="0" y="0"/>
                  </a:lnTo>
                  <a:lnTo>
                    <a:pt x="515" y="0"/>
                  </a:lnTo>
                  <a:lnTo>
                    <a:pt x="515" y="164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1021" name="Freeform 74"/>
            <p:cNvSpPr/>
            <p:nvPr/>
          </p:nvSpPr>
          <p:spPr bwMode="auto">
            <a:xfrm>
              <a:off x="2835" y="1020"/>
              <a:ext cx="482" cy="1043"/>
            </a:xfrm>
            <a:custGeom>
              <a:avLst/>
              <a:gdLst>
                <a:gd name="T0" fmla="*/ 482 w 482"/>
                <a:gd name="T1" fmla="*/ 1043 h 1043"/>
                <a:gd name="T2" fmla="*/ 482 w 482"/>
                <a:gd name="T3" fmla="*/ 0 h 1043"/>
                <a:gd name="T4" fmla="*/ 0 w 482"/>
                <a:gd name="T5" fmla="*/ 0 h 1043"/>
                <a:gd name="T6" fmla="*/ 0 w 482"/>
                <a:gd name="T7" fmla="*/ 198 h 10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2" h="1043">
                  <a:moveTo>
                    <a:pt x="482" y="1043"/>
                  </a:moveTo>
                  <a:lnTo>
                    <a:pt x="482" y="0"/>
                  </a:lnTo>
                  <a:lnTo>
                    <a:pt x="0" y="0"/>
                  </a:lnTo>
                  <a:lnTo>
                    <a:pt x="0" y="198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1025" name="Group 75"/>
          <p:cNvGrpSpPr/>
          <p:nvPr/>
        </p:nvGrpSpPr>
        <p:grpSpPr bwMode="auto">
          <a:xfrm>
            <a:off x="2306638" y="1543052"/>
            <a:ext cx="2590800" cy="273050"/>
            <a:chOff x="924" y="1029"/>
            <a:chExt cx="1632" cy="172"/>
          </a:xfrm>
        </p:grpSpPr>
        <p:sp>
          <p:nvSpPr>
            <p:cNvPr id="211026" name="Freeform 76"/>
            <p:cNvSpPr/>
            <p:nvPr/>
          </p:nvSpPr>
          <p:spPr bwMode="auto">
            <a:xfrm>
              <a:off x="924" y="1029"/>
              <a:ext cx="281" cy="171"/>
            </a:xfrm>
            <a:custGeom>
              <a:avLst/>
              <a:gdLst>
                <a:gd name="T0" fmla="*/ 248 w 319"/>
                <a:gd name="T1" fmla="*/ 0 h 184"/>
                <a:gd name="T2" fmla="*/ 0 w 319"/>
                <a:gd name="T3" fmla="*/ 0 h 184"/>
                <a:gd name="T4" fmla="*/ 0 w 319"/>
                <a:gd name="T5" fmla="*/ 159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184">
                  <a:moveTo>
                    <a:pt x="319" y="0"/>
                  </a:move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1028" name="Freeform 77"/>
            <p:cNvSpPr/>
            <p:nvPr/>
          </p:nvSpPr>
          <p:spPr bwMode="auto">
            <a:xfrm>
              <a:off x="2230" y="1036"/>
              <a:ext cx="326" cy="165"/>
            </a:xfrm>
            <a:custGeom>
              <a:avLst/>
              <a:gdLst>
                <a:gd name="T0" fmla="*/ 0 w 336"/>
                <a:gd name="T1" fmla="*/ 0 h 144"/>
                <a:gd name="T2" fmla="*/ 316 w 336"/>
                <a:gd name="T3" fmla="*/ 0 h 144"/>
                <a:gd name="T4" fmla="*/ 316 w 336"/>
                <a:gd name="T5" fmla="*/ 189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144">
                  <a:moveTo>
                    <a:pt x="0" y="0"/>
                  </a:moveTo>
                  <a:lnTo>
                    <a:pt x="336" y="0"/>
                  </a:lnTo>
                  <a:lnTo>
                    <a:pt x="336" y="144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1029" name="Line 78"/>
          <p:cNvSpPr>
            <a:spLocks noChangeShapeType="1"/>
          </p:cNvSpPr>
          <p:nvPr/>
        </p:nvSpPr>
        <p:spPr bwMode="auto">
          <a:xfrm flipV="1">
            <a:off x="4048126" y="4789489"/>
            <a:ext cx="0" cy="942975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tailEnd type="stealth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1030" name="Freeform 79"/>
          <p:cNvSpPr/>
          <p:nvPr/>
        </p:nvSpPr>
        <p:spPr bwMode="auto">
          <a:xfrm>
            <a:off x="3302001" y="4657727"/>
            <a:ext cx="528637" cy="6350"/>
          </a:xfrm>
          <a:custGeom>
            <a:avLst/>
            <a:gdLst>
              <a:gd name="T0" fmla="*/ 0 w 333"/>
              <a:gd name="T1" fmla="*/ 0 h 4"/>
              <a:gd name="T2" fmla="*/ 839210444 w 333"/>
              <a:gd name="T3" fmla="*/ 10080625 h 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33" h="4">
                <a:moveTo>
                  <a:pt x="0" y="0"/>
                </a:moveTo>
                <a:lnTo>
                  <a:pt x="333" y="4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11031" name="Group 80"/>
          <p:cNvGrpSpPr/>
          <p:nvPr/>
        </p:nvGrpSpPr>
        <p:grpSpPr bwMode="auto">
          <a:xfrm>
            <a:off x="1316038" y="3146427"/>
            <a:ext cx="4514850" cy="31750"/>
            <a:chOff x="288" y="2039"/>
            <a:chExt cx="2844" cy="20"/>
          </a:xfrm>
        </p:grpSpPr>
        <p:sp>
          <p:nvSpPr>
            <p:cNvPr id="211032" name="Freeform 81"/>
            <p:cNvSpPr/>
            <p:nvPr/>
          </p:nvSpPr>
          <p:spPr bwMode="auto">
            <a:xfrm>
              <a:off x="288" y="2058"/>
              <a:ext cx="276" cy="1"/>
            </a:xfrm>
            <a:custGeom>
              <a:avLst/>
              <a:gdLst>
                <a:gd name="T0" fmla="*/ 276 w 276"/>
                <a:gd name="T1" fmla="*/ 0 h 1"/>
                <a:gd name="T2" fmla="*/ 0 w 27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6" h="1">
                  <a:moveTo>
                    <a:pt x="276" y="0"/>
                  </a:moveTo>
                  <a:lnTo>
                    <a:pt x="0" y="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1033" name="Line 82"/>
            <p:cNvSpPr>
              <a:spLocks noChangeShapeType="1"/>
            </p:cNvSpPr>
            <p:nvPr/>
          </p:nvSpPr>
          <p:spPr bwMode="auto">
            <a:xfrm>
              <a:off x="2940" y="2039"/>
              <a:ext cx="192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1035" name="Group 83"/>
          <p:cNvGrpSpPr/>
          <p:nvPr/>
        </p:nvGrpSpPr>
        <p:grpSpPr bwMode="auto">
          <a:xfrm>
            <a:off x="1744663" y="3033714"/>
            <a:ext cx="3762375" cy="477838"/>
            <a:chOff x="750" y="1968"/>
            <a:chExt cx="2370" cy="301"/>
          </a:xfrm>
        </p:grpSpPr>
        <p:grpSp>
          <p:nvGrpSpPr>
            <p:cNvPr id="211036" name="Group 84"/>
            <p:cNvGrpSpPr/>
            <p:nvPr/>
          </p:nvGrpSpPr>
          <p:grpSpPr bwMode="auto">
            <a:xfrm>
              <a:off x="750" y="1968"/>
              <a:ext cx="74" cy="301"/>
              <a:chOff x="750" y="1968"/>
              <a:chExt cx="74" cy="301"/>
            </a:xfrm>
          </p:grpSpPr>
          <p:sp>
            <p:nvSpPr>
              <p:cNvPr id="211040" name="Line 85"/>
              <p:cNvSpPr>
                <a:spLocks noChangeShapeType="1"/>
              </p:cNvSpPr>
              <p:nvPr/>
            </p:nvSpPr>
            <p:spPr bwMode="auto">
              <a:xfrm rot="-5400000">
                <a:off x="599" y="2119"/>
                <a:ext cx="301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1042" name="Line 86"/>
              <p:cNvSpPr>
                <a:spLocks noChangeShapeType="1"/>
              </p:cNvSpPr>
              <p:nvPr/>
            </p:nvSpPr>
            <p:spPr bwMode="auto">
              <a:xfrm rot="-5400000">
                <a:off x="733" y="2123"/>
                <a:ext cx="18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1037" name="Group 87"/>
            <p:cNvGrpSpPr/>
            <p:nvPr/>
          </p:nvGrpSpPr>
          <p:grpSpPr bwMode="auto">
            <a:xfrm>
              <a:off x="3046" y="1968"/>
              <a:ext cx="74" cy="301"/>
              <a:chOff x="3046" y="1968"/>
              <a:chExt cx="74" cy="301"/>
            </a:xfrm>
          </p:grpSpPr>
          <p:sp>
            <p:nvSpPr>
              <p:cNvPr id="211038" name="Line 88"/>
              <p:cNvSpPr>
                <a:spLocks noChangeShapeType="1"/>
              </p:cNvSpPr>
              <p:nvPr/>
            </p:nvSpPr>
            <p:spPr bwMode="auto">
              <a:xfrm rot="5400000">
                <a:off x="2969" y="2119"/>
                <a:ext cx="301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1039" name="Line 89"/>
              <p:cNvSpPr>
                <a:spLocks noChangeShapeType="1"/>
              </p:cNvSpPr>
              <p:nvPr/>
            </p:nvSpPr>
            <p:spPr bwMode="auto">
              <a:xfrm rot="5400000">
                <a:off x="2955" y="2115"/>
                <a:ext cx="18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1043" name="Group 90"/>
          <p:cNvGrpSpPr/>
          <p:nvPr/>
        </p:nvGrpSpPr>
        <p:grpSpPr bwMode="auto">
          <a:xfrm>
            <a:off x="2043113" y="1830389"/>
            <a:ext cx="3159125" cy="95250"/>
            <a:chOff x="929" y="1212"/>
            <a:chExt cx="1988" cy="60"/>
          </a:xfrm>
        </p:grpSpPr>
        <p:grpSp>
          <p:nvGrpSpPr>
            <p:cNvPr id="211045" name="Group 91"/>
            <p:cNvGrpSpPr/>
            <p:nvPr/>
          </p:nvGrpSpPr>
          <p:grpSpPr bwMode="auto">
            <a:xfrm>
              <a:off x="929" y="1212"/>
              <a:ext cx="255" cy="60"/>
              <a:chOff x="3459" y="1296"/>
              <a:chExt cx="243" cy="48"/>
            </a:xfrm>
          </p:grpSpPr>
          <p:sp>
            <p:nvSpPr>
              <p:cNvPr id="211050" name="Line 9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1051" name="Line 9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1046" name="Group 94"/>
            <p:cNvGrpSpPr/>
            <p:nvPr/>
          </p:nvGrpSpPr>
          <p:grpSpPr bwMode="auto">
            <a:xfrm>
              <a:off x="2661" y="1212"/>
              <a:ext cx="256" cy="60"/>
              <a:chOff x="3459" y="1296"/>
              <a:chExt cx="243" cy="48"/>
            </a:xfrm>
          </p:grpSpPr>
          <p:sp>
            <p:nvSpPr>
              <p:cNvPr id="211047" name="Line 95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1049" name="Line 96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1055" name="Group 97"/>
          <p:cNvGrpSpPr/>
          <p:nvPr/>
        </p:nvGrpSpPr>
        <p:grpSpPr bwMode="auto">
          <a:xfrm>
            <a:off x="1335088" y="3333752"/>
            <a:ext cx="4492625" cy="1341437"/>
            <a:chOff x="492" y="2157"/>
            <a:chExt cx="2830" cy="845"/>
          </a:xfrm>
        </p:grpSpPr>
        <p:sp>
          <p:nvSpPr>
            <p:cNvPr id="211056" name="Freeform 98"/>
            <p:cNvSpPr/>
            <p:nvPr/>
          </p:nvSpPr>
          <p:spPr bwMode="auto">
            <a:xfrm>
              <a:off x="492" y="2157"/>
              <a:ext cx="251" cy="845"/>
            </a:xfrm>
            <a:custGeom>
              <a:avLst/>
              <a:gdLst>
                <a:gd name="T0" fmla="*/ 251 w 251"/>
                <a:gd name="T1" fmla="*/ 0 h 845"/>
                <a:gd name="T2" fmla="*/ 0 w 251"/>
                <a:gd name="T3" fmla="*/ 0 h 845"/>
                <a:gd name="T4" fmla="*/ 0 w 251"/>
                <a:gd name="T5" fmla="*/ 845 h 8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845">
                  <a:moveTo>
                    <a:pt x="251" y="0"/>
                  </a:moveTo>
                  <a:lnTo>
                    <a:pt x="0" y="0"/>
                  </a:lnTo>
                  <a:lnTo>
                    <a:pt x="0" y="845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1057" name="Freeform 99"/>
            <p:cNvSpPr/>
            <p:nvPr/>
          </p:nvSpPr>
          <p:spPr bwMode="auto">
            <a:xfrm>
              <a:off x="3120" y="2160"/>
              <a:ext cx="202" cy="832"/>
            </a:xfrm>
            <a:custGeom>
              <a:avLst/>
              <a:gdLst>
                <a:gd name="T0" fmla="*/ 0 w 192"/>
                <a:gd name="T1" fmla="*/ 0 h 672"/>
                <a:gd name="T2" fmla="*/ 213 w 192"/>
                <a:gd name="T3" fmla="*/ 0 h 672"/>
                <a:gd name="T4" fmla="*/ 213 w 192"/>
                <a:gd name="T5" fmla="*/ 1030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1058" name="Freeform 109"/>
          <p:cNvSpPr/>
          <p:nvPr/>
        </p:nvSpPr>
        <p:spPr bwMode="auto">
          <a:xfrm>
            <a:off x="3019426" y="4740277"/>
            <a:ext cx="1035050" cy="598487"/>
          </a:xfrm>
          <a:custGeom>
            <a:avLst/>
            <a:gdLst>
              <a:gd name="T0" fmla="*/ 0 w 652"/>
              <a:gd name="T1" fmla="*/ 0 h 377"/>
              <a:gd name="T2" fmla="*/ 2520950 w 652"/>
              <a:gd name="T3" fmla="*/ 950097319 h 377"/>
              <a:gd name="T4" fmla="*/ 1643141875 w 652"/>
              <a:gd name="T5" fmla="*/ 942537650 h 37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52" h="377">
                <a:moveTo>
                  <a:pt x="0" y="0"/>
                </a:moveTo>
                <a:lnTo>
                  <a:pt x="1" y="377"/>
                </a:lnTo>
                <a:lnTo>
                  <a:pt x="652" y="37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stealth" w="med" len="lg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11060" name="Group 136"/>
          <p:cNvGrpSpPr/>
          <p:nvPr/>
        </p:nvGrpSpPr>
        <p:grpSpPr bwMode="auto">
          <a:xfrm>
            <a:off x="2797176" y="1176339"/>
            <a:ext cx="1601787" cy="638175"/>
            <a:chOff x="1413" y="798"/>
            <a:chExt cx="1009" cy="402"/>
          </a:xfrm>
        </p:grpSpPr>
        <p:sp>
          <p:nvSpPr>
            <p:cNvPr id="211061" name="Rectangle 137"/>
            <p:cNvSpPr>
              <a:spLocks noChangeArrowheads="1"/>
            </p:cNvSpPr>
            <p:nvPr/>
          </p:nvSpPr>
          <p:spPr bwMode="auto">
            <a:xfrm>
              <a:off x="1413" y="798"/>
              <a:ext cx="1009" cy="402"/>
            </a:xfrm>
            <a:prstGeom prst="rect">
              <a:avLst/>
            </a:prstGeom>
            <a:noFill/>
            <a:ln w="762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en-US" sz="2400" b="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1062" name="Text Box 138"/>
            <p:cNvSpPr txBox="1">
              <a:spLocks noChangeArrowheads="1"/>
            </p:cNvSpPr>
            <p:nvPr/>
          </p:nvSpPr>
          <p:spPr bwMode="auto">
            <a:xfrm>
              <a:off x="1451" y="801"/>
              <a:ext cx="90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800" b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~  </a:t>
              </a: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  <a:endParaRPr lang="zh-CN" altLang="en-US" sz="24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11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11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1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1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1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21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9" dur="500"/>
                                        <p:tgtEl>
                                          <p:spTgt spid="21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3" dur="500"/>
                                        <p:tgtEl>
                                          <p:spTgt spid="211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2" dur="500"/>
                                        <p:tgtEl>
                                          <p:spTgt spid="21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1" dur="500"/>
                                        <p:tgtEl>
                                          <p:spTgt spid="211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5" dur="500"/>
                                        <p:tgtEl>
                                          <p:spTgt spid="211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0" dur="500"/>
                                        <p:tgtEl>
                                          <p:spTgt spid="21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4" dur="500"/>
                                        <p:tgtEl>
                                          <p:spTgt spid="211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9" dur="500"/>
                                        <p:tgtEl>
                                          <p:spTgt spid="21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4" dur="500"/>
                                        <p:tgtEl>
                                          <p:spTgt spid="21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0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ext Box 2"/>
          <p:cNvSpPr txBox="1">
            <a:spLocks noChangeArrowheads="1"/>
          </p:cNvSpPr>
          <p:nvPr/>
        </p:nvSpPr>
        <p:spPr bwMode="auto">
          <a:xfrm>
            <a:off x="187326" y="171452"/>
            <a:ext cx="79248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(2) 静态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芯片举例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7802687" y="4151784"/>
            <a:ext cx="1409700" cy="893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5000"/>
              </a:lnSpc>
            </a:pPr>
            <a:r>
              <a:rPr lang="zh-CN" altLang="en-US" sz="2400"/>
              <a:t>存储容量</a:t>
            </a:r>
            <a:endParaRPr lang="zh-CN" altLang="en-US" sz="2400"/>
          </a:p>
          <a:p>
            <a:pPr eaLnBrk="1" hangingPunct="1">
              <a:lnSpc>
                <a:spcPct val="105000"/>
              </a:lnSpc>
            </a:pPr>
            <a:r>
              <a:rPr lang="zh-CN" altLang="en-US" sz="2400">
                <a:latin typeface="Times New Roman" panose="02020603050405020304" pitchFamily="18" charset="0"/>
              </a:rPr>
              <a:t>1</a:t>
            </a:r>
            <a:r>
              <a:rPr lang="en-US" altLang="zh-CN" sz="2400">
                <a:latin typeface="Times New Roman" panose="02020603050405020304" pitchFamily="18" charset="0"/>
              </a:rPr>
              <a:t>K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400">
                <a:latin typeface="Times New Roman" panose="02020603050405020304" pitchFamily="18" charset="0"/>
              </a:rPr>
              <a:t>4</a:t>
            </a:r>
            <a:r>
              <a:rPr lang="en-US" altLang="zh-CN">
                <a:latin typeface="Times New Roman" panose="02020603050405020304" pitchFamily="18" charset="0"/>
              </a:rPr>
              <a:t> </a:t>
            </a:r>
            <a:r>
              <a:rPr lang="zh-CN" altLang="en-US" sz="2400"/>
              <a:t>位</a:t>
            </a:r>
            <a:endParaRPr lang="zh-CN" altLang="en-US" sz="2400"/>
          </a:p>
        </p:txBody>
      </p:sp>
      <p:sp>
        <p:nvSpPr>
          <p:cNvPr id="3" name="Rectangle 7"/>
          <p:cNvSpPr>
            <a:spLocks noChangeArrowheads="1"/>
          </p:cNvSpPr>
          <p:nvPr/>
        </p:nvSpPr>
        <p:spPr bwMode="auto">
          <a:xfrm>
            <a:off x="8228137" y="3927947"/>
            <a:ext cx="1841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5000"/>
              </a:lnSpc>
            </a:pPr>
            <a:endParaRPr lang="zh-CN" altLang="en-US" sz="2400"/>
          </a:p>
        </p:txBody>
      </p:sp>
      <p:grpSp>
        <p:nvGrpSpPr>
          <p:cNvPr id="5" name="Group 65"/>
          <p:cNvGrpSpPr/>
          <p:nvPr/>
        </p:nvGrpSpPr>
        <p:grpSpPr bwMode="auto">
          <a:xfrm>
            <a:off x="1703512" y="1484784"/>
            <a:ext cx="7407275" cy="4095750"/>
            <a:chOff x="324" y="1440"/>
            <a:chExt cx="4666" cy="2580"/>
          </a:xfrm>
        </p:grpSpPr>
        <p:sp>
          <p:nvSpPr>
            <p:cNvPr id="6" name="Line 18"/>
            <p:cNvSpPr>
              <a:spLocks noChangeShapeType="1"/>
            </p:cNvSpPr>
            <p:nvPr/>
          </p:nvSpPr>
          <p:spPr bwMode="auto">
            <a:xfrm>
              <a:off x="3792" y="202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19"/>
            <p:cNvSpPr>
              <a:spLocks noChangeShapeType="1"/>
            </p:cNvSpPr>
            <p:nvPr/>
          </p:nvSpPr>
          <p:spPr bwMode="auto">
            <a:xfrm>
              <a:off x="3792" y="226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Line 20"/>
            <p:cNvSpPr>
              <a:spLocks noChangeShapeType="1"/>
            </p:cNvSpPr>
            <p:nvPr/>
          </p:nvSpPr>
          <p:spPr bwMode="auto">
            <a:xfrm>
              <a:off x="3792" y="250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" name="Line 21"/>
            <p:cNvSpPr>
              <a:spLocks noChangeShapeType="1"/>
            </p:cNvSpPr>
            <p:nvPr/>
          </p:nvSpPr>
          <p:spPr bwMode="auto">
            <a:xfrm>
              <a:off x="3792" y="274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0" name="Group 64"/>
            <p:cNvGrpSpPr/>
            <p:nvPr/>
          </p:nvGrpSpPr>
          <p:grpSpPr bwMode="auto">
            <a:xfrm>
              <a:off x="324" y="1440"/>
              <a:ext cx="4666" cy="2580"/>
              <a:chOff x="324" y="1440"/>
              <a:chExt cx="4666" cy="2580"/>
            </a:xfrm>
          </p:grpSpPr>
          <p:sp>
            <p:nvSpPr>
              <p:cNvPr id="11" name="Text Box 30"/>
              <p:cNvSpPr txBox="1">
                <a:spLocks noChangeArrowheads="1"/>
              </p:cNvSpPr>
              <p:nvPr/>
            </p:nvSpPr>
            <p:spPr bwMode="auto">
              <a:xfrm>
                <a:off x="4512" y="185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Text Box 31"/>
              <p:cNvSpPr txBox="1">
                <a:spLocks noChangeArrowheads="1"/>
              </p:cNvSpPr>
              <p:nvPr/>
            </p:nvSpPr>
            <p:spPr bwMode="auto">
              <a:xfrm>
                <a:off x="4800" y="194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1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Text Box 32"/>
              <p:cNvSpPr txBox="1">
                <a:spLocks noChangeArrowheads="1"/>
              </p:cNvSpPr>
              <p:nvPr/>
            </p:nvSpPr>
            <p:spPr bwMode="auto">
              <a:xfrm>
                <a:off x="4522" y="209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Text Box 33"/>
              <p:cNvSpPr txBox="1">
                <a:spLocks noChangeArrowheads="1"/>
              </p:cNvSpPr>
              <p:nvPr/>
            </p:nvSpPr>
            <p:spPr bwMode="auto">
              <a:xfrm>
                <a:off x="4810" y="218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2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Text Box 34"/>
              <p:cNvSpPr txBox="1">
                <a:spLocks noChangeArrowheads="1"/>
              </p:cNvSpPr>
              <p:nvPr/>
            </p:nvSpPr>
            <p:spPr bwMode="auto">
              <a:xfrm>
                <a:off x="4522" y="233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Text Box 35"/>
              <p:cNvSpPr txBox="1">
                <a:spLocks noChangeArrowheads="1"/>
              </p:cNvSpPr>
              <p:nvPr/>
            </p:nvSpPr>
            <p:spPr bwMode="auto">
              <a:xfrm>
                <a:off x="4810" y="242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3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Text Box 36"/>
              <p:cNvSpPr txBox="1">
                <a:spLocks noChangeArrowheads="1"/>
              </p:cNvSpPr>
              <p:nvPr/>
            </p:nvSpPr>
            <p:spPr bwMode="auto">
              <a:xfrm>
                <a:off x="4522" y="257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" name="Text Box 37"/>
              <p:cNvSpPr txBox="1">
                <a:spLocks noChangeArrowheads="1"/>
              </p:cNvSpPr>
              <p:nvPr/>
            </p:nvSpPr>
            <p:spPr bwMode="auto">
              <a:xfrm>
                <a:off x="4810" y="266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4</a:t>
                </a:r>
                <a:endParaRPr lang="zh-CN" altLang="en-US" sz="16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" name="Group 63"/>
              <p:cNvGrpSpPr/>
              <p:nvPr/>
            </p:nvGrpSpPr>
            <p:grpSpPr bwMode="auto">
              <a:xfrm>
                <a:off x="324" y="1440"/>
                <a:ext cx="3468" cy="2580"/>
                <a:chOff x="324" y="1440"/>
                <a:chExt cx="3468" cy="2580"/>
              </a:xfrm>
            </p:grpSpPr>
            <p:sp>
              <p:nvSpPr>
                <p:cNvPr id="20" name="Line 8"/>
                <p:cNvSpPr>
                  <a:spLocks noChangeShapeType="1"/>
                </p:cNvSpPr>
                <p:nvPr/>
              </p:nvSpPr>
              <p:spPr bwMode="auto">
                <a:xfrm>
                  <a:off x="660" y="2023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" name="Line 9"/>
                <p:cNvSpPr>
                  <a:spLocks noChangeShapeType="1"/>
                </p:cNvSpPr>
                <p:nvPr/>
              </p:nvSpPr>
              <p:spPr bwMode="auto">
                <a:xfrm>
                  <a:off x="660" y="2263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" name="Line 10"/>
                <p:cNvSpPr>
                  <a:spLocks noChangeShapeType="1"/>
                </p:cNvSpPr>
                <p:nvPr/>
              </p:nvSpPr>
              <p:spPr bwMode="auto">
                <a:xfrm>
                  <a:off x="660" y="3127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23" name="Group 22"/>
                <p:cNvGrpSpPr/>
                <p:nvPr/>
              </p:nvGrpSpPr>
              <p:grpSpPr bwMode="auto">
                <a:xfrm>
                  <a:off x="1872" y="1536"/>
                  <a:ext cx="48" cy="336"/>
                  <a:chOff x="1872" y="1462"/>
                  <a:chExt cx="48" cy="336"/>
                </a:xfrm>
              </p:grpSpPr>
              <p:sp>
                <p:nvSpPr>
                  <p:cNvPr id="48" name="Oval 23"/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750"/>
                    <a:ext cx="48" cy="48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49" name="Line 2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7" y="1462"/>
                    <a:ext cx="0" cy="288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" name="Group 25"/>
                <p:cNvGrpSpPr/>
                <p:nvPr/>
              </p:nvGrpSpPr>
              <p:grpSpPr bwMode="auto">
                <a:xfrm>
                  <a:off x="3312" y="1536"/>
                  <a:ext cx="48" cy="336"/>
                  <a:chOff x="3312" y="1488"/>
                  <a:chExt cx="48" cy="336"/>
                </a:xfrm>
              </p:grpSpPr>
              <p:sp>
                <p:nvSpPr>
                  <p:cNvPr id="46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776"/>
                    <a:ext cx="48" cy="48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47" name="Line 2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7" y="1488"/>
                    <a:ext cx="0" cy="288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5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324" y="180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6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480" y="3094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0</a:t>
                  </a:r>
                  <a:endParaRPr lang="zh-CN" altLang="en-US" sz="16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7" name="Text Box 40"/>
                <p:cNvSpPr txBox="1">
                  <a:spLocks noChangeArrowheads="1"/>
                </p:cNvSpPr>
                <p:nvPr/>
              </p:nvSpPr>
              <p:spPr bwMode="auto">
                <a:xfrm>
                  <a:off x="324" y="2085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8" name="Text Box 41"/>
                <p:cNvSpPr txBox="1">
                  <a:spLocks noChangeArrowheads="1"/>
                </p:cNvSpPr>
                <p:nvPr/>
              </p:nvSpPr>
              <p:spPr bwMode="auto">
                <a:xfrm>
                  <a:off x="484" y="2179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8</a:t>
                  </a:r>
                  <a:endParaRPr lang="zh-CN" altLang="en-US" sz="16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9" name="Text Box 42"/>
                <p:cNvSpPr txBox="1">
                  <a:spLocks noChangeArrowheads="1"/>
                </p:cNvSpPr>
                <p:nvPr/>
              </p:nvSpPr>
              <p:spPr bwMode="auto">
                <a:xfrm>
                  <a:off x="324" y="296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0" name="Text Box 43"/>
                <p:cNvSpPr txBox="1">
                  <a:spLocks noChangeArrowheads="1"/>
                </p:cNvSpPr>
                <p:nvPr/>
              </p:nvSpPr>
              <p:spPr bwMode="auto">
                <a:xfrm>
                  <a:off x="480" y="1894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9</a:t>
                  </a:r>
                  <a:endParaRPr lang="zh-CN" altLang="en-US" sz="16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31" name="Group 44"/>
                <p:cNvGrpSpPr/>
                <p:nvPr/>
              </p:nvGrpSpPr>
              <p:grpSpPr bwMode="auto">
                <a:xfrm>
                  <a:off x="1436" y="1440"/>
                  <a:ext cx="436" cy="288"/>
                  <a:chOff x="1436" y="1440"/>
                  <a:chExt cx="436" cy="288"/>
                </a:xfrm>
              </p:grpSpPr>
              <p:sp>
                <p:nvSpPr>
                  <p:cNvPr id="44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36" y="1440"/>
                    <a:ext cx="43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WE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" name="Freeform 46"/>
                  <p:cNvSpPr/>
                  <p:nvPr/>
                </p:nvSpPr>
                <p:spPr bwMode="auto">
                  <a:xfrm>
                    <a:off x="1484" y="1487"/>
                    <a:ext cx="348" cy="1"/>
                  </a:xfrm>
                  <a:custGeom>
                    <a:avLst/>
                    <a:gdLst>
                      <a:gd name="T0" fmla="*/ 0 w 348"/>
                      <a:gd name="T1" fmla="*/ 0 h 1"/>
                      <a:gd name="T2" fmla="*/ 348 w 34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48" h="1">
                        <a:moveTo>
                          <a:pt x="0" y="0"/>
                        </a:moveTo>
                        <a:lnTo>
                          <a:pt x="348" y="0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2" name="Group 47"/>
                <p:cNvGrpSpPr/>
                <p:nvPr/>
              </p:nvGrpSpPr>
              <p:grpSpPr bwMode="auto">
                <a:xfrm>
                  <a:off x="2902" y="1440"/>
                  <a:ext cx="362" cy="288"/>
                  <a:chOff x="2902" y="1440"/>
                  <a:chExt cx="362" cy="288"/>
                </a:xfrm>
              </p:grpSpPr>
              <p:sp>
                <p:nvSpPr>
                  <p:cNvPr id="42" name="Text Box 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02" y="1440"/>
                    <a:ext cx="36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CS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2938" y="1488"/>
                    <a:ext cx="28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3" name="Group 62"/>
                <p:cNvGrpSpPr/>
                <p:nvPr/>
              </p:nvGrpSpPr>
              <p:grpSpPr bwMode="auto">
                <a:xfrm>
                  <a:off x="1715" y="3312"/>
                  <a:ext cx="1910" cy="708"/>
                  <a:chOff x="1715" y="3312"/>
                  <a:chExt cx="1910" cy="708"/>
                </a:xfrm>
              </p:grpSpPr>
              <p:sp>
                <p:nvSpPr>
                  <p:cNvPr id="38" name="Line 28"/>
                  <p:cNvSpPr>
                    <a:spLocks noChangeShapeType="1"/>
                  </p:cNvSpPr>
                  <p:nvPr/>
                </p:nvSpPr>
                <p:spPr bwMode="auto">
                  <a:xfrm>
                    <a:off x="1920" y="3312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" name="Line 29"/>
                  <p:cNvSpPr>
                    <a:spLocks noChangeShapeType="1"/>
                  </p:cNvSpPr>
                  <p:nvPr/>
                </p:nvSpPr>
                <p:spPr bwMode="auto">
                  <a:xfrm>
                    <a:off x="3360" y="3312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" name="Text Box 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5" y="3732"/>
                    <a:ext cx="394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 i="1">
                        <a:latin typeface="Times New Roman" panose="02020603050405020304" pitchFamily="18" charset="0"/>
                      </a:rPr>
                      <a:t>V</a:t>
                    </a:r>
                    <a:r>
                      <a:rPr lang="en-US" altLang="zh-CN" sz="2000" baseline="-25000">
                        <a:latin typeface="Times New Roman" panose="02020603050405020304" pitchFamily="18" charset="0"/>
                      </a:rPr>
                      <a:t>CC</a:t>
                    </a:r>
                    <a:endParaRPr lang="en-US" altLang="zh-CN" sz="2000" baseline="-25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" name="Text Box 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082" y="3732"/>
                    <a:ext cx="54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GND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34" name="Group 54"/>
                <p:cNvGrpSpPr/>
                <p:nvPr/>
              </p:nvGrpSpPr>
              <p:grpSpPr bwMode="auto">
                <a:xfrm>
                  <a:off x="1392" y="1872"/>
                  <a:ext cx="2400" cy="1447"/>
                  <a:chOff x="1680" y="1968"/>
                  <a:chExt cx="2400" cy="1447"/>
                </a:xfrm>
              </p:grpSpPr>
              <p:sp>
                <p:nvSpPr>
                  <p:cNvPr id="36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968"/>
                    <a:ext cx="2400" cy="1447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37" name="Text Box 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78" y="2509"/>
                    <a:ext cx="1204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en-US" altLang="zh-CN" sz="3200">
                        <a:latin typeface="Times New Roman" panose="02020603050405020304" pitchFamily="18" charset="0"/>
                      </a:rPr>
                      <a:t>Intel 2114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35" name="Text Box 5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730" y="2468"/>
                  <a:ext cx="363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folHlink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8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en-US" altLang="zh-CN" sz="2800">
                    <a:solidFill>
                      <a:schemeClr val="folHlink"/>
                    </a:solidFill>
                  </a:endParaRPr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2343" y="70847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3" name="Group 3"/>
          <p:cNvGrpSpPr/>
          <p:nvPr/>
        </p:nvGrpSpPr>
        <p:grpSpPr bwMode="auto">
          <a:xfrm>
            <a:off x="1127448" y="1196752"/>
            <a:ext cx="9105900" cy="5730875"/>
            <a:chOff x="48" y="665"/>
            <a:chExt cx="5736" cy="3610"/>
          </a:xfrm>
        </p:grpSpPr>
        <p:grpSp>
          <p:nvGrpSpPr>
            <p:cNvPr id="4" name="Group 4"/>
            <p:cNvGrpSpPr/>
            <p:nvPr/>
          </p:nvGrpSpPr>
          <p:grpSpPr bwMode="auto">
            <a:xfrm>
              <a:off x="48" y="665"/>
              <a:ext cx="284" cy="2995"/>
              <a:chOff x="48" y="665"/>
              <a:chExt cx="284" cy="2995"/>
            </a:xfrm>
          </p:grpSpPr>
          <p:sp>
            <p:nvSpPr>
              <p:cNvPr id="213276" name="Text Box 5"/>
              <p:cNvSpPr txBox="1">
                <a:spLocks noChangeArrowheads="1"/>
              </p:cNvSpPr>
              <p:nvPr/>
            </p:nvSpPr>
            <p:spPr bwMode="auto">
              <a:xfrm>
                <a:off x="48" y="196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77" name="Text Box 6"/>
              <p:cNvSpPr txBox="1">
                <a:spLocks noChangeArrowheads="1"/>
              </p:cNvSpPr>
              <p:nvPr/>
            </p:nvSpPr>
            <p:spPr bwMode="auto">
              <a:xfrm>
                <a:off x="48" y="170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78" name="Text Box 7"/>
              <p:cNvSpPr txBox="1">
                <a:spLocks noChangeArrowheads="1"/>
              </p:cNvSpPr>
              <p:nvPr/>
            </p:nvSpPr>
            <p:spPr bwMode="auto">
              <a:xfrm>
                <a:off x="48" y="144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79" name="Text Box 8"/>
              <p:cNvSpPr txBox="1">
                <a:spLocks noChangeArrowheads="1"/>
              </p:cNvSpPr>
              <p:nvPr/>
            </p:nvSpPr>
            <p:spPr bwMode="auto">
              <a:xfrm>
                <a:off x="48" y="1184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80" name="Text Box 9"/>
              <p:cNvSpPr txBox="1">
                <a:spLocks noChangeArrowheads="1"/>
              </p:cNvSpPr>
              <p:nvPr/>
            </p:nvSpPr>
            <p:spPr bwMode="auto">
              <a:xfrm>
                <a:off x="48" y="9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81" name="Text Box 10"/>
              <p:cNvSpPr txBox="1">
                <a:spLocks noChangeArrowheads="1"/>
              </p:cNvSpPr>
              <p:nvPr/>
            </p:nvSpPr>
            <p:spPr bwMode="auto">
              <a:xfrm>
                <a:off x="48" y="66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82" name="Text Box 11"/>
              <p:cNvSpPr txBox="1">
                <a:spLocks noChangeArrowheads="1"/>
              </p:cNvSpPr>
              <p:nvPr/>
            </p:nvSpPr>
            <p:spPr bwMode="auto">
              <a:xfrm>
                <a:off x="48" y="3410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83" name="Text Box 12"/>
              <p:cNvSpPr txBox="1">
                <a:spLocks noChangeArrowheads="1"/>
              </p:cNvSpPr>
              <p:nvPr/>
            </p:nvSpPr>
            <p:spPr bwMode="auto">
              <a:xfrm>
                <a:off x="48" y="315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84" name="Text Box 13"/>
              <p:cNvSpPr txBox="1">
                <a:spLocks noChangeArrowheads="1"/>
              </p:cNvSpPr>
              <p:nvPr/>
            </p:nvSpPr>
            <p:spPr bwMode="auto">
              <a:xfrm>
                <a:off x="48" y="289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85" name="Text Box 14"/>
              <p:cNvSpPr txBox="1">
                <a:spLocks noChangeArrowheads="1"/>
              </p:cNvSpPr>
              <p:nvPr/>
            </p:nvSpPr>
            <p:spPr bwMode="auto">
              <a:xfrm>
                <a:off x="48" y="26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" name="Group 15"/>
            <p:cNvGrpSpPr/>
            <p:nvPr/>
          </p:nvGrpSpPr>
          <p:grpSpPr bwMode="auto">
            <a:xfrm>
              <a:off x="164" y="713"/>
              <a:ext cx="5620" cy="3562"/>
              <a:chOff x="164" y="713"/>
              <a:chExt cx="5620" cy="3562"/>
            </a:xfrm>
          </p:grpSpPr>
          <p:sp>
            <p:nvSpPr>
              <p:cNvPr id="6" name="Rectangle 16"/>
              <p:cNvSpPr>
                <a:spLocks noChangeArrowheads="1"/>
              </p:cNvSpPr>
              <p:nvPr/>
            </p:nvSpPr>
            <p:spPr bwMode="auto">
              <a:xfrm>
                <a:off x="356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7" name="Rectangle 17"/>
              <p:cNvSpPr>
                <a:spLocks noChangeArrowheads="1"/>
              </p:cNvSpPr>
              <p:nvPr/>
            </p:nvSpPr>
            <p:spPr bwMode="auto">
              <a:xfrm>
                <a:off x="17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" name="Text Box 18"/>
              <p:cNvSpPr txBox="1">
                <a:spLocks noChangeArrowheads="1"/>
              </p:cNvSpPr>
              <p:nvPr/>
            </p:nvSpPr>
            <p:spPr bwMode="auto">
              <a:xfrm>
                <a:off x="1432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19"/>
              <p:cNvSpPr>
                <a:spLocks noChangeArrowheads="1"/>
              </p:cNvSpPr>
              <p:nvPr/>
            </p:nvSpPr>
            <p:spPr bwMode="auto">
              <a:xfrm>
                <a:off x="1176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20"/>
              <p:cNvSpPr>
                <a:spLocks noChangeArrowheads="1"/>
              </p:cNvSpPr>
              <p:nvPr/>
            </p:nvSpPr>
            <p:spPr bwMode="auto">
              <a:xfrm>
                <a:off x="28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Text Box 21"/>
              <p:cNvSpPr txBox="1">
                <a:spLocks noChangeArrowheads="1"/>
              </p:cNvSpPr>
              <p:nvPr/>
            </p:nvSpPr>
            <p:spPr bwMode="auto">
              <a:xfrm>
                <a:off x="2573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22"/>
              <p:cNvSpPr>
                <a:spLocks noChangeArrowheads="1"/>
              </p:cNvSpPr>
              <p:nvPr/>
            </p:nvSpPr>
            <p:spPr bwMode="auto">
              <a:xfrm>
                <a:off x="2317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23"/>
              <p:cNvSpPr>
                <a:spLocks noChangeArrowheads="1"/>
              </p:cNvSpPr>
              <p:nvPr/>
            </p:nvSpPr>
            <p:spPr bwMode="auto">
              <a:xfrm>
                <a:off x="40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Text Box 24"/>
              <p:cNvSpPr txBox="1">
                <a:spLocks noChangeArrowheads="1"/>
              </p:cNvSpPr>
              <p:nvPr/>
            </p:nvSpPr>
            <p:spPr bwMode="auto">
              <a:xfrm>
                <a:off x="374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25"/>
              <p:cNvSpPr>
                <a:spLocks noChangeArrowheads="1"/>
              </p:cNvSpPr>
              <p:nvPr/>
            </p:nvSpPr>
            <p:spPr bwMode="auto">
              <a:xfrm>
                <a:off x="349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26"/>
              <p:cNvSpPr>
                <a:spLocks noChangeArrowheads="1"/>
              </p:cNvSpPr>
              <p:nvPr/>
            </p:nvSpPr>
            <p:spPr bwMode="auto">
              <a:xfrm>
                <a:off x="52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Text Box 27"/>
              <p:cNvSpPr txBox="1">
                <a:spLocks noChangeArrowheads="1"/>
              </p:cNvSpPr>
              <p:nvPr/>
            </p:nvSpPr>
            <p:spPr bwMode="auto">
              <a:xfrm>
                <a:off x="488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" name="Rectangle 28"/>
              <p:cNvSpPr>
                <a:spLocks noChangeArrowheads="1"/>
              </p:cNvSpPr>
              <p:nvPr/>
            </p:nvSpPr>
            <p:spPr bwMode="auto">
              <a:xfrm>
                <a:off x="46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" name="Rectangle 29"/>
              <p:cNvSpPr>
                <a:spLocks noChangeArrowheads="1"/>
              </p:cNvSpPr>
              <p:nvPr/>
            </p:nvSpPr>
            <p:spPr bwMode="auto">
              <a:xfrm>
                <a:off x="17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" name="Rectangle 30"/>
              <p:cNvSpPr>
                <a:spLocks noChangeArrowheads="1"/>
              </p:cNvSpPr>
              <p:nvPr/>
            </p:nvSpPr>
            <p:spPr bwMode="auto">
              <a:xfrm>
                <a:off x="1176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" name="Rectangle 31"/>
              <p:cNvSpPr>
                <a:spLocks noChangeArrowheads="1"/>
              </p:cNvSpPr>
              <p:nvPr/>
            </p:nvSpPr>
            <p:spPr bwMode="auto">
              <a:xfrm>
                <a:off x="28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" name="Rectangle 32"/>
              <p:cNvSpPr>
                <a:spLocks noChangeArrowheads="1"/>
              </p:cNvSpPr>
              <p:nvPr/>
            </p:nvSpPr>
            <p:spPr bwMode="auto">
              <a:xfrm>
                <a:off x="2317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" name="Rectangle 33"/>
              <p:cNvSpPr>
                <a:spLocks noChangeArrowheads="1"/>
              </p:cNvSpPr>
              <p:nvPr/>
            </p:nvSpPr>
            <p:spPr bwMode="auto">
              <a:xfrm>
                <a:off x="40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" name="Rectangle 34"/>
              <p:cNvSpPr>
                <a:spLocks noChangeArrowheads="1"/>
              </p:cNvSpPr>
              <p:nvPr/>
            </p:nvSpPr>
            <p:spPr bwMode="auto">
              <a:xfrm>
                <a:off x="349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" name="Rectangle 35"/>
              <p:cNvSpPr>
                <a:spLocks noChangeArrowheads="1"/>
              </p:cNvSpPr>
              <p:nvPr/>
            </p:nvSpPr>
            <p:spPr bwMode="auto">
              <a:xfrm>
                <a:off x="52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" name="Rectangle 36"/>
              <p:cNvSpPr>
                <a:spLocks noChangeArrowheads="1"/>
              </p:cNvSpPr>
              <p:nvPr/>
            </p:nvSpPr>
            <p:spPr bwMode="auto">
              <a:xfrm>
                <a:off x="46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Line 37"/>
              <p:cNvSpPr>
                <a:spLocks noChangeShapeType="1"/>
              </p:cNvSpPr>
              <p:nvPr/>
            </p:nvSpPr>
            <p:spPr bwMode="auto">
              <a:xfrm rot="5400000">
                <a:off x="1349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" name="Line 38"/>
              <p:cNvSpPr>
                <a:spLocks noChangeShapeType="1"/>
              </p:cNvSpPr>
              <p:nvPr/>
            </p:nvSpPr>
            <p:spPr bwMode="auto">
              <a:xfrm rot="5400000">
                <a:off x="1332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" name="Freeform 39"/>
              <p:cNvSpPr/>
              <p:nvPr/>
            </p:nvSpPr>
            <p:spPr bwMode="auto">
              <a:xfrm>
                <a:off x="1284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0" name="Line 40"/>
              <p:cNvSpPr>
                <a:spLocks noChangeShapeType="1"/>
              </p:cNvSpPr>
              <p:nvPr/>
            </p:nvSpPr>
            <p:spPr bwMode="auto">
              <a:xfrm rot="-5400000">
                <a:off x="1157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1" name="Line 41"/>
              <p:cNvSpPr>
                <a:spLocks noChangeShapeType="1"/>
              </p:cNvSpPr>
              <p:nvPr/>
            </p:nvSpPr>
            <p:spPr bwMode="auto">
              <a:xfrm rot="-5400000">
                <a:off x="1236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2" name="Freeform 42"/>
              <p:cNvSpPr/>
              <p:nvPr/>
            </p:nvSpPr>
            <p:spPr bwMode="auto">
              <a:xfrm>
                <a:off x="1458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43"/>
              <p:cNvSpPr/>
              <p:nvPr/>
            </p:nvSpPr>
            <p:spPr bwMode="auto">
              <a:xfrm>
                <a:off x="1077" y="1210"/>
                <a:ext cx="158" cy="1468"/>
              </a:xfrm>
              <a:custGeom>
                <a:avLst/>
                <a:gdLst>
                  <a:gd name="T0" fmla="*/ 158 w 158"/>
                  <a:gd name="T1" fmla="*/ 1468 h 1468"/>
                  <a:gd name="T2" fmla="*/ 6 w 158"/>
                  <a:gd name="T3" fmla="*/ 1468 h 1468"/>
                  <a:gd name="T4" fmla="*/ 0 w 158"/>
                  <a:gd name="T5" fmla="*/ 1 h 1468"/>
                  <a:gd name="T6" fmla="*/ 101 w 158"/>
                  <a:gd name="T7" fmla="*/ 0 h 1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8">
                    <a:moveTo>
                      <a:pt x="158" y="1468"/>
                    </a:moveTo>
                    <a:lnTo>
                      <a:pt x="6" y="1468"/>
                    </a:lnTo>
                    <a:lnTo>
                      <a:pt x="0" y="1"/>
                    </a:lnTo>
                    <a:lnTo>
                      <a:pt x="10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44"/>
              <p:cNvSpPr/>
              <p:nvPr/>
            </p:nvSpPr>
            <p:spPr bwMode="auto">
              <a:xfrm>
                <a:off x="1079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5" name="Line 45"/>
              <p:cNvSpPr>
                <a:spLocks noChangeShapeType="1"/>
              </p:cNvSpPr>
              <p:nvPr/>
            </p:nvSpPr>
            <p:spPr bwMode="auto">
              <a:xfrm rot="5400000">
                <a:off x="192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" name="Line 46"/>
              <p:cNvSpPr>
                <a:spLocks noChangeShapeType="1"/>
              </p:cNvSpPr>
              <p:nvPr/>
            </p:nvSpPr>
            <p:spPr bwMode="auto">
              <a:xfrm rot="5400000">
                <a:off x="1903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7" name="Freeform 47"/>
              <p:cNvSpPr/>
              <p:nvPr/>
            </p:nvSpPr>
            <p:spPr bwMode="auto">
              <a:xfrm>
                <a:off x="185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" name="Line 48"/>
              <p:cNvSpPr>
                <a:spLocks noChangeShapeType="1"/>
              </p:cNvSpPr>
              <p:nvPr/>
            </p:nvSpPr>
            <p:spPr bwMode="auto">
              <a:xfrm rot="-5400000">
                <a:off x="1728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9" name="Line 49"/>
              <p:cNvSpPr>
                <a:spLocks noChangeShapeType="1"/>
              </p:cNvSpPr>
              <p:nvPr/>
            </p:nvSpPr>
            <p:spPr bwMode="auto">
              <a:xfrm rot="-5400000">
                <a:off x="1807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0" name="Freeform 50"/>
              <p:cNvSpPr/>
              <p:nvPr/>
            </p:nvSpPr>
            <p:spPr bwMode="auto">
              <a:xfrm>
                <a:off x="2029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51"/>
              <p:cNvSpPr/>
              <p:nvPr/>
            </p:nvSpPr>
            <p:spPr bwMode="auto">
              <a:xfrm>
                <a:off x="1635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" name="Line 52"/>
              <p:cNvSpPr>
                <a:spLocks noChangeShapeType="1"/>
              </p:cNvSpPr>
              <p:nvPr/>
            </p:nvSpPr>
            <p:spPr bwMode="auto">
              <a:xfrm rot="5400000">
                <a:off x="250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3" name="Line 53"/>
              <p:cNvSpPr>
                <a:spLocks noChangeShapeType="1"/>
              </p:cNvSpPr>
              <p:nvPr/>
            </p:nvSpPr>
            <p:spPr bwMode="auto">
              <a:xfrm rot="5400000">
                <a:off x="2484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4" name="Freeform 54"/>
              <p:cNvSpPr/>
              <p:nvPr/>
            </p:nvSpPr>
            <p:spPr bwMode="auto">
              <a:xfrm>
                <a:off x="2436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5" name="Line 55"/>
              <p:cNvSpPr>
                <a:spLocks noChangeShapeType="1"/>
              </p:cNvSpPr>
              <p:nvPr/>
            </p:nvSpPr>
            <p:spPr bwMode="auto">
              <a:xfrm rot="-5400000">
                <a:off x="230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" name="Line 56"/>
              <p:cNvSpPr>
                <a:spLocks noChangeShapeType="1"/>
              </p:cNvSpPr>
              <p:nvPr/>
            </p:nvSpPr>
            <p:spPr bwMode="auto">
              <a:xfrm rot="-5400000">
                <a:off x="2388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" name="Freeform 57"/>
              <p:cNvSpPr/>
              <p:nvPr/>
            </p:nvSpPr>
            <p:spPr bwMode="auto">
              <a:xfrm>
                <a:off x="2610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58"/>
              <p:cNvSpPr/>
              <p:nvPr/>
            </p:nvSpPr>
            <p:spPr bwMode="auto">
              <a:xfrm>
                <a:off x="2231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" name="Line 59"/>
              <p:cNvSpPr>
                <a:spLocks noChangeShapeType="1"/>
              </p:cNvSpPr>
              <p:nvPr/>
            </p:nvSpPr>
            <p:spPr bwMode="auto">
              <a:xfrm rot="5400000">
                <a:off x="30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" name="Line 60"/>
              <p:cNvSpPr>
                <a:spLocks noChangeShapeType="1"/>
              </p:cNvSpPr>
              <p:nvPr/>
            </p:nvSpPr>
            <p:spPr bwMode="auto">
              <a:xfrm rot="5400000">
                <a:off x="30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" name="Freeform 61"/>
              <p:cNvSpPr/>
              <p:nvPr/>
            </p:nvSpPr>
            <p:spPr bwMode="auto">
              <a:xfrm>
                <a:off x="30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" name="Line 62"/>
              <p:cNvSpPr>
                <a:spLocks noChangeShapeType="1"/>
              </p:cNvSpPr>
              <p:nvPr/>
            </p:nvSpPr>
            <p:spPr bwMode="auto">
              <a:xfrm rot="-5400000">
                <a:off x="28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" name="Line 63"/>
              <p:cNvSpPr>
                <a:spLocks noChangeShapeType="1"/>
              </p:cNvSpPr>
              <p:nvPr/>
            </p:nvSpPr>
            <p:spPr bwMode="auto">
              <a:xfrm rot="-5400000">
                <a:off x="29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" name="Freeform 64"/>
              <p:cNvSpPr/>
              <p:nvPr/>
            </p:nvSpPr>
            <p:spPr bwMode="auto">
              <a:xfrm>
                <a:off x="3186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65"/>
              <p:cNvSpPr/>
              <p:nvPr/>
            </p:nvSpPr>
            <p:spPr bwMode="auto">
              <a:xfrm>
                <a:off x="2807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6" name="Line 66"/>
              <p:cNvSpPr>
                <a:spLocks noChangeShapeType="1"/>
              </p:cNvSpPr>
              <p:nvPr/>
            </p:nvSpPr>
            <p:spPr bwMode="auto">
              <a:xfrm rot="5400000">
                <a:off x="36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" name="Line 67"/>
              <p:cNvSpPr>
                <a:spLocks noChangeShapeType="1"/>
              </p:cNvSpPr>
              <p:nvPr/>
            </p:nvSpPr>
            <p:spPr bwMode="auto">
              <a:xfrm rot="5400000">
                <a:off x="36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" name="Freeform 68"/>
              <p:cNvSpPr/>
              <p:nvPr/>
            </p:nvSpPr>
            <p:spPr bwMode="auto">
              <a:xfrm>
                <a:off x="35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9" name="Line 69"/>
              <p:cNvSpPr>
                <a:spLocks noChangeShapeType="1"/>
              </p:cNvSpPr>
              <p:nvPr/>
            </p:nvSpPr>
            <p:spPr bwMode="auto">
              <a:xfrm rot="-5400000">
                <a:off x="34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0" name="Line 70"/>
              <p:cNvSpPr>
                <a:spLocks noChangeShapeType="1"/>
              </p:cNvSpPr>
              <p:nvPr/>
            </p:nvSpPr>
            <p:spPr bwMode="auto">
              <a:xfrm rot="-5400000">
                <a:off x="35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1" name="Freeform 71"/>
              <p:cNvSpPr/>
              <p:nvPr/>
            </p:nvSpPr>
            <p:spPr bwMode="auto">
              <a:xfrm>
                <a:off x="3775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72"/>
              <p:cNvSpPr/>
              <p:nvPr/>
            </p:nvSpPr>
            <p:spPr bwMode="auto">
              <a:xfrm>
                <a:off x="3383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3" name="Line 73"/>
              <p:cNvSpPr>
                <a:spLocks noChangeShapeType="1"/>
              </p:cNvSpPr>
              <p:nvPr/>
            </p:nvSpPr>
            <p:spPr bwMode="auto">
              <a:xfrm rot="5400000">
                <a:off x="4229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830" name="Line 74"/>
              <p:cNvSpPr>
                <a:spLocks noChangeShapeType="1"/>
              </p:cNvSpPr>
              <p:nvPr/>
            </p:nvSpPr>
            <p:spPr bwMode="auto">
              <a:xfrm rot="5400000">
                <a:off x="4212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4831" name="Freeform 75"/>
              <p:cNvSpPr/>
              <p:nvPr/>
            </p:nvSpPr>
            <p:spPr bwMode="auto">
              <a:xfrm>
                <a:off x="4164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2992" name="Line 76"/>
              <p:cNvSpPr>
                <a:spLocks noChangeShapeType="1"/>
              </p:cNvSpPr>
              <p:nvPr/>
            </p:nvSpPr>
            <p:spPr bwMode="auto">
              <a:xfrm rot="-5400000">
                <a:off x="4037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2993" name="Line 77"/>
              <p:cNvSpPr>
                <a:spLocks noChangeShapeType="1"/>
              </p:cNvSpPr>
              <p:nvPr/>
            </p:nvSpPr>
            <p:spPr bwMode="auto">
              <a:xfrm rot="-5400000">
                <a:off x="4116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2994" name="Freeform 78"/>
              <p:cNvSpPr/>
              <p:nvPr/>
            </p:nvSpPr>
            <p:spPr bwMode="auto">
              <a:xfrm>
                <a:off x="4360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2996" name="Freeform 79"/>
              <p:cNvSpPr/>
              <p:nvPr/>
            </p:nvSpPr>
            <p:spPr bwMode="auto">
              <a:xfrm>
                <a:off x="3959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12997" name="Group 80"/>
              <p:cNvGrpSpPr/>
              <p:nvPr/>
            </p:nvGrpSpPr>
            <p:grpSpPr bwMode="auto">
              <a:xfrm>
                <a:off x="4692" y="2634"/>
                <a:ext cx="192" cy="158"/>
                <a:chOff x="4692" y="2634"/>
                <a:chExt cx="192" cy="158"/>
              </a:xfrm>
            </p:grpSpPr>
            <p:grpSp>
              <p:nvGrpSpPr>
                <p:cNvPr id="213269" name="Group 81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13274" name="Line 8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275" name="Line 8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3270" name="Freeform 84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3271" name="Group 85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13272" name="Line 8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273" name="Line 8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12998" name="Freeform 88"/>
              <p:cNvSpPr/>
              <p:nvPr/>
            </p:nvSpPr>
            <p:spPr bwMode="auto">
              <a:xfrm>
                <a:off x="4914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2999" name="Freeform 89"/>
              <p:cNvSpPr/>
              <p:nvPr/>
            </p:nvSpPr>
            <p:spPr bwMode="auto">
              <a:xfrm>
                <a:off x="4535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13000" name="Group 90"/>
              <p:cNvGrpSpPr/>
              <p:nvPr/>
            </p:nvGrpSpPr>
            <p:grpSpPr bwMode="auto">
              <a:xfrm>
                <a:off x="5259" y="2634"/>
                <a:ext cx="192" cy="158"/>
                <a:chOff x="5259" y="2634"/>
                <a:chExt cx="192" cy="158"/>
              </a:xfrm>
            </p:grpSpPr>
            <p:grpSp>
              <p:nvGrpSpPr>
                <p:cNvPr id="213262" name="Group 91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13267" name="Line 9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268" name="Line 9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3263" name="Freeform 94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3264" name="Group 95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13265" name="Line 9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266" name="Line 9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13001" name="Freeform 98"/>
              <p:cNvSpPr/>
              <p:nvPr/>
            </p:nvSpPr>
            <p:spPr bwMode="auto">
              <a:xfrm>
                <a:off x="5491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2" name="Freeform 99"/>
              <p:cNvSpPr/>
              <p:nvPr/>
            </p:nvSpPr>
            <p:spPr bwMode="auto">
              <a:xfrm>
                <a:off x="5102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3" name="Freeform 100"/>
              <p:cNvSpPr/>
              <p:nvPr/>
            </p:nvSpPr>
            <p:spPr bwMode="auto">
              <a:xfrm>
                <a:off x="932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4" name="Line 101"/>
              <p:cNvSpPr>
                <a:spLocks noChangeShapeType="1"/>
              </p:cNvSpPr>
              <p:nvPr/>
            </p:nvSpPr>
            <p:spPr bwMode="auto">
              <a:xfrm>
                <a:off x="131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5" name="Line 102"/>
              <p:cNvSpPr>
                <a:spLocks noChangeShapeType="1"/>
              </p:cNvSpPr>
              <p:nvPr/>
            </p:nvSpPr>
            <p:spPr bwMode="auto">
              <a:xfrm>
                <a:off x="18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6" name="Line 103"/>
              <p:cNvSpPr>
                <a:spLocks noChangeShapeType="1"/>
              </p:cNvSpPr>
              <p:nvPr/>
            </p:nvSpPr>
            <p:spPr bwMode="auto">
              <a:xfrm>
                <a:off x="24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7" name="Line 104"/>
              <p:cNvSpPr>
                <a:spLocks noChangeShapeType="1"/>
              </p:cNvSpPr>
              <p:nvPr/>
            </p:nvSpPr>
            <p:spPr bwMode="auto">
              <a:xfrm>
                <a:off x="30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8" name="Line 105"/>
              <p:cNvSpPr>
                <a:spLocks noChangeShapeType="1"/>
              </p:cNvSpPr>
              <p:nvPr/>
            </p:nvSpPr>
            <p:spPr bwMode="auto">
              <a:xfrm>
                <a:off x="36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09" name="Line 106"/>
              <p:cNvSpPr>
                <a:spLocks noChangeShapeType="1"/>
              </p:cNvSpPr>
              <p:nvPr/>
            </p:nvSpPr>
            <p:spPr bwMode="auto">
              <a:xfrm>
                <a:off x="41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0" name="Line 107"/>
              <p:cNvSpPr>
                <a:spLocks noChangeShapeType="1"/>
              </p:cNvSpPr>
              <p:nvPr/>
            </p:nvSpPr>
            <p:spPr bwMode="auto">
              <a:xfrm>
                <a:off x="47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1" name="Line 108"/>
              <p:cNvSpPr>
                <a:spLocks noChangeShapeType="1"/>
              </p:cNvSpPr>
              <p:nvPr/>
            </p:nvSpPr>
            <p:spPr bwMode="auto">
              <a:xfrm>
                <a:off x="53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2" name="Freeform 109"/>
              <p:cNvSpPr/>
              <p:nvPr/>
            </p:nvSpPr>
            <p:spPr bwMode="auto">
              <a:xfrm>
                <a:off x="1330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3" name="Freeform 110"/>
              <p:cNvSpPr/>
              <p:nvPr/>
            </p:nvSpPr>
            <p:spPr bwMode="auto">
              <a:xfrm>
                <a:off x="1904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4" name="Freeform 111"/>
              <p:cNvSpPr/>
              <p:nvPr/>
            </p:nvSpPr>
            <p:spPr bwMode="auto">
              <a:xfrm>
                <a:off x="2482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5" name="Freeform 112"/>
              <p:cNvSpPr/>
              <p:nvPr/>
            </p:nvSpPr>
            <p:spPr bwMode="auto">
              <a:xfrm>
                <a:off x="3630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6" name="Freeform 113"/>
              <p:cNvSpPr/>
              <p:nvPr/>
            </p:nvSpPr>
            <p:spPr bwMode="auto">
              <a:xfrm>
                <a:off x="4784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7" name="Freeform 114"/>
              <p:cNvSpPr/>
              <p:nvPr/>
            </p:nvSpPr>
            <p:spPr bwMode="auto">
              <a:xfrm>
                <a:off x="932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8" name="Line 115"/>
              <p:cNvSpPr>
                <a:spLocks noChangeShapeType="1"/>
              </p:cNvSpPr>
              <p:nvPr/>
            </p:nvSpPr>
            <p:spPr bwMode="auto">
              <a:xfrm>
                <a:off x="131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19" name="Line 116"/>
              <p:cNvSpPr>
                <a:spLocks noChangeShapeType="1"/>
              </p:cNvSpPr>
              <p:nvPr/>
            </p:nvSpPr>
            <p:spPr bwMode="auto">
              <a:xfrm>
                <a:off x="18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0" name="Line 117"/>
              <p:cNvSpPr>
                <a:spLocks noChangeShapeType="1"/>
              </p:cNvSpPr>
              <p:nvPr/>
            </p:nvSpPr>
            <p:spPr bwMode="auto">
              <a:xfrm>
                <a:off x="24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1" name="Line 118"/>
              <p:cNvSpPr>
                <a:spLocks noChangeShapeType="1"/>
              </p:cNvSpPr>
              <p:nvPr/>
            </p:nvSpPr>
            <p:spPr bwMode="auto">
              <a:xfrm>
                <a:off x="30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2" name="Line 119"/>
              <p:cNvSpPr>
                <a:spLocks noChangeShapeType="1"/>
              </p:cNvSpPr>
              <p:nvPr/>
            </p:nvSpPr>
            <p:spPr bwMode="auto">
              <a:xfrm>
                <a:off x="36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3" name="Line 120"/>
              <p:cNvSpPr>
                <a:spLocks noChangeShapeType="1"/>
              </p:cNvSpPr>
              <p:nvPr/>
            </p:nvSpPr>
            <p:spPr bwMode="auto">
              <a:xfrm>
                <a:off x="41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4" name="Line 121"/>
              <p:cNvSpPr>
                <a:spLocks noChangeShapeType="1"/>
              </p:cNvSpPr>
              <p:nvPr/>
            </p:nvSpPr>
            <p:spPr bwMode="auto">
              <a:xfrm>
                <a:off x="47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5" name="Line 122"/>
              <p:cNvSpPr>
                <a:spLocks noChangeShapeType="1"/>
              </p:cNvSpPr>
              <p:nvPr/>
            </p:nvSpPr>
            <p:spPr bwMode="auto">
              <a:xfrm>
                <a:off x="53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6" name="Freeform 123"/>
              <p:cNvSpPr/>
              <p:nvPr/>
            </p:nvSpPr>
            <p:spPr bwMode="auto">
              <a:xfrm>
                <a:off x="932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7" name="Line 124"/>
              <p:cNvSpPr>
                <a:spLocks noChangeShapeType="1"/>
              </p:cNvSpPr>
              <p:nvPr/>
            </p:nvSpPr>
            <p:spPr bwMode="auto">
              <a:xfrm>
                <a:off x="131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8" name="Line 125"/>
              <p:cNvSpPr>
                <a:spLocks noChangeShapeType="1"/>
              </p:cNvSpPr>
              <p:nvPr/>
            </p:nvSpPr>
            <p:spPr bwMode="auto">
              <a:xfrm>
                <a:off x="18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29" name="Line 126"/>
              <p:cNvSpPr>
                <a:spLocks noChangeShapeType="1"/>
              </p:cNvSpPr>
              <p:nvPr/>
            </p:nvSpPr>
            <p:spPr bwMode="auto">
              <a:xfrm>
                <a:off x="24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0" name="Line 127"/>
              <p:cNvSpPr>
                <a:spLocks noChangeShapeType="1"/>
              </p:cNvSpPr>
              <p:nvPr/>
            </p:nvSpPr>
            <p:spPr bwMode="auto">
              <a:xfrm>
                <a:off x="30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1" name="Line 128"/>
              <p:cNvSpPr>
                <a:spLocks noChangeShapeType="1"/>
              </p:cNvSpPr>
              <p:nvPr/>
            </p:nvSpPr>
            <p:spPr bwMode="auto">
              <a:xfrm>
                <a:off x="36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2" name="Line 129"/>
              <p:cNvSpPr>
                <a:spLocks noChangeShapeType="1"/>
              </p:cNvSpPr>
              <p:nvPr/>
            </p:nvSpPr>
            <p:spPr bwMode="auto">
              <a:xfrm>
                <a:off x="41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3" name="Line 130"/>
              <p:cNvSpPr>
                <a:spLocks noChangeShapeType="1"/>
              </p:cNvSpPr>
              <p:nvPr/>
            </p:nvSpPr>
            <p:spPr bwMode="auto">
              <a:xfrm>
                <a:off x="47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4" name="Line 131"/>
              <p:cNvSpPr>
                <a:spLocks noChangeShapeType="1"/>
              </p:cNvSpPr>
              <p:nvPr/>
            </p:nvSpPr>
            <p:spPr bwMode="auto">
              <a:xfrm>
                <a:off x="53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5" name="Freeform 132"/>
              <p:cNvSpPr/>
              <p:nvPr/>
            </p:nvSpPr>
            <p:spPr bwMode="auto">
              <a:xfrm>
                <a:off x="933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6" name="Freeform 133"/>
              <p:cNvSpPr/>
              <p:nvPr/>
            </p:nvSpPr>
            <p:spPr bwMode="auto">
              <a:xfrm>
                <a:off x="936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37" name="Rectangle 134"/>
              <p:cNvSpPr>
                <a:spLocks noChangeArrowheads="1"/>
              </p:cNvSpPr>
              <p:nvPr/>
            </p:nvSpPr>
            <p:spPr bwMode="auto">
              <a:xfrm>
                <a:off x="116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3038" name="Text Box 135"/>
              <p:cNvSpPr txBox="1">
                <a:spLocks noChangeArrowheads="1"/>
              </p:cNvSpPr>
              <p:nvPr/>
            </p:nvSpPr>
            <p:spPr bwMode="auto">
              <a:xfrm>
                <a:off x="119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039" name="Freeform 136"/>
              <p:cNvSpPr/>
              <p:nvPr/>
            </p:nvSpPr>
            <p:spPr bwMode="auto">
              <a:xfrm>
                <a:off x="1426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0" name="Freeform 137"/>
              <p:cNvSpPr/>
              <p:nvPr/>
            </p:nvSpPr>
            <p:spPr bwMode="auto">
              <a:xfrm>
                <a:off x="1637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1" name="Freeform 138"/>
              <p:cNvSpPr/>
              <p:nvPr/>
            </p:nvSpPr>
            <p:spPr bwMode="auto">
              <a:xfrm>
                <a:off x="1991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2" name="Freeform 139"/>
              <p:cNvSpPr/>
              <p:nvPr/>
            </p:nvSpPr>
            <p:spPr bwMode="auto">
              <a:xfrm>
                <a:off x="222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92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9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3" name="Freeform 140"/>
              <p:cNvSpPr/>
              <p:nvPr/>
            </p:nvSpPr>
            <p:spPr bwMode="auto">
              <a:xfrm>
                <a:off x="258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4" name="Freeform 141"/>
              <p:cNvSpPr/>
              <p:nvPr/>
            </p:nvSpPr>
            <p:spPr bwMode="auto">
              <a:xfrm>
                <a:off x="2805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83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8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5" name="Freeform 142"/>
              <p:cNvSpPr/>
              <p:nvPr/>
            </p:nvSpPr>
            <p:spPr bwMode="auto">
              <a:xfrm>
                <a:off x="3154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6" name="Freeform 143"/>
              <p:cNvSpPr/>
              <p:nvPr/>
            </p:nvSpPr>
            <p:spPr bwMode="auto">
              <a:xfrm>
                <a:off x="3381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6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6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7" name="Freeform 144"/>
              <p:cNvSpPr/>
              <p:nvPr/>
            </p:nvSpPr>
            <p:spPr bwMode="auto">
              <a:xfrm>
                <a:off x="3734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8" name="Freeform 145"/>
              <p:cNvSpPr/>
              <p:nvPr/>
            </p:nvSpPr>
            <p:spPr bwMode="auto">
              <a:xfrm>
                <a:off x="3957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9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49" name="Freeform 146"/>
              <p:cNvSpPr/>
              <p:nvPr/>
            </p:nvSpPr>
            <p:spPr bwMode="auto">
              <a:xfrm>
                <a:off x="4304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50" name="Freeform 147"/>
              <p:cNvSpPr/>
              <p:nvPr/>
            </p:nvSpPr>
            <p:spPr bwMode="auto">
              <a:xfrm>
                <a:off x="4533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51" name="Freeform 148"/>
              <p:cNvSpPr/>
              <p:nvPr/>
            </p:nvSpPr>
            <p:spPr bwMode="auto">
              <a:xfrm>
                <a:off x="4885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52" name="Freeform 149"/>
              <p:cNvSpPr/>
              <p:nvPr/>
            </p:nvSpPr>
            <p:spPr bwMode="auto">
              <a:xfrm>
                <a:off x="5093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53" name="Freeform 150"/>
              <p:cNvSpPr/>
              <p:nvPr/>
            </p:nvSpPr>
            <p:spPr bwMode="auto">
              <a:xfrm>
                <a:off x="5441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54" name="Freeform 151"/>
              <p:cNvSpPr/>
              <p:nvPr/>
            </p:nvSpPr>
            <p:spPr bwMode="auto">
              <a:xfrm>
                <a:off x="1079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055" name="Freeform 152"/>
              <p:cNvSpPr/>
              <p:nvPr/>
            </p:nvSpPr>
            <p:spPr bwMode="auto">
              <a:xfrm>
                <a:off x="2231" y="2744"/>
                <a:ext cx="729" cy="657"/>
              </a:xfrm>
              <a:custGeom>
                <a:avLst/>
                <a:gdLst>
                  <a:gd name="T0" fmla="*/ 153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85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5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4576" name="Freeform 153"/>
              <p:cNvSpPr/>
              <p:nvPr/>
            </p:nvSpPr>
            <p:spPr bwMode="auto">
              <a:xfrm>
                <a:off x="3380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4577" name="Freeform 154"/>
              <p:cNvSpPr/>
              <p:nvPr/>
            </p:nvSpPr>
            <p:spPr bwMode="auto">
              <a:xfrm>
                <a:off x="4532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4579" name="Freeform 155"/>
              <p:cNvSpPr/>
              <p:nvPr/>
            </p:nvSpPr>
            <p:spPr bwMode="auto">
              <a:xfrm>
                <a:off x="1424" y="2735"/>
                <a:ext cx="708" cy="570"/>
              </a:xfrm>
              <a:custGeom>
                <a:avLst/>
                <a:gdLst>
                  <a:gd name="T0" fmla="*/ 0 w 708"/>
                  <a:gd name="T1" fmla="*/ 0 h 570"/>
                  <a:gd name="T2" fmla="*/ 132 w 708"/>
                  <a:gd name="T3" fmla="*/ 0 h 570"/>
                  <a:gd name="T4" fmla="*/ 129 w 708"/>
                  <a:gd name="T5" fmla="*/ 570 h 570"/>
                  <a:gd name="T6" fmla="*/ 708 w 708"/>
                  <a:gd name="T7" fmla="*/ 570 h 570"/>
                  <a:gd name="T8" fmla="*/ 708 w 708"/>
                  <a:gd name="T9" fmla="*/ 9 h 570"/>
                  <a:gd name="T10" fmla="*/ 573 w 708"/>
                  <a:gd name="T11" fmla="*/ 9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8" h="570">
                    <a:moveTo>
                      <a:pt x="0" y="0"/>
                    </a:moveTo>
                    <a:lnTo>
                      <a:pt x="132" y="0"/>
                    </a:lnTo>
                    <a:lnTo>
                      <a:pt x="129" y="570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4580" name="Freeform 156"/>
              <p:cNvSpPr/>
              <p:nvPr/>
            </p:nvSpPr>
            <p:spPr bwMode="auto">
              <a:xfrm>
                <a:off x="2576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4 w 726"/>
                  <a:gd name="T3" fmla="*/ 0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567">
                    <a:moveTo>
                      <a:pt x="0" y="0"/>
                    </a:moveTo>
                    <a:lnTo>
                      <a:pt x="144" y="0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4581" name="Freeform 157"/>
              <p:cNvSpPr/>
              <p:nvPr/>
            </p:nvSpPr>
            <p:spPr bwMode="auto">
              <a:xfrm>
                <a:off x="3728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84" name="Freeform 158"/>
              <p:cNvSpPr/>
              <p:nvPr/>
            </p:nvSpPr>
            <p:spPr bwMode="auto">
              <a:xfrm>
                <a:off x="4883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6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1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85" name="Freeform 159"/>
              <p:cNvSpPr/>
              <p:nvPr/>
            </p:nvSpPr>
            <p:spPr bwMode="auto">
              <a:xfrm>
                <a:off x="1346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86" name="Freeform 160"/>
              <p:cNvSpPr/>
              <p:nvPr/>
            </p:nvSpPr>
            <p:spPr bwMode="auto">
              <a:xfrm>
                <a:off x="251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87" name="Freeform 161"/>
              <p:cNvSpPr/>
              <p:nvPr/>
            </p:nvSpPr>
            <p:spPr bwMode="auto">
              <a:xfrm>
                <a:off x="3667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88" name="Freeform 162"/>
              <p:cNvSpPr/>
              <p:nvPr/>
            </p:nvSpPr>
            <p:spPr bwMode="auto">
              <a:xfrm>
                <a:off x="4819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89" name="Freeform 163"/>
              <p:cNvSpPr/>
              <p:nvPr/>
            </p:nvSpPr>
            <p:spPr bwMode="auto">
              <a:xfrm>
                <a:off x="5300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0" name="Freeform 164"/>
              <p:cNvSpPr/>
              <p:nvPr/>
            </p:nvSpPr>
            <p:spPr bwMode="auto">
              <a:xfrm>
                <a:off x="4148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1" name="Freeform 165"/>
              <p:cNvSpPr/>
              <p:nvPr/>
            </p:nvSpPr>
            <p:spPr bwMode="auto">
              <a:xfrm>
                <a:off x="299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2" name="Freeform 166"/>
              <p:cNvSpPr/>
              <p:nvPr/>
            </p:nvSpPr>
            <p:spPr bwMode="auto">
              <a:xfrm>
                <a:off x="1843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3" name="Freeform 167"/>
              <p:cNvSpPr/>
              <p:nvPr/>
            </p:nvSpPr>
            <p:spPr bwMode="auto">
              <a:xfrm>
                <a:off x="980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4" name="Freeform 168"/>
              <p:cNvSpPr/>
              <p:nvPr/>
            </p:nvSpPr>
            <p:spPr bwMode="auto">
              <a:xfrm>
                <a:off x="980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5" name="Freeform 169"/>
              <p:cNvSpPr/>
              <p:nvPr/>
            </p:nvSpPr>
            <p:spPr bwMode="auto">
              <a:xfrm>
                <a:off x="1346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6" name="Freeform 170"/>
              <p:cNvSpPr/>
              <p:nvPr/>
            </p:nvSpPr>
            <p:spPr bwMode="auto">
              <a:xfrm>
                <a:off x="2515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7" name="Freeform 171"/>
              <p:cNvSpPr/>
              <p:nvPr/>
            </p:nvSpPr>
            <p:spPr bwMode="auto">
              <a:xfrm>
                <a:off x="3667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8" name="Freeform 172"/>
              <p:cNvSpPr/>
              <p:nvPr/>
            </p:nvSpPr>
            <p:spPr bwMode="auto">
              <a:xfrm>
                <a:off x="4815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199" name="Freeform 173"/>
              <p:cNvSpPr/>
              <p:nvPr/>
            </p:nvSpPr>
            <p:spPr bwMode="auto">
              <a:xfrm>
                <a:off x="5301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00" name="Line 174"/>
              <p:cNvSpPr>
                <a:spLocks noChangeShapeType="1"/>
              </p:cNvSpPr>
              <p:nvPr/>
            </p:nvSpPr>
            <p:spPr bwMode="auto">
              <a:xfrm>
                <a:off x="4148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01" name="Line 175"/>
              <p:cNvSpPr>
                <a:spLocks noChangeShapeType="1"/>
              </p:cNvSpPr>
              <p:nvPr/>
            </p:nvSpPr>
            <p:spPr bwMode="auto">
              <a:xfrm>
                <a:off x="2997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02" name="Line 176"/>
              <p:cNvSpPr>
                <a:spLocks noChangeShapeType="1"/>
              </p:cNvSpPr>
              <p:nvPr/>
            </p:nvSpPr>
            <p:spPr bwMode="auto">
              <a:xfrm>
                <a:off x="184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03" name="Rectangle 177"/>
              <p:cNvSpPr>
                <a:spLocks noChangeArrowheads="1"/>
              </p:cNvSpPr>
              <p:nvPr/>
            </p:nvSpPr>
            <p:spPr bwMode="auto">
              <a:xfrm>
                <a:off x="23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3204" name="Text Box 178"/>
              <p:cNvSpPr txBox="1">
                <a:spLocks noChangeArrowheads="1"/>
              </p:cNvSpPr>
              <p:nvPr/>
            </p:nvSpPr>
            <p:spPr bwMode="auto">
              <a:xfrm>
                <a:off x="23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05" name="Rectangle 179"/>
              <p:cNvSpPr>
                <a:spLocks noChangeArrowheads="1"/>
              </p:cNvSpPr>
              <p:nvPr/>
            </p:nvSpPr>
            <p:spPr bwMode="auto">
              <a:xfrm>
                <a:off x="3493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3206" name="Text Box 180"/>
              <p:cNvSpPr txBox="1">
                <a:spLocks noChangeArrowheads="1"/>
              </p:cNvSpPr>
              <p:nvPr/>
            </p:nvSpPr>
            <p:spPr bwMode="auto">
              <a:xfrm>
                <a:off x="3524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07" name="Rectangle 181"/>
              <p:cNvSpPr>
                <a:spLocks noChangeArrowheads="1"/>
              </p:cNvSpPr>
              <p:nvPr/>
            </p:nvSpPr>
            <p:spPr bwMode="auto">
              <a:xfrm>
                <a:off x="464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3208" name="Text Box 182"/>
              <p:cNvSpPr txBox="1">
                <a:spLocks noChangeArrowheads="1"/>
              </p:cNvSpPr>
              <p:nvPr/>
            </p:nvSpPr>
            <p:spPr bwMode="auto">
              <a:xfrm>
                <a:off x="467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09" name="Line 183"/>
              <p:cNvSpPr>
                <a:spLocks noChangeShapeType="1"/>
              </p:cNvSpPr>
              <p:nvPr/>
            </p:nvSpPr>
            <p:spPr bwMode="auto">
              <a:xfrm>
                <a:off x="198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0" name="Line 184"/>
              <p:cNvSpPr>
                <a:spLocks noChangeShapeType="1"/>
              </p:cNvSpPr>
              <p:nvPr/>
            </p:nvSpPr>
            <p:spPr bwMode="auto">
              <a:xfrm>
                <a:off x="316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1" name="Line 185"/>
              <p:cNvSpPr>
                <a:spLocks noChangeShapeType="1"/>
              </p:cNvSpPr>
              <p:nvPr/>
            </p:nvSpPr>
            <p:spPr bwMode="auto">
              <a:xfrm>
                <a:off x="4317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2" name="Line 186"/>
              <p:cNvSpPr>
                <a:spLocks noChangeShapeType="1"/>
              </p:cNvSpPr>
              <p:nvPr/>
            </p:nvSpPr>
            <p:spPr bwMode="auto">
              <a:xfrm>
                <a:off x="54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3" name="Freeform 187"/>
              <p:cNvSpPr/>
              <p:nvPr/>
            </p:nvSpPr>
            <p:spPr bwMode="auto">
              <a:xfrm>
                <a:off x="3057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4" name="Freeform 188"/>
              <p:cNvSpPr/>
              <p:nvPr/>
            </p:nvSpPr>
            <p:spPr bwMode="auto">
              <a:xfrm>
                <a:off x="4209" y="2691"/>
                <a:ext cx="3" cy="522"/>
              </a:xfrm>
              <a:custGeom>
                <a:avLst/>
                <a:gdLst>
                  <a:gd name="T0" fmla="*/ 0 w 3"/>
                  <a:gd name="T1" fmla="*/ 0 h 522"/>
                  <a:gd name="T2" fmla="*/ 3 w 3"/>
                  <a:gd name="T3" fmla="*/ 522 h 5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22">
                    <a:moveTo>
                      <a:pt x="0" y="0"/>
                    </a:moveTo>
                    <a:lnTo>
                      <a:pt x="3" y="52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5" name="Freeform 189"/>
              <p:cNvSpPr/>
              <p:nvPr/>
            </p:nvSpPr>
            <p:spPr bwMode="auto">
              <a:xfrm>
                <a:off x="5349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16" name="Text Box 190"/>
              <p:cNvSpPr txBox="1">
                <a:spLocks noChangeArrowheads="1"/>
              </p:cNvSpPr>
              <p:nvPr/>
            </p:nvSpPr>
            <p:spPr bwMode="auto">
              <a:xfrm rot="5400000">
                <a:off x="1217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17" name="Text Box 191"/>
              <p:cNvSpPr txBox="1">
                <a:spLocks noChangeArrowheads="1"/>
              </p:cNvSpPr>
              <p:nvPr/>
            </p:nvSpPr>
            <p:spPr bwMode="auto">
              <a:xfrm rot="5400000">
                <a:off x="17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18" name="Text Box 192"/>
              <p:cNvSpPr txBox="1">
                <a:spLocks noChangeArrowheads="1"/>
              </p:cNvSpPr>
              <p:nvPr/>
            </p:nvSpPr>
            <p:spPr bwMode="auto">
              <a:xfrm rot="5400000">
                <a:off x="23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19" name="Text Box 193"/>
              <p:cNvSpPr txBox="1">
                <a:spLocks noChangeArrowheads="1"/>
              </p:cNvSpPr>
              <p:nvPr/>
            </p:nvSpPr>
            <p:spPr bwMode="auto">
              <a:xfrm rot="5400000">
                <a:off x="294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0" name="Text Box 194"/>
              <p:cNvSpPr txBox="1">
                <a:spLocks noChangeArrowheads="1"/>
              </p:cNvSpPr>
              <p:nvPr/>
            </p:nvSpPr>
            <p:spPr bwMode="auto">
              <a:xfrm rot="5400000">
                <a:off x="3520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1" name="Text Box 195"/>
              <p:cNvSpPr txBox="1">
                <a:spLocks noChangeArrowheads="1"/>
              </p:cNvSpPr>
              <p:nvPr/>
            </p:nvSpPr>
            <p:spPr bwMode="auto">
              <a:xfrm rot="5400000">
                <a:off x="4097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2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46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3" name="Text Box 197"/>
              <p:cNvSpPr txBox="1">
                <a:spLocks noChangeArrowheads="1"/>
              </p:cNvSpPr>
              <p:nvPr/>
            </p:nvSpPr>
            <p:spPr bwMode="auto">
              <a:xfrm rot="5400000">
                <a:off x="5268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4" name="Text Box 198"/>
              <p:cNvSpPr txBox="1">
                <a:spLocks noChangeArrowheads="1"/>
              </p:cNvSpPr>
              <p:nvPr/>
            </p:nvSpPr>
            <p:spPr bwMode="auto">
              <a:xfrm>
                <a:off x="684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5" name="Text Box 199"/>
              <p:cNvSpPr txBox="1">
                <a:spLocks noChangeArrowheads="1"/>
              </p:cNvSpPr>
              <p:nvPr/>
            </p:nvSpPr>
            <p:spPr bwMode="auto">
              <a:xfrm>
                <a:off x="684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7" name="Text Box 200"/>
              <p:cNvSpPr txBox="1">
                <a:spLocks noChangeArrowheads="1"/>
              </p:cNvSpPr>
              <p:nvPr/>
            </p:nvSpPr>
            <p:spPr bwMode="auto">
              <a:xfrm>
                <a:off x="648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28" name="Line 201"/>
              <p:cNvSpPr>
                <a:spLocks noChangeShapeType="1"/>
              </p:cNvSpPr>
              <p:nvPr/>
            </p:nvSpPr>
            <p:spPr bwMode="auto">
              <a:xfrm>
                <a:off x="356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29" name="Text Box 202"/>
              <p:cNvSpPr txBox="1">
                <a:spLocks noChangeArrowheads="1"/>
              </p:cNvSpPr>
              <p:nvPr/>
            </p:nvSpPr>
            <p:spPr bwMode="auto">
              <a:xfrm>
                <a:off x="684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0" name="Text Box 203"/>
              <p:cNvSpPr txBox="1">
                <a:spLocks noChangeArrowheads="1"/>
              </p:cNvSpPr>
              <p:nvPr/>
            </p:nvSpPr>
            <p:spPr bwMode="auto">
              <a:xfrm>
                <a:off x="648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1" name="Text Box 204"/>
              <p:cNvSpPr txBox="1">
                <a:spLocks noChangeArrowheads="1"/>
              </p:cNvSpPr>
              <p:nvPr/>
            </p:nvSpPr>
            <p:spPr bwMode="auto">
              <a:xfrm rot="5400000">
                <a:off x="68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2" name="Text Box 205"/>
              <p:cNvSpPr txBox="1">
                <a:spLocks noChangeArrowheads="1"/>
              </p:cNvSpPr>
              <p:nvPr/>
            </p:nvSpPr>
            <p:spPr bwMode="auto">
              <a:xfrm rot="5400000">
                <a:off x="689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3" name="Text Box 206"/>
              <p:cNvSpPr txBox="1">
                <a:spLocks noChangeArrowheads="1"/>
              </p:cNvSpPr>
              <p:nvPr/>
            </p:nvSpPr>
            <p:spPr bwMode="auto">
              <a:xfrm>
                <a:off x="372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4" name="Text Box 207"/>
              <p:cNvSpPr txBox="1">
                <a:spLocks noChangeArrowheads="1"/>
              </p:cNvSpPr>
              <p:nvPr/>
            </p:nvSpPr>
            <p:spPr bwMode="auto">
              <a:xfrm>
                <a:off x="372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5" name="Text Box 208"/>
              <p:cNvSpPr txBox="1">
                <a:spLocks noChangeArrowheads="1"/>
              </p:cNvSpPr>
              <p:nvPr/>
            </p:nvSpPr>
            <p:spPr bwMode="auto">
              <a:xfrm>
                <a:off x="372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6" name="Text Box 209"/>
              <p:cNvSpPr txBox="1">
                <a:spLocks noChangeArrowheads="1"/>
              </p:cNvSpPr>
              <p:nvPr/>
            </p:nvSpPr>
            <p:spPr bwMode="auto">
              <a:xfrm>
                <a:off x="372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7" name="Text Box 210"/>
              <p:cNvSpPr txBox="1">
                <a:spLocks noChangeArrowheads="1"/>
              </p:cNvSpPr>
              <p:nvPr/>
            </p:nvSpPr>
            <p:spPr bwMode="auto">
              <a:xfrm>
                <a:off x="372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8" name="Text Box 211"/>
              <p:cNvSpPr txBox="1">
                <a:spLocks noChangeArrowheads="1"/>
              </p:cNvSpPr>
              <p:nvPr/>
            </p:nvSpPr>
            <p:spPr bwMode="auto">
              <a:xfrm>
                <a:off x="399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39" name="Text Box 212"/>
              <p:cNvSpPr txBox="1">
                <a:spLocks noChangeArrowheads="1"/>
              </p:cNvSpPr>
              <p:nvPr/>
            </p:nvSpPr>
            <p:spPr bwMode="auto">
              <a:xfrm>
                <a:off x="399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0" name="Text Box 213"/>
              <p:cNvSpPr txBox="1">
                <a:spLocks noChangeArrowheads="1"/>
              </p:cNvSpPr>
              <p:nvPr/>
            </p:nvSpPr>
            <p:spPr bwMode="auto">
              <a:xfrm>
                <a:off x="399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1" name="Text Box 214"/>
              <p:cNvSpPr txBox="1">
                <a:spLocks noChangeArrowheads="1"/>
              </p:cNvSpPr>
              <p:nvPr/>
            </p:nvSpPr>
            <p:spPr bwMode="auto">
              <a:xfrm>
                <a:off x="399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2" name="Text Box 215"/>
              <p:cNvSpPr txBox="1">
                <a:spLocks noChangeArrowheads="1"/>
              </p:cNvSpPr>
              <p:nvPr/>
            </p:nvSpPr>
            <p:spPr bwMode="auto">
              <a:xfrm>
                <a:off x="399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3" name="Text Box 216"/>
              <p:cNvSpPr txBox="1">
                <a:spLocks noChangeArrowheads="1"/>
              </p:cNvSpPr>
              <p:nvPr/>
            </p:nvSpPr>
            <p:spPr bwMode="auto">
              <a:xfrm>
                <a:off x="196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5" name="Text Box 217"/>
              <p:cNvSpPr txBox="1">
                <a:spLocks noChangeArrowheads="1"/>
              </p:cNvSpPr>
              <p:nvPr/>
            </p:nvSpPr>
            <p:spPr bwMode="auto">
              <a:xfrm>
                <a:off x="312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6" name="Text Box 218"/>
              <p:cNvSpPr txBox="1">
                <a:spLocks noChangeArrowheads="1"/>
              </p:cNvSpPr>
              <p:nvPr/>
            </p:nvSpPr>
            <p:spPr bwMode="auto">
              <a:xfrm>
                <a:off x="4280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7" name="Text Box 219"/>
              <p:cNvSpPr txBox="1">
                <a:spLocks noChangeArrowheads="1"/>
              </p:cNvSpPr>
              <p:nvPr/>
            </p:nvSpPr>
            <p:spPr bwMode="auto">
              <a:xfrm>
                <a:off x="543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48" name="Line 220"/>
              <p:cNvSpPr>
                <a:spLocks noChangeShapeType="1"/>
              </p:cNvSpPr>
              <p:nvPr/>
            </p:nvSpPr>
            <p:spPr bwMode="auto">
              <a:xfrm>
                <a:off x="164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49" name="Line 221"/>
              <p:cNvSpPr>
                <a:spLocks noChangeShapeType="1"/>
              </p:cNvSpPr>
              <p:nvPr/>
            </p:nvSpPr>
            <p:spPr bwMode="auto">
              <a:xfrm>
                <a:off x="164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0" name="Line 222"/>
              <p:cNvSpPr>
                <a:spLocks noChangeShapeType="1"/>
              </p:cNvSpPr>
              <p:nvPr/>
            </p:nvSpPr>
            <p:spPr bwMode="auto">
              <a:xfrm>
                <a:off x="164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1" name="Line 223"/>
              <p:cNvSpPr>
                <a:spLocks noChangeShapeType="1"/>
              </p:cNvSpPr>
              <p:nvPr/>
            </p:nvSpPr>
            <p:spPr bwMode="auto">
              <a:xfrm>
                <a:off x="164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2" name="Line 224"/>
              <p:cNvSpPr>
                <a:spLocks noChangeShapeType="1"/>
              </p:cNvSpPr>
              <p:nvPr/>
            </p:nvSpPr>
            <p:spPr bwMode="auto">
              <a:xfrm>
                <a:off x="164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3" name="Line 225"/>
              <p:cNvSpPr>
                <a:spLocks noChangeShapeType="1"/>
              </p:cNvSpPr>
              <p:nvPr/>
            </p:nvSpPr>
            <p:spPr bwMode="auto">
              <a:xfrm>
                <a:off x="164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4" name="Line 226"/>
              <p:cNvSpPr>
                <a:spLocks noChangeShapeType="1"/>
              </p:cNvSpPr>
              <p:nvPr/>
            </p:nvSpPr>
            <p:spPr bwMode="auto">
              <a:xfrm>
                <a:off x="164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5" name="Line 227"/>
              <p:cNvSpPr>
                <a:spLocks noChangeShapeType="1"/>
              </p:cNvSpPr>
              <p:nvPr/>
            </p:nvSpPr>
            <p:spPr bwMode="auto">
              <a:xfrm>
                <a:off x="164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6" name="Line 228"/>
              <p:cNvSpPr>
                <a:spLocks noChangeShapeType="1"/>
              </p:cNvSpPr>
              <p:nvPr/>
            </p:nvSpPr>
            <p:spPr bwMode="auto">
              <a:xfrm>
                <a:off x="164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7" name="Line 229"/>
              <p:cNvSpPr>
                <a:spLocks noChangeShapeType="1"/>
              </p:cNvSpPr>
              <p:nvPr/>
            </p:nvSpPr>
            <p:spPr bwMode="auto">
              <a:xfrm>
                <a:off x="164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58" name="Text Box 230"/>
              <p:cNvSpPr txBox="1">
                <a:spLocks noChangeArrowheads="1"/>
              </p:cNvSpPr>
              <p:nvPr/>
            </p:nvSpPr>
            <p:spPr bwMode="auto">
              <a:xfrm>
                <a:off x="672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59" name="Line 231"/>
              <p:cNvSpPr>
                <a:spLocks noChangeShapeType="1"/>
              </p:cNvSpPr>
              <p:nvPr/>
            </p:nvSpPr>
            <p:spPr bwMode="auto">
              <a:xfrm>
                <a:off x="706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3260" name="Text Box 232"/>
              <p:cNvSpPr txBox="1">
                <a:spLocks noChangeArrowheads="1"/>
              </p:cNvSpPr>
              <p:nvPr/>
            </p:nvSpPr>
            <p:spPr bwMode="auto">
              <a:xfrm>
                <a:off x="692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261" name="Line 233"/>
              <p:cNvSpPr>
                <a:spLocks noChangeShapeType="1"/>
              </p:cNvSpPr>
              <p:nvPr/>
            </p:nvSpPr>
            <p:spPr bwMode="auto">
              <a:xfrm>
                <a:off x="750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13286" name="Group 234"/>
          <p:cNvGrpSpPr/>
          <p:nvPr/>
        </p:nvGrpSpPr>
        <p:grpSpPr bwMode="auto">
          <a:xfrm>
            <a:off x="2673673" y="995139"/>
            <a:ext cx="7292975" cy="403225"/>
            <a:chOff x="1022" y="538"/>
            <a:chExt cx="4594" cy="254"/>
          </a:xfrm>
        </p:grpSpPr>
        <p:sp>
          <p:nvSpPr>
            <p:cNvPr id="213287" name="Line 235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3288" name="Freeform 236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3289" name="Line 237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3290" name="Freeform 238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3291" name="Line 239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3292" name="Text Box 240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3293" name="Text Box 241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3294" name="Text Box 242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3295" name="Text Box 243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3296" name="Line 244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297" name="Line 245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298" name="Line 246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299" name="Line 247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300" name="Line 248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301" name="Line 249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302" name="Line 250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3303" name="Line 251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13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911424" y="1052736"/>
            <a:ext cx="8921750" cy="5654675"/>
            <a:chOff x="140" y="713"/>
            <a:chExt cx="5620" cy="3562"/>
          </a:xfrm>
        </p:grpSpPr>
        <p:sp>
          <p:nvSpPr>
            <p:cNvPr id="3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4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600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601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5604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5605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214353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214358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4359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4354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4355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214356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4357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4208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09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14210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214346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214351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4352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4347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4348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214349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4350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4211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2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3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4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5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6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7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8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19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0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1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2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3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4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5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6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7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8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29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0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1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2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3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4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5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6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7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8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39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0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1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2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3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4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5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6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47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4248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249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0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1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2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3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4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6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7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8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59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0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1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2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3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4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5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7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8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69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0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1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5853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5854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5855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2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3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4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5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6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7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8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79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0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1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2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3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4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5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6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7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8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89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4290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291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4292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293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14294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295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96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97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98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299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00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01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02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4303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4304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4305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4306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4307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4308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4309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4310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4311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4312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4313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14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4315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4316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4317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4318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19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0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1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2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3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4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5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6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7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28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4329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4330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4331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4332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3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4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5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6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7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8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39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40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41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42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214343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44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214345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4360" name="Group 221"/>
          <p:cNvGrpSpPr/>
          <p:nvPr/>
        </p:nvGrpSpPr>
        <p:grpSpPr bwMode="auto">
          <a:xfrm>
            <a:off x="2273499" y="774923"/>
            <a:ext cx="7292975" cy="403225"/>
            <a:chOff x="1022" y="538"/>
            <a:chExt cx="4594" cy="254"/>
          </a:xfrm>
        </p:grpSpPr>
        <p:sp>
          <p:nvSpPr>
            <p:cNvPr id="214361" name="Line 222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62" name="Freeform 223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63" name="Line 224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64" name="Freeform 225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65" name="Line 226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366" name="Text Box 227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67" name="Text Box 228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68" name="Text Box 229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69" name="Text Box 230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4370" name="Line 231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1" name="Line 232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2" name="Line 233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3" name="Line 234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4" name="Line 235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5" name="Line 236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6" name="Line 237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4377" name="Line 238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14378" name="Group 239"/>
          <p:cNvGrpSpPr/>
          <p:nvPr/>
        </p:nvGrpSpPr>
        <p:grpSpPr bwMode="auto">
          <a:xfrm>
            <a:off x="911424" y="990823"/>
            <a:ext cx="311150" cy="4778375"/>
            <a:chOff x="140" y="674"/>
            <a:chExt cx="196" cy="3010"/>
          </a:xfrm>
        </p:grpSpPr>
        <p:sp>
          <p:nvSpPr>
            <p:cNvPr id="214379" name="Text Box 240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0" name="Text Box 241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1" name="Text Box 242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2" name="Text Box 243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3" name="Text Box 244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4" name="Text Box 245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5" name="Text Box 246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6" name="Text Box 247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7" name="Text Box 248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4388" name="Text Box 249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14390" name="Text Box 251"/>
          <p:cNvSpPr txBox="1">
            <a:spLocks noChangeArrowheads="1"/>
          </p:cNvSpPr>
          <p:nvPr/>
        </p:nvSpPr>
        <p:spPr bwMode="auto">
          <a:xfrm>
            <a:off x="-4797" y="6725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14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623343" y="846917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" name="Group 20"/>
          <p:cNvGrpSpPr/>
          <p:nvPr/>
        </p:nvGrpSpPr>
        <p:grpSpPr bwMode="auto">
          <a:xfrm>
            <a:off x="1261268" y="1062817"/>
            <a:ext cx="8921750" cy="5716588"/>
            <a:chOff x="140" y="674"/>
            <a:chExt cx="5620" cy="3601"/>
          </a:xfrm>
        </p:grpSpPr>
        <p:grpSp>
          <p:nvGrpSpPr>
            <p:cNvPr id="21" name="Group 21"/>
            <p:cNvGrpSpPr/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33" name="Rectangle 22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34" name="Rectangle 23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" name="Text Box 24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" name="Rectangle 25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" name="Rectangle 26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Text Box 27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Rectangle 28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" name="Rectangle 29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" name="Text Box 30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" name="Rectangle 31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Rectangle 32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Text Box 33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Rectangle 34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Rectangle 35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" name="Rectangle 36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" name="Rectangle 37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" name="Rectangle 38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" name="Rectangle 39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" name="Rectangle 40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" name="Rectangle 41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" name="Rectangle 42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" name="Line 43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" name="Line 44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" name="Freeform 45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" name="Line 46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" name="Line 47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9" name="Freeform 48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49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50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2" name="Line 51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3" name="Line 52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03" name="Freeform 53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04" name="Line 54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05" name="Line 55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06" name="Freeform 56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07" name="Freeform 57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08" name="Line 58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09" name="Line 59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0" name="Freeform 60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1" name="Line 61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2" name="Line 62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3" name="Freeform 63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14" name="Freeform 64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15" name="Line 65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6" name="Line 66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7" name="Freeform 67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8" name="Line 68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19" name="Line 69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20" name="Freeform 70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21" name="Freeform 71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22" name="Line 72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23" name="Line 73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24" name="Freeform 74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25" name="Line 75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26" name="Line 76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27" name="Freeform 77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28" name="Freeform 78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29" name="Line 79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30" name="Line 80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31" name="Freeform 81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32" name="Line 82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33" name="Line 83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934" name="Freeform 84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35" name="Freeform 85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6936" name="Group 86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215369" name="Group 87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15374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375" name="Line 8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5370" name="Freeform 90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5371" name="Group 91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15372" name="Line 9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373" name="Line 9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6937" name="Freeform 94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38" name="Freeform 95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6939" name="Group 96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215362" name="Group 97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15367" name="Line 9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368" name="Line 9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5363" name="Freeform 100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5364" name="Group 101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15365" name="Line 10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366" name="Line 10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6940" name="Freeform 104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41" name="Freeform 105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42" name="Freeform 106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943" name="Line 107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624" name="Line 108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625" name="Line 109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628" name="Line 110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6630" name="Line 111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2" name="Line 112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3" name="Line 113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4" name="Line 114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5" name="Freeform 115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6" name="Freeform 116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7" name="Freeform 117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8" name="Freeform 118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39" name="Freeform 119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0" name="Freeform 120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1" name="Line 121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2" name="Line 122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3" name="Line 123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4" name="Line 124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5" name="Line 125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6" name="Line 126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7" name="Line 127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8" name="Line 128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49" name="Freeform 129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0" name="Line 130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1" name="Line 131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2" name="Line 132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3" name="Line 133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4" name="Line 134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5" name="Line 135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6" name="Line 136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7" name="Line 137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8" name="Freeform 138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59" name="Freeform 139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0" name="Rectangle 140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5261" name="Text Box 141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262" name="Freeform 142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3" name="Freeform 143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4" name="Freeform 144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5" name="Freeform 145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6" name="Freeform 146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7" name="Freeform 147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8" name="Freeform 148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69" name="Freeform 149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0" name="Freeform 150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1" name="Freeform 151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2" name="Freeform 152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3" name="Freeform 153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4" name="Freeform 154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5" name="Freeform 155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6" name="Freeform 156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7" name="Freeform 157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8" name="Freeform 158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79" name="Freeform 159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0" name="Freeform 160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1" name="Freeform 161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2" name="Freeform 162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3" name="Freeform 163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4" name="Freeform 164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5" name="Freeform 165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6" name="Freeform 166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7" name="Freeform 167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8" name="Freeform 168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89" name="Freeform 169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0" name="Freeform 170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2" name="Freeform 171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4" name="Freeform 172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5" name="Freeform 173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6" name="Freeform 174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7" name="Freeform 175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8" name="Freeform 176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299" name="Freeform 177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00" name="Freeform 178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01" name="Freeform 179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02" name="Line 180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03" name="Line 181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04" name="Line 182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05" name="Rectangle 183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5306" name="Text Box 184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07" name="Rectangle 185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5308" name="Text Box 186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09" name="Rectangle 187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5310" name="Text Box 188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11" name="Line 189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2" name="Line 190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3" name="Line 191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4" name="Line 192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5" name="Freeform 193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6" name="Freeform 194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7" name="Freeform 195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18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19" name="Text Box 197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0" name="Text Box 198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1" name="Text Box 199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2" name="Text Box 200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3" name="Text Box 201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4" name="Text Box 202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5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6" name="Text Box 204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7" name="Text Box 205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8" name="Text Box 206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29" name="Line 207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30" name="Text Box 208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1" name="Text Box 209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2" name="Text Box 210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3" name="Text Box 211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4" name="Text Box 212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5" name="Text Box 213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6" name="Text Box 214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7" name="Text Box 215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8" name="Text Box 216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39" name="Text Box 217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0" name="Text Box 218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1" name="Text Box 219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2" name="Text Box 220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3" name="Text Box 221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4" name="Text Box 222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5" name="Text Box 223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6" name="Text Box 224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7" name="Text Box 225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48" name="Line 226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49" name="Line 227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0" name="Line 228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1" name="Line 229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2" name="Line 230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3" name="Line 231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4" name="Line 232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5" name="Line 233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6" name="Line 234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7" name="Line 235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58" name="Text Box 236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59" name="Line 237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5360" name="Text Box 238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361" name="Line 239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" name="Group 240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23" name="Text Box 241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" name="Text Box 242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" name="Text Box 243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" name="Text Box 244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Text Box 245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Text Box 247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Text Box 248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Text Box 249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Text Box 250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5377" name="Text Box 252"/>
          <p:cNvSpPr txBox="1">
            <a:spLocks noChangeArrowheads="1"/>
          </p:cNvSpPr>
          <p:nvPr/>
        </p:nvSpPr>
        <p:spPr bwMode="auto">
          <a:xfrm>
            <a:off x="170655" y="70630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15378" name="Group 253"/>
          <p:cNvGrpSpPr/>
          <p:nvPr/>
        </p:nvGrpSpPr>
        <p:grpSpPr bwMode="auto">
          <a:xfrm>
            <a:off x="2470943" y="1353330"/>
            <a:ext cx="7250113" cy="682625"/>
            <a:chOff x="902" y="857"/>
            <a:chExt cx="4567" cy="430"/>
          </a:xfrm>
        </p:grpSpPr>
        <p:grpSp>
          <p:nvGrpSpPr>
            <p:cNvPr id="215379" name="Group 254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15384" name="Group 255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15395" name="Rectangle 256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396" name="Rectangle 257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397" name="Rectangle 258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398" name="Rectangle 259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399" name="Rectangle 260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400" name="Rectangle 261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401" name="Rectangle 262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402" name="Rectangle 263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15385" name="Group 264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15386" name="Freeform 265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87" name="Line 266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88" name="Line 267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89" name="Line 268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90" name="Line 269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91" name="Line 270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92" name="Line 271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93" name="Line 272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394" name="Line 273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5380" name="Text Box 274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381" name="Text Box 275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382" name="Text Box 276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383" name="Text Box 277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15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640781" y="854075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98231" y="106363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1278706" y="1131888"/>
            <a:ext cx="8921750" cy="5654675"/>
            <a:chOff x="140" y="713"/>
            <a:chExt cx="5620" cy="3562"/>
          </a:xfrm>
        </p:grpSpPr>
        <p:sp>
          <p:nvSpPr>
            <p:cNvPr id="23" name="Rectangle 2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4" name="Rectangle 2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6" name="Rectangle 2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7" name="Rectangle 2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8" name="Text Box 2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9" name="Rectangle 2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0" name="Rectangle 3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1" name="Text Box 3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32" name="Rectangle 3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4" name="Text Box 3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6" name="Rectangle 3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7" name="Rectangle 3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8" name="Rectangle 3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9" name="Rectangle 3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40" name="Rectangle 4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41" name="Rectangle 4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44" name="Line 4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5" name="Line 4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" name="Line 4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Freeform 5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Line 5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" name="Line 5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Line 5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" name="Line 6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64" name="Freeform 6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65" name="Freeform 6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66" name="Line 6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67" name="Line 6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68" name="Freeform 6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69" name="Line 6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0" name="Line 7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1" name="Freeform 7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72" name="Freeform 7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73" name="Line 7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4" name="Line 7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5" name="Freeform 7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6" name="Line 7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7" name="Line 7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78" name="Freeform 7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79" name="Freeform 7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80" name="Line 8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81" name="Line 8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82" name="Freeform 8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83" name="Line 8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85" name="Line 8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6086" name="Freeform 8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87" name="Freeform 8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16088" name="Group 8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216367" name="Group 8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216372" name="Line 8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6373" name="Line 9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6368" name="Freeform 9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6369" name="Group 9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216370" name="Line 9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6371" name="Line 9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6089" name="Freeform 9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0" name="Freeform 9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16091" name="Group 9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216360" name="Group 9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216365" name="Line 9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6366" name="Line 10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6361" name="Freeform 10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6362" name="Group 10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216363" name="Line 10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6364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6092" name="Freeform 10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3" name="Freeform 10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4" name="Freeform 10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5" name="Line 10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6" name="Line 10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7" name="Line 11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8" name="Line 11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099" name="Line 11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0" name="Line 11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1" name="Line 11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2" name="Line 11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3" name="Freeform 11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4" name="Freeform 11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5" name="Freeform 11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6" name="Freeform 11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7" name="Freeform 12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8" name="Freeform 12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09" name="Line 12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0" name="Line 12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1" name="Line 12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2" name="Line 12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3" name="Line 12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4" name="Line 12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5" name="Line 12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6" name="Line 12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7" name="Freeform 13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8" name="Line 13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19" name="Line 13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0" name="Line 13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1" name="Line 13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2" name="Line 13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3" name="Line 13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4" name="Line 13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5" name="Line 13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6" name="Freeform 13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127" name="Freeform 14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75" name="Rectangle 14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7976" name="Text Box 142"/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7977" name="Freeform 14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78" name="Freeform 14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79" name="Freeform 14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0" name="Freeform 14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1" name="Freeform 14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2" name="Freeform 14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3" name="Freeform 14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4" name="Freeform 15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5" name="Freeform 15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6" name="Freeform 15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7" name="Freeform 15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8" name="Freeform 15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89" name="Freeform 15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0" name="Freeform 15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1" name="Freeform 15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2" name="Freeform 15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3" name="Freeform 15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4" name="Freeform 16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5" name="Freeform 16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6" name="Freeform 16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7" name="Freeform 16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8" name="Freeform 16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7999" name="Freeform 16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0" name="Freeform 16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1" name="Freeform 16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2" name="Freeform 16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3" name="Freeform 16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4" name="Freeform 17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5" name="Freeform 17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6" name="Freeform 17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7" name="Freeform 17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8" name="Freeform 17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09" name="Freeform 17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0" name="Freeform 17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1" name="Freeform 17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2" name="Freeform 17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3" name="Freeform 17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4" name="Freeform 18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5" name="Line 18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6" name="Line 18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7" name="Line 18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18" name="Rectangle 18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8019" name="Text Box 185"/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8020" name="Rectangle 18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8021" name="Text Box 187"/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8022" name="Rectangle 18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8023" name="Text Box 189"/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8024" name="Line 19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25" name="Line 19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26" name="Line 19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27" name="Line 19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28" name="Freeform 19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29" name="Freeform 19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30" name="Freeform 19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8031" name="Text Box 19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7648" name="Text Box 19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7649" name="Text Box 19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7651" name="Text Box 20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7655" name="Text Box 20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6320" name="Text Box 20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6321" name="Text Box 20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6322" name="Text Box 20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16323" name="Text Box 20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324" name="Text Box 20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325" name="Text Box 20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326" name="Line 20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27" name="Text Box 20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328" name="Text Box 21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6329" name="Text Box 21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6330" name="Text Box 21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6331" name="Text Box 21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2" name="Text Box 21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3" name="Text Box 21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4" name="Text Box 21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5" name="Text Box 21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6" name="Text Box 21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7" name="Text Box 21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8" name="Text Box 22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39" name="Text Box 22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40" name="Text Box 22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6341" name="Text Box 2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6343" name="Text Box 2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6344" name="Text Box 2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6345" name="Text Box 2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16346" name="Line 22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47" name="Line 22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48" name="Line 22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49" name="Line 23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0" name="Line 23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1" name="Line 23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2" name="Line 23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3" name="Line 23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4" name="Line 23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5" name="Line 23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6" name="Text Box 23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216357" name="Line 23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6358" name="Text Box 23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216359" name="Line 24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6374" name="Group 241"/>
          <p:cNvGrpSpPr/>
          <p:nvPr/>
        </p:nvGrpSpPr>
        <p:grpSpPr bwMode="auto">
          <a:xfrm>
            <a:off x="1278706" y="1069975"/>
            <a:ext cx="8459788" cy="4778375"/>
            <a:chOff x="140" y="674"/>
            <a:chExt cx="5329" cy="3010"/>
          </a:xfrm>
        </p:grpSpPr>
        <p:grpSp>
          <p:nvGrpSpPr>
            <p:cNvPr id="216375" name="Group 242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216401" name="Text Box 243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2" name="Text Box 244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3" name="Text Box 245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4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5" name="Text Box 247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6" name="Text Box 248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7" name="Text Box 249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8" name="Text Box 250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09" name="Text Box 251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410" name="Text Box 252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16376" name="Group 253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16377" name="Group 254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216382" name="Group 255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216393" name="Rectangle 256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394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395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396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397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398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399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400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16383" name="Group 264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216384" name="Freeform 265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85" name="Line 266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86" name="Line 267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87" name="Line 268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88" name="Line 269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89" name="Line 270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90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91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392" name="Line 273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16378" name="Text Box 274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379" name="Text Box 275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380" name="Text Box 276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381" name="Text Box 277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6411" name="Group 278"/>
          <p:cNvGrpSpPr/>
          <p:nvPr/>
        </p:nvGrpSpPr>
        <p:grpSpPr bwMode="auto">
          <a:xfrm>
            <a:off x="2509019" y="2617788"/>
            <a:ext cx="6613525" cy="1963737"/>
            <a:chOff x="915" y="1649"/>
            <a:chExt cx="4166" cy="1237"/>
          </a:xfrm>
        </p:grpSpPr>
        <p:grpSp>
          <p:nvGrpSpPr>
            <p:cNvPr id="216412" name="Group 279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16421" name="Group 280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16454" name="Freeform 281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455" name="Freeform 282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456" name="Freeform 283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457" name="Freeform 284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458" name="Freeform 285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6422" name="Group 286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16447" name="Group 287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52" name="Line 28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53" name="Line 28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6448" name="Freeform 290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6449" name="Group 291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50" name="Line 29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51" name="Line 29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16423" name="Group 294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16440" name="Group 295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45" name="Line 29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46" name="Line 29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6441" name="Freeform 298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6442" name="Group 299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43" name="Line 300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44" name="Line 301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16424" name="Group 302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16433" name="Group 303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38" name="Line 30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39" name="Line 30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6434" name="Freeform 306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6435" name="Group 307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36" name="Line 30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37" name="Line 30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16425" name="Group 310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16426" name="Group 311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31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32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6427" name="Freeform 314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6428" name="Group 315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6429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430" name="Line 31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16413" name="Rectangle 318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14" name="Text Box 319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15" name="Rectangle 320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16" name="Rectangle 321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17" name="Rectangle 322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18" name="Text Box 323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19" name="Text Box 324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6420" name="Text Box 325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216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532186" y="1100297"/>
            <a:ext cx="8921750" cy="5716588"/>
            <a:chOff x="140" y="674"/>
            <a:chExt cx="5620" cy="3601"/>
          </a:xfrm>
        </p:grpSpPr>
        <p:grpSp>
          <p:nvGrpSpPr>
            <p:cNvPr id="3" name="Group 3"/>
            <p:cNvGrpSpPr/>
            <p:nvPr/>
          </p:nvGrpSpPr>
          <p:grpSpPr bwMode="auto">
            <a:xfrm>
              <a:off x="140" y="674"/>
              <a:ext cx="5620" cy="3601"/>
              <a:chOff x="140" y="674"/>
              <a:chExt cx="5620" cy="3601"/>
            </a:xfrm>
          </p:grpSpPr>
          <p:grpSp>
            <p:nvGrpSpPr>
              <p:cNvPr id="52" name="Group 4"/>
              <p:cNvGrpSpPr/>
              <p:nvPr/>
            </p:nvGrpSpPr>
            <p:grpSpPr bwMode="auto">
              <a:xfrm>
                <a:off x="140" y="674"/>
                <a:ext cx="5620" cy="3601"/>
                <a:chOff x="140" y="674"/>
                <a:chExt cx="5620" cy="3601"/>
              </a:xfrm>
            </p:grpSpPr>
            <p:grpSp>
              <p:nvGrpSpPr>
                <p:cNvPr id="217417" name="Group 5"/>
                <p:cNvGrpSpPr/>
                <p:nvPr/>
              </p:nvGrpSpPr>
              <p:grpSpPr bwMode="auto">
                <a:xfrm>
                  <a:off x="140" y="674"/>
                  <a:ext cx="5620" cy="3601"/>
                  <a:chOff x="140" y="674"/>
                  <a:chExt cx="5620" cy="3601"/>
                </a:xfrm>
              </p:grpSpPr>
              <p:grpSp>
                <p:nvGrpSpPr>
                  <p:cNvPr id="217459" name="Group 6"/>
                  <p:cNvGrpSpPr/>
                  <p:nvPr/>
                </p:nvGrpSpPr>
                <p:grpSpPr bwMode="auto">
                  <a:xfrm>
                    <a:off x="140" y="713"/>
                    <a:ext cx="5620" cy="3562"/>
                    <a:chOff x="140" y="713"/>
                    <a:chExt cx="5620" cy="3562"/>
                  </a:xfrm>
                </p:grpSpPr>
                <p:sp>
                  <p:nvSpPr>
                    <p:cNvPr id="29053" name="Rectangle 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2" y="713"/>
                      <a:ext cx="576" cy="3168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20000"/>
                        </a:spcBef>
                      </a:pPr>
                      <a:endParaRPr lang="zh-CN" altLang="en-US"/>
                    </a:p>
                  </p:txBody>
                </p:sp>
                <p:sp>
                  <p:nvSpPr>
                    <p:cNvPr id="29054" name="Rectangle 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28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15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055" name="Text Box 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8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2" name="Rectangle 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52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3" name="Rectangle 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69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31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4" name="Text Box 1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549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5" name="Rectangle 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93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16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6" name="Rectangle 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44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47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7" name="Text Box 1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24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8" name="Rectangle 1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8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32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9" name="Rectangle 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63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0" name="Text Box 1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60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1" name="Rectangle 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04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48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2" name="Rectangle 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28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15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3" name="Rectangle 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52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4" name="Rectangle 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69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31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5" name="Rectangle 2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93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16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6" name="Rectangle 2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44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47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7" name="Rectangle 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8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32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8" name="Rectangle 2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63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89" name="Rectangle 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04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48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90" name="Line 2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2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1" name="Line 2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10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2" name="Freeform 30"/>
                    <p:cNvSpPr/>
                    <p:nvPr/>
                  </p:nvSpPr>
                  <p:spPr bwMode="auto">
                    <a:xfrm>
                      <a:off x="1260" y="2709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3" name="Line 3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2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4" name="Line 3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4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5" name="Freeform 33"/>
                    <p:cNvSpPr/>
                    <p:nvPr/>
                  </p:nvSpPr>
                  <p:spPr bwMode="auto">
                    <a:xfrm>
                      <a:off x="1434" y="2353"/>
                      <a:ext cx="112" cy="1"/>
                    </a:xfrm>
                    <a:custGeom>
                      <a:avLst/>
                      <a:gdLst>
                        <a:gd name="T0" fmla="*/ 0 w 112"/>
                        <a:gd name="T1" fmla="*/ 0 h 1"/>
                        <a:gd name="T2" fmla="*/ 112 w 112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12" h="1">
                          <a:moveTo>
                            <a:pt x="0" y="0"/>
                          </a:moveTo>
                          <a:lnTo>
                            <a:pt x="112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6" name="Freeform 34"/>
                    <p:cNvSpPr/>
                    <p:nvPr/>
                  </p:nvSpPr>
                  <p:spPr bwMode="auto">
                    <a:xfrm>
                      <a:off x="1059" y="1209"/>
                      <a:ext cx="152" cy="1469"/>
                    </a:xfrm>
                    <a:custGeom>
                      <a:avLst/>
                      <a:gdLst>
                        <a:gd name="T0" fmla="*/ 152 w 152"/>
                        <a:gd name="T1" fmla="*/ 1469 h 1469"/>
                        <a:gd name="T2" fmla="*/ 0 w 152"/>
                        <a:gd name="T3" fmla="*/ 1469 h 1469"/>
                        <a:gd name="T4" fmla="*/ 0 w 152"/>
                        <a:gd name="T5" fmla="*/ 0 h 1469"/>
                        <a:gd name="T6" fmla="*/ 95 w 152"/>
                        <a:gd name="T7" fmla="*/ 1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2" h="1469">
                          <a:moveTo>
                            <a:pt x="152" y="1469"/>
                          </a:moveTo>
                          <a:lnTo>
                            <a:pt x="0" y="1469"/>
                          </a:lnTo>
                          <a:lnTo>
                            <a:pt x="0" y="0"/>
                          </a:lnTo>
                          <a:lnTo>
                            <a:pt x="95" y="1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7" name="Freeform 35"/>
                    <p:cNvSpPr/>
                    <p:nvPr/>
                  </p:nvSpPr>
                  <p:spPr bwMode="auto">
                    <a:xfrm>
                      <a:off x="1055" y="2353"/>
                      <a:ext cx="102" cy="1"/>
                    </a:xfrm>
                    <a:custGeom>
                      <a:avLst/>
                      <a:gdLst>
                        <a:gd name="T0" fmla="*/ 102 w 102"/>
                        <a:gd name="T1" fmla="*/ 0 h 1"/>
                        <a:gd name="T2" fmla="*/ 0 w 102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2" h="1">
                          <a:moveTo>
                            <a:pt x="102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8" name="Line 36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896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99" name="Line 3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879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0" name="Freeform 38"/>
                    <p:cNvSpPr/>
                    <p:nvPr/>
                  </p:nvSpPr>
                  <p:spPr bwMode="auto">
                    <a:xfrm>
                      <a:off x="1831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1" name="Line 39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704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2" name="Line 4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783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3" name="Freeform 41"/>
                    <p:cNvSpPr/>
                    <p:nvPr/>
                  </p:nvSpPr>
                  <p:spPr bwMode="auto">
                    <a:xfrm>
                      <a:off x="2005" y="2353"/>
                      <a:ext cx="103" cy="1"/>
                    </a:xfrm>
                    <a:custGeom>
                      <a:avLst/>
                      <a:gdLst>
                        <a:gd name="T0" fmla="*/ 0 w 103"/>
                        <a:gd name="T1" fmla="*/ 0 h 1"/>
                        <a:gd name="T2" fmla="*/ 103 w 103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3" h="1">
                          <a:moveTo>
                            <a:pt x="0" y="0"/>
                          </a:moveTo>
                          <a:lnTo>
                            <a:pt x="103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4" name="Freeform 42"/>
                    <p:cNvSpPr/>
                    <p:nvPr/>
                  </p:nvSpPr>
                  <p:spPr bwMode="auto">
                    <a:xfrm>
                      <a:off x="1611" y="2352"/>
                      <a:ext cx="113" cy="1"/>
                    </a:xfrm>
                    <a:custGeom>
                      <a:avLst/>
                      <a:gdLst>
                        <a:gd name="T0" fmla="*/ 113 w 113"/>
                        <a:gd name="T1" fmla="*/ 1 h 1"/>
                        <a:gd name="T2" fmla="*/ 0 w 113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13" h="1">
                          <a:moveTo>
                            <a:pt x="113" y="1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5" name="Line 4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6" name="Line 4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7" name="Freeform 45"/>
                    <p:cNvSpPr/>
                    <p:nvPr/>
                  </p:nvSpPr>
                  <p:spPr bwMode="auto">
                    <a:xfrm>
                      <a:off x="2412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8" name="Line 4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09" name="Line 4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0" name="Freeform 48"/>
                    <p:cNvSpPr/>
                    <p:nvPr/>
                  </p:nvSpPr>
                  <p:spPr bwMode="auto">
                    <a:xfrm>
                      <a:off x="2586" y="2353"/>
                      <a:ext cx="109" cy="1"/>
                    </a:xfrm>
                    <a:custGeom>
                      <a:avLst/>
                      <a:gdLst>
                        <a:gd name="T0" fmla="*/ 0 w 109"/>
                        <a:gd name="T1" fmla="*/ 0 h 1"/>
                        <a:gd name="T2" fmla="*/ 109 w 109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9" h="1">
                          <a:moveTo>
                            <a:pt x="0" y="0"/>
                          </a:moveTo>
                          <a:lnTo>
                            <a:pt x="109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1" name="Freeform 49"/>
                    <p:cNvSpPr/>
                    <p:nvPr/>
                  </p:nvSpPr>
                  <p:spPr bwMode="auto">
                    <a:xfrm>
                      <a:off x="2207" y="2353"/>
                      <a:ext cx="89" cy="1"/>
                    </a:xfrm>
                    <a:custGeom>
                      <a:avLst/>
                      <a:gdLst>
                        <a:gd name="T0" fmla="*/ 89 w 89"/>
                        <a:gd name="T1" fmla="*/ 0 h 1"/>
                        <a:gd name="T2" fmla="*/ 0 w 89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89" h="1">
                          <a:moveTo>
                            <a:pt x="89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2" name="Line 50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05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3" name="Line 5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036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4" name="Freeform 52"/>
                    <p:cNvSpPr/>
                    <p:nvPr/>
                  </p:nvSpPr>
                  <p:spPr bwMode="auto">
                    <a:xfrm>
                      <a:off x="2988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5" name="Line 5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861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6" name="Line 54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940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7" name="Freeform 55"/>
                    <p:cNvSpPr/>
                    <p:nvPr/>
                  </p:nvSpPr>
                  <p:spPr bwMode="auto">
                    <a:xfrm>
                      <a:off x="3162" y="2353"/>
                      <a:ext cx="115" cy="1"/>
                    </a:xfrm>
                    <a:custGeom>
                      <a:avLst/>
                      <a:gdLst>
                        <a:gd name="T0" fmla="*/ 0 w 115"/>
                        <a:gd name="T1" fmla="*/ 0 h 1"/>
                        <a:gd name="T2" fmla="*/ 115 w 115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15" h="1">
                          <a:moveTo>
                            <a:pt x="0" y="0"/>
                          </a:moveTo>
                          <a:lnTo>
                            <a:pt x="115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8" name="Freeform 56"/>
                    <p:cNvSpPr/>
                    <p:nvPr/>
                  </p:nvSpPr>
                  <p:spPr bwMode="auto">
                    <a:xfrm>
                      <a:off x="2783" y="2353"/>
                      <a:ext cx="90" cy="1"/>
                    </a:xfrm>
                    <a:custGeom>
                      <a:avLst/>
                      <a:gdLst>
                        <a:gd name="T0" fmla="*/ 90 w 90"/>
                        <a:gd name="T1" fmla="*/ 0 h 1"/>
                        <a:gd name="T2" fmla="*/ 0 w 90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0" h="1">
                          <a:moveTo>
                            <a:pt x="9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19" name="Line 5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0" name="Line 5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1" name="Freeform 59"/>
                    <p:cNvSpPr/>
                    <p:nvPr/>
                  </p:nvSpPr>
                  <p:spPr bwMode="auto">
                    <a:xfrm>
                      <a:off x="3564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2" name="Line 6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3" name="Line 6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4" name="Freeform 62"/>
                    <p:cNvSpPr/>
                    <p:nvPr/>
                  </p:nvSpPr>
                  <p:spPr bwMode="auto">
                    <a:xfrm>
                      <a:off x="3751" y="2352"/>
                      <a:ext cx="100" cy="1"/>
                    </a:xfrm>
                    <a:custGeom>
                      <a:avLst/>
                      <a:gdLst>
                        <a:gd name="T0" fmla="*/ 0 w 100"/>
                        <a:gd name="T1" fmla="*/ 0 h 1"/>
                        <a:gd name="T2" fmla="*/ 100 w 100"/>
                        <a:gd name="T3" fmla="*/ 1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0" h="1">
                          <a:moveTo>
                            <a:pt x="0" y="0"/>
                          </a:moveTo>
                          <a:lnTo>
                            <a:pt x="100" y="1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5" name="Freeform 63"/>
                    <p:cNvSpPr/>
                    <p:nvPr/>
                  </p:nvSpPr>
                  <p:spPr bwMode="auto">
                    <a:xfrm>
                      <a:off x="3359" y="2353"/>
                      <a:ext cx="108" cy="1"/>
                    </a:xfrm>
                    <a:custGeom>
                      <a:avLst/>
                      <a:gdLst>
                        <a:gd name="T0" fmla="*/ 108 w 108"/>
                        <a:gd name="T1" fmla="*/ 0 h 1"/>
                        <a:gd name="T2" fmla="*/ 0 w 108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8" h="1">
                          <a:moveTo>
                            <a:pt x="108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6" name="Line 6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205" y="2698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7" name="Line 65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188" y="2696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8" name="Freeform 66"/>
                    <p:cNvSpPr/>
                    <p:nvPr/>
                  </p:nvSpPr>
                  <p:spPr bwMode="auto">
                    <a:xfrm>
                      <a:off x="4140" y="2695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29" name="Line 6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013" y="2698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30" name="Line 6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092" y="2700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31" name="Freeform 69"/>
                    <p:cNvSpPr/>
                    <p:nvPr/>
                  </p:nvSpPr>
                  <p:spPr bwMode="auto">
                    <a:xfrm>
                      <a:off x="4336" y="2351"/>
                      <a:ext cx="90" cy="2"/>
                    </a:xfrm>
                    <a:custGeom>
                      <a:avLst/>
                      <a:gdLst>
                        <a:gd name="T0" fmla="*/ 0 w 90"/>
                        <a:gd name="T1" fmla="*/ 0 h 2"/>
                        <a:gd name="T2" fmla="*/ 90 w 90"/>
                        <a:gd name="T3" fmla="*/ 2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0" h="2">
                          <a:moveTo>
                            <a:pt x="0" y="0"/>
                          </a:moveTo>
                          <a:lnTo>
                            <a:pt x="90" y="2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32" name="Freeform 70"/>
                    <p:cNvSpPr/>
                    <p:nvPr/>
                  </p:nvSpPr>
                  <p:spPr bwMode="auto">
                    <a:xfrm>
                      <a:off x="3935" y="2353"/>
                      <a:ext cx="104" cy="1"/>
                    </a:xfrm>
                    <a:custGeom>
                      <a:avLst/>
                      <a:gdLst>
                        <a:gd name="T0" fmla="*/ 104 w 104"/>
                        <a:gd name="T1" fmla="*/ 0 h 1"/>
                        <a:gd name="T2" fmla="*/ 0 w 104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4" h="1">
                          <a:moveTo>
                            <a:pt x="10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17533" name="Group 71"/>
                    <p:cNvGrpSpPr/>
                    <p:nvPr/>
                  </p:nvGrpSpPr>
                  <p:grpSpPr bwMode="auto">
                    <a:xfrm>
                      <a:off x="4668" y="2634"/>
                      <a:ext cx="192" cy="158"/>
                      <a:chOff x="4692" y="2634"/>
                      <a:chExt cx="192" cy="158"/>
                    </a:xfrm>
                  </p:grpSpPr>
                  <p:grpSp>
                    <p:nvGrpSpPr>
                      <p:cNvPr id="217680" name="Group 72"/>
                      <p:cNvGrpSpPr/>
                      <p:nvPr/>
                    </p:nvGrpSpPr>
                    <p:grpSpPr bwMode="auto">
                      <a:xfrm>
                        <a:off x="4836" y="2634"/>
                        <a:ext cx="48" cy="158"/>
                        <a:chOff x="4836" y="2634"/>
                        <a:chExt cx="48" cy="158"/>
                      </a:xfrm>
                    </p:grpSpPr>
                    <p:sp>
                      <p:nvSpPr>
                        <p:cNvPr id="217685" name="Line 7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4805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217686" name="Line 7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4788" y="2711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  <p:sp>
                    <p:nvSpPr>
                      <p:cNvPr id="217681" name="Freeform 75"/>
                      <p:cNvSpPr/>
                      <p:nvPr/>
                    </p:nvSpPr>
                    <p:spPr bwMode="auto">
                      <a:xfrm>
                        <a:off x="4740" y="2710"/>
                        <a:ext cx="96" cy="2"/>
                      </a:xfrm>
                      <a:custGeom>
                        <a:avLst/>
                        <a:gdLst>
                          <a:gd name="T0" fmla="*/ 0 w 96"/>
                          <a:gd name="T1" fmla="*/ 2 h 2"/>
                          <a:gd name="T2" fmla="*/ 96 w 96"/>
                          <a:gd name="T3" fmla="*/ 0 h 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2">
                            <a:moveTo>
                              <a:pt x="0" y="2"/>
                            </a:moveTo>
                            <a:lnTo>
                              <a:pt x="96" y="0"/>
                            </a:lnTo>
                          </a:path>
                        </a:pathLst>
                      </a:custGeom>
                      <a:noFill/>
                      <a:ln w="38100" cmpd="sng">
                        <a:solidFill>
                          <a:schemeClr val="tx1"/>
                        </a:solidFill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grpSp>
                    <p:nvGrpSpPr>
                      <p:cNvPr id="217682" name="Group 76"/>
                      <p:cNvGrpSpPr/>
                      <p:nvPr/>
                    </p:nvGrpSpPr>
                    <p:grpSpPr bwMode="auto">
                      <a:xfrm>
                        <a:off x="4692" y="2634"/>
                        <a:ext cx="48" cy="158"/>
                        <a:chOff x="4692" y="2634"/>
                        <a:chExt cx="48" cy="158"/>
                      </a:xfrm>
                    </p:grpSpPr>
                    <p:sp>
                      <p:nvSpPr>
                        <p:cNvPr id="217683" name="Line 7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4613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217684" name="Line 7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4692" y="2715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  <p:sp>
                  <p:nvSpPr>
                    <p:cNvPr id="217534" name="Freeform 79"/>
                    <p:cNvSpPr/>
                    <p:nvPr/>
                  </p:nvSpPr>
                  <p:spPr bwMode="auto">
                    <a:xfrm>
                      <a:off x="4890" y="2353"/>
                      <a:ext cx="107" cy="1"/>
                    </a:xfrm>
                    <a:custGeom>
                      <a:avLst/>
                      <a:gdLst>
                        <a:gd name="T0" fmla="*/ 0 w 107"/>
                        <a:gd name="T1" fmla="*/ 0 h 1"/>
                        <a:gd name="T2" fmla="*/ 107 w 107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7" h="1">
                          <a:moveTo>
                            <a:pt x="0" y="0"/>
                          </a:moveTo>
                          <a:lnTo>
                            <a:pt x="10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35" name="Freeform 80"/>
                    <p:cNvSpPr/>
                    <p:nvPr/>
                  </p:nvSpPr>
                  <p:spPr bwMode="auto">
                    <a:xfrm>
                      <a:off x="4511" y="2353"/>
                      <a:ext cx="96" cy="1"/>
                    </a:xfrm>
                    <a:custGeom>
                      <a:avLst/>
                      <a:gdLst>
                        <a:gd name="T0" fmla="*/ 96 w 96"/>
                        <a:gd name="T1" fmla="*/ 0 h 1"/>
                        <a:gd name="T2" fmla="*/ 0 w 96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1">
                          <a:moveTo>
                            <a:pt x="96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17536" name="Group 81"/>
                    <p:cNvGrpSpPr/>
                    <p:nvPr/>
                  </p:nvGrpSpPr>
                  <p:grpSpPr bwMode="auto">
                    <a:xfrm>
                      <a:off x="5235" y="2634"/>
                      <a:ext cx="192" cy="158"/>
                      <a:chOff x="5259" y="2634"/>
                      <a:chExt cx="192" cy="158"/>
                    </a:xfrm>
                  </p:grpSpPr>
                  <p:grpSp>
                    <p:nvGrpSpPr>
                      <p:cNvPr id="217673" name="Group 82"/>
                      <p:cNvGrpSpPr/>
                      <p:nvPr/>
                    </p:nvGrpSpPr>
                    <p:grpSpPr bwMode="auto">
                      <a:xfrm>
                        <a:off x="5403" y="2634"/>
                        <a:ext cx="48" cy="158"/>
                        <a:chOff x="5403" y="2634"/>
                        <a:chExt cx="48" cy="158"/>
                      </a:xfrm>
                    </p:grpSpPr>
                    <p:sp>
                      <p:nvSpPr>
                        <p:cNvPr id="217678" name="Line 8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5372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217679" name="Line 8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5355" y="2711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  <p:sp>
                    <p:nvSpPr>
                      <p:cNvPr id="217674" name="Freeform 85"/>
                      <p:cNvSpPr/>
                      <p:nvPr/>
                    </p:nvSpPr>
                    <p:spPr bwMode="auto">
                      <a:xfrm>
                        <a:off x="5307" y="2710"/>
                        <a:ext cx="96" cy="2"/>
                      </a:xfrm>
                      <a:custGeom>
                        <a:avLst/>
                        <a:gdLst>
                          <a:gd name="T0" fmla="*/ 0 w 96"/>
                          <a:gd name="T1" fmla="*/ 2 h 2"/>
                          <a:gd name="T2" fmla="*/ 96 w 96"/>
                          <a:gd name="T3" fmla="*/ 0 h 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2">
                            <a:moveTo>
                              <a:pt x="0" y="2"/>
                            </a:moveTo>
                            <a:lnTo>
                              <a:pt x="96" y="0"/>
                            </a:lnTo>
                          </a:path>
                        </a:pathLst>
                      </a:custGeom>
                      <a:noFill/>
                      <a:ln w="38100" cmpd="sng">
                        <a:solidFill>
                          <a:schemeClr val="tx1"/>
                        </a:solidFill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grpSp>
                    <p:nvGrpSpPr>
                      <p:cNvPr id="217675" name="Group 86"/>
                      <p:cNvGrpSpPr/>
                      <p:nvPr/>
                    </p:nvGrpSpPr>
                    <p:grpSpPr bwMode="auto">
                      <a:xfrm>
                        <a:off x="5259" y="2634"/>
                        <a:ext cx="48" cy="158"/>
                        <a:chOff x="5259" y="2634"/>
                        <a:chExt cx="48" cy="158"/>
                      </a:xfrm>
                    </p:grpSpPr>
                    <p:sp>
                      <p:nvSpPr>
                        <p:cNvPr id="217676" name="Line 8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5180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217677" name="Line 8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5259" y="2715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  <p:sp>
                  <p:nvSpPr>
                    <p:cNvPr id="217537" name="Freeform 89"/>
                    <p:cNvSpPr/>
                    <p:nvPr/>
                  </p:nvSpPr>
                  <p:spPr bwMode="auto">
                    <a:xfrm>
                      <a:off x="5467" y="2351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0 h 2"/>
                        <a:gd name="T2" fmla="*/ 96 w 96"/>
                        <a:gd name="T3" fmla="*/ 2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0"/>
                          </a:moveTo>
                          <a:lnTo>
                            <a:pt x="96" y="2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38" name="Freeform 90"/>
                    <p:cNvSpPr/>
                    <p:nvPr/>
                  </p:nvSpPr>
                  <p:spPr bwMode="auto">
                    <a:xfrm>
                      <a:off x="5078" y="2353"/>
                      <a:ext cx="101" cy="1"/>
                    </a:xfrm>
                    <a:custGeom>
                      <a:avLst/>
                      <a:gdLst>
                        <a:gd name="T0" fmla="*/ 101 w 101"/>
                        <a:gd name="T1" fmla="*/ 0 h 1"/>
                        <a:gd name="T2" fmla="*/ 0 w 101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01" h="1">
                          <a:moveTo>
                            <a:pt x="101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39" name="Freeform 91"/>
                    <p:cNvSpPr/>
                    <p:nvPr/>
                  </p:nvSpPr>
                  <p:spPr bwMode="auto">
                    <a:xfrm>
                      <a:off x="908" y="856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0" name="Line 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1" name="Line 9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2" name="Line 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3" name="Line 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4" name="Line 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5" name="Line 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6" name="Line 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7" name="Line 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8" name="Freeform 100"/>
                    <p:cNvSpPr/>
                    <p:nvPr/>
                  </p:nvSpPr>
                  <p:spPr bwMode="auto">
                    <a:xfrm>
                      <a:off x="1305" y="2708"/>
                      <a:ext cx="1" cy="166"/>
                    </a:xfrm>
                    <a:custGeom>
                      <a:avLst/>
                      <a:gdLst>
                        <a:gd name="T0" fmla="*/ 1 w 1"/>
                        <a:gd name="T1" fmla="*/ 0 h 166"/>
                        <a:gd name="T2" fmla="*/ 0 w 1"/>
                        <a:gd name="T3" fmla="*/ 166 h 16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66">
                          <a:moveTo>
                            <a:pt x="1" y="0"/>
                          </a:moveTo>
                          <a:lnTo>
                            <a:pt x="0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49" name="Freeform 101"/>
                    <p:cNvSpPr/>
                    <p:nvPr/>
                  </p:nvSpPr>
                  <p:spPr bwMode="auto">
                    <a:xfrm>
                      <a:off x="1880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618 h 40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0" name="Freeform 102"/>
                    <p:cNvSpPr/>
                    <p:nvPr/>
                  </p:nvSpPr>
                  <p:spPr bwMode="auto">
                    <a:xfrm>
                      <a:off x="2454" y="2708"/>
                      <a:ext cx="4" cy="166"/>
                    </a:xfrm>
                    <a:custGeom>
                      <a:avLst/>
                      <a:gdLst>
                        <a:gd name="T0" fmla="*/ 4 w 4"/>
                        <a:gd name="T1" fmla="*/ 0 h 166"/>
                        <a:gd name="T2" fmla="*/ 0 w 4"/>
                        <a:gd name="T3" fmla="*/ 166 h 16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" h="166">
                          <a:moveTo>
                            <a:pt x="4" y="0"/>
                          </a:moveTo>
                          <a:lnTo>
                            <a:pt x="0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1" name="Freeform 103"/>
                    <p:cNvSpPr/>
                    <p:nvPr/>
                  </p:nvSpPr>
                  <p:spPr bwMode="auto">
                    <a:xfrm>
                      <a:off x="3606" y="2708"/>
                      <a:ext cx="2" cy="175"/>
                    </a:xfrm>
                    <a:custGeom>
                      <a:avLst/>
                      <a:gdLst>
                        <a:gd name="T0" fmla="*/ 2 w 2"/>
                        <a:gd name="T1" fmla="*/ 0 h 175"/>
                        <a:gd name="T2" fmla="*/ 0 w 2"/>
                        <a:gd name="T3" fmla="*/ 175 h 175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2" h="175">
                          <a:moveTo>
                            <a:pt x="2" y="0"/>
                          </a:moveTo>
                          <a:lnTo>
                            <a:pt x="0" y="17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2" name="Freeform 104"/>
                    <p:cNvSpPr/>
                    <p:nvPr/>
                  </p:nvSpPr>
                  <p:spPr bwMode="auto">
                    <a:xfrm>
                      <a:off x="4760" y="2697"/>
                      <a:ext cx="1" cy="176"/>
                    </a:xfrm>
                    <a:custGeom>
                      <a:avLst/>
                      <a:gdLst>
                        <a:gd name="T0" fmla="*/ 0 w 1"/>
                        <a:gd name="T1" fmla="*/ 0 h 176"/>
                        <a:gd name="T2" fmla="*/ 0 w 1"/>
                        <a:gd name="T3" fmla="*/ 176 h 17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76">
                          <a:moveTo>
                            <a:pt x="0" y="0"/>
                          </a:moveTo>
                          <a:lnTo>
                            <a:pt x="0" y="17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3" name="Freeform 105"/>
                    <p:cNvSpPr/>
                    <p:nvPr/>
                  </p:nvSpPr>
                  <p:spPr bwMode="auto">
                    <a:xfrm>
                      <a:off x="908" y="1480"/>
                      <a:ext cx="4422" cy="1"/>
                    </a:xfrm>
                    <a:custGeom>
                      <a:avLst/>
                      <a:gdLst>
                        <a:gd name="T0" fmla="*/ 0 w 4422"/>
                        <a:gd name="T1" fmla="*/ 1 h 1"/>
                        <a:gd name="T2" fmla="*/ 4422 w 4422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422" h="1">
                          <a:moveTo>
                            <a:pt x="0" y="1"/>
                          </a:moveTo>
                          <a:lnTo>
                            <a:pt x="4422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4" name="Line 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5" name="Line 10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6" name="Line 1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7" name="Line 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8" name="Line 1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59" name="Line 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0" name="Line 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1" name="Line 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2" name="Freeform 114"/>
                    <p:cNvSpPr/>
                    <p:nvPr/>
                  </p:nvSpPr>
                  <p:spPr bwMode="auto">
                    <a:xfrm>
                      <a:off x="908" y="2056"/>
                      <a:ext cx="4418" cy="1"/>
                    </a:xfrm>
                    <a:custGeom>
                      <a:avLst/>
                      <a:gdLst>
                        <a:gd name="T0" fmla="*/ 0 w 4418"/>
                        <a:gd name="T1" fmla="*/ 1 h 1"/>
                        <a:gd name="T2" fmla="*/ 4418 w 4418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418" h="1">
                          <a:moveTo>
                            <a:pt x="0" y="1"/>
                          </a:moveTo>
                          <a:lnTo>
                            <a:pt x="441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3" name="Line 1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4" name="Line 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5" name="Line 1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6" name="Line 1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7" name="Line 1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8" name="Line 1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69" name="Line 1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0" name="Line 1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1" name="Freeform 123"/>
                    <p:cNvSpPr/>
                    <p:nvPr/>
                  </p:nvSpPr>
                  <p:spPr bwMode="auto">
                    <a:xfrm>
                      <a:off x="909" y="2879"/>
                      <a:ext cx="3860" cy="1"/>
                    </a:xfrm>
                    <a:custGeom>
                      <a:avLst/>
                      <a:gdLst>
                        <a:gd name="T0" fmla="*/ 0 w 3860"/>
                        <a:gd name="T1" fmla="*/ 1 h 1"/>
                        <a:gd name="T2" fmla="*/ 3860 w 3860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3860" h="1">
                          <a:moveTo>
                            <a:pt x="0" y="1"/>
                          </a:moveTo>
                          <a:lnTo>
                            <a:pt x="386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2" name="Freeform 124"/>
                    <p:cNvSpPr/>
                    <p:nvPr/>
                  </p:nvSpPr>
                  <p:spPr bwMode="auto">
                    <a:xfrm>
                      <a:off x="912" y="3209"/>
                      <a:ext cx="4418" cy="1"/>
                    </a:xfrm>
                    <a:custGeom>
                      <a:avLst/>
                      <a:gdLst>
                        <a:gd name="T0" fmla="*/ 0 w 4418"/>
                        <a:gd name="T1" fmla="*/ 1 h 1"/>
                        <a:gd name="T2" fmla="*/ 4418 w 4418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418" h="1">
                          <a:moveTo>
                            <a:pt x="0" y="1"/>
                          </a:moveTo>
                          <a:lnTo>
                            <a:pt x="441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3" name="Rectangle 1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41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20000"/>
                        </a:spcBef>
                      </a:pPr>
                      <a:endParaRPr lang="zh-CN" altLang="en-US"/>
                    </a:p>
                  </p:txBody>
                </p:sp>
                <p:sp>
                  <p:nvSpPr>
                    <p:cNvPr id="217574" name="Text Box 12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72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575" name="Freeform 127"/>
                    <p:cNvSpPr/>
                    <p:nvPr/>
                  </p:nvSpPr>
                  <p:spPr bwMode="auto">
                    <a:xfrm>
                      <a:off x="1402" y="1211"/>
                      <a:ext cx="145" cy="1466"/>
                    </a:xfrm>
                    <a:custGeom>
                      <a:avLst/>
                      <a:gdLst>
                        <a:gd name="T0" fmla="*/ 37 w 145"/>
                        <a:gd name="T1" fmla="*/ 0 h 1466"/>
                        <a:gd name="T2" fmla="*/ 145 w 145"/>
                        <a:gd name="T3" fmla="*/ 0 h 1466"/>
                        <a:gd name="T4" fmla="*/ 144 w 145"/>
                        <a:gd name="T5" fmla="*/ 1466 h 1466"/>
                        <a:gd name="T6" fmla="*/ 0 w 145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5" h="1466">
                          <a:moveTo>
                            <a:pt x="37" y="0"/>
                          </a:moveTo>
                          <a:lnTo>
                            <a:pt x="145" y="0"/>
                          </a:lnTo>
                          <a:lnTo>
                            <a:pt x="144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6" name="Freeform 128"/>
                    <p:cNvSpPr/>
                    <p:nvPr/>
                  </p:nvSpPr>
                  <p:spPr bwMode="auto">
                    <a:xfrm>
                      <a:off x="1613" y="1211"/>
                      <a:ext cx="169" cy="1469"/>
                    </a:xfrm>
                    <a:custGeom>
                      <a:avLst/>
                      <a:gdLst>
                        <a:gd name="T0" fmla="*/ 169 w 169"/>
                        <a:gd name="T1" fmla="*/ 1468 h 1469"/>
                        <a:gd name="T2" fmla="*/ 0 w 169"/>
                        <a:gd name="T3" fmla="*/ 1469 h 1469"/>
                        <a:gd name="T4" fmla="*/ 1 w 169"/>
                        <a:gd name="T5" fmla="*/ 0 h 1469"/>
                        <a:gd name="T6" fmla="*/ 105 w 169"/>
                        <a:gd name="T7" fmla="*/ 0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69" h="1469">
                          <a:moveTo>
                            <a:pt x="169" y="1468"/>
                          </a:moveTo>
                          <a:lnTo>
                            <a:pt x="0" y="1469"/>
                          </a:lnTo>
                          <a:lnTo>
                            <a:pt x="1" y="0"/>
                          </a:lnTo>
                          <a:lnTo>
                            <a:pt x="105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7" name="Freeform 129"/>
                    <p:cNvSpPr/>
                    <p:nvPr/>
                  </p:nvSpPr>
                  <p:spPr bwMode="auto">
                    <a:xfrm>
                      <a:off x="1967" y="1211"/>
                      <a:ext cx="141" cy="1466"/>
                    </a:xfrm>
                    <a:custGeom>
                      <a:avLst/>
                      <a:gdLst>
                        <a:gd name="T0" fmla="*/ 38 w 141"/>
                        <a:gd name="T1" fmla="*/ 0 h 1466"/>
                        <a:gd name="T2" fmla="*/ 141 w 141"/>
                        <a:gd name="T3" fmla="*/ 0 h 1466"/>
                        <a:gd name="T4" fmla="*/ 140 w 141"/>
                        <a:gd name="T5" fmla="*/ 1466 h 1466"/>
                        <a:gd name="T6" fmla="*/ 0 w 141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1" h="1466">
                          <a:moveTo>
                            <a:pt x="38" y="0"/>
                          </a:moveTo>
                          <a:lnTo>
                            <a:pt x="141" y="0"/>
                          </a:lnTo>
                          <a:lnTo>
                            <a:pt x="140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8" name="Freeform 130"/>
                    <p:cNvSpPr/>
                    <p:nvPr/>
                  </p:nvSpPr>
                  <p:spPr bwMode="auto">
                    <a:xfrm>
                      <a:off x="2208" y="1211"/>
                      <a:ext cx="155" cy="1467"/>
                    </a:xfrm>
                    <a:custGeom>
                      <a:avLst/>
                      <a:gdLst>
                        <a:gd name="T0" fmla="*/ 155 w 155"/>
                        <a:gd name="T1" fmla="*/ 1467 h 1467"/>
                        <a:gd name="T2" fmla="*/ 3 w 155"/>
                        <a:gd name="T3" fmla="*/ 1467 h 1467"/>
                        <a:gd name="T4" fmla="*/ 0 w 155"/>
                        <a:gd name="T5" fmla="*/ 1 h 1467"/>
                        <a:gd name="T6" fmla="*/ 89 w 155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5" h="1467">
                          <a:moveTo>
                            <a:pt x="155" y="1467"/>
                          </a:moveTo>
                          <a:lnTo>
                            <a:pt x="3" y="1467"/>
                          </a:lnTo>
                          <a:lnTo>
                            <a:pt x="0" y="1"/>
                          </a:lnTo>
                          <a:lnTo>
                            <a:pt x="89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79" name="Freeform 131"/>
                    <p:cNvSpPr/>
                    <p:nvPr/>
                  </p:nvSpPr>
                  <p:spPr bwMode="auto">
                    <a:xfrm>
                      <a:off x="2557" y="1211"/>
                      <a:ext cx="142" cy="1466"/>
                    </a:xfrm>
                    <a:custGeom>
                      <a:avLst/>
                      <a:gdLst>
                        <a:gd name="T0" fmla="*/ 34 w 142"/>
                        <a:gd name="T1" fmla="*/ 0 h 1466"/>
                        <a:gd name="T2" fmla="*/ 142 w 142"/>
                        <a:gd name="T3" fmla="*/ 0 h 1466"/>
                        <a:gd name="T4" fmla="*/ 141 w 142"/>
                        <a:gd name="T5" fmla="*/ 1466 h 1466"/>
                        <a:gd name="T6" fmla="*/ 0 w 142"/>
                        <a:gd name="T7" fmla="*/ 1464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2" h="1466">
                          <a:moveTo>
                            <a:pt x="34" y="0"/>
                          </a:moveTo>
                          <a:lnTo>
                            <a:pt x="142" y="0"/>
                          </a:lnTo>
                          <a:lnTo>
                            <a:pt x="141" y="1466"/>
                          </a:lnTo>
                          <a:lnTo>
                            <a:pt x="0" y="1464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0" name="Freeform 132"/>
                    <p:cNvSpPr/>
                    <p:nvPr/>
                  </p:nvSpPr>
                  <p:spPr bwMode="auto">
                    <a:xfrm>
                      <a:off x="2787" y="1211"/>
                      <a:ext cx="152" cy="1467"/>
                    </a:xfrm>
                    <a:custGeom>
                      <a:avLst/>
                      <a:gdLst>
                        <a:gd name="T0" fmla="*/ 152 w 152"/>
                        <a:gd name="T1" fmla="*/ 1467 h 1467"/>
                        <a:gd name="T2" fmla="*/ 0 w 152"/>
                        <a:gd name="T3" fmla="*/ 1467 h 1467"/>
                        <a:gd name="T4" fmla="*/ 0 w 152"/>
                        <a:gd name="T5" fmla="*/ 1 h 1467"/>
                        <a:gd name="T6" fmla="*/ 77 w 152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2" h="1467">
                          <a:moveTo>
                            <a:pt x="152" y="1467"/>
                          </a:moveTo>
                          <a:lnTo>
                            <a:pt x="0" y="1467"/>
                          </a:lnTo>
                          <a:lnTo>
                            <a:pt x="0" y="1"/>
                          </a:lnTo>
                          <a:lnTo>
                            <a:pt x="7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1" name="Freeform 133"/>
                    <p:cNvSpPr/>
                    <p:nvPr/>
                  </p:nvSpPr>
                  <p:spPr bwMode="auto">
                    <a:xfrm>
                      <a:off x="3130" y="1211"/>
                      <a:ext cx="145" cy="1466"/>
                    </a:xfrm>
                    <a:custGeom>
                      <a:avLst/>
                      <a:gdLst>
                        <a:gd name="T0" fmla="*/ 37 w 145"/>
                        <a:gd name="T1" fmla="*/ 0 h 1466"/>
                        <a:gd name="T2" fmla="*/ 145 w 145"/>
                        <a:gd name="T3" fmla="*/ 0 h 1466"/>
                        <a:gd name="T4" fmla="*/ 144 w 145"/>
                        <a:gd name="T5" fmla="*/ 1466 h 1466"/>
                        <a:gd name="T6" fmla="*/ 0 w 145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5" h="1466">
                          <a:moveTo>
                            <a:pt x="37" y="0"/>
                          </a:moveTo>
                          <a:lnTo>
                            <a:pt x="145" y="0"/>
                          </a:lnTo>
                          <a:lnTo>
                            <a:pt x="144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2" name="Freeform 134"/>
                    <p:cNvSpPr/>
                    <p:nvPr/>
                  </p:nvSpPr>
                  <p:spPr bwMode="auto">
                    <a:xfrm>
                      <a:off x="3360" y="1209"/>
                      <a:ext cx="155" cy="1469"/>
                    </a:xfrm>
                    <a:custGeom>
                      <a:avLst/>
                      <a:gdLst>
                        <a:gd name="T0" fmla="*/ 155 w 155"/>
                        <a:gd name="T1" fmla="*/ 1469 h 1469"/>
                        <a:gd name="T2" fmla="*/ 3 w 155"/>
                        <a:gd name="T3" fmla="*/ 1469 h 1469"/>
                        <a:gd name="T4" fmla="*/ 0 w 155"/>
                        <a:gd name="T5" fmla="*/ 0 h 1469"/>
                        <a:gd name="T6" fmla="*/ 103 w 155"/>
                        <a:gd name="T7" fmla="*/ 2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5" h="1469">
                          <a:moveTo>
                            <a:pt x="155" y="1469"/>
                          </a:moveTo>
                          <a:lnTo>
                            <a:pt x="3" y="1469"/>
                          </a:lnTo>
                          <a:lnTo>
                            <a:pt x="0" y="0"/>
                          </a:lnTo>
                          <a:lnTo>
                            <a:pt x="103" y="2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3" name="Freeform 135"/>
                    <p:cNvSpPr/>
                    <p:nvPr/>
                  </p:nvSpPr>
                  <p:spPr bwMode="auto">
                    <a:xfrm>
                      <a:off x="3710" y="1211"/>
                      <a:ext cx="141" cy="1466"/>
                    </a:xfrm>
                    <a:custGeom>
                      <a:avLst/>
                      <a:gdLst>
                        <a:gd name="T0" fmla="*/ 42 w 141"/>
                        <a:gd name="T1" fmla="*/ 0 h 1466"/>
                        <a:gd name="T2" fmla="*/ 141 w 141"/>
                        <a:gd name="T3" fmla="*/ 0 h 1466"/>
                        <a:gd name="T4" fmla="*/ 140 w 141"/>
                        <a:gd name="T5" fmla="*/ 1466 h 1466"/>
                        <a:gd name="T6" fmla="*/ 0 w 141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1" h="1466">
                          <a:moveTo>
                            <a:pt x="42" y="0"/>
                          </a:moveTo>
                          <a:lnTo>
                            <a:pt x="141" y="0"/>
                          </a:lnTo>
                          <a:lnTo>
                            <a:pt x="140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4" name="Freeform 136"/>
                    <p:cNvSpPr/>
                    <p:nvPr/>
                  </p:nvSpPr>
                  <p:spPr bwMode="auto">
                    <a:xfrm>
                      <a:off x="3939" y="1211"/>
                      <a:ext cx="152" cy="1467"/>
                    </a:xfrm>
                    <a:custGeom>
                      <a:avLst/>
                      <a:gdLst>
                        <a:gd name="T0" fmla="*/ 152 w 152"/>
                        <a:gd name="T1" fmla="*/ 1467 h 1467"/>
                        <a:gd name="T2" fmla="*/ 0 w 152"/>
                        <a:gd name="T3" fmla="*/ 1467 h 1467"/>
                        <a:gd name="T4" fmla="*/ 0 w 152"/>
                        <a:gd name="T5" fmla="*/ 1 h 1467"/>
                        <a:gd name="T6" fmla="*/ 103 w 152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2" h="1467">
                          <a:moveTo>
                            <a:pt x="152" y="1467"/>
                          </a:moveTo>
                          <a:lnTo>
                            <a:pt x="0" y="1467"/>
                          </a:lnTo>
                          <a:lnTo>
                            <a:pt x="0" y="1"/>
                          </a:lnTo>
                          <a:lnTo>
                            <a:pt x="103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5" name="Freeform 137"/>
                    <p:cNvSpPr/>
                    <p:nvPr/>
                  </p:nvSpPr>
                  <p:spPr bwMode="auto">
                    <a:xfrm>
                      <a:off x="4280" y="1211"/>
                      <a:ext cx="147" cy="1466"/>
                    </a:xfrm>
                    <a:custGeom>
                      <a:avLst/>
                      <a:gdLst>
                        <a:gd name="T0" fmla="*/ 51 w 147"/>
                        <a:gd name="T1" fmla="*/ 0 h 1466"/>
                        <a:gd name="T2" fmla="*/ 147 w 147"/>
                        <a:gd name="T3" fmla="*/ 0 h 1466"/>
                        <a:gd name="T4" fmla="*/ 146 w 147"/>
                        <a:gd name="T5" fmla="*/ 1466 h 1466"/>
                        <a:gd name="T6" fmla="*/ 0 w 147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7" h="1466">
                          <a:moveTo>
                            <a:pt x="51" y="0"/>
                          </a:moveTo>
                          <a:lnTo>
                            <a:pt x="147" y="0"/>
                          </a:lnTo>
                          <a:lnTo>
                            <a:pt x="146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6" name="Freeform 138"/>
                    <p:cNvSpPr/>
                    <p:nvPr/>
                  </p:nvSpPr>
                  <p:spPr bwMode="auto">
                    <a:xfrm>
                      <a:off x="4509" y="1211"/>
                      <a:ext cx="158" cy="1467"/>
                    </a:xfrm>
                    <a:custGeom>
                      <a:avLst/>
                      <a:gdLst>
                        <a:gd name="T0" fmla="*/ 158 w 158"/>
                        <a:gd name="T1" fmla="*/ 1467 h 1467"/>
                        <a:gd name="T2" fmla="*/ 0 w 158"/>
                        <a:gd name="T3" fmla="*/ 1467 h 1467"/>
                        <a:gd name="T4" fmla="*/ 0 w 158"/>
                        <a:gd name="T5" fmla="*/ 0 h 1467"/>
                        <a:gd name="T6" fmla="*/ 95 w 158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8" h="1467">
                          <a:moveTo>
                            <a:pt x="158" y="1467"/>
                          </a:moveTo>
                          <a:lnTo>
                            <a:pt x="0" y="1467"/>
                          </a:lnTo>
                          <a:lnTo>
                            <a:pt x="0" y="0"/>
                          </a:lnTo>
                          <a:lnTo>
                            <a:pt x="95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7" name="Freeform 139"/>
                    <p:cNvSpPr/>
                    <p:nvPr/>
                  </p:nvSpPr>
                  <p:spPr bwMode="auto">
                    <a:xfrm>
                      <a:off x="4861" y="1211"/>
                      <a:ext cx="142" cy="1466"/>
                    </a:xfrm>
                    <a:custGeom>
                      <a:avLst/>
                      <a:gdLst>
                        <a:gd name="T0" fmla="*/ 34 w 142"/>
                        <a:gd name="T1" fmla="*/ 0 h 1466"/>
                        <a:gd name="T2" fmla="*/ 142 w 142"/>
                        <a:gd name="T3" fmla="*/ 0 h 1466"/>
                        <a:gd name="T4" fmla="*/ 141 w 142"/>
                        <a:gd name="T5" fmla="*/ 1466 h 1466"/>
                        <a:gd name="T6" fmla="*/ 0 w 142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2" h="1466">
                          <a:moveTo>
                            <a:pt x="34" y="0"/>
                          </a:moveTo>
                          <a:lnTo>
                            <a:pt x="142" y="0"/>
                          </a:lnTo>
                          <a:lnTo>
                            <a:pt x="141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8" name="Freeform 140"/>
                    <p:cNvSpPr/>
                    <p:nvPr/>
                  </p:nvSpPr>
                  <p:spPr bwMode="auto">
                    <a:xfrm>
                      <a:off x="5069" y="1211"/>
                      <a:ext cx="159" cy="1469"/>
                    </a:xfrm>
                    <a:custGeom>
                      <a:avLst/>
                      <a:gdLst>
                        <a:gd name="T0" fmla="*/ 159 w 159"/>
                        <a:gd name="T1" fmla="*/ 1467 h 1469"/>
                        <a:gd name="T2" fmla="*/ 0 w 159"/>
                        <a:gd name="T3" fmla="*/ 1469 h 1469"/>
                        <a:gd name="T4" fmla="*/ 1 w 159"/>
                        <a:gd name="T5" fmla="*/ 0 h 1469"/>
                        <a:gd name="T6" fmla="*/ 104 w 159"/>
                        <a:gd name="T7" fmla="*/ 0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9" h="1469">
                          <a:moveTo>
                            <a:pt x="159" y="1467"/>
                          </a:moveTo>
                          <a:lnTo>
                            <a:pt x="0" y="1469"/>
                          </a:lnTo>
                          <a:lnTo>
                            <a:pt x="1" y="0"/>
                          </a:lnTo>
                          <a:lnTo>
                            <a:pt x="104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89" name="Freeform 141"/>
                    <p:cNvSpPr/>
                    <p:nvPr/>
                  </p:nvSpPr>
                  <p:spPr bwMode="auto">
                    <a:xfrm>
                      <a:off x="5417" y="1211"/>
                      <a:ext cx="147" cy="1466"/>
                    </a:xfrm>
                    <a:custGeom>
                      <a:avLst/>
                      <a:gdLst>
                        <a:gd name="T0" fmla="*/ 47 w 147"/>
                        <a:gd name="T1" fmla="*/ 0 h 1466"/>
                        <a:gd name="T2" fmla="*/ 147 w 147"/>
                        <a:gd name="T3" fmla="*/ 0 h 1466"/>
                        <a:gd name="T4" fmla="*/ 146 w 147"/>
                        <a:gd name="T5" fmla="*/ 1466 h 1466"/>
                        <a:gd name="T6" fmla="*/ 0 w 147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47" h="1466">
                          <a:moveTo>
                            <a:pt x="47" y="0"/>
                          </a:moveTo>
                          <a:lnTo>
                            <a:pt x="147" y="0"/>
                          </a:lnTo>
                          <a:lnTo>
                            <a:pt x="146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0" name="Freeform 142"/>
                    <p:cNvSpPr/>
                    <p:nvPr/>
                  </p:nvSpPr>
                  <p:spPr bwMode="auto">
                    <a:xfrm>
                      <a:off x="1055" y="2738"/>
                      <a:ext cx="730" cy="660"/>
                    </a:xfrm>
                    <a:custGeom>
                      <a:avLst/>
                      <a:gdLst>
                        <a:gd name="T0" fmla="*/ 160 w 730"/>
                        <a:gd name="T1" fmla="*/ 4 h 660"/>
                        <a:gd name="T2" fmla="*/ 0 w 730"/>
                        <a:gd name="T3" fmla="*/ 3 h 660"/>
                        <a:gd name="T4" fmla="*/ 0 w 730"/>
                        <a:gd name="T5" fmla="*/ 660 h 660"/>
                        <a:gd name="T6" fmla="*/ 558 w 730"/>
                        <a:gd name="T7" fmla="*/ 657 h 660"/>
                        <a:gd name="T8" fmla="*/ 558 w 730"/>
                        <a:gd name="T9" fmla="*/ 0 h 660"/>
                        <a:gd name="T10" fmla="*/ 730 w 730"/>
                        <a:gd name="T11" fmla="*/ 1 h 660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30" h="660">
                          <a:moveTo>
                            <a:pt x="160" y="4"/>
                          </a:moveTo>
                          <a:lnTo>
                            <a:pt x="0" y="3"/>
                          </a:lnTo>
                          <a:lnTo>
                            <a:pt x="0" y="660"/>
                          </a:lnTo>
                          <a:lnTo>
                            <a:pt x="558" y="657"/>
                          </a:lnTo>
                          <a:lnTo>
                            <a:pt x="558" y="0"/>
                          </a:lnTo>
                          <a:lnTo>
                            <a:pt x="730" y="1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1" name="Freeform 143"/>
                    <p:cNvSpPr/>
                    <p:nvPr/>
                  </p:nvSpPr>
                  <p:spPr bwMode="auto">
                    <a:xfrm>
                      <a:off x="2207" y="2744"/>
                      <a:ext cx="729" cy="658"/>
                    </a:xfrm>
                    <a:custGeom>
                      <a:avLst/>
                      <a:gdLst>
                        <a:gd name="T0" fmla="*/ 153 w 729"/>
                        <a:gd name="T1" fmla="*/ 0 h 658"/>
                        <a:gd name="T2" fmla="*/ 0 w 729"/>
                        <a:gd name="T3" fmla="*/ 0 h 658"/>
                        <a:gd name="T4" fmla="*/ 0 w 729"/>
                        <a:gd name="T5" fmla="*/ 657 h 658"/>
                        <a:gd name="T6" fmla="*/ 583 w 729"/>
                        <a:gd name="T7" fmla="*/ 658 h 658"/>
                        <a:gd name="T8" fmla="*/ 582 w 729"/>
                        <a:gd name="T9" fmla="*/ 3 h 658"/>
                        <a:gd name="T10" fmla="*/ 729 w 729"/>
                        <a:gd name="T11" fmla="*/ 3 h 65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29" h="658">
                          <a:moveTo>
                            <a:pt x="153" y="0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83" y="658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2" name="Freeform 144"/>
                    <p:cNvSpPr/>
                    <p:nvPr/>
                  </p:nvSpPr>
                  <p:spPr bwMode="auto">
                    <a:xfrm>
                      <a:off x="3356" y="2744"/>
                      <a:ext cx="729" cy="657"/>
                    </a:xfrm>
                    <a:custGeom>
                      <a:avLst/>
                      <a:gdLst>
                        <a:gd name="T0" fmla="*/ 158 w 729"/>
                        <a:gd name="T1" fmla="*/ 0 h 657"/>
                        <a:gd name="T2" fmla="*/ 0 w 729"/>
                        <a:gd name="T3" fmla="*/ 0 h 657"/>
                        <a:gd name="T4" fmla="*/ 0 w 729"/>
                        <a:gd name="T5" fmla="*/ 657 h 657"/>
                        <a:gd name="T6" fmla="*/ 579 w 729"/>
                        <a:gd name="T7" fmla="*/ 654 h 657"/>
                        <a:gd name="T8" fmla="*/ 582 w 729"/>
                        <a:gd name="T9" fmla="*/ 3 h 657"/>
                        <a:gd name="T10" fmla="*/ 729 w 729"/>
                        <a:gd name="T11" fmla="*/ 3 h 65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29" h="657">
                          <a:moveTo>
                            <a:pt x="158" y="0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79" y="654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3" name="Freeform 145"/>
                    <p:cNvSpPr/>
                    <p:nvPr/>
                  </p:nvSpPr>
                  <p:spPr bwMode="auto">
                    <a:xfrm>
                      <a:off x="4508" y="2744"/>
                      <a:ext cx="729" cy="657"/>
                    </a:xfrm>
                    <a:custGeom>
                      <a:avLst/>
                      <a:gdLst>
                        <a:gd name="T0" fmla="*/ 161 w 729"/>
                        <a:gd name="T1" fmla="*/ 2 h 657"/>
                        <a:gd name="T2" fmla="*/ 0 w 729"/>
                        <a:gd name="T3" fmla="*/ 0 h 657"/>
                        <a:gd name="T4" fmla="*/ 0 w 729"/>
                        <a:gd name="T5" fmla="*/ 657 h 657"/>
                        <a:gd name="T6" fmla="*/ 579 w 729"/>
                        <a:gd name="T7" fmla="*/ 654 h 657"/>
                        <a:gd name="T8" fmla="*/ 582 w 729"/>
                        <a:gd name="T9" fmla="*/ 3 h 657"/>
                        <a:gd name="T10" fmla="*/ 729 w 729"/>
                        <a:gd name="T11" fmla="*/ 3 h 65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29" h="657">
                          <a:moveTo>
                            <a:pt x="161" y="2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79" y="654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4" name="Freeform 146"/>
                    <p:cNvSpPr/>
                    <p:nvPr/>
                  </p:nvSpPr>
                  <p:spPr bwMode="auto">
                    <a:xfrm>
                      <a:off x="1400" y="2735"/>
                      <a:ext cx="708" cy="571"/>
                    </a:xfrm>
                    <a:custGeom>
                      <a:avLst/>
                      <a:gdLst>
                        <a:gd name="T0" fmla="*/ 0 w 708"/>
                        <a:gd name="T1" fmla="*/ 0 h 571"/>
                        <a:gd name="T2" fmla="*/ 132 w 708"/>
                        <a:gd name="T3" fmla="*/ 0 h 571"/>
                        <a:gd name="T4" fmla="*/ 133 w 708"/>
                        <a:gd name="T5" fmla="*/ 571 h 571"/>
                        <a:gd name="T6" fmla="*/ 708 w 708"/>
                        <a:gd name="T7" fmla="*/ 570 h 571"/>
                        <a:gd name="T8" fmla="*/ 708 w 708"/>
                        <a:gd name="T9" fmla="*/ 9 h 571"/>
                        <a:gd name="T10" fmla="*/ 573 w 708"/>
                        <a:gd name="T11" fmla="*/ 9 h 571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08" h="571">
                          <a:moveTo>
                            <a:pt x="0" y="0"/>
                          </a:moveTo>
                          <a:lnTo>
                            <a:pt x="132" y="0"/>
                          </a:lnTo>
                          <a:lnTo>
                            <a:pt x="133" y="571"/>
                          </a:lnTo>
                          <a:lnTo>
                            <a:pt x="708" y="570"/>
                          </a:lnTo>
                          <a:lnTo>
                            <a:pt x="708" y="9"/>
                          </a:lnTo>
                          <a:lnTo>
                            <a:pt x="573" y="9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5" name="Freeform 147"/>
                    <p:cNvSpPr/>
                    <p:nvPr/>
                  </p:nvSpPr>
                  <p:spPr bwMode="auto">
                    <a:xfrm>
                      <a:off x="2552" y="2735"/>
                      <a:ext cx="726" cy="567"/>
                    </a:xfrm>
                    <a:custGeom>
                      <a:avLst/>
                      <a:gdLst>
                        <a:gd name="T0" fmla="*/ 0 w 726"/>
                        <a:gd name="T1" fmla="*/ 0 h 567"/>
                        <a:gd name="T2" fmla="*/ 148 w 726"/>
                        <a:gd name="T3" fmla="*/ 1 h 567"/>
                        <a:gd name="T4" fmla="*/ 147 w 726"/>
                        <a:gd name="T5" fmla="*/ 567 h 567"/>
                        <a:gd name="T6" fmla="*/ 726 w 726"/>
                        <a:gd name="T7" fmla="*/ 567 h 567"/>
                        <a:gd name="T8" fmla="*/ 726 w 726"/>
                        <a:gd name="T9" fmla="*/ 6 h 567"/>
                        <a:gd name="T10" fmla="*/ 579 w 726"/>
                        <a:gd name="T11" fmla="*/ 6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26" h="567">
                          <a:moveTo>
                            <a:pt x="0" y="0"/>
                          </a:moveTo>
                          <a:lnTo>
                            <a:pt x="148" y="1"/>
                          </a:lnTo>
                          <a:lnTo>
                            <a:pt x="147" y="567"/>
                          </a:lnTo>
                          <a:lnTo>
                            <a:pt x="726" y="567"/>
                          </a:lnTo>
                          <a:lnTo>
                            <a:pt x="726" y="6"/>
                          </a:lnTo>
                          <a:lnTo>
                            <a:pt x="579" y="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6" name="Freeform 148"/>
                    <p:cNvSpPr/>
                    <p:nvPr/>
                  </p:nvSpPr>
                  <p:spPr bwMode="auto">
                    <a:xfrm>
                      <a:off x="3704" y="2738"/>
                      <a:ext cx="714" cy="567"/>
                    </a:xfrm>
                    <a:custGeom>
                      <a:avLst/>
                      <a:gdLst>
                        <a:gd name="T0" fmla="*/ 0 w 714"/>
                        <a:gd name="T1" fmla="*/ 0 h 567"/>
                        <a:gd name="T2" fmla="*/ 136 w 714"/>
                        <a:gd name="T3" fmla="*/ 1 h 567"/>
                        <a:gd name="T4" fmla="*/ 135 w 714"/>
                        <a:gd name="T5" fmla="*/ 567 h 567"/>
                        <a:gd name="T6" fmla="*/ 714 w 714"/>
                        <a:gd name="T7" fmla="*/ 567 h 567"/>
                        <a:gd name="T8" fmla="*/ 714 w 714"/>
                        <a:gd name="T9" fmla="*/ 6 h 567"/>
                        <a:gd name="T10" fmla="*/ 576 w 714"/>
                        <a:gd name="T11" fmla="*/ 5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14" h="567">
                          <a:moveTo>
                            <a:pt x="0" y="0"/>
                          </a:moveTo>
                          <a:lnTo>
                            <a:pt x="136" y="1"/>
                          </a:lnTo>
                          <a:lnTo>
                            <a:pt x="135" y="567"/>
                          </a:lnTo>
                          <a:lnTo>
                            <a:pt x="714" y="567"/>
                          </a:lnTo>
                          <a:lnTo>
                            <a:pt x="714" y="6"/>
                          </a:lnTo>
                          <a:lnTo>
                            <a:pt x="576" y="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7" name="Freeform 149"/>
                    <p:cNvSpPr/>
                    <p:nvPr/>
                  </p:nvSpPr>
                  <p:spPr bwMode="auto">
                    <a:xfrm>
                      <a:off x="4859" y="2738"/>
                      <a:ext cx="711" cy="567"/>
                    </a:xfrm>
                    <a:custGeom>
                      <a:avLst/>
                      <a:gdLst>
                        <a:gd name="T0" fmla="*/ 0 w 711"/>
                        <a:gd name="T1" fmla="*/ 0 h 567"/>
                        <a:gd name="T2" fmla="*/ 130 w 711"/>
                        <a:gd name="T3" fmla="*/ 1 h 567"/>
                        <a:gd name="T4" fmla="*/ 132 w 711"/>
                        <a:gd name="T5" fmla="*/ 567 h 567"/>
                        <a:gd name="T6" fmla="*/ 711 w 711"/>
                        <a:gd name="T7" fmla="*/ 567 h 567"/>
                        <a:gd name="T8" fmla="*/ 711 w 711"/>
                        <a:gd name="T9" fmla="*/ 6 h 567"/>
                        <a:gd name="T10" fmla="*/ 564 w 711"/>
                        <a:gd name="T11" fmla="*/ 6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711" h="567">
                          <a:moveTo>
                            <a:pt x="0" y="0"/>
                          </a:moveTo>
                          <a:lnTo>
                            <a:pt x="130" y="1"/>
                          </a:lnTo>
                          <a:lnTo>
                            <a:pt x="132" y="567"/>
                          </a:lnTo>
                          <a:lnTo>
                            <a:pt x="711" y="567"/>
                          </a:lnTo>
                          <a:lnTo>
                            <a:pt x="711" y="6"/>
                          </a:lnTo>
                          <a:lnTo>
                            <a:pt x="564" y="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8" name="Freeform 150"/>
                    <p:cNvSpPr/>
                    <p:nvPr/>
                  </p:nvSpPr>
                  <p:spPr bwMode="auto">
                    <a:xfrm>
                      <a:off x="1322" y="3398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599" name="Freeform 151"/>
                    <p:cNvSpPr/>
                    <p:nvPr/>
                  </p:nvSpPr>
                  <p:spPr bwMode="auto">
                    <a:xfrm>
                      <a:off x="2491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0" name="Freeform 152"/>
                    <p:cNvSpPr/>
                    <p:nvPr/>
                  </p:nvSpPr>
                  <p:spPr bwMode="auto">
                    <a:xfrm>
                      <a:off x="3643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1" name="Freeform 153"/>
                    <p:cNvSpPr/>
                    <p:nvPr/>
                  </p:nvSpPr>
                  <p:spPr bwMode="auto">
                    <a:xfrm>
                      <a:off x="4795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2" name="Freeform 154"/>
                    <p:cNvSpPr/>
                    <p:nvPr/>
                  </p:nvSpPr>
                  <p:spPr bwMode="auto">
                    <a:xfrm>
                      <a:off x="5276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3" name="Freeform 155"/>
                    <p:cNvSpPr/>
                    <p:nvPr/>
                  </p:nvSpPr>
                  <p:spPr bwMode="auto">
                    <a:xfrm>
                      <a:off x="4124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4" name="Freeform 156"/>
                    <p:cNvSpPr/>
                    <p:nvPr/>
                  </p:nvSpPr>
                  <p:spPr bwMode="auto">
                    <a:xfrm>
                      <a:off x="2972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5" name="Freeform 157"/>
                    <p:cNvSpPr/>
                    <p:nvPr/>
                  </p:nvSpPr>
                  <p:spPr bwMode="auto">
                    <a:xfrm>
                      <a:off x="1819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6" name="Freeform 158"/>
                    <p:cNvSpPr/>
                    <p:nvPr/>
                  </p:nvSpPr>
                  <p:spPr bwMode="auto">
                    <a:xfrm>
                      <a:off x="956" y="4025"/>
                      <a:ext cx="4317" cy="1"/>
                    </a:xfrm>
                    <a:custGeom>
                      <a:avLst/>
                      <a:gdLst>
                        <a:gd name="T0" fmla="*/ 0 w 4317"/>
                        <a:gd name="T1" fmla="*/ 0 h 1"/>
                        <a:gd name="T2" fmla="*/ 4317 w 4317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317" h="1">
                          <a:moveTo>
                            <a:pt x="0" y="0"/>
                          </a:moveTo>
                          <a:lnTo>
                            <a:pt x="431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7" name="Freeform 159"/>
                    <p:cNvSpPr/>
                    <p:nvPr/>
                  </p:nvSpPr>
                  <p:spPr bwMode="auto">
                    <a:xfrm>
                      <a:off x="956" y="4121"/>
                      <a:ext cx="3837" cy="1"/>
                    </a:xfrm>
                    <a:custGeom>
                      <a:avLst/>
                      <a:gdLst>
                        <a:gd name="T0" fmla="*/ 0 w 3837"/>
                        <a:gd name="T1" fmla="*/ 0 h 1"/>
                        <a:gd name="T2" fmla="*/ 3837 w 3837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3837" h="1">
                          <a:moveTo>
                            <a:pt x="0" y="0"/>
                          </a:moveTo>
                          <a:lnTo>
                            <a:pt x="383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8" name="Freeform 160"/>
                    <p:cNvSpPr/>
                    <p:nvPr/>
                  </p:nvSpPr>
                  <p:spPr bwMode="auto">
                    <a:xfrm>
                      <a:off x="1322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09" name="Freeform 161"/>
                    <p:cNvSpPr/>
                    <p:nvPr/>
                  </p:nvSpPr>
                  <p:spPr bwMode="auto">
                    <a:xfrm>
                      <a:off x="2491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0" name="Freeform 162"/>
                    <p:cNvSpPr/>
                    <p:nvPr/>
                  </p:nvSpPr>
                  <p:spPr bwMode="auto">
                    <a:xfrm>
                      <a:off x="3643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1" name="Freeform 163"/>
                    <p:cNvSpPr/>
                    <p:nvPr/>
                  </p:nvSpPr>
                  <p:spPr bwMode="auto">
                    <a:xfrm>
                      <a:off x="4791" y="3881"/>
                      <a:ext cx="4" cy="247"/>
                    </a:xfrm>
                    <a:custGeom>
                      <a:avLst/>
                      <a:gdLst>
                        <a:gd name="T0" fmla="*/ 4 w 4"/>
                        <a:gd name="T1" fmla="*/ 0 h 247"/>
                        <a:gd name="T2" fmla="*/ 0 w 4"/>
                        <a:gd name="T3" fmla="*/ 247 h 247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" h="247">
                          <a:moveTo>
                            <a:pt x="4" y="0"/>
                          </a:moveTo>
                          <a:lnTo>
                            <a:pt x="0" y="247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2" name="Freeform 164"/>
                    <p:cNvSpPr/>
                    <p:nvPr/>
                  </p:nvSpPr>
                  <p:spPr bwMode="auto">
                    <a:xfrm>
                      <a:off x="5277" y="3881"/>
                      <a:ext cx="1" cy="151"/>
                    </a:xfrm>
                    <a:custGeom>
                      <a:avLst/>
                      <a:gdLst>
                        <a:gd name="T0" fmla="*/ 0 w 1"/>
                        <a:gd name="T1" fmla="*/ 0 h 151"/>
                        <a:gd name="T2" fmla="*/ 0 w 1"/>
                        <a:gd name="T3" fmla="*/ 151 h 15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51">
                          <a:moveTo>
                            <a:pt x="0" y="0"/>
                          </a:moveTo>
                          <a:lnTo>
                            <a:pt x="0" y="151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3" name="Line 1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24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4" name="Line 1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73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5" name="Line 1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20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16" name="Rectangle 1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7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20000"/>
                        </a:spcBef>
                      </a:pPr>
                      <a:endParaRPr lang="zh-CN" altLang="en-US"/>
                    </a:p>
                  </p:txBody>
                </p:sp>
                <p:sp>
                  <p:nvSpPr>
                    <p:cNvPr id="217617" name="Text Box 16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348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18" name="Rectangle 1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9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20000"/>
                        </a:spcBef>
                      </a:pPr>
                      <a:endParaRPr lang="zh-CN" altLang="en-US"/>
                    </a:p>
                  </p:txBody>
                </p:sp>
                <p:sp>
                  <p:nvSpPr>
                    <p:cNvPr id="217619" name="Text Box 17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500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20" name="Rectangle 1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1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20000"/>
                        </a:spcBef>
                      </a:pPr>
                      <a:endParaRPr lang="zh-CN" altLang="en-US"/>
                    </a:p>
                  </p:txBody>
                </p:sp>
                <p:sp>
                  <p:nvSpPr>
                    <p:cNvPr id="217621" name="Text Box 17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652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22" name="Line 1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64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3" name="Line 1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44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4" name="Line 1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293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5" name="Line 1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420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6" name="Freeform 178"/>
                    <p:cNvSpPr/>
                    <p:nvPr/>
                  </p:nvSpPr>
                  <p:spPr bwMode="auto">
                    <a:xfrm>
                      <a:off x="3033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618 h 40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7" name="Freeform 179"/>
                    <p:cNvSpPr/>
                    <p:nvPr/>
                  </p:nvSpPr>
                  <p:spPr bwMode="auto">
                    <a:xfrm>
                      <a:off x="4185" y="2691"/>
                      <a:ext cx="1" cy="525"/>
                    </a:xfrm>
                    <a:custGeom>
                      <a:avLst/>
                      <a:gdLst>
                        <a:gd name="T0" fmla="*/ 0 w 1"/>
                        <a:gd name="T1" fmla="*/ 0 h 525"/>
                        <a:gd name="T2" fmla="*/ 0 w 1"/>
                        <a:gd name="T3" fmla="*/ 525 h 525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525">
                          <a:moveTo>
                            <a:pt x="0" y="0"/>
                          </a:moveTo>
                          <a:lnTo>
                            <a:pt x="0" y="52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8" name="Freeform 180"/>
                    <p:cNvSpPr/>
                    <p:nvPr/>
                  </p:nvSpPr>
                  <p:spPr bwMode="auto">
                    <a:xfrm>
                      <a:off x="5325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618 h 40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29" name="Text Box 181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1193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0" name="Text Box 182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1769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1" name="Text Box 183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2345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2" name="Text Box 184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2921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3" name="Text Box 185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3496" y="1627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4" name="Text Box 186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4073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5" name="Text Box 187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4649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6" name="Text Box 188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5244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7" name="Text Box 18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791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18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8" name="Text Box 19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1383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1</a:t>
                      </a:r>
                      <a:endParaRPr lang="zh-CN" altLang="en-US" sz="18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39" name="Text Box 19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24" y="1959"/>
                      <a:ext cx="260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63</a:t>
                      </a:r>
                      <a:endParaRPr lang="zh-CN" altLang="en-US" sz="18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0" name="Line 1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2" y="2537"/>
                      <a:ext cx="57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41" name="Text Box 19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2727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18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2" name="Text Box 19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24" y="3159"/>
                      <a:ext cx="260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15</a:t>
                      </a:r>
                      <a:endParaRPr lang="zh-CN" altLang="en-US" sz="18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3" name="Text Box 195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665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4" name="Text Box 196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665" y="2876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5" name="Text Box 19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015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行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6" name="Text Box 19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263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地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7" name="Text Box 19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511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址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8" name="Text Box 20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758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译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49" name="Text Box 20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2006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码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0" name="Text Box 20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2635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列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1" name="Text Box 20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2883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地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2" name="Text Box 20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131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址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3" name="Text Box 20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378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译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4" name="Text Box 20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626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码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5" name="Text Box 20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94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1</a:t>
                      </a:r>
                      <a:endParaRPr lang="en-US" altLang="zh-CN" sz="1600" baseline="-25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6" name="Text Box 20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10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2</a:t>
                      </a:r>
                      <a:endParaRPr lang="en-US" altLang="zh-CN" sz="1600" baseline="-25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7" name="Text Box 20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256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3</a:t>
                      </a:r>
                      <a:endParaRPr lang="en-US" altLang="zh-CN" sz="1600" baseline="-25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8" name="Text Box 21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41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4</a:t>
                      </a:r>
                      <a:endParaRPr lang="en-US" altLang="zh-CN" sz="1600" baseline="-25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59" name="Line 2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905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0" name="Line 2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164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1" name="Line 2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423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2" name="Line 2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68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3" name="Line 2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94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4" name="Line 2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220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5" name="Line 2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287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6" name="Line 2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13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7" name="Line 2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390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8" name="Line 2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650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69" name="Text Box 22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48" y="3890"/>
                      <a:ext cx="356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800">
                          <a:latin typeface="Times New Roman" panose="02020603050405020304" pitchFamily="18" charset="0"/>
                        </a:rPr>
                        <a:t>WE</a:t>
                      </a:r>
                      <a:endParaRPr lang="en-US" altLang="zh-CN" sz="18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70" name="Line 2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82" y="3923"/>
                      <a:ext cx="288" cy="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671" name="Text Box 22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8" y="4025"/>
                      <a:ext cx="321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2000">
                          <a:latin typeface="Times New Roman" panose="02020603050405020304" pitchFamily="18" charset="0"/>
                        </a:rPr>
                        <a:t>CS</a:t>
                      </a:r>
                      <a:endParaRPr lang="en-US" altLang="zh-CN" sz="20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672" name="Line 2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726" y="4079"/>
                      <a:ext cx="192" cy="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17460" name="Group 225"/>
                  <p:cNvGrpSpPr/>
                  <p:nvPr/>
                </p:nvGrpSpPr>
                <p:grpSpPr bwMode="auto">
                  <a:xfrm>
                    <a:off x="140" y="674"/>
                    <a:ext cx="196" cy="3010"/>
                    <a:chOff x="140" y="674"/>
                    <a:chExt cx="196" cy="3010"/>
                  </a:xfrm>
                </p:grpSpPr>
                <p:sp>
                  <p:nvSpPr>
                    <p:cNvPr id="217462" name="Text Box 22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674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3" name="Text Box 22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933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4" name="Text Box 22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192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5" name="Text Box 22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451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6" name="Text Box 23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710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7" name="Text Box 23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970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8" name="Text Box 23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2657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69" name="Text Box 23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2916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0" name="Text Box 23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3175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71" name="Text Box 23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3434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</p:grpSp>
            </p:grpSp>
            <p:grpSp>
              <p:nvGrpSpPr>
                <p:cNvPr id="217418" name="Group 236"/>
                <p:cNvGrpSpPr/>
                <p:nvPr/>
              </p:nvGrpSpPr>
              <p:grpSpPr bwMode="auto">
                <a:xfrm>
                  <a:off x="915" y="2633"/>
                  <a:ext cx="3945" cy="253"/>
                  <a:chOff x="915" y="2633"/>
                  <a:chExt cx="3945" cy="253"/>
                </a:xfrm>
              </p:grpSpPr>
              <p:grpSp>
                <p:nvGrpSpPr>
                  <p:cNvPr id="217419" name="Group 237"/>
                  <p:cNvGrpSpPr/>
                  <p:nvPr/>
                </p:nvGrpSpPr>
                <p:grpSpPr bwMode="auto">
                  <a:xfrm>
                    <a:off x="915" y="2696"/>
                    <a:ext cx="3858" cy="190"/>
                    <a:chOff x="915" y="2696"/>
                    <a:chExt cx="3858" cy="190"/>
                  </a:xfrm>
                </p:grpSpPr>
                <p:sp>
                  <p:nvSpPr>
                    <p:cNvPr id="217452" name="Freeform 238"/>
                    <p:cNvSpPr/>
                    <p:nvPr/>
                  </p:nvSpPr>
                  <p:spPr bwMode="auto">
                    <a:xfrm>
                      <a:off x="1304" y="2707"/>
                      <a:ext cx="1" cy="166"/>
                    </a:xfrm>
                    <a:custGeom>
                      <a:avLst/>
                      <a:gdLst>
                        <a:gd name="T0" fmla="*/ 0 w 1"/>
                        <a:gd name="T1" fmla="*/ 0 h 166"/>
                        <a:gd name="T2" fmla="*/ 1 w 1"/>
                        <a:gd name="T3" fmla="*/ 166 h 16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66">
                          <a:moveTo>
                            <a:pt x="0" y="0"/>
                          </a:moveTo>
                          <a:lnTo>
                            <a:pt x="1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53" name="Freeform 239"/>
                    <p:cNvSpPr/>
                    <p:nvPr/>
                  </p:nvSpPr>
                  <p:spPr bwMode="auto">
                    <a:xfrm>
                      <a:off x="2457" y="2710"/>
                      <a:ext cx="1" cy="166"/>
                    </a:xfrm>
                    <a:custGeom>
                      <a:avLst/>
                      <a:gdLst>
                        <a:gd name="T0" fmla="*/ 0 w 1"/>
                        <a:gd name="T1" fmla="*/ 0 h 166"/>
                        <a:gd name="T2" fmla="*/ 1 w 1"/>
                        <a:gd name="T3" fmla="*/ 166 h 16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66">
                          <a:moveTo>
                            <a:pt x="0" y="0"/>
                          </a:moveTo>
                          <a:lnTo>
                            <a:pt x="1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55" name="Freeform 240"/>
                    <p:cNvSpPr/>
                    <p:nvPr/>
                  </p:nvSpPr>
                  <p:spPr bwMode="auto">
                    <a:xfrm>
                      <a:off x="3609" y="2710"/>
                      <a:ext cx="1" cy="176"/>
                    </a:xfrm>
                    <a:custGeom>
                      <a:avLst/>
                      <a:gdLst>
                        <a:gd name="T0" fmla="*/ 0 w 1"/>
                        <a:gd name="T1" fmla="*/ 0 h 176"/>
                        <a:gd name="T2" fmla="*/ 0 w 1"/>
                        <a:gd name="T3" fmla="*/ 176 h 17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76">
                          <a:moveTo>
                            <a:pt x="0" y="0"/>
                          </a:moveTo>
                          <a:lnTo>
                            <a:pt x="0" y="17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57" name="Freeform 241"/>
                    <p:cNvSpPr/>
                    <p:nvPr/>
                  </p:nvSpPr>
                  <p:spPr bwMode="auto">
                    <a:xfrm>
                      <a:off x="4761" y="2696"/>
                      <a:ext cx="1" cy="178"/>
                    </a:xfrm>
                    <a:custGeom>
                      <a:avLst/>
                      <a:gdLst>
                        <a:gd name="T0" fmla="*/ 0 w 1"/>
                        <a:gd name="T1" fmla="*/ 0 h 178"/>
                        <a:gd name="T2" fmla="*/ 0 w 1"/>
                        <a:gd name="T3" fmla="*/ 178 h 17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" h="178">
                          <a:moveTo>
                            <a:pt x="0" y="0"/>
                          </a:moveTo>
                          <a:lnTo>
                            <a:pt x="0" y="178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58" name="Freeform 242"/>
                    <p:cNvSpPr/>
                    <p:nvPr/>
                  </p:nvSpPr>
                  <p:spPr bwMode="auto">
                    <a:xfrm>
                      <a:off x="915" y="2865"/>
                      <a:ext cx="3858" cy="2"/>
                    </a:xfrm>
                    <a:custGeom>
                      <a:avLst/>
                      <a:gdLst>
                        <a:gd name="T0" fmla="*/ 0 w 3858"/>
                        <a:gd name="T1" fmla="*/ 2 h 2"/>
                        <a:gd name="T2" fmla="*/ 3858 w 3858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3858" h="2">
                          <a:moveTo>
                            <a:pt x="0" y="2"/>
                          </a:moveTo>
                          <a:lnTo>
                            <a:pt x="3858" y="0"/>
                          </a:lnTo>
                        </a:path>
                      </a:pathLst>
                    </a:custGeom>
                    <a:noFill/>
                    <a:ln w="76200" cmpd="sng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17420" name="Group 243"/>
                  <p:cNvGrpSpPr/>
                  <p:nvPr/>
                </p:nvGrpSpPr>
                <p:grpSpPr bwMode="auto">
                  <a:xfrm>
                    <a:off x="1213" y="2633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217445" name="Group 244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50" name="Line 245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51" name="Line 24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17446" name="Freeform 247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17447" name="Group 248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48" name="Line 24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49" name="Line 25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217421" name="Group 251"/>
                  <p:cNvGrpSpPr/>
                  <p:nvPr/>
                </p:nvGrpSpPr>
                <p:grpSpPr bwMode="auto">
                  <a:xfrm>
                    <a:off x="2365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217438" name="Group 252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43" name="Line 25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44" name="Line 25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17439" name="Freeform 255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17440" name="Group 256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41" name="Line 257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42" name="Line 25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217422" name="Group 259"/>
                  <p:cNvGrpSpPr/>
                  <p:nvPr/>
                </p:nvGrpSpPr>
                <p:grpSpPr bwMode="auto">
                  <a:xfrm>
                    <a:off x="3517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217431" name="Group 260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36" name="Line 26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37" name="Line 26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17432" name="Freeform 263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17433" name="Group 264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34" name="Line 265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35" name="Line 26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217423" name="Group 267"/>
                  <p:cNvGrpSpPr/>
                  <p:nvPr/>
                </p:nvGrpSpPr>
                <p:grpSpPr bwMode="auto">
                  <a:xfrm>
                    <a:off x="4668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217424" name="Group 268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29" name="Line 26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30" name="Line 27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17425" name="Freeform 271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17426" name="Group 272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217427" name="Line 27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17428" name="Line 27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</p:grpSp>
          </p:grpSp>
          <p:grpSp>
            <p:nvGrpSpPr>
              <p:cNvPr id="53" name="Group 275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54" name="Group 276"/>
                <p:cNvGrpSpPr/>
                <p:nvPr/>
              </p:nvGrpSpPr>
              <p:grpSpPr bwMode="auto">
                <a:xfrm>
                  <a:off x="902" y="857"/>
                  <a:ext cx="4567" cy="430"/>
                  <a:chOff x="902" y="857"/>
                  <a:chExt cx="4567" cy="430"/>
                </a:xfrm>
              </p:grpSpPr>
              <p:grpSp>
                <p:nvGrpSpPr>
                  <p:cNvPr id="59" name="Group 277"/>
                  <p:cNvGrpSpPr/>
                  <p:nvPr/>
                </p:nvGrpSpPr>
                <p:grpSpPr bwMode="auto">
                  <a:xfrm>
                    <a:off x="1152" y="1013"/>
                    <a:ext cx="4317" cy="274"/>
                    <a:chOff x="1176" y="1068"/>
                    <a:chExt cx="4317" cy="274"/>
                  </a:xfrm>
                </p:grpSpPr>
                <p:sp>
                  <p:nvSpPr>
                    <p:cNvPr id="217409" name="Rectangle 2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5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15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0" name="Rectangle 2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1" name="Rectangle 2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31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2" name="Rectangle 2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16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3" name="Rectangle 2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67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47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4" name="Rectangle 28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1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32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5" name="Rectangle 28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05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63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17416" name="Rectangle 28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48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grpSp>
                <p:nvGrpSpPr>
                  <p:cNvPr id="60" name="Group 286"/>
                  <p:cNvGrpSpPr/>
                  <p:nvPr/>
                </p:nvGrpSpPr>
                <p:grpSpPr bwMode="auto">
                  <a:xfrm>
                    <a:off x="902" y="857"/>
                    <a:ext cx="4419" cy="145"/>
                    <a:chOff x="902" y="857"/>
                    <a:chExt cx="4419" cy="145"/>
                  </a:xfrm>
                </p:grpSpPr>
                <p:sp>
                  <p:nvSpPr>
                    <p:cNvPr id="61" name="Freeform 287"/>
                    <p:cNvSpPr/>
                    <p:nvPr/>
                  </p:nvSpPr>
                  <p:spPr bwMode="auto">
                    <a:xfrm>
                      <a:off x="902" y="857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76200" cmpd="sng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62" name="Line 2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63" name="Line 2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72" name="Line 2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2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73" name="Line 2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00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76" name="Line 2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76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78" name="Line 29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5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79" name="Line 2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2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17408" name="Line 2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0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55" name="Text Box 296"/>
                <p:cNvSpPr txBox="1">
                  <a:spLocks noChangeArrowheads="1"/>
                </p:cNvSpPr>
                <p:nvPr/>
              </p:nvSpPr>
              <p:spPr bwMode="auto">
                <a:xfrm>
                  <a:off x="140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6" name="Text Box 297"/>
                <p:cNvSpPr txBox="1">
                  <a:spLocks noChangeArrowheads="1"/>
                </p:cNvSpPr>
                <p:nvPr/>
              </p:nvSpPr>
              <p:spPr bwMode="auto">
                <a:xfrm>
                  <a:off x="254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7" name="Text Box 298"/>
                <p:cNvSpPr txBox="1">
                  <a:spLocks noChangeArrowheads="1"/>
                </p:cNvSpPr>
                <p:nvPr/>
              </p:nvSpPr>
              <p:spPr bwMode="auto">
                <a:xfrm>
                  <a:off x="371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8" name="Text Box 299"/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4" name="Group 300"/>
            <p:cNvGrpSpPr/>
            <p:nvPr/>
          </p:nvGrpSpPr>
          <p:grpSpPr bwMode="auto">
            <a:xfrm>
              <a:off x="915" y="1649"/>
              <a:ext cx="4166" cy="1237"/>
              <a:chOff x="915" y="1649"/>
              <a:chExt cx="4166" cy="1237"/>
            </a:xfrm>
          </p:grpSpPr>
          <p:grpSp>
            <p:nvGrpSpPr>
              <p:cNvPr id="5" name="Group 301"/>
              <p:cNvGrpSpPr/>
              <p:nvPr/>
            </p:nvGrpSpPr>
            <p:grpSpPr bwMode="auto">
              <a:xfrm>
                <a:off x="915" y="2633"/>
                <a:ext cx="3945" cy="253"/>
                <a:chOff x="915" y="2633"/>
                <a:chExt cx="3945" cy="253"/>
              </a:xfrm>
            </p:grpSpPr>
            <p:grpSp>
              <p:nvGrpSpPr>
                <p:cNvPr id="14" name="Group 302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47" name="Freeform 303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8" name="Freeform 304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Freeform 305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Freeform 306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Freeform 307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" name="Group 308"/>
                <p:cNvGrpSpPr/>
                <p:nvPr/>
              </p:nvGrpSpPr>
              <p:grpSpPr bwMode="auto">
                <a:xfrm>
                  <a:off x="1213" y="2633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40" name="Group 309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45" name="Line 3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6" name="Line 3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1" name="Freeform 312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2" name="Group 313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43" name="Line 3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4" name="Line 3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6" name="Group 316"/>
                <p:cNvGrpSpPr/>
                <p:nvPr/>
              </p:nvGrpSpPr>
              <p:grpSpPr bwMode="auto">
                <a:xfrm>
                  <a:off x="2365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3" name="Group 317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8" name="Line 3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9" name="Line 3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34" name="Freeform 320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35" name="Group 321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6" name="Line 3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7" name="Line 3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7" name="Group 324"/>
                <p:cNvGrpSpPr/>
                <p:nvPr/>
              </p:nvGrpSpPr>
              <p:grpSpPr bwMode="auto">
                <a:xfrm>
                  <a:off x="3517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26" name="Group 325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" name="Line 3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2" name="Line 3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7" name="Freeform 328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8" name="Group 329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29" name="Line 3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0" name="Line 3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8" name="Group 332"/>
                <p:cNvGrpSpPr/>
                <p:nvPr/>
              </p:nvGrpSpPr>
              <p:grpSpPr bwMode="auto">
                <a:xfrm>
                  <a:off x="4668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9" name="Group 333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24" name="Line 3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5" name="Line 3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0" name="Freeform 336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1" name="Group 337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22" name="Line 3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3" name="Line 3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sp>
            <p:nvSpPr>
              <p:cNvPr id="6" name="Rectangle 340"/>
              <p:cNvSpPr>
                <a:spLocks noChangeArrowheads="1"/>
              </p:cNvSpPr>
              <p:nvPr/>
            </p:nvSpPr>
            <p:spPr bwMode="auto">
              <a:xfrm>
                <a:off x="1152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" name="Text Box 341"/>
              <p:cNvSpPr txBox="1">
                <a:spLocks noChangeArrowheads="1"/>
              </p:cNvSpPr>
              <p:nvPr/>
            </p:nvSpPr>
            <p:spPr bwMode="auto">
              <a:xfrm>
                <a:off x="1152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" name="Rectangle 342"/>
              <p:cNvSpPr>
                <a:spLocks noChangeArrowheads="1"/>
              </p:cNvSpPr>
              <p:nvPr/>
            </p:nvSpPr>
            <p:spPr bwMode="auto">
              <a:xfrm>
                <a:off x="2293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16</a:t>
                </a:r>
                <a:endPara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343"/>
              <p:cNvSpPr>
                <a:spLocks noChangeArrowheads="1"/>
              </p:cNvSpPr>
              <p:nvPr/>
            </p:nvSpPr>
            <p:spPr bwMode="auto">
              <a:xfrm>
                <a:off x="4604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48</a:t>
                </a:r>
                <a:endPara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344"/>
              <p:cNvSpPr>
                <a:spLocks noChangeArrowheads="1"/>
              </p:cNvSpPr>
              <p:nvPr/>
            </p:nvSpPr>
            <p:spPr bwMode="auto">
              <a:xfrm>
                <a:off x="3466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32</a:t>
                </a:r>
                <a:endPara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Text Box 345"/>
              <p:cNvSpPr txBox="1">
                <a:spLocks noChangeArrowheads="1"/>
              </p:cNvSpPr>
              <p:nvPr/>
            </p:nvSpPr>
            <p:spPr bwMode="auto">
              <a:xfrm>
                <a:off x="2316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Text Box 346"/>
              <p:cNvSpPr txBox="1">
                <a:spLocks noChangeArrowheads="1"/>
              </p:cNvSpPr>
              <p:nvPr/>
            </p:nvSpPr>
            <p:spPr bwMode="auto">
              <a:xfrm>
                <a:off x="3464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Text Box 347"/>
              <p:cNvSpPr txBox="1">
                <a:spLocks noChangeArrowheads="1"/>
              </p:cNvSpPr>
              <p:nvPr/>
            </p:nvSpPr>
            <p:spPr bwMode="auto">
              <a:xfrm>
                <a:off x="4619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7687" name="Group 348"/>
          <p:cNvGrpSpPr/>
          <p:nvPr/>
        </p:nvGrpSpPr>
        <p:grpSpPr bwMode="auto">
          <a:xfrm>
            <a:off x="2894261" y="884397"/>
            <a:ext cx="7292975" cy="403225"/>
            <a:chOff x="1022" y="538"/>
            <a:chExt cx="4594" cy="254"/>
          </a:xfrm>
        </p:grpSpPr>
        <p:sp>
          <p:nvSpPr>
            <p:cNvPr id="217688" name="Line 349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7689" name="Freeform 350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7690" name="Line 351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7691" name="Freeform 352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7692" name="Line 353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7693" name="Text Box 354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7694" name="Text Box 355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7695" name="Text Box 356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7696" name="Text Box 357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7697" name="Line 358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698" name="Line 359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699" name="Line 360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700" name="Line 361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701" name="Line 362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702" name="Line 363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703" name="Line 364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7704" name="Line 365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7706" name="Text Box 367"/>
          <p:cNvSpPr txBox="1">
            <a:spLocks noChangeArrowheads="1"/>
          </p:cNvSpPr>
          <p:nvPr/>
        </p:nvSpPr>
        <p:spPr bwMode="auto">
          <a:xfrm>
            <a:off x="151061" y="43760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17707" name="Group 368"/>
          <p:cNvGrpSpPr/>
          <p:nvPr/>
        </p:nvGrpSpPr>
        <p:grpSpPr bwMode="auto">
          <a:xfrm>
            <a:off x="3138736" y="1638460"/>
            <a:ext cx="5934075" cy="434975"/>
            <a:chOff x="1156" y="1013"/>
            <a:chExt cx="3738" cy="274"/>
          </a:xfrm>
        </p:grpSpPr>
        <p:sp>
          <p:nvSpPr>
            <p:cNvPr id="217708" name="Rectangle 369"/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7709" name="Rectangle 370"/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7710" name="Rectangle 371"/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7711" name="Rectangle 372"/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7712" name="Group 373"/>
          <p:cNvGrpSpPr/>
          <p:nvPr/>
        </p:nvGrpSpPr>
        <p:grpSpPr bwMode="auto">
          <a:xfrm>
            <a:off x="2338636" y="6205697"/>
            <a:ext cx="565150" cy="612775"/>
            <a:chOff x="648" y="3890"/>
            <a:chExt cx="356" cy="386"/>
          </a:xfrm>
        </p:grpSpPr>
        <p:grpSp>
          <p:nvGrpSpPr>
            <p:cNvPr id="217713" name="Group 374"/>
            <p:cNvGrpSpPr/>
            <p:nvPr/>
          </p:nvGrpSpPr>
          <p:grpSpPr bwMode="auto">
            <a:xfrm>
              <a:off x="668" y="4026"/>
              <a:ext cx="321" cy="250"/>
              <a:chOff x="668" y="4026"/>
              <a:chExt cx="321" cy="250"/>
            </a:xfrm>
          </p:grpSpPr>
          <p:sp>
            <p:nvSpPr>
              <p:cNvPr id="217717" name="Text Box 375"/>
              <p:cNvSpPr txBox="1">
                <a:spLocks noChangeArrowheads="1"/>
              </p:cNvSpPr>
              <p:nvPr/>
            </p:nvSpPr>
            <p:spPr bwMode="auto">
              <a:xfrm>
                <a:off x="668" y="4026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718" name="Line 376"/>
              <p:cNvSpPr>
                <a:spLocks noChangeShapeType="1"/>
              </p:cNvSpPr>
              <p:nvPr/>
            </p:nvSpPr>
            <p:spPr bwMode="auto">
              <a:xfrm>
                <a:off x="724" y="4078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7714" name="Group 377"/>
            <p:cNvGrpSpPr/>
            <p:nvPr/>
          </p:nvGrpSpPr>
          <p:grpSpPr bwMode="auto">
            <a:xfrm>
              <a:off x="648" y="3890"/>
              <a:ext cx="356" cy="231"/>
              <a:chOff x="648" y="3890"/>
              <a:chExt cx="356" cy="231"/>
            </a:xfrm>
          </p:grpSpPr>
          <p:sp>
            <p:nvSpPr>
              <p:cNvPr id="217715" name="Text Box 378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WE</a:t>
                </a:r>
                <a:endParaRPr lang="zh-CN" altLang="en-US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716" name="Line 379"/>
              <p:cNvSpPr>
                <a:spLocks noChangeShapeType="1"/>
              </p:cNvSpPr>
              <p:nvPr/>
            </p:nvSpPr>
            <p:spPr bwMode="auto">
              <a:xfrm>
                <a:off x="682" y="3922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7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17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316162" y="1096120"/>
            <a:ext cx="8921750" cy="5654675"/>
            <a:chOff x="140" y="713"/>
            <a:chExt cx="5620" cy="3562"/>
          </a:xfrm>
        </p:grpSpPr>
        <p:grpSp>
          <p:nvGrpSpPr>
            <p:cNvPr id="3" name="Group 3"/>
            <p:cNvGrpSpPr/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52" name="Rectangle 4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" name="Rectangle 5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" name="Text Box 6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" name="Rectangle 7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" name="Rectangle 8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" name="Text Box 9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8" name="Rectangle 10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9" name="Rectangle 11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0" name="Text Box 12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Rectangle 13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Rectangle 14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Text Box 15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76" name="Rectangle 16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77" name="Rectangle 17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78" name="Rectangle 18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79" name="Rectangle 19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696" name="Rectangle 20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697" name="Rectangle 21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701" name="Rectangle 22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706" name="Rectangle 23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432" name="Rectangle 24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433" name="Line 25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34" name="Line 26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35" name="Freeform 27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36" name="Line 28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37" name="Line 29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38" name="Freeform 30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40" name="Freeform 31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41" name="Freeform 32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42" name="Line 33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43" name="Line 34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44" name="Freeform 35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45" name="Line 36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46" name="Line 37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47" name="Freeform 38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48" name="Freeform 39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49" name="Line 40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0" name="Line 41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1" name="Freeform 42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2" name="Line 43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3" name="Line 44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4" name="Freeform 45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55" name="Freeform 46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56" name="Line 47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7" name="Line 48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8" name="Freeform 49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59" name="Line 50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0" name="Line 51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1" name="Freeform 52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62" name="Freeform 53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63" name="Line 54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4" name="Line 55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5" name="Freeform 56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6" name="Line 57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7" name="Line 58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68" name="Freeform 59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69" name="Freeform 60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70" name="Line 61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71" name="Line 62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72" name="Freeform 63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73" name="Line 64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74" name="Line 65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8475" name="Freeform 66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76" name="Freeform 67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18477" name="Group 68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218625" name="Group 69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18630" name="Line 7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8631" name="Line 7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8626" name="Freeform 72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8627" name="Group 73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18628" name="Line 7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8629" name="Line 7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18478" name="Freeform 76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79" name="Freeform 77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18480" name="Group 78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218618" name="Group 79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18623" name="Line 8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8624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8619" name="Freeform 82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8620" name="Group 83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18621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8622" name="Line 8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18481" name="Freeform 86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3" name="Freeform 87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4" name="Freeform 88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5" name="Line 89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6" name="Line 90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7" name="Line 91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8" name="Line 92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89" name="Line 93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0" name="Line 94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1" name="Line 95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2" name="Line 96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3" name="Freeform 97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4" name="Freeform 98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5" name="Freeform 99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6" name="Freeform 100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7" name="Freeform 101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8" name="Freeform 102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499" name="Line 103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0" name="Line 104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1" name="Line 105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2" name="Line 106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3" name="Line 107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4" name="Line 108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5" name="Line 109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6" name="Line 110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7" name="Freeform 111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8" name="Line 112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09" name="Line 113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0" name="Line 114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1" name="Line 115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2" name="Line 116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3" name="Line 117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4" name="Line 118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5" name="Line 119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6" name="Freeform 120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7" name="Freeform 121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18" name="Rectangle 122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8519" name="Text Box 123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20" name="Freeform 124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1" name="Freeform 125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2" name="Freeform 126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3" name="Freeform 127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4" name="Freeform 128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5" name="Freeform 129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6" name="Freeform 130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7" name="Freeform 131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8" name="Freeform 132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29" name="Freeform 133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0" name="Freeform 134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1" name="Freeform 135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2" name="Freeform 136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3" name="Freeform 137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4" name="Freeform 138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5" name="Freeform 139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6" name="Freeform 140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7" name="Freeform 141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8" name="Freeform 142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39" name="Freeform 143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0" name="Freeform 144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1" name="Freeform 145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2" name="Freeform 146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3" name="Freeform 147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4" name="Freeform 148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5" name="Freeform 149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6" name="Freeform 150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7" name="Freeform 151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8" name="Freeform 152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49" name="Freeform 153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0" name="Freeform 154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1" name="Freeform 155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2" name="Freeform 156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3" name="Freeform 157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4" name="Freeform 158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5" name="Freeform 159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6" name="Freeform 160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7" name="Freeform 161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8" name="Line 162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59" name="Line 163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60" name="Line 164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61" name="Rectangle 165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8562" name="Text Box 166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63" name="Rectangle 167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8564" name="Text Box 168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65" name="Rectangle 169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18566" name="Text Box 170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67" name="Line 171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68" name="Line 172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69" name="Line 173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70" name="Line 174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71" name="Freeform 175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72" name="Freeform 176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73" name="Freeform 177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74" name="Text Box 178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75" name="Text Box 179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76" name="Text Box 180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77" name="Text Box 181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78" name="Text Box 182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79" name="Text Box 183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0" name="Text Box 184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1" name="Text Box 185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2" name="Text Box 186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3" name="Text Box 187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4" name="Text Box 188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5" name="Line 189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586" name="Text Box 190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7" name="Text Box 191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8" name="Text Box 192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89" name="Text Box 193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0" name="Text Box 194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1" name="Text Box 195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2" name="Text Box 196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3" name="Text Box 197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4" name="Text Box 198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5" name="Text Box 199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6" name="Text Box 200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7" name="Text Box 201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8" name="Text Box 202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599" name="Text Box 203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00" name="Text Box 204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01" name="Text Box 205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02" name="Text Box 206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03" name="Text Box 207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04" name="Line 208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05" name="Line 209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06" name="Line 210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07" name="Line 211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08" name="Line 212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09" name="Line 213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10" name="Line 214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11" name="Line 215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12" name="Line 216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13" name="Line 217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14" name="Text Box 218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WE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15" name="Line 219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16" name="Text Box 220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  <a:endPara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617" name="Line 221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4" name="Group 222"/>
            <p:cNvGrpSpPr/>
            <p:nvPr/>
          </p:nvGrpSpPr>
          <p:grpSpPr bwMode="auto">
            <a:xfrm>
              <a:off x="915" y="1649"/>
              <a:ext cx="4166" cy="1237"/>
              <a:chOff x="915" y="1649"/>
              <a:chExt cx="4166" cy="1237"/>
            </a:xfrm>
          </p:grpSpPr>
          <p:grpSp>
            <p:nvGrpSpPr>
              <p:cNvPr id="5" name="Group 223"/>
              <p:cNvGrpSpPr/>
              <p:nvPr/>
            </p:nvGrpSpPr>
            <p:grpSpPr bwMode="auto">
              <a:xfrm>
                <a:off x="915" y="2633"/>
                <a:ext cx="3945" cy="253"/>
                <a:chOff x="915" y="2633"/>
                <a:chExt cx="3945" cy="253"/>
              </a:xfrm>
            </p:grpSpPr>
            <p:grpSp>
              <p:nvGrpSpPr>
                <p:cNvPr id="14" name="Group 224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47" name="Freeform 225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8" name="Freeform 226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Freeform 227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Freeform 228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Freeform 229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" name="Group 230"/>
                <p:cNvGrpSpPr/>
                <p:nvPr/>
              </p:nvGrpSpPr>
              <p:grpSpPr bwMode="auto">
                <a:xfrm>
                  <a:off x="1213" y="2633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40" name="Group 231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45" name="Line 2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6" name="Line 2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1" name="Freeform 234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2" name="Group 235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43" name="Line 23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4" name="Line 2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6" name="Group 238"/>
                <p:cNvGrpSpPr/>
                <p:nvPr/>
              </p:nvGrpSpPr>
              <p:grpSpPr bwMode="auto">
                <a:xfrm>
                  <a:off x="2365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3" name="Group 239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8" name="Line 2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9" name="Line 2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34" name="Freeform 242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35" name="Group 243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6" name="Line 24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7" name="Line 2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7" name="Group 246"/>
                <p:cNvGrpSpPr/>
                <p:nvPr/>
              </p:nvGrpSpPr>
              <p:grpSpPr bwMode="auto">
                <a:xfrm>
                  <a:off x="3517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26" name="Group 247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31" name="Line 2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2" name="Line 2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7" name="Freeform 250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8" name="Group 251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29" name="Line 2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0" name="Line 2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8" name="Group 254"/>
                <p:cNvGrpSpPr/>
                <p:nvPr/>
              </p:nvGrpSpPr>
              <p:grpSpPr bwMode="auto">
                <a:xfrm>
                  <a:off x="4668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9" name="Group 255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24" name="Line 2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5" name="Line 25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0" name="Freeform 258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1" name="Group 259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22" name="Line 2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3" name="Line 26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sp>
            <p:nvSpPr>
              <p:cNvPr id="6" name="Rectangle 262"/>
              <p:cNvSpPr>
                <a:spLocks noChangeArrowheads="1"/>
              </p:cNvSpPr>
              <p:nvPr/>
            </p:nvSpPr>
            <p:spPr bwMode="auto">
              <a:xfrm>
                <a:off x="1152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" name="Text Box 263"/>
              <p:cNvSpPr txBox="1">
                <a:spLocks noChangeArrowheads="1"/>
              </p:cNvSpPr>
              <p:nvPr/>
            </p:nvSpPr>
            <p:spPr bwMode="auto">
              <a:xfrm>
                <a:off x="1152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" name="Rectangle 264"/>
              <p:cNvSpPr>
                <a:spLocks noChangeArrowheads="1"/>
              </p:cNvSpPr>
              <p:nvPr/>
            </p:nvSpPr>
            <p:spPr bwMode="auto">
              <a:xfrm>
                <a:off x="2293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16</a:t>
                </a:r>
                <a:endPara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265"/>
              <p:cNvSpPr>
                <a:spLocks noChangeArrowheads="1"/>
              </p:cNvSpPr>
              <p:nvPr/>
            </p:nvSpPr>
            <p:spPr bwMode="auto">
              <a:xfrm>
                <a:off x="4604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48</a:t>
                </a:r>
                <a:endPara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266"/>
              <p:cNvSpPr>
                <a:spLocks noChangeArrowheads="1"/>
              </p:cNvSpPr>
              <p:nvPr/>
            </p:nvSpPr>
            <p:spPr bwMode="auto">
              <a:xfrm>
                <a:off x="3466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32</a:t>
                </a:r>
                <a:endPara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Text Box 267"/>
              <p:cNvSpPr txBox="1">
                <a:spLocks noChangeArrowheads="1"/>
              </p:cNvSpPr>
              <p:nvPr/>
            </p:nvSpPr>
            <p:spPr bwMode="auto">
              <a:xfrm>
                <a:off x="2316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Text Box 268"/>
              <p:cNvSpPr txBox="1">
                <a:spLocks noChangeArrowheads="1"/>
              </p:cNvSpPr>
              <p:nvPr/>
            </p:nvSpPr>
            <p:spPr bwMode="auto">
              <a:xfrm>
                <a:off x="3464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Text Box 269"/>
              <p:cNvSpPr txBox="1">
                <a:spLocks noChangeArrowheads="1"/>
              </p:cNvSpPr>
              <p:nvPr/>
            </p:nvSpPr>
            <p:spPr bwMode="auto">
              <a:xfrm>
                <a:off x="4619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8632" name="Group 270"/>
          <p:cNvGrpSpPr/>
          <p:nvPr/>
        </p:nvGrpSpPr>
        <p:grpSpPr bwMode="auto">
          <a:xfrm>
            <a:off x="2546475" y="4144120"/>
            <a:ext cx="6262687" cy="401637"/>
            <a:chOff x="915" y="2633"/>
            <a:chExt cx="3945" cy="253"/>
          </a:xfrm>
        </p:grpSpPr>
        <p:grpSp>
          <p:nvGrpSpPr>
            <p:cNvPr id="218633" name="Group 271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218666" name="Freeform 272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67" name="Freeform 273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68" name="Freeform 274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69" name="Freeform 275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18670" name="Freeform 276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18634" name="Group 277"/>
            <p:cNvGrpSpPr/>
            <p:nvPr/>
          </p:nvGrpSpPr>
          <p:grpSpPr bwMode="auto">
            <a:xfrm>
              <a:off x="1213" y="2633"/>
              <a:ext cx="192" cy="158"/>
              <a:chOff x="1213" y="2633"/>
              <a:chExt cx="192" cy="158"/>
            </a:xfrm>
          </p:grpSpPr>
          <p:grpSp>
            <p:nvGrpSpPr>
              <p:cNvPr id="218659" name="Group 278"/>
              <p:cNvGrpSpPr/>
              <p:nvPr/>
            </p:nvGrpSpPr>
            <p:grpSpPr bwMode="auto">
              <a:xfrm rot="5400000">
                <a:off x="1302" y="2688"/>
                <a:ext cx="158" cy="48"/>
                <a:chOff x="3459" y="1296"/>
                <a:chExt cx="243" cy="48"/>
              </a:xfrm>
            </p:grpSpPr>
            <p:sp>
              <p:nvSpPr>
                <p:cNvPr id="218664" name="Line 27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65" name="Line 28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8660" name="Freeform 281"/>
              <p:cNvSpPr/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8661" name="Group 282"/>
              <p:cNvGrpSpPr/>
              <p:nvPr/>
            </p:nvGrpSpPr>
            <p:grpSpPr bwMode="auto">
              <a:xfrm rot="-5400000">
                <a:off x="1158" y="2688"/>
                <a:ext cx="158" cy="48"/>
                <a:chOff x="3459" y="1296"/>
                <a:chExt cx="243" cy="48"/>
              </a:xfrm>
            </p:grpSpPr>
            <p:sp>
              <p:nvSpPr>
                <p:cNvPr id="218662" name="Line 283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63" name="Line 284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18635" name="Group 285"/>
            <p:cNvGrpSpPr/>
            <p:nvPr/>
          </p:nvGrpSpPr>
          <p:grpSpPr bwMode="auto">
            <a:xfrm>
              <a:off x="2365" y="2635"/>
              <a:ext cx="192" cy="158"/>
              <a:chOff x="2365" y="2635"/>
              <a:chExt cx="192" cy="158"/>
            </a:xfrm>
          </p:grpSpPr>
          <p:grpSp>
            <p:nvGrpSpPr>
              <p:cNvPr id="218652" name="Group 286"/>
              <p:cNvGrpSpPr/>
              <p:nvPr/>
            </p:nvGrpSpPr>
            <p:grpSpPr bwMode="auto">
              <a:xfrm rot="5400000">
                <a:off x="2454" y="2690"/>
                <a:ext cx="158" cy="48"/>
                <a:chOff x="3459" y="1296"/>
                <a:chExt cx="243" cy="48"/>
              </a:xfrm>
            </p:grpSpPr>
            <p:sp>
              <p:nvSpPr>
                <p:cNvPr id="218657" name="Line 287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58" name="Line 288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8653" name="Freeform 289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8654" name="Group 290"/>
              <p:cNvGrpSpPr/>
              <p:nvPr/>
            </p:nvGrpSpPr>
            <p:grpSpPr bwMode="auto">
              <a:xfrm rot="-5400000">
                <a:off x="2310" y="2690"/>
                <a:ext cx="158" cy="48"/>
                <a:chOff x="3459" y="1296"/>
                <a:chExt cx="243" cy="48"/>
              </a:xfrm>
            </p:grpSpPr>
            <p:sp>
              <p:nvSpPr>
                <p:cNvPr id="218655" name="Line 29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56" name="Line 29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18636" name="Group 293"/>
            <p:cNvGrpSpPr/>
            <p:nvPr/>
          </p:nvGrpSpPr>
          <p:grpSpPr bwMode="auto">
            <a:xfrm>
              <a:off x="3517" y="2635"/>
              <a:ext cx="192" cy="158"/>
              <a:chOff x="3517" y="2635"/>
              <a:chExt cx="192" cy="158"/>
            </a:xfrm>
          </p:grpSpPr>
          <p:grpSp>
            <p:nvGrpSpPr>
              <p:cNvPr id="218645" name="Group 294"/>
              <p:cNvGrpSpPr/>
              <p:nvPr/>
            </p:nvGrpSpPr>
            <p:grpSpPr bwMode="auto">
              <a:xfrm rot="5400000">
                <a:off x="3606" y="2690"/>
                <a:ext cx="158" cy="48"/>
                <a:chOff x="3459" y="1296"/>
                <a:chExt cx="243" cy="48"/>
              </a:xfrm>
            </p:grpSpPr>
            <p:sp>
              <p:nvSpPr>
                <p:cNvPr id="218650" name="Line 29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51" name="Line 29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8646" name="Freeform 297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8647" name="Group 298"/>
              <p:cNvGrpSpPr/>
              <p:nvPr/>
            </p:nvGrpSpPr>
            <p:grpSpPr bwMode="auto">
              <a:xfrm rot="-5400000">
                <a:off x="3462" y="2690"/>
                <a:ext cx="158" cy="48"/>
                <a:chOff x="3459" y="1296"/>
                <a:chExt cx="243" cy="48"/>
              </a:xfrm>
            </p:grpSpPr>
            <p:sp>
              <p:nvSpPr>
                <p:cNvPr id="218648" name="Line 29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49" name="Line 30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18637" name="Group 301"/>
            <p:cNvGrpSpPr/>
            <p:nvPr/>
          </p:nvGrpSpPr>
          <p:grpSpPr bwMode="auto">
            <a:xfrm>
              <a:off x="4668" y="2635"/>
              <a:ext cx="192" cy="158"/>
              <a:chOff x="4668" y="2635"/>
              <a:chExt cx="192" cy="158"/>
            </a:xfrm>
          </p:grpSpPr>
          <p:grpSp>
            <p:nvGrpSpPr>
              <p:cNvPr id="218638" name="Group 302"/>
              <p:cNvGrpSpPr/>
              <p:nvPr/>
            </p:nvGrpSpPr>
            <p:grpSpPr bwMode="auto">
              <a:xfrm>
                <a:off x="4812" y="2635"/>
                <a:ext cx="48" cy="158"/>
                <a:chOff x="4812" y="2635"/>
                <a:chExt cx="48" cy="158"/>
              </a:xfrm>
            </p:grpSpPr>
            <p:sp>
              <p:nvSpPr>
                <p:cNvPr id="218643" name="Line 303"/>
                <p:cNvSpPr>
                  <a:spLocks noChangeShapeType="1"/>
                </p:cNvSpPr>
                <p:nvPr/>
              </p:nvSpPr>
              <p:spPr bwMode="auto">
                <a:xfrm rot="5400000">
                  <a:off x="4781" y="271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44" name="Line 304"/>
                <p:cNvSpPr>
                  <a:spLocks noChangeShapeType="1"/>
                </p:cNvSpPr>
                <p:nvPr/>
              </p:nvSpPr>
              <p:spPr bwMode="auto">
                <a:xfrm rot="5400000">
                  <a:off x="4764" y="2712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18639" name="Freeform 305"/>
              <p:cNvSpPr/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18640" name="Group 306"/>
              <p:cNvGrpSpPr/>
              <p:nvPr/>
            </p:nvGrpSpPr>
            <p:grpSpPr bwMode="auto">
              <a:xfrm>
                <a:off x="4668" y="2635"/>
                <a:ext cx="48" cy="158"/>
                <a:chOff x="4668" y="2635"/>
                <a:chExt cx="48" cy="158"/>
              </a:xfrm>
            </p:grpSpPr>
            <p:sp>
              <p:nvSpPr>
                <p:cNvPr id="218641" name="Line 307"/>
                <p:cNvSpPr>
                  <a:spLocks noChangeShapeType="1"/>
                </p:cNvSpPr>
                <p:nvPr/>
              </p:nvSpPr>
              <p:spPr bwMode="auto">
                <a:xfrm rot="-5400000">
                  <a:off x="4589" y="271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18642" name="Line 308"/>
                <p:cNvSpPr>
                  <a:spLocks noChangeShapeType="1"/>
                </p:cNvSpPr>
                <p:nvPr/>
              </p:nvSpPr>
              <p:spPr bwMode="auto">
                <a:xfrm rot="-5400000">
                  <a:off x="4668" y="271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18671" name="Group 309"/>
          <p:cNvGrpSpPr/>
          <p:nvPr/>
        </p:nvGrpSpPr>
        <p:grpSpPr bwMode="auto">
          <a:xfrm>
            <a:off x="2678237" y="818307"/>
            <a:ext cx="7292975" cy="403225"/>
            <a:chOff x="1022" y="538"/>
            <a:chExt cx="4594" cy="254"/>
          </a:xfrm>
        </p:grpSpPr>
        <p:sp>
          <p:nvSpPr>
            <p:cNvPr id="218672" name="Line 310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673" name="Freeform 311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674" name="Line 312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675" name="Freeform 313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676" name="Line 314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677" name="Text Box 315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8678" name="Text Box 316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8679" name="Text Box 317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8680" name="Text Box 318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8681" name="Line 319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2" name="Line 320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3" name="Line 321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4" name="Line 322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5" name="Line 323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6" name="Line 324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7" name="Line 325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8688" name="Line 326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8690" name="Text Box 328"/>
          <p:cNvSpPr txBox="1">
            <a:spLocks noChangeArrowheads="1"/>
          </p:cNvSpPr>
          <p:nvPr/>
        </p:nvSpPr>
        <p:spPr bwMode="auto">
          <a:xfrm>
            <a:off x="250156" y="42044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18691" name="Group 329"/>
          <p:cNvGrpSpPr/>
          <p:nvPr/>
        </p:nvGrpSpPr>
        <p:grpSpPr bwMode="auto">
          <a:xfrm>
            <a:off x="2525837" y="1324720"/>
            <a:ext cx="7250113" cy="682625"/>
            <a:chOff x="902" y="857"/>
            <a:chExt cx="4567" cy="430"/>
          </a:xfrm>
        </p:grpSpPr>
        <p:grpSp>
          <p:nvGrpSpPr>
            <p:cNvPr id="218692" name="Group 330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18697" name="Group 331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18708" name="Rectangle 332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09" name="Rectangle 333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10" name="Rectangle 334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11" name="Rectangle 335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12" name="Rectangle 336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13" name="Rectangle 337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14" name="Rectangle 338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8715" name="Rectangle 339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18698" name="Group 340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18699" name="Freeform 341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0" name="Line 342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1" name="Line 343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2" name="Line 344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3" name="Line 345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4" name="Line 346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5" name="Line 347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6" name="Line 348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707" name="Line 349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8693" name="Text Box 350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694" name="Text Box 351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695" name="Text Box 352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696" name="Text Box 353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8716" name="Group 354"/>
          <p:cNvGrpSpPr/>
          <p:nvPr/>
        </p:nvGrpSpPr>
        <p:grpSpPr bwMode="auto">
          <a:xfrm>
            <a:off x="2922712" y="1572370"/>
            <a:ext cx="5934075" cy="434975"/>
            <a:chOff x="1156" y="1013"/>
            <a:chExt cx="3738" cy="274"/>
          </a:xfrm>
        </p:grpSpPr>
        <p:sp>
          <p:nvSpPr>
            <p:cNvPr id="218717" name="Rectangle 355"/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18" name="Rectangle 356"/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19" name="Rectangle 357"/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0" name="Rectangle 358"/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8721" name="Group 359"/>
          <p:cNvGrpSpPr/>
          <p:nvPr/>
        </p:nvGrpSpPr>
        <p:grpSpPr bwMode="auto">
          <a:xfrm>
            <a:off x="1316162" y="1034207"/>
            <a:ext cx="311150" cy="4778375"/>
            <a:chOff x="140" y="674"/>
            <a:chExt cx="196" cy="3010"/>
          </a:xfrm>
        </p:grpSpPr>
        <p:sp>
          <p:nvSpPr>
            <p:cNvPr id="218722" name="Text Box 360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3" name="Text Box 361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4" name="Text Box 362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5" name="Text Box 363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6" name="Text Box 364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7" name="Text Box 365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8" name="Text Box 366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29" name="Text Box 367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30" name="Text Box 368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31" name="Text Box 369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8732" name="Group 370"/>
          <p:cNvGrpSpPr/>
          <p:nvPr/>
        </p:nvGrpSpPr>
        <p:grpSpPr bwMode="auto">
          <a:xfrm>
            <a:off x="2994150" y="1873995"/>
            <a:ext cx="6062662" cy="2339975"/>
            <a:chOff x="1197" y="1203"/>
            <a:chExt cx="3819" cy="1474"/>
          </a:xfrm>
        </p:grpSpPr>
        <p:sp>
          <p:nvSpPr>
            <p:cNvPr id="218733" name="Freeform 371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26 w 145"/>
                <a:gd name="T1" fmla="*/ 0 h 1466"/>
                <a:gd name="T2" fmla="*/ 101 w 145"/>
                <a:gd name="T3" fmla="*/ 0 h 1466"/>
                <a:gd name="T4" fmla="*/ 100 w 145"/>
                <a:gd name="T5" fmla="*/ 1482 h 1466"/>
                <a:gd name="T6" fmla="*/ 0 w 145"/>
                <a:gd name="T7" fmla="*/ 1482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734" name="Text Box 372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35" name="Freeform 373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736" name="Text Box 374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37" name="Freeform 375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738" name="Text Box 376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8739" name="Freeform 377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8740" name="Text Box 378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18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1908994" y="1128674"/>
            <a:ext cx="914400" cy="50292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4125144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15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3617144" y="1377911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3210744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0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5936482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31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428482" y="1377911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5022082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16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9" name="Rectangle 9"/>
          <p:cNvSpPr>
            <a:spLocks noChangeArrowheads="1"/>
          </p:cNvSpPr>
          <p:nvPr/>
        </p:nvSpPr>
        <p:spPr bwMode="auto">
          <a:xfrm>
            <a:off x="7801794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47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7293794" y="1377911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1" name="Rectangle 11"/>
          <p:cNvSpPr>
            <a:spLocks noChangeArrowheads="1"/>
          </p:cNvSpPr>
          <p:nvPr/>
        </p:nvSpPr>
        <p:spPr bwMode="auto">
          <a:xfrm>
            <a:off x="6887394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32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2" name="Rectangle 12"/>
          <p:cNvSpPr>
            <a:spLocks noChangeArrowheads="1"/>
          </p:cNvSpPr>
          <p:nvPr/>
        </p:nvSpPr>
        <p:spPr bwMode="auto">
          <a:xfrm>
            <a:off x="9605194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63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3" name="Text Box 13"/>
          <p:cNvSpPr txBox="1">
            <a:spLocks noChangeArrowheads="1"/>
          </p:cNvSpPr>
          <p:nvPr/>
        </p:nvSpPr>
        <p:spPr bwMode="auto">
          <a:xfrm>
            <a:off x="9097194" y="1377911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4" name="Rectangle 14"/>
          <p:cNvSpPr>
            <a:spLocks noChangeArrowheads="1"/>
          </p:cNvSpPr>
          <p:nvPr/>
        </p:nvSpPr>
        <p:spPr bwMode="auto">
          <a:xfrm>
            <a:off x="8690794" y="1606511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48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5" name="Rectangle 15"/>
          <p:cNvSpPr>
            <a:spLocks noChangeArrowheads="1"/>
          </p:cNvSpPr>
          <p:nvPr/>
        </p:nvSpPr>
        <p:spPr bwMode="auto">
          <a:xfrm>
            <a:off x="4125144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15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6" name="Rectangle 16"/>
          <p:cNvSpPr>
            <a:spLocks noChangeArrowheads="1"/>
          </p:cNvSpPr>
          <p:nvPr/>
        </p:nvSpPr>
        <p:spPr bwMode="auto">
          <a:xfrm>
            <a:off x="3210744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0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7" name="Rectangle 17"/>
          <p:cNvSpPr>
            <a:spLocks noChangeArrowheads="1"/>
          </p:cNvSpPr>
          <p:nvPr/>
        </p:nvSpPr>
        <p:spPr bwMode="auto">
          <a:xfrm>
            <a:off x="5936482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31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8" name="Rectangle 18"/>
          <p:cNvSpPr>
            <a:spLocks noChangeArrowheads="1"/>
          </p:cNvSpPr>
          <p:nvPr/>
        </p:nvSpPr>
        <p:spPr bwMode="auto">
          <a:xfrm>
            <a:off x="5022082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16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19" name="Rectangle 19"/>
          <p:cNvSpPr>
            <a:spLocks noChangeArrowheads="1"/>
          </p:cNvSpPr>
          <p:nvPr/>
        </p:nvSpPr>
        <p:spPr bwMode="auto">
          <a:xfrm>
            <a:off x="7801794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47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0" name="Rectangle 20"/>
          <p:cNvSpPr>
            <a:spLocks noChangeArrowheads="1"/>
          </p:cNvSpPr>
          <p:nvPr/>
        </p:nvSpPr>
        <p:spPr bwMode="auto">
          <a:xfrm>
            <a:off x="6887394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32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" name="Rectangle 21"/>
          <p:cNvSpPr>
            <a:spLocks noChangeArrowheads="1"/>
          </p:cNvSpPr>
          <p:nvPr/>
        </p:nvSpPr>
        <p:spPr bwMode="auto">
          <a:xfrm>
            <a:off x="9605194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63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2" name="Rectangle 22"/>
          <p:cNvSpPr>
            <a:spLocks noChangeArrowheads="1"/>
          </p:cNvSpPr>
          <p:nvPr/>
        </p:nvSpPr>
        <p:spPr bwMode="auto">
          <a:xfrm>
            <a:off x="8690794" y="3513099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48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3" name="Line 23"/>
          <p:cNvSpPr>
            <a:spLocks noChangeShapeType="1"/>
          </p:cNvSpPr>
          <p:nvPr/>
        </p:nvSpPr>
        <p:spPr bwMode="auto">
          <a:xfrm rot="5400000">
            <a:off x="3485381" y="4302087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 rot="5400000">
            <a:off x="3458394" y="4298911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5" name="Freeform 25"/>
          <p:cNvSpPr/>
          <p:nvPr/>
        </p:nvSpPr>
        <p:spPr bwMode="auto">
          <a:xfrm>
            <a:off x="3382194" y="4297324"/>
            <a:ext cx="152400" cy="3175"/>
          </a:xfrm>
          <a:custGeom>
            <a:avLst/>
            <a:gdLst>
              <a:gd name="T0" fmla="*/ 0 w 96"/>
              <a:gd name="T1" fmla="*/ 5040313 h 2"/>
              <a:gd name="T2" fmla="*/ 241935000 w 96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 rot="16200000">
            <a:off x="3180581" y="4302087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 rot="16200000">
            <a:off x="3305994" y="4305261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" name="Freeform 28"/>
          <p:cNvSpPr/>
          <p:nvPr/>
        </p:nvSpPr>
        <p:spPr bwMode="auto">
          <a:xfrm>
            <a:off x="3658419" y="3732174"/>
            <a:ext cx="177800" cy="1587"/>
          </a:xfrm>
          <a:custGeom>
            <a:avLst/>
            <a:gdLst>
              <a:gd name="T0" fmla="*/ 0 w 112"/>
              <a:gd name="T1" fmla="*/ 0 h 1"/>
              <a:gd name="T2" fmla="*/ 282257500 w 112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12" h="1">
                <a:moveTo>
                  <a:pt x="0" y="0"/>
                </a:moveTo>
                <a:lnTo>
                  <a:pt x="112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9" name="Freeform 29"/>
          <p:cNvSpPr/>
          <p:nvPr/>
        </p:nvSpPr>
        <p:spPr bwMode="auto">
          <a:xfrm>
            <a:off x="3063107" y="1916074"/>
            <a:ext cx="241300" cy="2332037"/>
          </a:xfrm>
          <a:custGeom>
            <a:avLst/>
            <a:gdLst>
              <a:gd name="T0" fmla="*/ 383063750 w 152"/>
              <a:gd name="T1" fmla="*/ 2147483646 h 1469"/>
              <a:gd name="T2" fmla="*/ 0 w 152"/>
              <a:gd name="T3" fmla="*/ 2147483646 h 1469"/>
              <a:gd name="T4" fmla="*/ 0 w 152"/>
              <a:gd name="T5" fmla="*/ 0 h 1469"/>
              <a:gd name="T6" fmla="*/ 239415638 w 152"/>
              <a:gd name="T7" fmla="*/ 2519362 h 14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2" h="1469">
                <a:moveTo>
                  <a:pt x="152" y="1469"/>
                </a:moveTo>
                <a:lnTo>
                  <a:pt x="0" y="1469"/>
                </a:lnTo>
                <a:lnTo>
                  <a:pt x="0" y="0"/>
                </a:lnTo>
                <a:lnTo>
                  <a:pt x="95" y="1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0" name="Freeform 30"/>
          <p:cNvSpPr/>
          <p:nvPr/>
        </p:nvSpPr>
        <p:spPr bwMode="auto">
          <a:xfrm>
            <a:off x="3056757" y="3732174"/>
            <a:ext cx="161925" cy="1587"/>
          </a:xfrm>
          <a:custGeom>
            <a:avLst/>
            <a:gdLst>
              <a:gd name="T0" fmla="*/ 257055938 w 102"/>
              <a:gd name="T1" fmla="*/ 0 h 1"/>
              <a:gd name="T2" fmla="*/ 0 w 102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2" h="1">
                <a:moveTo>
                  <a:pt x="102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1" name="Line 31"/>
          <p:cNvSpPr>
            <a:spLocks noChangeShapeType="1"/>
          </p:cNvSpPr>
          <p:nvPr/>
        </p:nvSpPr>
        <p:spPr bwMode="auto">
          <a:xfrm rot="5400000">
            <a:off x="4391844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2" name="Line 32"/>
          <p:cNvSpPr>
            <a:spLocks noChangeShapeType="1"/>
          </p:cNvSpPr>
          <p:nvPr/>
        </p:nvSpPr>
        <p:spPr bwMode="auto">
          <a:xfrm rot="5400000">
            <a:off x="4364857" y="430049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3" name="Freeform 33"/>
          <p:cNvSpPr/>
          <p:nvPr/>
        </p:nvSpPr>
        <p:spPr bwMode="auto">
          <a:xfrm>
            <a:off x="4288657" y="4298911"/>
            <a:ext cx="152400" cy="3175"/>
          </a:xfrm>
          <a:custGeom>
            <a:avLst/>
            <a:gdLst>
              <a:gd name="T0" fmla="*/ 0 w 96"/>
              <a:gd name="T1" fmla="*/ 5040313 h 2"/>
              <a:gd name="T2" fmla="*/ 241935000 w 96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4" name="Line 34"/>
          <p:cNvSpPr>
            <a:spLocks noChangeShapeType="1"/>
          </p:cNvSpPr>
          <p:nvPr/>
        </p:nvSpPr>
        <p:spPr bwMode="auto">
          <a:xfrm rot="16200000">
            <a:off x="4087044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5" name="Line 35"/>
          <p:cNvSpPr>
            <a:spLocks noChangeShapeType="1"/>
          </p:cNvSpPr>
          <p:nvPr/>
        </p:nvSpPr>
        <p:spPr bwMode="auto">
          <a:xfrm rot="16200000">
            <a:off x="4212457" y="430684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6" name="Freeform 36"/>
          <p:cNvSpPr/>
          <p:nvPr/>
        </p:nvSpPr>
        <p:spPr bwMode="auto">
          <a:xfrm>
            <a:off x="4564882" y="3732174"/>
            <a:ext cx="163512" cy="1587"/>
          </a:xfrm>
          <a:custGeom>
            <a:avLst/>
            <a:gdLst>
              <a:gd name="T0" fmla="*/ 0 w 103"/>
              <a:gd name="T1" fmla="*/ 0 h 1"/>
              <a:gd name="T2" fmla="*/ 259574506 w 103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3" h="1">
                <a:moveTo>
                  <a:pt x="0" y="0"/>
                </a:moveTo>
                <a:lnTo>
                  <a:pt x="103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7" name="Freeform 37"/>
          <p:cNvSpPr/>
          <p:nvPr/>
        </p:nvSpPr>
        <p:spPr bwMode="auto">
          <a:xfrm>
            <a:off x="3939407" y="3730586"/>
            <a:ext cx="179387" cy="1588"/>
          </a:xfrm>
          <a:custGeom>
            <a:avLst/>
            <a:gdLst>
              <a:gd name="T0" fmla="*/ 284776069 w 113"/>
              <a:gd name="T1" fmla="*/ 2521744 h 1"/>
              <a:gd name="T2" fmla="*/ 0 w 113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13" h="1">
                <a:moveTo>
                  <a:pt x="113" y="1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8" name="Line 38"/>
          <p:cNvSpPr>
            <a:spLocks noChangeShapeType="1"/>
          </p:cNvSpPr>
          <p:nvPr/>
        </p:nvSpPr>
        <p:spPr bwMode="auto">
          <a:xfrm rot="5400000">
            <a:off x="5314181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9" name="Line 39"/>
          <p:cNvSpPr>
            <a:spLocks noChangeShapeType="1"/>
          </p:cNvSpPr>
          <p:nvPr/>
        </p:nvSpPr>
        <p:spPr bwMode="auto">
          <a:xfrm rot="5400000">
            <a:off x="5287194" y="430049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0" name="Freeform 40"/>
          <p:cNvSpPr/>
          <p:nvPr/>
        </p:nvSpPr>
        <p:spPr bwMode="auto">
          <a:xfrm>
            <a:off x="5210994" y="4298911"/>
            <a:ext cx="152400" cy="3175"/>
          </a:xfrm>
          <a:custGeom>
            <a:avLst/>
            <a:gdLst>
              <a:gd name="T0" fmla="*/ 0 w 96"/>
              <a:gd name="T1" fmla="*/ 5040313 h 2"/>
              <a:gd name="T2" fmla="*/ 241935000 w 96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1" name="Line 41"/>
          <p:cNvSpPr>
            <a:spLocks noChangeShapeType="1"/>
          </p:cNvSpPr>
          <p:nvPr/>
        </p:nvSpPr>
        <p:spPr bwMode="auto">
          <a:xfrm rot="16200000">
            <a:off x="5009381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2" name="Line 42"/>
          <p:cNvSpPr>
            <a:spLocks noChangeShapeType="1"/>
          </p:cNvSpPr>
          <p:nvPr/>
        </p:nvSpPr>
        <p:spPr bwMode="auto">
          <a:xfrm rot="16200000">
            <a:off x="5134794" y="430684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3" name="Freeform 43"/>
          <p:cNvSpPr/>
          <p:nvPr/>
        </p:nvSpPr>
        <p:spPr bwMode="auto">
          <a:xfrm>
            <a:off x="5487219" y="3732174"/>
            <a:ext cx="173038" cy="1587"/>
          </a:xfrm>
          <a:custGeom>
            <a:avLst/>
            <a:gdLst>
              <a:gd name="T0" fmla="*/ 0 w 109"/>
              <a:gd name="T1" fmla="*/ 0 h 1"/>
              <a:gd name="T2" fmla="*/ 274698619 w 109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9" h="1">
                <a:moveTo>
                  <a:pt x="0" y="0"/>
                </a:moveTo>
                <a:lnTo>
                  <a:pt x="109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4" name="Freeform 44"/>
          <p:cNvSpPr/>
          <p:nvPr/>
        </p:nvSpPr>
        <p:spPr bwMode="auto">
          <a:xfrm>
            <a:off x="4885557" y="3732174"/>
            <a:ext cx="141287" cy="1587"/>
          </a:xfrm>
          <a:custGeom>
            <a:avLst/>
            <a:gdLst>
              <a:gd name="T0" fmla="*/ 224292319 w 89"/>
              <a:gd name="T1" fmla="*/ 0 h 1"/>
              <a:gd name="T2" fmla="*/ 0 w 89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9" h="1">
                <a:moveTo>
                  <a:pt x="89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5" name="Line 45"/>
          <p:cNvSpPr>
            <a:spLocks noChangeShapeType="1"/>
          </p:cNvSpPr>
          <p:nvPr/>
        </p:nvSpPr>
        <p:spPr bwMode="auto">
          <a:xfrm rot="5400000">
            <a:off x="6228581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6" name="Line 46"/>
          <p:cNvSpPr>
            <a:spLocks noChangeShapeType="1"/>
          </p:cNvSpPr>
          <p:nvPr/>
        </p:nvSpPr>
        <p:spPr bwMode="auto">
          <a:xfrm rot="5400000">
            <a:off x="6201594" y="430049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7" name="Freeform 47"/>
          <p:cNvSpPr/>
          <p:nvPr/>
        </p:nvSpPr>
        <p:spPr bwMode="auto">
          <a:xfrm>
            <a:off x="6125394" y="4298911"/>
            <a:ext cx="152400" cy="3175"/>
          </a:xfrm>
          <a:custGeom>
            <a:avLst/>
            <a:gdLst>
              <a:gd name="T0" fmla="*/ 0 w 96"/>
              <a:gd name="T1" fmla="*/ 5040313 h 2"/>
              <a:gd name="T2" fmla="*/ 241935000 w 96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8" name="Line 48"/>
          <p:cNvSpPr>
            <a:spLocks noChangeShapeType="1"/>
          </p:cNvSpPr>
          <p:nvPr/>
        </p:nvSpPr>
        <p:spPr bwMode="auto">
          <a:xfrm rot="16200000">
            <a:off x="5923781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9" name="Line 49"/>
          <p:cNvSpPr>
            <a:spLocks noChangeShapeType="1"/>
          </p:cNvSpPr>
          <p:nvPr/>
        </p:nvSpPr>
        <p:spPr bwMode="auto">
          <a:xfrm rot="16200000">
            <a:off x="6049194" y="430684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0" name="Freeform 50"/>
          <p:cNvSpPr/>
          <p:nvPr/>
        </p:nvSpPr>
        <p:spPr bwMode="auto">
          <a:xfrm>
            <a:off x="6401619" y="3732174"/>
            <a:ext cx="182563" cy="1587"/>
          </a:xfrm>
          <a:custGeom>
            <a:avLst/>
            <a:gdLst>
              <a:gd name="T0" fmla="*/ 0 w 115"/>
              <a:gd name="T1" fmla="*/ 0 h 1"/>
              <a:gd name="T2" fmla="*/ 289819556 w 115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15" h="1">
                <a:moveTo>
                  <a:pt x="0" y="0"/>
                </a:moveTo>
                <a:lnTo>
                  <a:pt x="115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51" name="Freeform 51"/>
          <p:cNvSpPr/>
          <p:nvPr/>
        </p:nvSpPr>
        <p:spPr bwMode="auto">
          <a:xfrm>
            <a:off x="5799957" y="3732174"/>
            <a:ext cx="142875" cy="1587"/>
          </a:xfrm>
          <a:custGeom>
            <a:avLst/>
            <a:gdLst>
              <a:gd name="T0" fmla="*/ 226814063 w 90"/>
              <a:gd name="T1" fmla="*/ 0 h 1"/>
              <a:gd name="T2" fmla="*/ 0 w 90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0" h="1">
                <a:moveTo>
                  <a:pt x="90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52" name="Line 52"/>
          <p:cNvSpPr>
            <a:spLocks noChangeShapeType="1"/>
          </p:cNvSpPr>
          <p:nvPr/>
        </p:nvSpPr>
        <p:spPr bwMode="auto">
          <a:xfrm rot="5400000">
            <a:off x="7142981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3" name="Line 53"/>
          <p:cNvSpPr>
            <a:spLocks noChangeShapeType="1"/>
          </p:cNvSpPr>
          <p:nvPr/>
        </p:nvSpPr>
        <p:spPr bwMode="auto">
          <a:xfrm rot="5400000">
            <a:off x="7115994" y="430049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4" name="Freeform 54"/>
          <p:cNvSpPr/>
          <p:nvPr/>
        </p:nvSpPr>
        <p:spPr bwMode="auto">
          <a:xfrm>
            <a:off x="7039794" y="4298911"/>
            <a:ext cx="152400" cy="3175"/>
          </a:xfrm>
          <a:custGeom>
            <a:avLst/>
            <a:gdLst>
              <a:gd name="T0" fmla="*/ 0 w 96"/>
              <a:gd name="T1" fmla="*/ 5040313 h 2"/>
              <a:gd name="T2" fmla="*/ 241935000 w 96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5" name="Line 55"/>
          <p:cNvSpPr>
            <a:spLocks noChangeShapeType="1"/>
          </p:cNvSpPr>
          <p:nvPr/>
        </p:nvSpPr>
        <p:spPr bwMode="auto">
          <a:xfrm rot="16200000">
            <a:off x="6838181" y="4303674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6" name="Line 56"/>
          <p:cNvSpPr>
            <a:spLocks noChangeShapeType="1"/>
          </p:cNvSpPr>
          <p:nvPr/>
        </p:nvSpPr>
        <p:spPr bwMode="auto">
          <a:xfrm rot="16200000">
            <a:off x="6963594" y="4306849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" name="Freeform 57"/>
          <p:cNvSpPr/>
          <p:nvPr/>
        </p:nvSpPr>
        <p:spPr bwMode="auto">
          <a:xfrm>
            <a:off x="7336657" y="3730586"/>
            <a:ext cx="158750" cy="1588"/>
          </a:xfrm>
          <a:custGeom>
            <a:avLst/>
            <a:gdLst>
              <a:gd name="T0" fmla="*/ 0 w 100"/>
              <a:gd name="T1" fmla="*/ 0 h 1"/>
              <a:gd name="T2" fmla="*/ 252015625 w 100"/>
              <a:gd name="T3" fmla="*/ 2521744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" h="1">
                <a:moveTo>
                  <a:pt x="0" y="0"/>
                </a:moveTo>
                <a:lnTo>
                  <a:pt x="100" y="1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58" name="Freeform 58"/>
          <p:cNvSpPr/>
          <p:nvPr/>
        </p:nvSpPr>
        <p:spPr bwMode="auto">
          <a:xfrm>
            <a:off x="6714357" y="3732174"/>
            <a:ext cx="171450" cy="1587"/>
          </a:xfrm>
          <a:custGeom>
            <a:avLst/>
            <a:gdLst>
              <a:gd name="T0" fmla="*/ 272176875 w 108"/>
              <a:gd name="T1" fmla="*/ 0 h 1"/>
              <a:gd name="T2" fmla="*/ 0 w 108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8" h="1">
                <a:moveTo>
                  <a:pt x="108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59" name="Line 59"/>
          <p:cNvSpPr>
            <a:spLocks noChangeShapeType="1"/>
          </p:cNvSpPr>
          <p:nvPr/>
        </p:nvSpPr>
        <p:spPr bwMode="auto">
          <a:xfrm rot="5400000">
            <a:off x="8057381" y="4279862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0" name="Line 60"/>
          <p:cNvSpPr>
            <a:spLocks noChangeShapeType="1"/>
          </p:cNvSpPr>
          <p:nvPr/>
        </p:nvSpPr>
        <p:spPr bwMode="auto">
          <a:xfrm rot="5400000">
            <a:off x="8030394" y="4276686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1" name="Freeform 61"/>
          <p:cNvSpPr/>
          <p:nvPr/>
        </p:nvSpPr>
        <p:spPr bwMode="auto">
          <a:xfrm>
            <a:off x="7954194" y="4275099"/>
            <a:ext cx="152400" cy="3175"/>
          </a:xfrm>
          <a:custGeom>
            <a:avLst/>
            <a:gdLst>
              <a:gd name="T0" fmla="*/ 0 w 96"/>
              <a:gd name="T1" fmla="*/ 5040313 h 2"/>
              <a:gd name="T2" fmla="*/ 241935000 w 96"/>
              <a:gd name="T3" fmla="*/ 0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2" name="Line 62"/>
          <p:cNvSpPr>
            <a:spLocks noChangeShapeType="1"/>
          </p:cNvSpPr>
          <p:nvPr/>
        </p:nvSpPr>
        <p:spPr bwMode="auto">
          <a:xfrm rot="16200000">
            <a:off x="7752581" y="4279862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3" name="Line 63"/>
          <p:cNvSpPr>
            <a:spLocks noChangeShapeType="1"/>
          </p:cNvSpPr>
          <p:nvPr/>
        </p:nvSpPr>
        <p:spPr bwMode="auto">
          <a:xfrm rot="16200000">
            <a:off x="7877994" y="4283036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0943" name="Freeform 64"/>
          <p:cNvSpPr/>
          <p:nvPr/>
        </p:nvSpPr>
        <p:spPr bwMode="auto">
          <a:xfrm>
            <a:off x="8265344" y="3728999"/>
            <a:ext cx="142875" cy="3175"/>
          </a:xfrm>
          <a:custGeom>
            <a:avLst/>
            <a:gdLst>
              <a:gd name="T0" fmla="*/ 0 w 90"/>
              <a:gd name="T1" fmla="*/ 0 h 2"/>
              <a:gd name="T2" fmla="*/ 226814063 w 90"/>
              <a:gd name="T3" fmla="*/ 5040313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0" h="2">
                <a:moveTo>
                  <a:pt x="0" y="0"/>
                </a:moveTo>
                <a:lnTo>
                  <a:pt x="90" y="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0950" name="Freeform 65"/>
          <p:cNvSpPr/>
          <p:nvPr/>
        </p:nvSpPr>
        <p:spPr bwMode="auto">
          <a:xfrm>
            <a:off x="7628757" y="3732174"/>
            <a:ext cx="165100" cy="1587"/>
          </a:xfrm>
          <a:custGeom>
            <a:avLst/>
            <a:gdLst>
              <a:gd name="T0" fmla="*/ 262096250 w 104"/>
              <a:gd name="T1" fmla="*/ 0 h 1"/>
              <a:gd name="T2" fmla="*/ 0 w 104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4" h="1">
                <a:moveTo>
                  <a:pt x="104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31100" name="Group 66"/>
          <p:cNvGrpSpPr/>
          <p:nvPr/>
        </p:nvGrpSpPr>
        <p:grpSpPr bwMode="auto">
          <a:xfrm>
            <a:off x="8792394" y="4178261"/>
            <a:ext cx="304800" cy="250825"/>
            <a:chOff x="4692" y="2634"/>
            <a:chExt cx="192" cy="158"/>
          </a:xfrm>
        </p:grpSpPr>
        <p:grpSp>
          <p:nvGrpSpPr>
            <p:cNvPr id="31101" name="Group 67"/>
            <p:cNvGrpSpPr/>
            <p:nvPr/>
          </p:nvGrpSpPr>
          <p:grpSpPr bwMode="auto">
            <a:xfrm>
              <a:off x="4836" y="2634"/>
              <a:ext cx="48" cy="158"/>
              <a:chOff x="4836" y="2634"/>
              <a:chExt cx="48" cy="158"/>
            </a:xfrm>
          </p:grpSpPr>
          <p:sp>
            <p:nvSpPr>
              <p:cNvPr id="219392" name="Line 68"/>
              <p:cNvSpPr>
                <a:spLocks noChangeShapeType="1"/>
              </p:cNvSpPr>
              <p:nvPr/>
            </p:nvSpPr>
            <p:spPr bwMode="auto">
              <a:xfrm rot="5400000">
                <a:off x="480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393" name="Line 69"/>
              <p:cNvSpPr>
                <a:spLocks noChangeShapeType="1"/>
              </p:cNvSpPr>
              <p:nvPr/>
            </p:nvSpPr>
            <p:spPr bwMode="auto">
              <a:xfrm rot="5400000">
                <a:off x="4788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31102" name="Freeform 70"/>
            <p:cNvSpPr/>
            <p:nvPr/>
          </p:nvSpPr>
          <p:spPr bwMode="auto">
            <a:xfrm>
              <a:off x="4740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31103" name="Group 71"/>
            <p:cNvGrpSpPr/>
            <p:nvPr/>
          </p:nvGrpSpPr>
          <p:grpSpPr bwMode="auto">
            <a:xfrm>
              <a:off x="4692" y="2634"/>
              <a:ext cx="48" cy="158"/>
              <a:chOff x="4692" y="2634"/>
              <a:chExt cx="48" cy="158"/>
            </a:xfrm>
          </p:grpSpPr>
          <p:sp>
            <p:nvSpPr>
              <p:cNvPr id="30720" name="Line 72"/>
              <p:cNvSpPr>
                <a:spLocks noChangeShapeType="1"/>
              </p:cNvSpPr>
              <p:nvPr/>
            </p:nvSpPr>
            <p:spPr bwMode="auto">
              <a:xfrm rot="-5400000">
                <a:off x="461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0721" name="Line 73"/>
              <p:cNvSpPr>
                <a:spLocks noChangeShapeType="1"/>
              </p:cNvSpPr>
              <p:nvPr/>
            </p:nvSpPr>
            <p:spPr bwMode="auto">
              <a:xfrm rot="-5400000">
                <a:off x="4692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19394" name="Freeform 74"/>
          <p:cNvSpPr/>
          <p:nvPr/>
        </p:nvSpPr>
        <p:spPr bwMode="auto">
          <a:xfrm>
            <a:off x="9144819" y="3732174"/>
            <a:ext cx="169863" cy="1587"/>
          </a:xfrm>
          <a:custGeom>
            <a:avLst/>
            <a:gdLst>
              <a:gd name="T0" fmla="*/ 0 w 107"/>
              <a:gd name="T1" fmla="*/ 0 h 1"/>
              <a:gd name="T2" fmla="*/ 269658306 w 107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7" h="1">
                <a:moveTo>
                  <a:pt x="0" y="0"/>
                </a:moveTo>
                <a:lnTo>
                  <a:pt x="10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395" name="Freeform 75"/>
          <p:cNvSpPr/>
          <p:nvPr/>
        </p:nvSpPr>
        <p:spPr bwMode="auto">
          <a:xfrm>
            <a:off x="8543157" y="3732174"/>
            <a:ext cx="152400" cy="1587"/>
          </a:xfrm>
          <a:custGeom>
            <a:avLst/>
            <a:gdLst>
              <a:gd name="T0" fmla="*/ 241935000 w 96"/>
              <a:gd name="T1" fmla="*/ 0 h 1"/>
              <a:gd name="T2" fmla="*/ 0 w 96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1">
                <a:moveTo>
                  <a:pt x="96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219396" name="Group 76"/>
          <p:cNvGrpSpPr/>
          <p:nvPr/>
        </p:nvGrpSpPr>
        <p:grpSpPr bwMode="auto">
          <a:xfrm>
            <a:off x="9692507" y="4178261"/>
            <a:ext cx="304800" cy="250825"/>
            <a:chOff x="5259" y="2634"/>
            <a:chExt cx="192" cy="158"/>
          </a:xfrm>
        </p:grpSpPr>
        <p:grpSp>
          <p:nvGrpSpPr>
            <p:cNvPr id="219397" name="Group 77"/>
            <p:cNvGrpSpPr/>
            <p:nvPr/>
          </p:nvGrpSpPr>
          <p:grpSpPr bwMode="auto">
            <a:xfrm>
              <a:off x="5403" y="2634"/>
              <a:ext cx="48" cy="158"/>
              <a:chOff x="5403" y="2634"/>
              <a:chExt cx="48" cy="158"/>
            </a:xfrm>
          </p:grpSpPr>
          <p:sp>
            <p:nvSpPr>
              <p:cNvPr id="219402" name="Line 78"/>
              <p:cNvSpPr>
                <a:spLocks noChangeShapeType="1"/>
              </p:cNvSpPr>
              <p:nvPr/>
            </p:nvSpPr>
            <p:spPr bwMode="auto">
              <a:xfrm rot="5400000">
                <a:off x="5372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403" name="Line 79"/>
              <p:cNvSpPr>
                <a:spLocks noChangeShapeType="1"/>
              </p:cNvSpPr>
              <p:nvPr/>
            </p:nvSpPr>
            <p:spPr bwMode="auto">
              <a:xfrm rot="5400000">
                <a:off x="5355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9398" name="Freeform 80"/>
            <p:cNvSpPr/>
            <p:nvPr/>
          </p:nvSpPr>
          <p:spPr bwMode="auto">
            <a:xfrm>
              <a:off x="5307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9399" name="Group 81"/>
            <p:cNvGrpSpPr/>
            <p:nvPr/>
          </p:nvGrpSpPr>
          <p:grpSpPr bwMode="auto">
            <a:xfrm>
              <a:off x="5259" y="2634"/>
              <a:ext cx="48" cy="158"/>
              <a:chOff x="5259" y="2634"/>
              <a:chExt cx="48" cy="158"/>
            </a:xfrm>
          </p:grpSpPr>
          <p:sp>
            <p:nvSpPr>
              <p:cNvPr id="219400" name="Line 82"/>
              <p:cNvSpPr>
                <a:spLocks noChangeShapeType="1"/>
              </p:cNvSpPr>
              <p:nvPr/>
            </p:nvSpPr>
            <p:spPr bwMode="auto">
              <a:xfrm rot="-5400000">
                <a:off x="518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401" name="Line 83"/>
              <p:cNvSpPr>
                <a:spLocks noChangeShapeType="1"/>
              </p:cNvSpPr>
              <p:nvPr/>
            </p:nvSpPr>
            <p:spPr bwMode="auto">
              <a:xfrm rot="-5400000">
                <a:off x="5259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19404" name="Freeform 84"/>
          <p:cNvSpPr/>
          <p:nvPr/>
        </p:nvSpPr>
        <p:spPr bwMode="auto">
          <a:xfrm>
            <a:off x="10060807" y="3728999"/>
            <a:ext cx="152400" cy="3175"/>
          </a:xfrm>
          <a:custGeom>
            <a:avLst/>
            <a:gdLst>
              <a:gd name="T0" fmla="*/ 0 w 96"/>
              <a:gd name="T1" fmla="*/ 0 h 2"/>
              <a:gd name="T2" fmla="*/ 241935000 w 96"/>
              <a:gd name="T3" fmla="*/ 5040313 h 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6" h="2">
                <a:moveTo>
                  <a:pt x="0" y="0"/>
                </a:moveTo>
                <a:lnTo>
                  <a:pt x="96" y="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05" name="Freeform 85"/>
          <p:cNvSpPr/>
          <p:nvPr/>
        </p:nvSpPr>
        <p:spPr bwMode="auto">
          <a:xfrm>
            <a:off x="9443269" y="3732174"/>
            <a:ext cx="160338" cy="1587"/>
          </a:xfrm>
          <a:custGeom>
            <a:avLst/>
            <a:gdLst>
              <a:gd name="T0" fmla="*/ 254537369 w 101"/>
              <a:gd name="T1" fmla="*/ 0 h 1"/>
              <a:gd name="T2" fmla="*/ 0 w 101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1" h="1">
                <a:moveTo>
                  <a:pt x="101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06" name="Freeform 86"/>
          <p:cNvSpPr/>
          <p:nvPr/>
        </p:nvSpPr>
        <p:spPr bwMode="auto">
          <a:xfrm>
            <a:off x="2823394" y="1355686"/>
            <a:ext cx="7015163" cy="1588"/>
          </a:xfrm>
          <a:custGeom>
            <a:avLst/>
            <a:gdLst>
              <a:gd name="T0" fmla="*/ 0 w 4419"/>
              <a:gd name="T1" fmla="*/ 2521744 h 1"/>
              <a:gd name="T2" fmla="*/ 2147483646 w 4419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419" h="1">
                <a:moveTo>
                  <a:pt x="0" y="1"/>
                </a:moveTo>
                <a:lnTo>
                  <a:pt x="4419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07" name="Line 87"/>
          <p:cNvSpPr>
            <a:spLocks noChangeShapeType="1"/>
          </p:cNvSpPr>
          <p:nvPr/>
        </p:nvSpPr>
        <p:spPr bwMode="auto">
          <a:xfrm>
            <a:off x="34329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08" name="Line 88"/>
          <p:cNvSpPr>
            <a:spLocks noChangeShapeType="1"/>
          </p:cNvSpPr>
          <p:nvPr/>
        </p:nvSpPr>
        <p:spPr bwMode="auto">
          <a:xfrm>
            <a:off x="43473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09" name="Line 89"/>
          <p:cNvSpPr>
            <a:spLocks noChangeShapeType="1"/>
          </p:cNvSpPr>
          <p:nvPr/>
        </p:nvSpPr>
        <p:spPr bwMode="auto">
          <a:xfrm>
            <a:off x="52617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0" name="Line 90"/>
          <p:cNvSpPr>
            <a:spLocks noChangeShapeType="1"/>
          </p:cNvSpPr>
          <p:nvPr/>
        </p:nvSpPr>
        <p:spPr bwMode="auto">
          <a:xfrm>
            <a:off x="61761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1" name="Line 91"/>
          <p:cNvSpPr>
            <a:spLocks noChangeShapeType="1"/>
          </p:cNvSpPr>
          <p:nvPr/>
        </p:nvSpPr>
        <p:spPr bwMode="auto">
          <a:xfrm>
            <a:off x="70905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2" name="Line 92"/>
          <p:cNvSpPr>
            <a:spLocks noChangeShapeType="1"/>
          </p:cNvSpPr>
          <p:nvPr/>
        </p:nvSpPr>
        <p:spPr bwMode="auto">
          <a:xfrm>
            <a:off x="80049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3" name="Line 93"/>
          <p:cNvSpPr>
            <a:spLocks noChangeShapeType="1"/>
          </p:cNvSpPr>
          <p:nvPr/>
        </p:nvSpPr>
        <p:spPr bwMode="auto">
          <a:xfrm>
            <a:off x="89193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4" name="Line 94"/>
          <p:cNvSpPr>
            <a:spLocks noChangeShapeType="1"/>
          </p:cNvSpPr>
          <p:nvPr/>
        </p:nvSpPr>
        <p:spPr bwMode="auto">
          <a:xfrm>
            <a:off x="9833794" y="1357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5" name="Freeform 95"/>
          <p:cNvSpPr/>
          <p:nvPr/>
        </p:nvSpPr>
        <p:spPr bwMode="auto">
          <a:xfrm>
            <a:off x="3453632" y="4295736"/>
            <a:ext cx="1587" cy="263525"/>
          </a:xfrm>
          <a:custGeom>
            <a:avLst/>
            <a:gdLst>
              <a:gd name="T0" fmla="*/ 2518569 w 1"/>
              <a:gd name="T1" fmla="*/ 0 h 166"/>
              <a:gd name="T2" fmla="*/ 0 w 1"/>
              <a:gd name="T3" fmla="*/ 418345938 h 1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66">
                <a:moveTo>
                  <a:pt x="1" y="0"/>
                </a:moveTo>
                <a:lnTo>
                  <a:pt x="0" y="1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6" name="Freeform 96"/>
          <p:cNvSpPr/>
          <p:nvPr/>
        </p:nvSpPr>
        <p:spPr bwMode="auto">
          <a:xfrm>
            <a:off x="4366444" y="4295736"/>
            <a:ext cx="74613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1558035799 h 40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7" name="Freeform 97"/>
          <p:cNvSpPr/>
          <p:nvPr/>
        </p:nvSpPr>
        <p:spPr bwMode="auto">
          <a:xfrm>
            <a:off x="5277669" y="4295736"/>
            <a:ext cx="6350" cy="263525"/>
          </a:xfrm>
          <a:custGeom>
            <a:avLst/>
            <a:gdLst>
              <a:gd name="T0" fmla="*/ 10080625 w 4"/>
              <a:gd name="T1" fmla="*/ 0 h 166"/>
              <a:gd name="T2" fmla="*/ 0 w 4"/>
              <a:gd name="T3" fmla="*/ 418345938 h 1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" h="166">
                <a:moveTo>
                  <a:pt x="4" y="0"/>
                </a:moveTo>
                <a:lnTo>
                  <a:pt x="0" y="1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8" name="Freeform 98"/>
          <p:cNvSpPr/>
          <p:nvPr/>
        </p:nvSpPr>
        <p:spPr bwMode="auto">
          <a:xfrm>
            <a:off x="7106469" y="4295736"/>
            <a:ext cx="3175" cy="277813"/>
          </a:xfrm>
          <a:custGeom>
            <a:avLst/>
            <a:gdLst>
              <a:gd name="T0" fmla="*/ 5040313 w 2"/>
              <a:gd name="T1" fmla="*/ 0 h 175"/>
              <a:gd name="T2" fmla="*/ 0 w 2"/>
              <a:gd name="T3" fmla="*/ 441028931 h 17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" h="175">
                <a:moveTo>
                  <a:pt x="2" y="0"/>
                </a:moveTo>
                <a:lnTo>
                  <a:pt x="0" y="175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19" name="Freeform 99"/>
          <p:cNvSpPr/>
          <p:nvPr/>
        </p:nvSpPr>
        <p:spPr bwMode="auto">
          <a:xfrm>
            <a:off x="8938444" y="4278274"/>
            <a:ext cx="1588" cy="279400"/>
          </a:xfrm>
          <a:custGeom>
            <a:avLst/>
            <a:gdLst>
              <a:gd name="T0" fmla="*/ 0 w 1"/>
              <a:gd name="T1" fmla="*/ 0 h 176"/>
              <a:gd name="T2" fmla="*/ 0 w 1"/>
              <a:gd name="T3" fmla="*/ 443547500 h 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76">
                <a:moveTo>
                  <a:pt x="0" y="0"/>
                </a:moveTo>
                <a:lnTo>
                  <a:pt x="0" y="17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0" name="Freeform 100"/>
          <p:cNvSpPr/>
          <p:nvPr/>
        </p:nvSpPr>
        <p:spPr bwMode="auto">
          <a:xfrm>
            <a:off x="2823394" y="2346286"/>
            <a:ext cx="7019925" cy="1588"/>
          </a:xfrm>
          <a:custGeom>
            <a:avLst/>
            <a:gdLst>
              <a:gd name="T0" fmla="*/ 0 w 4422"/>
              <a:gd name="T1" fmla="*/ 2521744 h 1"/>
              <a:gd name="T2" fmla="*/ 2147483646 w 4422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422" h="1">
                <a:moveTo>
                  <a:pt x="0" y="1"/>
                </a:moveTo>
                <a:lnTo>
                  <a:pt x="442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1" name="Line 101"/>
          <p:cNvSpPr>
            <a:spLocks noChangeShapeType="1"/>
          </p:cNvSpPr>
          <p:nvPr/>
        </p:nvSpPr>
        <p:spPr bwMode="auto">
          <a:xfrm>
            <a:off x="34329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2" name="Line 102"/>
          <p:cNvSpPr>
            <a:spLocks noChangeShapeType="1"/>
          </p:cNvSpPr>
          <p:nvPr/>
        </p:nvSpPr>
        <p:spPr bwMode="auto">
          <a:xfrm>
            <a:off x="43473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3" name="Line 103"/>
          <p:cNvSpPr>
            <a:spLocks noChangeShapeType="1"/>
          </p:cNvSpPr>
          <p:nvPr/>
        </p:nvSpPr>
        <p:spPr bwMode="auto">
          <a:xfrm>
            <a:off x="52617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4" name="Line 104"/>
          <p:cNvSpPr>
            <a:spLocks noChangeShapeType="1"/>
          </p:cNvSpPr>
          <p:nvPr/>
        </p:nvSpPr>
        <p:spPr bwMode="auto">
          <a:xfrm>
            <a:off x="61761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5" name="Line 105"/>
          <p:cNvSpPr>
            <a:spLocks noChangeShapeType="1"/>
          </p:cNvSpPr>
          <p:nvPr/>
        </p:nvSpPr>
        <p:spPr bwMode="auto">
          <a:xfrm>
            <a:off x="70905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6" name="Line 106"/>
          <p:cNvSpPr>
            <a:spLocks noChangeShapeType="1"/>
          </p:cNvSpPr>
          <p:nvPr/>
        </p:nvSpPr>
        <p:spPr bwMode="auto">
          <a:xfrm>
            <a:off x="80049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7" name="Line 107"/>
          <p:cNvSpPr>
            <a:spLocks noChangeShapeType="1"/>
          </p:cNvSpPr>
          <p:nvPr/>
        </p:nvSpPr>
        <p:spPr bwMode="auto">
          <a:xfrm>
            <a:off x="89193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8" name="Line 108"/>
          <p:cNvSpPr>
            <a:spLocks noChangeShapeType="1"/>
          </p:cNvSpPr>
          <p:nvPr/>
        </p:nvSpPr>
        <p:spPr bwMode="auto">
          <a:xfrm>
            <a:off x="9833794" y="234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29" name="Freeform 109"/>
          <p:cNvSpPr/>
          <p:nvPr/>
        </p:nvSpPr>
        <p:spPr bwMode="auto">
          <a:xfrm>
            <a:off x="2823394" y="3260686"/>
            <a:ext cx="7013575" cy="1588"/>
          </a:xfrm>
          <a:custGeom>
            <a:avLst/>
            <a:gdLst>
              <a:gd name="T0" fmla="*/ 0 w 4418"/>
              <a:gd name="T1" fmla="*/ 2521744 h 1"/>
              <a:gd name="T2" fmla="*/ 2147483646 w 4418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418" h="1">
                <a:moveTo>
                  <a:pt x="0" y="1"/>
                </a:moveTo>
                <a:lnTo>
                  <a:pt x="441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0" name="Line 110"/>
          <p:cNvSpPr>
            <a:spLocks noChangeShapeType="1"/>
          </p:cNvSpPr>
          <p:nvPr/>
        </p:nvSpPr>
        <p:spPr bwMode="auto">
          <a:xfrm>
            <a:off x="34329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2" name="Line 111"/>
          <p:cNvSpPr>
            <a:spLocks noChangeShapeType="1"/>
          </p:cNvSpPr>
          <p:nvPr/>
        </p:nvSpPr>
        <p:spPr bwMode="auto">
          <a:xfrm>
            <a:off x="43473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3" name="Line 112"/>
          <p:cNvSpPr>
            <a:spLocks noChangeShapeType="1"/>
          </p:cNvSpPr>
          <p:nvPr/>
        </p:nvSpPr>
        <p:spPr bwMode="auto">
          <a:xfrm>
            <a:off x="52617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4" name="Line 113"/>
          <p:cNvSpPr>
            <a:spLocks noChangeShapeType="1"/>
          </p:cNvSpPr>
          <p:nvPr/>
        </p:nvSpPr>
        <p:spPr bwMode="auto">
          <a:xfrm>
            <a:off x="61761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5" name="Line 114"/>
          <p:cNvSpPr>
            <a:spLocks noChangeShapeType="1"/>
          </p:cNvSpPr>
          <p:nvPr/>
        </p:nvSpPr>
        <p:spPr bwMode="auto">
          <a:xfrm>
            <a:off x="70905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6" name="Line 115"/>
          <p:cNvSpPr>
            <a:spLocks noChangeShapeType="1"/>
          </p:cNvSpPr>
          <p:nvPr/>
        </p:nvSpPr>
        <p:spPr bwMode="auto">
          <a:xfrm>
            <a:off x="80049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7" name="Line 116"/>
          <p:cNvSpPr>
            <a:spLocks noChangeShapeType="1"/>
          </p:cNvSpPr>
          <p:nvPr/>
        </p:nvSpPr>
        <p:spPr bwMode="auto">
          <a:xfrm>
            <a:off x="89193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8" name="Line 117"/>
          <p:cNvSpPr>
            <a:spLocks noChangeShapeType="1"/>
          </p:cNvSpPr>
          <p:nvPr/>
        </p:nvSpPr>
        <p:spPr bwMode="auto">
          <a:xfrm>
            <a:off x="9833794" y="32622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39" name="Freeform 118"/>
          <p:cNvSpPr/>
          <p:nvPr/>
        </p:nvSpPr>
        <p:spPr bwMode="auto">
          <a:xfrm>
            <a:off x="2824982" y="4567199"/>
            <a:ext cx="6127750" cy="1587"/>
          </a:xfrm>
          <a:custGeom>
            <a:avLst/>
            <a:gdLst>
              <a:gd name="T0" fmla="*/ 0 w 3860"/>
              <a:gd name="T1" fmla="*/ 2518569 h 1"/>
              <a:gd name="T2" fmla="*/ 2147483646 w 3860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860" h="1">
                <a:moveTo>
                  <a:pt x="0" y="1"/>
                </a:moveTo>
                <a:lnTo>
                  <a:pt x="386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0" name="Freeform 119"/>
          <p:cNvSpPr/>
          <p:nvPr/>
        </p:nvSpPr>
        <p:spPr bwMode="auto">
          <a:xfrm>
            <a:off x="2829744" y="5091074"/>
            <a:ext cx="7013575" cy="1587"/>
          </a:xfrm>
          <a:custGeom>
            <a:avLst/>
            <a:gdLst>
              <a:gd name="T0" fmla="*/ 0 w 4418"/>
              <a:gd name="T1" fmla="*/ 2518569 h 1"/>
              <a:gd name="T2" fmla="*/ 2147483646 w 4418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418" h="1">
                <a:moveTo>
                  <a:pt x="0" y="1"/>
                </a:moveTo>
                <a:lnTo>
                  <a:pt x="441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1" name="Rectangle 120"/>
          <p:cNvSpPr>
            <a:spLocks noChangeArrowheads="1"/>
          </p:cNvSpPr>
          <p:nvPr/>
        </p:nvSpPr>
        <p:spPr bwMode="auto">
          <a:xfrm>
            <a:off x="3193282" y="5624474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19442" name="Text Box 121"/>
          <p:cNvSpPr txBox="1">
            <a:spLocks noChangeArrowheads="1"/>
          </p:cNvSpPr>
          <p:nvPr/>
        </p:nvSpPr>
        <p:spPr bwMode="auto">
          <a:xfrm>
            <a:off x="3242494" y="5673686"/>
            <a:ext cx="1200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443" name="Freeform 122"/>
          <p:cNvSpPr/>
          <p:nvPr/>
        </p:nvSpPr>
        <p:spPr bwMode="auto">
          <a:xfrm>
            <a:off x="3607619" y="1919249"/>
            <a:ext cx="230188" cy="2327275"/>
          </a:xfrm>
          <a:custGeom>
            <a:avLst/>
            <a:gdLst>
              <a:gd name="T0" fmla="*/ 93246778 w 145"/>
              <a:gd name="T1" fmla="*/ 0 h 1466"/>
              <a:gd name="T2" fmla="*/ 365424244 w 145"/>
              <a:gd name="T3" fmla="*/ 0 h 1466"/>
              <a:gd name="T4" fmla="*/ 362903288 w 145"/>
              <a:gd name="T5" fmla="*/ 2147483646 h 1466"/>
              <a:gd name="T6" fmla="*/ 0 w 145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5" h="1466">
                <a:moveTo>
                  <a:pt x="37" y="0"/>
                </a:moveTo>
                <a:lnTo>
                  <a:pt x="145" y="0"/>
                </a:lnTo>
                <a:lnTo>
                  <a:pt x="144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4" name="Freeform 123"/>
          <p:cNvSpPr/>
          <p:nvPr/>
        </p:nvSpPr>
        <p:spPr bwMode="auto">
          <a:xfrm>
            <a:off x="3942582" y="1919249"/>
            <a:ext cx="268287" cy="2332037"/>
          </a:xfrm>
          <a:custGeom>
            <a:avLst/>
            <a:gdLst>
              <a:gd name="T0" fmla="*/ 425904819 w 169"/>
              <a:gd name="T1" fmla="*/ 2147483646 h 1469"/>
              <a:gd name="T2" fmla="*/ 0 w 169"/>
              <a:gd name="T3" fmla="*/ 2147483646 h 1469"/>
              <a:gd name="T4" fmla="*/ 2519358 w 169"/>
              <a:gd name="T5" fmla="*/ 0 h 1469"/>
              <a:gd name="T6" fmla="*/ 264615119 w 169"/>
              <a:gd name="T7" fmla="*/ 0 h 14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69" h="1469">
                <a:moveTo>
                  <a:pt x="169" y="1468"/>
                </a:moveTo>
                <a:lnTo>
                  <a:pt x="0" y="1469"/>
                </a:lnTo>
                <a:lnTo>
                  <a:pt x="1" y="0"/>
                </a:lnTo>
                <a:lnTo>
                  <a:pt x="105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5" name="Freeform 124"/>
          <p:cNvSpPr/>
          <p:nvPr/>
        </p:nvSpPr>
        <p:spPr bwMode="auto">
          <a:xfrm>
            <a:off x="4504557" y="1919249"/>
            <a:ext cx="223837" cy="2327275"/>
          </a:xfrm>
          <a:custGeom>
            <a:avLst/>
            <a:gdLst>
              <a:gd name="T0" fmla="*/ 95765724 w 141"/>
              <a:gd name="T1" fmla="*/ 0 h 1466"/>
              <a:gd name="T2" fmla="*/ 355340444 w 141"/>
              <a:gd name="T3" fmla="*/ 0 h 1466"/>
              <a:gd name="T4" fmla="*/ 352821087 w 141"/>
              <a:gd name="T5" fmla="*/ 2147483646 h 1466"/>
              <a:gd name="T6" fmla="*/ 0 w 141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1" h="1466">
                <a:moveTo>
                  <a:pt x="38" y="0"/>
                </a:moveTo>
                <a:lnTo>
                  <a:pt x="141" y="0"/>
                </a:lnTo>
                <a:lnTo>
                  <a:pt x="140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6" name="Freeform 125"/>
          <p:cNvSpPr/>
          <p:nvPr/>
        </p:nvSpPr>
        <p:spPr bwMode="auto">
          <a:xfrm>
            <a:off x="4887144" y="1919249"/>
            <a:ext cx="246063" cy="2328862"/>
          </a:xfrm>
          <a:custGeom>
            <a:avLst/>
            <a:gdLst>
              <a:gd name="T0" fmla="*/ 390625806 w 155"/>
              <a:gd name="T1" fmla="*/ 2147483646 h 1467"/>
              <a:gd name="T2" fmla="*/ 7561278 w 155"/>
              <a:gd name="T3" fmla="*/ 2147483646 h 1467"/>
              <a:gd name="T4" fmla="*/ 0 w 155"/>
              <a:gd name="T5" fmla="*/ 2519362 h 1467"/>
              <a:gd name="T6" fmla="*/ 224295156 w 155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5" h="1467">
                <a:moveTo>
                  <a:pt x="155" y="1467"/>
                </a:moveTo>
                <a:lnTo>
                  <a:pt x="3" y="1467"/>
                </a:lnTo>
                <a:lnTo>
                  <a:pt x="0" y="1"/>
                </a:lnTo>
                <a:lnTo>
                  <a:pt x="89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7" name="Freeform 126"/>
          <p:cNvSpPr/>
          <p:nvPr/>
        </p:nvSpPr>
        <p:spPr bwMode="auto">
          <a:xfrm>
            <a:off x="5441182" y="1919249"/>
            <a:ext cx="225425" cy="2327275"/>
          </a:xfrm>
          <a:custGeom>
            <a:avLst/>
            <a:gdLst>
              <a:gd name="T0" fmla="*/ 85685313 w 142"/>
              <a:gd name="T1" fmla="*/ 0 h 1466"/>
              <a:gd name="T2" fmla="*/ 357862188 w 142"/>
              <a:gd name="T3" fmla="*/ 0 h 1466"/>
              <a:gd name="T4" fmla="*/ 355342825 w 142"/>
              <a:gd name="T5" fmla="*/ 2147483646 h 1466"/>
              <a:gd name="T6" fmla="*/ 0 w 142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2" h="1466">
                <a:moveTo>
                  <a:pt x="34" y="0"/>
                </a:moveTo>
                <a:lnTo>
                  <a:pt x="142" y="0"/>
                </a:lnTo>
                <a:lnTo>
                  <a:pt x="141" y="1466"/>
                </a:lnTo>
                <a:lnTo>
                  <a:pt x="0" y="1464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8" name="Freeform 127"/>
          <p:cNvSpPr/>
          <p:nvPr/>
        </p:nvSpPr>
        <p:spPr bwMode="auto">
          <a:xfrm>
            <a:off x="5806307" y="1919249"/>
            <a:ext cx="241300" cy="2328862"/>
          </a:xfrm>
          <a:custGeom>
            <a:avLst/>
            <a:gdLst>
              <a:gd name="T0" fmla="*/ 383063750 w 152"/>
              <a:gd name="T1" fmla="*/ 2147483646 h 1467"/>
              <a:gd name="T2" fmla="*/ 0 w 152"/>
              <a:gd name="T3" fmla="*/ 2147483646 h 1467"/>
              <a:gd name="T4" fmla="*/ 0 w 152"/>
              <a:gd name="T5" fmla="*/ 2519362 h 1467"/>
              <a:gd name="T6" fmla="*/ 194052825 w 152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2" h="1467">
                <a:moveTo>
                  <a:pt x="152" y="1467"/>
                </a:moveTo>
                <a:lnTo>
                  <a:pt x="0" y="1467"/>
                </a:lnTo>
                <a:lnTo>
                  <a:pt x="0" y="1"/>
                </a:lnTo>
                <a:lnTo>
                  <a:pt x="7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49" name="Freeform 128"/>
          <p:cNvSpPr/>
          <p:nvPr/>
        </p:nvSpPr>
        <p:spPr bwMode="auto">
          <a:xfrm>
            <a:off x="6350819" y="1919249"/>
            <a:ext cx="230188" cy="2327275"/>
          </a:xfrm>
          <a:custGeom>
            <a:avLst/>
            <a:gdLst>
              <a:gd name="T0" fmla="*/ 93246778 w 145"/>
              <a:gd name="T1" fmla="*/ 0 h 1466"/>
              <a:gd name="T2" fmla="*/ 365424244 w 145"/>
              <a:gd name="T3" fmla="*/ 0 h 1466"/>
              <a:gd name="T4" fmla="*/ 362903288 w 145"/>
              <a:gd name="T5" fmla="*/ 2147483646 h 1466"/>
              <a:gd name="T6" fmla="*/ 0 w 145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5" h="1466">
                <a:moveTo>
                  <a:pt x="37" y="0"/>
                </a:moveTo>
                <a:lnTo>
                  <a:pt x="145" y="0"/>
                </a:lnTo>
                <a:lnTo>
                  <a:pt x="144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0" name="Freeform 129"/>
          <p:cNvSpPr/>
          <p:nvPr/>
        </p:nvSpPr>
        <p:spPr bwMode="auto">
          <a:xfrm>
            <a:off x="6715944" y="1916074"/>
            <a:ext cx="246063" cy="2332037"/>
          </a:xfrm>
          <a:custGeom>
            <a:avLst/>
            <a:gdLst>
              <a:gd name="T0" fmla="*/ 390625806 w 155"/>
              <a:gd name="T1" fmla="*/ 2147483646 h 1469"/>
              <a:gd name="T2" fmla="*/ 7561278 w 155"/>
              <a:gd name="T3" fmla="*/ 2147483646 h 1469"/>
              <a:gd name="T4" fmla="*/ 0 w 155"/>
              <a:gd name="T5" fmla="*/ 0 h 1469"/>
              <a:gd name="T6" fmla="*/ 259577415 w 155"/>
              <a:gd name="T7" fmla="*/ 5040311 h 14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5" h="1469">
                <a:moveTo>
                  <a:pt x="155" y="1469"/>
                </a:moveTo>
                <a:lnTo>
                  <a:pt x="3" y="1469"/>
                </a:lnTo>
                <a:lnTo>
                  <a:pt x="0" y="0"/>
                </a:lnTo>
                <a:lnTo>
                  <a:pt x="103" y="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1" name="Freeform 130"/>
          <p:cNvSpPr/>
          <p:nvPr/>
        </p:nvSpPr>
        <p:spPr bwMode="auto">
          <a:xfrm>
            <a:off x="7271569" y="1919249"/>
            <a:ext cx="223838" cy="2327275"/>
          </a:xfrm>
          <a:custGeom>
            <a:avLst/>
            <a:gdLst>
              <a:gd name="T0" fmla="*/ 105846799 w 141"/>
              <a:gd name="T1" fmla="*/ 0 h 1466"/>
              <a:gd name="T2" fmla="*/ 355343619 w 141"/>
              <a:gd name="T3" fmla="*/ 0 h 1466"/>
              <a:gd name="T4" fmla="*/ 352822663 w 141"/>
              <a:gd name="T5" fmla="*/ 2147483646 h 1466"/>
              <a:gd name="T6" fmla="*/ 0 w 141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1" h="1466">
                <a:moveTo>
                  <a:pt x="42" y="0"/>
                </a:moveTo>
                <a:lnTo>
                  <a:pt x="141" y="0"/>
                </a:lnTo>
                <a:lnTo>
                  <a:pt x="140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2" name="Freeform 131"/>
          <p:cNvSpPr/>
          <p:nvPr/>
        </p:nvSpPr>
        <p:spPr bwMode="auto">
          <a:xfrm>
            <a:off x="7635107" y="1919249"/>
            <a:ext cx="241300" cy="2328862"/>
          </a:xfrm>
          <a:custGeom>
            <a:avLst/>
            <a:gdLst>
              <a:gd name="T0" fmla="*/ 383063750 w 152"/>
              <a:gd name="T1" fmla="*/ 2147483646 h 1467"/>
              <a:gd name="T2" fmla="*/ 0 w 152"/>
              <a:gd name="T3" fmla="*/ 2147483646 h 1467"/>
              <a:gd name="T4" fmla="*/ 0 w 152"/>
              <a:gd name="T5" fmla="*/ 2519362 h 1467"/>
              <a:gd name="T6" fmla="*/ 259576888 w 152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2" h="1467">
                <a:moveTo>
                  <a:pt x="152" y="1467"/>
                </a:moveTo>
                <a:lnTo>
                  <a:pt x="0" y="1467"/>
                </a:lnTo>
                <a:lnTo>
                  <a:pt x="0" y="1"/>
                </a:lnTo>
                <a:lnTo>
                  <a:pt x="103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3" name="Freeform 132"/>
          <p:cNvSpPr/>
          <p:nvPr/>
        </p:nvSpPr>
        <p:spPr bwMode="auto">
          <a:xfrm>
            <a:off x="8176444" y="1919249"/>
            <a:ext cx="233363" cy="2327275"/>
          </a:xfrm>
          <a:custGeom>
            <a:avLst/>
            <a:gdLst>
              <a:gd name="T0" fmla="*/ 128529038 w 147"/>
              <a:gd name="T1" fmla="*/ 0 h 1466"/>
              <a:gd name="T2" fmla="*/ 370464556 w 147"/>
              <a:gd name="T3" fmla="*/ 0 h 1466"/>
              <a:gd name="T4" fmla="*/ 367943601 w 147"/>
              <a:gd name="T5" fmla="*/ 2147483646 h 1466"/>
              <a:gd name="T6" fmla="*/ 0 w 147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7" h="1466">
                <a:moveTo>
                  <a:pt x="51" y="0"/>
                </a:moveTo>
                <a:lnTo>
                  <a:pt x="147" y="0"/>
                </a:lnTo>
                <a:lnTo>
                  <a:pt x="146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4" name="Freeform 133"/>
          <p:cNvSpPr/>
          <p:nvPr/>
        </p:nvSpPr>
        <p:spPr bwMode="auto">
          <a:xfrm>
            <a:off x="8539982" y="1919249"/>
            <a:ext cx="250825" cy="2328862"/>
          </a:xfrm>
          <a:custGeom>
            <a:avLst/>
            <a:gdLst>
              <a:gd name="T0" fmla="*/ 398184688 w 158"/>
              <a:gd name="T1" fmla="*/ 2147483646 h 1467"/>
              <a:gd name="T2" fmla="*/ 0 w 158"/>
              <a:gd name="T3" fmla="*/ 2147483646 h 1467"/>
              <a:gd name="T4" fmla="*/ 0 w 158"/>
              <a:gd name="T5" fmla="*/ 0 h 1467"/>
              <a:gd name="T6" fmla="*/ 239415638 w 158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" h="1467">
                <a:moveTo>
                  <a:pt x="158" y="1467"/>
                </a:moveTo>
                <a:lnTo>
                  <a:pt x="0" y="1467"/>
                </a:lnTo>
                <a:lnTo>
                  <a:pt x="0" y="0"/>
                </a:lnTo>
                <a:lnTo>
                  <a:pt x="95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5" name="Freeform 134"/>
          <p:cNvSpPr/>
          <p:nvPr/>
        </p:nvSpPr>
        <p:spPr bwMode="auto">
          <a:xfrm>
            <a:off x="9098782" y="1919249"/>
            <a:ext cx="225425" cy="2327275"/>
          </a:xfrm>
          <a:custGeom>
            <a:avLst/>
            <a:gdLst>
              <a:gd name="T0" fmla="*/ 85685313 w 142"/>
              <a:gd name="T1" fmla="*/ 0 h 1466"/>
              <a:gd name="T2" fmla="*/ 357862188 w 142"/>
              <a:gd name="T3" fmla="*/ 0 h 1466"/>
              <a:gd name="T4" fmla="*/ 355342825 w 142"/>
              <a:gd name="T5" fmla="*/ 2147483646 h 1466"/>
              <a:gd name="T6" fmla="*/ 0 w 142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2" h="1466">
                <a:moveTo>
                  <a:pt x="34" y="0"/>
                </a:moveTo>
                <a:lnTo>
                  <a:pt x="142" y="0"/>
                </a:lnTo>
                <a:lnTo>
                  <a:pt x="141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6" name="Freeform 135"/>
          <p:cNvSpPr/>
          <p:nvPr/>
        </p:nvSpPr>
        <p:spPr bwMode="auto">
          <a:xfrm>
            <a:off x="9428982" y="1919249"/>
            <a:ext cx="252412" cy="2332037"/>
          </a:xfrm>
          <a:custGeom>
            <a:avLst/>
            <a:gdLst>
              <a:gd name="T0" fmla="*/ 400703256 w 159"/>
              <a:gd name="T1" fmla="*/ 2147483646 h 1469"/>
              <a:gd name="T2" fmla="*/ 0 w 159"/>
              <a:gd name="T3" fmla="*/ 2147483646 h 1469"/>
              <a:gd name="T4" fmla="*/ 2519358 w 159"/>
              <a:gd name="T5" fmla="*/ 0 h 1469"/>
              <a:gd name="T6" fmla="*/ 262095731 w 159"/>
              <a:gd name="T7" fmla="*/ 0 h 14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9" h="1469">
                <a:moveTo>
                  <a:pt x="159" y="1467"/>
                </a:moveTo>
                <a:lnTo>
                  <a:pt x="0" y="1469"/>
                </a:lnTo>
                <a:lnTo>
                  <a:pt x="1" y="0"/>
                </a:lnTo>
                <a:lnTo>
                  <a:pt x="10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7" name="Freeform 136"/>
          <p:cNvSpPr/>
          <p:nvPr/>
        </p:nvSpPr>
        <p:spPr bwMode="auto">
          <a:xfrm>
            <a:off x="9981432" y="1919249"/>
            <a:ext cx="233362" cy="2327275"/>
          </a:xfrm>
          <a:custGeom>
            <a:avLst/>
            <a:gdLst>
              <a:gd name="T0" fmla="*/ 118446296 w 147"/>
              <a:gd name="T1" fmla="*/ 0 h 1466"/>
              <a:gd name="T2" fmla="*/ 370461381 w 147"/>
              <a:gd name="T3" fmla="*/ 0 h 1466"/>
              <a:gd name="T4" fmla="*/ 367942024 w 147"/>
              <a:gd name="T5" fmla="*/ 2147483646 h 1466"/>
              <a:gd name="T6" fmla="*/ 0 w 147"/>
              <a:gd name="T7" fmla="*/ 2147483646 h 146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47" h="1466">
                <a:moveTo>
                  <a:pt x="47" y="0"/>
                </a:moveTo>
                <a:lnTo>
                  <a:pt x="147" y="0"/>
                </a:lnTo>
                <a:lnTo>
                  <a:pt x="146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8" name="Freeform 137"/>
          <p:cNvSpPr/>
          <p:nvPr/>
        </p:nvSpPr>
        <p:spPr bwMode="auto">
          <a:xfrm>
            <a:off x="3056757" y="4343361"/>
            <a:ext cx="1158875" cy="1047750"/>
          </a:xfrm>
          <a:custGeom>
            <a:avLst/>
            <a:gdLst>
              <a:gd name="T0" fmla="*/ 403225000 w 730"/>
              <a:gd name="T1" fmla="*/ 10080625 h 660"/>
              <a:gd name="T2" fmla="*/ 0 w 730"/>
              <a:gd name="T3" fmla="*/ 7561263 h 660"/>
              <a:gd name="T4" fmla="*/ 0 w 730"/>
              <a:gd name="T5" fmla="*/ 1663303125 h 660"/>
              <a:gd name="T6" fmla="*/ 1406247188 w 730"/>
              <a:gd name="T7" fmla="*/ 1655743450 h 660"/>
              <a:gd name="T8" fmla="*/ 1406247188 w 730"/>
              <a:gd name="T9" fmla="*/ 0 h 660"/>
              <a:gd name="T10" fmla="*/ 1839714063 w 730"/>
              <a:gd name="T11" fmla="*/ 2520950 h 6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30" h="660">
                <a:moveTo>
                  <a:pt x="160" y="4"/>
                </a:moveTo>
                <a:lnTo>
                  <a:pt x="0" y="3"/>
                </a:lnTo>
                <a:lnTo>
                  <a:pt x="0" y="660"/>
                </a:lnTo>
                <a:lnTo>
                  <a:pt x="558" y="657"/>
                </a:lnTo>
                <a:lnTo>
                  <a:pt x="558" y="0"/>
                </a:lnTo>
                <a:lnTo>
                  <a:pt x="730" y="1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59" name="Freeform 138"/>
          <p:cNvSpPr/>
          <p:nvPr/>
        </p:nvSpPr>
        <p:spPr bwMode="auto">
          <a:xfrm>
            <a:off x="4885557" y="4352886"/>
            <a:ext cx="1157287" cy="1044575"/>
          </a:xfrm>
          <a:custGeom>
            <a:avLst/>
            <a:gdLst>
              <a:gd name="T0" fmla="*/ 385582946 w 729"/>
              <a:gd name="T1" fmla="*/ 0 h 658"/>
              <a:gd name="T2" fmla="*/ 0 w 729"/>
              <a:gd name="T3" fmla="*/ 0 h 658"/>
              <a:gd name="T4" fmla="*/ 0 w 729"/>
              <a:gd name="T5" fmla="*/ 1655743450 h 658"/>
              <a:gd name="T6" fmla="*/ 1469249665 w 729"/>
              <a:gd name="T7" fmla="*/ 1658262813 h 658"/>
              <a:gd name="T8" fmla="*/ 1466730304 w 729"/>
              <a:gd name="T9" fmla="*/ 7561263 h 658"/>
              <a:gd name="T10" fmla="*/ 1837192319 w 729"/>
              <a:gd name="T11" fmla="*/ 7561263 h 65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29" h="658">
                <a:moveTo>
                  <a:pt x="153" y="0"/>
                </a:moveTo>
                <a:lnTo>
                  <a:pt x="0" y="0"/>
                </a:lnTo>
                <a:lnTo>
                  <a:pt x="0" y="657"/>
                </a:lnTo>
                <a:lnTo>
                  <a:pt x="583" y="658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0" name="Freeform 139"/>
          <p:cNvSpPr/>
          <p:nvPr/>
        </p:nvSpPr>
        <p:spPr bwMode="auto">
          <a:xfrm>
            <a:off x="6709594" y="4352886"/>
            <a:ext cx="1157288" cy="1042988"/>
          </a:xfrm>
          <a:custGeom>
            <a:avLst/>
            <a:gdLst>
              <a:gd name="T0" fmla="*/ 398184860 w 729"/>
              <a:gd name="T1" fmla="*/ 0 h 657"/>
              <a:gd name="T2" fmla="*/ 0 w 729"/>
              <a:gd name="T3" fmla="*/ 0 h 657"/>
              <a:gd name="T4" fmla="*/ 0 w 729"/>
              <a:gd name="T5" fmla="*/ 1655744244 h 657"/>
              <a:gd name="T6" fmla="*/ 1459171893 w 729"/>
              <a:gd name="T7" fmla="*/ 1648182978 h 657"/>
              <a:gd name="T8" fmla="*/ 1466731571 w 729"/>
              <a:gd name="T9" fmla="*/ 7561266 h 657"/>
              <a:gd name="T10" fmla="*/ 1837195494 w 729"/>
              <a:gd name="T11" fmla="*/ 7561266 h 65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29" h="657">
                <a:moveTo>
                  <a:pt x="158" y="0"/>
                </a:moveTo>
                <a:lnTo>
                  <a:pt x="0" y="0"/>
                </a:lnTo>
                <a:lnTo>
                  <a:pt x="0" y="657"/>
                </a:lnTo>
                <a:lnTo>
                  <a:pt x="579" y="654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1" name="Freeform 140"/>
          <p:cNvSpPr/>
          <p:nvPr/>
        </p:nvSpPr>
        <p:spPr bwMode="auto">
          <a:xfrm>
            <a:off x="8538394" y="4352886"/>
            <a:ext cx="1157288" cy="1042988"/>
          </a:xfrm>
          <a:custGeom>
            <a:avLst/>
            <a:gdLst>
              <a:gd name="T0" fmla="*/ 405746125 w 729"/>
              <a:gd name="T1" fmla="*/ 5040315 h 657"/>
              <a:gd name="T2" fmla="*/ 0 w 729"/>
              <a:gd name="T3" fmla="*/ 0 h 657"/>
              <a:gd name="T4" fmla="*/ 0 w 729"/>
              <a:gd name="T5" fmla="*/ 1655744244 h 657"/>
              <a:gd name="T6" fmla="*/ 1459171893 w 729"/>
              <a:gd name="T7" fmla="*/ 1648182978 h 657"/>
              <a:gd name="T8" fmla="*/ 1466731571 w 729"/>
              <a:gd name="T9" fmla="*/ 7561266 h 657"/>
              <a:gd name="T10" fmla="*/ 1837195494 w 729"/>
              <a:gd name="T11" fmla="*/ 7561266 h 65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29" h="657">
                <a:moveTo>
                  <a:pt x="161" y="2"/>
                </a:moveTo>
                <a:lnTo>
                  <a:pt x="0" y="0"/>
                </a:lnTo>
                <a:lnTo>
                  <a:pt x="0" y="657"/>
                </a:lnTo>
                <a:lnTo>
                  <a:pt x="579" y="654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3" name="Freeform 141"/>
          <p:cNvSpPr/>
          <p:nvPr/>
        </p:nvSpPr>
        <p:spPr bwMode="auto">
          <a:xfrm>
            <a:off x="3604444" y="4338599"/>
            <a:ext cx="1123950" cy="906462"/>
          </a:xfrm>
          <a:custGeom>
            <a:avLst/>
            <a:gdLst>
              <a:gd name="T0" fmla="*/ 0 w 708"/>
              <a:gd name="T1" fmla="*/ 0 h 571"/>
              <a:gd name="T2" fmla="*/ 332660625 w 708"/>
              <a:gd name="T3" fmla="*/ 0 h 571"/>
              <a:gd name="T4" fmla="*/ 335181575 w 708"/>
              <a:gd name="T5" fmla="*/ 1439007631 h 571"/>
              <a:gd name="T6" fmla="*/ 1784270625 w 708"/>
              <a:gd name="T7" fmla="*/ 1436488270 h 571"/>
              <a:gd name="T8" fmla="*/ 1784270625 w 708"/>
              <a:gd name="T9" fmla="*/ 22680600 h 571"/>
              <a:gd name="T10" fmla="*/ 1444050325 w 708"/>
              <a:gd name="T11" fmla="*/ 22680600 h 5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08" h="571">
                <a:moveTo>
                  <a:pt x="0" y="0"/>
                </a:moveTo>
                <a:lnTo>
                  <a:pt x="132" y="0"/>
                </a:lnTo>
                <a:lnTo>
                  <a:pt x="133" y="571"/>
                </a:lnTo>
                <a:lnTo>
                  <a:pt x="708" y="570"/>
                </a:lnTo>
                <a:lnTo>
                  <a:pt x="708" y="9"/>
                </a:lnTo>
                <a:lnTo>
                  <a:pt x="573" y="9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4" name="Freeform 142"/>
          <p:cNvSpPr/>
          <p:nvPr/>
        </p:nvSpPr>
        <p:spPr bwMode="auto">
          <a:xfrm>
            <a:off x="5433244" y="4338599"/>
            <a:ext cx="1152525" cy="900112"/>
          </a:xfrm>
          <a:custGeom>
            <a:avLst/>
            <a:gdLst>
              <a:gd name="T0" fmla="*/ 0 w 726"/>
              <a:gd name="T1" fmla="*/ 0 h 567"/>
              <a:gd name="T2" fmla="*/ 372983125 w 726"/>
              <a:gd name="T3" fmla="*/ 2519361 h 567"/>
              <a:gd name="T4" fmla="*/ 370463763 w 726"/>
              <a:gd name="T5" fmla="*/ 1428927006 h 567"/>
              <a:gd name="T6" fmla="*/ 1829633438 w 726"/>
              <a:gd name="T7" fmla="*/ 1428927006 h 567"/>
              <a:gd name="T8" fmla="*/ 1829633438 w 726"/>
              <a:gd name="T9" fmla="*/ 15120929 h 567"/>
              <a:gd name="T10" fmla="*/ 1459171263 w 726"/>
              <a:gd name="T11" fmla="*/ 15120929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26" h="567">
                <a:moveTo>
                  <a:pt x="0" y="0"/>
                </a:moveTo>
                <a:lnTo>
                  <a:pt x="148" y="1"/>
                </a:lnTo>
                <a:lnTo>
                  <a:pt x="147" y="567"/>
                </a:lnTo>
                <a:lnTo>
                  <a:pt x="726" y="567"/>
                </a:lnTo>
                <a:lnTo>
                  <a:pt x="726" y="6"/>
                </a:lnTo>
                <a:lnTo>
                  <a:pt x="579" y="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5" name="Freeform 143"/>
          <p:cNvSpPr/>
          <p:nvPr/>
        </p:nvSpPr>
        <p:spPr bwMode="auto">
          <a:xfrm>
            <a:off x="7262044" y="4343361"/>
            <a:ext cx="1133475" cy="900113"/>
          </a:xfrm>
          <a:custGeom>
            <a:avLst/>
            <a:gdLst>
              <a:gd name="T0" fmla="*/ 0 w 714"/>
              <a:gd name="T1" fmla="*/ 0 h 567"/>
              <a:gd name="T2" fmla="*/ 342741250 w 714"/>
              <a:gd name="T3" fmla="*/ 2520951 h 567"/>
              <a:gd name="T4" fmla="*/ 340221888 w 714"/>
              <a:gd name="T5" fmla="*/ 1428930181 h 567"/>
              <a:gd name="T6" fmla="*/ 1799391563 w 714"/>
              <a:gd name="T7" fmla="*/ 1428930181 h 567"/>
              <a:gd name="T8" fmla="*/ 1799391563 w 714"/>
              <a:gd name="T9" fmla="*/ 15120946 h 567"/>
              <a:gd name="T10" fmla="*/ 1451610000 w 714"/>
              <a:gd name="T11" fmla="*/ 12601582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14" h="567">
                <a:moveTo>
                  <a:pt x="0" y="0"/>
                </a:moveTo>
                <a:lnTo>
                  <a:pt x="136" y="1"/>
                </a:lnTo>
                <a:lnTo>
                  <a:pt x="135" y="567"/>
                </a:lnTo>
                <a:lnTo>
                  <a:pt x="714" y="567"/>
                </a:lnTo>
                <a:lnTo>
                  <a:pt x="714" y="6"/>
                </a:lnTo>
                <a:lnTo>
                  <a:pt x="576" y="5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6" name="Freeform 144"/>
          <p:cNvSpPr/>
          <p:nvPr/>
        </p:nvSpPr>
        <p:spPr bwMode="auto">
          <a:xfrm>
            <a:off x="9095607" y="4343361"/>
            <a:ext cx="1128712" cy="900113"/>
          </a:xfrm>
          <a:custGeom>
            <a:avLst/>
            <a:gdLst>
              <a:gd name="T0" fmla="*/ 0 w 711"/>
              <a:gd name="T1" fmla="*/ 0 h 567"/>
              <a:gd name="T2" fmla="*/ 327620167 w 711"/>
              <a:gd name="T3" fmla="*/ 2520951 h 567"/>
              <a:gd name="T4" fmla="*/ 332660478 w 711"/>
              <a:gd name="T5" fmla="*/ 1428930181 h 567"/>
              <a:gd name="T6" fmla="*/ 1791829506 w 711"/>
              <a:gd name="T7" fmla="*/ 1428930181 h 567"/>
              <a:gd name="T8" fmla="*/ 1791829506 w 711"/>
              <a:gd name="T9" fmla="*/ 15120946 h 567"/>
              <a:gd name="T10" fmla="*/ 1421367495 w 711"/>
              <a:gd name="T11" fmla="*/ 15120946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11" h="567">
                <a:moveTo>
                  <a:pt x="0" y="0"/>
                </a:moveTo>
                <a:lnTo>
                  <a:pt x="130" y="1"/>
                </a:lnTo>
                <a:lnTo>
                  <a:pt x="132" y="567"/>
                </a:lnTo>
                <a:lnTo>
                  <a:pt x="711" y="567"/>
                </a:lnTo>
                <a:lnTo>
                  <a:pt x="711" y="6"/>
                </a:lnTo>
                <a:lnTo>
                  <a:pt x="564" y="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7" name="Freeform 145"/>
          <p:cNvSpPr/>
          <p:nvPr/>
        </p:nvSpPr>
        <p:spPr bwMode="auto">
          <a:xfrm>
            <a:off x="3480619" y="5391111"/>
            <a:ext cx="1588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378023438 h 1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8" name="Freeform 146"/>
          <p:cNvSpPr/>
          <p:nvPr/>
        </p:nvSpPr>
        <p:spPr bwMode="auto">
          <a:xfrm>
            <a:off x="5336407" y="5395874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378023438 h 1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69" name="Freeform 147"/>
          <p:cNvSpPr/>
          <p:nvPr/>
        </p:nvSpPr>
        <p:spPr bwMode="auto">
          <a:xfrm>
            <a:off x="7165207" y="5395874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378023438 h 1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0" name="Freeform 148"/>
          <p:cNvSpPr/>
          <p:nvPr/>
        </p:nvSpPr>
        <p:spPr bwMode="auto">
          <a:xfrm>
            <a:off x="8994007" y="5395874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378023438 h 1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1" name="Freeform 149"/>
          <p:cNvSpPr/>
          <p:nvPr/>
        </p:nvSpPr>
        <p:spPr bwMode="auto">
          <a:xfrm>
            <a:off x="9757594" y="5243474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619958438 h 24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2" name="Freeform 150"/>
          <p:cNvSpPr/>
          <p:nvPr/>
        </p:nvSpPr>
        <p:spPr bwMode="auto">
          <a:xfrm>
            <a:off x="7928794" y="5243474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619958438 h 24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3" name="Freeform 151"/>
          <p:cNvSpPr/>
          <p:nvPr/>
        </p:nvSpPr>
        <p:spPr bwMode="auto">
          <a:xfrm>
            <a:off x="6099994" y="5243474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619958438 h 24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4" name="Freeform 152"/>
          <p:cNvSpPr/>
          <p:nvPr/>
        </p:nvSpPr>
        <p:spPr bwMode="auto">
          <a:xfrm>
            <a:off x="4269607" y="5243474"/>
            <a:ext cx="1587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619958438 h 24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5" name="Freeform 153"/>
          <p:cNvSpPr/>
          <p:nvPr/>
        </p:nvSpPr>
        <p:spPr bwMode="auto">
          <a:xfrm>
            <a:off x="2899594" y="6386474"/>
            <a:ext cx="6853238" cy="1587"/>
          </a:xfrm>
          <a:custGeom>
            <a:avLst/>
            <a:gdLst>
              <a:gd name="T0" fmla="*/ 0 w 4317"/>
              <a:gd name="T1" fmla="*/ 0 h 1"/>
              <a:gd name="T2" fmla="*/ 2147483646 w 4317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317" h="1">
                <a:moveTo>
                  <a:pt x="0" y="0"/>
                </a:moveTo>
                <a:lnTo>
                  <a:pt x="431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6" name="Freeform 154"/>
          <p:cNvSpPr/>
          <p:nvPr/>
        </p:nvSpPr>
        <p:spPr bwMode="auto">
          <a:xfrm>
            <a:off x="2899594" y="6538874"/>
            <a:ext cx="6091238" cy="1587"/>
          </a:xfrm>
          <a:custGeom>
            <a:avLst/>
            <a:gdLst>
              <a:gd name="T0" fmla="*/ 0 w 3837"/>
              <a:gd name="T1" fmla="*/ 0 h 1"/>
              <a:gd name="T2" fmla="*/ 2147483646 w 3837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837" h="1">
                <a:moveTo>
                  <a:pt x="0" y="0"/>
                </a:moveTo>
                <a:lnTo>
                  <a:pt x="383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7" name="Freeform 155"/>
          <p:cNvSpPr/>
          <p:nvPr/>
        </p:nvSpPr>
        <p:spPr bwMode="auto">
          <a:xfrm>
            <a:off x="3480619" y="6157874"/>
            <a:ext cx="1588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612396381 h 24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8" name="Freeform 156"/>
          <p:cNvSpPr/>
          <p:nvPr/>
        </p:nvSpPr>
        <p:spPr bwMode="auto">
          <a:xfrm>
            <a:off x="5336407" y="6157874"/>
            <a:ext cx="1587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612396381 h 24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79" name="Freeform 157"/>
          <p:cNvSpPr/>
          <p:nvPr/>
        </p:nvSpPr>
        <p:spPr bwMode="auto">
          <a:xfrm>
            <a:off x="7165207" y="6157874"/>
            <a:ext cx="1587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612396381 h 24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80" name="Freeform 158"/>
          <p:cNvSpPr/>
          <p:nvPr/>
        </p:nvSpPr>
        <p:spPr bwMode="auto">
          <a:xfrm>
            <a:off x="8987657" y="6157874"/>
            <a:ext cx="6350" cy="392112"/>
          </a:xfrm>
          <a:custGeom>
            <a:avLst/>
            <a:gdLst>
              <a:gd name="T0" fmla="*/ 10080625 w 4"/>
              <a:gd name="T1" fmla="*/ 0 h 247"/>
              <a:gd name="T2" fmla="*/ 0 w 4"/>
              <a:gd name="T3" fmla="*/ 622477006 h 247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" h="247">
                <a:moveTo>
                  <a:pt x="4" y="0"/>
                </a:moveTo>
                <a:lnTo>
                  <a:pt x="0" y="247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81" name="Freeform 159"/>
          <p:cNvSpPr/>
          <p:nvPr/>
        </p:nvSpPr>
        <p:spPr bwMode="auto">
          <a:xfrm>
            <a:off x="9759182" y="6157874"/>
            <a:ext cx="1587" cy="239712"/>
          </a:xfrm>
          <a:custGeom>
            <a:avLst/>
            <a:gdLst>
              <a:gd name="T0" fmla="*/ 0 w 1"/>
              <a:gd name="T1" fmla="*/ 0 h 151"/>
              <a:gd name="T2" fmla="*/ 0 w 1"/>
              <a:gd name="T3" fmla="*/ 380542006 h 15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51">
                <a:moveTo>
                  <a:pt x="0" y="0"/>
                </a:moveTo>
                <a:lnTo>
                  <a:pt x="0" y="15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82" name="Line 160"/>
          <p:cNvSpPr>
            <a:spLocks noChangeShapeType="1"/>
          </p:cNvSpPr>
          <p:nvPr/>
        </p:nvSpPr>
        <p:spPr bwMode="auto">
          <a:xfrm>
            <a:off x="7928794" y="615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83" name="Line 161"/>
          <p:cNvSpPr>
            <a:spLocks noChangeShapeType="1"/>
          </p:cNvSpPr>
          <p:nvPr/>
        </p:nvSpPr>
        <p:spPr bwMode="auto">
          <a:xfrm>
            <a:off x="6101582" y="615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84" name="Line 162"/>
          <p:cNvSpPr>
            <a:spLocks noChangeShapeType="1"/>
          </p:cNvSpPr>
          <p:nvPr/>
        </p:nvSpPr>
        <p:spPr bwMode="auto">
          <a:xfrm>
            <a:off x="4271194" y="6157874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85" name="Rectangle 163"/>
          <p:cNvSpPr>
            <a:spLocks noChangeArrowheads="1"/>
          </p:cNvSpPr>
          <p:nvPr/>
        </p:nvSpPr>
        <p:spPr bwMode="auto">
          <a:xfrm>
            <a:off x="5060182" y="5624474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19486" name="Text Box 164"/>
          <p:cNvSpPr txBox="1">
            <a:spLocks noChangeArrowheads="1"/>
          </p:cNvSpPr>
          <p:nvPr/>
        </p:nvSpPr>
        <p:spPr bwMode="auto">
          <a:xfrm>
            <a:off x="5109394" y="5673686"/>
            <a:ext cx="1200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487" name="Rectangle 165"/>
          <p:cNvSpPr>
            <a:spLocks noChangeArrowheads="1"/>
          </p:cNvSpPr>
          <p:nvPr/>
        </p:nvSpPr>
        <p:spPr bwMode="auto">
          <a:xfrm>
            <a:off x="6888982" y="5624474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19488" name="Text Box 166"/>
          <p:cNvSpPr txBox="1">
            <a:spLocks noChangeArrowheads="1"/>
          </p:cNvSpPr>
          <p:nvPr/>
        </p:nvSpPr>
        <p:spPr bwMode="auto">
          <a:xfrm>
            <a:off x="6938194" y="5673686"/>
            <a:ext cx="1200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489" name="Rectangle 167"/>
          <p:cNvSpPr>
            <a:spLocks noChangeArrowheads="1"/>
          </p:cNvSpPr>
          <p:nvPr/>
        </p:nvSpPr>
        <p:spPr bwMode="auto">
          <a:xfrm>
            <a:off x="8717782" y="5624474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219490" name="Text Box 168"/>
          <p:cNvSpPr txBox="1">
            <a:spLocks noChangeArrowheads="1"/>
          </p:cNvSpPr>
          <p:nvPr/>
        </p:nvSpPr>
        <p:spPr bwMode="auto">
          <a:xfrm>
            <a:off x="8766994" y="5673686"/>
            <a:ext cx="1200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491" name="Line 169"/>
          <p:cNvSpPr>
            <a:spLocks noChangeShapeType="1"/>
          </p:cNvSpPr>
          <p:nvPr/>
        </p:nvSpPr>
        <p:spPr bwMode="auto">
          <a:xfrm>
            <a:off x="4499794" y="5929274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2" name="Line 170"/>
          <p:cNvSpPr>
            <a:spLocks noChangeShapeType="1"/>
          </p:cNvSpPr>
          <p:nvPr/>
        </p:nvSpPr>
        <p:spPr bwMode="auto">
          <a:xfrm>
            <a:off x="6373044" y="5929274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3" name="Line 171"/>
          <p:cNvSpPr>
            <a:spLocks noChangeShapeType="1"/>
          </p:cNvSpPr>
          <p:nvPr/>
        </p:nvSpPr>
        <p:spPr bwMode="auto">
          <a:xfrm>
            <a:off x="8197082" y="5929274"/>
            <a:ext cx="28733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4" name="Line 172"/>
          <p:cNvSpPr>
            <a:spLocks noChangeShapeType="1"/>
          </p:cNvSpPr>
          <p:nvPr/>
        </p:nvSpPr>
        <p:spPr bwMode="auto">
          <a:xfrm>
            <a:off x="9986194" y="5929274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5" name="Freeform 173"/>
          <p:cNvSpPr/>
          <p:nvPr/>
        </p:nvSpPr>
        <p:spPr bwMode="auto">
          <a:xfrm>
            <a:off x="6196832" y="4295736"/>
            <a:ext cx="74612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1558035799 h 40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6" name="Freeform 174"/>
          <p:cNvSpPr/>
          <p:nvPr/>
        </p:nvSpPr>
        <p:spPr bwMode="auto">
          <a:xfrm>
            <a:off x="8025632" y="4268749"/>
            <a:ext cx="1587" cy="833437"/>
          </a:xfrm>
          <a:custGeom>
            <a:avLst/>
            <a:gdLst>
              <a:gd name="T0" fmla="*/ 0 w 1"/>
              <a:gd name="T1" fmla="*/ 0 h 525"/>
              <a:gd name="T2" fmla="*/ 0 w 1"/>
              <a:gd name="T3" fmla="*/ 1323080444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525">
                <a:moveTo>
                  <a:pt x="0" y="0"/>
                </a:moveTo>
                <a:lnTo>
                  <a:pt x="0" y="525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7" name="Freeform 175"/>
          <p:cNvSpPr/>
          <p:nvPr/>
        </p:nvSpPr>
        <p:spPr bwMode="auto">
          <a:xfrm>
            <a:off x="9835382" y="4295736"/>
            <a:ext cx="74612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1558035799 h 40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498" name="Text Box 176"/>
          <p:cNvSpPr txBox="1">
            <a:spLocks noChangeArrowheads="1"/>
          </p:cNvSpPr>
          <p:nvPr/>
        </p:nvSpPr>
        <p:spPr bwMode="auto">
          <a:xfrm rot="5400000">
            <a:off x="3275038" y="260108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19499" name="Text Box 177"/>
          <p:cNvSpPr txBox="1">
            <a:spLocks noChangeArrowheads="1"/>
          </p:cNvSpPr>
          <p:nvPr/>
        </p:nvSpPr>
        <p:spPr bwMode="auto">
          <a:xfrm rot="5400000">
            <a:off x="4189438" y="260108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19500" name="Text Box 178"/>
          <p:cNvSpPr txBox="1">
            <a:spLocks noChangeArrowheads="1"/>
          </p:cNvSpPr>
          <p:nvPr/>
        </p:nvSpPr>
        <p:spPr bwMode="auto">
          <a:xfrm rot="5400000">
            <a:off x="5103838" y="260108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19501" name="Text Box 179"/>
          <p:cNvSpPr txBox="1">
            <a:spLocks noChangeArrowheads="1"/>
          </p:cNvSpPr>
          <p:nvPr/>
        </p:nvSpPr>
        <p:spPr bwMode="auto">
          <a:xfrm rot="5400000">
            <a:off x="6018238" y="258203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19502" name="Text Box 180"/>
          <p:cNvSpPr txBox="1">
            <a:spLocks noChangeArrowheads="1"/>
          </p:cNvSpPr>
          <p:nvPr/>
        </p:nvSpPr>
        <p:spPr bwMode="auto">
          <a:xfrm rot="5400000">
            <a:off x="6931051" y="2580442"/>
            <a:ext cx="5905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19503" name="Text Box 181"/>
          <p:cNvSpPr txBox="1">
            <a:spLocks noChangeArrowheads="1"/>
          </p:cNvSpPr>
          <p:nvPr/>
        </p:nvSpPr>
        <p:spPr bwMode="auto">
          <a:xfrm rot="5400000">
            <a:off x="7847038" y="258203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19504" name="Text Box 182"/>
          <p:cNvSpPr txBox="1">
            <a:spLocks noChangeArrowheads="1"/>
          </p:cNvSpPr>
          <p:nvPr/>
        </p:nvSpPr>
        <p:spPr bwMode="auto">
          <a:xfrm rot="5400000">
            <a:off x="8761438" y="258203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19505" name="Text Box 183"/>
          <p:cNvSpPr txBox="1">
            <a:spLocks noChangeArrowheads="1"/>
          </p:cNvSpPr>
          <p:nvPr/>
        </p:nvSpPr>
        <p:spPr bwMode="auto">
          <a:xfrm rot="5400000">
            <a:off x="9706001" y="2582030"/>
            <a:ext cx="5905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19506" name="Text Box 184"/>
          <p:cNvSpPr txBox="1">
            <a:spLocks noChangeArrowheads="1"/>
          </p:cNvSpPr>
          <p:nvPr/>
        </p:nvSpPr>
        <p:spPr bwMode="auto">
          <a:xfrm>
            <a:off x="2429694" y="1252499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0</a:t>
            </a:r>
            <a:endParaRPr lang="zh-CN" altLang="en-US" sz="1800">
              <a:latin typeface="Times New Roman" panose="02020603050405020304" pitchFamily="18" charset="0"/>
            </a:endParaRPr>
          </a:p>
        </p:txBody>
      </p:sp>
      <p:sp>
        <p:nvSpPr>
          <p:cNvPr id="219507" name="Text Box 185"/>
          <p:cNvSpPr txBox="1">
            <a:spLocks noChangeArrowheads="1"/>
          </p:cNvSpPr>
          <p:nvPr/>
        </p:nvSpPr>
        <p:spPr bwMode="auto">
          <a:xfrm>
            <a:off x="2429694" y="2192299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1</a:t>
            </a:r>
            <a:endParaRPr lang="zh-CN" altLang="en-US" sz="1800">
              <a:latin typeface="Times New Roman" panose="02020603050405020304" pitchFamily="18" charset="0"/>
            </a:endParaRPr>
          </a:p>
        </p:txBody>
      </p:sp>
      <p:sp>
        <p:nvSpPr>
          <p:cNvPr id="219508" name="Text Box 186"/>
          <p:cNvSpPr txBox="1">
            <a:spLocks noChangeArrowheads="1"/>
          </p:cNvSpPr>
          <p:nvPr/>
        </p:nvSpPr>
        <p:spPr bwMode="auto">
          <a:xfrm>
            <a:off x="2372544" y="3106699"/>
            <a:ext cx="412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63</a:t>
            </a:r>
            <a:endParaRPr lang="zh-CN" altLang="en-US" sz="1800">
              <a:latin typeface="Times New Roman" panose="02020603050405020304" pitchFamily="18" charset="0"/>
            </a:endParaRPr>
          </a:p>
        </p:txBody>
      </p:sp>
      <p:sp>
        <p:nvSpPr>
          <p:cNvPr id="219509" name="Line 187"/>
          <p:cNvSpPr>
            <a:spLocks noChangeShapeType="1"/>
          </p:cNvSpPr>
          <p:nvPr/>
        </p:nvSpPr>
        <p:spPr bwMode="auto">
          <a:xfrm>
            <a:off x="1908994" y="4024274"/>
            <a:ext cx="914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10" name="Text Box 188"/>
          <p:cNvSpPr txBox="1">
            <a:spLocks noChangeArrowheads="1"/>
          </p:cNvSpPr>
          <p:nvPr/>
        </p:nvSpPr>
        <p:spPr bwMode="auto">
          <a:xfrm>
            <a:off x="2429694" y="4325899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0</a:t>
            </a:r>
            <a:endParaRPr lang="zh-CN" altLang="en-US" sz="1800">
              <a:latin typeface="Times New Roman" panose="02020603050405020304" pitchFamily="18" charset="0"/>
            </a:endParaRPr>
          </a:p>
        </p:txBody>
      </p:sp>
      <p:sp>
        <p:nvSpPr>
          <p:cNvPr id="219511" name="Text Box 189"/>
          <p:cNvSpPr txBox="1">
            <a:spLocks noChangeArrowheads="1"/>
          </p:cNvSpPr>
          <p:nvPr/>
        </p:nvSpPr>
        <p:spPr bwMode="auto">
          <a:xfrm>
            <a:off x="2372544" y="5011699"/>
            <a:ext cx="412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15</a:t>
            </a:r>
            <a:endParaRPr lang="zh-CN" altLang="en-US" sz="1800">
              <a:latin typeface="Times New Roman" panose="02020603050405020304" pitchFamily="18" charset="0"/>
            </a:endParaRPr>
          </a:p>
        </p:txBody>
      </p:sp>
      <p:sp>
        <p:nvSpPr>
          <p:cNvPr id="219512" name="Text Box 190"/>
          <p:cNvSpPr txBox="1">
            <a:spLocks noChangeArrowheads="1"/>
          </p:cNvSpPr>
          <p:nvPr/>
        </p:nvSpPr>
        <p:spPr bwMode="auto">
          <a:xfrm rot="5400000">
            <a:off x="2436838" y="258203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19513" name="Text Box 191"/>
          <p:cNvSpPr txBox="1">
            <a:spLocks noChangeArrowheads="1"/>
          </p:cNvSpPr>
          <p:nvPr/>
        </p:nvSpPr>
        <p:spPr bwMode="auto">
          <a:xfrm rot="5400000">
            <a:off x="2436838" y="456323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19514" name="Text Box 192"/>
          <p:cNvSpPr txBox="1">
            <a:spLocks noChangeArrowheads="1"/>
          </p:cNvSpPr>
          <p:nvPr/>
        </p:nvSpPr>
        <p:spPr bwMode="auto">
          <a:xfrm>
            <a:off x="1934394" y="1608099"/>
            <a:ext cx="4397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行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15" name="Text Box 193"/>
          <p:cNvSpPr txBox="1">
            <a:spLocks noChangeArrowheads="1"/>
          </p:cNvSpPr>
          <p:nvPr/>
        </p:nvSpPr>
        <p:spPr bwMode="auto">
          <a:xfrm>
            <a:off x="1934394" y="2001799"/>
            <a:ext cx="4397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地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16" name="Text Box 194"/>
          <p:cNvSpPr txBox="1">
            <a:spLocks noChangeArrowheads="1"/>
          </p:cNvSpPr>
          <p:nvPr/>
        </p:nvSpPr>
        <p:spPr bwMode="auto">
          <a:xfrm>
            <a:off x="1934394" y="2395499"/>
            <a:ext cx="4397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址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17" name="Text Box 195"/>
          <p:cNvSpPr txBox="1">
            <a:spLocks noChangeArrowheads="1"/>
          </p:cNvSpPr>
          <p:nvPr/>
        </p:nvSpPr>
        <p:spPr bwMode="auto">
          <a:xfrm>
            <a:off x="1934394" y="2787611"/>
            <a:ext cx="4397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译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18" name="Text Box 196"/>
          <p:cNvSpPr txBox="1">
            <a:spLocks noChangeArrowheads="1"/>
          </p:cNvSpPr>
          <p:nvPr/>
        </p:nvSpPr>
        <p:spPr bwMode="auto">
          <a:xfrm>
            <a:off x="1934394" y="3181311"/>
            <a:ext cx="4397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码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19" name="Text Box 197"/>
          <p:cNvSpPr txBox="1">
            <a:spLocks noChangeArrowheads="1"/>
          </p:cNvSpPr>
          <p:nvPr/>
        </p:nvSpPr>
        <p:spPr bwMode="auto">
          <a:xfrm>
            <a:off x="1977257" y="4179849"/>
            <a:ext cx="439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列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20" name="Text Box 198"/>
          <p:cNvSpPr txBox="1">
            <a:spLocks noChangeArrowheads="1"/>
          </p:cNvSpPr>
          <p:nvPr/>
        </p:nvSpPr>
        <p:spPr bwMode="auto">
          <a:xfrm>
            <a:off x="1977257" y="4573549"/>
            <a:ext cx="439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地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21" name="Text Box 199"/>
          <p:cNvSpPr txBox="1">
            <a:spLocks noChangeArrowheads="1"/>
          </p:cNvSpPr>
          <p:nvPr/>
        </p:nvSpPr>
        <p:spPr bwMode="auto">
          <a:xfrm>
            <a:off x="1977257" y="4967249"/>
            <a:ext cx="439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址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22" name="Text Box 200"/>
          <p:cNvSpPr txBox="1">
            <a:spLocks noChangeArrowheads="1"/>
          </p:cNvSpPr>
          <p:nvPr/>
        </p:nvSpPr>
        <p:spPr bwMode="auto">
          <a:xfrm>
            <a:off x="1977257" y="5359361"/>
            <a:ext cx="439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译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23" name="Text Box 201"/>
          <p:cNvSpPr txBox="1">
            <a:spLocks noChangeArrowheads="1"/>
          </p:cNvSpPr>
          <p:nvPr/>
        </p:nvSpPr>
        <p:spPr bwMode="auto">
          <a:xfrm>
            <a:off x="1977257" y="5753061"/>
            <a:ext cx="4397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码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19524" name="Text Box 202"/>
          <p:cNvSpPr txBox="1">
            <a:spLocks noChangeArrowheads="1"/>
          </p:cNvSpPr>
          <p:nvPr/>
        </p:nvSpPr>
        <p:spPr bwMode="auto">
          <a:xfrm>
            <a:off x="4468044" y="5595899"/>
            <a:ext cx="549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1</a:t>
            </a:r>
            <a:endParaRPr lang="en-US" altLang="zh-CN" sz="1600" baseline="-25000">
              <a:latin typeface="Times New Roman" panose="02020603050405020304" pitchFamily="18" charset="0"/>
            </a:endParaRPr>
          </a:p>
        </p:txBody>
      </p:sp>
      <p:sp>
        <p:nvSpPr>
          <p:cNvPr id="219525" name="Text Box 203"/>
          <p:cNvSpPr txBox="1">
            <a:spLocks noChangeArrowheads="1"/>
          </p:cNvSpPr>
          <p:nvPr/>
        </p:nvSpPr>
        <p:spPr bwMode="auto">
          <a:xfrm>
            <a:off x="6309544" y="5595899"/>
            <a:ext cx="549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2</a:t>
            </a:r>
            <a:endParaRPr lang="en-US" altLang="zh-CN" sz="1600" baseline="-25000">
              <a:latin typeface="Times New Roman" panose="02020603050405020304" pitchFamily="18" charset="0"/>
            </a:endParaRPr>
          </a:p>
        </p:txBody>
      </p:sp>
      <p:sp>
        <p:nvSpPr>
          <p:cNvPr id="219526" name="Text Box 204"/>
          <p:cNvSpPr txBox="1">
            <a:spLocks noChangeArrowheads="1"/>
          </p:cNvSpPr>
          <p:nvPr/>
        </p:nvSpPr>
        <p:spPr bwMode="auto">
          <a:xfrm>
            <a:off x="8138344" y="5595899"/>
            <a:ext cx="549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3</a:t>
            </a:r>
            <a:endParaRPr lang="en-US" altLang="zh-CN" sz="1600" baseline="-25000">
              <a:latin typeface="Times New Roman" panose="02020603050405020304" pitchFamily="18" charset="0"/>
            </a:endParaRPr>
          </a:p>
        </p:txBody>
      </p:sp>
      <p:sp>
        <p:nvSpPr>
          <p:cNvPr id="219527" name="Text Box 205"/>
          <p:cNvSpPr txBox="1">
            <a:spLocks noChangeArrowheads="1"/>
          </p:cNvSpPr>
          <p:nvPr/>
        </p:nvSpPr>
        <p:spPr bwMode="auto">
          <a:xfrm>
            <a:off x="9976669" y="5595899"/>
            <a:ext cx="549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4</a:t>
            </a:r>
            <a:endParaRPr lang="en-US" altLang="zh-CN" sz="1600" baseline="-25000">
              <a:latin typeface="Times New Roman" panose="02020603050405020304" pitchFamily="18" charset="0"/>
            </a:endParaRPr>
          </a:p>
        </p:txBody>
      </p:sp>
      <p:sp>
        <p:nvSpPr>
          <p:cNvPr id="219528" name="Line 206"/>
          <p:cNvSpPr>
            <a:spLocks noChangeShapeType="1"/>
          </p:cNvSpPr>
          <p:nvPr/>
        </p:nvSpPr>
        <p:spPr bwMode="auto">
          <a:xfrm>
            <a:off x="1604194" y="1433474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29" name="Line 207"/>
          <p:cNvSpPr>
            <a:spLocks noChangeShapeType="1"/>
          </p:cNvSpPr>
          <p:nvPr/>
        </p:nvSpPr>
        <p:spPr bwMode="auto">
          <a:xfrm>
            <a:off x="1604194" y="1844636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0" name="Line 208"/>
          <p:cNvSpPr>
            <a:spLocks noChangeShapeType="1"/>
          </p:cNvSpPr>
          <p:nvPr/>
        </p:nvSpPr>
        <p:spPr bwMode="auto">
          <a:xfrm>
            <a:off x="1604194" y="2255799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1" name="Line 209"/>
          <p:cNvSpPr>
            <a:spLocks noChangeShapeType="1"/>
          </p:cNvSpPr>
          <p:nvPr/>
        </p:nvSpPr>
        <p:spPr bwMode="auto">
          <a:xfrm>
            <a:off x="1604194" y="2666961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2" name="Line 210"/>
          <p:cNvSpPr>
            <a:spLocks noChangeShapeType="1"/>
          </p:cNvSpPr>
          <p:nvPr/>
        </p:nvSpPr>
        <p:spPr bwMode="auto">
          <a:xfrm>
            <a:off x="1604194" y="3078124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3" name="Line 211"/>
          <p:cNvSpPr>
            <a:spLocks noChangeShapeType="1"/>
          </p:cNvSpPr>
          <p:nvPr/>
        </p:nvSpPr>
        <p:spPr bwMode="auto">
          <a:xfrm>
            <a:off x="1604194" y="3490874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4" name="Line 212"/>
          <p:cNvSpPr>
            <a:spLocks noChangeShapeType="1"/>
          </p:cNvSpPr>
          <p:nvPr/>
        </p:nvSpPr>
        <p:spPr bwMode="auto">
          <a:xfrm>
            <a:off x="1604194" y="4556086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5" name="Line 213"/>
          <p:cNvSpPr>
            <a:spLocks noChangeShapeType="1"/>
          </p:cNvSpPr>
          <p:nvPr/>
        </p:nvSpPr>
        <p:spPr bwMode="auto">
          <a:xfrm>
            <a:off x="1604194" y="4967249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6" name="Line 214"/>
          <p:cNvSpPr>
            <a:spLocks noChangeShapeType="1"/>
          </p:cNvSpPr>
          <p:nvPr/>
        </p:nvSpPr>
        <p:spPr bwMode="auto">
          <a:xfrm>
            <a:off x="1604194" y="5378411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7" name="Line 215"/>
          <p:cNvSpPr>
            <a:spLocks noChangeShapeType="1"/>
          </p:cNvSpPr>
          <p:nvPr/>
        </p:nvSpPr>
        <p:spPr bwMode="auto">
          <a:xfrm>
            <a:off x="1604194" y="5791161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38" name="Text Box 216"/>
          <p:cNvSpPr txBox="1">
            <a:spLocks noChangeArrowheads="1"/>
          </p:cNvSpPr>
          <p:nvPr/>
        </p:nvSpPr>
        <p:spPr bwMode="auto">
          <a:xfrm>
            <a:off x="2410644" y="6172161"/>
            <a:ext cx="565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800">
                <a:solidFill>
                  <a:schemeClr val="folHlink"/>
                </a:solidFill>
                <a:latin typeface="Times New Roman" panose="02020603050405020304" pitchFamily="18" charset="0"/>
              </a:rPr>
              <a:t>WE</a:t>
            </a:r>
            <a:endParaRPr lang="en-US" altLang="zh-CN" sz="1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39" name="Line 217"/>
          <p:cNvSpPr>
            <a:spLocks noChangeShapeType="1"/>
          </p:cNvSpPr>
          <p:nvPr/>
        </p:nvSpPr>
        <p:spPr bwMode="auto">
          <a:xfrm>
            <a:off x="2464619" y="6224549"/>
            <a:ext cx="4572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40" name="Text Box 218"/>
          <p:cNvSpPr txBox="1">
            <a:spLocks noChangeArrowheads="1"/>
          </p:cNvSpPr>
          <p:nvPr/>
        </p:nvSpPr>
        <p:spPr bwMode="auto">
          <a:xfrm>
            <a:off x="2442394" y="6386474"/>
            <a:ext cx="5095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CS</a:t>
            </a:r>
            <a:endParaRPr lang="en-US" altLang="zh-CN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1" name="Line 219"/>
          <p:cNvSpPr>
            <a:spLocks noChangeShapeType="1"/>
          </p:cNvSpPr>
          <p:nvPr/>
        </p:nvSpPr>
        <p:spPr bwMode="auto">
          <a:xfrm>
            <a:off x="2534469" y="6472199"/>
            <a:ext cx="3048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19542" name="Text Box 220"/>
          <p:cNvSpPr txBox="1">
            <a:spLocks noChangeArrowheads="1"/>
          </p:cNvSpPr>
          <p:nvPr/>
        </p:nvSpPr>
        <p:spPr bwMode="auto">
          <a:xfrm>
            <a:off x="1604194" y="1066761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3" name="Text Box 221"/>
          <p:cNvSpPr txBox="1">
            <a:spLocks noChangeArrowheads="1"/>
          </p:cNvSpPr>
          <p:nvPr/>
        </p:nvSpPr>
        <p:spPr bwMode="auto">
          <a:xfrm>
            <a:off x="1604194" y="1477924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4" name="Text Box 222"/>
          <p:cNvSpPr txBox="1">
            <a:spLocks noChangeArrowheads="1"/>
          </p:cNvSpPr>
          <p:nvPr/>
        </p:nvSpPr>
        <p:spPr bwMode="auto">
          <a:xfrm>
            <a:off x="1604194" y="1889086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5" name="Text Box 223"/>
          <p:cNvSpPr txBox="1">
            <a:spLocks noChangeArrowheads="1"/>
          </p:cNvSpPr>
          <p:nvPr/>
        </p:nvSpPr>
        <p:spPr bwMode="auto">
          <a:xfrm>
            <a:off x="1604194" y="2300249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6" name="Text Box 224"/>
          <p:cNvSpPr txBox="1">
            <a:spLocks noChangeArrowheads="1"/>
          </p:cNvSpPr>
          <p:nvPr/>
        </p:nvSpPr>
        <p:spPr bwMode="auto">
          <a:xfrm>
            <a:off x="1604194" y="2711411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7" name="Text Box 225"/>
          <p:cNvSpPr txBox="1">
            <a:spLocks noChangeArrowheads="1"/>
          </p:cNvSpPr>
          <p:nvPr/>
        </p:nvSpPr>
        <p:spPr bwMode="auto">
          <a:xfrm>
            <a:off x="1604194" y="3124161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8" name="Text Box 226"/>
          <p:cNvSpPr txBox="1">
            <a:spLocks noChangeArrowheads="1"/>
          </p:cNvSpPr>
          <p:nvPr/>
        </p:nvSpPr>
        <p:spPr bwMode="auto">
          <a:xfrm>
            <a:off x="1604194" y="4214774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49" name="Text Box 227"/>
          <p:cNvSpPr txBox="1">
            <a:spLocks noChangeArrowheads="1"/>
          </p:cNvSpPr>
          <p:nvPr/>
        </p:nvSpPr>
        <p:spPr bwMode="auto">
          <a:xfrm>
            <a:off x="1604194" y="4625936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50" name="Text Box 228"/>
          <p:cNvSpPr txBox="1">
            <a:spLocks noChangeArrowheads="1"/>
          </p:cNvSpPr>
          <p:nvPr/>
        </p:nvSpPr>
        <p:spPr bwMode="auto">
          <a:xfrm>
            <a:off x="1604194" y="5037099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551" name="Text Box 229"/>
          <p:cNvSpPr txBox="1">
            <a:spLocks noChangeArrowheads="1"/>
          </p:cNvSpPr>
          <p:nvPr/>
        </p:nvSpPr>
        <p:spPr bwMode="auto">
          <a:xfrm>
            <a:off x="1604194" y="5448261"/>
            <a:ext cx="311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19552" name="Group 230"/>
          <p:cNvGrpSpPr/>
          <p:nvPr/>
        </p:nvGrpSpPr>
        <p:grpSpPr bwMode="auto">
          <a:xfrm>
            <a:off x="2834507" y="4276686"/>
            <a:ext cx="6124575" cy="301625"/>
            <a:chOff x="915" y="2696"/>
            <a:chExt cx="3858" cy="190"/>
          </a:xfrm>
        </p:grpSpPr>
        <p:sp>
          <p:nvSpPr>
            <p:cNvPr id="219553" name="Freeform 231"/>
            <p:cNvSpPr/>
            <p:nvPr/>
          </p:nvSpPr>
          <p:spPr bwMode="auto">
            <a:xfrm>
              <a:off x="1304" y="2707"/>
              <a:ext cx="1" cy="166"/>
            </a:xfrm>
            <a:custGeom>
              <a:avLst/>
              <a:gdLst>
                <a:gd name="T0" fmla="*/ 0 w 1"/>
                <a:gd name="T1" fmla="*/ 0 h 166"/>
                <a:gd name="T2" fmla="*/ 1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54" name="Freeform 232"/>
            <p:cNvSpPr/>
            <p:nvPr/>
          </p:nvSpPr>
          <p:spPr bwMode="auto">
            <a:xfrm>
              <a:off x="2457" y="2710"/>
              <a:ext cx="1" cy="166"/>
            </a:xfrm>
            <a:custGeom>
              <a:avLst/>
              <a:gdLst>
                <a:gd name="T0" fmla="*/ 0 w 1"/>
                <a:gd name="T1" fmla="*/ 0 h 166"/>
                <a:gd name="T2" fmla="*/ 1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55" name="Freeform 233"/>
            <p:cNvSpPr/>
            <p:nvPr/>
          </p:nvSpPr>
          <p:spPr bwMode="auto">
            <a:xfrm>
              <a:off x="3609" y="2710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56" name="Freeform 234"/>
            <p:cNvSpPr/>
            <p:nvPr/>
          </p:nvSpPr>
          <p:spPr bwMode="auto">
            <a:xfrm>
              <a:off x="4761" y="2696"/>
              <a:ext cx="1" cy="178"/>
            </a:xfrm>
            <a:custGeom>
              <a:avLst/>
              <a:gdLst>
                <a:gd name="T0" fmla="*/ 0 w 1"/>
                <a:gd name="T1" fmla="*/ 0 h 178"/>
                <a:gd name="T2" fmla="*/ 0 w 1"/>
                <a:gd name="T3" fmla="*/ 178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8">
                  <a:moveTo>
                    <a:pt x="0" y="0"/>
                  </a:moveTo>
                  <a:lnTo>
                    <a:pt x="0" y="178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57" name="Freeform 235"/>
            <p:cNvSpPr/>
            <p:nvPr/>
          </p:nvSpPr>
          <p:spPr bwMode="auto">
            <a:xfrm>
              <a:off x="915" y="2865"/>
              <a:ext cx="3858" cy="2"/>
            </a:xfrm>
            <a:custGeom>
              <a:avLst/>
              <a:gdLst>
                <a:gd name="T0" fmla="*/ 0 w 3858"/>
                <a:gd name="T1" fmla="*/ 2 h 2"/>
                <a:gd name="T2" fmla="*/ 3858 w 385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58" h="2">
                  <a:moveTo>
                    <a:pt x="0" y="2"/>
                  </a:moveTo>
                  <a:lnTo>
                    <a:pt x="3858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9558" name="Group 236"/>
          <p:cNvGrpSpPr/>
          <p:nvPr/>
        </p:nvGrpSpPr>
        <p:grpSpPr bwMode="auto">
          <a:xfrm>
            <a:off x="3307582" y="4176674"/>
            <a:ext cx="304800" cy="250825"/>
            <a:chOff x="1440" y="2928"/>
            <a:chExt cx="192" cy="158"/>
          </a:xfrm>
        </p:grpSpPr>
        <p:grpSp>
          <p:nvGrpSpPr>
            <p:cNvPr id="219559" name="Group 237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219564" name="Line 238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65" name="Line 239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9560" name="Freeform 240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9561" name="Group 241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219562" name="Line 24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63" name="Line 24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9566" name="Group 244"/>
          <p:cNvGrpSpPr/>
          <p:nvPr/>
        </p:nvGrpSpPr>
        <p:grpSpPr bwMode="auto">
          <a:xfrm>
            <a:off x="5136382" y="4179849"/>
            <a:ext cx="304800" cy="250825"/>
            <a:chOff x="1440" y="2928"/>
            <a:chExt cx="192" cy="158"/>
          </a:xfrm>
        </p:grpSpPr>
        <p:grpSp>
          <p:nvGrpSpPr>
            <p:cNvPr id="219567" name="Group 245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219572" name="Line 246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73" name="Line 247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9568" name="Freeform 248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9569" name="Group 249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219570" name="Line 250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71" name="Line 251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9574" name="Group 252"/>
          <p:cNvGrpSpPr/>
          <p:nvPr/>
        </p:nvGrpSpPr>
        <p:grpSpPr bwMode="auto">
          <a:xfrm>
            <a:off x="6965182" y="4179849"/>
            <a:ext cx="304800" cy="250825"/>
            <a:chOff x="1440" y="2928"/>
            <a:chExt cx="192" cy="158"/>
          </a:xfrm>
        </p:grpSpPr>
        <p:grpSp>
          <p:nvGrpSpPr>
            <p:cNvPr id="219575" name="Group 253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219580" name="Line 254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81" name="Line 255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9576" name="Freeform 256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9577" name="Group 257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219578" name="Line 258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79" name="Line 259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9582" name="Group 260"/>
          <p:cNvGrpSpPr/>
          <p:nvPr/>
        </p:nvGrpSpPr>
        <p:grpSpPr bwMode="auto">
          <a:xfrm>
            <a:off x="8792394" y="4179849"/>
            <a:ext cx="304800" cy="250825"/>
            <a:chOff x="1440" y="2928"/>
            <a:chExt cx="192" cy="158"/>
          </a:xfrm>
        </p:grpSpPr>
        <p:grpSp>
          <p:nvGrpSpPr>
            <p:cNvPr id="219583" name="Group 261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219588" name="Line 26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89" name="Line 26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9584" name="Freeform 264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19585" name="Group 265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219586" name="Line 266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9587" name="Line 267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19590" name="Group 268"/>
          <p:cNvGrpSpPr/>
          <p:nvPr/>
        </p:nvGrpSpPr>
        <p:grpSpPr bwMode="auto">
          <a:xfrm>
            <a:off x="3282182" y="1906549"/>
            <a:ext cx="6062662" cy="2339975"/>
            <a:chOff x="1197" y="1203"/>
            <a:chExt cx="3819" cy="1474"/>
          </a:xfrm>
        </p:grpSpPr>
        <p:sp>
          <p:nvSpPr>
            <p:cNvPr id="219591" name="Freeform 269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26 w 145"/>
                <a:gd name="T1" fmla="*/ 0 h 1466"/>
                <a:gd name="T2" fmla="*/ 101 w 145"/>
                <a:gd name="T3" fmla="*/ 0 h 1466"/>
                <a:gd name="T4" fmla="*/ 100 w 145"/>
                <a:gd name="T5" fmla="*/ 1482 h 1466"/>
                <a:gd name="T6" fmla="*/ 0 w 145"/>
                <a:gd name="T7" fmla="*/ 1482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92" name="Text Box 270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593" name="Freeform 271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94" name="Text Box 272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595" name="Freeform 273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96" name="Text Box 274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597" name="Freeform 275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598" name="Text Box 276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19599" name="Group 277"/>
          <p:cNvGrpSpPr/>
          <p:nvPr/>
        </p:nvGrpSpPr>
        <p:grpSpPr bwMode="auto">
          <a:xfrm>
            <a:off x="2966269" y="850861"/>
            <a:ext cx="7292975" cy="403225"/>
            <a:chOff x="1022" y="538"/>
            <a:chExt cx="4594" cy="254"/>
          </a:xfrm>
        </p:grpSpPr>
        <p:sp>
          <p:nvSpPr>
            <p:cNvPr id="219600" name="Line 278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01" name="Freeform 279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02" name="Line 280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03" name="Freeform 281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04" name="Line 282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05" name="Text Box 283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9606" name="Text Box 284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9607" name="Text Box 285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9608" name="Text Box 286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9609" name="Line 287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0" name="Line 288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1" name="Line 289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2" name="Line 290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3" name="Line 291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4" name="Line 292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5" name="Line 293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9616" name="Line 294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9618" name="Text Box 296"/>
          <p:cNvSpPr txBox="1">
            <a:spLocks noChangeArrowheads="1"/>
          </p:cNvSpPr>
          <p:nvPr/>
        </p:nvSpPr>
        <p:spPr bwMode="auto">
          <a:xfrm>
            <a:off x="180207" y="57111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19619" name="Group 297"/>
          <p:cNvGrpSpPr/>
          <p:nvPr/>
        </p:nvGrpSpPr>
        <p:grpSpPr bwMode="auto">
          <a:xfrm>
            <a:off x="2813869" y="1357274"/>
            <a:ext cx="7250113" cy="682625"/>
            <a:chOff x="902" y="857"/>
            <a:chExt cx="4567" cy="430"/>
          </a:xfrm>
        </p:grpSpPr>
        <p:grpSp>
          <p:nvGrpSpPr>
            <p:cNvPr id="219620" name="Group 298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19625" name="Group 299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19636" name="Rectangle 300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37" name="Rectangle 301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38" name="Rectangle 302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39" name="Rectangle 303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40" name="Rectangle 304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41" name="Rectangle 305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42" name="Rectangle 306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9643" name="Rectangle 307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19626" name="Group 308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19627" name="Freeform 309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28" name="Line 310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29" name="Line 311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30" name="Line 312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31" name="Line 313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32" name="Line 314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33" name="Line 315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34" name="Line 316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35" name="Line 317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19621" name="Text Box 318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22" name="Text Box 319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23" name="Text Box 320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24" name="Text Box 321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19644" name="Rectangle 322"/>
          <p:cNvSpPr>
            <a:spLocks noChangeArrowheads="1"/>
          </p:cNvSpPr>
          <p:nvPr/>
        </p:nvSpPr>
        <p:spPr bwMode="auto">
          <a:xfrm>
            <a:off x="3210744" y="1604924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645" name="Rectangle 323"/>
          <p:cNvSpPr>
            <a:spLocks noChangeArrowheads="1"/>
          </p:cNvSpPr>
          <p:nvPr/>
        </p:nvSpPr>
        <p:spPr bwMode="auto">
          <a:xfrm>
            <a:off x="5020494" y="1604924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16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646" name="Rectangle 324"/>
          <p:cNvSpPr>
            <a:spLocks noChangeArrowheads="1"/>
          </p:cNvSpPr>
          <p:nvPr/>
        </p:nvSpPr>
        <p:spPr bwMode="auto">
          <a:xfrm>
            <a:off x="6885807" y="1604924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32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9647" name="Rectangle 325"/>
          <p:cNvSpPr>
            <a:spLocks noChangeArrowheads="1"/>
          </p:cNvSpPr>
          <p:nvPr/>
        </p:nvSpPr>
        <p:spPr bwMode="auto">
          <a:xfrm>
            <a:off x="8687619" y="1604924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48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19648" name="Group 326"/>
          <p:cNvGrpSpPr/>
          <p:nvPr/>
        </p:nvGrpSpPr>
        <p:grpSpPr bwMode="auto">
          <a:xfrm>
            <a:off x="3610794" y="4348124"/>
            <a:ext cx="6173788" cy="1295400"/>
            <a:chOff x="1428" y="2784"/>
            <a:chExt cx="3889" cy="816"/>
          </a:xfrm>
        </p:grpSpPr>
        <p:sp>
          <p:nvSpPr>
            <p:cNvPr id="219649" name="Freeform 327"/>
            <p:cNvSpPr/>
            <p:nvPr/>
          </p:nvSpPr>
          <p:spPr bwMode="auto">
            <a:xfrm>
              <a:off x="1428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50" name="Freeform 328"/>
            <p:cNvSpPr/>
            <p:nvPr/>
          </p:nvSpPr>
          <p:spPr bwMode="auto">
            <a:xfrm>
              <a:off x="4885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51" name="Freeform 329"/>
            <p:cNvSpPr/>
            <p:nvPr/>
          </p:nvSpPr>
          <p:spPr bwMode="auto">
            <a:xfrm>
              <a:off x="3733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9652" name="Freeform 330"/>
            <p:cNvSpPr/>
            <p:nvPr/>
          </p:nvSpPr>
          <p:spPr bwMode="auto">
            <a:xfrm>
              <a:off x="2579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9653" name="Group 331"/>
          <p:cNvGrpSpPr/>
          <p:nvPr/>
        </p:nvGrpSpPr>
        <p:grpSpPr bwMode="auto">
          <a:xfrm>
            <a:off x="2834507" y="2614574"/>
            <a:ext cx="6613525" cy="1963737"/>
            <a:chOff x="915" y="1649"/>
            <a:chExt cx="4166" cy="1237"/>
          </a:xfrm>
        </p:grpSpPr>
        <p:grpSp>
          <p:nvGrpSpPr>
            <p:cNvPr id="219654" name="Group 332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19663" name="Group 333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19696" name="Freeform 334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97" name="Freeform 335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98" name="Freeform 336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699" name="Freeform 337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700" name="Freeform 338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9664" name="Group 339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19689" name="Group 34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94" name="Line 34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95" name="Line 34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9690" name="Freeform 34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9691" name="Group 34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92" name="Line 34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93" name="Line 34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19665" name="Group 347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19682" name="Group 34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87" name="Line 34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88" name="Line 35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9683" name="Freeform 35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9684" name="Group 35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85" name="Line 35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86" name="Line 35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19666" name="Group 355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19675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80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81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9676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9677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78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79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19667" name="Group 363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19668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73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74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19669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19670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19671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672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19655" name="Rectangle 371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56" name="Text Box 372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57" name="Rectangle 373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58" name="Rectangle 374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59" name="Rectangle 375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60" name="Text Box 376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61" name="Text Box 377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9662" name="Text Box 378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19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532186" y="1110202"/>
            <a:ext cx="8921750" cy="5654675"/>
            <a:chOff x="140" y="713"/>
            <a:chExt cx="5620" cy="3562"/>
          </a:xfrm>
        </p:grpSpPr>
        <p:sp>
          <p:nvSpPr>
            <p:cNvPr id="3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4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416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417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18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20419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32164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32169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2170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32165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32166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32167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2168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0420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1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220422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32157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32162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2163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32158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32159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32160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2161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0423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4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5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6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7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8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29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0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1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2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3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4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5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6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7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8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39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0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1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2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3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4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5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6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7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8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49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0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1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2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3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4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5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6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7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59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0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0461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462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3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4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5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6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7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8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69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0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1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2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3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4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5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6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7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8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79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0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1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2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3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4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5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6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7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8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89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0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1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2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3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5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6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7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8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499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00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01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02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03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04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0505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06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0507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08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0509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10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1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2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3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4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5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6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17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0518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0519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0520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0521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0522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0523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0524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0525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0526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0527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0528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29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0530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0531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0532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0533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34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35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36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37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38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39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40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41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42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43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2140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2141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2142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2143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44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45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46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47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48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49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50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51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52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53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54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155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56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32171" name="Group 221"/>
          <p:cNvGrpSpPr/>
          <p:nvPr/>
        </p:nvGrpSpPr>
        <p:grpSpPr bwMode="auto">
          <a:xfrm>
            <a:off x="1532186" y="1048289"/>
            <a:ext cx="311150" cy="4778375"/>
            <a:chOff x="140" y="674"/>
            <a:chExt cx="196" cy="3010"/>
          </a:xfrm>
        </p:grpSpPr>
        <p:sp>
          <p:nvSpPr>
            <p:cNvPr id="32172" name="Text Box 222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3" name="Text Box 223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4" name="Text Box 224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5" name="Text Box 225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6" name="Text Box 226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7" name="Text Box 227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8" name="Text Box 228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79" name="Text Box 229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80" name="Text Box 230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181" name="Text Box 231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2182" name="Group 232"/>
          <p:cNvGrpSpPr/>
          <p:nvPr/>
        </p:nvGrpSpPr>
        <p:grpSpPr bwMode="auto">
          <a:xfrm>
            <a:off x="2762499" y="4158202"/>
            <a:ext cx="6262687" cy="401637"/>
            <a:chOff x="915" y="2633"/>
            <a:chExt cx="3945" cy="253"/>
          </a:xfrm>
        </p:grpSpPr>
        <p:grpSp>
          <p:nvGrpSpPr>
            <p:cNvPr id="32183" name="Group 233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220564" name="Freeform 234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0565" name="Freeform 235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0566" name="Freeform 236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0567" name="Freeform 237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0568" name="Freeform 238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2184" name="Group 239"/>
            <p:cNvGrpSpPr/>
            <p:nvPr/>
          </p:nvGrpSpPr>
          <p:grpSpPr bwMode="auto">
            <a:xfrm>
              <a:off x="1213" y="2633"/>
              <a:ext cx="192" cy="158"/>
              <a:chOff x="1440" y="2928"/>
              <a:chExt cx="192" cy="158"/>
            </a:xfrm>
          </p:grpSpPr>
          <p:grpSp>
            <p:nvGrpSpPr>
              <p:cNvPr id="220557" name="Group 240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0562" name="Line 24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0563" name="Line 24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0558" name="Freeform 243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0559" name="Group 244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0560" name="Line 24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0561" name="Line 24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2185" name="Group 247"/>
            <p:cNvGrpSpPr/>
            <p:nvPr/>
          </p:nvGrpSpPr>
          <p:grpSpPr bwMode="auto">
            <a:xfrm>
              <a:off x="2365" y="2635"/>
              <a:ext cx="192" cy="158"/>
              <a:chOff x="1440" y="2928"/>
              <a:chExt cx="192" cy="158"/>
            </a:xfrm>
          </p:grpSpPr>
          <p:grpSp>
            <p:nvGrpSpPr>
              <p:cNvPr id="220550" name="Group 248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0555" name="Line 24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0556" name="Line 25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0551" name="Freeform 251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0552" name="Group 252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0553" name="Line 253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0554" name="Line 254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2186" name="Group 255"/>
            <p:cNvGrpSpPr/>
            <p:nvPr/>
          </p:nvGrpSpPr>
          <p:grpSpPr bwMode="auto">
            <a:xfrm>
              <a:off x="3517" y="2635"/>
              <a:ext cx="192" cy="158"/>
              <a:chOff x="1440" y="2928"/>
              <a:chExt cx="192" cy="158"/>
            </a:xfrm>
          </p:grpSpPr>
          <p:grpSp>
            <p:nvGrpSpPr>
              <p:cNvPr id="31759" name="Group 256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0548" name="Line 257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0549" name="Line 258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0544" name="Freeform 259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0545" name="Group 260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0546" name="Line 26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0547" name="Line 26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2187" name="Group 263"/>
            <p:cNvGrpSpPr/>
            <p:nvPr/>
          </p:nvGrpSpPr>
          <p:grpSpPr bwMode="auto">
            <a:xfrm>
              <a:off x="4668" y="2635"/>
              <a:ext cx="192" cy="158"/>
              <a:chOff x="1440" y="2928"/>
              <a:chExt cx="192" cy="158"/>
            </a:xfrm>
          </p:grpSpPr>
          <p:grpSp>
            <p:nvGrpSpPr>
              <p:cNvPr id="32188" name="Group 264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31745" name="Line 26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1751" name="Line 26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32189" name="Freeform 267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32190" name="Group 268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32191" name="Line 26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1744" name="Line 27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20569" name="Group 271"/>
          <p:cNvGrpSpPr/>
          <p:nvPr/>
        </p:nvGrpSpPr>
        <p:grpSpPr bwMode="auto">
          <a:xfrm>
            <a:off x="3210174" y="1888077"/>
            <a:ext cx="6062662" cy="2339975"/>
            <a:chOff x="1197" y="1203"/>
            <a:chExt cx="3819" cy="1474"/>
          </a:xfrm>
        </p:grpSpPr>
        <p:sp>
          <p:nvSpPr>
            <p:cNvPr id="220570" name="Freeform 272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26 w 145"/>
                <a:gd name="T1" fmla="*/ 0 h 1466"/>
                <a:gd name="T2" fmla="*/ 101 w 145"/>
                <a:gd name="T3" fmla="*/ 0 h 1466"/>
                <a:gd name="T4" fmla="*/ 100 w 145"/>
                <a:gd name="T5" fmla="*/ 1482 h 1466"/>
                <a:gd name="T6" fmla="*/ 0 w 145"/>
                <a:gd name="T7" fmla="*/ 1482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71" name="Text Box 273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572" name="Freeform 274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73" name="Text Box 275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574" name="Freeform 276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75" name="Text Box 277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576" name="Freeform 278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77" name="Text Box 279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20578" name="Group 280"/>
          <p:cNvGrpSpPr/>
          <p:nvPr/>
        </p:nvGrpSpPr>
        <p:grpSpPr bwMode="auto">
          <a:xfrm>
            <a:off x="2894261" y="832389"/>
            <a:ext cx="7292975" cy="403225"/>
            <a:chOff x="1022" y="538"/>
            <a:chExt cx="4594" cy="254"/>
          </a:xfrm>
        </p:grpSpPr>
        <p:sp>
          <p:nvSpPr>
            <p:cNvPr id="220579" name="Line 281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80" name="Freeform 282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81" name="Line 283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82" name="Freeform 284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83" name="Line 285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584" name="Text Box 286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85" name="Text Box 287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86" name="Text Box 288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87" name="Text Box 289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0588" name="Line 290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89" name="Line 291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90" name="Line 292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91" name="Line 293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92" name="Line 294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93" name="Line 295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94" name="Line 296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0595" name="Line 297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0597" name="Text Box 299"/>
          <p:cNvSpPr txBox="1">
            <a:spLocks noChangeArrowheads="1"/>
          </p:cNvSpPr>
          <p:nvPr/>
        </p:nvSpPr>
        <p:spPr bwMode="auto">
          <a:xfrm>
            <a:off x="347118" y="45784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0598" name="Group 300"/>
          <p:cNvGrpSpPr/>
          <p:nvPr/>
        </p:nvGrpSpPr>
        <p:grpSpPr bwMode="auto">
          <a:xfrm>
            <a:off x="3538786" y="4329652"/>
            <a:ext cx="6173788" cy="1295400"/>
            <a:chOff x="1404" y="2741"/>
            <a:chExt cx="3889" cy="816"/>
          </a:xfrm>
        </p:grpSpPr>
        <p:sp>
          <p:nvSpPr>
            <p:cNvPr id="220599" name="Freeform 301"/>
            <p:cNvSpPr/>
            <p:nvPr/>
          </p:nvSpPr>
          <p:spPr bwMode="auto">
            <a:xfrm>
              <a:off x="1404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600" name="Freeform 302"/>
            <p:cNvSpPr/>
            <p:nvPr/>
          </p:nvSpPr>
          <p:spPr bwMode="auto">
            <a:xfrm>
              <a:off x="4861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601" name="Freeform 303"/>
            <p:cNvSpPr/>
            <p:nvPr/>
          </p:nvSpPr>
          <p:spPr bwMode="auto">
            <a:xfrm>
              <a:off x="3709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0602" name="Freeform 304"/>
            <p:cNvSpPr/>
            <p:nvPr/>
          </p:nvSpPr>
          <p:spPr bwMode="auto">
            <a:xfrm>
              <a:off x="2555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0603" name="Group 305"/>
          <p:cNvGrpSpPr/>
          <p:nvPr/>
        </p:nvGrpSpPr>
        <p:grpSpPr bwMode="auto">
          <a:xfrm>
            <a:off x="2741861" y="1338802"/>
            <a:ext cx="7250113" cy="682625"/>
            <a:chOff x="902" y="857"/>
            <a:chExt cx="4567" cy="430"/>
          </a:xfrm>
        </p:grpSpPr>
        <p:grpSp>
          <p:nvGrpSpPr>
            <p:cNvPr id="220604" name="Group 306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20609" name="Group 307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20620" name="Rectangle 308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1" name="Rectangle 309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2" name="Rectangle 310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3" name="Rectangle 311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4" name="Rectangle 312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5" name="Rectangle 313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6" name="Rectangle 314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0627" name="Rectangle 315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20610" name="Group 316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20611" name="Freeform 317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2" name="Line 318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3" name="Line 319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4" name="Line 320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5" name="Line 321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6" name="Line 322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7" name="Line 323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8" name="Line 324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19" name="Line 325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0605" name="Text Box 326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06" name="Text Box 327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07" name="Text Box 328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08" name="Text Box 329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20628" name="Rectangle 330"/>
          <p:cNvSpPr>
            <a:spLocks noChangeArrowheads="1"/>
          </p:cNvSpPr>
          <p:nvPr/>
        </p:nvSpPr>
        <p:spPr bwMode="auto">
          <a:xfrm>
            <a:off x="3138736" y="1586452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0629" name="Rectangle 331"/>
          <p:cNvSpPr>
            <a:spLocks noChangeArrowheads="1"/>
          </p:cNvSpPr>
          <p:nvPr/>
        </p:nvSpPr>
        <p:spPr bwMode="auto">
          <a:xfrm>
            <a:off x="4948486" y="1586452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16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0630" name="Rectangle 332"/>
          <p:cNvSpPr>
            <a:spLocks noChangeArrowheads="1"/>
          </p:cNvSpPr>
          <p:nvPr/>
        </p:nvSpPr>
        <p:spPr bwMode="auto">
          <a:xfrm>
            <a:off x="6813799" y="1586452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32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0631" name="Rectangle 333"/>
          <p:cNvSpPr>
            <a:spLocks noChangeArrowheads="1"/>
          </p:cNvSpPr>
          <p:nvPr/>
        </p:nvSpPr>
        <p:spPr bwMode="auto">
          <a:xfrm>
            <a:off x="8615611" y="1586452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48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0632" name="Group 334"/>
          <p:cNvGrpSpPr/>
          <p:nvPr/>
        </p:nvGrpSpPr>
        <p:grpSpPr bwMode="auto">
          <a:xfrm>
            <a:off x="3122861" y="5607589"/>
            <a:ext cx="6832600" cy="533400"/>
            <a:chOff x="1142" y="3546"/>
            <a:chExt cx="4304" cy="336"/>
          </a:xfrm>
        </p:grpSpPr>
        <p:grpSp>
          <p:nvGrpSpPr>
            <p:cNvPr id="220633" name="Group 335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220643" name="Rectangle 336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0644" name="Text Box 337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0634" name="Group 338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220641" name="Rectangle 339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0642" name="Text Box 340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0635" name="Group 341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220639" name="Rectangle 342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0640" name="Text Box 343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0636" name="Group 344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220637" name="Rectangle 345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0638" name="Text Box 346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0645" name="Group 347"/>
          <p:cNvGrpSpPr/>
          <p:nvPr/>
        </p:nvGrpSpPr>
        <p:grpSpPr bwMode="auto">
          <a:xfrm>
            <a:off x="2762499" y="2596102"/>
            <a:ext cx="6613525" cy="1963737"/>
            <a:chOff x="915" y="1649"/>
            <a:chExt cx="4166" cy="1237"/>
          </a:xfrm>
        </p:grpSpPr>
        <p:grpSp>
          <p:nvGrpSpPr>
            <p:cNvPr id="220646" name="Group 348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0655" name="Group 349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0688" name="Freeform 350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89" name="Freeform 351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90" name="Freeform 352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91" name="Freeform 353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692" name="Freeform 354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0656" name="Group 355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0681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86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87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0682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0683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84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85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0657" name="Group 363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0674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79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80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0675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0676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77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78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0658" name="Group 371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0667" name="Group 37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72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73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0668" name="Freeform 37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0669" name="Group 37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70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71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0659" name="Group 379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0660" name="Group 38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65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66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0661" name="Freeform 38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0662" name="Group 38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0663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664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0647" name="Rectangle 387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48" name="Text Box 388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49" name="Rectangle 389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50" name="Rectangle 390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51" name="Rectangle 391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52" name="Text Box 392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53" name="Text Box 393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0654" name="Text Box 394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0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604194" y="1119438"/>
            <a:ext cx="8921750" cy="5654675"/>
            <a:chOff x="140" y="713"/>
            <a:chExt cx="5620" cy="3562"/>
          </a:xfrm>
        </p:grpSpPr>
        <p:sp>
          <p:nvSpPr>
            <p:cNvPr id="3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4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175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176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77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3178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221611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221616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17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1612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1613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221614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15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3179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0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3181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221604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221609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10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1605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1606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221607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08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3182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3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4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5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6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7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8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89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0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1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2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3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4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5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6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7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8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199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0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1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2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3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4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5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6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7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8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09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10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11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12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13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14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3215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768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769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775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32785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440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1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2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3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4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5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6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7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8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49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0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1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2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3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4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5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6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7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8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59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0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1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2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3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4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5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6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7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8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69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0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1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2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3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4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5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6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7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8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79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80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81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1483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484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1485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486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1487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488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89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90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91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92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93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94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495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1496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1497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1498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1499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1500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1501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1502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1503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1568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1569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1570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71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1572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1573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1574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1575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76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77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78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0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1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2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3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4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5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586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1587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1588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1589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1590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1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2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3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4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5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6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7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8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599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00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01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02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03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1618" name="Group 221"/>
          <p:cNvGrpSpPr/>
          <p:nvPr/>
        </p:nvGrpSpPr>
        <p:grpSpPr bwMode="auto">
          <a:xfrm>
            <a:off x="1604194" y="1057525"/>
            <a:ext cx="311150" cy="4778375"/>
            <a:chOff x="140" y="674"/>
            <a:chExt cx="196" cy="3010"/>
          </a:xfrm>
        </p:grpSpPr>
        <p:sp>
          <p:nvSpPr>
            <p:cNvPr id="221619" name="Text Box 222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0" name="Text Box 223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1" name="Text Box 224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2" name="Text Box 225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3" name="Text Box 226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4" name="Text Box 227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5" name="Text Box 228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6" name="Text Box 229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7" name="Text Box 230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28" name="Text Box 231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21629" name="Group 232"/>
          <p:cNvGrpSpPr/>
          <p:nvPr/>
        </p:nvGrpSpPr>
        <p:grpSpPr bwMode="auto">
          <a:xfrm>
            <a:off x="2834507" y="4167438"/>
            <a:ext cx="6262687" cy="401637"/>
            <a:chOff x="915" y="2633"/>
            <a:chExt cx="3945" cy="253"/>
          </a:xfrm>
        </p:grpSpPr>
        <p:grpSp>
          <p:nvGrpSpPr>
            <p:cNvPr id="221630" name="Group 233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221663" name="Freeform 234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664" name="Freeform 235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665" name="Freeform 236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666" name="Freeform 237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667" name="Freeform 238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1631" name="Group 239"/>
            <p:cNvGrpSpPr/>
            <p:nvPr/>
          </p:nvGrpSpPr>
          <p:grpSpPr bwMode="auto">
            <a:xfrm>
              <a:off x="1213" y="2633"/>
              <a:ext cx="192" cy="158"/>
              <a:chOff x="1440" y="2928"/>
              <a:chExt cx="192" cy="158"/>
            </a:xfrm>
          </p:grpSpPr>
          <p:grpSp>
            <p:nvGrpSpPr>
              <p:cNvPr id="221656" name="Group 240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1661" name="Line 24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62" name="Line 24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1657" name="Freeform 243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1658" name="Group 244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1659" name="Line 24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60" name="Line 24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1632" name="Group 247"/>
            <p:cNvGrpSpPr/>
            <p:nvPr/>
          </p:nvGrpSpPr>
          <p:grpSpPr bwMode="auto">
            <a:xfrm>
              <a:off x="2365" y="2635"/>
              <a:ext cx="192" cy="158"/>
              <a:chOff x="1440" y="2928"/>
              <a:chExt cx="192" cy="158"/>
            </a:xfrm>
          </p:grpSpPr>
          <p:grpSp>
            <p:nvGrpSpPr>
              <p:cNvPr id="221649" name="Group 248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1654" name="Line 24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55" name="Line 25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1650" name="Freeform 251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1651" name="Group 252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1652" name="Line 253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53" name="Line 254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1633" name="Group 255"/>
            <p:cNvGrpSpPr/>
            <p:nvPr/>
          </p:nvGrpSpPr>
          <p:grpSpPr bwMode="auto">
            <a:xfrm>
              <a:off x="3517" y="2635"/>
              <a:ext cx="192" cy="158"/>
              <a:chOff x="1440" y="2928"/>
              <a:chExt cx="192" cy="158"/>
            </a:xfrm>
          </p:grpSpPr>
          <p:grpSp>
            <p:nvGrpSpPr>
              <p:cNvPr id="221642" name="Group 256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1647" name="Line 257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48" name="Line 258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1643" name="Freeform 259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1644" name="Group 260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1645" name="Line 26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46" name="Line 26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1634" name="Group 263"/>
            <p:cNvGrpSpPr/>
            <p:nvPr/>
          </p:nvGrpSpPr>
          <p:grpSpPr bwMode="auto">
            <a:xfrm>
              <a:off x="4668" y="2635"/>
              <a:ext cx="192" cy="158"/>
              <a:chOff x="1440" y="2928"/>
              <a:chExt cx="192" cy="158"/>
            </a:xfrm>
          </p:grpSpPr>
          <p:grpSp>
            <p:nvGrpSpPr>
              <p:cNvPr id="221635" name="Group 264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221640" name="Line 26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41" name="Line 26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1636" name="Freeform 267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1637" name="Group 268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221638" name="Line 26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1639" name="Line 27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21668" name="Group 271"/>
          <p:cNvGrpSpPr/>
          <p:nvPr/>
        </p:nvGrpSpPr>
        <p:grpSpPr bwMode="auto">
          <a:xfrm>
            <a:off x="3282182" y="1897313"/>
            <a:ext cx="6062662" cy="2339975"/>
            <a:chOff x="1197" y="1203"/>
            <a:chExt cx="3819" cy="1474"/>
          </a:xfrm>
        </p:grpSpPr>
        <p:sp>
          <p:nvSpPr>
            <p:cNvPr id="221669" name="Freeform 272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26 w 145"/>
                <a:gd name="T1" fmla="*/ 0 h 1466"/>
                <a:gd name="T2" fmla="*/ 101 w 145"/>
                <a:gd name="T3" fmla="*/ 0 h 1466"/>
                <a:gd name="T4" fmla="*/ 100 w 145"/>
                <a:gd name="T5" fmla="*/ 1482 h 1466"/>
                <a:gd name="T6" fmla="*/ 0 w 145"/>
                <a:gd name="T7" fmla="*/ 1482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70" name="Text Box 273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71" name="Freeform 274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72" name="Text Box 275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73" name="Freeform 276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74" name="Text Box 277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675" name="Freeform 278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76" name="Text Box 279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21677" name="Group 280"/>
          <p:cNvGrpSpPr/>
          <p:nvPr/>
        </p:nvGrpSpPr>
        <p:grpSpPr bwMode="auto">
          <a:xfrm>
            <a:off x="2966269" y="841625"/>
            <a:ext cx="7292975" cy="403225"/>
            <a:chOff x="1022" y="538"/>
            <a:chExt cx="4594" cy="254"/>
          </a:xfrm>
        </p:grpSpPr>
        <p:sp>
          <p:nvSpPr>
            <p:cNvPr id="221678" name="Line 281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79" name="Freeform 282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80" name="Line 283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81" name="Freeform 284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82" name="Line 285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83" name="Text Box 286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684" name="Text Box 287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685" name="Text Box 288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686" name="Text Box 289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1687" name="Line 290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88" name="Line 291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89" name="Line 292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90" name="Line 293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91" name="Line 294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92" name="Line 295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93" name="Line 296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1694" name="Line 297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1696" name="Text Box 299"/>
          <p:cNvSpPr txBox="1">
            <a:spLocks noChangeArrowheads="1"/>
          </p:cNvSpPr>
          <p:nvPr/>
        </p:nvSpPr>
        <p:spPr bwMode="auto">
          <a:xfrm>
            <a:off x="242119" y="84567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 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1697" name="Group 300"/>
          <p:cNvGrpSpPr/>
          <p:nvPr/>
        </p:nvGrpSpPr>
        <p:grpSpPr bwMode="auto">
          <a:xfrm>
            <a:off x="3610794" y="4338888"/>
            <a:ext cx="6173788" cy="1295400"/>
            <a:chOff x="1404" y="2741"/>
            <a:chExt cx="3889" cy="816"/>
          </a:xfrm>
        </p:grpSpPr>
        <p:sp>
          <p:nvSpPr>
            <p:cNvPr id="221698" name="Freeform 301"/>
            <p:cNvSpPr/>
            <p:nvPr/>
          </p:nvSpPr>
          <p:spPr bwMode="auto">
            <a:xfrm>
              <a:off x="1404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699" name="Freeform 302"/>
            <p:cNvSpPr/>
            <p:nvPr/>
          </p:nvSpPr>
          <p:spPr bwMode="auto">
            <a:xfrm>
              <a:off x="4861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700" name="Freeform 303"/>
            <p:cNvSpPr/>
            <p:nvPr/>
          </p:nvSpPr>
          <p:spPr bwMode="auto">
            <a:xfrm>
              <a:off x="3709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1701" name="Freeform 304"/>
            <p:cNvSpPr/>
            <p:nvPr/>
          </p:nvSpPr>
          <p:spPr bwMode="auto">
            <a:xfrm>
              <a:off x="2555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1702" name="Group 305"/>
          <p:cNvGrpSpPr/>
          <p:nvPr/>
        </p:nvGrpSpPr>
        <p:grpSpPr bwMode="auto">
          <a:xfrm>
            <a:off x="2813869" y="1348038"/>
            <a:ext cx="7250113" cy="682625"/>
            <a:chOff x="902" y="857"/>
            <a:chExt cx="4567" cy="430"/>
          </a:xfrm>
        </p:grpSpPr>
        <p:grpSp>
          <p:nvGrpSpPr>
            <p:cNvPr id="221703" name="Group 306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21708" name="Group 307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21719" name="Rectangle 308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0" name="Rectangle 309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1" name="Rectangle 310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2" name="Rectangle 311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3" name="Rectangle 312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4" name="Rectangle 313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5" name="Rectangle 314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1726" name="Rectangle 315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21709" name="Group 316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21710" name="Freeform 317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1" name="Line 318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2" name="Line 319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3" name="Line 320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4" name="Line 321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5" name="Line 322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6" name="Line 323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7" name="Line 324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18" name="Line 325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1704" name="Text Box 326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05" name="Text Box 327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06" name="Text Box 328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07" name="Text Box 329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21727" name="Rectangle 330"/>
          <p:cNvSpPr>
            <a:spLocks noChangeArrowheads="1"/>
          </p:cNvSpPr>
          <p:nvPr/>
        </p:nvSpPr>
        <p:spPr bwMode="auto">
          <a:xfrm>
            <a:off x="3210744" y="159568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0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1728" name="Rectangle 331"/>
          <p:cNvSpPr>
            <a:spLocks noChangeArrowheads="1"/>
          </p:cNvSpPr>
          <p:nvPr/>
        </p:nvSpPr>
        <p:spPr bwMode="auto">
          <a:xfrm>
            <a:off x="5020494" y="159568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16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1729" name="Rectangle 332"/>
          <p:cNvSpPr>
            <a:spLocks noChangeArrowheads="1"/>
          </p:cNvSpPr>
          <p:nvPr/>
        </p:nvSpPr>
        <p:spPr bwMode="auto">
          <a:xfrm>
            <a:off x="6885807" y="159568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32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1730" name="Rectangle 333"/>
          <p:cNvSpPr>
            <a:spLocks noChangeArrowheads="1"/>
          </p:cNvSpPr>
          <p:nvPr/>
        </p:nvSpPr>
        <p:spPr bwMode="auto">
          <a:xfrm>
            <a:off x="8687619" y="159568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48</a:t>
            </a:r>
            <a:endParaRPr lang="zh-CN" altLang="en-US" sz="20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1731" name="Group 334"/>
          <p:cNvGrpSpPr/>
          <p:nvPr/>
        </p:nvGrpSpPr>
        <p:grpSpPr bwMode="auto">
          <a:xfrm>
            <a:off x="3194869" y="5616825"/>
            <a:ext cx="6832600" cy="533400"/>
            <a:chOff x="1142" y="3546"/>
            <a:chExt cx="4304" cy="336"/>
          </a:xfrm>
        </p:grpSpPr>
        <p:grpSp>
          <p:nvGrpSpPr>
            <p:cNvPr id="221732" name="Group 335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221742" name="Rectangle 336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1743" name="Text Box 337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1733" name="Group 338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221740" name="Rectangle 339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1741" name="Text Box 340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1734" name="Group 341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221738" name="Rectangle 342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1739" name="Text Box 343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1735" name="Group 344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221736" name="Rectangle 345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1737" name="Text Box 346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1744" name="Group 347"/>
          <p:cNvGrpSpPr/>
          <p:nvPr/>
        </p:nvGrpSpPr>
        <p:grpSpPr bwMode="auto">
          <a:xfrm>
            <a:off x="2834507" y="2605338"/>
            <a:ext cx="6613525" cy="1963737"/>
            <a:chOff x="915" y="1649"/>
            <a:chExt cx="4166" cy="1237"/>
          </a:xfrm>
        </p:grpSpPr>
        <p:grpSp>
          <p:nvGrpSpPr>
            <p:cNvPr id="221745" name="Group 348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1754" name="Group 349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1787" name="Freeform 350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88" name="Freeform 351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89" name="Freeform 352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90" name="Freeform 353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791" name="Freeform 354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1755" name="Group 355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1780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85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86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1781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1782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83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84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1756" name="Group 363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1773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78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79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1774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1775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76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77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1757" name="Group 371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1766" name="Group 37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71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72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1767" name="Freeform 37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1768" name="Group 37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69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70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1758" name="Group 379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1759" name="Group 38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64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65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1760" name="Freeform 38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1761" name="Group 38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1762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763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1746" name="Rectangle 387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47" name="Text Box 388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48" name="Rectangle 389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49" name="Rectangle 390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50" name="Rectangle 391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51" name="Text Box 392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52" name="Text Box 393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1753" name="Text Box 394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21792" name="Group 395"/>
          <p:cNvGrpSpPr/>
          <p:nvPr/>
        </p:nvGrpSpPr>
        <p:grpSpPr bwMode="auto">
          <a:xfrm>
            <a:off x="4468044" y="5586663"/>
            <a:ext cx="6057900" cy="336550"/>
            <a:chOff x="1944" y="3527"/>
            <a:chExt cx="3816" cy="212"/>
          </a:xfrm>
        </p:grpSpPr>
        <p:grpSp>
          <p:nvGrpSpPr>
            <p:cNvPr id="221793" name="Group 396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221799" name="Line 397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800" name="Line 398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801" name="Line 399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1802" name="Line 400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1794" name="Group 401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221795" name="Text Box 402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796" name="Text Box 403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797" name="Text Box 404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798" name="Text Box 405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1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458144" y="1019920"/>
            <a:ext cx="9105900" cy="5730875"/>
            <a:chOff x="48" y="665"/>
            <a:chExt cx="5736" cy="3610"/>
          </a:xfrm>
        </p:grpSpPr>
        <p:grpSp>
          <p:nvGrpSpPr>
            <p:cNvPr id="3" name="Group 3"/>
            <p:cNvGrpSpPr/>
            <p:nvPr/>
          </p:nvGrpSpPr>
          <p:grpSpPr bwMode="auto">
            <a:xfrm>
              <a:off x="48" y="665"/>
              <a:ext cx="284" cy="2995"/>
              <a:chOff x="48" y="665"/>
              <a:chExt cx="284" cy="2995"/>
            </a:xfrm>
          </p:grpSpPr>
          <p:sp>
            <p:nvSpPr>
              <p:cNvPr id="222491" name="Text Box 4"/>
              <p:cNvSpPr txBox="1">
                <a:spLocks noChangeArrowheads="1"/>
              </p:cNvSpPr>
              <p:nvPr/>
            </p:nvSpPr>
            <p:spPr bwMode="auto">
              <a:xfrm>
                <a:off x="48" y="196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2" name="Text Box 5"/>
              <p:cNvSpPr txBox="1">
                <a:spLocks noChangeArrowheads="1"/>
              </p:cNvSpPr>
              <p:nvPr/>
            </p:nvSpPr>
            <p:spPr bwMode="auto">
              <a:xfrm>
                <a:off x="48" y="170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3" name="Text Box 6"/>
              <p:cNvSpPr txBox="1">
                <a:spLocks noChangeArrowheads="1"/>
              </p:cNvSpPr>
              <p:nvPr/>
            </p:nvSpPr>
            <p:spPr bwMode="auto">
              <a:xfrm>
                <a:off x="48" y="144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4" name="Text Box 7"/>
              <p:cNvSpPr txBox="1">
                <a:spLocks noChangeArrowheads="1"/>
              </p:cNvSpPr>
              <p:nvPr/>
            </p:nvSpPr>
            <p:spPr bwMode="auto">
              <a:xfrm>
                <a:off x="48" y="1184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5" name="Text Box 8"/>
              <p:cNvSpPr txBox="1">
                <a:spLocks noChangeArrowheads="1"/>
              </p:cNvSpPr>
              <p:nvPr/>
            </p:nvSpPr>
            <p:spPr bwMode="auto">
              <a:xfrm>
                <a:off x="48" y="9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6" name="Text Box 9"/>
              <p:cNvSpPr txBox="1">
                <a:spLocks noChangeArrowheads="1"/>
              </p:cNvSpPr>
              <p:nvPr/>
            </p:nvSpPr>
            <p:spPr bwMode="auto">
              <a:xfrm>
                <a:off x="48" y="66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7" name="Text Box 10"/>
              <p:cNvSpPr txBox="1">
                <a:spLocks noChangeArrowheads="1"/>
              </p:cNvSpPr>
              <p:nvPr/>
            </p:nvSpPr>
            <p:spPr bwMode="auto">
              <a:xfrm>
                <a:off x="48" y="3410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8" name="Text Box 11"/>
              <p:cNvSpPr txBox="1">
                <a:spLocks noChangeArrowheads="1"/>
              </p:cNvSpPr>
              <p:nvPr/>
            </p:nvSpPr>
            <p:spPr bwMode="auto">
              <a:xfrm>
                <a:off x="48" y="315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99" name="Text Box 12"/>
              <p:cNvSpPr txBox="1">
                <a:spLocks noChangeArrowheads="1"/>
              </p:cNvSpPr>
              <p:nvPr/>
            </p:nvSpPr>
            <p:spPr bwMode="auto">
              <a:xfrm>
                <a:off x="48" y="289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500" name="Text Box 13"/>
              <p:cNvSpPr txBox="1">
                <a:spLocks noChangeArrowheads="1"/>
              </p:cNvSpPr>
              <p:nvPr/>
            </p:nvSpPr>
            <p:spPr bwMode="auto">
              <a:xfrm>
                <a:off x="48" y="26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" name="Group 14"/>
            <p:cNvGrpSpPr/>
            <p:nvPr/>
          </p:nvGrpSpPr>
          <p:grpSpPr bwMode="auto">
            <a:xfrm>
              <a:off x="164" y="713"/>
              <a:ext cx="5620" cy="3562"/>
              <a:chOff x="164" y="713"/>
              <a:chExt cx="5620" cy="3562"/>
            </a:xfrm>
          </p:grpSpPr>
          <p:sp>
            <p:nvSpPr>
              <p:cNvPr id="5" name="Rectangle 15"/>
              <p:cNvSpPr>
                <a:spLocks noChangeArrowheads="1"/>
              </p:cNvSpPr>
              <p:nvPr/>
            </p:nvSpPr>
            <p:spPr bwMode="auto">
              <a:xfrm>
                <a:off x="356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" name="Rectangle 16"/>
              <p:cNvSpPr>
                <a:spLocks noChangeArrowheads="1"/>
              </p:cNvSpPr>
              <p:nvPr/>
            </p:nvSpPr>
            <p:spPr bwMode="auto">
              <a:xfrm>
                <a:off x="17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" name="Text Box 17"/>
              <p:cNvSpPr txBox="1">
                <a:spLocks noChangeArrowheads="1"/>
              </p:cNvSpPr>
              <p:nvPr/>
            </p:nvSpPr>
            <p:spPr bwMode="auto">
              <a:xfrm>
                <a:off x="1432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" name="Rectangle 18"/>
              <p:cNvSpPr>
                <a:spLocks noChangeArrowheads="1"/>
              </p:cNvSpPr>
              <p:nvPr/>
            </p:nvSpPr>
            <p:spPr bwMode="auto">
              <a:xfrm>
                <a:off x="1176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19"/>
              <p:cNvSpPr>
                <a:spLocks noChangeArrowheads="1"/>
              </p:cNvSpPr>
              <p:nvPr/>
            </p:nvSpPr>
            <p:spPr bwMode="auto">
              <a:xfrm>
                <a:off x="28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Text Box 20"/>
              <p:cNvSpPr txBox="1">
                <a:spLocks noChangeArrowheads="1"/>
              </p:cNvSpPr>
              <p:nvPr/>
            </p:nvSpPr>
            <p:spPr bwMode="auto">
              <a:xfrm>
                <a:off x="2573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21"/>
              <p:cNvSpPr>
                <a:spLocks noChangeArrowheads="1"/>
              </p:cNvSpPr>
              <p:nvPr/>
            </p:nvSpPr>
            <p:spPr bwMode="auto">
              <a:xfrm>
                <a:off x="2317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22"/>
              <p:cNvSpPr>
                <a:spLocks noChangeArrowheads="1"/>
              </p:cNvSpPr>
              <p:nvPr/>
            </p:nvSpPr>
            <p:spPr bwMode="auto">
              <a:xfrm>
                <a:off x="40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Text Box 23"/>
              <p:cNvSpPr txBox="1">
                <a:spLocks noChangeArrowheads="1"/>
              </p:cNvSpPr>
              <p:nvPr/>
            </p:nvSpPr>
            <p:spPr bwMode="auto">
              <a:xfrm>
                <a:off x="374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24"/>
              <p:cNvSpPr>
                <a:spLocks noChangeArrowheads="1"/>
              </p:cNvSpPr>
              <p:nvPr/>
            </p:nvSpPr>
            <p:spPr bwMode="auto">
              <a:xfrm>
                <a:off x="349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25"/>
              <p:cNvSpPr>
                <a:spLocks noChangeArrowheads="1"/>
              </p:cNvSpPr>
              <p:nvPr/>
            </p:nvSpPr>
            <p:spPr bwMode="auto">
              <a:xfrm>
                <a:off x="52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Text Box 26"/>
              <p:cNvSpPr txBox="1">
                <a:spLocks noChangeArrowheads="1"/>
              </p:cNvSpPr>
              <p:nvPr/>
            </p:nvSpPr>
            <p:spPr bwMode="auto">
              <a:xfrm>
                <a:off x="488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27"/>
              <p:cNvSpPr>
                <a:spLocks noChangeArrowheads="1"/>
              </p:cNvSpPr>
              <p:nvPr/>
            </p:nvSpPr>
            <p:spPr bwMode="auto">
              <a:xfrm>
                <a:off x="46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" name="Rectangle 28"/>
              <p:cNvSpPr>
                <a:spLocks noChangeArrowheads="1"/>
              </p:cNvSpPr>
              <p:nvPr/>
            </p:nvSpPr>
            <p:spPr bwMode="auto">
              <a:xfrm>
                <a:off x="17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" name="Rectangle 29"/>
              <p:cNvSpPr>
                <a:spLocks noChangeArrowheads="1"/>
              </p:cNvSpPr>
              <p:nvPr/>
            </p:nvSpPr>
            <p:spPr bwMode="auto">
              <a:xfrm>
                <a:off x="1176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" name="Rectangle 30"/>
              <p:cNvSpPr>
                <a:spLocks noChangeArrowheads="1"/>
              </p:cNvSpPr>
              <p:nvPr/>
            </p:nvSpPr>
            <p:spPr bwMode="auto">
              <a:xfrm>
                <a:off x="28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" name="Rectangle 31"/>
              <p:cNvSpPr>
                <a:spLocks noChangeArrowheads="1"/>
              </p:cNvSpPr>
              <p:nvPr/>
            </p:nvSpPr>
            <p:spPr bwMode="auto">
              <a:xfrm>
                <a:off x="2317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" name="Rectangle 32"/>
              <p:cNvSpPr>
                <a:spLocks noChangeArrowheads="1"/>
              </p:cNvSpPr>
              <p:nvPr/>
            </p:nvSpPr>
            <p:spPr bwMode="auto">
              <a:xfrm>
                <a:off x="40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" name="Rectangle 33"/>
              <p:cNvSpPr>
                <a:spLocks noChangeArrowheads="1"/>
              </p:cNvSpPr>
              <p:nvPr/>
            </p:nvSpPr>
            <p:spPr bwMode="auto">
              <a:xfrm>
                <a:off x="349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" name="Rectangle 34"/>
              <p:cNvSpPr>
                <a:spLocks noChangeArrowheads="1"/>
              </p:cNvSpPr>
              <p:nvPr/>
            </p:nvSpPr>
            <p:spPr bwMode="auto">
              <a:xfrm>
                <a:off x="52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" name="Rectangle 35"/>
              <p:cNvSpPr>
                <a:spLocks noChangeArrowheads="1"/>
              </p:cNvSpPr>
              <p:nvPr/>
            </p:nvSpPr>
            <p:spPr bwMode="auto">
              <a:xfrm>
                <a:off x="46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" name="Line 36"/>
              <p:cNvSpPr>
                <a:spLocks noChangeShapeType="1"/>
              </p:cNvSpPr>
              <p:nvPr/>
            </p:nvSpPr>
            <p:spPr bwMode="auto">
              <a:xfrm rot="5400000">
                <a:off x="1349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7" name="Line 37"/>
              <p:cNvSpPr>
                <a:spLocks noChangeShapeType="1"/>
              </p:cNvSpPr>
              <p:nvPr/>
            </p:nvSpPr>
            <p:spPr bwMode="auto">
              <a:xfrm rot="5400000">
                <a:off x="1332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" name="Freeform 38"/>
              <p:cNvSpPr/>
              <p:nvPr/>
            </p:nvSpPr>
            <p:spPr bwMode="auto">
              <a:xfrm>
                <a:off x="1284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9" name="Line 39"/>
              <p:cNvSpPr>
                <a:spLocks noChangeShapeType="1"/>
              </p:cNvSpPr>
              <p:nvPr/>
            </p:nvSpPr>
            <p:spPr bwMode="auto">
              <a:xfrm rot="-5400000">
                <a:off x="1157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0" name="Line 40"/>
              <p:cNvSpPr>
                <a:spLocks noChangeShapeType="1"/>
              </p:cNvSpPr>
              <p:nvPr/>
            </p:nvSpPr>
            <p:spPr bwMode="auto">
              <a:xfrm rot="-5400000">
                <a:off x="1236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1" name="Freeform 41"/>
              <p:cNvSpPr/>
              <p:nvPr/>
            </p:nvSpPr>
            <p:spPr bwMode="auto">
              <a:xfrm>
                <a:off x="1458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42"/>
              <p:cNvSpPr/>
              <p:nvPr/>
            </p:nvSpPr>
            <p:spPr bwMode="auto">
              <a:xfrm>
                <a:off x="1077" y="1210"/>
                <a:ext cx="158" cy="1468"/>
              </a:xfrm>
              <a:custGeom>
                <a:avLst/>
                <a:gdLst>
                  <a:gd name="T0" fmla="*/ 158 w 158"/>
                  <a:gd name="T1" fmla="*/ 1468 h 1468"/>
                  <a:gd name="T2" fmla="*/ 6 w 158"/>
                  <a:gd name="T3" fmla="*/ 1468 h 1468"/>
                  <a:gd name="T4" fmla="*/ 0 w 158"/>
                  <a:gd name="T5" fmla="*/ 1 h 1468"/>
                  <a:gd name="T6" fmla="*/ 101 w 158"/>
                  <a:gd name="T7" fmla="*/ 0 h 1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8">
                    <a:moveTo>
                      <a:pt x="158" y="1468"/>
                    </a:moveTo>
                    <a:lnTo>
                      <a:pt x="6" y="1468"/>
                    </a:lnTo>
                    <a:lnTo>
                      <a:pt x="0" y="1"/>
                    </a:lnTo>
                    <a:lnTo>
                      <a:pt x="10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43"/>
              <p:cNvSpPr/>
              <p:nvPr/>
            </p:nvSpPr>
            <p:spPr bwMode="auto">
              <a:xfrm>
                <a:off x="1079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" name="Line 44"/>
              <p:cNvSpPr>
                <a:spLocks noChangeShapeType="1"/>
              </p:cNvSpPr>
              <p:nvPr/>
            </p:nvSpPr>
            <p:spPr bwMode="auto">
              <a:xfrm rot="5400000">
                <a:off x="192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5" name="Line 45"/>
              <p:cNvSpPr>
                <a:spLocks noChangeShapeType="1"/>
              </p:cNvSpPr>
              <p:nvPr/>
            </p:nvSpPr>
            <p:spPr bwMode="auto">
              <a:xfrm rot="5400000">
                <a:off x="1903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" name="Freeform 46"/>
              <p:cNvSpPr/>
              <p:nvPr/>
            </p:nvSpPr>
            <p:spPr bwMode="auto">
              <a:xfrm>
                <a:off x="185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7" name="Line 47"/>
              <p:cNvSpPr>
                <a:spLocks noChangeShapeType="1"/>
              </p:cNvSpPr>
              <p:nvPr/>
            </p:nvSpPr>
            <p:spPr bwMode="auto">
              <a:xfrm rot="-5400000">
                <a:off x="1728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" name="Line 48"/>
              <p:cNvSpPr>
                <a:spLocks noChangeShapeType="1"/>
              </p:cNvSpPr>
              <p:nvPr/>
            </p:nvSpPr>
            <p:spPr bwMode="auto">
              <a:xfrm rot="-5400000">
                <a:off x="1807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9" name="Freeform 49"/>
              <p:cNvSpPr/>
              <p:nvPr/>
            </p:nvSpPr>
            <p:spPr bwMode="auto">
              <a:xfrm>
                <a:off x="2029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50"/>
              <p:cNvSpPr/>
              <p:nvPr/>
            </p:nvSpPr>
            <p:spPr bwMode="auto">
              <a:xfrm>
                <a:off x="1635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1" name="Line 51"/>
              <p:cNvSpPr>
                <a:spLocks noChangeShapeType="1"/>
              </p:cNvSpPr>
              <p:nvPr/>
            </p:nvSpPr>
            <p:spPr bwMode="auto">
              <a:xfrm rot="5400000">
                <a:off x="250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2" name="Line 52"/>
              <p:cNvSpPr>
                <a:spLocks noChangeShapeType="1"/>
              </p:cNvSpPr>
              <p:nvPr/>
            </p:nvSpPr>
            <p:spPr bwMode="auto">
              <a:xfrm rot="5400000">
                <a:off x="2484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3" name="Freeform 53"/>
              <p:cNvSpPr/>
              <p:nvPr/>
            </p:nvSpPr>
            <p:spPr bwMode="auto">
              <a:xfrm>
                <a:off x="2436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4" name="Line 54"/>
              <p:cNvSpPr>
                <a:spLocks noChangeShapeType="1"/>
              </p:cNvSpPr>
              <p:nvPr/>
            </p:nvSpPr>
            <p:spPr bwMode="auto">
              <a:xfrm rot="-5400000">
                <a:off x="230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5" name="Line 55"/>
              <p:cNvSpPr>
                <a:spLocks noChangeShapeType="1"/>
              </p:cNvSpPr>
              <p:nvPr/>
            </p:nvSpPr>
            <p:spPr bwMode="auto">
              <a:xfrm rot="-5400000">
                <a:off x="2388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" name="Freeform 56"/>
              <p:cNvSpPr/>
              <p:nvPr/>
            </p:nvSpPr>
            <p:spPr bwMode="auto">
              <a:xfrm>
                <a:off x="2610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57"/>
              <p:cNvSpPr/>
              <p:nvPr/>
            </p:nvSpPr>
            <p:spPr bwMode="auto">
              <a:xfrm>
                <a:off x="2231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" name="Line 58"/>
              <p:cNvSpPr>
                <a:spLocks noChangeShapeType="1"/>
              </p:cNvSpPr>
              <p:nvPr/>
            </p:nvSpPr>
            <p:spPr bwMode="auto">
              <a:xfrm rot="5400000">
                <a:off x="30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" name="Line 59"/>
              <p:cNvSpPr>
                <a:spLocks noChangeShapeType="1"/>
              </p:cNvSpPr>
              <p:nvPr/>
            </p:nvSpPr>
            <p:spPr bwMode="auto">
              <a:xfrm rot="5400000">
                <a:off x="30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" name="Freeform 60"/>
              <p:cNvSpPr/>
              <p:nvPr/>
            </p:nvSpPr>
            <p:spPr bwMode="auto">
              <a:xfrm>
                <a:off x="30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" name="Line 61"/>
              <p:cNvSpPr>
                <a:spLocks noChangeShapeType="1"/>
              </p:cNvSpPr>
              <p:nvPr/>
            </p:nvSpPr>
            <p:spPr bwMode="auto">
              <a:xfrm rot="-5400000">
                <a:off x="28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" name="Line 62"/>
              <p:cNvSpPr>
                <a:spLocks noChangeShapeType="1"/>
              </p:cNvSpPr>
              <p:nvPr/>
            </p:nvSpPr>
            <p:spPr bwMode="auto">
              <a:xfrm rot="-5400000">
                <a:off x="29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" name="Freeform 63"/>
              <p:cNvSpPr/>
              <p:nvPr/>
            </p:nvSpPr>
            <p:spPr bwMode="auto">
              <a:xfrm>
                <a:off x="3186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64"/>
              <p:cNvSpPr/>
              <p:nvPr/>
            </p:nvSpPr>
            <p:spPr bwMode="auto">
              <a:xfrm>
                <a:off x="2807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" name="Line 65"/>
              <p:cNvSpPr>
                <a:spLocks noChangeShapeType="1"/>
              </p:cNvSpPr>
              <p:nvPr/>
            </p:nvSpPr>
            <p:spPr bwMode="auto">
              <a:xfrm rot="5400000">
                <a:off x="36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" name="Line 66"/>
              <p:cNvSpPr>
                <a:spLocks noChangeShapeType="1"/>
              </p:cNvSpPr>
              <p:nvPr/>
            </p:nvSpPr>
            <p:spPr bwMode="auto">
              <a:xfrm rot="5400000">
                <a:off x="36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" name="Freeform 67"/>
              <p:cNvSpPr/>
              <p:nvPr/>
            </p:nvSpPr>
            <p:spPr bwMode="auto">
              <a:xfrm>
                <a:off x="35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" name="Line 68"/>
              <p:cNvSpPr>
                <a:spLocks noChangeShapeType="1"/>
              </p:cNvSpPr>
              <p:nvPr/>
            </p:nvSpPr>
            <p:spPr bwMode="auto">
              <a:xfrm rot="-5400000">
                <a:off x="34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9" name="Line 69"/>
              <p:cNvSpPr>
                <a:spLocks noChangeShapeType="1"/>
              </p:cNvSpPr>
              <p:nvPr/>
            </p:nvSpPr>
            <p:spPr bwMode="auto">
              <a:xfrm rot="-5400000">
                <a:off x="35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0" name="Freeform 70"/>
              <p:cNvSpPr/>
              <p:nvPr/>
            </p:nvSpPr>
            <p:spPr bwMode="auto">
              <a:xfrm>
                <a:off x="3775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71"/>
              <p:cNvSpPr/>
              <p:nvPr/>
            </p:nvSpPr>
            <p:spPr bwMode="auto">
              <a:xfrm>
                <a:off x="3383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2" name="Line 72"/>
              <p:cNvSpPr>
                <a:spLocks noChangeShapeType="1"/>
              </p:cNvSpPr>
              <p:nvPr/>
            </p:nvSpPr>
            <p:spPr bwMode="auto">
              <a:xfrm rot="5400000">
                <a:off x="4229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3" name="Line 73"/>
              <p:cNvSpPr>
                <a:spLocks noChangeShapeType="1"/>
              </p:cNvSpPr>
              <p:nvPr/>
            </p:nvSpPr>
            <p:spPr bwMode="auto">
              <a:xfrm rot="5400000">
                <a:off x="4212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2208" name="Freeform 74"/>
              <p:cNvSpPr/>
              <p:nvPr/>
            </p:nvSpPr>
            <p:spPr bwMode="auto">
              <a:xfrm>
                <a:off x="4164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2209" name="Line 75"/>
              <p:cNvSpPr>
                <a:spLocks noChangeShapeType="1"/>
              </p:cNvSpPr>
              <p:nvPr/>
            </p:nvSpPr>
            <p:spPr bwMode="auto">
              <a:xfrm rot="-5400000">
                <a:off x="4037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2211" name="Line 76"/>
              <p:cNvSpPr>
                <a:spLocks noChangeShapeType="1"/>
              </p:cNvSpPr>
              <p:nvPr/>
            </p:nvSpPr>
            <p:spPr bwMode="auto">
              <a:xfrm rot="-5400000">
                <a:off x="4116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2212" name="Freeform 77"/>
              <p:cNvSpPr/>
              <p:nvPr/>
            </p:nvSpPr>
            <p:spPr bwMode="auto">
              <a:xfrm>
                <a:off x="4360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13" name="Freeform 78"/>
              <p:cNvSpPr/>
              <p:nvPr/>
            </p:nvSpPr>
            <p:spPr bwMode="auto">
              <a:xfrm>
                <a:off x="3959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22214" name="Group 79"/>
              <p:cNvGrpSpPr/>
              <p:nvPr/>
            </p:nvGrpSpPr>
            <p:grpSpPr bwMode="auto">
              <a:xfrm>
                <a:off x="4692" y="2634"/>
                <a:ext cx="192" cy="158"/>
                <a:chOff x="4692" y="2634"/>
                <a:chExt cx="192" cy="158"/>
              </a:xfrm>
            </p:grpSpPr>
            <p:grpSp>
              <p:nvGrpSpPr>
                <p:cNvPr id="222484" name="Group 80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22489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2490" name="Line 8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2485" name="Freeform 83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2486" name="Group 84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22487" name="Line 8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2488" name="Line 8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22215" name="Freeform 87"/>
              <p:cNvSpPr/>
              <p:nvPr/>
            </p:nvSpPr>
            <p:spPr bwMode="auto">
              <a:xfrm>
                <a:off x="4914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16" name="Freeform 88"/>
              <p:cNvSpPr/>
              <p:nvPr/>
            </p:nvSpPr>
            <p:spPr bwMode="auto">
              <a:xfrm>
                <a:off x="4535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22217" name="Group 89"/>
              <p:cNvGrpSpPr/>
              <p:nvPr/>
            </p:nvGrpSpPr>
            <p:grpSpPr bwMode="auto">
              <a:xfrm>
                <a:off x="5259" y="2634"/>
                <a:ext cx="192" cy="158"/>
                <a:chOff x="5259" y="2634"/>
                <a:chExt cx="192" cy="158"/>
              </a:xfrm>
            </p:grpSpPr>
            <p:grpSp>
              <p:nvGrpSpPr>
                <p:cNvPr id="222477" name="Group 90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22482" name="Line 9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2483" name="Line 9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2478" name="Freeform 93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2479" name="Group 94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22480" name="Line 9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2481" name="Line 9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22218" name="Freeform 97"/>
              <p:cNvSpPr/>
              <p:nvPr/>
            </p:nvSpPr>
            <p:spPr bwMode="auto">
              <a:xfrm>
                <a:off x="5491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19" name="Freeform 98"/>
              <p:cNvSpPr/>
              <p:nvPr/>
            </p:nvSpPr>
            <p:spPr bwMode="auto">
              <a:xfrm>
                <a:off x="5102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0" name="Freeform 99"/>
              <p:cNvSpPr/>
              <p:nvPr/>
            </p:nvSpPr>
            <p:spPr bwMode="auto">
              <a:xfrm>
                <a:off x="932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1" name="Line 100"/>
              <p:cNvSpPr>
                <a:spLocks noChangeShapeType="1"/>
              </p:cNvSpPr>
              <p:nvPr/>
            </p:nvSpPr>
            <p:spPr bwMode="auto">
              <a:xfrm>
                <a:off x="131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2" name="Line 101"/>
              <p:cNvSpPr>
                <a:spLocks noChangeShapeType="1"/>
              </p:cNvSpPr>
              <p:nvPr/>
            </p:nvSpPr>
            <p:spPr bwMode="auto">
              <a:xfrm>
                <a:off x="18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3" name="Line 102"/>
              <p:cNvSpPr>
                <a:spLocks noChangeShapeType="1"/>
              </p:cNvSpPr>
              <p:nvPr/>
            </p:nvSpPr>
            <p:spPr bwMode="auto">
              <a:xfrm>
                <a:off x="24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4" name="Line 103"/>
              <p:cNvSpPr>
                <a:spLocks noChangeShapeType="1"/>
              </p:cNvSpPr>
              <p:nvPr/>
            </p:nvSpPr>
            <p:spPr bwMode="auto">
              <a:xfrm>
                <a:off x="30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5" name="Line 104"/>
              <p:cNvSpPr>
                <a:spLocks noChangeShapeType="1"/>
              </p:cNvSpPr>
              <p:nvPr/>
            </p:nvSpPr>
            <p:spPr bwMode="auto">
              <a:xfrm>
                <a:off x="36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6" name="Line 105"/>
              <p:cNvSpPr>
                <a:spLocks noChangeShapeType="1"/>
              </p:cNvSpPr>
              <p:nvPr/>
            </p:nvSpPr>
            <p:spPr bwMode="auto">
              <a:xfrm>
                <a:off x="41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7" name="Line 106"/>
              <p:cNvSpPr>
                <a:spLocks noChangeShapeType="1"/>
              </p:cNvSpPr>
              <p:nvPr/>
            </p:nvSpPr>
            <p:spPr bwMode="auto">
              <a:xfrm>
                <a:off x="47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8" name="Line 107"/>
              <p:cNvSpPr>
                <a:spLocks noChangeShapeType="1"/>
              </p:cNvSpPr>
              <p:nvPr/>
            </p:nvSpPr>
            <p:spPr bwMode="auto">
              <a:xfrm>
                <a:off x="53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29" name="Freeform 108"/>
              <p:cNvSpPr/>
              <p:nvPr/>
            </p:nvSpPr>
            <p:spPr bwMode="auto">
              <a:xfrm>
                <a:off x="1330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0" name="Freeform 109"/>
              <p:cNvSpPr/>
              <p:nvPr/>
            </p:nvSpPr>
            <p:spPr bwMode="auto">
              <a:xfrm>
                <a:off x="1904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1" name="Freeform 110"/>
              <p:cNvSpPr/>
              <p:nvPr/>
            </p:nvSpPr>
            <p:spPr bwMode="auto">
              <a:xfrm>
                <a:off x="2482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2" name="Freeform 111"/>
              <p:cNvSpPr/>
              <p:nvPr/>
            </p:nvSpPr>
            <p:spPr bwMode="auto">
              <a:xfrm>
                <a:off x="3630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3" name="Freeform 112"/>
              <p:cNvSpPr/>
              <p:nvPr/>
            </p:nvSpPr>
            <p:spPr bwMode="auto">
              <a:xfrm>
                <a:off x="4784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4" name="Freeform 113"/>
              <p:cNvSpPr/>
              <p:nvPr/>
            </p:nvSpPr>
            <p:spPr bwMode="auto">
              <a:xfrm>
                <a:off x="932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5" name="Line 114"/>
              <p:cNvSpPr>
                <a:spLocks noChangeShapeType="1"/>
              </p:cNvSpPr>
              <p:nvPr/>
            </p:nvSpPr>
            <p:spPr bwMode="auto">
              <a:xfrm>
                <a:off x="131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6" name="Line 115"/>
              <p:cNvSpPr>
                <a:spLocks noChangeShapeType="1"/>
              </p:cNvSpPr>
              <p:nvPr/>
            </p:nvSpPr>
            <p:spPr bwMode="auto">
              <a:xfrm>
                <a:off x="18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7" name="Line 116"/>
              <p:cNvSpPr>
                <a:spLocks noChangeShapeType="1"/>
              </p:cNvSpPr>
              <p:nvPr/>
            </p:nvSpPr>
            <p:spPr bwMode="auto">
              <a:xfrm>
                <a:off x="24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8" name="Line 117"/>
              <p:cNvSpPr>
                <a:spLocks noChangeShapeType="1"/>
              </p:cNvSpPr>
              <p:nvPr/>
            </p:nvSpPr>
            <p:spPr bwMode="auto">
              <a:xfrm>
                <a:off x="30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39" name="Line 118"/>
              <p:cNvSpPr>
                <a:spLocks noChangeShapeType="1"/>
              </p:cNvSpPr>
              <p:nvPr/>
            </p:nvSpPr>
            <p:spPr bwMode="auto">
              <a:xfrm>
                <a:off x="36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0" name="Line 119"/>
              <p:cNvSpPr>
                <a:spLocks noChangeShapeType="1"/>
              </p:cNvSpPr>
              <p:nvPr/>
            </p:nvSpPr>
            <p:spPr bwMode="auto">
              <a:xfrm>
                <a:off x="41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1" name="Line 120"/>
              <p:cNvSpPr>
                <a:spLocks noChangeShapeType="1"/>
              </p:cNvSpPr>
              <p:nvPr/>
            </p:nvSpPr>
            <p:spPr bwMode="auto">
              <a:xfrm>
                <a:off x="47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2" name="Line 121"/>
              <p:cNvSpPr>
                <a:spLocks noChangeShapeType="1"/>
              </p:cNvSpPr>
              <p:nvPr/>
            </p:nvSpPr>
            <p:spPr bwMode="auto">
              <a:xfrm>
                <a:off x="53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3" name="Freeform 122"/>
              <p:cNvSpPr/>
              <p:nvPr/>
            </p:nvSpPr>
            <p:spPr bwMode="auto">
              <a:xfrm>
                <a:off x="932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4" name="Line 123"/>
              <p:cNvSpPr>
                <a:spLocks noChangeShapeType="1"/>
              </p:cNvSpPr>
              <p:nvPr/>
            </p:nvSpPr>
            <p:spPr bwMode="auto">
              <a:xfrm>
                <a:off x="131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5" name="Line 124"/>
              <p:cNvSpPr>
                <a:spLocks noChangeShapeType="1"/>
              </p:cNvSpPr>
              <p:nvPr/>
            </p:nvSpPr>
            <p:spPr bwMode="auto">
              <a:xfrm>
                <a:off x="18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6" name="Line 125"/>
              <p:cNvSpPr>
                <a:spLocks noChangeShapeType="1"/>
              </p:cNvSpPr>
              <p:nvPr/>
            </p:nvSpPr>
            <p:spPr bwMode="auto">
              <a:xfrm>
                <a:off x="24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7" name="Line 126"/>
              <p:cNvSpPr>
                <a:spLocks noChangeShapeType="1"/>
              </p:cNvSpPr>
              <p:nvPr/>
            </p:nvSpPr>
            <p:spPr bwMode="auto">
              <a:xfrm>
                <a:off x="30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8" name="Line 127"/>
              <p:cNvSpPr>
                <a:spLocks noChangeShapeType="1"/>
              </p:cNvSpPr>
              <p:nvPr/>
            </p:nvSpPr>
            <p:spPr bwMode="auto">
              <a:xfrm>
                <a:off x="36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49" name="Line 128"/>
              <p:cNvSpPr>
                <a:spLocks noChangeShapeType="1"/>
              </p:cNvSpPr>
              <p:nvPr/>
            </p:nvSpPr>
            <p:spPr bwMode="auto">
              <a:xfrm>
                <a:off x="41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0" name="Line 129"/>
              <p:cNvSpPr>
                <a:spLocks noChangeShapeType="1"/>
              </p:cNvSpPr>
              <p:nvPr/>
            </p:nvSpPr>
            <p:spPr bwMode="auto">
              <a:xfrm>
                <a:off x="47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1" name="Line 130"/>
              <p:cNvSpPr>
                <a:spLocks noChangeShapeType="1"/>
              </p:cNvSpPr>
              <p:nvPr/>
            </p:nvSpPr>
            <p:spPr bwMode="auto">
              <a:xfrm>
                <a:off x="53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2" name="Freeform 131"/>
              <p:cNvSpPr/>
              <p:nvPr/>
            </p:nvSpPr>
            <p:spPr bwMode="auto">
              <a:xfrm>
                <a:off x="933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3" name="Freeform 132"/>
              <p:cNvSpPr/>
              <p:nvPr/>
            </p:nvSpPr>
            <p:spPr bwMode="auto">
              <a:xfrm>
                <a:off x="936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4" name="Rectangle 133"/>
              <p:cNvSpPr>
                <a:spLocks noChangeArrowheads="1"/>
              </p:cNvSpPr>
              <p:nvPr/>
            </p:nvSpPr>
            <p:spPr bwMode="auto">
              <a:xfrm>
                <a:off x="116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2255" name="Text Box 134"/>
              <p:cNvSpPr txBox="1">
                <a:spLocks noChangeArrowheads="1"/>
              </p:cNvSpPr>
              <p:nvPr/>
            </p:nvSpPr>
            <p:spPr bwMode="auto">
              <a:xfrm>
                <a:off x="119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256" name="Freeform 135"/>
              <p:cNvSpPr/>
              <p:nvPr/>
            </p:nvSpPr>
            <p:spPr bwMode="auto">
              <a:xfrm>
                <a:off x="1426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7" name="Freeform 136"/>
              <p:cNvSpPr/>
              <p:nvPr/>
            </p:nvSpPr>
            <p:spPr bwMode="auto">
              <a:xfrm>
                <a:off x="1637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8" name="Freeform 137"/>
              <p:cNvSpPr/>
              <p:nvPr/>
            </p:nvSpPr>
            <p:spPr bwMode="auto">
              <a:xfrm>
                <a:off x="1991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59" name="Freeform 138"/>
              <p:cNvSpPr/>
              <p:nvPr/>
            </p:nvSpPr>
            <p:spPr bwMode="auto">
              <a:xfrm>
                <a:off x="222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92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9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0" name="Freeform 139"/>
              <p:cNvSpPr/>
              <p:nvPr/>
            </p:nvSpPr>
            <p:spPr bwMode="auto">
              <a:xfrm>
                <a:off x="258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1" name="Freeform 140"/>
              <p:cNvSpPr/>
              <p:nvPr/>
            </p:nvSpPr>
            <p:spPr bwMode="auto">
              <a:xfrm>
                <a:off x="2805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83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8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2" name="Freeform 141"/>
              <p:cNvSpPr/>
              <p:nvPr/>
            </p:nvSpPr>
            <p:spPr bwMode="auto">
              <a:xfrm>
                <a:off x="3154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3" name="Freeform 142"/>
              <p:cNvSpPr/>
              <p:nvPr/>
            </p:nvSpPr>
            <p:spPr bwMode="auto">
              <a:xfrm>
                <a:off x="3381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6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6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4" name="Freeform 143"/>
              <p:cNvSpPr/>
              <p:nvPr/>
            </p:nvSpPr>
            <p:spPr bwMode="auto">
              <a:xfrm>
                <a:off x="3734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5" name="Freeform 144"/>
              <p:cNvSpPr/>
              <p:nvPr/>
            </p:nvSpPr>
            <p:spPr bwMode="auto">
              <a:xfrm>
                <a:off x="3957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9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6" name="Freeform 145"/>
              <p:cNvSpPr/>
              <p:nvPr/>
            </p:nvSpPr>
            <p:spPr bwMode="auto">
              <a:xfrm>
                <a:off x="4304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7" name="Freeform 146"/>
              <p:cNvSpPr/>
              <p:nvPr/>
            </p:nvSpPr>
            <p:spPr bwMode="auto">
              <a:xfrm>
                <a:off x="4533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8" name="Freeform 147"/>
              <p:cNvSpPr/>
              <p:nvPr/>
            </p:nvSpPr>
            <p:spPr bwMode="auto">
              <a:xfrm>
                <a:off x="4885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69" name="Freeform 148"/>
              <p:cNvSpPr/>
              <p:nvPr/>
            </p:nvSpPr>
            <p:spPr bwMode="auto">
              <a:xfrm>
                <a:off x="5093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70" name="Freeform 149"/>
              <p:cNvSpPr/>
              <p:nvPr/>
            </p:nvSpPr>
            <p:spPr bwMode="auto">
              <a:xfrm>
                <a:off x="5441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271" name="Freeform 150"/>
              <p:cNvSpPr/>
              <p:nvPr/>
            </p:nvSpPr>
            <p:spPr bwMode="auto">
              <a:xfrm>
                <a:off x="1079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0" name="Freeform 151"/>
              <p:cNvSpPr/>
              <p:nvPr/>
            </p:nvSpPr>
            <p:spPr bwMode="auto">
              <a:xfrm>
                <a:off x="2231" y="2744"/>
                <a:ext cx="729" cy="657"/>
              </a:xfrm>
              <a:custGeom>
                <a:avLst/>
                <a:gdLst>
                  <a:gd name="T0" fmla="*/ 153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85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5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1" name="Freeform 152"/>
              <p:cNvSpPr/>
              <p:nvPr/>
            </p:nvSpPr>
            <p:spPr bwMode="auto">
              <a:xfrm>
                <a:off x="3380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2" name="Freeform 153"/>
              <p:cNvSpPr/>
              <p:nvPr/>
            </p:nvSpPr>
            <p:spPr bwMode="auto">
              <a:xfrm>
                <a:off x="4532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3" name="Freeform 154"/>
              <p:cNvSpPr/>
              <p:nvPr/>
            </p:nvSpPr>
            <p:spPr bwMode="auto">
              <a:xfrm>
                <a:off x="1424" y="2735"/>
                <a:ext cx="708" cy="570"/>
              </a:xfrm>
              <a:custGeom>
                <a:avLst/>
                <a:gdLst>
                  <a:gd name="T0" fmla="*/ 0 w 708"/>
                  <a:gd name="T1" fmla="*/ 0 h 570"/>
                  <a:gd name="T2" fmla="*/ 132 w 708"/>
                  <a:gd name="T3" fmla="*/ 0 h 570"/>
                  <a:gd name="T4" fmla="*/ 129 w 708"/>
                  <a:gd name="T5" fmla="*/ 570 h 570"/>
                  <a:gd name="T6" fmla="*/ 708 w 708"/>
                  <a:gd name="T7" fmla="*/ 570 h 570"/>
                  <a:gd name="T8" fmla="*/ 708 w 708"/>
                  <a:gd name="T9" fmla="*/ 9 h 570"/>
                  <a:gd name="T10" fmla="*/ 573 w 708"/>
                  <a:gd name="T11" fmla="*/ 9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8" h="570">
                    <a:moveTo>
                      <a:pt x="0" y="0"/>
                    </a:moveTo>
                    <a:lnTo>
                      <a:pt x="132" y="0"/>
                    </a:lnTo>
                    <a:lnTo>
                      <a:pt x="129" y="570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4" name="Freeform 155"/>
              <p:cNvSpPr/>
              <p:nvPr/>
            </p:nvSpPr>
            <p:spPr bwMode="auto">
              <a:xfrm>
                <a:off x="2576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4 w 726"/>
                  <a:gd name="T3" fmla="*/ 0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567">
                    <a:moveTo>
                      <a:pt x="0" y="0"/>
                    </a:moveTo>
                    <a:lnTo>
                      <a:pt x="144" y="0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5" name="Freeform 156"/>
              <p:cNvSpPr/>
              <p:nvPr/>
            </p:nvSpPr>
            <p:spPr bwMode="auto">
              <a:xfrm>
                <a:off x="3728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6" name="Freeform 157"/>
              <p:cNvSpPr/>
              <p:nvPr/>
            </p:nvSpPr>
            <p:spPr bwMode="auto">
              <a:xfrm>
                <a:off x="4883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6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1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7" name="Freeform 158"/>
              <p:cNvSpPr/>
              <p:nvPr/>
            </p:nvSpPr>
            <p:spPr bwMode="auto">
              <a:xfrm>
                <a:off x="1346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8" name="Freeform 159"/>
              <p:cNvSpPr/>
              <p:nvPr/>
            </p:nvSpPr>
            <p:spPr bwMode="auto">
              <a:xfrm>
                <a:off x="251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09" name="Freeform 160"/>
              <p:cNvSpPr/>
              <p:nvPr/>
            </p:nvSpPr>
            <p:spPr bwMode="auto">
              <a:xfrm>
                <a:off x="3667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0" name="Freeform 161"/>
              <p:cNvSpPr/>
              <p:nvPr/>
            </p:nvSpPr>
            <p:spPr bwMode="auto">
              <a:xfrm>
                <a:off x="4819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1" name="Freeform 162"/>
              <p:cNvSpPr/>
              <p:nvPr/>
            </p:nvSpPr>
            <p:spPr bwMode="auto">
              <a:xfrm>
                <a:off x="5300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2" name="Freeform 163"/>
              <p:cNvSpPr/>
              <p:nvPr/>
            </p:nvSpPr>
            <p:spPr bwMode="auto">
              <a:xfrm>
                <a:off x="4148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3" name="Freeform 164"/>
              <p:cNvSpPr/>
              <p:nvPr/>
            </p:nvSpPr>
            <p:spPr bwMode="auto">
              <a:xfrm>
                <a:off x="299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4" name="Freeform 165"/>
              <p:cNvSpPr/>
              <p:nvPr/>
            </p:nvSpPr>
            <p:spPr bwMode="auto">
              <a:xfrm>
                <a:off x="1843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5" name="Freeform 166"/>
              <p:cNvSpPr/>
              <p:nvPr/>
            </p:nvSpPr>
            <p:spPr bwMode="auto">
              <a:xfrm>
                <a:off x="980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6" name="Freeform 167"/>
              <p:cNvSpPr/>
              <p:nvPr/>
            </p:nvSpPr>
            <p:spPr bwMode="auto">
              <a:xfrm>
                <a:off x="980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7" name="Freeform 168"/>
              <p:cNvSpPr/>
              <p:nvPr/>
            </p:nvSpPr>
            <p:spPr bwMode="auto">
              <a:xfrm>
                <a:off x="1346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8" name="Freeform 169"/>
              <p:cNvSpPr/>
              <p:nvPr/>
            </p:nvSpPr>
            <p:spPr bwMode="auto">
              <a:xfrm>
                <a:off x="2515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19" name="Freeform 170"/>
              <p:cNvSpPr/>
              <p:nvPr/>
            </p:nvSpPr>
            <p:spPr bwMode="auto">
              <a:xfrm>
                <a:off x="3667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20" name="Freeform 171"/>
              <p:cNvSpPr/>
              <p:nvPr/>
            </p:nvSpPr>
            <p:spPr bwMode="auto">
              <a:xfrm>
                <a:off x="4815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21" name="Freeform 172"/>
              <p:cNvSpPr/>
              <p:nvPr/>
            </p:nvSpPr>
            <p:spPr bwMode="auto">
              <a:xfrm>
                <a:off x="5301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22" name="Line 173"/>
              <p:cNvSpPr>
                <a:spLocks noChangeShapeType="1"/>
              </p:cNvSpPr>
              <p:nvPr/>
            </p:nvSpPr>
            <p:spPr bwMode="auto">
              <a:xfrm>
                <a:off x="4148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23" name="Line 174"/>
              <p:cNvSpPr>
                <a:spLocks noChangeShapeType="1"/>
              </p:cNvSpPr>
              <p:nvPr/>
            </p:nvSpPr>
            <p:spPr bwMode="auto">
              <a:xfrm>
                <a:off x="2997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24" name="Line 175"/>
              <p:cNvSpPr>
                <a:spLocks noChangeShapeType="1"/>
              </p:cNvSpPr>
              <p:nvPr/>
            </p:nvSpPr>
            <p:spPr bwMode="auto">
              <a:xfrm>
                <a:off x="184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25" name="Rectangle 176"/>
              <p:cNvSpPr>
                <a:spLocks noChangeArrowheads="1"/>
              </p:cNvSpPr>
              <p:nvPr/>
            </p:nvSpPr>
            <p:spPr bwMode="auto">
              <a:xfrm>
                <a:off x="23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2426" name="Text Box 177"/>
              <p:cNvSpPr txBox="1">
                <a:spLocks noChangeArrowheads="1"/>
              </p:cNvSpPr>
              <p:nvPr/>
            </p:nvSpPr>
            <p:spPr bwMode="auto">
              <a:xfrm>
                <a:off x="23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27" name="Rectangle 178"/>
              <p:cNvSpPr>
                <a:spLocks noChangeArrowheads="1"/>
              </p:cNvSpPr>
              <p:nvPr/>
            </p:nvSpPr>
            <p:spPr bwMode="auto">
              <a:xfrm>
                <a:off x="3493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2428" name="Text Box 179"/>
              <p:cNvSpPr txBox="1">
                <a:spLocks noChangeArrowheads="1"/>
              </p:cNvSpPr>
              <p:nvPr/>
            </p:nvSpPr>
            <p:spPr bwMode="auto">
              <a:xfrm>
                <a:off x="3524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29" name="Rectangle 180"/>
              <p:cNvSpPr>
                <a:spLocks noChangeArrowheads="1"/>
              </p:cNvSpPr>
              <p:nvPr/>
            </p:nvSpPr>
            <p:spPr bwMode="auto">
              <a:xfrm>
                <a:off x="464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2430" name="Text Box 181"/>
              <p:cNvSpPr txBox="1">
                <a:spLocks noChangeArrowheads="1"/>
              </p:cNvSpPr>
              <p:nvPr/>
            </p:nvSpPr>
            <p:spPr bwMode="auto">
              <a:xfrm>
                <a:off x="467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31" name="Line 182"/>
              <p:cNvSpPr>
                <a:spLocks noChangeShapeType="1"/>
              </p:cNvSpPr>
              <p:nvPr/>
            </p:nvSpPr>
            <p:spPr bwMode="auto">
              <a:xfrm>
                <a:off x="198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2" name="Line 183"/>
              <p:cNvSpPr>
                <a:spLocks noChangeShapeType="1"/>
              </p:cNvSpPr>
              <p:nvPr/>
            </p:nvSpPr>
            <p:spPr bwMode="auto">
              <a:xfrm>
                <a:off x="316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3" name="Line 184"/>
              <p:cNvSpPr>
                <a:spLocks noChangeShapeType="1"/>
              </p:cNvSpPr>
              <p:nvPr/>
            </p:nvSpPr>
            <p:spPr bwMode="auto">
              <a:xfrm>
                <a:off x="4317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4" name="Line 185"/>
              <p:cNvSpPr>
                <a:spLocks noChangeShapeType="1"/>
              </p:cNvSpPr>
              <p:nvPr/>
            </p:nvSpPr>
            <p:spPr bwMode="auto">
              <a:xfrm>
                <a:off x="54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5" name="Freeform 186"/>
              <p:cNvSpPr/>
              <p:nvPr/>
            </p:nvSpPr>
            <p:spPr bwMode="auto">
              <a:xfrm>
                <a:off x="3057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6" name="Freeform 187"/>
              <p:cNvSpPr/>
              <p:nvPr/>
            </p:nvSpPr>
            <p:spPr bwMode="auto">
              <a:xfrm>
                <a:off x="4209" y="2691"/>
                <a:ext cx="3" cy="522"/>
              </a:xfrm>
              <a:custGeom>
                <a:avLst/>
                <a:gdLst>
                  <a:gd name="T0" fmla="*/ 0 w 3"/>
                  <a:gd name="T1" fmla="*/ 0 h 522"/>
                  <a:gd name="T2" fmla="*/ 3 w 3"/>
                  <a:gd name="T3" fmla="*/ 522 h 5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22">
                    <a:moveTo>
                      <a:pt x="0" y="0"/>
                    </a:moveTo>
                    <a:lnTo>
                      <a:pt x="3" y="52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7" name="Freeform 188"/>
              <p:cNvSpPr/>
              <p:nvPr/>
            </p:nvSpPr>
            <p:spPr bwMode="auto">
              <a:xfrm>
                <a:off x="5349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38" name="Text Box 189"/>
              <p:cNvSpPr txBox="1">
                <a:spLocks noChangeArrowheads="1"/>
              </p:cNvSpPr>
              <p:nvPr/>
            </p:nvSpPr>
            <p:spPr bwMode="auto">
              <a:xfrm rot="5400000">
                <a:off x="1217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39" name="Text Box 190"/>
              <p:cNvSpPr txBox="1">
                <a:spLocks noChangeArrowheads="1"/>
              </p:cNvSpPr>
              <p:nvPr/>
            </p:nvSpPr>
            <p:spPr bwMode="auto">
              <a:xfrm rot="5400000">
                <a:off x="17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0" name="Text Box 191"/>
              <p:cNvSpPr txBox="1">
                <a:spLocks noChangeArrowheads="1"/>
              </p:cNvSpPr>
              <p:nvPr/>
            </p:nvSpPr>
            <p:spPr bwMode="auto">
              <a:xfrm rot="5400000">
                <a:off x="23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2" name="Text Box 192"/>
              <p:cNvSpPr txBox="1">
                <a:spLocks noChangeArrowheads="1"/>
              </p:cNvSpPr>
              <p:nvPr/>
            </p:nvSpPr>
            <p:spPr bwMode="auto">
              <a:xfrm rot="5400000">
                <a:off x="294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3" name="Text Box 193"/>
              <p:cNvSpPr txBox="1">
                <a:spLocks noChangeArrowheads="1"/>
              </p:cNvSpPr>
              <p:nvPr/>
            </p:nvSpPr>
            <p:spPr bwMode="auto">
              <a:xfrm rot="5400000">
                <a:off x="3520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4" name="Text Box 194"/>
              <p:cNvSpPr txBox="1">
                <a:spLocks noChangeArrowheads="1"/>
              </p:cNvSpPr>
              <p:nvPr/>
            </p:nvSpPr>
            <p:spPr bwMode="auto">
              <a:xfrm rot="5400000">
                <a:off x="4097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5" name="Text Box 195"/>
              <p:cNvSpPr txBox="1">
                <a:spLocks noChangeArrowheads="1"/>
              </p:cNvSpPr>
              <p:nvPr/>
            </p:nvSpPr>
            <p:spPr bwMode="auto">
              <a:xfrm rot="5400000">
                <a:off x="46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6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5268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7" name="Text Box 197"/>
              <p:cNvSpPr txBox="1">
                <a:spLocks noChangeArrowheads="1"/>
              </p:cNvSpPr>
              <p:nvPr/>
            </p:nvSpPr>
            <p:spPr bwMode="auto">
              <a:xfrm>
                <a:off x="684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8" name="Text Box 198"/>
              <p:cNvSpPr txBox="1">
                <a:spLocks noChangeArrowheads="1"/>
              </p:cNvSpPr>
              <p:nvPr/>
            </p:nvSpPr>
            <p:spPr bwMode="auto">
              <a:xfrm>
                <a:off x="684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49" name="Text Box 199"/>
              <p:cNvSpPr txBox="1">
                <a:spLocks noChangeArrowheads="1"/>
              </p:cNvSpPr>
              <p:nvPr/>
            </p:nvSpPr>
            <p:spPr bwMode="auto">
              <a:xfrm>
                <a:off x="648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0" name="Line 200"/>
              <p:cNvSpPr>
                <a:spLocks noChangeShapeType="1"/>
              </p:cNvSpPr>
              <p:nvPr/>
            </p:nvSpPr>
            <p:spPr bwMode="auto">
              <a:xfrm>
                <a:off x="356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51" name="Text Box 201"/>
              <p:cNvSpPr txBox="1">
                <a:spLocks noChangeArrowheads="1"/>
              </p:cNvSpPr>
              <p:nvPr/>
            </p:nvSpPr>
            <p:spPr bwMode="auto">
              <a:xfrm>
                <a:off x="684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2" name="Text Box 202"/>
              <p:cNvSpPr txBox="1">
                <a:spLocks noChangeArrowheads="1"/>
              </p:cNvSpPr>
              <p:nvPr/>
            </p:nvSpPr>
            <p:spPr bwMode="auto">
              <a:xfrm>
                <a:off x="648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3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68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4" name="Text Box 204"/>
              <p:cNvSpPr txBox="1">
                <a:spLocks noChangeArrowheads="1"/>
              </p:cNvSpPr>
              <p:nvPr/>
            </p:nvSpPr>
            <p:spPr bwMode="auto">
              <a:xfrm rot="5400000">
                <a:off x="689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5" name="Text Box 205"/>
              <p:cNvSpPr txBox="1">
                <a:spLocks noChangeArrowheads="1"/>
              </p:cNvSpPr>
              <p:nvPr/>
            </p:nvSpPr>
            <p:spPr bwMode="auto">
              <a:xfrm>
                <a:off x="372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6" name="Text Box 206"/>
              <p:cNvSpPr txBox="1">
                <a:spLocks noChangeArrowheads="1"/>
              </p:cNvSpPr>
              <p:nvPr/>
            </p:nvSpPr>
            <p:spPr bwMode="auto">
              <a:xfrm>
                <a:off x="372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7" name="Text Box 207"/>
              <p:cNvSpPr txBox="1">
                <a:spLocks noChangeArrowheads="1"/>
              </p:cNvSpPr>
              <p:nvPr/>
            </p:nvSpPr>
            <p:spPr bwMode="auto">
              <a:xfrm>
                <a:off x="372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58" name="Text Box 208"/>
              <p:cNvSpPr txBox="1">
                <a:spLocks noChangeArrowheads="1"/>
              </p:cNvSpPr>
              <p:nvPr/>
            </p:nvSpPr>
            <p:spPr bwMode="auto">
              <a:xfrm>
                <a:off x="372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60" name="Text Box 209"/>
              <p:cNvSpPr txBox="1">
                <a:spLocks noChangeArrowheads="1"/>
              </p:cNvSpPr>
              <p:nvPr/>
            </p:nvSpPr>
            <p:spPr bwMode="auto">
              <a:xfrm>
                <a:off x="372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61" name="Text Box 210"/>
              <p:cNvSpPr txBox="1">
                <a:spLocks noChangeArrowheads="1"/>
              </p:cNvSpPr>
              <p:nvPr/>
            </p:nvSpPr>
            <p:spPr bwMode="auto">
              <a:xfrm>
                <a:off x="399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62" name="Text Box 211"/>
              <p:cNvSpPr txBox="1">
                <a:spLocks noChangeArrowheads="1"/>
              </p:cNvSpPr>
              <p:nvPr/>
            </p:nvSpPr>
            <p:spPr bwMode="auto">
              <a:xfrm>
                <a:off x="399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63" name="Text Box 212"/>
              <p:cNvSpPr txBox="1">
                <a:spLocks noChangeArrowheads="1"/>
              </p:cNvSpPr>
              <p:nvPr/>
            </p:nvSpPr>
            <p:spPr bwMode="auto">
              <a:xfrm>
                <a:off x="399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792" name="Text Box 213"/>
              <p:cNvSpPr txBox="1">
                <a:spLocks noChangeArrowheads="1"/>
              </p:cNvSpPr>
              <p:nvPr/>
            </p:nvSpPr>
            <p:spPr bwMode="auto">
              <a:xfrm>
                <a:off x="399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793" name="Text Box 214"/>
              <p:cNvSpPr txBox="1">
                <a:spLocks noChangeArrowheads="1"/>
              </p:cNvSpPr>
              <p:nvPr/>
            </p:nvSpPr>
            <p:spPr bwMode="auto">
              <a:xfrm>
                <a:off x="399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794" name="Text Box 215"/>
              <p:cNvSpPr txBox="1">
                <a:spLocks noChangeArrowheads="1"/>
              </p:cNvSpPr>
              <p:nvPr/>
            </p:nvSpPr>
            <p:spPr bwMode="auto">
              <a:xfrm>
                <a:off x="196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795" name="Text Box 216"/>
              <p:cNvSpPr txBox="1">
                <a:spLocks noChangeArrowheads="1"/>
              </p:cNvSpPr>
              <p:nvPr/>
            </p:nvSpPr>
            <p:spPr bwMode="auto">
              <a:xfrm>
                <a:off x="312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796" name="Text Box 217"/>
              <p:cNvSpPr txBox="1">
                <a:spLocks noChangeArrowheads="1"/>
              </p:cNvSpPr>
              <p:nvPr/>
            </p:nvSpPr>
            <p:spPr bwMode="auto">
              <a:xfrm>
                <a:off x="4280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046" name="Text Box 218"/>
              <p:cNvSpPr txBox="1">
                <a:spLocks noChangeArrowheads="1"/>
              </p:cNvSpPr>
              <p:nvPr/>
            </p:nvSpPr>
            <p:spPr bwMode="auto">
              <a:xfrm>
                <a:off x="543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047" name="Line 219"/>
              <p:cNvSpPr>
                <a:spLocks noChangeShapeType="1"/>
              </p:cNvSpPr>
              <p:nvPr/>
            </p:nvSpPr>
            <p:spPr bwMode="auto">
              <a:xfrm>
                <a:off x="164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64" name="Line 220"/>
              <p:cNvSpPr>
                <a:spLocks noChangeShapeType="1"/>
              </p:cNvSpPr>
              <p:nvPr/>
            </p:nvSpPr>
            <p:spPr bwMode="auto">
              <a:xfrm>
                <a:off x="164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65" name="Line 221"/>
              <p:cNvSpPr>
                <a:spLocks noChangeShapeType="1"/>
              </p:cNvSpPr>
              <p:nvPr/>
            </p:nvSpPr>
            <p:spPr bwMode="auto">
              <a:xfrm>
                <a:off x="164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66" name="Line 222"/>
              <p:cNvSpPr>
                <a:spLocks noChangeShapeType="1"/>
              </p:cNvSpPr>
              <p:nvPr/>
            </p:nvSpPr>
            <p:spPr bwMode="auto">
              <a:xfrm>
                <a:off x="164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67" name="Line 223"/>
              <p:cNvSpPr>
                <a:spLocks noChangeShapeType="1"/>
              </p:cNvSpPr>
              <p:nvPr/>
            </p:nvSpPr>
            <p:spPr bwMode="auto">
              <a:xfrm>
                <a:off x="164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68" name="Line 224"/>
              <p:cNvSpPr>
                <a:spLocks noChangeShapeType="1"/>
              </p:cNvSpPr>
              <p:nvPr/>
            </p:nvSpPr>
            <p:spPr bwMode="auto">
              <a:xfrm>
                <a:off x="164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69" name="Line 225"/>
              <p:cNvSpPr>
                <a:spLocks noChangeShapeType="1"/>
              </p:cNvSpPr>
              <p:nvPr/>
            </p:nvSpPr>
            <p:spPr bwMode="auto">
              <a:xfrm>
                <a:off x="164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70" name="Line 226"/>
              <p:cNvSpPr>
                <a:spLocks noChangeShapeType="1"/>
              </p:cNvSpPr>
              <p:nvPr/>
            </p:nvSpPr>
            <p:spPr bwMode="auto">
              <a:xfrm>
                <a:off x="164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71" name="Line 227"/>
              <p:cNvSpPr>
                <a:spLocks noChangeShapeType="1"/>
              </p:cNvSpPr>
              <p:nvPr/>
            </p:nvSpPr>
            <p:spPr bwMode="auto">
              <a:xfrm>
                <a:off x="164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72" name="Line 228"/>
              <p:cNvSpPr>
                <a:spLocks noChangeShapeType="1"/>
              </p:cNvSpPr>
              <p:nvPr/>
            </p:nvSpPr>
            <p:spPr bwMode="auto">
              <a:xfrm>
                <a:off x="164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73" name="Text Box 229"/>
              <p:cNvSpPr txBox="1">
                <a:spLocks noChangeArrowheads="1"/>
              </p:cNvSpPr>
              <p:nvPr/>
            </p:nvSpPr>
            <p:spPr bwMode="auto">
              <a:xfrm>
                <a:off x="672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74" name="Line 230"/>
              <p:cNvSpPr>
                <a:spLocks noChangeShapeType="1"/>
              </p:cNvSpPr>
              <p:nvPr/>
            </p:nvSpPr>
            <p:spPr bwMode="auto">
              <a:xfrm>
                <a:off x="706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2475" name="Text Box 231"/>
              <p:cNvSpPr txBox="1">
                <a:spLocks noChangeArrowheads="1"/>
              </p:cNvSpPr>
              <p:nvPr/>
            </p:nvSpPr>
            <p:spPr bwMode="auto">
              <a:xfrm>
                <a:off x="692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476" name="Line 232"/>
              <p:cNvSpPr>
                <a:spLocks noChangeShapeType="1"/>
              </p:cNvSpPr>
              <p:nvPr/>
            </p:nvSpPr>
            <p:spPr bwMode="auto">
              <a:xfrm>
                <a:off x="750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22501" name="Group 233"/>
          <p:cNvGrpSpPr/>
          <p:nvPr/>
        </p:nvGrpSpPr>
        <p:grpSpPr bwMode="auto">
          <a:xfrm>
            <a:off x="3004369" y="818307"/>
            <a:ext cx="7292975" cy="403225"/>
            <a:chOff x="1022" y="538"/>
            <a:chExt cx="4594" cy="254"/>
          </a:xfrm>
        </p:grpSpPr>
        <p:sp>
          <p:nvSpPr>
            <p:cNvPr id="222502" name="Line 234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2503" name="Freeform 235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2504" name="Line 236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2505" name="Freeform 237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2506" name="Line 238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2507" name="Text Box 239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2508" name="Text Box 240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2509" name="Text Box 241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2510" name="Text Box 242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2511" name="Line 243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2" name="Line 244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3" name="Line 245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4" name="Line 246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5" name="Line 247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6" name="Line 248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7" name="Line 249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2518" name="Line 250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2520" name="Text Box 252"/>
          <p:cNvSpPr txBox="1">
            <a:spLocks noChangeArrowheads="1"/>
          </p:cNvSpPr>
          <p:nvPr/>
        </p:nvSpPr>
        <p:spPr bwMode="auto">
          <a:xfrm>
            <a:off x="409601" y="15033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22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388170" y="1119438"/>
            <a:ext cx="8921750" cy="5654675"/>
            <a:chOff x="140" y="713"/>
            <a:chExt cx="5620" cy="3562"/>
          </a:xfrm>
        </p:grpSpPr>
        <p:sp>
          <p:nvSpPr>
            <p:cNvPr id="3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4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069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5070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5071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4816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223569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223574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3575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3570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3571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223572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3573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4817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4820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4821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223562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223567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3568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3563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3564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223565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3566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3424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25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26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27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28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29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0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1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2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3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4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5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6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7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8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39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0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1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2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3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4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5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6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7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8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49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0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1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2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3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4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5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6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7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8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59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0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3461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462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3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4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5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6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7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8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69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0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2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3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4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5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6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7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8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79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0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1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3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4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5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6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7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8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89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0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1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2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3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4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5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6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7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8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499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00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01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02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03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04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05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3506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07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3508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09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23510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11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2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3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4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5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6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7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618 h 4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18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3519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3520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3521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3522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3523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3524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3525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223526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3527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3528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3529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30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3531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23532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3533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3534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35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36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37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38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39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40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41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42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43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44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3545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3546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3547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23548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49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0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1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2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3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4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5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6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7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58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223559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60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CS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223561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3576" name="Group 221"/>
          <p:cNvGrpSpPr/>
          <p:nvPr/>
        </p:nvGrpSpPr>
        <p:grpSpPr bwMode="auto">
          <a:xfrm>
            <a:off x="2750245" y="841625"/>
            <a:ext cx="7292975" cy="403225"/>
            <a:chOff x="1022" y="538"/>
            <a:chExt cx="4594" cy="254"/>
          </a:xfrm>
        </p:grpSpPr>
        <p:sp>
          <p:nvSpPr>
            <p:cNvPr id="223577" name="Line 222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78" name="Freeform 223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79" name="Line 224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80" name="Freeform 225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81" name="Line 226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3582" name="Text Box 227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83" name="Text Box 228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84" name="Text Box 229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85" name="Text Box 230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23586" name="Line 231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87" name="Line 232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88" name="Line 233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89" name="Line 234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90" name="Line 235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91" name="Line 236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92" name="Line 237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3593" name="Line 238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3594" name="Group 239"/>
          <p:cNvGrpSpPr/>
          <p:nvPr/>
        </p:nvGrpSpPr>
        <p:grpSpPr bwMode="auto">
          <a:xfrm>
            <a:off x="1388170" y="1057525"/>
            <a:ext cx="311150" cy="4778375"/>
            <a:chOff x="140" y="674"/>
            <a:chExt cx="196" cy="3010"/>
          </a:xfrm>
        </p:grpSpPr>
        <p:sp>
          <p:nvSpPr>
            <p:cNvPr id="223595" name="Text Box 240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596" name="Text Box 241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597" name="Text Box 242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598" name="Text Box 243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599" name="Text Box 244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600" name="Text Box 245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601" name="Text Box 246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602" name="Text Box 247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603" name="Text Box 248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3604" name="Text Box 249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23606" name="Text Box 251"/>
          <p:cNvSpPr txBox="1">
            <a:spLocks noChangeArrowheads="1"/>
          </p:cNvSpPr>
          <p:nvPr/>
        </p:nvSpPr>
        <p:spPr bwMode="auto">
          <a:xfrm>
            <a:off x="290099" y="92358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23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567608" y="869334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" name="Group 20"/>
          <p:cNvGrpSpPr/>
          <p:nvPr/>
        </p:nvGrpSpPr>
        <p:grpSpPr bwMode="auto">
          <a:xfrm>
            <a:off x="1205533" y="1085234"/>
            <a:ext cx="8921750" cy="5716588"/>
            <a:chOff x="140" y="674"/>
            <a:chExt cx="5620" cy="3601"/>
          </a:xfrm>
        </p:grpSpPr>
        <p:grpSp>
          <p:nvGrpSpPr>
            <p:cNvPr id="21" name="Group 21"/>
            <p:cNvGrpSpPr/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33" name="Rectangle 22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34" name="Rectangle 23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" name="Text Box 24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" name="Rectangle 25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" name="Rectangle 26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Text Box 27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Rectangle 28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" name="Rectangle 29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" name="Text Box 30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" name="Rectangle 31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Rectangle 32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Text Box 33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Rectangle 34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Rectangle 35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" name="Rectangle 36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" name="Rectangle 37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" name="Rectangle 38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" name="Rectangle 39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" name="Rectangle 40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" name="Rectangle 41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" name="Rectangle 42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" name="Line 43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" name="Line 44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" name="Freeform 45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" name="Line 46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" name="Line 47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9" name="Freeform 48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49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50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62" name="Line 51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3" name="Line 52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48" name="Freeform 53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49" name="Line 54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0" name="Line 55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1" name="Freeform 56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52" name="Freeform 57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53" name="Line 58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4" name="Line 59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5" name="Freeform 60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6" name="Line 61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7" name="Line 62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58" name="Freeform 63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59" name="Freeform 64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60" name="Line 65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1" name="Line 66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2" name="Freeform 67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3" name="Line 68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4" name="Line 69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5" name="Freeform 70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66" name="Freeform 71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67" name="Line 72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8" name="Line 73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69" name="Freeform 74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0" name="Line 75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1" name="Line 76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2" name="Freeform 77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73" name="Freeform 78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74" name="Line 79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5" name="Line 80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6" name="Freeform 81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7" name="Line 82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8" name="Line 83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4479" name="Freeform 84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80" name="Freeform 85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24481" name="Group 86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224585" name="Group 87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24590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4591" name="Line 8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4586" name="Freeform 90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4587" name="Group 91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24588" name="Line 9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4589" name="Line 9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24482" name="Freeform 94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83" name="Freeform 95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24484" name="Group 96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224578" name="Group 97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24583" name="Line 9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4584" name="Line 9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4579" name="Freeform 100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4580" name="Group 101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24581" name="Line 10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4582" name="Line 10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24485" name="Freeform 104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86" name="Freeform 105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87" name="Freeform 106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88" name="Line 107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89" name="Line 108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0" name="Line 109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1" name="Line 110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2" name="Line 111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3" name="Line 112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4" name="Line 113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5" name="Line 114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6" name="Freeform 115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7" name="Freeform 116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8" name="Freeform 117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499" name="Freeform 118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0" name="Freeform 119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1" name="Freeform 120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2" name="Line 121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3" name="Line 122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4" name="Line 123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5" name="Line 124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6" name="Line 125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08" name="Line 126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0" name="Line 127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1" name="Line 128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5840" name="Freeform 129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5841" name="Line 130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5844" name="Line 131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5846" name="Line 132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19" name="Line 133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0" name="Line 134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1" name="Line 135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2" name="Line 136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3" name="Line 137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4" name="Freeform 138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5" name="Freeform 139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6" name="Rectangle 140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36127" name="Text Box 141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28" name="Freeform 142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29" name="Freeform 143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0" name="Freeform 144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1" name="Freeform 145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2" name="Freeform 146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3" name="Freeform 147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4" name="Freeform 148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5" name="Freeform 149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6" name="Freeform 150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7" name="Freeform 151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8" name="Freeform 152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39" name="Freeform 153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0" name="Freeform 154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1" name="Freeform 155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2" name="Freeform 156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3" name="Freeform 157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4" name="Freeform 158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5" name="Freeform 159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6" name="Freeform 160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7" name="Freeform 161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8" name="Freeform 162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49" name="Freeform 163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0" name="Freeform 164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1" name="Freeform 165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2" name="Freeform 166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3" name="Freeform 167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4" name="Freeform 168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5" name="Freeform 169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6" name="Freeform 170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7" name="Freeform 171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8" name="Freeform 172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6159" name="Freeform 173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2" name="Freeform 174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3" name="Freeform 175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4" name="Freeform 176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5" name="Freeform 177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6" name="Freeform 178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7" name="Freeform 179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8" name="Line 180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19" name="Line 181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20" name="Line 182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21" name="Rectangle 183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4522" name="Text Box 184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23" name="Rectangle 185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4524" name="Text Box 186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25" name="Rectangle 187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4526" name="Text Box 188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27" name="Line 189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28" name="Line 190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29" name="Line 191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30" name="Line 192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31" name="Freeform 193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32" name="Freeform 194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33" name="Freeform 195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34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35" name="Text Box 197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36" name="Text Box 198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37" name="Text Box 199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38" name="Text Box 200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39" name="Text Box 201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0" name="Text Box 202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1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2" name="Text Box 204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3" name="Text Box 205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4" name="Text Box 206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5" name="Line 207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46" name="Text Box 208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7" name="Text Box 209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8" name="Text Box 210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49" name="Text Box 211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0" name="Text Box 212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1" name="Text Box 213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2" name="Text Box 214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3" name="Text Box 215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4" name="Text Box 216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5" name="Text Box 217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6" name="Text Box 218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7" name="Text Box 219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8" name="Text Box 220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59" name="Text Box 221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60" name="Text Box 222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61" name="Text Box 223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62" name="Text Box 224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63" name="Text Box 225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64" name="Line 226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65" name="Line 227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66" name="Line 228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67" name="Line 229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68" name="Line 230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69" name="Line 231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70" name="Line 232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71" name="Line 233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72" name="Line 234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73" name="Line 235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74" name="Text Box 236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75" name="Line 237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4576" name="Text Box 238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577" name="Line 239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" name="Group 240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23" name="Text Box 241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" name="Text Box 242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" name="Text Box 243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" name="Text Box 244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Text Box 245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Text Box 247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Text Box 248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Text Box 249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Text Box 250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24593" name="Text Box 252"/>
          <p:cNvSpPr txBox="1">
            <a:spLocks noChangeArrowheads="1"/>
          </p:cNvSpPr>
          <p:nvPr/>
        </p:nvSpPr>
        <p:spPr bwMode="auto">
          <a:xfrm>
            <a:off x="170483" y="38676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4594" name="Group 253"/>
          <p:cNvGrpSpPr/>
          <p:nvPr/>
        </p:nvGrpSpPr>
        <p:grpSpPr bwMode="auto">
          <a:xfrm>
            <a:off x="2415208" y="1375747"/>
            <a:ext cx="7250113" cy="682625"/>
            <a:chOff x="902" y="857"/>
            <a:chExt cx="4567" cy="430"/>
          </a:xfrm>
        </p:grpSpPr>
        <p:grpSp>
          <p:nvGrpSpPr>
            <p:cNvPr id="224595" name="Group 254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24600" name="Group 255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224611" name="Rectangle 256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2" name="Rectangle 257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3" name="Rectangle 258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4" name="Rectangle 259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5" name="Rectangle 260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6" name="Rectangle 261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7" name="Rectangle 262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4618" name="Rectangle 263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24601" name="Group 264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224602" name="Freeform 265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3" name="Line 266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4" name="Line 267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5" name="Line 268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6" name="Line 269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7" name="Line 270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8" name="Line 271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09" name="Line 272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610" name="Line 273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4596" name="Text Box 274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4597" name="Text Box 275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4598" name="Text Box 276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4599" name="Text Box 277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24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927648" y="887807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141586" y="36726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1565573" y="1103707"/>
            <a:ext cx="8921750" cy="5716588"/>
            <a:chOff x="140" y="674"/>
            <a:chExt cx="5620" cy="3601"/>
          </a:xfrm>
        </p:grpSpPr>
        <p:grpSp>
          <p:nvGrpSpPr>
            <p:cNvPr id="23" name="Group 23"/>
            <p:cNvGrpSpPr/>
            <p:nvPr/>
          </p:nvGrpSpPr>
          <p:grpSpPr bwMode="auto">
            <a:xfrm>
              <a:off x="140" y="674"/>
              <a:ext cx="5620" cy="3601"/>
              <a:chOff x="140" y="674"/>
              <a:chExt cx="5620" cy="3601"/>
            </a:xfrm>
          </p:grpSpPr>
          <p:grpSp>
            <p:nvGrpSpPr>
              <p:cNvPr id="49" name="Group 24"/>
              <p:cNvGrpSpPr/>
              <p:nvPr/>
            </p:nvGrpSpPr>
            <p:grpSpPr bwMode="auto">
              <a:xfrm>
                <a:off x="140" y="713"/>
                <a:ext cx="5620" cy="3562"/>
                <a:chOff x="140" y="713"/>
                <a:chExt cx="5620" cy="3562"/>
              </a:xfrm>
            </p:grpSpPr>
            <p:sp>
              <p:nvSpPr>
                <p:cNvPr id="61" name="Rectangle 25"/>
                <p:cNvSpPr>
                  <a:spLocks noChangeArrowheads="1"/>
                </p:cNvSpPr>
                <p:nvPr/>
              </p:nvSpPr>
              <p:spPr bwMode="auto">
                <a:xfrm>
                  <a:off x="332" y="713"/>
                  <a:ext cx="576" cy="316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62" name="Rectangle 26"/>
                <p:cNvSpPr>
                  <a:spLocks noChangeArrowheads="1"/>
                </p:cNvSpPr>
                <p:nvPr/>
              </p:nvSpPr>
              <p:spPr bwMode="auto">
                <a:xfrm>
                  <a:off x="172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63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140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198" name="Rectangle 28"/>
                <p:cNvSpPr>
                  <a:spLocks noChangeArrowheads="1"/>
                </p:cNvSpPr>
                <p:nvPr/>
              </p:nvSpPr>
              <p:spPr bwMode="auto">
                <a:xfrm>
                  <a:off x="1152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199" name="Rectangle 29"/>
                <p:cNvSpPr>
                  <a:spLocks noChangeArrowheads="1"/>
                </p:cNvSpPr>
                <p:nvPr/>
              </p:nvSpPr>
              <p:spPr bwMode="auto">
                <a:xfrm>
                  <a:off x="2869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0" name="Text Box 30"/>
                <p:cNvSpPr txBox="1">
                  <a:spLocks noChangeArrowheads="1"/>
                </p:cNvSpPr>
                <p:nvPr/>
              </p:nvSpPr>
              <p:spPr bwMode="auto">
                <a:xfrm>
                  <a:off x="2549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1" name="Rectangle 31"/>
                <p:cNvSpPr>
                  <a:spLocks noChangeArrowheads="1"/>
                </p:cNvSpPr>
                <p:nvPr/>
              </p:nvSpPr>
              <p:spPr bwMode="auto">
                <a:xfrm>
                  <a:off x="2293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2" name="Rectangle 32"/>
                <p:cNvSpPr>
                  <a:spLocks noChangeArrowheads="1"/>
                </p:cNvSpPr>
                <p:nvPr/>
              </p:nvSpPr>
              <p:spPr bwMode="auto">
                <a:xfrm>
                  <a:off x="404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3" name="Text Box 33"/>
                <p:cNvSpPr txBox="1">
                  <a:spLocks noChangeArrowheads="1"/>
                </p:cNvSpPr>
                <p:nvPr/>
              </p:nvSpPr>
              <p:spPr bwMode="auto">
                <a:xfrm>
                  <a:off x="3724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4" name="Rectangle 34"/>
                <p:cNvSpPr>
                  <a:spLocks noChangeArrowheads="1"/>
                </p:cNvSpPr>
                <p:nvPr/>
              </p:nvSpPr>
              <p:spPr bwMode="auto">
                <a:xfrm>
                  <a:off x="346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5" name="Rectangle 35"/>
                <p:cNvSpPr>
                  <a:spLocks noChangeArrowheads="1"/>
                </p:cNvSpPr>
                <p:nvPr/>
              </p:nvSpPr>
              <p:spPr bwMode="auto">
                <a:xfrm>
                  <a:off x="5180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6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7" name="Rectangle 37"/>
                <p:cNvSpPr>
                  <a:spLocks noChangeArrowheads="1"/>
                </p:cNvSpPr>
                <p:nvPr/>
              </p:nvSpPr>
              <p:spPr bwMode="auto">
                <a:xfrm>
                  <a:off x="460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8" name="Rectangle 38"/>
                <p:cNvSpPr>
                  <a:spLocks noChangeArrowheads="1"/>
                </p:cNvSpPr>
                <p:nvPr/>
              </p:nvSpPr>
              <p:spPr bwMode="auto">
                <a:xfrm>
                  <a:off x="172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09" name="Rectangle 39"/>
                <p:cNvSpPr>
                  <a:spLocks noChangeArrowheads="1"/>
                </p:cNvSpPr>
                <p:nvPr/>
              </p:nvSpPr>
              <p:spPr bwMode="auto">
                <a:xfrm>
                  <a:off x="1152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0" name="Rectangle 40"/>
                <p:cNvSpPr>
                  <a:spLocks noChangeArrowheads="1"/>
                </p:cNvSpPr>
                <p:nvPr/>
              </p:nvSpPr>
              <p:spPr bwMode="auto">
                <a:xfrm>
                  <a:off x="2869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1" name="Rectangle 41"/>
                <p:cNvSpPr>
                  <a:spLocks noChangeArrowheads="1"/>
                </p:cNvSpPr>
                <p:nvPr/>
              </p:nvSpPr>
              <p:spPr bwMode="auto">
                <a:xfrm>
                  <a:off x="2293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2" name="Rectangle 42"/>
                <p:cNvSpPr>
                  <a:spLocks noChangeArrowheads="1"/>
                </p:cNvSpPr>
                <p:nvPr/>
              </p:nvSpPr>
              <p:spPr bwMode="auto">
                <a:xfrm>
                  <a:off x="404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3" name="Rectangle 43"/>
                <p:cNvSpPr>
                  <a:spLocks noChangeArrowheads="1"/>
                </p:cNvSpPr>
                <p:nvPr/>
              </p:nvSpPr>
              <p:spPr bwMode="auto">
                <a:xfrm>
                  <a:off x="346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4" name="Rectangle 44"/>
                <p:cNvSpPr>
                  <a:spLocks noChangeArrowheads="1"/>
                </p:cNvSpPr>
                <p:nvPr/>
              </p:nvSpPr>
              <p:spPr bwMode="auto">
                <a:xfrm>
                  <a:off x="5180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5" name="Rectangle 45"/>
                <p:cNvSpPr>
                  <a:spLocks noChangeArrowheads="1"/>
                </p:cNvSpPr>
                <p:nvPr/>
              </p:nvSpPr>
              <p:spPr bwMode="auto">
                <a:xfrm>
                  <a:off x="460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7216" name="Line 46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17" name="Line 47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1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18" name="Freeform 48"/>
                <p:cNvSpPr/>
                <p:nvPr/>
              </p:nvSpPr>
              <p:spPr bwMode="auto">
                <a:xfrm>
                  <a:off x="1260" y="2709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19" name="Line 49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0" name="Line 50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4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1" name="Freeform 51"/>
                <p:cNvSpPr/>
                <p:nvPr/>
              </p:nvSpPr>
              <p:spPr bwMode="auto">
                <a:xfrm>
                  <a:off x="1434" y="2353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22" name="Freeform 52"/>
                <p:cNvSpPr/>
                <p:nvPr/>
              </p:nvSpPr>
              <p:spPr bwMode="auto">
                <a:xfrm>
                  <a:off x="1059" y="1209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0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0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23" name="Freeform 53"/>
                <p:cNvSpPr/>
                <p:nvPr/>
              </p:nvSpPr>
              <p:spPr bwMode="auto">
                <a:xfrm>
                  <a:off x="1055" y="2353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24" name="Line 54"/>
                <p:cNvSpPr>
                  <a:spLocks noChangeShapeType="1"/>
                </p:cNvSpPr>
                <p:nvPr/>
              </p:nvSpPr>
              <p:spPr bwMode="auto">
                <a:xfrm rot="5400000">
                  <a:off x="1896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5" name="Line 55"/>
                <p:cNvSpPr>
                  <a:spLocks noChangeShapeType="1"/>
                </p:cNvSpPr>
                <p:nvPr/>
              </p:nvSpPr>
              <p:spPr bwMode="auto">
                <a:xfrm rot="5400000">
                  <a:off x="1879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6" name="Freeform 56"/>
                <p:cNvSpPr/>
                <p:nvPr/>
              </p:nvSpPr>
              <p:spPr bwMode="auto">
                <a:xfrm>
                  <a:off x="1831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7" name="Line 57"/>
                <p:cNvSpPr>
                  <a:spLocks noChangeShapeType="1"/>
                </p:cNvSpPr>
                <p:nvPr/>
              </p:nvSpPr>
              <p:spPr bwMode="auto">
                <a:xfrm rot="-5400000">
                  <a:off x="1704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8" name="Line 58"/>
                <p:cNvSpPr>
                  <a:spLocks noChangeShapeType="1"/>
                </p:cNvSpPr>
                <p:nvPr/>
              </p:nvSpPr>
              <p:spPr bwMode="auto">
                <a:xfrm rot="-5400000">
                  <a:off x="1783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29" name="Freeform 59"/>
                <p:cNvSpPr/>
                <p:nvPr/>
              </p:nvSpPr>
              <p:spPr bwMode="auto">
                <a:xfrm>
                  <a:off x="2005" y="2353"/>
                  <a:ext cx="103" cy="1"/>
                </a:xfrm>
                <a:custGeom>
                  <a:avLst/>
                  <a:gdLst>
                    <a:gd name="T0" fmla="*/ 0 w 103"/>
                    <a:gd name="T1" fmla="*/ 0 h 1"/>
                    <a:gd name="T2" fmla="*/ 103 w 103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3" h="1">
                      <a:moveTo>
                        <a:pt x="0" y="0"/>
                      </a:move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30" name="Freeform 60"/>
                <p:cNvSpPr/>
                <p:nvPr/>
              </p:nvSpPr>
              <p:spPr bwMode="auto">
                <a:xfrm>
                  <a:off x="1611" y="2352"/>
                  <a:ext cx="113" cy="1"/>
                </a:xfrm>
                <a:custGeom>
                  <a:avLst/>
                  <a:gdLst>
                    <a:gd name="T0" fmla="*/ 113 w 113"/>
                    <a:gd name="T1" fmla="*/ 1 h 1"/>
                    <a:gd name="T2" fmla="*/ 0 w 113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3" h="1">
                      <a:moveTo>
                        <a:pt x="113" y="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31" name="Line 61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32" name="Line 62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33" name="Freeform 63"/>
                <p:cNvSpPr/>
                <p:nvPr/>
              </p:nvSpPr>
              <p:spPr bwMode="auto">
                <a:xfrm>
                  <a:off x="2412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34" name="Line 64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35" name="Line 65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36" name="Freeform 66"/>
                <p:cNvSpPr/>
                <p:nvPr/>
              </p:nvSpPr>
              <p:spPr bwMode="auto">
                <a:xfrm>
                  <a:off x="2586" y="2353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37" name="Freeform 67"/>
                <p:cNvSpPr/>
                <p:nvPr/>
              </p:nvSpPr>
              <p:spPr bwMode="auto">
                <a:xfrm>
                  <a:off x="2207" y="2353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38" name="Line 68"/>
                <p:cNvSpPr>
                  <a:spLocks noChangeShapeType="1"/>
                </p:cNvSpPr>
                <p:nvPr/>
              </p:nvSpPr>
              <p:spPr bwMode="auto">
                <a:xfrm rot="5400000">
                  <a:off x="305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39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3036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40" name="Freeform 70"/>
                <p:cNvSpPr/>
                <p:nvPr/>
              </p:nvSpPr>
              <p:spPr bwMode="auto">
                <a:xfrm>
                  <a:off x="2988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41" name="Line 71"/>
                <p:cNvSpPr>
                  <a:spLocks noChangeShapeType="1"/>
                </p:cNvSpPr>
                <p:nvPr/>
              </p:nvSpPr>
              <p:spPr bwMode="auto">
                <a:xfrm rot="-5400000">
                  <a:off x="2861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42" name="Line 72"/>
                <p:cNvSpPr>
                  <a:spLocks noChangeShapeType="1"/>
                </p:cNvSpPr>
                <p:nvPr/>
              </p:nvSpPr>
              <p:spPr bwMode="auto">
                <a:xfrm rot="-5400000">
                  <a:off x="2940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43" name="Freeform 73"/>
                <p:cNvSpPr/>
                <p:nvPr/>
              </p:nvSpPr>
              <p:spPr bwMode="auto">
                <a:xfrm>
                  <a:off x="3162" y="2353"/>
                  <a:ext cx="115" cy="1"/>
                </a:xfrm>
                <a:custGeom>
                  <a:avLst/>
                  <a:gdLst>
                    <a:gd name="T0" fmla="*/ 0 w 115"/>
                    <a:gd name="T1" fmla="*/ 0 h 1"/>
                    <a:gd name="T2" fmla="*/ 115 w 115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5" h="1">
                      <a:moveTo>
                        <a:pt x="0" y="0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44" name="Freeform 74"/>
                <p:cNvSpPr/>
                <p:nvPr/>
              </p:nvSpPr>
              <p:spPr bwMode="auto">
                <a:xfrm>
                  <a:off x="2783" y="2353"/>
                  <a:ext cx="90" cy="1"/>
                </a:xfrm>
                <a:custGeom>
                  <a:avLst/>
                  <a:gdLst>
                    <a:gd name="T0" fmla="*/ 90 w 90"/>
                    <a:gd name="T1" fmla="*/ 0 h 1"/>
                    <a:gd name="T2" fmla="*/ 0 w 9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0" h="1">
                      <a:moveTo>
                        <a:pt x="9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45" name="Line 75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46" name="Line 76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247" name="Freeform 77"/>
                <p:cNvSpPr/>
                <p:nvPr/>
              </p:nvSpPr>
              <p:spPr bwMode="auto">
                <a:xfrm>
                  <a:off x="3564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6864" name="Line 78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6865" name="Line 79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6867" name="Freeform 80"/>
                <p:cNvSpPr/>
                <p:nvPr/>
              </p:nvSpPr>
              <p:spPr bwMode="auto">
                <a:xfrm>
                  <a:off x="3751" y="2352"/>
                  <a:ext cx="100" cy="1"/>
                </a:xfrm>
                <a:custGeom>
                  <a:avLst/>
                  <a:gdLst>
                    <a:gd name="T0" fmla="*/ 0 w 100"/>
                    <a:gd name="T1" fmla="*/ 0 h 1"/>
                    <a:gd name="T2" fmla="*/ 100 w 100"/>
                    <a:gd name="T3" fmla="*/ 1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0" h="1">
                      <a:moveTo>
                        <a:pt x="0" y="0"/>
                      </a:moveTo>
                      <a:lnTo>
                        <a:pt x="10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70" name="Freeform 81"/>
                <p:cNvSpPr/>
                <p:nvPr/>
              </p:nvSpPr>
              <p:spPr bwMode="auto">
                <a:xfrm>
                  <a:off x="3359" y="2353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71" name="Line 82"/>
                <p:cNvSpPr>
                  <a:spLocks noChangeShapeType="1"/>
                </p:cNvSpPr>
                <p:nvPr/>
              </p:nvSpPr>
              <p:spPr bwMode="auto">
                <a:xfrm rot="5400000">
                  <a:off x="4205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6872" name="Line 83"/>
                <p:cNvSpPr>
                  <a:spLocks noChangeShapeType="1"/>
                </p:cNvSpPr>
                <p:nvPr/>
              </p:nvSpPr>
              <p:spPr bwMode="auto">
                <a:xfrm rot="5400000">
                  <a:off x="4188" y="269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5536" name="Freeform 84"/>
                <p:cNvSpPr/>
                <p:nvPr/>
              </p:nvSpPr>
              <p:spPr bwMode="auto">
                <a:xfrm>
                  <a:off x="4140" y="2695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5537" name="Line 85"/>
                <p:cNvSpPr>
                  <a:spLocks noChangeShapeType="1"/>
                </p:cNvSpPr>
                <p:nvPr/>
              </p:nvSpPr>
              <p:spPr bwMode="auto">
                <a:xfrm rot="-5400000">
                  <a:off x="4013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5538" name="Line 86"/>
                <p:cNvSpPr>
                  <a:spLocks noChangeShapeType="1"/>
                </p:cNvSpPr>
                <p:nvPr/>
              </p:nvSpPr>
              <p:spPr bwMode="auto">
                <a:xfrm rot="-5400000">
                  <a:off x="4092" y="27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5539" name="Freeform 87"/>
                <p:cNvSpPr/>
                <p:nvPr/>
              </p:nvSpPr>
              <p:spPr bwMode="auto">
                <a:xfrm>
                  <a:off x="4336" y="2351"/>
                  <a:ext cx="90" cy="2"/>
                </a:xfrm>
                <a:custGeom>
                  <a:avLst/>
                  <a:gdLst>
                    <a:gd name="T0" fmla="*/ 0 w 90"/>
                    <a:gd name="T1" fmla="*/ 0 h 2"/>
                    <a:gd name="T2" fmla="*/ 90 w 90"/>
                    <a:gd name="T3" fmla="*/ 2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0" h="2">
                      <a:moveTo>
                        <a:pt x="0" y="0"/>
                      </a:moveTo>
                      <a:lnTo>
                        <a:pt x="90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40" name="Freeform 88"/>
                <p:cNvSpPr/>
                <p:nvPr/>
              </p:nvSpPr>
              <p:spPr bwMode="auto">
                <a:xfrm>
                  <a:off x="3935" y="2353"/>
                  <a:ext cx="104" cy="1"/>
                </a:xfrm>
                <a:custGeom>
                  <a:avLst/>
                  <a:gdLst>
                    <a:gd name="T0" fmla="*/ 104 w 104"/>
                    <a:gd name="T1" fmla="*/ 0 h 1"/>
                    <a:gd name="T2" fmla="*/ 0 w 104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4" h="1">
                      <a:moveTo>
                        <a:pt x="104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225541" name="Group 89"/>
                <p:cNvGrpSpPr/>
                <p:nvPr/>
              </p:nvGrpSpPr>
              <p:grpSpPr bwMode="auto">
                <a:xfrm>
                  <a:off x="4668" y="2634"/>
                  <a:ext cx="192" cy="158"/>
                  <a:chOff x="4692" y="2634"/>
                  <a:chExt cx="192" cy="158"/>
                </a:xfrm>
              </p:grpSpPr>
              <p:grpSp>
                <p:nvGrpSpPr>
                  <p:cNvPr id="225628" name="Group 90"/>
                  <p:cNvGrpSpPr/>
                  <p:nvPr/>
                </p:nvGrpSpPr>
                <p:grpSpPr bwMode="auto">
                  <a:xfrm>
                    <a:off x="4836" y="2634"/>
                    <a:ext cx="48" cy="158"/>
                    <a:chOff x="4836" y="2634"/>
                    <a:chExt cx="48" cy="158"/>
                  </a:xfrm>
                </p:grpSpPr>
                <p:sp>
                  <p:nvSpPr>
                    <p:cNvPr id="225633" name="Line 9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80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5634" name="Line 9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8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5629" name="Freeform 93"/>
                  <p:cNvSpPr/>
                  <p:nvPr/>
                </p:nvSpPr>
                <p:spPr bwMode="auto">
                  <a:xfrm>
                    <a:off x="4740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5630" name="Group 94"/>
                  <p:cNvGrpSpPr/>
                  <p:nvPr/>
                </p:nvGrpSpPr>
                <p:grpSpPr bwMode="auto">
                  <a:xfrm>
                    <a:off x="4692" y="2634"/>
                    <a:ext cx="48" cy="158"/>
                    <a:chOff x="4692" y="2634"/>
                    <a:chExt cx="48" cy="158"/>
                  </a:xfrm>
                </p:grpSpPr>
                <p:sp>
                  <p:nvSpPr>
                    <p:cNvPr id="225631" name="Line 95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1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5632" name="Line 9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92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225542" name="Freeform 97"/>
                <p:cNvSpPr/>
                <p:nvPr/>
              </p:nvSpPr>
              <p:spPr bwMode="auto">
                <a:xfrm>
                  <a:off x="4890" y="2353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43" name="Freeform 98"/>
                <p:cNvSpPr/>
                <p:nvPr/>
              </p:nvSpPr>
              <p:spPr bwMode="auto">
                <a:xfrm>
                  <a:off x="4511" y="2353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225544" name="Group 99"/>
                <p:cNvGrpSpPr/>
                <p:nvPr/>
              </p:nvGrpSpPr>
              <p:grpSpPr bwMode="auto">
                <a:xfrm>
                  <a:off x="5235" y="2634"/>
                  <a:ext cx="192" cy="158"/>
                  <a:chOff x="5259" y="2634"/>
                  <a:chExt cx="192" cy="158"/>
                </a:xfrm>
              </p:grpSpPr>
              <p:grpSp>
                <p:nvGrpSpPr>
                  <p:cNvPr id="225621" name="Group 100"/>
                  <p:cNvGrpSpPr/>
                  <p:nvPr/>
                </p:nvGrpSpPr>
                <p:grpSpPr bwMode="auto">
                  <a:xfrm>
                    <a:off x="5403" y="2634"/>
                    <a:ext cx="48" cy="158"/>
                    <a:chOff x="5403" y="2634"/>
                    <a:chExt cx="48" cy="158"/>
                  </a:xfrm>
                </p:grpSpPr>
                <p:sp>
                  <p:nvSpPr>
                    <p:cNvPr id="225626" name="Line 10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72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5627" name="Line 10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55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5622" name="Freeform 103"/>
                  <p:cNvSpPr/>
                  <p:nvPr/>
                </p:nvSpPr>
                <p:spPr bwMode="auto">
                  <a:xfrm>
                    <a:off x="5307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5623" name="Group 104"/>
                  <p:cNvGrpSpPr/>
                  <p:nvPr/>
                </p:nvGrpSpPr>
                <p:grpSpPr bwMode="auto">
                  <a:xfrm>
                    <a:off x="5259" y="2634"/>
                    <a:ext cx="48" cy="158"/>
                    <a:chOff x="5259" y="2634"/>
                    <a:chExt cx="48" cy="158"/>
                  </a:xfrm>
                </p:grpSpPr>
                <p:sp>
                  <p:nvSpPr>
                    <p:cNvPr id="225624" name="Line 105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1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5625" name="Line 10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259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225545" name="Freeform 107"/>
                <p:cNvSpPr/>
                <p:nvPr/>
              </p:nvSpPr>
              <p:spPr bwMode="auto">
                <a:xfrm>
                  <a:off x="5467" y="2351"/>
                  <a:ext cx="96" cy="2"/>
                </a:xfrm>
                <a:custGeom>
                  <a:avLst/>
                  <a:gdLst>
                    <a:gd name="T0" fmla="*/ 0 w 96"/>
                    <a:gd name="T1" fmla="*/ 0 h 2"/>
                    <a:gd name="T2" fmla="*/ 96 w 96"/>
                    <a:gd name="T3" fmla="*/ 2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0"/>
                      </a:moveTo>
                      <a:lnTo>
                        <a:pt x="96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46" name="Freeform 108"/>
                <p:cNvSpPr/>
                <p:nvPr/>
              </p:nvSpPr>
              <p:spPr bwMode="auto">
                <a:xfrm>
                  <a:off x="5078" y="2353"/>
                  <a:ext cx="101" cy="1"/>
                </a:xfrm>
                <a:custGeom>
                  <a:avLst/>
                  <a:gdLst>
                    <a:gd name="T0" fmla="*/ 101 w 101"/>
                    <a:gd name="T1" fmla="*/ 0 h 1"/>
                    <a:gd name="T2" fmla="*/ 0 w 101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1" h="1">
                      <a:moveTo>
                        <a:pt x="101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47" name="Freeform 109"/>
                <p:cNvSpPr/>
                <p:nvPr/>
              </p:nvSpPr>
              <p:spPr bwMode="auto">
                <a:xfrm>
                  <a:off x="908" y="856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48" name="Line 110"/>
                <p:cNvSpPr>
                  <a:spLocks noChangeShapeType="1"/>
                </p:cNvSpPr>
                <p:nvPr/>
              </p:nvSpPr>
              <p:spPr bwMode="auto">
                <a:xfrm>
                  <a:off x="129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49" name="Line 111"/>
                <p:cNvSpPr>
                  <a:spLocks noChangeShapeType="1"/>
                </p:cNvSpPr>
                <p:nvPr/>
              </p:nvSpPr>
              <p:spPr bwMode="auto">
                <a:xfrm>
                  <a:off x="186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0" name="Line 112"/>
                <p:cNvSpPr>
                  <a:spLocks noChangeShapeType="1"/>
                </p:cNvSpPr>
                <p:nvPr/>
              </p:nvSpPr>
              <p:spPr bwMode="auto">
                <a:xfrm>
                  <a:off x="244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1" name="Line 113"/>
                <p:cNvSpPr>
                  <a:spLocks noChangeShapeType="1"/>
                </p:cNvSpPr>
                <p:nvPr/>
              </p:nvSpPr>
              <p:spPr bwMode="auto">
                <a:xfrm>
                  <a:off x="3020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2" name="Line 114"/>
                <p:cNvSpPr>
                  <a:spLocks noChangeShapeType="1"/>
                </p:cNvSpPr>
                <p:nvPr/>
              </p:nvSpPr>
              <p:spPr bwMode="auto">
                <a:xfrm>
                  <a:off x="3596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3" name="Line 115"/>
                <p:cNvSpPr>
                  <a:spLocks noChangeShapeType="1"/>
                </p:cNvSpPr>
                <p:nvPr/>
              </p:nvSpPr>
              <p:spPr bwMode="auto">
                <a:xfrm>
                  <a:off x="417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4" name="Line 116"/>
                <p:cNvSpPr>
                  <a:spLocks noChangeShapeType="1"/>
                </p:cNvSpPr>
                <p:nvPr/>
              </p:nvSpPr>
              <p:spPr bwMode="auto">
                <a:xfrm>
                  <a:off x="474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5" name="Line 117"/>
                <p:cNvSpPr>
                  <a:spLocks noChangeShapeType="1"/>
                </p:cNvSpPr>
                <p:nvPr/>
              </p:nvSpPr>
              <p:spPr bwMode="auto">
                <a:xfrm>
                  <a:off x="532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6" name="Freeform 118"/>
                <p:cNvSpPr/>
                <p:nvPr/>
              </p:nvSpPr>
              <p:spPr bwMode="auto">
                <a:xfrm>
                  <a:off x="1305" y="2708"/>
                  <a:ext cx="1" cy="166"/>
                </a:xfrm>
                <a:custGeom>
                  <a:avLst/>
                  <a:gdLst>
                    <a:gd name="T0" fmla="*/ 1 w 1"/>
                    <a:gd name="T1" fmla="*/ 0 h 166"/>
                    <a:gd name="T2" fmla="*/ 0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1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7" name="Freeform 119"/>
                <p:cNvSpPr/>
                <p:nvPr/>
              </p:nvSpPr>
              <p:spPr bwMode="auto">
                <a:xfrm>
                  <a:off x="1880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618 h 40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58" name="Freeform 120"/>
                <p:cNvSpPr/>
                <p:nvPr/>
              </p:nvSpPr>
              <p:spPr bwMode="auto">
                <a:xfrm>
                  <a:off x="2454" y="2708"/>
                  <a:ext cx="4" cy="166"/>
                </a:xfrm>
                <a:custGeom>
                  <a:avLst/>
                  <a:gdLst>
                    <a:gd name="T0" fmla="*/ 4 w 4"/>
                    <a:gd name="T1" fmla="*/ 0 h 166"/>
                    <a:gd name="T2" fmla="*/ 0 w 4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166">
                      <a:moveTo>
                        <a:pt x="4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0" name="Freeform 121"/>
                <p:cNvSpPr/>
                <p:nvPr/>
              </p:nvSpPr>
              <p:spPr bwMode="auto">
                <a:xfrm>
                  <a:off x="3606" y="2708"/>
                  <a:ext cx="2" cy="175"/>
                </a:xfrm>
                <a:custGeom>
                  <a:avLst/>
                  <a:gdLst>
                    <a:gd name="T0" fmla="*/ 2 w 2"/>
                    <a:gd name="T1" fmla="*/ 0 h 175"/>
                    <a:gd name="T2" fmla="*/ 0 w 2"/>
                    <a:gd name="T3" fmla="*/ 175 h 17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75">
                      <a:moveTo>
                        <a:pt x="2" y="0"/>
                      </a:moveTo>
                      <a:lnTo>
                        <a:pt x="0" y="17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1" name="Freeform 122"/>
                <p:cNvSpPr/>
                <p:nvPr/>
              </p:nvSpPr>
              <p:spPr bwMode="auto">
                <a:xfrm>
                  <a:off x="4760" y="2697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3" name="Freeform 123"/>
                <p:cNvSpPr/>
                <p:nvPr/>
              </p:nvSpPr>
              <p:spPr bwMode="auto">
                <a:xfrm>
                  <a:off x="908" y="1480"/>
                  <a:ext cx="4422" cy="1"/>
                </a:xfrm>
                <a:custGeom>
                  <a:avLst/>
                  <a:gdLst>
                    <a:gd name="T0" fmla="*/ 0 w 4422"/>
                    <a:gd name="T1" fmla="*/ 1 h 1"/>
                    <a:gd name="T2" fmla="*/ 4422 w 442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22" h="1">
                      <a:moveTo>
                        <a:pt x="0" y="1"/>
                      </a:moveTo>
                      <a:lnTo>
                        <a:pt x="442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4" name="Line 124"/>
                <p:cNvSpPr>
                  <a:spLocks noChangeShapeType="1"/>
                </p:cNvSpPr>
                <p:nvPr/>
              </p:nvSpPr>
              <p:spPr bwMode="auto">
                <a:xfrm>
                  <a:off x="129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6" name="Line 125"/>
                <p:cNvSpPr>
                  <a:spLocks noChangeShapeType="1"/>
                </p:cNvSpPr>
                <p:nvPr/>
              </p:nvSpPr>
              <p:spPr bwMode="auto">
                <a:xfrm>
                  <a:off x="186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7" name="Line 126"/>
                <p:cNvSpPr>
                  <a:spLocks noChangeShapeType="1"/>
                </p:cNvSpPr>
                <p:nvPr/>
              </p:nvSpPr>
              <p:spPr bwMode="auto">
                <a:xfrm>
                  <a:off x="244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8" name="Line 127"/>
                <p:cNvSpPr>
                  <a:spLocks noChangeShapeType="1"/>
                </p:cNvSpPr>
                <p:nvPr/>
              </p:nvSpPr>
              <p:spPr bwMode="auto">
                <a:xfrm>
                  <a:off x="3020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69" name="Line 128"/>
                <p:cNvSpPr>
                  <a:spLocks noChangeShapeType="1"/>
                </p:cNvSpPr>
                <p:nvPr/>
              </p:nvSpPr>
              <p:spPr bwMode="auto">
                <a:xfrm>
                  <a:off x="3596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0" name="Line 129"/>
                <p:cNvSpPr>
                  <a:spLocks noChangeShapeType="1"/>
                </p:cNvSpPr>
                <p:nvPr/>
              </p:nvSpPr>
              <p:spPr bwMode="auto">
                <a:xfrm>
                  <a:off x="417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1" name="Line 130"/>
                <p:cNvSpPr>
                  <a:spLocks noChangeShapeType="1"/>
                </p:cNvSpPr>
                <p:nvPr/>
              </p:nvSpPr>
              <p:spPr bwMode="auto">
                <a:xfrm>
                  <a:off x="474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2" name="Line 131"/>
                <p:cNvSpPr>
                  <a:spLocks noChangeShapeType="1"/>
                </p:cNvSpPr>
                <p:nvPr/>
              </p:nvSpPr>
              <p:spPr bwMode="auto">
                <a:xfrm>
                  <a:off x="532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3" name="Freeform 132"/>
                <p:cNvSpPr/>
                <p:nvPr/>
              </p:nvSpPr>
              <p:spPr bwMode="auto">
                <a:xfrm>
                  <a:off x="908" y="2056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4" name="Line 133"/>
                <p:cNvSpPr>
                  <a:spLocks noChangeShapeType="1"/>
                </p:cNvSpPr>
                <p:nvPr/>
              </p:nvSpPr>
              <p:spPr bwMode="auto">
                <a:xfrm>
                  <a:off x="129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5" name="Line 134"/>
                <p:cNvSpPr>
                  <a:spLocks noChangeShapeType="1"/>
                </p:cNvSpPr>
                <p:nvPr/>
              </p:nvSpPr>
              <p:spPr bwMode="auto">
                <a:xfrm>
                  <a:off x="186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6" name="Line 135"/>
                <p:cNvSpPr>
                  <a:spLocks noChangeShapeType="1"/>
                </p:cNvSpPr>
                <p:nvPr/>
              </p:nvSpPr>
              <p:spPr bwMode="auto">
                <a:xfrm>
                  <a:off x="244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7" name="Line 136"/>
                <p:cNvSpPr>
                  <a:spLocks noChangeShapeType="1"/>
                </p:cNvSpPr>
                <p:nvPr/>
              </p:nvSpPr>
              <p:spPr bwMode="auto">
                <a:xfrm>
                  <a:off x="3020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8" name="Line 137"/>
                <p:cNvSpPr>
                  <a:spLocks noChangeShapeType="1"/>
                </p:cNvSpPr>
                <p:nvPr/>
              </p:nvSpPr>
              <p:spPr bwMode="auto">
                <a:xfrm>
                  <a:off x="3596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79" name="Line 138"/>
                <p:cNvSpPr>
                  <a:spLocks noChangeShapeType="1"/>
                </p:cNvSpPr>
                <p:nvPr/>
              </p:nvSpPr>
              <p:spPr bwMode="auto">
                <a:xfrm>
                  <a:off x="417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0" name="Line 139"/>
                <p:cNvSpPr>
                  <a:spLocks noChangeShapeType="1"/>
                </p:cNvSpPr>
                <p:nvPr/>
              </p:nvSpPr>
              <p:spPr bwMode="auto">
                <a:xfrm>
                  <a:off x="474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1" name="Line 140"/>
                <p:cNvSpPr>
                  <a:spLocks noChangeShapeType="1"/>
                </p:cNvSpPr>
                <p:nvPr/>
              </p:nvSpPr>
              <p:spPr bwMode="auto">
                <a:xfrm>
                  <a:off x="532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2" name="Freeform 141"/>
                <p:cNvSpPr/>
                <p:nvPr/>
              </p:nvSpPr>
              <p:spPr bwMode="auto">
                <a:xfrm>
                  <a:off x="909" y="2879"/>
                  <a:ext cx="3860" cy="1"/>
                </a:xfrm>
                <a:custGeom>
                  <a:avLst/>
                  <a:gdLst>
                    <a:gd name="T0" fmla="*/ 0 w 3860"/>
                    <a:gd name="T1" fmla="*/ 1 h 1"/>
                    <a:gd name="T2" fmla="*/ 3860 w 386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60" h="1">
                      <a:moveTo>
                        <a:pt x="0" y="1"/>
                      </a:moveTo>
                      <a:lnTo>
                        <a:pt x="386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3" name="Freeform 142"/>
                <p:cNvSpPr/>
                <p:nvPr/>
              </p:nvSpPr>
              <p:spPr bwMode="auto">
                <a:xfrm>
                  <a:off x="912" y="3209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4" name="Rectangle 143"/>
                <p:cNvSpPr>
                  <a:spLocks noChangeArrowheads="1"/>
                </p:cNvSpPr>
                <p:nvPr/>
              </p:nvSpPr>
              <p:spPr bwMode="auto">
                <a:xfrm>
                  <a:off x="114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5585" name="Text Box 144"/>
                <p:cNvSpPr txBox="1">
                  <a:spLocks noChangeArrowheads="1"/>
                </p:cNvSpPr>
                <p:nvPr/>
              </p:nvSpPr>
              <p:spPr bwMode="auto">
                <a:xfrm>
                  <a:off x="117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586" name="Freeform 145"/>
                <p:cNvSpPr/>
                <p:nvPr/>
              </p:nvSpPr>
              <p:spPr bwMode="auto">
                <a:xfrm>
                  <a:off x="1402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7" name="Freeform 146"/>
                <p:cNvSpPr/>
                <p:nvPr/>
              </p:nvSpPr>
              <p:spPr bwMode="auto">
                <a:xfrm>
                  <a:off x="1613" y="1211"/>
                  <a:ext cx="169" cy="1469"/>
                </a:xfrm>
                <a:custGeom>
                  <a:avLst/>
                  <a:gdLst>
                    <a:gd name="T0" fmla="*/ 169 w 169"/>
                    <a:gd name="T1" fmla="*/ 1468 h 1469"/>
                    <a:gd name="T2" fmla="*/ 0 w 169"/>
                    <a:gd name="T3" fmla="*/ 1469 h 1469"/>
                    <a:gd name="T4" fmla="*/ 1 w 169"/>
                    <a:gd name="T5" fmla="*/ 0 h 1469"/>
                    <a:gd name="T6" fmla="*/ 105 w 16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9" h="1469">
                      <a:moveTo>
                        <a:pt x="169" y="1468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8" name="Freeform 147"/>
                <p:cNvSpPr/>
                <p:nvPr/>
              </p:nvSpPr>
              <p:spPr bwMode="auto">
                <a:xfrm>
                  <a:off x="1967" y="1211"/>
                  <a:ext cx="141" cy="1466"/>
                </a:xfrm>
                <a:custGeom>
                  <a:avLst/>
                  <a:gdLst>
                    <a:gd name="T0" fmla="*/ 38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1" h="1466">
                      <a:moveTo>
                        <a:pt x="38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89" name="Freeform 148"/>
                <p:cNvSpPr/>
                <p:nvPr/>
              </p:nvSpPr>
              <p:spPr bwMode="auto">
                <a:xfrm>
                  <a:off x="2208" y="1211"/>
                  <a:ext cx="155" cy="1467"/>
                </a:xfrm>
                <a:custGeom>
                  <a:avLst/>
                  <a:gdLst>
                    <a:gd name="T0" fmla="*/ 155 w 155"/>
                    <a:gd name="T1" fmla="*/ 1467 h 1467"/>
                    <a:gd name="T2" fmla="*/ 3 w 155"/>
                    <a:gd name="T3" fmla="*/ 1467 h 1467"/>
                    <a:gd name="T4" fmla="*/ 0 w 155"/>
                    <a:gd name="T5" fmla="*/ 1 h 1467"/>
                    <a:gd name="T6" fmla="*/ 89 w 155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5" h="1467">
                      <a:moveTo>
                        <a:pt x="155" y="1467"/>
                      </a:moveTo>
                      <a:lnTo>
                        <a:pt x="3" y="1467"/>
                      </a:lnTo>
                      <a:lnTo>
                        <a:pt x="0" y="1"/>
                      </a:lnTo>
                      <a:lnTo>
                        <a:pt x="8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0" name="Freeform 149"/>
                <p:cNvSpPr/>
                <p:nvPr/>
              </p:nvSpPr>
              <p:spPr bwMode="auto">
                <a:xfrm>
                  <a:off x="2557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4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1" name="Freeform 150"/>
                <p:cNvSpPr/>
                <p:nvPr/>
              </p:nvSpPr>
              <p:spPr bwMode="auto">
                <a:xfrm>
                  <a:off x="2787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77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2" name="Freeform 151"/>
                <p:cNvSpPr/>
                <p:nvPr/>
              </p:nvSpPr>
              <p:spPr bwMode="auto">
                <a:xfrm>
                  <a:off x="3130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3" name="Freeform 152"/>
                <p:cNvSpPr/>
                <p:nvPr/>
              </p:nvSpPr>
              <p:spPr bwMode="auto">
                <a:xfrm>
                  <a:off x="3360" y="1209"/>
                  <a:ext cx="155" cy="1469"/>
                </a:xfrm>
                <a:custGeom>
                  <a:avLst/>
                  <a:gdLst>
                    <a:gd name="T0" fmla="*/ 155 w 155"/>
                    <a:gd name="T1" fmla="*/ 1469 h 1469"/>
                    <a:gd name="T2" fmla="*/ 3 w 155"/>
                    <a:gd name="T3" fmla="*/ 1469 h 1469"/>
                    <a:gd name="T4" fmla="*/ 0 w 155"/>
                    <a:gd name="T5" fmla="*/ 0 h 1469"/>
                    <a:gd name="T6" fmla="*/ 103 w 155"/>
                    <a:gd name="T7" fmla="*/ 2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5" h="1469">
                      <a:moveTo>
                        <a:pt x="155" y="1469"/>
                      </a:moveTo>
                      <a:lnTo>
                        <a:pt x="3" y="1469"/>
                      </a:lnTo>
                      <a:lnTo>
                        <a:pt x="0" y="0"/>
                      </a:lnTo>
                      <a:lnTo>
                        <a:pt x="103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4" name="Freeform 153"/>
                <p:cNvSpPr/>
                <p:nvPr/>
              </p:nvSpPr>
              <p:spPr bwMode="auto">
                <a:xfrm>
                  <a:off x="3710" y="1211"/>
                  <a:ext cx="141" cy="1466"/>
                </a:xfrm>
                <a:custGeom>
                  <a:avLst/>
                  <a:gdLst>
                    <a:gd name="T0" fmla="*/ 42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1" h="1466">
                      <a:moveTo>
                        <a:pt x="42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5" name="Freeform 154"/>
                <p:cNvSpPr/>
                <p:nvPr/>
              </p:nvSpPr>
              <p:spPr bwMode="auto">
                <a:xfrm>
                  <a:off x="3939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103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6" name="Freeform 155"/>
                <p:cNvSpPr/>
                <p:nvPr/>
              </p:nvSpPr>
              <p:spPr bwMode="auto">
                <a:xfrm>
                  <a:off x="4280" y="1211"/>
                  <a:ext cx="147" cy="1466"/>
                </a:xfrm>
                <a:custGeom>
                  <a:avLst/>
                  <a:gdLst>
                    <a:gd name="T0" fmla="*/ 51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7" h="1466">
                      <a:moveTo>
                        <a:pt x="51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7" name="Freeform 156"/>
                <p:cNvSpPr/>
                <p:nvPr/>
              </p:nvSpPr>
              <p:spPr bwMode="auto">
                <a:xfrm>
                  <a:off x="4509" y="1211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8" name="Freeform 157"/>
                <p:cNvSpPr/>
                <p:nvPr/>
              </p:nvSpPr>
              <p:spPr bwMode="auto">
                <a:xfrm>
                  <a:off x="4861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599" name="Freeform 158"/>
                <p:cNvSpPr/>
                <p:nvPr/>
              </p:nvSpPr>
              <p:spPr bwMode="auto">
                <a:xfrm>
                  <a:off x="5069" y="1211"/>
                  <a:ext cx="159" cy="1469"/>
                </a:xfrm>
                <a:custGeom>
                  <a:avLst/>
                  <a:gdLst>
                    <a:gd name="T0" fmla="*/ 159 w 159"/>
                    <a:gd name="T1" fmla="*/ 1467 h 1469"/>
                    <a:gd name="T2" fmla="*/ 0 w 159"/>
                    <a:gd name="T3" fmla="*/ 1469 h 1469"/>
                    <a:gd name="T4" fmla="*/ 1 w 159"/>
                    <a:gd name="T5" fmla="*/ 0 h 1469"/>
                    <a:gd name="T6" fmla="*/ 104 w 15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9" h="1469">
                      <a:moveTo>
                        <a:pt x="159" y="1467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0" name="Freeform 159"/>
                <p:cNvSpPr/>
                <p:nvPr/>
              </p:nvSpPr>
              <p:spPr bwMode="auto">
                <a:xfrm>
                  <a:off x="5417" y="1211"/>
                  <a:ext cx="147" cy="1466"/>
                </a:xfrm>
                <a:custGeom>
                  <a:avLst/>
                  <a:gdLst>
                    <a:gd name="T0" fmla="*/ 47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7" h="1466">
                      <a:moveTo>
                        <a:pt x="47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1" name="Freeform 160"/>
                <p:cNvSpPr/>
                <p:nvPr/>
              </p:nvSpPr>
              <p:spPr bwMode="auto">
                <a:xfrm>
                  <a:off x="1055" y="2738"/>
                  <a:ext cx="730" cy="660"/>
                </a:xfrm>
                <a:custGeom>
                  <a:avLst/>
                  <a:gdLst>
                    <a:gd name="T0" fmla="*/ 160 w 730"/>
                    <a:gd name="T1" fmla="*/ 4 h 660"/>
                    <a:gd name="T2" fmla="*/ 0 w 730"/>
                    <a:gd name="T3" fmla="*/ 3 h 660"/>
                    <a:gd name="T4" fmla="*/ 0 w 730"/>
                    <a:gd name="T5" fmla="*/ 660 h 660"/>
                    <a:gd name="T6" fmla="*/ 558 w 730"/>
                    <a:gd name="T7" fmla="*/ 657 h 660"/>
                    <a:gd name="T8" fmla="*/ 558 w 730"/>
                    <a:gd name="T9" fmla="*/ 0 h 660"/>
                    <a:gd name="T10" fmla="*/ 730 w 730"/>
                    <a:gd name="T11" fmla="*/ 1 h 6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30" h="660">
                      <a:moveTo>
                        <a:pt x="160" y="4"/>
                      </a:moveTo>
                      <a:lnTo>
                        <a:pt x="0" y="3"/>
                      </a:lnTo>
                      <a:lnTo>
                        <a:pt x="0" y="660"/>
                      </a:lnTo>
                      <a:lnTo>
                        <a:pt x="558" y="657"/>
                      </a:lnTo>
                      <a:lnTo>
                        <a:pt x="558" y="0"/>
                      </a:lnTo>
                      <a:lnTo>
                        <a:pt x="73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2" name="Freeform 161"/>
                <p:cNvSpPr/>
                <p:nvPr/>
              </p:nvSpPr>
              <p:spPr bwMode="auto">
                <a:xfrm>
                  <a:off x="2207" y="2744"/>
                  <a:ext cx="729" cy="658"/>
                </a:xfrm>
                <a:custGeom>
                  <a:avLst/>
                  <a:gdLst>
                    <a:gd name="T0" fmla="*/ 153 w 729"/>
                    <a:gd name="T1" fmla="*/ 0 h 658"/>
                    <a:gd name="T2" fmla="*/ 0 w 729"/>
                    <a:gd name="T3" fmla="*/ 0 h 658"/>
                    <a:gd name="T4" fmla="*/ 0 w 729"/>
                    <a:gd name="T5" fmla="*/ 657 h 658"/>
                    <a:gd name="T6" fmla="*/ 583 w 729"/>
                    <a:gd name="T7" fmla="*/ 658 h 658"/>
                    <a:gd name="T8" fmla="*/ 582 w 729"/>
                    <a:gd name="T9" fmla="*/ 3 h 658"/>
                    <a:gd name="T10" fmla="*/ 729 w 729"/>
                    <a:gd name="T11" fmla="*/ 3 h 6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9" h="658">
                      <a:moveTo>
                        <a:pt x="153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83" y="658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3" name="Freeform 162"/>
                <p:cNvSpPr/>
                <p:nvPr/>
              </p:nvSpPr>
              <p:spPr bwMode="auto">
                <a:xfrm>
                  <a:off x="3356" y="2744"/>
                  <a:ext cx="729" cy="657"/>
                </a:xfrm>
                <a:custGeom>
                  <a:avLst/>
                  <a:gdLst>
                    <a:gd name="T0" fmla="*/ 158 w 729"/>
                    <a:gd name="T1" fmla="*/ 0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9" h="657">
                      <a:moveTo>
                        <a:pt x="158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4" name="Freeform 163"/>
                <p:cNvSpPr/>
                <p:nvPr/>
              </p:nvSpPr>
              <p:spPr bwMode="auto">
                <a:xfrm>
                  <a:off x="4508" y="2744"/>
                  <a:ext cx="729" cy="657"/>
                </a:xfrm>
                <a:custGeom>
                  <a:avLst/>
                  <a:gdLst>
                    <a:gd name="T0" fmla="*/ 161 w 729"/>
                    <a:gd name="T1" fmla="*/ 2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9" h="657">
                      <a:moveTo>
                        <a:pt x="161" y="2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5" name="Freeform 164"/>
                <p:cNvSpPr/>
                <p:nvPr/>
              </p:nvSpPr>
              <p:spPr bwMode="auto">
                <a:xfrm>
                  <a:off x="1400" y="2735"/>
                  <a:ext cx="708" cy="571"/>
                </a:xfrm>
                <a:custGeom>
                  <a:avLst/>
                  <a:gdLst>
                    <a:gd name="T0" fmla="*/ 0 w 708"/>
                    <a:gd name="T1" fmla="*/ 0 h 571"/>
                    <a:gd name="T2" fmla="*/ 132 w 708"/>
                    <a:gd name="T3" fmla="*/ 0 h 571"/>
                    <a:gd name="T4" fmla="*/ 133 w 708"/>
                    <a:gd name="T5" fmla="*/ 571 h 571"/>
                    <a:gd name="T6" fmla="*/ 708 w 708"/>
                    <a:gd name="T7" fmla="*/ 570 h 571"/>
                    <a:gd name="T8" fmla="*/ 708 w 708"/>
                    <a:gd name="T9" fmla="*/ 9 h 571"/>
                    <a:gd name="T10" fmla="*/ 573 w 708"/>
                    <a:gd name="T11" fmla="*/ 9 h 5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08" h="571">
                      <a:moveTo>
                        <a:pt x="0" y="0"/>
                      </a:moveTo>
                      <a:lnTo>
                        <a:pt x="132" y="0"/>
                      </a:lnTo>
                      <a:lnTo>
                        <a:pt x="133" y="571"/>
                      </a:lnTo>
                      <a:lnTo>
                        <a:pt x="708" y="570"/>
                      </a:lnTo>
                      <a:lnTo>
                        <a:pt x="708" y="9"/>
                      </a:lnTo>
                      <a:lnTo>
                        <a:pt x="573" y="9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6" name="Freeform 165"/>
                <p:cNvSpPr/>
                <p:nvPr/>
              </p:nvSpPr>
              <p:spPr bwMode="auto">
                <a:xfrm>
                  <a:off x="2552" y="2735"/>
                  <a:ext cx="726" cy="567"/>
                </a:xfrm>
                <a:custGeom>
                  <a:avLst/>
                  <a:gdLst>
                    <a:gd name="T0" fmla="*/ 0 w 726"/>
                    <a:gd name="T1" fmla="*/ 0 h 567"/>
                    <a:gd name="T2" fmla="*/ 148 w 726"/>
                    <a:gd name="T3" fmla="*/ 1 h 567"/>
                    <a:gd name="T4" fmla="*/ 147 w 726"/>
                    <a:gd name="T5" fmla="*/ 567 h 567"/>
                    <a:gd name="T6" fmla="*/ 726 w 726"/>
                    <a:gd name="T7" fmla="*/ 567 h 567"/>
                    <a:gd name="T8" fmla="*/ 726 w 726"/>
                    <a:gd name="T9" fmla="*/ 6 h 567"/>
                    <a:gd name="T10" fmla="*/ 579 w 726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6" h="567">
                      <a:moveTo>
                        <a:pt x="0" y="0"/>
                      </a:moveTo>
                      <a:lnTo>
                        <a:pt x="148" y="1"/>
                      </a:lnTo>
                      <a:lnTo>
                        <a:pt x="147" y="567"/>
                      </a:lnTo>
                      <a:lnTo>
                        <a:pt x="726" y="567"/>
                      </a:lnTo>
                      <a:lnTo>
                        <a:pt x="726" y="6"/>
                      </a:lnTo>
                      <a:lnTo>
                        <a:pt x="579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7" name="Freeform 166"/>
                <p:cNvSpPr/>
                <p:nvPr/>
              </p:nvSpPr>
              <p:spPr bwMode="auto">
                <a:xfrm>
                  <a:off x="3704" y="2738"/>
                  <a:ext cx="714" cy="567"/>
                </a:xfrm>
                <a:custGeom>
                  <a:avLst/>
                  <a:gdLst>
                    <a:gd name="T0" fmla="*/ 0 w 714"/>
                    <a:gd name="T1" fmla="*/ 0 h 567"/>
                    <a:gd name="T2" fmla="*/ 136 w 714"/>
                    <a:gd name="T3" fmla="*/ 1 h 567"/>
                    <a:gd name="T4" fmla="*/ 135 w 714"/>
                    <a:gd name="T5" fmla="*/ 567 h 567"/>
                    <a:gd name="T6" fmla="*/ 714 w 714"/>
                    <a:gd name="T7" fmla="*/ 567 h 567"/>
                    <a:gd name="T8" fmla="*/ 714 w 714"/>
                    <a:gd name="T9" fmla="*/ 6 h 567"/>
                    <a:gd name="T10" fmla="*/ 576 w 714"/>
                    <a:gd name="T11" fmla="*/ 5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14" h="567">
                      <a:moveTo>
                        <a:pt x="0" y="0"/>
                      </a:moveTo>
                      <a:lnTo>
                        <a:pt x="136" y="1"/>
                      </a:lnTo>
                      <a:lnTo>
                        <a:pt x="135" y="567"/>
                      </a:lnTo>
                      <a:lnTo>
                        <a:pt x="714" y="567"/>
                      </a:lnTo>
                      <a:lnTo>
                        <a:pt x="714" y="6"/>
                      </a:lnTo>
                      <a:lnTo>
                        <a:pt x="576" y="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8" name="Freeform 167"/>
                <p:cNvSpPr/>
                <p:nvPr/>
              </p:nvSpPr>
              <p:spPr bwMode="auto">
                <a:xfrm>
                  <a:off x="4859" y="2738"/>
                  <a:ext cx="711" cy="567"/>
                </a:xfrm>
                <a:custGeom>
                  <a:avLst/>
                  <a:gdLst>
                    <a:gd name="T0" fmla="*/ 0 w 711"/>
                    <a:gd name="T1" fmla="*/ 0 h 567"/>
                    <a:gd name="T2" fmla="*/ 130 w 711"/>
                    <a:gd name="T3" fmla="*/ 1 h 567"/>
                    <a:gd name="T4" fmla="*/ 132 w 711"/>
                    <a:gd name="T5" fmla="*/ 567 h 567"/>
                    <a:gd name="T6" fmla="*/ 711 w 711"/>
                    <a:gd name="T7" fmla="*/ 567 h 567"/>
                    <a:gd name="T8" fmla="*/ 711 w 711"/>
                    <a:gd name="T9" fmla="*/ 6 h 567"/>
                    <a:gd name="T10" fmla="*/ 564 w 711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11" h="567">
                      <a:moveTo>
                        <a:pt x="0" y="0"/>
                      </a:moveTo>
                      <a:lnTo>
                        <a:pt x="130" y="1"/>
                      </a:lnTo>
                      <a:lnTo>
                        <a:pt x="132" y="567"/>
                      </a:lnTo>
                      <a:lnTo>
                        <a:pt x="711" y="567"/>
                      </a:lnTo>
                      <a:lnTo>
                        <a:pt x="711" y="6"/>
                      </a:lnTo>
                      <a:lnTo>
                        <a:pt x="564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89" name="Freeform 168"/>
                <p:cNvSpPr/>
                <p:nvPr/>
              </p:nvSpPr>
              <p:spPr bwMode="auto">
                <a:xfrm>
                  <a:off x="1322" y="3398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0" name="Freeform 169"/>
                <p:cNvSpPr/>
                <p:nvPr/>
              </p:nvSpPr>
              <p:spPr bwMode="auto">
                <a:xfrm>
                  <a:off x="2491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1" name="Freeform 170"/>
                <p:cNvSpPr/>
                <p:nvPr/>
              </p:nvSpPr>
              <p:spPr bwMode="auto">
                <a:xfrm>
                  <a:off x="3643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2" name="Freeform 171"/>
                <p:cNvSpPr/>
                <p:nvPr/>
              </p:nvSpPr>
              <p:spPr bwMode="auto">
                <a:xfrm>
                  <a:off x="4795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3" name="Freeform 172"/>
                <p:cNvSpPr/>
                <p:nvPr/>
              </p:nvSpPr>
              <p:spPr bwMode="auto">
                <a:xfrm>
                  <a:off x="5276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4" name="Freeform 173"/>
                <p:cNvSpPr/>
                <p:nvPr/>
              </p:nvSpPr>
              <p:spPr bwMode="auto">
                <a:xfrm>
                  <a:off x="4124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5" name="Freeform 174"/>
                <p:cNvSpPr/>
                <p:nvPr/>
              </p:nvSpPr>
              <p:spPr bwMode="auto">
                <a:xfrm>
                  <a:off x="2972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6" name="Freeform 175"/>
                <p:cNvSpPr/>
                <p:nvPr/>
              </p:nvSpPr>
              <p:spPr bwMode="auto">
                <a:xfrm>
                  <a:off x="1819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7" name="Freeform 176"/>
                <p:cNvSpPr/>
                <p:nvPr/>
              </p:nvSpPr>
              <p:spPr bwMode="auto">
                <a:xfrm>
                  <a:off x="956" y="4025"/>
                  <a:ext cx="4317" cy="1"/>
                </a:xfrm>
                <a:custGeom>
                  <a:avLst/>
                  <a:gdLst>
                    <a:gd name="T0" fmla="*/ 0 w 4317"/>
                    <a:gd name="T1" fmla="*/ 0 h 1"/>
                    <a:gd name="T2" fmla="*/ 4317 w 431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17" h="1">
                      <a:moveTo>
                        <a:pt x="0" y="0"/>
                      </a:moveTo>
                      <a:lnTo>
                        <a:pt x="431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8" name="Freeform 177"/>
                <p:cNvSpPr/>
                <p:nvPr/>
              </p:nvSpPr>
              <p:spPr bwMode="auto">
                <a:xfrm>
                  <a:off x="956" y="4121"/>
                  <a:ext cx="3837" cy="1"/>
                </a:xfrm>
                <a:custGeom>
                  <a:avLst/>
                  <a:gdLst>
                    <a:gd name="T0" fmla="*/ 0 w 3837"/>
                    <a:gd name="T1" fmla="*/ 0 h 1"/>
                    <a:gd name="T2" fmla="*/ 3837 w 383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37" h="1">
                      <a:moveTo>
                        <a:pt x="0" y="0"/>
                      </a:moveTo>
                      <a:lnTo>
                        <a:pt x="383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299" name="Freeform 178"/>
                <p:cNvSpPr/>
                <p:nvPr/>
              </p:nvSpPr>
              <p:spPr bwMode="auto">
                <a:xfrm>
                  <a:off x="1322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1" name="Freeform 179"/>
                <p:cNvSpPr/>
                <p:nvPr/>
              </p:nvSpPr>
              <p:spPr bwMode="auto">
                <a:xfrm>
                  <a:off x="2491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2" name="Freeform 180"/>
                <p:cNvSpPr/>
                <p:nvPr/>
              </p:nvSpPr>
              <p:spPr bwMode="auto">
                <a:xfrm>
                  <a:off x="3643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3" name="Freeform 181"/>
                <p:cNvSpPr/>
                <p:nvPr/>
              </p:nvSpPr>
              <p:spPr bwMode="auto">
                <a:xfrm>
                  <a:off x="4791" y="3881"/>
                  <a:ext cx="4" cy="247"/>
                </a:xfrm>
                <a:custGeom>
                  <a:avLst/>
                  <a:gdLst>
                    <a:gd name="T0" fmla="*/ 4 w 4"/>
                    <a:gd name="T1" fmla="*/ 0 h 247"/>
                    <a:gd name="T2" fmla="*/ 0 w 4"/>
                    <a:gd name="T3" fmla="*/ 247 h 24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247">
                      <a:moveTo>
                        <a:pt x="4" y="0"/>
                      </a:moveTo>
                      <a:lnTo>
                        <a:pt x="0" y="24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4" name="Freeform 182"/>
                <p:cNvSpPr/>
                <p:nvPr/>
              </p:nvSpPr>
              <p:spPr bwMode="auto">
                <a:xfrm>
                  <a:off x="5277" y="3881"/>
                  <a:ext cx="1" cy="151"/>
                </a:xfrm>
                <a:custGeom>
                  <a:avLst/>
                  <a:gdLst>
                    <a:gd name="T0" fmla="*/ 0 w 1"/>
                    <a:gd name="T1" fmla="*/ 0 h 151"/>
                    <a:gd name="T2" fmla="*/ 0 w 1"/>
                    <a:gd name="T3" fmla="*/ 151 h 1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1">
                      <a:moveTo>
                        <a:pt x="0" y="0"/>
                      </a:moveTo>
                      <a:lnTo>
                        <a:pt x="0" y="15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5" name="Line 183"/>
                <p:cNvSpPr>
                  <a:spLocks noChangeShapeType="1"/>
                </p:cNvSpPr>
                <p:nvPr/>
              </p:nvSpPr>
              <p:spPr bwMode="auto">
                <a:xfrm>
                  <a:off x="4124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6" name="Line 184"/>
                <p:cNvSpPr>
                  <a:spLocks noChangeShapeType="1"/>
                </p:cNvSpPr>
                <p:nvPr/>
              </p:nvSpPr>
              <p:spPr bwMode="auto">
                <a:xfrm>
                  <a:off x="2973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7" name="Line 185"/>
                <p:cNvSpPr>
                  <a:spLocks noChangeShapeType="1"/>
                </p:cNvSpPr>
                <p:nvPr/>
              </p:nvSpPr>
              <p:spPr bwMode="auto">
                <a:xfrm>
                  <a:off x="1820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08" name="Rectangle 186"/>
                <p:cNvSpPr>
                  <a:spLocks noChangeArrowheads="1"/>
                </p:cNvSpPr>
                <p:nvPr/>
              </p:nvSpPr>
              <p:spPr bwMode="auto">
                <a:xfrm>
                  <a:off x="2317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5309" name="Text Box 187"/>
                <p:cNvSpPr txBox="1">
                  <a:spLocks noChangeArrowheads="1"/>
                </p:cNvSpPr>
                <p:nvPr/>
              </p:nvSpPr>
              <p:spPr bwMode="auto">
                <a:xfrm>
                  <a:off x="2348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10" name="Rectangle 188"/>
                <p:cNvSpPr>
                  <a:spLocks noChangeArrowheads="1"/>
                </p:cNvSpPr>
                <p:nvPr/>
              </p:nvSpPr>
              <p:spPr bwMode="auto">
                <a:xfrm>
                  <a:off x="3469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5311" name="Text Box 189"/>
                <p:cNvSpPr txBox="1">
                  <a:spLocks noChangeArrowheads="1"/>
                </p:cNvSpPr>
                <p:nvPr/>
              </p:nvSpPr>
              <p:spPr bwMode="auto">
                <a:xfrm>
                  <a:off x="3500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12" name="Rectangle 190"/>
                <p:cNvSpPr>
                  <a:spLocks noChangeArrowheads="1"/>
                </p:cNvSpPr>
                <p:nvPr/>
              </p:nvSpPr>
              <p:spPr bwMode="auto">
                <a:xfrm>
                  <a:off x="462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5313" name="Text Box 191"/>
                <p:cNvSpPr txBox="1">
                  <a:spLocks noChangeArrowheads="1"/>
                </p:cNvSpPr>
                <p:nvPr/>
              </p:nvSpPr>
              <p:spPr bwMode="auto">
                <a:xfrm>
                  <a:off x="465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14" name="Line 192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15" name="Line 193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16" name="Line 194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17" name="Line 195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18" name="Freeform 196"/>
                <p:cNvSpPr/>
                <p:nvPr/>
              </p:nvSpPr>
              <p:spPr bwMode="auto">
                <a:xfrm>
                  <a:off x="3033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618 h 40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19" name="Freeform 197"/>
                <p:cNvSpPr/>
                <p:nvPr/>
              </p:nvSpPr>
              <p:spPr bwMode="auto">
                <a:xfrm>
                  <a:off x="4185" y="2691"/>
                  <a:ext cx="1" cy="525"/>
                </a:xfrm>
                <a:custGeom>
                  <a:avLst/>
                  <a:gdLst>
                    <a:gd name="T0" fmla="*/ 0 w 1"/>
                    <a:gd name="T1" fmla="*/ 0 h 525"/>
                    <a:gd name="T2" fmla="*/ 0 w 1"/>
                    <a:gd name="T3" fmla="*/ 525 h 52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525">
                      <a:moveTo>
                        <a:pt x="0" y="0"/>
                      </a:moveTo>
                      <a:lnTo>
                        <a:pt x="0" y="52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20" name="Freeform 198"/>
                <p:cNvSpPr/>
                <p:nvPr/>
              </p:nvSpPr>
              <p:spPr bwMode="auto">
                <a:xfrm>
                  <a:off x="5325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618 h 40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21" name="Text Box 199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193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2" name="Text Box 200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69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3" name="Text Box 201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345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4" name="Text Box 202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921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5" name="Text Box 203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496" y="162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6" name="Text Box 204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073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7" name="Text Box 205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649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8" name="Text Box 206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5244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29" name="Text Box 207"/>
                <p:cNvSpPr txBox="1">
                  <a:spLocks noChangeArrowheads="1"/>
                </p:cNvSpPr>
                <p:nvPr/>
              </p:nvSpPr>
              <p:spPr bwMode="auto">
                <a:xfrm>
                  <a:off x="660" y="791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0" name="Text Box 208"/>
                <p:cNvSpPr txBox="1">
                  <a:spLocks noChangeArrowheads="1"/>
                </p:cNvSpPr>
                <p:nvPr/>
              </p:nvSpPr>
              <p:spPr bwMode="auto">
                <a:xfrm>
                  <a:off x="660" y="1383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1" name="Text Box 209"/>
                <p:cNvSpPr txBox="1">
                  <a:spLocks noChangeArrowheads="1"/>
                </p:cNvSpPr>
                <p:nvPr/>
              </p:nvSpPr>
              <p:spPr bwMode="auto">
                <a:xfrm>
                  <a:off x="624" y="19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63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2" name="Line 210"/>
                <p:cNvSpPr>
                  <a:spLocks noChangeShapeType="1"/>
                </p:cNvSpPr>
                <p:nvPr/>
              </p:nvSpPr>
              <p:spPr bwMode="auto">
                <a:xfrm>
                  <a:off x="332" y="2537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333" name="Text Box 211"/>
                <p:cNvSpPr txBox="1">
                  <a:spLocks noChangeArrowheads="1"/>
                </p:cNvSpPr>
                <p:nvPr/>
              </p:nvSpPr>
              <p:spPr bwMode="auto">
                <a:xfrm>
                  <a:off x="660" y="2727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4" name="Text Box 212"/>
                <p:cNvSpPr txBox="1">
                  <a:spLocks noChangeArrowheads="1"/>
                </p:cNvSpPr>
                <p:nvPr/>
              </p:nvSpPr>
              <p:spPr bwMode="auto">
                <a:xfrm>
                  <a:off x="624" y="31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15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5" name="Text Box 213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6" name="Text Box 214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2876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7" name="Text Box 215"/>
                <p:cNvSpPr txBox="1">
                  <a:spLocks noChangeArrowheads="1"/>
                </p:cNvSpPr>
                <p:nvPr/>
              </p:nvSpPr>
              <p:spPr bwMode="auto">
                <a:xfrm>
                  <a:off x="348" y="101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行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8" name="Text Box 216"/>
                <p:cNvSpPr txBox="1">
                  <a:spLocks noChangeArrowheads="1"/>
                </p:cNvSpPr>
                <p:nvPr/>
              </p:nvSpPr>
              <p:spPr bwMode="auto">
                <a:xfrm>
                  <a:off x="348" y="126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39" name="Text Box 217"/>
                <p:cNvSpPr txBox="1">
                  <a:spLocks noChangeArrowheads="1"/>
                </p:cNvSpPr>
                <p:nvPr/>
              </p:nvSpPr>
              <p:spPr bwMode="auto">
                <a:xfrm>
                  <a:off x="348" y="151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40" name="Text Box 218"/>
                <p:cNvSpPr txBox="1">
                  <a:spLocks noChangeArrowheads="1"/>
                </p:cNvSpPr>
                <p:nvPr/>
              </p:nvSpPr>
              <p:spPr bwMode="auto">
                <a:xfrm>
                  <a:off x="348" y="175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41" name="Text Box 219"/>
                <p:cNvSpPr txBox="1">
                  <a:spLocks noChangeArrowheads="1"/>
                </p:cNvSpPr>
                <p:nvPr/>
              </p:nvSpPr>
              <p:spPr bwMode="auto">
                <a:xfrm>
                  <a:off x="348" y="200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42" name="Text Box 220"/>
                <p:cNvSpPr txBox="1">
                  <a:spLocks noChangeArrowheads="1"/>
                </p:cNvSpPr>
                <p:nvPr/>
              </p:nvSpPr>
              <p:spPr bwMode="auto">
                <a:xfrm>
                  <a:off x="375" y="263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列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343" name="Text Box 221"/>
                <p:cNvSpPr txBox="1">
                  <a:spLocks noChangeArrowheads="1"/>
                </p:cNvSpPr>
                <p:nvPr/>
              </p:nvSpPr>
              <p:spPr bwMode="auto">
                <a:xfrm>
                  <a:off x="375" y="288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0" name="Text Box 222"/>
                <p:cNvSpPr txBox="1">
                  <a:spLocks noChangeArrowheads="1"/>
                </p:cNvSpPr>
                <p:nvPr/>
              </p:nvSpPr>
              <p:spPr bwMode="auto">
                <a:xfrm>
                  <a:off x="375" y="313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1" name="Text Box 223"/>
                <p:cNvSpPr txBox="1">
                  <a:spLocks noChangeArrowheads="1"/>
                </p:cNvSpPr>
                <p:nvPr/>
              </p:nvSpPr>
              <p:spPr bwMode="auto">
                <a:xfrm>
                  <a:off x="375" y="337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2" name="Text Box 224"/>
                <p:cNvSpPr txBox="1">
                  <a:spLocks noChangeArrowheads="1"/>
                </p:cNvSpPr>
                <p:nvPr/>
              </p:nvSpPr>
              <p:spPr bwMode="auto">
                <a:xfrm>
                  <a:off x="375" y="362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3" name="Text Box 225"/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1600" baseline="-25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4" name="Text Box 226"/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1600" baseline="-25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5" name="Text Box 227"/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1600" baseline="-25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6" name="Text Box 228"/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1600" baseline="-25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07" name="Line 229"/>
                <p:cNvSpPr>
                  <a:spLocks noChangeShapeType="1"/>
                </p:cNvSpPr>
                <p:nvPr/>
              </p:nvSpPr>
              <p:spPr bwMode="auto">
                <a:xfrm>
                  <a:off x="140" y="905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08" name="Line 230"/>
                <p:cNvSpPr>
                  <a:spLocks noChangeShapeType="1"/>
                </p:cNvSpPr>
                <p:nvPr/>
              </p:nvSpPr>
              <p:spPr bwMode="auto">
                <a:xfrm>
                  <a:off x="140" y="1164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09" name="Line 231"/>
                <p:cNvSpPr>
                  <a:spLocks noChangeShapeType="1"/>
                </p:cNvSpPr>
                <p:nvPr/>
              </p:nvSpPr>
              <p:spPr bwMode="auto">
                <a:xfrm>
                  <a:off x="140" y="1423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0" name="Line 232"/>
                <p:cNvSpPr>
                  <a:spLocks noChangeShapeType="1"/>
                </p:cNvSpPr>
                <p:nvPr/>
              </p:nvSpPr>
              <p:spPr bwMode="auto">
                <a:xfrm>
                  <a:off x="140" y="168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1" name="Line 233"/>
                <p:cNvSpPr>
                  <a:spLocks noChangeShapeType="1"/>
                </p:cNvSpPr>
                <p:nvPr/>
              </p:nvSpPr>
              <p:spPr bwMode="auto">
                <a:xfrm>
                  <a:off x="140" y="194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2" name="Line 234"/>
                <p:cNvSpPr>
                  <a:spLocks noChangeShapeType="1"/>
                </p:cNvSpPr>
                <p:nvPr/>
              </p:nvSpPr>
              <p:spPr bwMode="auto">
                <a:xfrm>
                  <a:off x="140" y="220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3" name="Line 235"/>
                <p:cNvSpPr>
                  <a:spLocks noChangeShapeType="1"/>
                </p:cNvSpPr>
                <p:nvPr/>
              </p:nvSpPr>
              <p:spPr bwMode="auto">
                <a:xfrm>
                  <a:off x="140" y="287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4" name="Line 236"/>
                <p:cNvSpPr>
                  <a:spLocks noChangeShapeType="1"/>
                </p:cNvSpPr>
                <p:nvPr/>
              </p:nvSpPr>
              <p:spPr bwMode="auto">
                <a:xfrm>
                  <a:off x="140" y="313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5" name="Line 237"/>
                <p:cNvSpPr>
                  <a:spLocks noChangeShapeType="1"/>
                </p:cNvSpPr>
                <p:nvPr/>
              </p:nvSpPr>
              <p:spPr bwMode="auto">
                <a:xfrm>
                  <a:off x="140" y="339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6" name="Line 238"/>
                <p:cNvSpPr>
                  <a:spLocks noChangeShapeType="1"/>
                </p:cNvSpPr>
                <p:nvPr/>
              </p:nvSpPr>
              <p:spPr bwMode="auto">
                <a:xfrm>
                  <a:off x="140" y="365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7" name="Text Box 239"/>
                <p:cNvSpPr txBox="1">
                  <a:spLocks noChangeArrowheads="1"/>
                </p:cNvSpPr>
                <p:nvPr/>
              </p:nvSpPr>
              <p:spPr bwMode="auto">
                <a:xfrm>
                  <a:off x="648" y="3890"/>
                  <a:ext cx="356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800">
                      <a:latin typeface="Times New Roman" panose="02020603050405020304" pitchFamily="18" charset="0"/>
                    </a:rPr>
                    <a:t>WE</a:t>
                  </a:r>
                  <a:endParaRPr lang="en-US" altLang="zh-CN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18" name="Line 240"/>
                <p:cNvSpPr>
                  <a:spLocks noChangeShapeType="1"/>
                </p:cNvSpPr>
                <p:nvPr/>
              </p:nvSpPr>
              <p:spPr bwMode="auto">
                <a:xfrm>
                  <a:off x="682" y="3923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19" name="Text Box 241"/>
                <p:cNvSpPr txBox="1">
                  <a:spLocks noChangeArrowheads="1"/>
                </p:cNvSpPr>
                <p:nvPr/>
              </p:nvSpPr>
              <p:spPr bwMode="auto">
                <a:xfrm>
                  <a:off x="668" y="4025"/>
                  <a:ext cx="321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CS</a:t>
                  </a:r>
                  <a:endParaRPr lang="en-US" altLang="zh-CN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5620" name="Line 242"/>
                <p:cNvSpPr>
                  <a:spLocks noChangeShapeType="1"/>
                </p:cNvSpPr>
                <p:nvPr/>
              </p:nvSpPr>
              <p:spPr bwMode="auto">
                <a:xfrm>
                  <a:off x="726" y="4079"/>
                  <a:ext cx="19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0" name="Group 243"/>
              <p:cNvGrpSpPr/>
              <p:nvPr/>
            </p:nvGrpSpPr>
            <p:grpSpPr bwMode="auto">
              <a:xfrm>
                <a:off x="140" y="674"/>
                <a:ext cx="196" cy="3010"/>
                <a:chOff x="140" y="674"/>
                <a:chExt cx="196" cy="3010"/>
              </a:xfrm>
            </p:grpSpPr>
            <p:sp>
              <p:nvSpPr>
                <p:cNvPr id="51" name="Text Box 244"/>
                <p:cNvSpPr txBox="1">
                  <a:spLocks noChangeArrowheads="1"/>
                </p:cNvSpPr>
                <p:nvPr/>
              </p:nvSpPr>
              <p:spPr bwMode="auto">
                <a:xfrm>
                  <a:off x="140" y="67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" name="Text Box 245"/>
                <p:cNvSpPr txBox="1">
                  <a:spLocks noChangeArrowheads="1"/>
                </p:cNvSpPr>
                <p:nvPr/>
              </p:nvSpPr>
              <p:spPr bwMode="auto">
                <a:xfrm>
                  <a:off x="140" y="933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" name="Text Box 246"/>
                <p:cNvSpPr txBox="1">
                  <a:spLocks noChangeArrowheads="1"/>
                </p:cNvSpPr>
                <p:nvPr/>
              </p:nvSpPr>
              <p:spPr bwMode="auto">
                <a:xfrm>
                  <a:off x="140" y="119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" name="Text Box 247"/>
                <p:cNvSpPr txBox="1">
                  <a:spLocks noChangeArrowheads="1"/>
                </p:cNvSpPr>
                <p:nvPr/>
              </p:nvSpPr>
              <p:spPr bwMode="auto">
                <a:xfrm>
                  <a:off x="140" y="145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" name="Text Box 248"/>
                <p:cNvSpPr txBox="1">
                  <a:spLocks noChangeArrowheads="1"/>
                </p:cNvSpPr>
                <p:nvPr/>
              </p:nvSpPr>
              <p:spPr bwMode="auto">
                <a:xfrm>
                  <a:off x="140" y="171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6" name="Text Box 249"/>
                <p:cNvSpPr txBox="1">
                  <a:spLocks noChangeArrowheads="1"/>
                </p:cNvSpPr>
                <p:nvPr/>
              </p:nvSpPr>
              <p:spPr bwMode="auto">
                <a:xfrm>
                  <a:off x="140" y="197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7" name="Text Box 250"/>
                <p:cNvSpPr txBox="1">
                  <a:spLocks noChangeArrowheads="1"/>
                </p:cNvSpPr>
                <p:nvPr/>
              </p:nvSpPr>
              <p:spPr bwMode="auto">
                <a:xfrm>
                  <a:off x="140" y="265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8" name="Text Box 251"/>
                <p:cNvSpPr txBox="1">
                  <a:spLocks noChangeArrowheads="1"/>
                </p:cNvSpPr>
                <p:nvPr/>
              </p:nvSpPr>
              <p:spPr bwMode="auto">
                <a:xfrm>
                  <a:off x="140" y="291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9" name="Text Box 252"/>
                <p:cNvSpPr txBox="1">
                  <a:spLocks noChangeArrowheads="1"/>
                </p:cNvSpPr>
                <p:nvPr/>
              </p:nvSpPr>
              <p:spPr bwMode="auto">
                <a:xfrm>
                  <a:off x="140" y="317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60" name="Text Box 253"/>
                <p:cNvSpPr txBox="1">
                  <a:spLocks noChangeArrowheads="1"/>
                </p:cNvSpPr>
                <p:nvPr/>
              </p:nvSpPr>
              <p:spPr bwMode="auto">
                <a:xfrm>
                  <a:off x="140" y="343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24" name="Group 254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5" name="Group 255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30" name="Group 256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41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7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8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31" name="Group 265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32" name="Freeform 266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3" name="Line 267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4" name="Line 268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5" name="Line 269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6" name="Line 270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7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8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" name="Line 273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6" name="Text Box 275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Text Box 276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Text Box 277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Text Box 278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5635" name="Group 279"/>
          <p:cNvGrpSpPr/>
          <p:nvPr/>
        </p:nvGrpSpPr>
        <p:grpSpPr bwMode="auto">
          <a:xfrm>
            <a:off x="2372023" y="6209107"/>
            <a:ext cx="565150" cy="366713"/>
            <a:chOff x="648" y="3890"/>
            <a:chExt cx="356" cy="231"/>
          </a:xfrm>
        </p:grpSpPr>
        <p:sp>
          <p:nvSpPr>
            <p:cNvPr id="225636" name="Text Box 280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37" name="Line 281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5638" name="Group 282"/>
          <p:cNvGrpSpPr/>
          <p:nvPr/>
        </p:nvGrpSpPr>
        <p:grpSpPr bwMode="auto">
          <a:xfrm>
            <a:off x="2403773" y="6425007"/>
            <a:ext cx="509588" cy="396875"/>
            <a:chOff x="668" y="4026"/>
            <a:chExt cx="321" cy="250"/>
          </a:xfrm>
        </p:grpSpPr>
        <p:sp>
          <p:nvSpPr>
            <p:cNvPr id="225639" name="Text Box 283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0" name="Line 284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5641" name="Group 285"/>
          <p:cNvGrpSpPr/>
          <p:nvPr/>
        </p:nvGrpSpPr>
        <p:grpSpPr bwMode="auto">
          <a:xfrm>
            <a:off x="2795886" y="2651520"/>
            <a:ext cx="6613525" cy="1963737"/>
            <a:chOff x="915" y="1649"/>
            <a:chExt cx="4166" cy="1237"/>
          </a:xfrm>
        </p:grpSpPr>
        <p:grpSp>
          <p:nvGrpSpPr>
            <p:cNvPr id="225642" name="Group 286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5651" name="Group 287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5684" name="Freeform 288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85" name="Freeform 289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86" name="Freeform 290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87" name="Freeform 291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688" name="Freeform 292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5652" name="Group 293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5677" name="Group 29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82" name="Line 29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83" name="Line 29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5678" name="Freeform 29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5679" name="Group 29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80" name="Line 29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81" name="Line 30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5653" name="Group 301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5670" name="Group 30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75" name="Line 30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76" name="Line 30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5671" name="Freeform 30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5672" name="Group 30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73" name="Line 30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74" name="Line 30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5654" name="Group 309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5663" name="Group 31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68" name="Line 31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69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5664" name="Freeform 31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5665" name="Group 31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66" name="Line 31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67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5655" name="Group 317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5656" name="Group 31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61" name="Line 31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62" name="Line 32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5657" name="Freeform 32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5658" name="Group 32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5659" name="Line 32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5660" name="Line 32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5643" name="Rectangle 325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4" name="Text Box 326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5" name="Rectangle 327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6" name="Rectangle 328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7" name="Rectangle 329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8" name="Text Box 330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49" name="Text Box 331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5650" name="Text Box 332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225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25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25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894261" y="895160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389187" y="92779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4396036" y="5640198"/>
            <a:ext cx="6057900" cy="336550"/>
            <a:chOff x="1944" y="3527"/>
            <a:chExt cx="3816" cy="212"/>
          </a:xfrm>
        </p:grpSpPr>
        <p:sp>
          <p:nvSpPr>
            <p:cNvPr id="23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4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" name="Group 27"/>
          <p:cNvGrpSpPr/>
          <p:nvPr/>
        </p:nvGrpSpPr>
        <p:grpSpPr bwMode="auto">
          <a:xfrm>
            <a:off x="2338636" y="6216460"/>
            <a:ext cx="565150" cy="366713"/>
            <a:chOff x="648" y="3890"/>
            <a:chExt cx="356" cy="231"/>
          </a:xfrm>
        </p:grpSpPr>
        <p:sp>
          <p:nvSpPr>
            <p:cNvPr id="28" name="Text Box 28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0" name="Group 30"/>
          <p:cNvGrpSpPr/>
          <p:nvPr/>
        </p:nvGrpSpPr>
        <p:grpSpPr bwMode="auto">
          <a:xfrm>
            <a:off x="2370386" y="6432360"/>
            <a:ext cx="509588" cy="396875"/>
            <a:chOff x="668" y="4026"/>
            <a:chExt cx="321" cy="250"/>
          </a:xfrm>
        </p:grpSpPr>
        <p:sp>
          <p:nvSpPr>
            <p:cNvPr id="31" name="Text Box 31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3" name="Group 33"/>
          <p:cNvGrpSpPr/>
          <p:nvPr/>
        </p:nvGrpSpPr>
        <p:grpSpPr bwMode="auto">
          <a:xfrm>
            <a:off x="4427786" y="5973573"/>
            <a:ext cx="5773738" cy="0"/>
            <a:chOff x="1964" y="3737"/>
            <a:chExt cx="3637" cy="0"/>
          </a:xfrm>
        </p:grpSpPr>
        <p:sp>
          <p:nvSpPr>
            <p:cNvPr id="34" name="Line 34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38" name="Group 38"/>
          <p:cNvGrpSpPr/>
          <p:nvPr/>
        </p:nvGrpSpPr>
        <p:grpSpPr bwMode="auto">
          <a:xfrm>
            <a:off x="1532186" y="1111060"/>
            <a:ext cx="8686800" cy="5483225"/>
            <a:chOff x="140" y="674"/>
            <a:chExt cx="5472" cy="3454"/>
          </a:xfrm>
        </p:grpSpPr>
        <p:grpSp>
          <p:nvGrpSpPr>
            <p:cNvPr id="39" name="Group 39"/>
            <p:cNvGrpSpPr/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226305" name="Group 40"/>
              <p:cNvGrpSpPr/>
              <p:nvPr/>
            </p:nvGrpSpPr>
            <p:grpSpPr bwMode="auto">
              <a:xfrm>
                <a:off x="140" y="713"/>
                <a:ext cx="5472" cy="3415"/>
                <a:chOff x="140" y="713"/>
                <a:chExt cx="5472" cy="3415"/>
              </a:xfrm>
            </p:grpSpPr>
            <p:sp>
              <p:nvSpPr>
                <p:cNvPr id="226317" name="Rectangle 41"/>
                <p:cNvSpPr>
                  <a:spLocks noChangeArrowheads="1"/>
                </p:cNvSpPr>
                <p:nvPr/>
              </p:nvSpPr>
              <p:spPr bwMode="auto">
                <a:xfrm>
                  <a:off x="332" y="713"/>
                  <a:ext cx="576" cy="316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6318" name="Rectangle 42"/>
                <p:cNvSpPr>
                  <a:spLocks noChangeArrowheads="1"/>
                </p:cNvSpPr>
                <p:nvPr/>
              </p:nvSpPr>
              <p:spPr bwMode="auto">
                <a:xfrm>
                  <a:off x="172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9" name="Text Box 43"/>
                <p:cNvSpPr txBox="1">
                  <a:spLocks noChangeArrowheads="1"/>
                </p:cNvSpPr>
                <p:nvPr/>
              </p:nvSpPr>
              <p:spPr bwMode="auto">
                <a:xfrm>
                  <a:off x="140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0" name="Rectangle 44"/>
                <p:cNvSpPr>
                  <a:spLocks noChangeArrowheads="1"/>
                </p:cNvSpPr>
                <p:nvPr/>
              </p:nvSpPr>
              <p:spPr bwMode="auto">
                <a:xfrm>
                  <a:off x="1152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1" name="Rectangle 45"/>
                <p:cNvSpPr>
                  <a:spLocks noChangeArrowheads="1"/>
                </p:cNvSpPr>
                <p:nvPr/>
              </p:nvSpPr>
              <p:spPr bwMode="auto">
                <a:xfrm>
                  <a:off x="2869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2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2549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3" name="Rectangle 47"/>
                <p:cNvSpPr>
                  <a:spLocks noChangeArrowheads="1"/>
                </p:cNvSpPr>
                <p:nvPr/>
              </p:nvSpPr>
              <p:spPr bwMode="auto">
                <a:xfrm>
                  <a:off x="2293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5" name="Rectangle 48"/>
                <p:cNvSpPr>
                  <a:spLocks noChangeArrowheads="1"/>
                </p:cNvSpPr>
                <p:nvPr/>
              </p:nvSpPr>
              <p:spPr bwMode="auto">
                <a:xfrm>
                  <a:off x="404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6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3724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46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8" name="Rectangle 51"/>
                <p:cNvSpPr>
                  <a:spLocks noChangeArrowheads="1"/>
                </p:cNvSpPr>
                <p:nvPr/>
              </p:nvSpPr>
              <p:spPr bwMode="auto">
                <a:xfrm>
                  <a:off x="5180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29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0" name="Rectangle 53"/>
                <p:cNvSpPr>
                  <a:spLocks noChangeArrowheads="1"/>
                </p:cNvSpPr>
                <p:nvPr/>
              </p:nvSpPr>
              <p:spPr bwMode="auto">
                <a:xfrm>
                  <a:off x="460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1" name="Rectangle 54"/>
                <p:cNvSpPr>
                  <a:spLocks noChangeArrowheads="1"/>
                </p:cNvSpPr>
                <p:nvPr/>
              </p:nvSpPr>
              <p:spPr bwMode="auto">
                <a:xfrm>
                  <a:off x="172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2" name="Rectangle 55"/>
                <p:cNvSpPr>
                  <a:spLocks noChangeArrowheads="1"/>
                </p:cNvSpPr>
                <p:nvPr/>
              </p:nvSpPr>
              <p:spPr bwMode="auto">
                <a:xfrm>
                  <a:off x="1152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3" name="Rectangle 56"/>
                <p:cNvSpPr>
                  <a:spLocks noChangeArrowheads="1"/>
                </p:cNvSpPr>
                <p:nvPr/>
              </p:nvSpPr>
              <p:spPr bwMode="auto">
                <a:xfrm>
                  <a:off x="2869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4" name="Rectangle 57"/>
                <p:cNvSpPr>
                  <a:spLocks noChangeArrowheads="1"/>
                </p:cNvSpPr>
                <p:nvPr/>
              </p:nvSpPr>
              <p:spPr bwMode="auto">
                <a:xfrm>
                  <a:off x="2293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5" name="Rectangle 58"/>
                <p:cNvSpPr>
                  <a:spLocks noChangeArrowheads="1"/>
                </p:cNvSpPr>
                <p:nvPr/>
              </p:nvSpPr>
              <p:spPr bwMode="auto">
                <a:xfrm>
                  <a:off x="404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6" name="Rectangle 59"/>
                <p:cNvSpPr>
                  <a:spLocks noChangeArrowheads="1"/>
                </p:cNvSpPr>
                <p:nvPr/>
              </p:nvSpPr>
              <p:spPr bwMode="auto">
                <a:xfrm>
                  <a:off x="346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7" name="Rectangle 60"/>
                <p:cNvSpPr>
                  <a:spLocks noChangeArrowheads="1"/>
                </p:cNvSpPr>
                <p:nvPr/>
              </p:nvSpPr>
              <p:spPr bwMode="auto">
                <a:xfrm>
                  <a:off x="5180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8" name="Rectangle 61"/>
                <p:cNvSpPr>
                  <a:spLocks noChangeArrowheads="1"/>
                </p:cNvSpPr>
                <p:nvPr/>
              </p:nvSpPr>
              <p:spPr bwMode="auto">
                <a:xfrm>
                  <a:off x="460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39" name="Line 62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0" name="Line 63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1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1" name="Freeform 64"/>
                <p:cNvSpPr/>
                <p:nvPr/>
              </p:nvSpPr>
              <p:spPr bwMode="auto">
                <a:xfrm>
                  <a:off x="1260" y="2709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2" name="Line 65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3" name="Line 66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4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4" name="Freeform 67"/>
                <p:cNvSpPr/>
                <p:nvPr/>
              </p:nvSpPr>
              <p:spPr bwMode="auto">
                <a:xfrm>
                  <a:off x="1434" y="2353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45" name="Freeform 68"/>
                <p:cNvSpPr/>
                <p:nvPr/>
              </p:nvSpPr>
              <p:spPr bwMode="auto">
                <a:xfrm>
                  <a:off x="1059" y="1209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0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0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46" name="Freeform 69"/>
                <p:cNvSpPr/>
                <p:nvPr/>
              </p:nvSpPr>
              <p:spPr bwMode="auto">
                <a:xfrm>
                  <a:off x="1055" y="2353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47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1896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8" name="Line 71"/>
                <p:cNvSpPr>
                  <a:spLocks noChangeShapeType="1"/>
                </p:cNvSpPr>
                <p:nvPr/>
              </p:nvSpPr>
              <p:spPr bwMode="auto">
                <a:xfrm rot="5400000">
                  <a:off x="1879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49" name="Freeform 72"/>
                <p:cNvSpPr/>
                <p:nvPr/>
              </p:nvSpPr>
              <p:spPr bwMode="auto">
                <a:xfrm>
                  <a:off x="1831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0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1704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1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1783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2" name="Freeform 75"/>
                <p:cNvSpPr/>
                <p:nvPr/>
              </p:nvSpPr>
              <p:spPr bwMode="auto">
                <a:xfrm>
                  <a:off x="2005" y="2353"/>
                  <a:ext cx="103" cy="1"/>
                </a:xfrm>
                <a:custGeom>
                  <a:avLst/>
                  <a:gdLst>
                    <a:gd name="T0" fmla="*/ 0 w 103"/>
                    <a:gd name="T1" fmla="*/ 0 h 1"/>
                    <a:gd name="T2" fmla="*/ 103 w 103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3" h="1">
                      <a:moveTo>
                        <a:pt x="0" y="0"/>
                      </a:move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53" name="Freeform 76"/>
                <p:cNvSpPr/>
                <p:nvPr/>
              </p:nvSpPr>
              <p:spPr bwMode="auto">
                <a:xfrm>
                  <a:off x="1611" y="2352"/>
                  <a:ext cx="113" cy="1"/>
                </a:xfrm>
                <a:custGeom>
                  <a:avLst/>
                  <a:gdLst>
                    <a:gd name="T0" fmla="*/ 113 w 113"/>
                    <a:gd name="T1" fmla="*/ 1 h 1"/>
                    <a:gd name="T2" fmla="*/ 0 w 113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3" h="1">
                      <a:moveTo>
                        <a:pt x="113" y="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54" name="Line 77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5" name="Line 78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6" name="Freeform 79"/>
                <p:cNvSpPr/>
                <p:nvPr/>
              </p:nvSpPr>
              <p:spPr bwMode="auto">
                <a:xfrm>
                  <a:off x="2412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7" name="Line 80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8" name="Line 81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59" name="Freeform 82"/>
                <p:cNvSpPr/>
                <p:nvPr/>
              </p:nvSpPr>
              <p:spPr bwMode="auto">
                <a:xfrm>
                  <a:off x="2586" y="2353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60" name="Freeform 83"/>
                <p:cNvSpPr/>
                <p:nvPr/>
              </p:nvSpPr>
              <p:spPr bwMode="auto">
                <a:xfrm>
                  <a:off x="2207" y="2353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61" name="Line 84"/>
                <p:cNvSpPr>
                  <a:spLocks noChangeShapeType="1"/>
                </p:cNvSpPr>
                <p:nvPr/>
              </p:nvSpPr>
              <p:spPr bwMode="auto">
                <a:xfrm rot="5400000">
                  <a:off x="305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62" name="Line 85"/>
                <p:cNvSpPr>
                  <a:spLocks noChangeShapeType="1"/>
                </p:cNvSpPr>
                <p:nvPr/>
              </p:nvSpPr>
              <p:spPr bwMode="auto">
                <a:xfrm rot="5400000">
                  <a:off x="3036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63" name="Freeform 86"/>
                <p:cNvSpPr/>
                <p:nvPr/>
              </p:nvSpPr>
              <p:spPr bwMode="auto">
                <a:xfrm>
                  <a:off x="2988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64" name="Line 87"/>
                <p:cNvSpPr>
                  <a:spLocks noChangeShapeType="1"/>
                </p:cNvSpPr>
                <p:nvPr/>
              </p:nvSpPr>
              <p:spPr bwMode="auto">
                <a:xfrm rot="-5400000">
                  <a:off x="2861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65" name="Line 88"/>
                <p:cNvSpPr>
                  <a:spLocks noChangeShapeType="1"/>
                </p:cNvSpPr>
                <p:nvPr/>
              </p:nvSpPr>
              <p:spPr bwMode="auto">
                <a:xfrm rot="-5400000">
                  <a:off x="2940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366" name="Freeform 89"/>
                <p:cNvSpPr/>
                <p:nvPr/>
              </p:nvSpPr>
              <p:spPr bwMode="auto">
                <a:xfrm>
                  <a:off x="3162" y="2353"/>
                  <a:ext cx="115" cy="1"/>
                </a:xfrm>
                <a:custGeom>
                  <a:avLst/>
                  <a:gdLst>
                    <a:gd name="T0" fmla="*/ 0 w 115"/>
                    <a:gd name="T1" fmla="*/ 0 h 1"/>
                    <a:gd name="T2" fmla="*/ 115 w 115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5" h="1">
                      <a:moveTo>
                        <a:pt x="0" y="0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367" name="Freeform 90"/>
                <p:cNvSpPr/>
                <p:nvPr/>
              </p:nvSpPr>
              <p:spPr bwMode="auto">
                <a:xfrm>
                  <a:off x="2783" y="2353"/>
                  <a:ext cx="90" cy="1"/>
                </a:xfrm>
                <a:custGeom>
                  <a:avLst/>
                  <a:gdLst>
                    <a:gd name="T0" fmla="*/ 90 w 90"/>
                    <a:gd name="T1" fmla="*/ 0 h 1"/>
                    <a:gd name="T2" fmla="*/ 0 w 9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0" h="1">
                      <a:moveTo>
                        <a:pt x="9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75" name="Line 91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76" name="Line 92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77" name="Freeform 93"/>
                <p:cNvSpPr/>
                <p:nvPr/>
              </p:nvSpPr>
              <p:spPr bwMode="auto">
                <a:xfrm>
                  <a:off x="3564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78" name="Line 94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79" name="Line 95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80" name="Freeform 96"/>
                <p:cNvSpPr/>
                <p:nvPr/>
              </p:nvSpPr>
              <p:spPr bwMode="auto">
                <a:xfrm>
                  <a:off x="3751" y="2352"/>
                  <a:ext cx="100" cy="1"/>
                </a:xfrm>
                <a:custGeom>
                  <a:avLst/>
                  <a:gdLst>
                    <a:gd name="T0" fmla="*/ 0 w 100"/>
                    <a:gd name="T1" fmla="*/ 0 h 1"/>
                    <a:gd name="T2" fmla="*/ 100 w 100"/>
                    <a:gd name="T3" fmla="*/ 1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0" h="1">
                      <a:moveTo>
                        <a:pt x="0" y="0"/>
                      </a:moveTo>
                      <a:lnTo>
                        <a:pt x="10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81" name="Freeform 97"/>
                <p:cNvSpPr/>
                <p:nvPr/>
              </p:nvSpPr>
              <p:spPr bwMode="auto">
                <a:xfrm>
                  <a:off x="3359" y="2353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82" name="Line 98"/>
                <p:cNvSpPr>
                  <a:spLocks noChangeShapeType="1"/>
                </p:cNvSpPr>
                <p:nvPr/>
              </p:nvSpPr>
              <p:spPr bwMode="auto">
                <a:xfrm rot="5400000">
                  <a:off x="4205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83" name="Line 99"/>
                <p:cNvSpPr>
                  <a:spLocks noChangeShapeType="1"/>
                </p:cNvSpPr>
                <p:nvPr/>
              </p:nvSpPr>
              <p:spPr bwMode="auto">
                <a:xfrm rot="5400000">
                  <a:off x="4188" y="269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84" name="Freeform 100"/>
                <p:cNvSpPr/>
                <p:nvPr/>
              </p:nvSpPr>
              <p:spPr bwMode="auto">
                <a:xfrm>
                  <a:off x="4140" y="2695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85" name="Line 101"/>
                <p:cNvSpPr>
                  <a:spLocks noChangeShapeType="1"/>
                </p:cNvSpPr>
                <p:nvPr/>
              </p:nvSpPr>
              <p:spPr bwMode="auto">
                <a:xfrm rot="-5400000">
                  <a:off x="4013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86" name="Line 102"/>
                <p:cNvSpPr>
                  <a:spLocks noChangeShapeType="1"/>
                </p:cNvSpPr>
                <p:nvPr/>
              </p:nvSpPr>
              <p:spPr bwMode="auto">
                <a:xfrm rot="-5400000">
                  <a:off x="4092" y="27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8287" name="Freeform 103"/>
                <p:cNvSpPr/>
                <p:nvPr/>
              </p:nvSpPr>
              <p:spPr bwMode="auto">
                <a:xfrm>
                  <a:off x="4336" y="2351"/>
                  <a:ext cx="90" cy="2"/>
                </a:xfrm>
                <a:custGeom>
                  <a:avLst/>
                  <a:gdLst>
                    <a:gd name="T0" fmla="*/ 0 w 90"/>
                    <a:gd name="T1" fmla="*/ 0 h 2"/>
                    <a:gd name="T2" fmla="*/ 90 w 90"/>
                    <a:gd name="T3" fmla="*/ 2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0" h="2">
                      <a:moveTo>
                        <a:pt x="0" y="0"/>
                      </a:moveTo>
                      <a:lnTo>
                        <a:pt x="90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88" name="Freeform 104"/>
                <p:cNvSpPr/>
                <p:nvPr/>
              </p:nvSpPr>
              <p:spPr bwMode="auto">
                <a:xfrm>
                  <a:off x="3935" y="2353"/>
                  <a:ext cx="104" cy="1"/>
                </a:xfrm>
                <a:custGeom>
                  <a:avLst/>
                  <a:gdLst>
                    <a:gd name="T0" fmla="*/ 104 w 104"/>
                    <a:gd name="T1" fmla="*/ 0 h 1"/>
                    <a:gd name="T2" fmla="*/ 0 w 104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4" h="1">
                      <a:moveTo>
                        <a:pt x="104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38289" name="Group 105"/>
                <p:cNvGrpSpPr/>
                <p:nvPr/>
              </p:nvGrpSpPr>
              <p:grpSpPr bwMode="auto">
                <a:xfrm>
                  <a:off x="4668" y="2634"/>
                  <a:ext cx="192" cy="158"/>
                  <a:chOff x="4692" y="2634"/>
                  <a:chExt cx="192" cy="158"/>
                </a:xfrm>
              </p:grpSpPr>
              <p:grpSp>
                <p:nvGrpSpPr>
                  <p:cNvPr id="226714" name="Group 106"/>
                  <p:cNvGrpSpPr/>
                  <p:nvPr/>
                </p:nvGrpSpPr>
                <p:grpSpPr bwMode="auto">
                  <a:xfrm>
                    <a:off x="4836" y="2634"/>
                    <a:ext cx="48" cy="158"/>
                    <a:chOff x="4836" y="2634"/>
                    <a:chExt cx="48" cy="158"/>
                  </a:xfrm>
                </p:grpSpPr>
                <p:sp>
                  <p:nvSpPr>
                    <p:cNvPr id="226719" name="Line 10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80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6720" name="Line 10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8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6715" name="Freeform 109"/>
                  <p:cNvSpPr/>
                  <p:nvPr/>
                </p:nvSpPr>
                <p:spPr bwMode="auto">
                  <a:xfrm>
                    <a:off x="4740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6716" name="Group 110"/>
                  <p:cNvGrpSpPr/>
                  <p:nvPr/>
                </p:nvGrpSpPr>
                <p:grpSpPr bwMode="auto">
                  <a:xfrm>
                    <a:off x="4692" y="2634"/>
                    <a:ext cx="48" cy="158"/>
                    <a:chOff x="4692" y="2634"/>
                    <a:chExt cx="48" cy="158"/>
                  </a:xfrm>
                </p:grpSpPr>
                <p:sp>
                  <p:nvSpPr>
                    <p:cNvPr id="226717" name="Line 11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1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6718" name="Line 11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92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38290" name="Freeform 113"/>
                <p:cNvSpPr/>
                <p:nvPr/>
              </p:nvSpPr>
              <p:spPr bwMode="auto">
                <a:xfrm>
                  <a:off x="4890" y="2353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1" name="Freeform 114"/>
                <p:cNvSpPr/>
                <p:nvPr/>
              </p:nvSpPr>
              <p:spPr bwMode="auto">
                <a:xfrm>
                  <a:off x="4511" y="2353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38292" name="Group 115"/>
                <p:cNvGrpSpPr/>
                <p:nvPr/>
              </p:nvGrpSpPr>
              <p:grpSpPr bwMode="auto">
                <a:xfrm>
                  <a:off x="5235" y="2634"/>
                  <a:ext cx="192" cy="158"/>
                  <a:chOff x="5259" y="2634"/>
                  <a:chExt cx="192" cy="158"/>
                </a:xfrm>
              </p:grpSpPr>
              <p:grpSp>
                <p:nvGrpSpPr>
                  <p:cNvPr id="226707" name="Group 116"/>
                  <p:cNvGrpSpPr/>
                  <p:nvPr/>
                </p:nvGrpSpPr>
                <p:grpSpPr bwMode="auto">
                  <a:xfrm>
                    <a:off x="5403" y="2634"/>
                    <a:ext cx="48" cy="158"/>
                    <a:chOff x="5403" y="2634"/>
                    <a:chExt cx="48" cy="158"/>
                  </a:xfrm>
                </p:grpSpPr>
                <p:sp>
                  <p:nvSpPr>
                    <p:cNvPr id="226712" name="Line 11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72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6713" name="Line 11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55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6708" name="Freeform 119"/>
                  <p:cNvSpPr/>
                  <p:nvPr/>
                </p:nvSpPr>
                <p:spPr bwMode="auto">
                  <a:xfrm>
                    <a:off x="5307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6709" name="Group 120"/>
                  <p:cNvGrpSpPr/>
                  <p:nvPr/>
                </p:nvGrpSpPr>
                <p:grpSpPr bwMode="auto">
                  <a:xfrm>
                    <a:off x="5259" y="2634"/>
                    <a:ext cx="48" cy="158"/>
                    <a:chOff x="5259" y="2634"/>
                    <a:chExt cx="48" cy="158"/>
                  </a:xfrm>
                </p:grpSpPr>
                <p:sp>
                  <p:nvSpPr>
                    <p:cNvPr id="226710" name="Line 12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1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6711" name="Line 12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259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38293" name="Freeform 123"/>
                <p:cNvSpPr/>
                <p:nvPr/>
              </p:nvSpPr>
              <p:spPr bwMode="auto">
                <a:xfrm>
                  <a:off x="5467" y="2351"/>
                  <a:ext cx="96" cy="2"/>
                </a:xfrm>
                <a:custGeom>
                  <a:avLst/>
                  <a:gdLst>
                    <a:gd name="T0" fmla="*/ 0 w 96"/>
                    <a:gd name="T1" fmla="*/ 0 h 2"/>
                    <a:gd name="T2" fmla="*/ 96 w 96"/>
                    <a:gd name="T3" fmla="*/ 2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0"/>
                      </a:moveTo>
                      <a:lnTo>
                        <a:pt x="96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4" name="Freeform 124"/>
                <p:cNvSpPr/>
                <p:nvPr/>
              </p:nvSpPr>
              <p:spPr bwMode="auto">
                <a:xfrm>
                  <a:off x="5078" y="2353"/>
                  <a:ext cx="101" cy="1"/>
                </a:xfrm>
                <a:custGeom>
                  <a:avLst/>
                  <a:gdLst>
                    <a:gd name="T0" fmla="*/ 101 w 101"/>
                    <a:gd name="T1" fmla="*/ 0 h 1"/>
                    <a:gd name="T2" fmla="*/ 0 w 101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1" h="1">
                      <a:moveTo>
                        <a:pt x="101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5" name="Freeform 125"/>
                <p:cNvSpPr/>
                <p:nvPr/>
              </p:nvSpPr>
              <p:spPr bwMode="auto">
                <a:xfrm>
                  <a:off x="908" y="856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6" name="Line 126"/>
                <p:cNvSpPr>
                  <a:spLocks noChangeShapeType="1"/>
                </p:cNvSpPr>
                <p:nvPr/>
              </p:nvSpPr>
              <p:spPr bwMode="auto">
                <a:xfrm>
                  <a:off x="129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7" name="Line 127"/>
                <p:cNvSpPr>
                  <a:spLocks noChangeShapeType="1"/>
                </p:cNvSpPr>
                <p:nvPr/>
              </p:nvSpPr>
              <p:spPr bwMode="auto">
                <a:xfrm>
                  <a:off x="186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8" name="Line 128"/>
                <p:cNvSpPr>
                  <a:spLocks noChangeShapeType="1"/>
                </p:cNvSpPr>
                <p:nvPr/>
              </p:nvSpPr>
              <p:spPr bwMode="auto">
                <a:xfrm>
                  <a:off x="244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99" name="Line 129"/>
                <p:cNvSpPr>
                  <a:spLocks noChangeShapeType="1"/>
                </p:cNvSpPr>
                <p:nvPr/>
              </p:nvSpPr>
              <p:spPr bwMode="auto">
                <a:xfrm>
                  <a:off x="3020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0" name="Line 130"/>
                <p:cNvSpPr>
                  <a:spLocks noChangeShapeType="1"/>
                </p:cNvSpPr>
                <p:nvPr/>
              </p:nvSpPr>
              <p:spPr bwMode="auto">
                <a:xfrm>
                  <a:off x="3596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1" name="Line 131"/>
                <p:cNvSpPr>
                  <a:spLocks noChangeShapeType="1"/>
                </p:cNvSpPr>
                <p:nvPr/>
              </p:nvSpPr>
              <p:spPr bwMode="auto">
                <a:xfrm>
                  <a:off x="417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2" name="Line 132"/>
                <p:cNvSpPr>
                  <a:spLocks noChangeShapeType="1"/>
                </p:cNvSpPr>
                <p:nvPr/>
              </p:nvSpPr>
              <p:spPr bwMode="auto">
                <a:xfrm>
                  <a:off x="474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3" name="Line 133"/>
                <p:cNvSpPr>
                  <a:spLocks noChangeShapeType="1"/>
                </p:cNvSpPr>
                <p:nvPr/>
              </p:nvSpPr>
              <p:spPr bwMode="auto">
                <a:xfrm>
                  <a:off x="532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4" name="Freeform 134"/>
                <p:cNvSpPr/>
                <p:nvPr/>
              </p:nvSpPr>
              <p:spPr bwMode="auto">
                <a:xfrm>
                  <a:off x="1305" y="2708"/>
                  <a:ext cx="1" cy="166"/>
                </a:xfrm>
                <a:custGeom>
                  <a:avLst/>
                  <a:gdLst>
                    <a:gd name="T0" fmla="*/ 1 w 1"/>
                    <a:gd name="T1" fmla="*/ 0 h 166"/>
                    <a:gd name="T2" fmla="*/ 0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1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5" name="Freeform 135"/>
                <p:cNvSpPr/>
                <p:nvPr/>
              </p:nvSpPr>
              <p:spPr bwMode="auto">
                <a:xfrm>
                  <a:off x="1880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618 h 40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6" name="Freeform 136"/>
                <p:cNvSpPr/>
                <p:nvPr/>
              </p:nvSpPr>
              <p:spPr bwMode="auto">
                <a:xfrm>
                  <a:off x="2454" y="2708"/>
                  <a:ext cx="4" cy="166"/>
                </a:xfrm>
                <a:custGeom>
                  <a:avLst/>
                  <a:gdLst>
                    <a:gd name="T0" fmla="*/ 4 w 4"/>
                    <a:gd name="T1" fmla="*/ 0 h 166"/>
                    <a:gd name="T2" fmla="*/ 0 w 4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166">
                      <a:moveTo>
                        <a:pt x="4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7" name="Freeform 137"/>
                <p:cNvSpPr/>
                <p:nvPr/>
              </p:nvSpPr>
              <p:spPr bwMode="auto">
                <a:xfrm>
                  <a:off x="3606" y="2708"/>
                  <a:ext cx="2" cy="175"/>
                </a:xfrm>
                <a:custGeom>
                  <a:avLst/>
                  <a:gdLst>
                    <a:gd name="T0" fmla="*/ 2 w 2"/>
                    <a:gd name="T1" fmla="*/ 0 h 175"/>
                    <a:gd name="T2" fmla="*/ 0 w 2"/>
                    <a:gd name="T3" fmla="*/ 175 h 17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75">
                      <a:moveTo>
                        <a:pt x="2" y="0"/>
                      </a:moveTo>
                      <a:lnTo>
                        <a:pt x="0" y="17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8" name="Freeform 138"/>
                <p:cNvSpPr/>
                <p:nvPr/>
              </p:nvSpPr>
              <p:spPr bwMode="auto">
                <a:xfrm>
                  <a:off x="4760" y="2697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09" name="Freeform 139"/>
                <p:cNvSpPr/>
                <p:nvPr/>
              </p:nvSpPr>
              <p:spPr bwMode="auto">
                <a:xfrm>
                  <a:off x="908" y="1480"/>
                  <a:ext cx="4422" cy="1"/>
                </a:xfrm>
                <a:custGeom>
                  <a:avLst/>
                  <a:gdLst>
                    <a:gd name="T0" fmla="*/ 0 w 4422"/>
                    <a:gd name="T1" fmla="*/ 1 h 1"/>
                    <a:gd name="T2" fmla="*/ 4422 w 442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22" h="1">
                      <a:moveTo>
                        <a:pt x="0" y="1"/>
                      </a:moveTo>
                      <a:lnTo>
                        <a:pt x="442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0" name="Line 140"/>
                <p:cNvSpPr>
                  <a:spLocks noChangeShapeType="1"/>
                </p:cNvSpPr>
                <p:nvPr/>
              </p:nvSpPr>
              <p:spPr bwMode="auto">
                <a:xfrm>
                  <a:off x="129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1" name="Line 141"/>
                <p:cNvSpPr>
                  <a:spLocks noChangeShapeType="1"/>
                </p:cNvSpPr>
                <p:nvPr/>
              </p:nvSpPr>
              <p:spPr bwMode="auto">
                <a:xfrm>
                  <a:off x="186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2" name="Line 142"/>
                <p:cNvSpPr>
                  <a:spLocks noChangeShapeType="1"/>
                </p:cNvSpPr>
                <p:nvPr/>
              </p:nvSpPr>
              <p:spPr bwMode="auto">
                <a:xfrm>
                  <a:off x="244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3" name="Line 143"/>
                <p:cNvSpPr>
                  <a:spLocks noChangeShapeType="1"/>
                </p:cNvSpPr>
                <p:nvPr/>
              </p:nvSpPr>
              <p:spPr bwMode="auto">
                <a:xfrm>
                  <a:off x="3020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4" name="Line 144"/>
                <p:cNvSpPr>
                  <a:spLocks noChangeShapeType="1"/>
                </p:cNvSpPr>
                <p:nvPr/>
              </p:nvSpPr>
              <p:spPr bwMode="auto">
                <a:xfrm>
                  <a:off x="3596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5" name="Line 145"/>
                <p:cNvSpPr>
                  <a:spLocks noChangeShapeType="1"/>
                </p:cNvSpPr>
                <p:nvPr/>
              </p:nvSpPr>
              <p:spPr bwMode="auto">
                <a:xfrm>
                  <a:off x="417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6" name="Line 146"/>
                <p:cNvSpPr>
                  <a:spLocks noChangeShapeType="1"/>
                </p:cNvSpPr>
                <p:nvPr/>
              </p:nvSpPr>
              <p:spPr bwMode="auto">
                <a:xfrm>
                  <a:off x="474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7" name="Line 147"/>
                <p:cNvSpPr>
                  <a:spLocks noChangeShapeType="1"/>
                </p:cNvSpPr>
                <p:nvPr/>
              </p:nvSpPr>
              <p:spPr bwMode="auto">
                <a:xfrm>
                  <a:off x="532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8" name="Freeform 148"/>
                <p:cNvSpPr/>
                <p:nvPr/>
              </p:nvSpPr>
              <p:spPr bwMode="auto">
                <a:xfrm>
                  <a:off x="908" y="2056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19" name="Line 149"/>
                <p:cNvSpPr>
                  <a:spLocks noChangeShapeType="1"/>
                </p:cNvSpPr>
                <p:nvPr/>
              </p:nvSpPr>
              <p:spPr bwMode="auto">
                <a:xfrm>
                  <a:off x="129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0" name="Line 150"/>
                <p:cNvSpPr>
                  <a:spLocks noChangeShapeType="1"/>
                </p:cNvSpPr>
                <p:nvPr/>
              </p:nvSpPr>
              <p:spPr bwMode="auto">
                <a:xfrm>
                  <a:off x="186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1" name="Line 151"/>
                <p:cNvSpPr>
                  <a:spLocks noChangeShapeType="1"/>
                </p:cNvSpPr>
                <p:nvPr/>
              </p:nvSpPr>
              <p:spPr bwMode="auto">
                <a:xfrm>
                  <a:off x="244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2" name="Line 152"/>
                <p:cNvSpPr>
                  <a:spLocks noChangeShapeType="1"/>
                </p:cNvSpPr>
                <p:nvPr/>
              </p:nvSpPr>
              <p:spPr bwMode="auto">
                <a:xfrm>
                  <a:off x="3020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3" name="Line 153"/>
                <p:cNvSpPr>
                  <a:spLocks noChangeShapeType="1"/>
                </p:cNvSpPr>
                <p:nvPr/>
              </p:nvSpPr>
              <p:spPr bwMode="auto">
                <a:xfrm>
                  <a:off x="3596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4" name="Line 154"/>
                <p:cNvSpPr>
                  <a:spLocks noChangeShapeType="1"/>
                </p:cNvSpPr>
                <p:nvPr/>
              </p:nvSpPr>
              <p:spPr bwMode="auto">
                <a:xfrm>
                  <a:off x="417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5" name="Line 155"/>
                <p:cNvSpPr>
                  <a:spLocks noChangeShapeType="1"/>
                </p:cNvSpPr>
                <p:nvPr/>
              </p:nvSpPr>
              <p:spPr bwMode="auto">
                <a:xfrm>
                  <a:off x="474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6" name="Line 156"/>
                <p:cNvSpPr>
                  <a:spLocks noChangeShapeType="1"/>
                </p:cNvSpPr>
                <p:nvPr/>
              </p:nvSpPr>
              <p:spPr bwMode="auto">
                <a:xfrm>
                  <a:off x="532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7" name="Freeform 157"/>
                <p:cNvSpPr/>
                <p:nvPr/>
              </p:nvSpPr>
              <p:spPr bwMode="auto">
                <a:xfrm>
                  <a:off x="909" y="2879"/>
                  <a:ext cx="3860" cy="1"/>
                </a:xfrm>
                <a:custGeom>
                  <a:avLst/>
                  <a:gdLst>
                    <a:gd name="T0" fmla="*/ 0 w 3860"/>
                    <a:gd name="T1" fmla="*/ 1 h 1"/>
                    <a:gd name="T2" fmla="*/ 3860 w 386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60" h="1">
                      <a:moveTo>
                        <a:pt x="0" y="1"/>
                      </a:moveTo>
                      <a:lnTo>
                        <a:pt x="386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8" name="Freeform 158"/>
                <p:cNvSpPr/>
                <p:nvPr/>
              </p:nvSpPr>
              <p:spPr bwMode="auto">
                <a:xfrm>
                  <a:off x="912" y="3209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29" name="Rectangle 159"/>
                <p:cNvSpPr>
                  <a:spLocks noChangeArrowheads="1"/>
                </p:cNvSpPr>
                <p:nvPr/>
              </p:nvSpPr>
              <p:spPr bwMode="auto">
                <a:xfrm>
                  <a:off x="114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38330" name="Text Box 160"/>
                <p:cNvSpPr txBox="1">
                  <a:spLocks noChangeArrowheads="1"/>
                </p:cNvSpPr>
                <p:nvPr/>
              </p:nvSpPr>
              <p:spPr bwMode="auto">
                <a:xfrm>
                  <a:off x="117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8331" name="Freeform 161"/>
                <p:cNvSpPr/>
                <p:nvPr/>
              </p:nvSpPr>
              <p:spPr bwMode="auto">
                <a:xfrm>
                  <a:off x="1402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32" name="Freeform 162"/>
                <p:cNvSpPr/>
                <p:nvPr/>
              </p:nvSpPr>
              <p:spPr bwMode="auto">
                <a:xfrm>
                  <a:off x="1613" y="1211"/>
                  <a:ext cx="169" cy="1469"/>
                </a:xfrm>
                <a:custGeom>
                  <a:avLst/>
                  <a:gdLst>
                    <a:gd name="T0" fmla="*/ 169 w 169"/>
                    <a:gd name="T1" fmla="*/ 1468 h 1469"/>
                    <a:gd name="T2" fmla="*/ 0 w 169"/>
                    <a:gd name="T3" fmla="*/ 1469 h 1469"/>
                    <a:gd name="T4" fmla="*/ 1 w 169"/>
                    <a:gd name="T5" fmla="*/ 0 h 1469"/>
                    <a:gd name="T6" fmla="*/ 105 w 16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9" h="1469">
                      <a:moveTo>
                        <a:pt x="169" y="1468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33" name="Freeform 163"/>
                <p:cNvSpPr/>
                <p:nvPr/>
              </p:nvSpPr>
              <p:spPr bwMode="auto">
                <a:xfrm>
                  <a:off x="1967" y="1211"/>
                  <a:ext cx="141" cy="1466"/>
                </a:xfrm>
                <a:custGeom>
                  <a:avLst/>
                  <a:gdLst>
                    <a:gd name="T0" fmla="*/ 38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1" h="1466">
                      <a:moveTo>
                        <a:pt x="38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34" name="Freeform 164"/>
                <p:cNvSpPr/>
                <p:nvPr/>
              </p:nvSpPr>
              <p:spPr bwMode="auto">
                <a:xfrm>
                  <a:off x="2208" y="1211"/>
                  <a:ext cx="155" cy="1467"/>
                </a:xfrm>
                <a:custGeom>
                  <a:avLst/>
                  <a:gdLst>
                    <a:gd name="T0" fmla="*/ 155 w 155"/>
                    <a:gd name="T1" fmla="*/ 1467 h 1467"/>
                    <a:gd name="T2" fmla="*/ 3 w 155"/>
                    <a:gd name="T3" fmla="*/ 1467 h 1467"/>
                    <a:gd name="T4" fmla="*/ 0 w 155"/>
                    <a:gd name="T5" fmla="*/ 1 h 1467"/>
                    <a:gd name="T6" fmla="*/ 89 w 155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5" h="1467">
                      <a:moveTo>
                        <a:pt x="155" y="1467"/>
                      </a:moveTo>
                      <a:lnTo>
                        <a:pt x="3" y="1467"/>
                      </a:lnTo>
                      <a:lnTo>
                        <a:pt x="0" y="1"/>
                      </a:lnTo>
                      <a:lnTo>
                        <a:pt x="8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35" name="Freeform 165"/>
                <p:cNvSpPr/>
                <p:nvPr/>
              </p:nvSpPr>
              <p:spPr bwMode="auto">
                <a:xfrm>
                  <a:off x="2557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4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88" name="Freeform 166"/>
                <p:cNvSpPr/>
                <p:nvPr/>
              </p:nvSpPr>
              <p:spPr bwMode="auto">
                <a:xfrm>
                  <a:off x="2787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77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89" name="Freeform 167"/>
                <p:cNvSpPr/>
                <p:nvPr/>
              </p:nvSpPr>
              <p:spPr bwMode="auto">
                <a:xfrm>
                  <a:off x="3130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91" name="Freeform 168"/>
                <p:cNvSpPr/>
                <p:nvPr/>
              </p:nvSpPr>
              <p:spPr bwMode="auto">
                <a:xfrm>
                  <a:off x="3360" y="1209"/>
                  <a:ext cx="155" cy="1469"/>
                </a:xfrm>
                <a:custGeom>
                  <a:avLst/>
                  <a:gdLst>
                    <a:gd name="T0" fmla="*/ 155 w 155"/>
                    <a:gd name="T1" fmla="*/ 1469 h 1469"/>
                    <a:gd name="T2" fmla="*/ 3 w 155"/>
                    <a:gd name="T3" fmla="*/ 1469 h 1469"/>
                    <a:gd name="T4" fmla="*/ 0 w 155"/>
                    <a:gd name="T5" fmla="*/ 0 h 1469"/>
                    <a:gd name="T6" fmla="*/ 103 w 155"/>
                    <a:gd name="T7" fmla="*/ 2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5" h="1469">
                      <a:moveTo>
                        <a:pt x="155" y="1469"/>
                      </a:moveTo>
                      <a:lnTo>
                        <a:pt x="3" y="1469"/>
                      </a:lnTo>
                      <a:lnTo>
                        <a:pt x="0" y="0"/>
                      </a:lnTo>
                      <a:lnTo>
                        <a:pt x="103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99" name="Freeform 169"/>
                <p:cNvSpPr/>
                <p:nvPr/>
              </p:nvSpPr>
              <p:spPr bwMode="auto">
                <a:xfrm>
                  <a:off x="3710" y="1211"/>
                  <a:ext cx="141" cy="1466"/>
                </a:xfrm>
                <a:custGeom>
                  <a:avLst/>
                  <a:gdLst>
                    <a:gd name="T0" fmla="*/ 42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1" h="1466">
                      <a:moveTo>
                        <a:pt x="42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24" name="Freeform 170"/>
                <p:cNvSpPr/>
                <p:nvPr/>
              </p:nvSpPr>
              <p:spPr bwMode="auto">
                <a:xfrm>
                  <a:off x="3939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103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25" name="Freeform 171"/>
                <p:cNvSpPr/>
                <p:nvPr/>
              </p:nvSpPr>
              <p:spPr bwMode="auto">
                <a:xfrm>
                  <a:off x="4280" y="1211"/>
                  <a:ext cx="147" cy="1466"/>
                </a:xfrm>
                <a:custGeom>
                  <a:avLst/>
                  <a:gdLst>
                    <a:gd name="T0" fmla="*/ 51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7" h="1466">
                      <a:moveTo>
                        <a:pt x="51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26" name="Freeform 172"/>
                <p:cNvSpPr/>
                <p:nvPr/>
              </p:nvSpPr>
              <p:spPr bwMode="auto">
                <a:xfrm>
                  <a:off x="4509" y="1211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27" name="Freeform 173"/>
                <p:cNvSpPr/>
                <p:nvPr/>
              </p:nvSpPr>
              <p:spPr bwMode="auto">
                <a:xfrm>
                  <a:off x="4861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28" name="Freeform 174"/>
                <p:cNvSpPr/>
                <p:nvPr/>
              </p:nvSpPr>
              <p:spPr bwMode="auto">
                <a:xfrm>
                  <a:off x="5069" y="1211"/>
                  <a:ext cx="159" cy="1469"/>
                </a:xfrm>
                <a:custGeom>
                  <a:avLst/>
                  <a:gdLst>
                    <a:gd name="T0" fmla="*/ 159 w 159"/>
                    <a:gd name="T1" fmla="*/ 1467 h 1469"/>
                    <a:gd name="T2" fmla="*/ 0 w 159"/>
                    <a:gd name="T3" fmla="*/ 1469 h 1469"/>
                    <a:gd name="T4" fmla="*/ 1 w 159"/>
                    <a:gd name="T5" fmla="*/ 0 h 1469"/>
                    <a:gd name="T6" fmla="*/ 104 w 15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9" h="1469">
                      <a:moveTo>
                        <a:pt x="159" y="1467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29" name="Freeform 175"/>
                <p:cNvSpPr/>
                <p:nvPr/>
              </p:nvSpPr>
              <p:spPr bwMode="auto">
                <a:xfrm>
                  <a:off x="5417" y="1211"/>
                  <a:ext cx="147" cy="1466"/>
                </a:xfrm>
                <a:custGeom>
                  <a:avLst/>
                  <a:gdLst>
                    <a:gd name="T0" fmla="*/ 47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7" h="1466">
                      <a:moveTo>
                        <a:pt x="47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0" name="Freeform 176"/>
                <p:cNvSpPr/>
                <p:nvPr/>
              </p:nvSpPr>
              <p:spPr bwMode="auto">
                <a:xfrm>
                  <a:off x="1055" y="2738"/>
                  <a:ext cx="730" cy="660"/>
                </a:xfrm>
                <a:custGeom>
                  <a:avLst/>
                  <a:gdLst>
                    <a:gd name="T0" fmla="*/ 160 w 730"/>
                    <a:gd name="T1" fmla="*/ 4 h 660"/>
                    <a:gd name="T2" fmla="*/ 0 w 730"/>
                    <a:gd name="T3" fmla="*/ 3 h 660"/>
                    <a:gd name="T4" fmla="*/ 0 w 730"/>
                    <a:gd name="T5" fmla="*/ 660 h 660"/>
                    <a:gd name="T6" fmla="*/ 558 w 730"/>
                    <a:gd name="T7" fmla="*/ 657 h 660"/>
                    <a:gd name="T8" fmla="*/ 558 w 730"/>
                    <a:gd name="T9" fmla="*/ 0 h 660"/>
                    <a:gd name="T10" fmla="*/ 730 w 730"/>
                    <a:gd name="T11" fmla="*/ 1 h 6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30" h="660">
                      <a:moveTo>
                        <a:pt x="160" y="4"/>
                      </a:moveTo>
                      <a:lnTo>
                        <a:pt x="0" y="3"/>
                      </a:lnTo>
                      <a:lnTo>
                        <a:pt x="0" y="660"/>
                      </a:lnTo>
                      <a:lnTo>
                        <a:pt x="558" y="657"/>
                      </a:lnTo>
                      <a:lnTo>
                        <a:pt x="558" y="0"/>
                      </a:lnTo>
                      <a:lnTo>
                        <a:pt x="73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2" name="Freeform 177"/>
                <p:cNvSpPr/>
                <p:nvPr/>
              </p:nvSpPr>
              <p:spPr bwMode="auto">
                <a:xfrm>
                  <a:off x="2207" y="2744"/>
                  <a:ext cx="729" cy="658"/>
                </a:xfrm>
                <a:custGeom>
                  <a:avLst/>
                  <a:gdLst>
                    <a:gd name="T0" fmla="*/ 153 w 729"/>
                    <a:gd name="T1" fmla="*/ 0 h 658"/>
                    <a:gd name="T2" fmla="*/ 0 w 729"/>
                    <a:gd name="T3" fmla="*/ 0 h 658"/>
                    <a:gd name="T4" fmla="*/ 0 w 729"/>
                    <a:gd name="T5" fmla="*/ 657 h 658"/>
                    <a:gd name="T6" fmla="*/ 583 w 729"/>
                    <a:gd name="T7" fmla="*/ 658 h 658"/>
                    <a:gd name="T8" fmla="*/ 582 w 729"/>
                    <a:gd name="T9" fmla="*/ 3 h 658"/>
                    <a:gd name="T10" fmla="*/ 729 w 729"/>
                    <a:gd name="T11" fmla="*/ 3 h 6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9" h="658">
                      <a:moveTo>
                        <a:pt x="153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83" y="658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3" name="Freeform 178"/>
                <p:cNvSpPr/>
                <p:nvPr/>
              </p:nvSpPr>
              <p:spPr bwMode="auto">
                <a:xfrm>
                  <a:off x="3356" y="2744"/>
                  <a:ext cx="729" cy="657"/>
                </a:xfrm>
                <a:custGeom>
                  <a:avLst/>
                  <a:gdLst>
                    <a:gd name="T0" fmla="*/ 158 w 729"/>
                    <a:gd name="T1" fmla="*/ 0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9" h="657">
                      <a:moveTo>
                        <a:pt x="158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4" name="Freeform 179"/>
                <p:cNvSpPr/>
                <p:nvPr/>
              </p:nvSpPr>
              <p:spPr bwMode="auto">
                <a:xfrm>
                  <a:off x="4508" y="2744"/>
                  <a:ext cx="729" cy="657"/>
                </a:xfrm>
                <a:custGeom>
                  <a:avLst/>
                  <a:gdLst>
                    <a:gd name="T0" fmla="*/ 161 w 729"/>
                    <a:gd name="T1" fmla="*/ 2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9" h="657">
                      <a:moveTo>
                        <a:pt x="161" y="2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5" name="Freeform 180"/>
                <p:cNvSpPr/>
                <p:nvPr/>
              </p:nvSpPr>
              <p:spPr bwMode="auto">
                <a:xfrm>
                  <a:off x="1400" y="2735"/>
                  <a:ext cx="708" cy="571"/>
                </a:xfrm>
                <a:custGeom>
                  <a:avLst/>
                  <a:gdLst>
                    <a:gd name="T0" fmla="*/ 0 w 708"/>
                    <a:gd name="T1" fmla="*/ 0 h 571"/>
                    <a:gd name="T2" fmla="*/ 132 w 708"/>
                    <a:gd name="T3" fmla="*/ 0 h 571"/>
                    <a:gd name="T4" fmla="*/ 133 w 708"/>
                    <a:gd name="T5" fmla="*/ 571 h 571"/>
                    <a:gd name="T6" fmla="*/ 708 w 708"/>
                    <a:gd name="T7" fmla="*/ 570 h 571"/>
                    <a:gd name="T8" fmla="*/ 708 w 708"/>
                    <a:gd name="T9" fmla="*/ 9 h 571"/>
                    <a:gd name="T10" fmla="*/ 573 w 708"/>
                    <a:gd name="T11" fmla="*/ 9 h 5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08" h="571">
                      <a:moveTo>
                        <a:pt x="0" y="0"/>
                      </a:moveTo>
                      <a:lnTo>
                        <a:pt x="132" y="0"/>
                      </a:lnTo>
                      <a:lnTo>
                        <a:pt x="133" y="571"/>
                      </a:lnTo>
                      <a:lnTo>
                        <a:pt x="708" y="570"/>
                      </a:lnTo>
                      <a:lnTo>
                        <a:pt x="708" y="9"/>
                      </a:lnTo>
                      <a:lnTo>
                        <a:pt x="573" y="9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6" name="Freeform 181"/>
                <p:cNvSpPr/>
                <p:nvPr/>
              </p:nvSpPr>
              <p:spPr bwMode="auto">
                <a:xfrm>
                  <a:off x="2552" y="2735"/>
                  <a:ext cx="726" cy="567"/>
                </a:xfrm>
                <a:custGeom>
                  <a:avLst/>
                  <a:gdLst>
                    <a:gd name="T0" fmla="*/ 0 w 726"/>
                    <a:gd name="T1" fmla="*/ 0 h 567"/>
                    <a:gd name="T2" fmla="*/ 148 w 726"/>
                    <a:gd name="T3" fmla="*/ 1 h 567"/>
                    <a:gd name="T4" fmla="*/ 147 w 726"/>
                    <a:gd name="T5" fmla="*/ 567 h 567"/>
                    <a:gd name="T6" fmla="*/ 726 w 726"/>
                    <a:gd name="T7" fmla="*/ 567 h 567"/>
                    <a:gd name="T8" fmla="*/ 726 w 726"/>
                    <a:gd name="T9" fmla="*/ 6 h 567"/>
                    <a:gd name="T10" fmla="*/ 579 w 726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26" h="567">
                      <a:moveTo>
                        <a:pt x="0" y="0"/>
                      </a:moveTo>
                      <a:lnTo>
                        <a:pt x="148" y="1"/>
                      </a:lnTo>
                      <a:lnTo>
                        <a:pt x="147" y="567"/>
                      </a:lnTo>
                      <a:lnTo>
                        <a:pt x="726" y="567"/>
                      </a:lnTo>
                      <a:lnTo>
                        <a:pt x="726" y="6"/>
                      </a:lnTo>
                      <a:lnTo>
                        <a:pt x="579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7" name="Freeform 182"/>
                <p:cNvSpPr/>
                <p:nvPr/>
              </p:nvSpPr>
              <p:spPr bwMode="auto">
                <a:xfrm>
                  <a:off x="3704" y="2738"/>
                  <a:ext cx="714" cy="567"/>
                </a:xfrm>
                <a:custGeom>
                  <a:avLst/>
                  <a:gdLst>
                    <a:gd name="T0" fmla="*/ 0 w 714"/>
                    <a:gd name="T1" fmla="*/ 0 h 567"/>
                    <a:gd name="T2" fmla="*/ 136 w 714"/>
                    <a:gd name="T3" fmla="*/ 1 h 567"/>
                    <a:gd name="T4" fmla="*/ 135 w 714"/>
                    <a:gd name="T5" fmla="*/ 567 h 567"/>
                    <a:gd name="T6" fmla="*/ 714 w 714"/>
                    <a:gd name="T7" fmla="*/ 567 h 567"/>
                    <a:gd name="T8" fmla="*/ 714 w 714"/>
                    <a:gd name="T9" fmla="*/ 6 h 567"/>
                    <a:gd name="T10" fmla="*/ 576 w 714"/>
                    <a:gd name="T11" fmla="*/ 5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14" h="567">
                      <a:moveTo>
                        <a:pt x="0" y="0"/>
                      </a:moveTo>
                      <a:lnTo>
                        <a:pt x="136" y="1"/>
                      </a:lnTo>
                      <a:lnTo>
                        <a:pt x="135" y="567"/>
                      </a:lnTo>
                      <a:lnTo>
                        <a:pt x="714" y="567"/>
                      </a:lnTo>
                      <a:lnTo>
                        <a:pt x="714" y="6"/>
                      </a:lnTo>
                      <a:lnTo>
                        <a:pt x="576" y="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8" name="Freeform 183"/>
                <p:cNvSpPr/>
                <p:nvPr/>
              </p:nvSpPr>
              <p:spPr bwMode="auto">
                <a:xfrm>
                  <a:off x="4859" y="2738"/>
                  <a:ext cx="711" cy="567"/>
                </a:xfrm>
                <a:custGeom>
                  <a:avLst/>
                  <a:gdLst>
                    <a:gd name="T0" fmla="*/ 0 w 711"/>
                    <a:gd name="T1" fmla="*/ 0 h 567"/>
                    <a:gd name="T2" fmla="*/ 130 w 711"/>
                    <a:gd name="T3" fmla="*/ 1 h 567"/>
                    <a:gd name="T4" fmla="*/ 132 w 711"/>
                    <a:gd name="T5" fmla="*/ 567 h 567"/>
                    <a:gd name="T6" fmla="*/ 711 w 711"/>
                    <a:gd name="T7" fmla="*/ 567 h 567"/>
                    <a:gd name="T8" fmla="*/ 711 w 711"/>
                    <a:gd name="T9" fmla="*/ 6 h 567"/>
                    <a:gd name="T10" fmla="*/ 564 w 711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11" h="567">
                      <a:moveTo>
                        <a:pt x="0" y="0"/>
                      </a:moveTo>
                      <a:lnTo>
                        <a:pt x="130" y="1"/>
                      </a:lnTo>
                      <a:lnTo>
                        <a:pt x="132" y="567"/>
                      </a:lnTo>
                      <a:lnTo>
                        <a:pt x="711" y="567"/>
                      </a:lnTo>
                      <a:lnTo>
                        <a:pt x="711" y="6"/>
                      </a:lnTo>
                      <a:lnTo>
                        <a:pt x="564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39" name="Freeform 184"/>
                <p:cNvSpPr/>
                <p:nvPr/>
              </p:nvSpPr>
              <p:spPr bwMode="auto">
                <a:xfrm>
                  <a:off x="1322" y="3398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0" name="Freeform 185"/>
                <p:cNvSpPr/>
                <p:nvPr/>
              </p:nvSpPr>
              <p:spPr bwMode="auto">
                <a:xfrm>
                  <a:off x="2491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1" name="Freeform 186"/>
                <p:cNvSpPr/>
                <p:nvPr/>
              </p:nvSpPr>
              <p:spPr bwMode="auto">
                <a:xfrm>
                  <a:off x="3643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2" name="Freeform 187"/>
                <p:cNvSpPr/>
                <p:nvPr/>
              </p:nvSpPr>
              <p:spPr bwMode="auto">
                <a:xfrm>
                  <a:off x="4795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3" name="Freeform 188"/>
                <p:cNvSpPr/>
                <p:nvPr/>
              </p:nvSpPr>
              <p:spPr bwMode="auto">
                <a:xfrm>
                  <a:off x="5276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4" name="Freeform 189"/>
                <p:cNvSpPr/>
                <p:nvPr/>
              </p:nvSpPr>
              <p:spPr bwMode="auto">
                <a:xfrm>
                  <a:off x="4124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5" name="Freeform 190"/>
                <p:cNvSpPr/>
                <p:nvPr/>
              </p:nvSpPr>
              <p:spPr bwMode="auto">
                <a:xfrm>
                  <a:off x="2972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6" name="Freeform 191"/>
                <p:cNvSpPr/>
                <p:nvPr/>
              </p:nvSpPr>
              <p:spPr bwMode="auto">
                <a:xfrm>
                  <a:off x="1819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7" name="Freeform 192"/>
                <p:cNvSpPr/>
                <p:nvPr/>
              </p:nvSpPr>
              <p:spPr bwMode="auto">
                <a:xfrm>
                  <a:off x="956" y="4025"/>
                  <a:ext cx="4317" cy="1"/>
                </a:xfrm>
                <a:custGeom>
                  <a:avLst/>
                  <a:gdLst>
                    <a:gd name="T0" fmla="*/ 0 w 4317"/>
                    <a:gd name="T1" fmla="*/ 0 h 1"/>
                    <a:gd name="T2" fmla="*/ 4317 w 431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17" h="1">
                      <a:moveTo>
                        <a:pt x="0" y="0"/>
                      </a:moveTo>
                      <a:lnTo>
                        <a:pt x="431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8" name="Freeform 193"/>
                <p:cNvSpPr/>
                <p:nvPr/>
              </p:nvSpPr>
              <p:spPr bwMode="auto">
                <a:xfrm>
                  <a:off x="956" y="4121"/>
                  <a:ext cx="3837" cy="1"/>
                </a:xfrm>
                <a:custGeom>
                  <a:avLst/>
                  <a:gdLst>
                    <a:gd name="T0" fmla="*/ 0 w 3837"/>
                    <a:gd name="T1" fmla="*/ 0 h 1"/>
                    <a:gd name="T2" fmla="*/ 3837 w 383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37" h="1">
                      <a:moveTo>
                        <a:pt x="0" y="0"/>
                      </a:moveTo>
                      <a:lnTo>
                        <a:pt x="383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49" name="Freeform 194"/>
                <p:cNvSpPr/>
                <p:nvPr/>
              </p:nvSpPr>
              <p:spPr bwMode="auto">
                <a:xfrm>
                  <a:off x="1322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0" name="Freeform 195"/>
                <p:cNvSpPr/>
                <p:nvPr/>
              </p:nvSpPr>
              <p:spPr bwMode="auto">
                <a:xfrm>
                  <a:off x="2491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1" name="Freeform 196"/>
                <p:cNvSpPr/>
                <p:nvPr/>
              </p:nvSpPr>
              <p:spPr bwMode="auto">
                <a:xfrm>
                  <a:off x="3643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2" name="Freeform 197"/>
                <p:cNvSpPr/>
                <p:nvPr/>
              </p:nvSpPr>
              <p:spPr bwMode="auto">
                <a:xfrm>
                  <a:off x="4791" y="3881"/>
                  <a:ext cx="4" cy="247"/>
                </a:xfrm>
                <a:custGeom>
                  <a:avLst/>
                  <a:gdLst>
                    <a:gd name="T0" fmla="*/ 4 w 4"/>
                    <a:gd name="T1" fmla="*/ 0 h 247"/>
                    <a:gd name="T2" fmla="*/ 0 w 4"/>
                    <a:gd name="T3" fmla="*/ 247 h 24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247">
                      <a:moveTo>
                        <a:pt x="4" y="0"/>
                      </a:moveTo>
                      <a:lnTo>
                        <a:pt x="0" y="24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3" name="Freeform 198"/>
                <p:cNvSpPr/>
                <p:nvPr/>
              </p:nvSpPr>
              <p:spPr bwMode="auto">
                <a:xfrm>
                  <a:off x="5277" y="3881"/>
                  <a:ext cx="1" cy="151"/>
                </a:xfrm>
                <a:custGeom>
                  <a:avLst/>
                  <a:gdLst>
                    <a:gd name="T0" fmla="*/ 0 w 1"/>
                    <a:gd name="T1" fmla="*/ 0 h 151"/>
                    <a:gd name="T2" fmla="*/ 0 w 1"/>
                    <a:gd name="T3" fmla="*/ 151 h 1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51">
                      <a:moveTo>
                        <a:pt x="0" y="0"/>
                      </a:moveTo>
                      <a:lnTo>
                        <a:pt x="0" y="15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4" name="Line 199"/>
                <p:cNvSpPr>
                  <a:spLocks noChangeShapeType="1"/>
                </p:cNvSpPr>
                <p:nvPr/>
              </p:nvSpPr>
              <p:spPr bwMode="auto">
                <a:xfrm>
                  <a:off x="4124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5" name="Line 200"/>
                <p:cNvSpPr>
                  <a:spLocks noChangeShapeType="1"/>
                </p:cNvSpPr>
                <p:nvPr/>
              </p:nvSpPr>
              <p:spPr bwMode="auto">
                <a:xfrm>
                  <a:off x="2973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6" name="Line 201"/>
                <p:cNvSpPr>
                  <a:spLocks noChangeShapeType="1"/>
                </p:cNvSpPr>
                <p:nvPr/>
              </p:nvSpPr>
              <p:spPr bwMode="auto">
                <a:xfrm>
                  <a:off x="1820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57" name="Rectangle 202"/>
                <p:cNvSpPr>
                  <a:spLocks noChangeArrowheads="1"/>
                </p:cNvSpPr>
                <p:nvPr/>
              </p:nvSpPr>
              <p:spPr bwMode="auto">
                <a:xfrm>
                  <a:off x="2317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6658" name="Text Box 203"/>
                <p:cNvSpPr txBox="1">
                  <a:spLocks noChangeArrowheads="1"/>
                </p:cNvSpPr>
                <p:nvPr/>
              </p:nvSpPr>
              <p:spPr bwMode="auto">
                <a:xfrm>
                  <a:off x="2348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59" name="Rectangle 204"/>
                <p:cNvSpPr>
                  <a:spLocks noChangeArrowheads="1"/>
                </p:cNvSpPr>
                <p:nvPr/>
              </p:nvSpPr>
              <p:spPr bwMode="auto">
                <a:xfrm>
                  <a:off x="3469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6660" name="Text Box 205"/>
                <p:cNvSpPr txBox="1">
                  <a:spLocks noChangeArrowheads="1"/>
                </p:cNvSpPr>
                <p:nvPr/>
              </p:nvSpPr>
              <p:spPr bwMode="auto">
                <a:xfrm>
                  <a:off x="3500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61" name="Rectangle 206"/>
                <p:cNvSpPr>
                  <a:spLocks noChangeArrowheads="1"/>
                </p:cNvSpPr>
                <p:nvPr/>
              </p:nvSpPr>
              <p:spPr bwMode="auto">
                <a:xfrm>
                  <a:off x="462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26662" name="Text Box 207"/>
                <p:cNvSpPr txBox="1">
                  <a:spLocks noChangeArrowheads="1"/>
                </p:cNvSpPr>
                <p:nvPr/>
              </p:nvSpPr>
              <p:spPr bwMode="auto">
                <a:xfrm>
                  <a:off x="465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63" name="Line 208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64" name="Line 209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65" name="Line 210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66" name="Line 211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67" name="Freeform 212"/>
                <p:cNvSpPr/>
                <p:nvPr/>
              </p:nvSpPr>
              <p:spPr bwMode="auto">
                <a:xfrm>
                  <a:off x="3033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618 h 40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68" name="Freeform 213"/>
                <p:cNvSpPr/>
                <p:nvPr/>
              </p:nvSpPr>
              <p:spPr bwMode="auto">
                <a:xfrm>
                  <a:off x="4185" y="2691"/>
                  <a:ext cx="1" cy="525"/>
                </a:xfrm>
                <a:custGeom>
                  <a:avLst/>
                  <a:gdLst>
                    <a:gd name="T0" fmla="*/ 0 w 1"/>
                    <a:gd name="T1" fmla="*/ 0 h 525"/>
                    <a:gd name="T2" fmla="*/ 0 w 1"/>
                    <a:gd name="T3" fmla="*/ 525 h 52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525">
                      <a:moveTo>
                        <a:pt x="0" y="0"/>
                      </a:moveTo>
                      <a:lnTo>
                        <a:pt x="0" y="52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69" name="Freeform 214"/>
                <p:cNvSpPr/>
                <p:nvPr/>
              </p:nvSpPr>
              <p:spPr bwMode="auto">
                <a:xfrm>
                  <a:off x="5325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618 h 40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70" name="Text Box 215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193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1" name="Text Box 216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69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2" name="Text Box 217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345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3" name="Text Box 218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921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4" name="Text Box 219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496" y="162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5" name="Text Box 220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073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6" name="Text Box 221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649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7" name="Text Box 222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5244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8" name="Text Box 223"/>
                <p:cNvSpPr txBox="1">
                  <a:spLocks noChangeArrowheads="1"/>
                </p:cNvSpPr>
                <p:nvPr/>
              </p:nvSpPr>
              <p:spPr bwMode="auto">
                <a:xfrm>
                  <a:off x="660" y="791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79" name="Text Box 224"/>
                <p:cNvSpPr txBox="1">
                  <a:spLocks noChangeArrowheads="1"/>
                </p:cNvSpPr>
                <p:nvPr/>
              </p:nvSpPr>
              <p:spPr bwMode="auto">
                <a:xfrm>
                  <a:off x="660" y="1383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0" name="Text Box 225"/>
                <p:cNvSpPr txBox="1">
                  <a:spLocks noChangeArrowheads="1"/>
                </p:cNvSpPr>
                <p:nvPr/>
              </p:nvSpPr>
              <p:spPr bwMode="auto">
                <a:xfrm>
                  <a:off x="624" y="19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63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1" name="Line 226"/>
                <p:cNvSpPr>
                  <a:spLocks noChangeShapeType="1"/>
                </p:cNvSpPr>
                <p:nvPr/>
              </p:nvSpPr>
              <p:spPr bwMode="auto">
                <a:xfrm>
                  <a:off x="332" y="2537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82" name="Text Box 227"/>
                <p:cNvSpPr txBox="1">
                  <a:spLocks noChangeArrowheads="1"/>
                </p:cNvSpPr>
                <p:nvPr/>
              </p:nvSpPr>
              <p:spPr bwMode="auto">
                <a:xfrm>
                  <a:off x="660" y="2727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3" name="Text Box 228"/>
                <p:cNvSpPr txBox="1">
                  <a:spLocks noChangeArrowheads="1"/>
                </p:cNvSpPr>
                <p:nvPr/>
              </p:nvSpPr>
              <p:spPr bwMode="auto">
                <a:xfrm>
                  <a:off x="624" y="31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15</a:t>
                  </a:r>
                  <a:endParaRPr lang="zh-CN" altLang="en-US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4" name="Text Box 229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5" name="Text Box 230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2876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6" name="Text Box 231"/>
                <p:cNvSpPr txBox="1">
                  <a:spLocks noChangeArrowheads="1"/>
                </p:cNvSpPr>
                <p:nvPr/>
              </p:nvSpPr>
              <p:spPr bwMode="auto">
                <a:xfrm>
                  <a:off x="348" y="101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行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7" name="Text Box 232"/>
                <p:cNvSpPr txBox="1">
                  <a:spLocks noChangeArrowheads="1"/>
                </p:cNvSpPr>
                <p:nvPr/>
              </p:nvSpPr>
              <p:spPr bwMode="auto">
                <a:xfrm>
                  <a:off x="348" y="126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8" name="Text Box 233"/>
                <p:cNvSpPr txBox="1">
                  <a:spLocks noChangeArrowheads="1"/>
                </p:cNvSpPr>
                <p:nvPr/>
              </p:nvSpPr>
              <p:spPr bwMode="auto">
                <a:xfrm>
                  <a:off x="348" y="151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89" name="Text Box 234"/>
                <p:cNvSpPr txBox="1">
                  <a:spLocks noChangeArrowheads="1"/>
                </p:cNvSpPr>
                <p:nvPr/>
              </p:nvSpPr>
              <p:spPr bwMode="auto">
                <a:xfrm>
                  <a:off x="348" y="175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0" name="Text Box 235"/>
                <p:cNvSpPr txBox="1">
                  <a:spLocks noChangeArrowheads="1"/>
                </p:cNvSpPr>
                <p:nvPr/>
              </p:nvSpPr>
              <p:spPr bwMode="auto">
                <a:xfrm>
                  <a:off x="348" y="200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1" name="Text Box 236"/>
                <p:cNvSpPr txBox="1">
                  <a:spLocks noChangeArrowheads="1"/>
                </p:cNvSpPr>
                <p:nvPr/>
              </p:nvSpPr>
              <p:spPr bwMode="auto">
                <a:xfrm>
                  <a:off x="375" y="263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列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2" name="Text Box 237"/>
                <p:cNvSpPr txBox="1">
                  <a:spLocks noChangeArrowheads="1"/>
                </p:cNvSpPr>
                <p:nvPr/>
              </p:nvSpPr>
              <p:spPr bwMode="auto">
                <a:xfrm>
                  <a:off x="375" y="288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3" name="Text Box 238"/>
                <p:cNvSpPr txBox="1">
                  <a:spLocks noChangeArrowheads="1"/>
                </p:cNvSpPr>
                <p:nvPr/>
              </p:nvSpPr>
              <p:spPr bwMode="auto">
                <a:xfrm>
                  <a:off x="375" y="313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4" name="Text Box 239"/>
                <p:cNvSpPr txBox="1">
                  <a:spLocks noChangeArrowheads="1"/>
                </p:cNvSpPr>
                <p:nvPr/>
              </p:nvSpPr>
              <p:spPr bwMode="auto">
                <a:xfrm>
                  <a:off x="375" y="337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5" name="Text Box 240"/>
                <p:cNvSpPr txBox="1">
                  <a:spLocks noChangeArrowheads="1"/>
                </p:cNvSpPr>
                <p:nvPr/>
              </p:nvSpPr>
              <p:spPr bwMode="auto">
                <a:xfrm>
                  <a:off x="375" y="362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696" name="Line 241"/>
                <p:cNvSpPr>
                  <a:spLocks noChangeShapeType="1"/>
                </p:cNvSpPr>
                <p:nvPr/>
              </p:nvSpPr>
              <p:spPr bwMode="auto">
                <a:xfrm>
                  <a:off x="140" y="905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97" name="Line 242"/>
                <p:cNvSpPr>
                  <a:spLocks noChangeShapeType="1"/>
                </p:cNvSpPr>
                <p:nvPr/>
              </p:nvSpPr>
              <p:spPr bwMode="auto">
                <a:xfrm>
                  <a:off x="140" y="1164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98" name="Line 243"/>
                <p:cNvSpPr>
                  <a:spLocks noChangeShapeType="1"/>
                </p:cNvSpPr>
                <p:nvPr/>
              </p:nvSpPr>
              <p:spPr bwMode="auto">
                <a:xfrm>
                  <a:off x="140" y="1423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699" name="Line 244"/>
                <p:cNvSpPr>
                  <a:spLocks noChangeShapeType="1"/>
                </p:cNvSpPr>
                <p:nvPr/>
              </p:nvSpPr>
              <p:spPr bwMode="auto">
                <a:xfrm>
                  <a:off x="140" y="168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0" name="Line 245"/>
                <p:cNvSpPr>
                  <a:spLocks noChangeShapeType="1"/>
                </p:cNvSpPr>
                <p:nvPr/>
              </p:nvSpPr>
              <p:spPr bwMode="auto">
                <a:xfrm>
                  <a:off x="140" y="194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1" name="Line 246"/>
                <p:cNvSpPr>
                  <a:spLocks noChangeShapeType="1"/>
                </p:cNvSpPr>
                <p:nvPr/>
              </p:nvSpPr>
              <p:spPr bwMode="auto">
                <a:xfrm>
                  <a:off x="140" y="220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2" name="Line 247"/>
                <p:cNvSpPr>
                  <a:spLocks noChangeShapeType="1"/>
                </p:cNvSpPr>
                <p:nvPr/>
              </p:nvSpPr>
              <p:spPr bwMode="auto">
                <a:xfrm>
                  <a:off x="140" y="287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3" name="Line 248"/>
                <p:cNvSpPr>
                  <a:spLocks noChangeShapeType="1"/>
                </p:cNvSpPr>
                <p:nvPr/>
              </p:nvSpPr>
              <p:spPr bwMode="auto">
                <a:xfrm>
                  <a:off x="140" y="313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4" name="Line 249"/>
                <p:cNvSpPr>
                  <a:spLocks noChangeShapeType="1"/>
                </p:cNvSpPr>
                <p:nvPr/>
              </p:nvSpPr>
              <p:spPr bwMode="auto">
                <a:xfrm>
                  <a:off x="140" y="339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5" name="Line 250"/>
                <p:cNvSpPr>
                  <a:spLocks noChangeShapeType="1"/>
                </p:cNvSpPr>
                <p:nvPr/>
              </p:nvSpPr>
              <p:spPr bwMode="auto">
                <a:xfrm>
                  <a:off x="140" y="365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706" name="Line 251"/>
                <p:cNvSpPr>
                  <a:spLocks noChangeShapeType="1"/>
                </p:cNvSpPr>
                <p:nvPr/>
              </p:nvSpPr>
              <p:spPr bwMode="auto">
                <a:xfrm>
                  <a:off x="726" y="4079"/>
                  <a:ext cx="192" cy="0"/>
                </a:xfrm>
                <a:prstGeom prst="line">
                  <a:avLst/>
                </a:prstGeom>
                <a:noFill/>
                <a:ln w="28575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6306" name="Group 252"/>
              <p:cNvGrpSpPr/>
              <p:nvPr/>
            </p:nvGrpSpPr>
            <p:grpSpPr bwMode="auto">
              <a:xfrm>
                <a:off x="140" y="674"/>
                <a:ext cx="196" cy="3010"/>
                <a:chOff x="140" y="674"/>
                <a:chExt cx="196" cy="3010"/>
              </a:xfrm>
            </p:grpSpPr>
            <p:sp>
              <p:nvSpPr>
                <p:cNvPr id="226307" name="Text Box 253"/>
                <p:cNvSpPr txBox="1">
                  <a:spLocks noChangeArrowheads="1"/>
                </p:cNvSpPr>
                <p:nvPr/>
              </p:nvSpPr>
              <p:spPr bwMode="auto">
                <a:xfrm>
                  <a:off x="140" y="67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08" name="Text Box 254"/>
                <p:cNvSpPr txBox="1">
                  <a:spLocks noChangeArrowheads="1"/>
                </p:cNvSpPr>
                <p:nvPr/>
              </p:nvSpPr>
              <p:spPr bwMode="auto">
                <a:xfrm>
                  <a:off x="140" y="933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09" name="Text Box 255"/>
                <p:cNvSpPr txBox="1">
                  <a:spLocks noChangeArrowheads="1"/>
                </p:cNvSpPr>
                <p:nvPr/>
              </p:nvSpPr>
              <p:spPr bwMode="auto">
                <a:xfrm>
                  <a:off x="140" y="119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0" name="Text Box 256"/>
                <p:cNvSpPr txBox="1">
                  <a:spLocks noChangeArrowheads="1"/>
                </p:cNvSpPr>
                <p:nvPr/>
              </p:nvSpPr>
              <p:spPr bwMode="auto">
                <a:xfrm>
                  <a:off x="140" y="145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1" name="Text Box 257"/>
                <p:cNvSpPr txBox="1">
                  <a:spLocks noChangeArrowheads="1"/>
                </p:cNvSpPr>
                <p:nvPr/>
              </p:nvSpPr>
              <p:spPr bwMode="auto">
                <a:xfrm>
                  <a:off x="140" y="171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2" name="Text Box 258"/>
                <p:cNvSpPr txBox="1">
                  <a:spLocks noChangeArrowheads="1"/>
                </p:cNvSpPr>
                <p:nvPr/>
              </p:nvSpPr>
              <p:spPr bwMode="auto">
                <a:xfrm>
                  <a:off x="140" y="197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3" name="Text Box 259"/>
                <p:cNvSpPr txBox="1">
                  <a:spLocks noChangeArrowheads="1"/>
                </p:cNvSpPr>
                <p:nvPr/>
              </p:nvSpPr>
              <p:spPr bwMode="auto">
                <a:xfrm>
                  <a:off x="140" y="265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4" name="Text Box 260"/>
                <p:cNvSpPr txBox="1">
                  <a:spLocks noChangeArrowheads="1"/>
                </p:cNvSpPr>
                <p:nvPr/>
              </p:nvSpPr>
              <p:spPr bwMode="auto">
                <a:xfrm>
                  <a:off x="140" y="291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5" name="Text Box 261"/>
                <p:cNvSpPr txBox="1">
                  <a:spLocks noChangeArrowheads="1"/>
                </p:cNvSpPr>
                <p:nvPr/>
              </p:nvSpPr>
              <p:spPr bwMode="auto">
                <a:xfrm>
                  <a:off x="140" y="317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6316" name="Text Box 262"/>
                <p:cNvSpPr txBox="1">
                  <a:spLocks noChangeArrowheads="1"/>
                </p:cNvSpPr>
                <p:nvPr/>
              </p:nvSpPr>
              <p:spPr bwMode="auto">
                <a:xfrm>
                  <a:off x="140" y="343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40" name="Group 263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41" name="Group 264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6" name="Group 265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57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8" name="Rectangle 267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9" name="Rectangle 268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0" name="Rectangle 269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1" name="Rectangle 270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2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3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6304" name="Rectangle 273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47" name="Group 274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8" name="Freeform 275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Line 276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Line 278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2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3" name="Line 280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4" name="Line 281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5" name="Line 282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6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2" name="Text Box 284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Text Box 285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Text Box 286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Text Box 287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6721" name="Group 288"/>
          <p:cNvGrpSpPr/>
          <p:nvPr/>
        </p:nvGrpSpPr>
        <p:grpSpPr bwMode="auto">
          <a:xfrm>
            <a:off x="2762499" y="4219385"/>
            <a:ext cx="6261100" cy="403225"/>
            <a:chOff x="915" y="2632"/>
            <a:chExt cx="3944" cy="254"/>
          </a:xfrm>
        </p:grpSpPr>
        <p:grpSp>
          <p:nvGrpSpPr>
            <p:cNvPr id="226722" name="Group 289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226755" name="Freeform 290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56" name="Freeform 291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57" name="Freeform 292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58" name="Freeform 293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59" name="Freeform 294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6723" name="Group 295"/>
            <p:cNvGrpSpPr/>
            <p:nvPr/>
          </p:nvGrpSpPr>
          <p:grpSpPr bwMode="auto">
            <a:xfrm>
              <a:off x="1212" y="2632"/>
              <a:ext cx="192" cy="158"/>
              <a:chOff x="1212" y="2632"/>
              <a:chExt cx="192" cy="158"/>
            </a:xfrm>
          </p:grpSpPr>
          <p:grpSp>
            <p:nvGrpSpPr>
              <p:cNvPr id="226748" name="Group 296"/>
              <p:cNvGrpSpPr/>
              <p:nvPr/>
            </p:nvGrpSpPr>
            <p:grpSpPr bwMode="auto">
              <a:xfrm>
                <a:off x="1356" y="2632"/>
                <a:ext cx="48" cy="158"/>
                <a:chOff x="1356" y="2632"/>
                <a:chExt cx="48" cy="158"/>
              </a:xfrm>
            </p:grpSpPr>
            <p:sp>
              <p:nvSpPr>
                <p:cNvPr id="226753" name="Line 297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54" name="Line 298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09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6749" name="Freeform 299"/>
              <p:cNvSpPr/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6750" name="Group 300"/>
              <p:cNvGrpSpPr/>
              <p:nvPr/>
            </p:nvGrpSpPr>
            <p:grpSpPr bwMode="auto">
              <a:xfrm>
                <a:off x="1212" y="2632"/>
                <a:ext cx="48" cy="158"/>
                <a:chOff x="1212" y="2632"/>
                <a:chExt cx="48" cy="158"/>
              </a:xfrm>
            </p:grpSpPr>
            <p:sp>
              <p:nvSpPr>
                <p:cNvPr id="226751" name="Line 301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52" name="Line 302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3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6724" name="Group 303"/>
            <p:cNvGrpSpPr/>
            <p:nvPr/>
          </p:nvGrpSpPr>
          <p:grpSpPr bwMode="auto">
            <a:xfrm>
              <a:off x="2364" y="2634"/>
              <a:ext cx="192" cy="158"/>
              <a:chOff x="2364" y="2634"/>
              <a:chExt cx="192" cy="158"/>
            </a:xfrm>
          </p:grpSpPr>
          <p:grpSp>
            <p:nvGrpSpPr>
              <p:cNvPr id="226741" name="Group 304"/>
              <p:cNvGrpSpPr/>
              <p:nvPr/>
            </p:nvGrpSpPr>
            <p:grpSpPr bwMode="auto">
              <a:xfrm>
                <a:off x="2508" y="2634"/>
                <a:ext cx="48" cy="158"/>
                <a:chOff x="2508" y="2634"/>
                <a:chExt cx="48" cy="158"/>
              </a:xfrm>
            </p:grpSpPr>
            <p:sp>
              <p:nvSpPr>
                <p:cNvPr id="226746" name="Line 305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47" name="Line 306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6742" name="Freeform 307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6743" name="Group 308"/>
              <p:cNvGrpSpPr/>
              <p:nvPr/>
            </p:nvGrpSpPr>
            <p:grpSpPr bwMode="auto">
              <a:xfrm>
                <a:off x="2364" y="2634"/>
                <a:ext cx="48" cy="158"/>
                <a:chOff x="2364" y="2634"/>
                <a:chExt cx="48" cy="158"/>
              </a:xfrm>
            </p:grpSpPr>
            <p:sp>
              <p:nvSpPr>
                <p:cNvPr id="226744" name="Line 309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45" name="Line 310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6725" name="Group 311"/>
            <p:cNvGrpSpPr/>
            <p:nvPr/>
          </p:nvGrpSpPr>
          <p:grpSpPr bwMode="auto">
            <a:xfrm>
              <a:off x="3516" y="2634"/>
              <a:ext cx="192" cy="158"/>
              <a:chOff x="3516" y="2634"/>
              <a:chExt cx="192" cy="158"/>
            </a:xfrm>
          </p:grpSpPr>
          <p:grpSp>
            <p:nvGrpSpPr>
              <p:cNvPr id="226734" name="Group 312"/>
              <p:cNvGrpSpPr/>
              <p:nvPr/>
            </p:nvGrpSpPr>
            <p:grpSpPr bwMode="auto">
              <a:xfrm>
                <a:off x="3660" y="2634"/>
                <a:ext cx="48" cy="158"/>
                <a:chOff x="3660" y="2634"/>
                <a:chExt cx="48" cy="158"/>
              </a:xfrm>
            </p:grpSpPr>
            <p:sp>
              <p:nvSpPr>
                <p:cNvPr id="226739" name="Line 313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40" name="Line 314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6735" name="Freeform 315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6736" name="Group 316"/>
              <p:cNvGrpSpPr/>
              <p:nvPr/>
            </p:nvGrpSpPr>
            <p:grpSpPr bwMode="auto">
              <a:xfrm>
                <a:off x="3516" y="2634"/>
                <a:ext cx="48" cy="158"/>
                <a:chOff x="3516" y="2634"/>
                <a:chExt cx="48" cy="158"/>
              </a:xfrm>
            </p:grpSpPr>
            <p:sp>
              <p:nvSpPr>
                <p:cNvPr id="226737" name="Line 317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38" name="Line 318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6726" name="Group 319"/>
            <p:cNvGrpSpPr/>
            <p:nvPr/>
          </p:nvGrpSpPr>
          <p:grpSpPr bwMode="auto">
            <a:xfrm>
              <a:off x="4667" y="2634"/>
              <a:ext cx="192" cy="158"/>
              <a:chOff x="4667" y="2634"/>
              <a:chExt cx="192" cy="158"/>
            </a:xfrm>
          </p:grpSpPr>
          <p:grpSp>
            <p:nvGrpSpPr>
              <p:cNvPr id="226727" name="Group 320"/>
              <p:cNvGrpSpPr/>
              <p:nvPr/>
            </p:nvGrpSpPr>
            <p:grpSpPr bwMode="auto">
              <a:xfrm>
                <a:off x="4811" y="2634"/>
                <a:ext cx="48" cy="158"/>
                <a:chOff x="4811" y="2634"/>
                <a:chExt cx="48" cy="158"/>
              </a:xfrm>
            </p:grpSpPr>
            <p:sp>
              <p:nvSpPr>
                <p:cNvPr id="226732" name="Line 321"/>
                <p:cNvSpPr>
                  <a:spLocks noChangeShapeType="1"/>
                </p:cNvSpPr>
                <p:nvPr/>
              </p:nvSpPr>
              <p:spPr bwMode="auto">
                <a:xfrm rot="5400000">
                  <a:off x="47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33" name="Line 322"/>
                <p:cNvSpPr>
                  <a:spLocks noChangeShapeType="1"/>
                </p:cNvSpPr>
                <p:nvPr/>
              </p:nvSpPr>
              <p:spPr bwMode="auto">
                <a:xfrm rot="5400000">
                  <a:off x="4763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26728" name="Freeform 323"/>
              <p:cNvSpPr/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26729" name="Group 324"/>
              <p:cNvGrpSpPr/>
              <p:nvPr/>
            </p:nvGrpSpPr>
            <p:grpSpPr bwMode="auto">
              <a:xfrm>
                <a:off x="4667" y="2634"/>
                <a:ext cx="48" cy="158"/>
                <a:chOff x="4667" y="2634"/>
                <a:chExt cx="48" cy="158"/>
              </a:xfrm>
            </p:grpSpPr>
            <p:sp>
              <p:nvSpPr>
                <p:cNvPr id="226730" name="Line 325"/>
                <p:cNvSpPr>
                  <a:spLocks noChangeShapeType="1"/>
                </p:cNvSpPr>
                <p:nvPr/>
              </p:nvSpPr>
              <p:spPr bwMode="auto">
                <a:xfrm rot="-5400000">
                  <a:off x="4588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6731" name="Line 326"/>
                <p:cNvSpPr>
                  <a:spLocks noChangeShapeType="1"/>
                </p:cNvSpPr>
                <p:nvPr/>
              </p:nvSpPr>
              <p:spPr bwMode="auto">
                <a:xfrm rot="-5400000">
                  <a:off x="4667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26760" name="Group 327"/>
          <p:cNvGrpSpPr/>
          <p:nvPr/>
        </p:nvGrpSpPr>
        <p:grpSpPr bwMode="auto">
          <a:xfrm>
            <a:off x="4396036" y="5640198"/>
            <a:ext cx="6057900" cy="336550"/>
            <a:chOff x="1944" y="3527"/>
            <a:chExt cx="3816" cy="212"/>
          </a:xfrm>
        </p:grpSpPr>
        <p:grpSp>
          <p:nvGrpSpPr>
            <p:cNvPr id="226761" name="Group 328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226767" name="Line 329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68" name="Line 330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69" name="Line 331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6770" name="Line 332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6762" name="Group 333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226763" name="Text Box 334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764" name="Text Box 335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765" name="Text Box 336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766" name="Text Box 337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6771" name="Group 338"/>
          <p:cNvGrpSpPr/>
          <p:nvPr/>
        </p:nvGrpSpPr>
        <p:grpSpPr bwMode="auto">
          <a:xfrm>
            <a:off x="2762499" y="2658873"/>
            <a:ext cx="6613525" cy="1963737"/>
            <a:chOff x="915" y="1649"/>
            <a:chExt cx="4166" cy="1237"/>
          </a:xfrm>
        </p:grpSpPr>
        <p:grpSp>
          <p:nvGrpSpPr>
            <p:cNvPr id="226772" name="Group 339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6781" name="Group 340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6814" name="Freeform 341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815" name="Freeform 342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816" name="Freeform 343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817" name="Freeform 344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818" name="Freeform 345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6782" name="Group 346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6807" name="Group 347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812" name="Line 34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813" name="Line 34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6808" name="Freeform 350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6809" name="Group 351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810" name="Line 35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811" name="Line 35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6783" name="Group 354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6800" name="Group 355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805" name="Line 35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806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6801" name="Freeform 358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6802" name="Group 359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803" name="Line 360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804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6784" name="Group 362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6793" name="Group 363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798" name="Line 36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799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6794" name="Freeform 366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6795" name="Group 367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796" name="Line 36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797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6785" name="Group 370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6786" name="Group 371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791" name="Line 37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792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6787" name="Freeform 374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6788" name="Group 375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6789" name="Line 37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6790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6773" name="Rectangle 378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74" name="Text Box 379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75" name="Rectangle 380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76" name="Rectangle 381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77" name="Rectangle 382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78" name="Text Box 383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79" name="Text Box 384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6780" name="Text Box 385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6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822253" y="890315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252091" y="77517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4324028" y="5635353"/>
            <a:ext cx="6057900" cy="336550"/>
            <a:chOff x="1944" y="3527"/>
            <a:chExt cx="3816" cy="212"/>
          </a:xfrm>
        </p:grpSpPr>
        <p:sp>
          <p:nvSpPr>
            <p:cNvPr id="23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4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" name="Group 27"/>
          <p:cNvGrpSpPr/>
          <p:nvPr/>
        </p:nvGrpSpPr>
        <p:grpSpPr bwMode="auto">
          <a:xfrm>
            <a:off x="2266628" y="6211615"/>
            <a:ext cx="565150" cy="366713"/>
            <a:chOff x="648" y="3890"/>
            <a:chExt cx="356" cy="231"/>
          </a:xfrm>
        </p:grpSpPr>
        <p:sp>
          <p:nvSpPr>
            <p:cNvPr id="28" name="Text Box 28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0" name="Group 30"/>
          <p:cNvGrpSpPr/>
          <p:nvPr/>
        </p:nvGrpSpPr>
        <p:grpSpPr bwMode="auto">
          <a:xfrm>
            <a:off x="2298378" y="6427515"/>
            <a:ext cx="509588" cy="396875"/>
            <a:chOff x="668" y="4026"/>
            <a:chExt cx="321" cy="250"/>
          </a:xfrm>
        </p:grpSpPr>
        <p:sp>
          <p:nvSpPr>
            <p:cNvPr id="31" name="Text Box 31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3" name="Group 33"/>
          <p:cNvGrpSpPr/>
          <p:nvPr/>
        </p:nvGrpSpPr>
        <p:grpSpPr bwMode="auto">
          <a:xfrm>
            <a:off x="1460178" y="1106215"/>
            <a:ext cx="8686800" cy="5483225"/>
            <a:chOff x="140" y="674"/>
            <a:chExt cx="5472" cy="3454"/>
          </a:xfrm>
        </p:grpSpPr>
        <p:grpSp>
          <p:nvGrpSpPr>
            <p:cNvPr id="34" name="Group 34"/>
            <p:cNvGrpSpPr/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60" name="Group 35"/>
              <p:cNvGrpSpPr/>
              <p:nvPr/>
            </p:nvGrpSpPr>
            <p:grpSpPr bwMode="auto">
              <a:xfrm>
                <a:off x="140" y="674"/>
                <a:ext cx="5472" cy="3454"/>
                <a:chOff x="140" y="674"/>
                <a:chExt cx="5472" cy="3454"/>
              </a:xfrm>
            </p:grpSpPr>
            <p:grpSp>
              <p:nvGrpSpPr>
                <p:cNvPr id="227685" name="Group 36"/>
                <p:cNvGrpSpPr/>
                <p:nvPr/>
              </p:nvGrpSpPr>
              <p:grpSpPr bwMode="auto">
                <a:xfrm>
                  <a:off x="140" y="713"/>
                  <a:ext cx="5472" cy="3415"/>
                  <a:chOff x="140" y="713"/>
                  <a:chExt cx="5472" cy="3415"/>
                </a:xfrm>
              </p:grpSpPr>
              <p:sp>
                <p:nvSpPr>
                  <p:cNvPr id="227697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332" y="713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7698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9" name="Text Box 3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8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0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1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2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49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3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4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5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4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6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7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8" name="Text Box 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0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09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10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11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2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29" name="Rectangle 5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30" name="Rectangle 5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3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32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33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334" name="Line 5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5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35" name="Line 5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08" y="271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36" name="Freeform 60"/>
                  <p:cNvSpPr/>
                  <p:nvPr/>
                </p:nvSpPr>
                <p:spPr bwMode="auto">
                  <a:xfrm>
                    <a:off x="1260" y="2709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37" name="Line 6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3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38" name="Line 6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2" y="271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39" name="Freeform 63"/>
                  <p:cNvSpPr/>
                  <p:nvPr/>
                </p:nvSpPr>
                <p:spPr bwMode="auto">
                  <a:xfrm>
                    <a:off x="1434" y="2353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0" name="Freeform 64"/>
                  <p:cNvSpPr/>
                  <p:nvPr/>
                </p:nvSpPr>
                <p:spPr bwMode="auto">
                  <a:xfrm>
                    <a:off x="1059" y="1209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1" name="Freeform 65"/>
                  <p:cNvSpPr/>
                  <p:nvPr/>
                </p:nvSpPr>
                <p:spPr bwMode="auto">
                  <a:xfrm>
                    <a:off x="1055" y="2353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2" name="Line 6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96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3" name="Line 6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79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4" name="Freeform 68"/>
                  <p:cNvSpPr/>
                  <p:nvPr/>
                </p:nvSpPr>
                <p:spPr bwMode="auto">
                  <a:xfrm>
                    <a:off x="1831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5" name="Line 6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4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6" name="Line 7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3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7" name="Freeform 71"/>
                  <p:cNvSpPr/>
                  <p:nvPr/>
                </p:nvSpPr>
                <p:spPr bwMode="auto">
                  <a:xfrm>
                    <a:off x="2005" y="2353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49" name="Freeform 72"/>
                  <p:cNvSpPr/>
                  <p:nvPr/>
                </p:nvSpPr>
                <p:spPr bwMode="auto">
                  <a:xfrm>
                    <a:off x="1611" y="2352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0" name="Line 7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7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1" name="Line 7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0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2" name="Freeform 75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3" name="Line 7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4" name="Line 7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4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5" name="Freeform 78"/>
                  <p:cNvSpPr/>
                  <p:nvPr/>
                </p:nvSpPr>
                <p:spPr bwMode="auto">
                  <a:xfrm>
                    <a:off x="2586" y="2353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6" name="Freeform 79"/>
                  <p:cNvSpPr/>
                  <p:nvPr/>
                </p:nvSpPr>
                <p:spPr bwMode="auto">
                  <a:xfrm>
                    <a:off x="2207" y="2353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7" name="Line 8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8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36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59" name="Freeform 82"/>
                  <p:cNvSpPr/>
                  <p:nvPr/>
                </p:nvSpPr>
                <p:spPr bwMode="auto">
                  <a:xfrm>
                    <a:off x="2988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0" name="Line 8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1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1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0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2" name="Freeform 85"/>
                  <p:cNvSpPr/>
                  <p:nvPr/>
                </p:nvSpPr>
                <p:spPr bwMode="auto">
                  <a:xfrm>
                    <a:off x="3162" y="2353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3" name="Freeform 86"/>
                  <p:cNvSpPr/>
                  <p:nvPr/>
                </p:nvSpPr>
                <p:spPr bwMode="auto">
                  <a:xfrm>
                    <a:off x="2783" y="2353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4" name="Line 8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29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5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2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6" name="Freeform 89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7" name="Line 9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3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8" name="Line 9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16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69" name="Freeform 92"/>
                  <p:cNvSpPr/>
                  <p:nvPr/>
                </p:nvSpPr>
                <p:spPr bwMode="auto">
                  <a:xfrm>
                    <a:off x="3751" y="2352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0" name="Freeform 93"/>
                  <p:cNvSpPr/>
                  <p:nvPr/>
                </p:nvSpPr>
                <p:spPr bwMode="auto">
                  <a:xfrm>
                    <a:off x="3359" y="2353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1" name="Line 9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5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2" name="Line 9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88" y="2696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3" name="Freeform 96"/>
                  <p:cNvSpPr/>
                  <p:nvPr/>
                </p:nvSpPr>
                <p:spPr bwMode="auto">
                  <a:xfrm>
                    <a:off x="4140" y="2695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4" name="Line 9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3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5" name="Line 9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2" y="270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6" name="Freeform 99"/>
                  <p:cNvSpPr/>
                  <p:nvPr/>
                </p:nvSpPr>
                <p:spPr bwMode="auto">
                  <a:xfrm>
                    <a:off x="4336" y="2351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77" name="Freeform 100"/>
                  <p:cNvSpPr/>
                  <p:nvPr/>
                </p:nvSpPr>
                <p:spPr bwMode="auto">
                  <a:xfrm>
                    <a:off x="3935" y="2353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7378" name="Group 101"/>
                  <p:cNvGrpSpPr/>
                  <p:nvPr/>
                </p:nvGrpSpPr>
                <p:grpSpPr bwMode="auto">
                  <a:xfrm>
                    <a:off x="4668" y="2634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227782" name="Group 102"/>
                    <p:cNvGrpSpPr/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227787" name="Line 10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7788" name="Line 10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27783" name="Freeform 105"/>
                    <p:cNvSpPr/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27784" name="Group 106"/>
                    <p:cNvGrpSpPr/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227785" name="Line 10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7786" name="Line 10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227379" name="Freeform 109"/>
                  <p:cNvSpPr/>
                  <p:nvPr/>
                </p:nvSpPr>
                <p:spPr bwMode="auto">
                  <a:xfrm>
                    <a:off x="4890" y="2353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0" name="Freeform 110"/>
                  <p:cNvSpPr/>
                  <p:nvPr/>
                </p:nvSpPr>
                <p:spPr bwMode="auto">
                  <a:xfrm>
                    <a:off x="4511" y="2353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7381" name="Group 111"/>
                  <p:cNvGrpSpPr/>
                  <p:nvPr/>
                </p:nvGrpSpPr>
                <p:grpSpPr bwMode="auto">
                  <a:xfrm>
                    <a:off x="5235" y="2634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227775" name="Group 112"/>
                    <p:cNvGrpSpPr/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227780" name="Line 11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7781" name="Line 11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27776" name="Freeform 115"/>
                    <p:cNvSpPr/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27777" name="Group 116"/>
                    <p:cNvGrpSpPr/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227778" name="Line 11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7779" name="Line 11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227382" name="Freeform 119"/>
                  <p:cNvSpPr/>
                  <p:nvPr/>
                </p:nvSpPr>
                <p:spPr bwMode="auto">
                  <a:xfrm>
                    <a:off x="5467" y="2351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3" name="Freeform 120"/>
                  <p:cNvSpPr/>
                  <p:nvPr/>
                </p:nvSpPr>
                <p:spPr bwMode="auto">
                  <a:xfrm>
                    <a:off x="5078" y="2353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4" name="Freeform 121"/>
                  <p:cNvSpPr/>
                  <p:nvPr/>
                </p:nvSpPr>
                <p:spPr bwMode="auto">
                  <a:xfrm>
                    <a:off x="908" y="856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5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6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7" name="Line 124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8" name="Line 125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89" name="Line 126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90" name="Line 127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391" name="Line 128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08" name="Line 129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09" name="Freeform 130"/>
                  <p:cNvSpPr/>
                  <p:nvPr/>
                </p:nvSpPr>
                <p:spPr bwMode="auto">
                  <a:xfrm>
                    <a:off x="1305" y="2708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0" name="Freeform 131"/>
                  <p:cNvSpPr/>
                  <p:nvPr/>
                </p:nvSpPr>
                <p:spPr bwMode="auto">
                  <a:xfrm>
                    <a:off x="1880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1" name="Freeform 132"/>
                  <p:cNvSpPr/>
                  <p:nvPr/>
                </p:nvSpPr>
                <p:spPr bwMode="auto">
                  <a:xfrm>
                    <a:off x="2454" y="2708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2" name="Freeform 133"/>
                  <p:cNvSpPr/>
                  <p:nvPr/>
                </p:nvSpPr>
                <p:spPr bwMode="auto">
                  <a:xfrm>
                    <a:off x="3606" y="2708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3" name="Freeform 134"/>
                  <p:cNvSpPr/>
                  <p:nvPr/>
                </p:nvSpPr>
                <p:spPr bwMode="auto">
                  <a:xfrm>
                    <a:off x="4760" y="2697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4" name="Freeform 135"/>
                  <p:cNvSpPr/>
                  <p:nvPr/>
                </p:nvSpPr>
                <p:spPr bwMode="auto">
                  <a:xfrm>
                    <a:off x="908" y="1480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5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6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7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8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19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0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1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2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3" name="Freeform 144"/>
                  <p:cNvSpPr/>
                  <p:nvPr/>
                </p:nvSpPr>
                <p:spPr bwMode="auto">
                  <a:xfrm>
                    <a:off x="908" y="2056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4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5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6" name="Line 147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7" name="Line 148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8" name="Line 149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29" name="Line 150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0" name="Line 151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1" name="Line 152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2" name="Freeform 153"/>
                  <p:cNvSpPr/>
                  <p:nvPr/>
                </p:nvSpPr>
                <p:spPr bwMode="auto">
                  <a:xfrm>
                    <a:off x="909" y="2879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3" name="Freeform 154"/>
                  <p:cNvSpPr/>
                  <p:nvPr/>
                </p:nvSpPr>
                <p:spPr bwMode="auto">
                  <a:xfrm>
                    <a:off x="912" y="3209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4" name="Rectangle 155"/>
                  <p:cNvSpPr>
                    <a:spLocks noChangeArrowheads="1"/>
                  </p:cNvSpPr>
                  <p:nvPr/>
                </p:nvSpPr>
                <p:spPr bwMode="auto">
                  <a:xfrm>
                    <a:off x="114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39335" name="Text Box 1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336" name="Freeform 157"/>
                  <p:cNvSpPr/>
                  <p:nvPr/>
                </p:nvSpPr>
                <p:spPr bwMode="auto">
                  <a:xfrm>
                    <a:off x="1402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7" name="Freeform 158"/>
                  <p:cNvSpPr/>
                  <p:nvPr/>
                </p:nvSpPr>
                <p:spPr bwMode="auto">
                  <a:xfrm>
                    <a:off x="1613" y="1211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8" name="Freeform 159"/>
                  <p:cNvSpPr/>
                  <p:nvPr/>
                </p:nvSpPr>
                <p:spPr bwMode="auto">
                  <a:xfrm>
                    <a:off x="1967" y="1211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39" name="Freeform 160"/>
                  <p:cNvSpPr/>
                  <p:nvPr/>
                </p:nvSpPr>
                <p:spPr bwMode="auto">
                  <a:xfrm>
                    <a:off x="2208" y="1211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0" name="Freeform 161"/>
                  <p:cNvSpPr/>
                  <p:nvPr/>
                </p:nvSpPr>
                <p:spPr bwMode="auto">
                  <a:xfrm>
                    <a:off x="2557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1" name="Freeform 162"/>
                  <p:cNvSpPr/>
                  <p:nvPr/>
                </p:nvSpPr>
                <p:spPr bwMode="auto">
                  <a:xfrm>
                    <a:off x="2787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2" name="Freeform 163"/>
                  <p:cNvSpPr/>
                  <p:nvPr/>
                </p:nvSpPr>
                <p:spPr bwMode="auto">
                  <a:xfrm>
                    <a:off x="3130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3" name="Freeform 164"/>
                  <p:cNvSpPr/>
                  <p:nvPr/>
                </p:nvSpPr>
                <p:spPr bwMode="auto">
                  <a:xfrm>
                    <a:off x="3360" y="1209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4" name="Freeform 165"/>
                  <p:cNvSpPr/>
                  <p:nvPr/>
                </p:nvSpPr>
                <p:spPr bwMode="auto">
                  <a:xfrm>
                    <a:off x="3710" y="1211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5" name="Freeform 166"/>
                  <p:cNvSpPr/>
                  <p:nvPr/>
                </p:nvSpPr>
                <p:spPr bwMode="auto">
                  <a:xfrm>
                    <a:off x="3939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6" name="Freeform 167"/>
                  <p:cNvSpPr/>
                  <p:nvPr/>
                </p:nvSpPr>
                <p:spPr bwMode="auto">
                  <a:xfrm>
                    <a:off x="4280" y="1211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7" name="Freeform 168"/>
                  <p:cNvSpPr/>
                  <p:nvPr/>
                </p:nvSpPr>
                <p:spPr bwMode="auto">
                  <a:xfrm>
                    <a:off x="4509" y="1211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8" name="Freeform 169"/>
                  <p:cNvSpPr/>
                  <p:nvPr/>
                </p:nvSpPr>
                <p:spPr bwMode="auto">
                  <a:xfrm>
                    <a:off x="4861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49" name="Freeform 170"/>
                  <p:cNvSpPr/>
                  <p:nvPr/>
                </p:nvSpPr>
                <p:spPr bwMode="auto">
                  <a:xfrm>
                    <a:off x="5069" y="1211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0" name="Freeform 171"/>
                  <p:cNvSpPr/>
                  <p:nvPr/>
                </p:nvSpPr>
                <p:spPr bwMode="auto">
                  <a:xfrm>
                    <a:off x="5417" y="1211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1" name="Freeform 172"/>
                  <p:cNvSpPr/>
                  <p:nvPr/>
                </p:nvSpPr>
                <p:spPr bwMode="auto">
                  <a:xfrm>
                    <a:off x="1055" y="2738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2" name="Freeform 173"/>
                  <p:cNvSpPr/>
                  <p:nvPr/>
                </p:nvSpPr>
                <p:spPr bwMode="auto">
                  <a:xfrm>
                    <a:off x="2207" y="2744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3" name="Freeform 174"/>
                  <p:cNvSpPr/>
                  <p:nvPr/>
                </p:nvSpPr>
                <p:spPr bwMode="auto">
                  <a:xfrm>
                    <a:off x="3356" y="2744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4" name="Freeform 175"/>
                  <p:cNvSpPr/>
                  <p:nvPr/>
                </p:nvSpPr>
                <p:spPr bwMode="auto">
                  <a:xfrm>
                    <a:off x="4508" y="2744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5" name="Freeform 176"/>
                  <p:cNvSpPr/>
                  <p:nvPr/>
                </p:nvSpPr>
                <p:spPr bwMode="auto">
                  <a:xfrm>
                    <a:off x="1400" y="2735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6" name="Freeform 177"/>
                  <p:cNvSpPr/>
                  <p:nvPr/>
                </p:nvSpPr>
                <p:spPr bwMode="auto">
                  <a:xfrm>
                    <a:off x="2552" y="2735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7" name="Freeform 178"/>
                  <p:cNvSpPr/>
                  <p:nvPr/>
                </p:nvSpPr>
                <p:spPr bwMode="auto">
                  <a:xfrm>
                    <a:off x="3704" y="2738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8" name="Freeform 179"/>
                  <p:cNvSpPr/>
                  <p:nvPr/>
                </p:nvSpPr>
                <p:spPr bwMode="auto">
                  <a:xfrm>
                    <a:off x="4859" y="2738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359" name="Freeform 180"/>
                  <p:cNvSpPr/>
                  <p:nvPr/>
                </p:nvSpPr>
                <p:spPr bwMode="auto">
                  <a:xfrm>
                    <a:off x="1322" y="3398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8912" name="Freeform 181"/>
                  <p:cNvSpPr/>
                  <p:nvPr/>
                </p:nvSpPr>
                <p:spPr bwMode="auto">
                  <a:xfrm>
                    <a:off x="2491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8913" name="Freeform 182"/>
                  <p:cNvSpPr/>
                  <p:nvPr/>
                </p:nvSpPr>
                <p:spPr bwMode="auto">
                  <a:xfrm>
                    <a:off x="3643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8915" name="Freeform 183"/>
                  <p:cNvSpPr/>
                  <p:nvPr/>
                </p:nvSpPr>
                <p:spPr bwMode="auto">
                  <a:xfrm>
                    <a:off x="4795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8922" name="Freeform 184"/>
                  <p:cNvSpPr/>
                  <p:nvPr/>
                </p:nvSpPr>
                <p:spPr bwMode="auto">
                  <a:xfrm>
                    <a:off x="5276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2" name="Freeform 185"/>
                  <p:cNvSpPr/>
                  <p:nvPr/>
                </p:nvSpPr>
                <p:spPr bwMode="auto">
                  <a:xfrm>
                    <a:off x="4124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3" name="Freeform 186"/>
                  <p:cNvSpPr/>
                  <p:nvPr/>
                </p:nvSpPr>
                <p:spPr bwMode="auto">
                  <a:xfrm>
                    <a:off x="2972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4" name="Freeform 187"/>
                  <p:cNvSpPr/>
                  <p:nvPr/>
                </p:nvSpPr>
                <p:spPr bwMode="auto">
                  <a:xfrm>
                    <a:off x="1819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5" name="Freeform 188"/>
                  <p:cNvSpPr/>
                  <p:nvPr/>
                </p:nvSpPr>
                <p:spPr bwMode="auto">
                  <a:xfrm>
                    <a:off x="956" y="4025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6" name="Freeform 189"/>
                  <p:cNvSpPr/>
                  <p:nvPr/>
                </p:nvSpPr>
                <p:spPr bwMode="auto">
                  <a:xfrm>
                    <a:off x="956" y="4121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7" name="Freeform 190"/>
                  <p:cNvSpPr/>
                  <p:nvPr/>
                </p:nvSpPr>
                <p:spPr bwMode="auto">
                  <a:xfrm>
                    <a:off x="1322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8" name="Freeform 191"/>
                  <p:cNvSpPr/>
                  <p:nvPr/>
                </p:nvSpPr>
                <p:spPr bwMode="auto">
                  <a:xfrm>
                    <a:off x="2491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19" name="Freeform 192"/>
                  <p:cNvSpPr/>
                  <p:nvPr/>
                </p:nvSpPr>
                <p:spPr bwMode="auto">
                  <a:xfrm>
                    <a:off x="3643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20" name="Freeform 193"/>
                  <p:cNvSpPr/>
                  <p:nvPr/>
                </p:nvSpPr>
                <p:spPr bwMode="auto">
                  <a:xfrm>
                    <a:off x="4791" y="3881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21" name="Freeform 194"/>
                  <p:cNvSpPr/>
                  <p:nvPr/>
                </p:nvSpPr>
                <p:spPr bwMode="auto">
                  <a:xfrm>
                    <a:off x="5277" y="3881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22" name="Line 195"/>
                  <p:cNvSpPr>
                    <a:spLocks noChangeShapeType="1"/>
                  </p:cNvSpPr>
                  <p:nvPr/>
                </p:nvSpPr>
                <p:spPr bwMode="auto">
                  <a:xfrm>
                    <a:off x="4124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23" name="Line 196"/>
                  <p:cNvSpPr>
                    <a:spLocks noChangeShapeType="1"/>
                  </p:cNvSpPr>
                  <p:nvPr/>
                </p:nvSpPr>
                <p:spPr bwMode="auto">
                  <a:xfrm>
                    <a:off x="2973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24" name="Line 197"/>
                  <p:cNvSpPr>
                    <a:spLocks noChangeShapeType="1"/>
                  </p:cNvSpPr>
                  <p:nvPr/>
                </p:nvSpPr>
                <p:spPr bwMode="auto">
                  <a:xfrm>
                    <a:off x="1820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25" name="Rectangle 198"/>
                  <p:cNvSpPr>
                    <a:spLocks noChangeArrowheads="1"/>
                  </p:cNvSpPr>
                  <p:nvPr/>
                </p:nvSpPr>
                <p:spPr bwMode="auto">
                  <a:xfrm>
                    <a:off x="2317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7726" name="Text Box 19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48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27" name="Rectangle 200"/>
                  <p:cNvSpPr>
                    <a:spLocks noChangeArrowheads="1"/>
                  </p:cNvSpPr>
                  <p:nvPr/>
                </p:nvSpPr>
                <p:spPr bwMode="auto">
                  <a:xfrm>
                    <a:off x="3469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7728" name="Text Box 20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0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29" name="Rectangle 202"/>
                  <p:cNvSpPr>
                    <a:spLocks noChangeArrowheads="1"/>
                  </p:cNvSpPr>
                  <p:nvPr/>
                </p:nvSpPr>
                <p:spPr bwMode="auto">
                  <a:xfrm>
                    <a:off x="462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7730" name="Text Box 20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31" name="Line 204"/>
                  <p:cNvSpPr>
                    <a:spLocks noChangeShapeType="1"/>
                  </p:cNvSpPr>
                  <p:nvPr/>
                </p:nvSpPr>
                <p:spPr bwMode="auto">
                  <a:xfrm>
                    <a:off x="196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2" name="Line 205"/>
                  <p:cNvSpPr>
                    <a:spLocks noChangeShapeType="1"/>
                  </p:cNvSpPr>
                  <p:nvPr/>
                </p:nvSpPr>
                <p:spPr bwMode="auto">
                  <a:xfrm>
                    <a:off x="314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3" name="Line 206"/>
                  <p:cNvSpPr>
                    <a:spLocks noChangeShapeType="1"/>
                  </p:cNvSpPr>
                  <p:nvPr/>
                </p:nvSpPr>
                <p:spPr bwMode="auto">
                  <a:xfrm>
                    <a:off x="4293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4" name="Line 207"/>
                  <p:cNvSpPr>
                    <a:spLocks noChangeShapeType="1"/>
                  </p:cNvSpPr>
                  <p:nvPr/>
                </p:nvSpPr>
                <p:spPr bwMode="auto">
                  <a:xfrm>
                    <a:off x="5420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5" name="Freeform 208"/>
                  <p:cNvSpPr/>
                  <p:nvPr/>
                </p:nvSpPr>
                <p:spPr bwMode="auto">
                  <a:xfrm>
                    <a:off x="3033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6" name="Freeform 209"/>
                  <p:cNvSpPr/>
                  <p:nvPr/>
                </p:nvSpPr>
                <p:spPr bwMode="auto">
                  <a:xfrm>
                    <a:off x="4185" y="2691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7" name="Freeform 210"/>
                  <p:cNvSpPr/>
                  <p:nvPr/>
                </p:nvSpPr>
                <p:spPr bwMode="auto">
                  <a:xfrm>
                    <a:off x="5325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38" name="Text Box 211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3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39" name="Text Box 212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69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0" name="Text Box 213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5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1" name="Text Box 214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1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2" name="Text Box 21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496" y="1627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3" name="Text Box 21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3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4" name="Text Box 217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49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5" name="Text Box 218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4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6" name="Text Box 21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79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7" name="Text Box 2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1383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8" name="Text Box 22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19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49" name="Line 222"/>
                  <p:cNvSpPr>
                    <a:spLocks noChangeShapeType="1"/>
                  </p:cNvSpPr>
                  <p:nvPr/>
                </p:nvSpPr>
                <p:spPr bwMode="auto">
                  <a:xfrm>
                    <a:off x="332" y="2537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50" name="Text Box 2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2727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1" name="Text Box 2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31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2" name="Text Box 22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3" name="Text Box 22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287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4" name="Text Box 2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01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行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5" name="Text Box 2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26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6" name="Text Box 2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51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7" name="Text Box 2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75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8" name="Text Box 23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200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59" name="Text Box 23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63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列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60" name="Text Box 2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88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61" name="Text Box 2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13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62" name="Text Box 23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37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63" name="Text Box 2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62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764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905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65" name="Line 238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164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66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42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67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68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68" name="Line 241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94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69" name="Line 242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20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70" name="Line 243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87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71" name="Line 244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13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72" name="Line 245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39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73" name="Line 246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65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774" name="Line 247"/>
                  <p:cNvSpPr>
                    <a:spLocks noChangeShapeType="1"/>
                  </p:cNvSpPr>
                  <p:nvPr/>
                </p:nvSpPr>
                <p:spPr bwMode="auto">
                  <a:xfrm>
                    <a:off x="726" y="4079"/>
                    <a:ext cx="192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27686" name="Group 248"/>
                <p:cNvGrpSpPr/>
                <p:nvPr/>
              </p:nvGrpSpPr>
              <p:grpSpPr bwMode="auto">
                <a:xfrm>
                  <a:off x="140" y="674"/>
                  <a:ext cx="196" cy="3010"/>
                  <a:chOff x="140" y="674"/>
                  <a:chExt cx="196" cy="3010"/>
                </a:xfrm>
              </p:grpSpPr>
              <p:sp>
                <p:nvSpPr>
                  <p:cNvPr id="227687" name="Text Box 24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88" name="Text Box 2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89" name="Text Box 25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0" name="Text Box 2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1" name="Text Box 2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2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3" name="Text Box 25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4" name="Text Box 2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5" name="Text Box 25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696" name="Text Box 25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</p:grpSp>
          <p:grpSp>
            <p:nvGrpSpPr>
              <p:cNvPr id="61" name="Group 259"/>
              <p:cNvGrpSpPr/>
              <p:nvPr/>
            </p:nvGrpSpPr>
            <p:grpSpPr bwMode="auto">
              <a:xfrm>
                <a:off x="915" y="2632"/>
                <a:ext cx="3944" cy="254"/>
                <a:chOff x="915" y="2632"/>
                <a:chExt cx="3944" cy="254"/>
              </a:xfrm>
            </p:grpSpPr>
            <p:grpSp>
              <p:nvGrpSpPr>
                <p:cNvPr id="62" name="Group 260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227680" name="Freeform 261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681" name="Freeform 262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682" name="Freeform 263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683" name="Freeform 264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684" name="Freeform 265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3" name="Group 266"/>
                <p:cNvGrpSpPr/>
                <p:nvPr/>
              </p:nvGrpSpPr>
              <p:grpSpPr bwMode="auto">
                <a:xfrm>
                  <a:off x="1212" y="2632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227673" name="Group 267"/>
                  <p:cNvGrpSpPr/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227678" name="Line 26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79" name="Line 26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7674" name="Freeform 270"/>
                  <p:cNvSpPr/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7675" name="Group 271"/>
                  <p:cNvGrpSpPr/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227676" name="Line 27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77" name="Line 27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227648" name="Group 274"/>
                <p:cNvGrpSpPr/>
                <p:nvPr/>
              </p:nvGrpSpPr>
              <p:grpSpPr bwMode="auto">
                <a:xfrm>
                  <a:off x="2364" y="2634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227666" name="Group 275"/>
                  <p:cNvGrpSpPr/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227671" name="Line 276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72" name="Line 27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7667" name="Freeform 278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7668" name="Group 279"/>
                  <p:cNvGrpSpPr/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227669" name="Line 28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70" name="Line 28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227649" name="Group 282"/>
                <p:cNvGrpSpPr/>
                <p:nvPr/>
              </p:nvGrpSpPr>
              <p:grpSpPr bwMode="auto">
                <a:xfrm>
                  <a:off x="3516" y="2634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227658" name="Group 283"/>
                  <p:cNvGrpSpPr/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227664" name="Line 28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65" name="Line 285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7659" name="Freeform 286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7660" name="Group 287"/>
                  <p:cNvGrpSpPr/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227661" name="Line 28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63" name="Line 289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227650" name="Group 290"/>
                <p:cNvGrpSpPr/>
                <p:nvPr/>
              </p:nvGrpSpPr>
              <p:grpSpPr bwMode="auto">
                <a:xfrm>
                  <a:off x="4667" y="2634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227651" name="Group 291"/>
                  <p:cNvGrpSpPr/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227656" name="Line 29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57" name="Line 29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7652" name="Freeform 294"/>
                  <p:cNvSpPr/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7653" name="Group 295"/>
                  <p:cNvGrpSpPr/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227654" name="Line 29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7655" name="Line 29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  <p:grpSp>
          <p:nvGrpSpPr>
            <p:cNvPr id="35" name="Group 298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6" name="Group 299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1" name="Group 300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52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3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4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5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6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7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8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9" name="Rectangle 308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42" name="Group 309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3" name="Freeform 310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4" name="Line 311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5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6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7" name="Line 314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8" name="Line 315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Line 317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Line 318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7" name="Text Box 319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Text Box 320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Text Box 321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" name="Text Box 322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7789" name="Group 323"/>
          <p:cNvGrpSpPr/>
          <p:nvPr/>
        </p:nvGrpSpPr>
        <p:grpSpPr bwMode="auto">
          <a:xfrm>
            <a:off x="4324028" y="5635353"/>
            <a:ext cx="6057900" cy="336550"/>
            <a:chOff x="1944" y="3527"/>
            <a:chExt cx="3816" cy="212"/>
          </a:xfrm>
        </p:grpSpPr>
        <p:grpSp>
          <p:nvGrpSpPr>
            <p:cNvPr id="227790" name="Group 324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227796" name="Line 325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7797" name="Line 326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7798" name="Line 327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7799" name="Line 328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7791" name="Group 329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227792" name="Text Box 330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793" name="Text Box 331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794" name="Text Box 332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795" name="Text Box 333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7800" name="Group 334"/>
          <p:cNvGrpSpPr/>
          <p:nvPr/>
        </p:nvGrpSpPr>
        <p:grpSpPr bwMode="auto">
          <a:xfrm>
            <a:off x="3050853" y="5665515"/>
            <a:ext cx="6832600" cy="533400"/>
            <a:chOff x="1142" y="3546"/>
            <a:chExt cx="4304" cy="336"/>
          </a:xfrm>
        </p:grpSpPr>
        <p:grpSp>
          <p:nvGrpSpPr>
            <p:cNvPr id="227801" name="Group 335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227811" name="Rectangle 336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7812" name="Text Box 337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7802" name="Group 338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227809" name="Rectangle 339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7810" name="Text Box 340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7803" name="Group 341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227807" name="Rectangle 342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7808" name="Text Box 343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7804" name="Group 344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227805" name="Rectangle 345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7806" name="Text Box 346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7813" name="Group 347"/>
          <p:cNvGrpSpPr/>
          <p:nvPr/>
        </p:nvGrpSpPr>
        <p:grpSpPr bwMode="auto">
          <a:xfrm>
            <a:off x="2690491" y="2654028"/>
            <a:ext cx="6613525" cy="1963737"/>
            <a:chOff x="915" y="1649"/>
            <a:chExt cx="4166" cy="1237"/>
          </a:xfrm>
        </p:grpSpPr>
        <p:grpSp>
          <p:nvGrpSpPr>
            <p:cNvPr id="227814" name="Group 348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7823" name="Group 349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7856" name="Freeform 350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7857" name="Freeform 351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7858" name="Freeform 352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7859" name="Freeform 353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7860" name="Freeform 354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7824" name="Group 355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7849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54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55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7850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7851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52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53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7825" name="Group 363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7842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47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48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7843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7844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45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46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7826" name="Group 371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7835" name="Group 37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40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41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7836" name="Freeform 37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7837" name="Group 37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38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39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7827" name="Group 379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7828" name="Group 38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33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34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7829" name="Freeform 38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7830" name="Group 38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7831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7832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7815" name="Rectangle 387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16" name="Text Box 388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17" name="Rectangle 389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18" name="Rectangle 390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19" name="Rectangle 391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20" name="Text Box 392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21" name="Text Box 393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7822" name="Text Box 394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7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966269" y="841625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222446" y="39899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4468044" y="5586663"/>
            <a:ext cx="6057900" cy="336550"/>
            <a:chOff x="1944" y="3527"/>
            <a:chExt cx="3816" cy="212"/>
          </a:xfrm>
        </p:grpSpPr>
        <p:sp>
          <p:nvSpPr>
            <p:cNvPr id="23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4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" name="Group 27"/>
          <p:cNvGrpSpPr/>
          <p:nvPr/>
        </p:nvGrpSpPr>
        <p:grpSpPr bwMode="auto">
          <a:xfrm>
            <a:off x="2410644" y="6162925"/>
            <a:ext cx="565150" cy="366713"/>
            <a:chOff x="648" y="3890"/>
            <a:chExt cx="356" cy="231"/>
          </a:xfrm>
        </p:grpSpPr>
        <p:sp>
          <p:nvSpPr>
            <p:cNvPr id="28" name="Text Box 28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0" name="Group 30"/>
          <p:cNvGrpSpPr/>
          <p:nvPr/>
        </p:nvGrpSpPr>
        <p:grpSpPr bwMode="auto">
          <a:xfrm>
            <a:off x="2442394" y="6378825"/>
            <a:ext cx="509588" cy="396875"/>
            <a:chOff x="668" y="4026"/>
            <a:chExt cx="321" cy="250"/>
          </a:xfrm>
        </p:grpSpPr>
        <p:sp>
          <p:nvSpPr>
            <p:cNvPr id="31" name="Text Box 31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3" name="Group 33"/>
          <p:cNvGrpSpPr/>
          <p:nvPr/>
        </p:nvGrpSpPr>
        <p:grpSpPr bwMode="auto">
          <a:xfrm>
            <a:off x="1604194" y="1057525"/>
            <a:ext cx="8686800" cy="5483225"/>
            <a:chOff x="140" y="674"/>
            <a:chExt cx="5472" cy="3454"/>
          </a:xfrm>
        </p:grpSpPr>
        <p:grpSp>
          <p:nvGrpSpPr>
            <p:cNvPr id="34" name="Group 34"/>
            <p:cNvGrpSpPr/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60" name="Group 35"/>
              <p:cNvGrpSpPr/>
              <p:nvPr/>
            </p:nvGrpSpPr>
            <p:grpSpPr bwMode="auto">
              <a:xfrm>
                <a:off x="140" y="674"/>
                <a:ext cx="5472" cy="3454"/>
                <a:chOff x="140" y="674"/>
                <a:chExt cx="5472" cy="3454"/>
              </a:xfrm>
            </p:grpSpPr>
            <p:grpSp>
              <p:nvGrpSpPr>
                <p:cNvPr id="40380" name="Group 36"/>
                <p:cNvGrpSpPr/>
                <p:nvPr/>
              </p:nvGrpSpPr>
              <p:grpSpPr bwMode="auto">
                <a:xfrm>
                  <a:off x="140" y="713"/>
                  <a:ext cx="5472" cy="3415"/>
                  <a:chOff x="140" y="713"/>
                  <a:chExt cx="5472" cy="3415"/>
                </a:xfrm>
              </p:grpSpPr>
              <p:sp>
                <p:nvSpPr>
                  <p:cNvPr id="228676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332" y="713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8677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78" name="Text Box 3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8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79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0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1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49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2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3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4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4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5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6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7" name="Text Box 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0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8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89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0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1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2" name="Rectangle 5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3" name="Rectangle 5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4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5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6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97" name="Line 5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5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698" name="Line 5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08" y="271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699" name="Freeform 60"/>
                  <p:cNvSpPr/>
                  <p:nvPr/>
                </p:nvSpPr>
                <p:spPr bwMode="auto">
                  <a:xfrm>
                    <a:off x="1260" y="2709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1" name="Line 6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3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2" name="Line 6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2" y="271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3" name="Freeform 63"/>
                  <p:cNvSpPr/>
                  <p:nvPr/>
                </p:nvSpPr>
                <p:spPr bwMode="auto">
                  <a:xfrm>
                    <a:off x="1434" y="2353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4" name="Freeform 64"/>
                  <p:cNvSpPr/>
                  <p:nvPr/>
                </p:nvSpPr>
                <p:spPr bwMode="auto">
                  <a:xfrm>
                    <a:off x="1059" y="1209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5" name="Freeform 65"/>
                  <p:cNvSpPr/>
                  <p:nvPr/>
                </p:nvSpPr>
                <p:spPr bwMode="auto">
                  <a:xfrm>
                    <a:off x="1055" y="2353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6" name="Line 6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96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7" name="Line 6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79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8" name="Freeform 68"/>
                  <p:cNvSpPr/>
                  <p:nvPr/>
                </p:nvSpPr>
                <p:spPr bwMode="auto">
                  <a:xfrm>
                    <a:off x="1831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09" name="Line 6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4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0" name="Line 7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3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1" name="Freeform 71"/>
                  <p:cNvSpPr/>
                  <p:nvPr/>
                </p:nvSpPr>
                <p:spPr bwMode="auto">
                  <a:xfrm>
                    <a:off x="2005" y="2353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2" name="Freeform 72"/>
                  <p:cNvSpPr/>
                  <p:nvPr/>
                </p:nvSpPr>
                <p:spPr bwMode="auto">
                  <a:xfrm>
                    <a:off x="1611" y="2352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3" name="Line 7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7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4" name="Line 7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0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5" name="Freeform 75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6" name="Line 7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7" name="Line 7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4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8" name="Freeform 78"/>
                  <p:cNvSpPr/>
                  <p:nvPr/>
                </p:nvSpPr>
                <p:spPr bwMode="auto">
                  <a:xfrm>
                    <a:off x="2586" y="2353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19" name="Freeform 79"/>
                  <p:cNvSpPr/>
                  <p:nvPr/>
                </p:nvSpPr>
                <p:spPr bwMode="auto">
                  <a:xfrm>
                    <a:off x="2207" y="2353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0" name="Line 8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1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36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2" name="Freeform 82"/>
                  <p:cNvSpPr/>
                  <p:nvPr/>
                </p:nvSpPr>
                <p:spPr bwMode="auto">
                  <a:xfrm>
                    <a:off x="2988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3" name="Line 8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1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4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0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5" name="Freeform 85"/>
                  <p:cNvSpPr/>
                  <p:nvPr/>
                </p:nvSpPr>
                <p:spPr bwMode="auto">
                  <a:xfrm>
                    <a:off x="3162" y="2353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6" name="Freeform 86"/>
                  <p:cNvSpPr/>
                  <p:nvPr/>
                </p:nvSpPr>
                <p:spPr bwMode="auto">
                  <a:xfrm>
                    <a:off x="2783" y="2353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7" name="Line 8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29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8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2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29" name="Freeform 89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0" name="Line 9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3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1" name="Line 9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16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2" name="Freeform 92"/>
                  <p:cNvSpPr/>
                  <p:nvPr/>
                </p:nvSpPr>
                <p:spPr bwMode="auto">
                  <a:xfrm>
                    <a:off x="3751" y="2352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3" name="Freeform 93"/>
                  <p:cNvSpPr/>
                  <p:nvPr/>
                </p:nvSpPr>
                <p:spPr bwMode="auto">
                  <a:xfrm>
                    <a:off x="3359" y="2353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4" name="Line 9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5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5" name="Line 9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88" y="2696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52" name="Freeform 96"/>
                  <p:cNvSpPr/>
                  <p:nvPr/>
                </p:nvSpPr>
                <p:spPr bwMode="auto">
                  <a:xfrm>
                    <a:off x="4140" y="2695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53" name="Line 9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3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54" name="Line 9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2" y="270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55" name="Freeform 99"/>
                  <p:cNvSpPr/>
                  <p:nvPr/>
                </p:nvSpPr>
                <p:spPr bwMode="auto">
                  <a:xfrm>
                    <a:off x="4336" y="2351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56" name="Freeform 100"/>
                  <p:cNvSpPr/>
                  <p:nvPr/>
                </p:nvSpPr>
                <p:spPr bwMode="auto">
                  <a:xfrm>
                    <a:off x="3935" y="2353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8357" name="Group 101"/>
                  <p:cNvGrpSpPr/>
                  <p:nvPr/>
                </p:nvGrpSpPr>
                <p:grpSpPr bwMode="auto">
                  <a:xfrm>
                    <a:off x="4668" y="2634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228818" name="Group 102"/>
                    <p:cNvGrpSpPr/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228823" name="Line 10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8824" name="Line 10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28819" name="Freeform 105"/>
                    <p:cNvSpPr/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28820" name="Group 106"/>
                    <p:cNvGrpSpPr/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228821" name="Line 10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8822" name="Line 10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228358" name="Freeform 109"/>
                  <p:cNvSpPr/>
                  <p:nvPr/>
                </p:nvSpPr>
                <p:spPr bwMode="auto">
                  <a:xfrm>
                    <a:off x="4890" y="2353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59" name="Freeform 110"/>
                  <p:cNvSpPr/>
                  <p:nvPr/>
                </p:nvSpPr>
                <p:spPr bwMode="auto">
                  <a:xfrm>
                    <a:off x="4511" y="2353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8360" name="Group 111"/>
                  <p:cNvGrpSpPr/>
                  <p:nvPr/>
                </p:nvGrpSpPr>
                <p:grpSpPr bwMode="auto">
                  <a:xfrm>
                    <a:off x="5235" y="2634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228811" name="Group 112"/>
                    <p:cNvGrpSpPr/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228816" name="Line 11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8817" name="Line 11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28812" name="Freeform 115"/>
                    <p:cNvSpPr/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28813" name="Group 116"/>
                    <p:cNvGrpSpPr/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228814" name="Line 11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8815" name="Line 11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228361" name="Freeform 119"/>
                  <p:cNvSpPr/>
                  <p:nvPr/>
                </p:nvSpPr>
                <p:spPr bwMode="auto">
                  <a:xfrm>
                    <a:off x="5467" y="2351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2" name="Freeform 120"/>
                  <p:cNvSpPr/>
                  <p:nvPr/>
                </p:nvSpPr>
                <p:spPr bwMode="auto">
                  <a:xfrm>
                    <a:off x="5078" y="2353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3" name="Freeform 121"/>
                  <p:cNvSpPr/>
                  <p:nvPr/>
                </p:nvSpPr>
                <p:spPr bwMode="auto">
                  <a:xfrm>
                    <a:off x="908" y="856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4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5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6" name="Line 124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7" name="Line 125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8" name="Line 126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69" name="Line 127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0" name="Line 128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1" name="Line 129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3" name="Freeform 130"/>
                  <p:cNvSpPr/>
                  <p:nvPr/>
                </p:nvSpPr>
                <p:spPr bwMode="auto">
                  <a:xfrm>
                    <a:off x="1305" y="2708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4" name="Freeform 131"/>
                  <p:cNvSpPr/>
                  <p:nvPr/>
                </p:nvSpPr>
                <p:spPr bwMode="auto">
                  <a:xfrm>
                    <a:off x="1880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5" name="Freeform 132"/>
                  <p:cNvSpPr/>
                  <p:nvPr/>
                </p:nvSpPr>
                <p:spPr bwMode="auto">
                  <a:xfrm>
                    <a:off x="2454" y="2708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6" name="Freeform 133"/>
                  <p:cNvSpPr/>
                  <p:nvPr/>
                </p:nvSpPr>
                <p:spPr bwMode="auto">
                  <a:xfrm>
                    <a:off x="3606" y="2708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7" name="Freeform 134"/>
                  <p:cNvSpPr/>
                  <p:nvPr/>
                </p:nvSpPr>
                <p:spPr bwMode="auto">
                  <a:xfrm>
                    <a:off x="4760" y="2697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8" name="Freeform 135"/>
                  <p:cNvSpPr/>
                  <p:nvPr/>
                </p:nvSpPr>
                <p:spPr bwMode="auto">
                  <a:xfrm>
                    <a:off x="908" y="1480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79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0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1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2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3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4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5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6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7" name="Freeform 144"/>
                  <p:cNvSpPr/>
                  <p:nvPr/>
                </p:nvSpPr>
                <p:spPr bwMode="auto">
                  <a:xfrm>
                    <a:off x="908" y="2056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8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89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0" name="Line 147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1" name="Line 148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2" name="Line 149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3" name="Line 150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4" name="Line 151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5" name="Line 152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6" name="Freeform 153"/>
                  <p:cNvSpPr/>
                  <p:nvPr/>
                </p:nvSpPr>
                <p:spPr bwMode="auto">
                  <a:xfrm>
                    <a:off x="909" y="2879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7" name="Freeform 154"/>
                  <p:cNvSpPr/>
                  <p:nvPr/>
                </p:nvSpPr>
                <p:spPr bwMode="auto">
                  <a:xfrm>
                    <a:off x="912" y="3209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398" name="Rectangle 155"/>
                  <p:cNvSpPr>
                    <a:spLocks noChangeArrowheads="1"/>
                  </p:cNvSpPr>
                  <p:nvPr/>
                </p:nvSpPr>
                <p:spPr bwMode="auto">
                  <a:xfrm>
                    <a:off x="114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8399" name="Text Box 1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400" name="Freeform 157"/>
                  <p:cNvSpPr/>
                  <p:nvPr/>
                </p:nvSpPr>
                <p:spPr bwMode="auto">
                  <a:xfrm>
                    <a:off x="1402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1" name="Freeform 158"/>
                  <p:cNvSpPr/>
                  <p:nvPr/>
                </p:nvSpPr>
                <p:spPr bwMode="auto">
                  <a:xfrm>
                    <a:off x="1613" y="1211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2" name="Freeform 159"/>
                  <p:cNvSpPr/>
                  <p:nvPr/>
                </p:nvSpPr>
                <p:spPr bwMode="auto">
                  <a:xfrm>
                    <a:off x="1967" y="1211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3" name="Freeform 160"/>
                  <p:cNvSpPr/>
                  <p:nvPr/>
                </p:nvSpPr>
                <p:spPr bwMode="auto">
                  <a:xfrm>
                    <a:off x="2208" y="1211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4" name="Freeform 161"/>
                  <p:cNvSpPr/>
                  <p:nvPr/>
                </p:nvSpPr>
                <p:spPr bwMode="auto">
                  <a:xfrm>
                    <a:off x="2557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5" name="Freeform 162"/>
                  <p:cNvSpPr/>
                  <p:nvPr/>
                </p:nvSpPr>
                <p:spPr bwMode="auto">
                  <a:xfrm>
                    <a:off x="2787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6" name="Freeform 163"/>
                  <p:cNvSpPr/>
                  <p:nvPr/>
                </p:nvSpPr>
                <p:spPr bwMode="auto">
                  <a:xfrm>
                    <a:off x="3130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7" name="Freeform 164"/>
                  <p:cNvSpPr/>
                  <p:nvPr/>
                </p:nvSpPr>
                <p:spPr bwMode="auto">
                  <a:xfrm>
                    <a:off x="3360" y="1209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8" name="Freeform 165"/>
                  <p:cNvSpPr/>
                  <p:nvPr/>
                </p:nvSpPr>
                <p:spPr bwMode="auto">
                  <a:xfrm>
                    <a:off x="3710" y="1211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09" name="Freeform 166"/>
                  <p:cNvSpPr/>
                  <p:nvPr/>
                </p:nvSpPr>
                <p:spPr bwMode="auto">
                  <a:xfrm>
                    <a:off x="3939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10" name="Freeform 167"/>
                  <p:cNvSpPr/>
                  <p:nvPr/>
                </p:nvSpPr>
                <p:spPr bwMode="auto">
                  <a:xfrm>
                    <a:off x="4280" y="1211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11" name="Freeform 168"/>
                  <p:cNvSpPr/>
                  <p:nvPr/>
                </p:nvSpPr>
                <p:spPr bwMode="auto">
                  <a:xfrm>
                    <a:off x="4509" y="1211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12" name="Freeform 169"/>
                  <p:cNvSpPr/>
                  <p:nvPr/>
                </p:nvSpPr>
                <p:spPr bwMode="auto">
                  <a:xfrm>
                    <a:off x="4861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13" name="Freeform 170"/>
                  <p:cNvSpPr/>
                  <p:nvPr/>
                </p:nvSpPr>
                <p:spPr bwMode="auto">
                  <a:xfrm>
                    <a:off x="5069" y="1211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14" name="Freeform 171"/>
                  <p:cNvSpPr/>
                  <p:nvPr/>
                </p:nvSpPr>
                <p:spPr bwMode="auto">
                  <a:xfrm>
                    <a:off x="5417" y="1211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415" name="Freeform 172"/>
                  <p:cNvSpPr/>
                  <p:nvPr/>
                </p:nvSpPr>
                <p:spPr bwMode="auto">
                  <a:xfrm>
                    <a:off x="1055" y="2738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6" name="Freeform 173"/>
                  <p:cNvSpPr/>
                  <p:nvPr/>
                </p:nvSpPr>
                <p:spPr bwMode="auto">
                  <a:xfrm>
                    <a:off x="2207" y="2744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7" name="Freeform 174"/>
                  <p:cNvSpPr/>
                  <p:nvPr/>
                </p:nvSpPr>
                <p:spPr bwMode="auto">
                  <a:xfrm>
                    <a:off x="3356" y="2744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8" name="Freeform 175"/>
                  <p:cNvSpPr/>
                  <p:nvPr/>
                </p:nvSpPr>
                <p:spPr bwMode="auto">
                  <a:xfrm>
                    <a:off x="4508" y="2744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39" name="Freeform 176"/>
                  <p:cNvSpPr/>
                  <p:nvPr/>
                </p:nvSpPr>
                <p:spPr bwMode="auto">
                  <a:xfrm>
                    <a:off x="1400" y="2735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0" name="Freeform 177"/>
                  <p:cNvSpPr/>
                  <p:nvPr/>
                </p:nvSpPr>
                <p:spPr bwMode="auto">
                  <a:xfrm>
                    <a:off x="2552" y="2735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1" name="Freeform 178"/>
                  <p:cNvSpPr/>
                  <p:nvPr/>
                </p:nvSpPr>
                <p:spPr bwMode="auto">
                  <a:xfrm>
                    <a:off x="3704" y="2738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2" name="Freeform 179"/>
                  <p:cNvSpPr/>
                  <p:nvPr/>
                </p:nvSpPr>
                <p:spPr bwMode="auto">
                  <a:xfrm>
                    <a:off x="4859" y="2738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3" name="Freeform 180"/>
                  <p:cNvSpPr/>
                  <p:nvPr/>
                </p:nvSpPr>
                <p:spPr bwMode="auto">
                  <a:xfrm>
                    <a:off x="1322" y="3398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4" name="Freeform 181"/>
                  <p:cNvSpPr/>
                  <p:nvPr/>
                </p:nvSpPr>
                <p:spPr bwMode="auto">
                  <a:xfrm>
                    <a:off x="2491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5" name="Freeform 182"/>
                  <p:cNvSpPr/>
                  <p:nvPr/>
                </p:nvSpPr>
                <p:spPr bwMode="auto">
                  <a:xfrm>
                    <a:off x="3643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6" name="Freeform 183"/>
                  <p:cNvSpPr/>
                  <p:nvPr/>
                </p:nvSpPr>
                <p:spPr bwMode="auto">
                  <a:xfrm>
                    <a:off x="4795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7" name="Freeform 184"/>
                  <p:cNvSpPr/>
                  <p:nvPr/>
                </p:nvSpPr>
                <p:spPr bwMode="auto">
                  <a:xfrm>
                    <a:off x="5276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8" name="Freeform 185"/>
                  <p:cNvSpPr/>
                  <p:nvPr/>
                </p:nvSpPr>
                <p:spPr bwMode="auto">
                  <a:xfrm>
                    <a:off x="4124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49" name="Freeform 186"/>
                  <p:cNvSpPr/>
                  <p:nvPr/>
                </p:nvSpPr>
                <p:spPr bwMode="auto">
                  <a:xfrm>
                    <a:off x="2972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0" name="Freeform 187"/>
                  <p:cNvSpPr/>
                  <p:nvPr/>
                </p:nvSpPr>
                <p:spPr bwMode="auto">
                  <a:xfrm>
                    <a:off x="1819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1" name="Freeform 188"/>
                  <p:cNvSpPr/>
                  <p:nvPr/>
                </p:nvSpPr>
                <p:spPr bwMode="auto">
                  <a:xfrm>
                    <a:off x="956" y="4025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2" name="Freeform 189"/>
                  <p:cNvSpPr/>
                  <p:nvPr/>
                </p:nvSpPr>
                <p:spPr bwMode="auto">
                  <a:xfrm>
                    <a:off x="956" y="4121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3" name="Freeform 190"/>
                  <p:cNvSpPr/>
                  <p:nvPr/>
                </p:nvSpPr>
                <p:spPr bwMode="auto">
                  <a:xfrm>
                    <a:off x="1322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4" name="Freeform 191"/>
                  <p:cNvSpPr/>
                  <p:nvPr/>
                </p:nvSpPr>
                <p:spPr bwMode="auto">
                  <a:xfrm>
                    <a:off x="2491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5" name="Freeform 192"/>
                  <p:cNvSpPr/>
                  <p:nvPr/>
                </p:nvSpPr>
                <p:spPr bwMode="auto">
                  <a:xfrm>
                    <a:off x="3643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6" name="Freeform 193"/>
                  <p:cNvSpPr/>
                  <p:nvPr/>
                </p:nvSpPr>
                <p:spPr bwMode="auto">
                  <a:xfrm>
                    <a:off x="4791" y="3881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7" name="Freeform 194"/>
                  <p:cNvSpPr/>
                  <p:nvPr/>
                </p:nvSpPr>
                <p:spPr bwMode="auto">
                  <a:xfrm>
                    <a:off x="5277" y="3881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8" name="Line 195"/>
                  <p:cNvSpPr>
                    <a:spLocks noChangeShapeType="1"/>
                  </p:cNvSpPr>
                  <p:nvPr/>
                </p:nvSpPr>
                <p:spPr bwMode="auto">
                  <a:xfrm>
                    <a:off x="4124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59" name="Line 196"/>
                  <p:cNvSpPr>
                    <a:spLocks noChangeShapeType="1"/>
                  </p:cNvSpPr>
                  <p:nvPr/>
                </p:nvSpPr>
                <p:spPr bwMode="auto">
                  <a:xfrm>
                    <a:off x="2973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60" name="Line 197"/>
                  <p:cNvSpPr>
                    <a:spLocks noChangeShapeType="1"/>
                  </p:cNvSpPr>
                  <p:nvPr/>
                </p:nvSpPr>
                <p:spPr bwMode="auto">
                  <a:xfrm>
                    <a:off x="1820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61" name="Rectangle 198"/>
                  <p:cNvSpPr>
                    <a:spLocks noChangeArrowheads="1"/>
                  </p:cNvSpPr>
                  <p:nvPr/>
                </p:nvSpPr>
                <p:spPr bwMode="auto">
                  <a:xfrm>
                    <a:off x="2317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8762" name="Text Box 19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48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63" name="Rectangle 200"/>
                  <p:cNvSpPr>
                    <a:spLocks noChangeArrowheads="1"/>
                  </p:cNvSpPr>
                  <p:nvPr/>
                </p:nvSpPr>
                <p:spPr bwMode="auto">
                  <a:xfrm>
                    <a:off x="3469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8764" name="Text Box 20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0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65" name="Rectangle 202"/>
                  <p:cNvSpPr>
                    <a:spLocks noChangeArrowheads="1"/>
                  </p:cNvSpPr>
                  <p:nvPr/>
                </p:nvSpPr>
                <p:spPr bwMode="auto">
                  <a:xfrm>
                    <a:off x="462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8766" name="Text Box 20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67" name="Line 204"/>
                  <p:cNvSpPr>
                    <a:spLocks noChangeShapeType="1"/>
                  </p:cNvSpPr>
                  <p:nvPr/>
                </p:nvSpPr>
                <p:spPr bwMode="auto">
                  <a:xfrm>
                    <a:off x="196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68" name="Line 205"/>
                  <p:cNvSpPr>
                    <a:spLocks noChangeShapeType="1"/>
                  </p:cNvSpPr>
                  <p:nvPr/>
                </p:nvSpPr>
                <p:spPr bwMode="auto">
                  <a:xfrm>
                    <a:off x="314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69" name="Line 206"/>
                  <p:cNvSpPr>
                    <a:spLocks noChangeShapeType="1"/>
                  </p:cNvSpPr>
                  <p:nvPr/>
                </p:nvSpPr>
                <p:spPr bwMode="auto">
                  <a:xfrm>
                    <a:off x="4293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70" name="Line 207"/>
                  <p:cNvSpPr>
                    <a:spLocks noChangeShapeType="1"/>
                  </p:cNvSpPr>
                  <p:nvPr/>
                </p:nvSpPr>
                <p:spPr bwMode="auto">
                  <a:xfrm>
                    <a:off x="5420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71" name="Freeform 208"/>
                  <p:cNvSpPr/>
                  <p:nvPr/>
                </p:nvSpPr>
                <p:spPr bwMode="auto">
                  <a:xfrm>
                    <a:off x="3033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72" name="Freeform 209"/>
                  <p:cNvSpPr/>
                  <p:nvPr/>
                </p:nvSpPr>
                <p:spPr bwMode="auto">
                  <a:xfrm>
                    <a:off x="4185" y="2691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73" name="Freeform 210"/>
                  <p:cNvSpPr/>
                  <p:nvPr/>
                </p:nvSpPr>
                <p:spPr bwMode="auto">
                  <a:xfrm>
                    <a:off x="5325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74" name="Text Box 211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3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75" name="Text Box 212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69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76" name="Text Box 213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5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77" name="Text Box 214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1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78" name="Text Box 21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496" y="1627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79" name="Text Box 21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3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0" name="Text Box 217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49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1" name="Text Box 218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4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2" name="Text Box 21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79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3" name="Text Box 2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1383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4" name="Text Box 22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19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5" name="Line 222"/>
                  <p:cNvSpPr>
                    <a:spLocks noChangeShapeType="1"/>
                  </p:cNvSpPr>
                  <p:nvPr/>
                </p:nvSpPr>
                <p:spPr bwMode="auto">
                  <a:xfrm>
                    <a:off x="332" y="2537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786" name="Text Box 2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2727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7" name="Text Box 2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31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8" name="Text Box 22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89" name="Text Box 22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287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0" name="Text Box 2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01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行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1" name="Text Box 2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26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2" name="Text Box 2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51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3" name="Text Box 2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75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4" name="Text Box 23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200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5" name="Text Box 23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63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列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6" name="Text Box 2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88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7" name="Text Box 2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13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8" name="Text Box 23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37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799" name="Text Box 2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62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800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905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1" name="Line 238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164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2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42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3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68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4" name="Line 241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94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5" name="Line 242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20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6" name="Line 243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87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7" name="Line 244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13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8" name="Line 245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39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09" name="Line 246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65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10" name="Line 247"/>
                  <p:cNvSpPr>
                    <a:spLocks noChangeShapeType="1"/>
                  </p:cNvSpPr>
                  <p:nvPr/>
                </p:nvSpPr>
                <p:spPr bwMode="auto">
                  <a:xfrm>
                    <a:off x="726" y="4079"/>
                    <a:ext cx="19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381" name="Group 248"/>
                <p:cNvGrpSpPr/>
                <p:nvPr/>
              </p:nvGrpSpPr>
              <p:grpSpPr bwMode="auto">
                <a:xfrm>
                  <a:off x="140" y="674"/>
                  <a:ext cx="196" cy="3010"/>
                  <a:chOff x="140" y="674"/>
                  <a:chExt cx="196" cy="3010"/>
                </a:xfrm>
              </p:grpSpPr>
              <p:sp>
                <p:nvSpPr>
                  <p:cNvPr id="40382" name="Text Box 24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383" name="Text Box 2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936" name="Text Box 25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937" name="Text Box 2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939" name="Text Box 2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948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72" name="Text Box 25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73" name="Text Box 2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74" name="Text Box 25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675" name="Text Box 25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</p:grpSp>
          <p:grpSp>
            <p:nvGrpSpPr>
              <p:cNvPr id="61" name="Group 259"/>
              <p:cNvGrpSpPr/>
              <p:nvPr/>
            </p:nvGrpSpPr>
            <p:grpSpPr bwMode="auto">
              <a:xfrm>
                <a:off x="915" y="2632"/>
                <a:ext cx="3944" cy="254"/>
                <a:chOff x="915" y="2632"/>
                <a:chExt cx="3944" cy="254"/>
              </a:xfrm>
            </p:grpSpPr>
            <p:grpSp>
              <p:nvGrpSpPr>
                <p:cNvPr id="62" name="Group 260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40375" name="Freeform 261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376" name="Freeform 262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377" name="Freeform 263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378" name="Freeform 264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379" name="Freeform 265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3" name="Group 266"/>
                <p:cNvGrpSpPr/>
                <p:nvPr/>
              </p:nvGrpSpPr>
              <p:grpSpPr bwMode="auto">
                <a:xfrm>
                  <a:off x="1212" y="2632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40368" name="Group 267"/>
                  <p:cNvGrpSpPr/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40373" name="Line 26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74" name="Line 26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0369" name="Freeform 270"/>
                  <p:cNvSpPr/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0370" name="Group 271"/>
                  <p:cNvGrpSpPr/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40371" name="Line 27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72" name="Line 27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40344" name="Group 274"/>
                <p:cNvGrpSpPr/>
                <p:nvPr/>
              </p:nvGrpSpPr>
              <p:grpSpPr bwMode="auto">
                <a:xfrm>
                  <a:off x="2364" y="2634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40361" name="Group 275"/>
                  <p:cNvGrpSpPr/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40366" name="Line 276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67" name="Line 27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0362" name="Freeform 278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0363" name="Group 279"/>
                  <p:cNvGrpSpPr/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40364" name="Line 28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65" name="Line 28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40345" name="Group 282"/>
                <p:cNvGrpSpPr/>
                <p:nvPr/>
              </p:nvGrpSpPr>
              <p:grpSpPr bwMode="auto">
                <a:xfrm>
                  <a:off x="3516" y="2634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40354" name="Group 283"/>
                  <p:cNvGrpSpPr/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40359" name="Line 28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60" name="Line 285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0355" name="Freeform 286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0356" name="Group 287"/>
                  <p:cNvGrpSpPr/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40357" name="Line 28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58" name="Line 289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40346" name="Group 290"/>
                <p:cNvGrpSpPr/>
                <p:nvPr/>
              </p:nvGrpSpPr>
              <p:grpSpPr bwMode="auto">
                <a:xfrm>
                  <a:off x="4667" y="2634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40347" name="Group 291"/>
                  <p:cNvGrpSpPr/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40352" name="Line 29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53" name="Line 29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0348" name="Freeform 294"/>
                  <p:cNvSpPr/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0349" name="Group 295"/>
                  <p:cNvGrpSpPr/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40350" name="Line 29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0351" name="Line 29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  <p:grpSp>
          <p:nvGrpSpPr>
            <p:cNvPr id="35" name="Group 298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36" name="Group 299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41" name="Group 300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52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3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4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5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6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7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8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9" name="Rectangle 308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42" name="Group 309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43" name="Freeform 310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4" name="Line 311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5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6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7" name="Line 314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8" name="Line 315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Line 317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Line 318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7" name="Text Box 319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Text Box 320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Text Box 321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" name="Text Box 322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28825" name="Line 323"/>
          <p:cNvSpPr>
            <a:spLocks noChangeShapeType="1"/>
          </p:cNvSpPr>
          <p:nvPr/>
        </p:nvSpPr>
        <p:spPr bwMode="auto">
          <a:xfrm>
            <a:off x="2531294" y="6461375"/>
            <a:ext cx="3048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28826" name="Group 324"/>
          <p:cNvGrpSpPr/>
          <p:nvPr/>
        </p:nvGrpSpPr>
        <p:grpSpPr bwMode="auto">
          <a:xfrm>
            <a:off x="4468044" y="5586663"/>
            <a:ext cx="6057900" cy="336550"/>
            <a:chOff x="1944" y="3527"/>
            <a:chExt cx="3816" cy="212"/>
          </a:xfrm>
        </p:grpSpPr>
        <p:grpSp>
          <p:nvGrpSpPr>
            <p:cNvPr id="228827" name="Group 325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228833" name="Line 326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34" name="Line 327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35" name="Line 328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36" name="Line 329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8828" name="Group 330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228829" name="Text Box 331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830" name="Text Box 332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831" name="Text Box 333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832" name="Text Box 334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8837" name="Group 335"/>
          <p:cNvGrpSpPr/>
          <p:nvPr/>
        </p:nvGrpSpPr>
        <p:grpSpPr bwMode="auto">
          <a:xfrm>
            <a:off x="3194869" y="5616825"/>
            <a:ext cx="6832600" cy="533400"/>
            <a:chOff x="1142" y="3546"/>
            <a:chExt cx="4304" cy="336"/>
          </a:xfrm>
        </p:grpSpPr>
        <p:grpSp>
          <p:nvGrpSpPr>
            <p:cNvPr id="228838" name="Group 336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228848" name="Rectangle 337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8849" name="Text Box 338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8839" name="Group 339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228846" name="Rectangle 340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8847" name="Text Box 341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8840" name="Group 342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228844" name="Rectangle 343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8845" name="Text Box 344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28841" name="Group 345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228842" name="Rectangle 346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28843" name="Text Box 347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28850" name="Group 348"/>
          <p:cNvGrpSpPr/>
          <p:nvPr/>
        </p:nvGrpSpPr>
        <p:grpSpPr bwMode="auto">
          <a:xfrm>
            <a:off x="3056757" y="4330950"/>
            <a:ext cx="6707187" cy="1295400"/>
            <a:chOff x="1055" y="2736"/>
            <a:chExt cx="4225" cy="816"/>
          </a:xfrm>
        </p:grpSpPr>
        <p:grpSp>
          <p:nvGrpSpPr>
            <p:cNvPr id="228851" name="Group 349"/>
            <p:cNvGrpSpPr/>
            <p:nvPr/>
          </p:nvGrpSpPr>
          <p:grpSpPr bwMode="auto">
            <a:xfrm>
              <a:off x="1391" y="2736"/>
              <a:ext cx="3889" cy="816"/>
              <a:chOff x="1428" y="2784"/>
              <a:chExt cx="3889" cy="816"/>
            </a:xfrm>
          </p:grpSpPr>
          <p:sp>
            <p:nvSpPr>
              <p:cNvPr id="228857" name="Freeform 350"/>
              <p:cNvSpPr/>
              <p:nvPr/>
            </p:nvSpPr>
            <p:spPr bwMode="auto">
              <a:xfrm>
                <a:off x="1428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58" name="Freeform 351"/>
              <p:cNvSpPr/>
              <p:nvPr/>
            </p:nvSpPr>
            <p:spPr bwMode="auto">
              <a:xfrm>
                <a:off x="4885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59" name="Freeform 352"/>
              <p:cNvSpPr/>
              <p:nvPr/>
            </p:nvSpPr>
            <p:spPr bwMode="auto">
              <a:xfrm>
                <a:off x="3733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60" name="Freeform 353"/>
              <p:cNvSpPr/>
              <p:nvPr/>
            </p:nvSpPr>
            <p:spPr bwMode="auto">
              <a:xfrm>
                <a:off x="2579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8852" name="Group 354"/>
            <p:cNvGrpSpPr/>
            <p:nvPr/>
          </p:nvGrpSpPr>
          <p:grpSpPr bwMode="auto">
            <a:xfrm>
              <a:off x="1055" y="2748"/>
              <a:ext cx="3750" cy="804"/>
              <a:chOff x="1055" y="2748"/>
              <a:chExt cx="3750" cy="804"/>
            </a:xfrm>
          </p:grpSpPr>
          <p:sp>
            <p:nvSpPr>
              <p:cNvPr id="228853" name="Freeform 355"/>
              <p:cNvSpPr/>
              <p:nvPr/>
            </p:nvSpPr>
            <p:spPr bwMode="auto">
              <a:xfrm>
                <a:off x="1055" y="2748"/>
                <a:ext cx="280" cy="795"/>
              </a:xfrm>
              <a:custGeom>
                <a:avLst/>
                <a:gdLst>
                  <a:gd name="T0" fmla="*/ 276 w 280"/>
                  <a:gd name="T1" fmla="*/ 795 h 795"/>
                  <a:gd name="T2" fmla="*/ 280 w 280"/>
                  <a:gd name="T3" fmla="*/ 657 h 795"/>
                  <a:gd name="T4" fmla="*/ 0 w 280"/>
                  <a:gd name="T5" fmla="*/ 660 h 795"/>
                  <a:gd name="T6" fmla="*/ 3 w 280"/>
                  <a:gd name="T7" fmla="*/ 0 h 795"/>
                  <a:gd name="T8" fmla="*/ 144 w 280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795">
                    <a:moveTo>
                      <a:pt x="276" y="795"/>
                    </a:moveTo>
                    <a:lnTo>
                      <a:pt x="280" y="657"/>
                    </a:lnTo>
                    <a:lnTo>
                      <a:pt x="0" y="660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54" name="Freeform 356"/>
              <p:cNvSpPr/>
              <p:nvPr/>
            </p:nvSpPr>
            <p:spPr bwMode="auto">
              <a:xfrm>
                <a:off x="2207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55" name="Freeform 357"/>
              <p:cNvSpPr/>
              <p:nvPr/>
            </p:nvSpPr>
            <p:spPr bwMode="auto">
              <a:xfrm>
                <a:off x="3359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8856" name="Freeform 358"/>
              <p:cNvSpPr/>
              <p:nvPr/>
            </p:nvSpPr>
            <p:spPr bwMode="auto">
              <a:xfrm>
                <a:off x="4511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28861" name="Group 359"/>
          <p:cNvGrpSpPr/>
          <p:nvPr/>
        </p:nvGrpSpPr>
        <p:grpSpPr bwMode="auto">
          <a:xfrm>
            <a:off x="2834507" y="2605338"/>
            <a:ext cx="6613525" cy="1963737"/>
            <a:chOff x="915" y="1649"/>
            <a:chExt cx="4166" cy="1237"/>
          </a:xfrm>
        </p:grpSpPr>
        <p:grpSp>
          <p:nvGrpSpPr>
            <p:cNvPr id="228862" name="Group 360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8871" name="Group 361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8904" name="Freeform 362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8905" name="Freeform 363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8906" name="Freeform 364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8907" name="Freeform 365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8908" name="Freeform 366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8872" name="Group 367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8897" name="Group 36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902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903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8898" name="Freeform 37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8899" name="Group 37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900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901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8873" name="Group 375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8890" name="Group 37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895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96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8891" name="Freeform 37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8892" name="Group 38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893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94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8874" name="Group 383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8883" name="Group 38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888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89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8884" name="Freeform 38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8885" name="Group 38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886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87" name="Line 39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8875" name="Group 391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8876" name="Group 39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881" name="Line 39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82" name="Line 39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8877" name="Freeform 39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8878" name="Group 39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8879" name="Line 39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8880" name="Line 39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8863" name="Rectangle 399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64" name="Text Box 400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65" name="Rectangle 401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66" name="Rectangle 402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67" name="Rectangle 403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68" name="Text Box 404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69" name="Text Box 405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8870" name="Text Box 406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228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783632" y="869334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435720" y="103255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4285407" y="5614372"/>
            <a:ext cx="6057900" cy="336550"/>
            <a:chOff x="1944" y="3527"/>
            <a:chExt cx="3816" cy="212"/>
          </a:xfrm>
        </p:grpSpPr>
        <p:sp>
          <p:nvSpPr>
            <p:cNvPr id="23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4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" name="Group 27"/>
          <p:cNvGrpSpPr/>
          <p:nvPr/>
        </p:nvGrpSpPr>
        <p:grpSpPr bwMode="auto">
          <a:xfrm>
            <a:off x="1427907" y="1082059"/>
            <a:ext cx="8915400" cy="5716588"/>
            <a:chOff x="144" y="672"/>
            <a:chExt cx="5616" cy="3601"/>
          </a:xfrm>
        </p:grpSpPr>
        <p:grpSp>
          <p:nvGrpSpPr>
            <p:cNvPr id="28" name="Group 28"/>
            <p:cNvGrpSpPr/>
            <p:nvPr/>
          </p:nvGrpSpPr>
          <p:grpSpPr bwMode="auto">
            <a:xfrm>
              <a:off x="144" y="672"/>
              <a:ext cx="5472" cy="3601"/>
              <a:chOff x="144" y="672"/>
              <a:chExt cx="5472" cy="3601"/>
            </a:xfrm>
          </p:grpSpPr>
          <p:grpSp>
            <p:nvGrpSpPr>
              <p:cNvPr id="40" name="Group 29"/>
              <p:cNvGrpSpPr/>
              <p:nvPr/>
            </p:nvGrpSpPr>
            <p:grpSpPr bwMode="auto">
              <a:xfrm>
                <a:off x="144" y="672"/>
                <a:ext cx="5472" cy="3601"/>
                <a:chOff x="144" y="672"/>
                <a:chExt cx="5472" cy="3601"/>
              </a:xfrm>
            </p:grpSpPr>
            <p:grpSp>
              <p:nvGrpSpPr>
                <p:cNvPr id="41385" name="Group 30"/>
                <p:cNvGrpSpPr/>
                <p:nvPr/>
              </p:nvGrpSpPr>
              <p:grpSpPr bwMode="auto">
                <a:xfrm>
                  <a:off x="144" y="711"/>
                  <a:ext cx="5472" cy="3562"/>
                  <a:chOff x="144" y="711"/>
                  <a:chExt cx="5472" cy="3562"/>
                </a:xfrm>
              </p:grpSpPr>
              <p:sp>
                <p:nvSpPr>
                  <p:cNvPr id="41397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336" y="711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41398" name="Rectangle 32"/>
                  <p:cNvSpPr>
                    <a:spLocks noChangeArrowheads="1"/>
                  </p:cNvSpPr>
                  <p:nvPr/>
                </p:nvSpPr>
                <p:spPr bwMode="auto">
                  <a:xfrm>
                    <a:off x="1732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9" name="Text Box 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12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0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1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2873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2" name="Text Box 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53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3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2297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4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4048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5" name="Text Box 3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8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3472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407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5184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960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4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961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963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1732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967" name="Rectangle 45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696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2873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697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2297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698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4048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699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3472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700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5184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701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702" name="Line 5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9" y="2710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3" name="Line 5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12" y="2708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4" name="Freeform 54"/>
                  <p:cNvSpPr/>
                  <p:nvPr/>
                </p:nvSpPr>
                <p:spPr bwMode="auto">
                  <a:xfrm>
                    <a:off x="1264" y="2707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5" name="Line 5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7" y="2710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6" name="Line 5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6" y="2712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7" name="Freeform 57"/>
                  <p:cNvSpPr/>
                  <p:nvPr/>
                </p:nvSpPr>
                <p:spPr bwMode="auto">
                  <a:xfrm>
                    <a:off x="1438" y="2351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8" name="Freeform 58"/>
                  <p:cNvSpPr/>
                  <p:nvPr/>
                </p:nvSpPr>
                <p:spPr bwMode="auto">
                  <a:xfrm>
                    <a:off x="1063" y="1207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09" name="Freeform 59"/>
                  <p:cNvSpPr/>
                  <p:nvPr/>
                </p:nvSpPr>
                <p:spPr bwMode="auto">
                  <a:xfrm>
                    <a:off x="1059" y="2351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0" name="Line 6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900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1" name="Line 6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83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2" name="Freeform 62"/>
                  <p:cNvSpPr/>
                  <p:nvPr/>
                </p:nvSpPr>
                <p:spPr bwMode="auto">
                  <a:xfrm>
                    <a:off x="1835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3" name="Line 6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8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4" name="Line 6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7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5" name="Freeform 65"/>
                  <p:cNvSpPr/>
                  <p:nvPr/>
                </p:nvSpPr>
                <p:spPr bwMode="auto">
                  <a:xfrm>
                    <a:off x="2009" y="2351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6" name="Freeform 66"/>
                  <p:cNvSpPr/>
                  <p:nvPr/>
                </p:nvSpPr>
                <p:spPr bwMode="auto">
                  <a:xfrm>
                    <a:off x="1615" y="2350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7" name="Line 6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81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8" name="Line 6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4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19" name="Freeform 69"/>
                  <p:cNvSpPr/>
                  <p:nvPr/>
                </p:nvSpPr>
                <p:spPr bwMode="auto">
                  <a:xfrm>
                    <a:off x="2416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0" name="Line 7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9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1" name="Line 7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8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2" name="Freeform 72"/>
                  <p:cNvSpPr/>
                  <p:nvPr/>
                </p:nvSpPr>
                <p:spPr bwMode="auto">
                  <a:xfrm>
                    <a:off x="2590" y="2351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3" name="Freeform 73"/>
                  <p:cNvSpPr/>
                  <p:nvPr/>
                </p:nvSpPr>
                <p:spPr bwMode="auto">
                  <a:xfrm>
                    <a:off x="2211" y="2351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4" name="Line 7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7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5" name="Line 7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40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6" name="Freeform 76"/>
                  <p:cNvSpPr/>
                  <p:nvPr/>
                </p:nvSpPr>
                <p:spPr bwMode="auto">
                  <a:xfrm>
                    <a:off x="2992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7" name="Line 7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5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8" name="Line 7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4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29" name="Freeform 79"/>
                  <p:cNvSpPr/>
                  <p:nvPr/>
                </p:nvSpPr>
                <p:spPr bwMode="auto">
                  <a:xfrm>
                    <a:off x="3166" y="2351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0" name="Freeform 80"/>
                  <p:cNvSpPr/>
                  <p:nvPr/>
                </p:nvSpPr>
                <p:spPr bwMode="auto">
                  <a:xfrm>
                    <a:off x="2787" y="2351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2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33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3" name="Line 8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6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4" name="Freeform 83"/>
                  <p:cNvSpPr/>
                  <p:nvPr/>
                </p:nvSpPr>
                <p:spPr bwMode="auto">
                  <a:xfrm>
                    <a:off x="3568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5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41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6" name="Line 8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20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7" name="Freeform 86"/>
                  <p:cNvSpPr/>
                  <p:nvPr/>
                </p:nvSpPr>
                <p:spPr bwMode="auto">
                  <a:xfrm>
                    <a:off x="3755" y="2350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8" name="Freeform 87"/>
                  <p:cNvSpPr/>
                  <p:nvPr/>
                </p:nvSpPr>
                <p:spPr bwMode="auto">
                  <a:xfrm>
                    <a:off x="3363" y="2351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39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9" y="2696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0" name="Line 8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92" y="269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1" name="Freeform 90"/>
                  <p:cNvSpPr/>
                  <p:nvPr/>
                </p:nvSpPr>
                <p:spPr bwMode="auto">
                  <a:xfrm>
                    <a:off x="4144" y="269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2" name="Line 9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7" y="2696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3" name="Line 9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6" y="2698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4" name="Freeform 93"/>
                  <p:cNvSpPr/>
                  <p:nvPr/>
                </p:nvSpPr>
                <p:spPr bwMode="auto">
                  <a:xfrm>
                    <a:off x="4340" y="2349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5" name="Freeform 94"/>
                  <p:cNvSpPr/>
                  <p:nvPr/>
                </p:nvSpPr>
                <p:spPr bwMode="auto">
                  <a:xfrm>
                    <a:off x="3939" y="2351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9746" name="Group 95"/>
                  <p:cNvGrpSpPr/>
                  <p:nvPr/>
                </p:nvGrpSpPr>
                <p:grpSpPr bwMode="auto">
                  <a:xfrm>
                    <a:off x="4672" y="2632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229889" name="Group 96"/>
                    <p:cNvGrpSpPr/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229894" name="Line 97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9895" name="Line 98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29890" name="Freeform 99"/>
                    <p:cNvSpPr/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29891" name="Group 100"/>
                    <p:cNvGrpSpPr/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229892" name="Line 101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9893" name="Line 102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229747" name="Freeform 103"/>
                  <p:cNvSpPr/>
                  <p:nvPr/>
                </p:nvSpPr>
                <p:spPr bwMode="auto">
                  <a:xfrm>
                    <a:off x="4894" y="2351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48" name="Freeform 104"/>
                  <p:cNvSpPr/>
                  <p:nvPr/>
                </p:nvSpPr>
                <p:spPr bwMode="auto">
                  <a:xfrm>
                    <a:off x="4515" y="2351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9749" name="Group 105"/>
                  <p:cNvGrpSpPr/>
                  <p:nvPr/>
                </p:nvGrpSpPr>
                <p:grpSpPr bwMode="auto">
                  <a:xfrm>
                    <a:off x="5239" y="2632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229882" name="Group 106"/>
                    <p:cNvGrpSpPr/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229887" name="Line 107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9888" name="Line 108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229883" name="Freeform 109"/>
                    <p:cNvSpPr/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29884" name="Group 110"/>
                    <p:cNvGrpSpPr/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229885" name="Line 111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229886" name="Line 112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229750" name="Freeform 113"/>
                  <p:cNvSpPr/>
                  <p:nvPr/>
                </p:nvSpPr>
                <p:spPr bwMode="auto">
                  <a:xfrm>
                    <a:off x="5471" y="2349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1" name="Freeform 114"/>
                  <p:cNvSpPr/>
                  <p:nvPr/>
                </p:nvSpPr>
                <p:spPr bwMode="auto">
                  <a:xfrm>
                    <a:off x="5082" y="2351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2" name="Freeform 115"/>
                  <p:cNvSpPr/>
                  <p:nvPr/>
                </p:nvSpPr>
                <p:spPr bwMode="auto">
                  <a:xfrm>
                    <a:off x="912" y="854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3" name="Line 116"/>
                  <p:cNvSpPr>
                    <a:spLocks noChangeShapeType="1"/>
                  </p:cNvSpPr>
                  <p:nvPr/>
                </p:nvSpPr>
                <p:spPr bwMode="auto">
                  <a:xfrm>
                    <a:off x="1296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4" name="Line 117"/>
                  <p:cNvSpPr>
                    <a:spLocks noChangeShapeType="1"/>
                  </p:cNvSpPr>
                  <p:nvPr/>
                </p:nvSpPr>
                <p:spPr bwMode="auto">
                  <a:xfrm>
                    <a:off x="1872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5" name="Line 118"/>
                  <p:cNvSpPr>
                    <a:spLocks noChangeShapeType="1"/>
                  </p:cNvSpPr>
                  <p:nvPr/>
                </p:nvSpPr>
                <p:spPr bwMode="auto">
                  <a:xfrm>
                    <a:off x="2448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6" name="Line 119"/>
                  <p:cNvSpPr>
                    <a:spLocks noChangeShapeType="1"/>
                  </p:cNvSpPr>
                  <p:nvPr/>
                </p:nvSpPr>
                <p:spPr bwMode="auto">
                  <a:xfrm>
                    <a:off x="3024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7" name="Line 120"/>
                  <p:cNvSpPr>
                    <a:spLocks noChangeShapeType="1"/>
                  </p:cNvSpPr>
                  <p:nvPr/>
                </p:nvSpPr>
                <p:spPr bwMode="auto">
                  <a:xfrm>
                    <a:off x="3600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8" name="Line 121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59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0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5328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1" name="Freeform 124"/>
                  <p:cNvSpPr/>
                  <p:nvPr/>
                </p:nvSpPr>
                <p:spPr bwMode="auto">
                  <a:xfrm>
                    <a:off x="1309" y="2706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2" name="Freeform 125"/>
                  <p:cNvSpPr/>
                  <p:nvPr/>
                </p:nvSpPr>
                <p:spPr bwMode="auto">
                  <a:xfrm>
                    <a:off x="1884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3" name="Freeform 126"/>
                  <p:cNvSpPr/>
                  <p:nvPr/>
                </p:nvSpPr>
                <p:spPr bwMode="auto">
                  <a:xfrm>
                    <a:off x="2458" y="2706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4" name="Freeform 127"/>
                  <p:cNvSpPr/>
                  <p:nvPr/>
                </p:nvSpPr>
                <p:spPr bwMode="auto">
                  <a:xfrm>
                    <a:off x="3610" y="2706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5" name="Freeform 128"/>
                  <p:cNvSpPr/>
                  <p:nvPr/>
                </p:nvSpPr>
                <p:spPr bwMode="auto">
                  <a:xfrm>
                    <a:off x="4764" y="2695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6" name="Freeform 129"/>
                  <p:cNvSpPr/>
                  <p:nvPr/>
                </p:nvSpPr>
                <p:spPr bwMode="auto">
                  <a:xfrm>
                    <a:off x="912" y="1478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7" name="Line 130"/>
                  <p:cNvSpPr>
                    <a:spLocks noChangeShapeType="1"/>
                  </p:cNvSpPr>
                  <p:nvPr/>
                </p:nvSpPr>
                <p:spPr bwMode="auto">
                  <a:xfrm>
                    <a:off x="1296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8" name="Line 131"/>
                  <p:cNvSpPr>
                    <a:spLocks noChangeShapeType="1"/>
                  </p:cNvSpPr>
                  <p:nvPr/>
                </p:nvSpPr>
                <p:spPr bwMode="auto">
                  <a:xfrm>
                    <a:off x="1872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69" name="Line 132"/>
                  <p:cNvSpPr>
                    <a:spLocks noChangeShapeType="1"/>
                  </p:cNvSpPr>
                  <p:nvPr/>
                </p:nvSpPr>
                <p:spPr bwMode="auto">
                  <a:xfrm>
                    <a:off x="2448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0" name="Line 133"/>
                  <p:cNvSpPr>
                    <a:spLocks noChangeShapeType="1"/>
                  </p:cNvSpPr>
                  <p:nvPr/>
                </p:nvSpPr>
                <p:spPr bwMode="auto">
                  <a:xfrm>
                    <a:off x="3024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1" name="Line 134"/>
                  <p:cNvSpPr>
                    <a:spLocks noChangeShapeType="1"/>
                  </p:cNvSpPr>
                  <p:nvPr/>
                </p:nvSpPr>
                <p:spPr bwMode="auto">
                  <a:xfrm>
                    <a:off x="3600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2" name="Line 135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3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4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5328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5" name="Freeform 138"/>
                  <p:cNvSpPr/>
                  <p:nvPr/>
                </p:nvSpPr>
                <p:spPr bwMode="auto">
                  <a:xfrm>
                    <a:off x="912" y="2054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6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1296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7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1872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8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2448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79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3024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0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3600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1" name="Line 144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2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3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5328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4" name="Freeform 147"/>
                  <p:cNvSpPr/>
                  <p:nvPr/>
                </p:nvSpPr>
                <p:spPr bwMode="auto">
                  <a:xfrm>
                    <a:off x="913" y="2877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5" name="Freeform 148"/>
                  <p:cNvSpPr/>
                  <p:nvPr/>
                </p:nvSpPr>
                <p:spPr bwMode="auto">
                  <a:xfrm>
                    <a:off x="916" y="3207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6" name="Rectangle 149"/>
                  <p:cNvSpPr>
                    <a:spLocks noChangeArrowheads="1"/>
                  </p:cNvSpPr>
                  <p:nvPr/>
                </p:nvSpPr>
                <p:spPr bwMode="auto">
                  <a:xfrm>
                    <a:off x="1145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787" name="Text Box 1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6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788" name="Freeform 151"/>
                  <p:cNvSpPr/>
                  <p:nvPr/>
                </p:nvSpPr>
                <p:spPr bwMode="auto">
                  <a:xfrm>
                    <a:off x="1406" y="1209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89" name="Freeform 152"/>
                  <p:cNvSpPr/>
                  <p:nvPr/>
                </p:nvSpPr>
                <p:spPr bwMode="auto">
                  <a:xfrm>
                    <a:off x="1617" y="1209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0" name="Freeform 153"/>
                  <p:cNvSpPr/>
                  <p:nvPr/>
                </p:nvSpPr>
                <p:spPr bwMode="auto">
                  <a:xfrm>
                    <a:off x="1971" y="1209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1" name="Freeform 154"/>
                  <p:cNvSpPr/>
                  <p:nvPr/>
                </p:nvSpPr>
                <p:spPr bwMode="auto">
                  <a:xfrm>
                    <a:off x="2212" y="1209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2" name="Freeform 155"/>
                  <p:cNvSpPr/>
                  <p:nvPr/>
                </p:nvSpPr>
                <p:spPr bwMode="auto">
                  <a:xfrm>
                    <a:off x="2561" y="1209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3" name="Freeform 156"/>
                  <p:cNvSpPr/>
                  <p:nvPr/>
                </p:nvSpPr>
                <p:spPr bwMode="auto">
                  <a:xfrm>
                    <a:off x="2791" y="1209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4" name="Freeform 157"/>
                  <p:cNvSpPr/>
                  <p:nvPr/>
                </p:nvSpPr>
                <p:spPr bwMode="auto">
                  <a:xfrm>
                    <a:off x="3134" y="1209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5" name="Freeform 158"/>
                  <p:cNvSpPr/>
                  <p:nvPr/>
                </p:nvSpPr>
                <p:spPr bwMode="auto">
                  <a:xfrm>
                    <a:off x="3364" y="1207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6" name="Freeform 159"/>
                  <p:cNvSpPr/>
                  <p:nvPr/>
                </p:nvSpPr>
                <p:spPr bwMode="auto">
                  <a:xfrm>
                    <a:off x="3714" y="1209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7" name="Freeform 160"/>
                  <p:cNvSpPr/>
                  <p:nvPr/>
                </p:nvSpPr>
                <p:spPr bwMode="auto">
                  <a:xfrm>
                    <a:off x="3943" y="1209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8" name="Freeform 161"/>
                  <p:cNvSpPr/>
                  <p:nvPr/>
                </p:nvSpPr>
                <p:spPr bwMode="auto">
                  <a:xfrm>
                    <a:off x="4284" y="1209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799" name="Freeform 162"/>
                  <p:cNvSpPr/>
                  <p:nvPr/>
                </p:nvSpPr>
                <p:spPr bwMode="auto">
                  <a:xfrm>
                    <a:off x="4513" y="1209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0" name="Freeform 163"/>
                  <p:cNvSpPr/>
                  <p:nvPr/>
                </p:nvSpPr>
                <p:spPr bwMode="auto">
                  <a:xfrm>
                    <a:off x="4865" y="1209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1" name="Freeform 164"/>
                  <p:cNvSpPr/>
                  <p:nvPr/>
                </p:nvSpPr>
                <p:spPr bwMode="auto">
                  <a:xfrm>
                    <a:off x="5073" y="1209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2" name="Freeform 165"/>
                  <p:cNvSpPr/>
                  <p:nvPr/>
                </p:nvSpPr>
                <p:spPr bwMode="auto">
                  <a:xfrm>
                    <a:off x="5421" y="1209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3" name="Freeform 166"/>
                  <p:cNvSpPr/>
                  <p:nvPr/>
                </p:nvSpPr>
                <p:spPr bwMode="auto">
                  <a:xfrm>
                    <a:off x="1059" y="2736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4" name="Freeform 167"/>
                  <p:cNvSpPr/>
                  <p:nvPr/>
                </p:nvSpPr>
                <p:spPr bwMode="auto">
                  <a:xfrm>
                    <a:off x="2211" y="2742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5" name="Freeform 168"/>
                  <p:cNvSpPr/>
                  <p:nvPr/>
                </p:nvSpPr>
                <p:spPr bwMode="auto">
                  <a:xfrm>
                    <a:off x="3360" y="2742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6" name="Freeform 169"/>
                  <p:cNvSpPr/>
                  <p:nvPr/>
                </p:nvSpPr>
                <p:spPr bwMode="auto">
                  <a:xfrm>
                    <a:off x="4512" y="2742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7" name="Freeform 170"/>
                  <p:cNvSpPr/>
                  <p:nvPr/>
                </p:nvSpPr>
                <p:spPr bwMode="auto">
                  <a:xfrm>
                    <a:off x="1404" y="2733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8" name="Freeform 171"/>
                  <p:cNvSpPr/>
                  <p:nvPr/>
                </p:nvSpPr>
                <p:spPr bwMode="auto">
                  <a:xfrm>
                    <a:off x="2556" y="2733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09" name="Freeform 172"/>
                  <p:cNvSpPr/>
                  <p:nvPr/>
                </p:nvSpPr>
                <p:spPr bwMode="auto">
                  <a:xfrm>
                    <a:off x="3708" y="2736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0" name="Freeform 173"/>
                  <p:cNvSpPr/>
                  <p:nvPr/>
                </p:nvSpPr>
                <p:spPr bwMode="auto">
                  <a:xfrm>
                    <a:off x="4863" y="2736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1" name="Freeform 174"/>
                  <p:cNvSpPr/>
                  <p:nvPr/>
                </p:nvSpPr>
                <p:spPr bwMode="auto">
                  <a:xfrm>
                    <a:off x="1326" y="3396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2" name="Freeform 175"/>
                  <p:cNvSpPr/>
                  <p:nvPr/>
                </p:nvSpPr>
                <p:spPr bwMode="auto">
                  <a:xfrm>
                    <a:off x="2495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3" name="Freeform 176"/>
                  <p:cNvSpPr/>
                  <p:nvPr/>
                </p:nvSpPr>
                <p:spPr bwMode="auto">
                  <a:xfrm>
                    <a:off x="3647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4" name="Freeform 177"/>
                  <p:cNvSpPr/>
                  <p:nvPr/>
                </p:nvSpPr>
                <p:spPr bwMode="auto">
                  <a:xfrm>
                    <a:off x="4799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5" name="Freeform 178"/>
                  <p:cNvSpPr/>
                  <p:nvPr/>
                </p:nvSpPr>
                <p:spPr bwMode="auto">
                  <a:xfrm>
                    <a:off x="5280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6" name="Freeform 179"/>
                  <p:cNvSpPr/>
                  <p:nvPr/>
                </p:nvSpPr>
                <p:spPr bwMode="auto">
                  <a:xfrm>
                    <a:off x="4128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7" name="Freeform 180"/>
                  <p:cNvSpPr/>
                  <p:nvPr/>
                </p:nvSpPr>
                <p:spPr bwMode="auto">
                  <a:xfrm>
                    <a:off x="2976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8" name="Freeform 181"/>
                  <p:cNvSpPr/>
                  <p:nvPr/>
                </p:nvSpPr>
                <p:spPr bwMode="auto">
                  <a:xfrm>
                    <a:off x="1823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19" name="Freeform 182"/>
                  <p:cNvSpPr/>
                  <p:nvPr/>
                </p:nvSpPr>
                <p:spPr bwMode="auto">
                  <a:xfrm>
                    <a:off x="960" y="4023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0" name="Freeform 183"/>
                  <p:cNvSpPr/>
                  <p:nvPr/>
                </p:nvSpPr>
                <p:spPr bwMode="auto">
                  <a:xfrm>
                    <a:off x="960" y="4119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1" name="Freeform 184"/>
                  <p:cNvSpPr/>
                  <p:nvPr/>
                </p:nvSpPr>
                <p:spPr bwMode="auto">
                  <a:xfrm>
                    <a:off x="1326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2" name="Freeform 185"/>
                  <p:cNvSpPr/>
                  <p:nvPr/>
                </p:nvSpPr>
                <p:spPr bwMode="auto">
                  <a:xfrm>
                    <a:off x="2495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3" name="Freeform 186"/>
                  <p:cNvSpPr/>
                  <p:nvPr/>
                </p:nvSpPr>
                <p:spPr bwMode="auto">
                  <a:xfrm>
                    <a:off x="3647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4" name="Freeform 187"/>
                  <p:cNvSpPr/>
                  <p:nvPr/>
                </p:nvSpPr>
                <p:spPr bwMode="auto">
                  <a:xfrm>
                    <a:off x="4795" y="3879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5" name="Freeform 188"/>
                  <p:cNvSpPr/>
                  <p:nvPr/>
                </p:nvSpPr>
                <p:spPr bwMode="auto">
                  <a:xfrm>
                    <a:off x="5281" y="3879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6" name="Line 189"/>
                  <p:cNvSpPr>
                    <a:spLocks noChangeShapeType="1"/>
                  </p:cNvSpPr>
                  <p:nvPr/>
                </p:nvSpPr>
                <p:spPr bwMode="auto">
                  <a:xfrm>
                    <a:off x="4128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7" name="Line 190"/>
                  <p:cNvSpPr>
                    <a:spLocks noChangeShapeType="1"/>
                  </p:cNvSpPr>
                  <p:nvPr/>
                </p:nvSpPr>
                <p:spPr bwMode="auto">
                  <a:xfrm>
                    <a:off x="2977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8" name="Line 191"/>
                  <p:cNvSpPr>
                    <a:spLocks noChangeShapeType="1"/>
                  </p:cNvSpPr>
                  <p:nvPr/>
                </p:nvSpPr>
                <p:spPr bwMode="auto">
                  <a:xfrm>
                    <a:off x="1824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29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2321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830" name="Text Box 19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52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31" name="Rectangle 194"/>
                  <p:cNvSpPr>
                    <a:spLocks noChangeArrowheads="1"/>
                  </p:cNvSpPr>
                  <p:nvPr/>
                </p:nvSpPr>
                <p:spPr bwMode="auto">
                  <a:xfrm>
                    <a:off x="3473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832" name="Text Box 19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4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33" name="Rectangle 196"/>
                  <p:cNvSpPr>
                    <a:spLocks noChangeArrowheads="1"/>
                  </p:cNvSpPr>
                  <p:nvPr/>
                </p:nvSpPr>
                <p:spPr bwMode="auto">
                  <a:xfrm>
                    <a:off x="4625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834" name="Text Box 1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6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35" name="Line 198"/>
                  <p:cNvSpPr>
                    <a:spLocks noChangeShapeType="1"/>
                  </p:cNvSpPr>
                  <p:nvPr/>
                </p:nvSpPr>
                <p:spPr bwMode="auto">
                  <a:xfrm>
                    <a:off x="1968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36" name="Line 199"/>
                  <p:cNvSpPr>
                    <a:spLocks noChangeShapeType="1"/>
                  </p:cNvSpPr>
                  <p:nvPr/>
                </p:nvSpPr>
                <p:spPr bwMode="auto">
                  <a:xfrm>
                    <a:off x="3148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37" name="Line 200"/>
                  <p:cNvSpPr>
                    <a:spLocks noChangeShapeType="1"/>
                  </p:cNvSpPr>
                  <p:nvPr/>
                </p:nvSpPr>
                <p:spPr bwMode="auto">
                  <a:xfrm>
                    <a:off x="4297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38" name="Line 201"/>
                  <p:cNvSpPr>
                    <a:spLocks noChangeShapeType="1"/>
                  </p:cNvSpPr>
                  <p:nvPr/>
                </p:nvSpPr>
                <p:spPr bwMode="auto">
                  <a:xfrm>
                    <a:off x="5424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39" name="Freeform 202"/>
                  <p:cNvSpPr/>
                  <p:nvPr/>
                </p:nvSpPr>
                <p:spPr bwMode="auto">
                  <a:xfrm>
                    <a:off x="3037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40" name="Freeform 203"/>
                  <p:cNvSpPr/>
                  <p:nvPr/>
                </p:nvSpPr>
                <p:spPr bwMode="auto">
                  <a:xfrm>
                    <a:off x="4189" y="2689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41" name="Freeform 204"/>
                  <p:cNvSpPr/>
                  <p:nvPr/>
                </p:nvSpPr>
                <p:spPr bwMode="auto">
                  <a:xfrm>
                    <a:off x="5329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618 h 40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42" name="Text Box 20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7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3" name="Text Box 20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73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4" name="Text Box 207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9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5" name="Text Box 208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5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6" name="Text Box 209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500" y="1625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7" name="Text Box 210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7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8" name="Text Box 211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53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49" name="Text Box 212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8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0" name="Text Box 21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789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1" name="Text Box 21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138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2" name="Text Box 21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" y="1957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3" name="Line 216"/>
                  <p:cNvSpPr>
                    <a:spLocks noChangeShapeType="1"/>
                  </p:cNvSpPr>
                  <p:nvPr/>
                </p:nvSpPr>
                <p:spPr bwMode="auto">
                  <a:xfrm>
                    <a:off x="336" y="2535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54" name="Text Box 21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2725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5" name="Text Box 21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" y="3157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18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6" name="Text Box 219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9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7" name="Text Box 220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9" y="2874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8" name="Text Box 22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01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行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59" name="Text Box 22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26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0" name="Text Box 2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509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1" name="Text Box 2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75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2" name="Text Box 22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2004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3" name="Text Box 22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263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列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4" name="Text Box 2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288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5" name="Text Box 2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129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6" name="Text Box 2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37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7" name="Text Box 2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624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68" name="Line 231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90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69" name="Line 232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16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0" name="Line 233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42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1" name="Line 234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68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2" name="Line 235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93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3" name="Line 236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219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4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287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5" name="Line 238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312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6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3388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7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3648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78" name="Text Box 24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52" y="3888"/>
                    <a:ext cx="356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en-US" altLang="zh-CN" sz="18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WE</a:t>
                    </a:r>
                    <a:endParaRPr lang="en-US" altLang="zh-CN" sz="18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79" name="Line 242"/>
                  <p:cNvSpPr>
                    <a:spLocks noChangeShapeType="1"/>
                  </p:cNvSpPr>
                  <p:nvPr/>
                </p:nvSpPr>
                <p:spPr bwMode="auto">
                  <a:xfrm>
                    <a:off x="686" y="3921"/>
                    <a:ext cx="288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880" name="Text Box 24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72" y="4023"/>
                    <a:ext cx="321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en-US" altLang="zh-CN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CS</a:t>
                    </a:r>
                    <a:endParaRPr lang="en-US" altLang="zh-CN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881" name="Line 244"/>
                  <p:cNvSpPr>
                    <a:spLocks noChangeShapeType="1"/>
                  </p:cNvSpPr>
                  <p:nvPr/>
                </p:nvSpPr>
                <p:spPr bwMode="auto">
                  <a:xfrm>
                    <a:off x="730" y="4077"/>
                    <a:ext cx="192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1386" name="Group 245"/>
                <p:cNvGrpSpPr/>
                <p:nvPr/>
              </p:nvGrpSpPr>
              <p:grpSpPr bwMode="auto">
                <a:xfrm>
                  <a:off x="144" y="672"/>
                  <a:ext cx="196" cy="3010"/>
                  <a:chOff x="140" y="674"/>
                  <a:chExt cx="196" cy="3010"/>
                </a:xfrm>
              </p:grpSpPr>
              <p:sp>
                <p:nvSpPr>
                  <p:cNvPr id="41387" name="Text Box 24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88" name="Text Box 24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89" name="Text Box 2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0" name="Text Box 24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1" name="Text Box 2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2" name="Text Box 25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3" name="Text Box 2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4" name="Text Box 2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5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396" name="Text Box 25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</p:grpSp>
          <p:grpSp>
            <p:nvGrpSpPr>
              <p:cNvPr id="41" name="Group 256"/>
              <p:cNvGrpSpPr/>
              <p:nvPr/>
            </p:nvGrpSpPr>
            <p:grpSpPr bwMode="auto">
              <a:xfrm>
                <a:off x="906" y="855"/>
                <a:ext cx="4567" cy="430"/>
                <a:chOff x="906" y="855"/>
                <a:chExt cx="4567" cy="430"/>
              </a:xfrm>
            </p:grpSpPr>
            <p:grpSp>
              <p:nvGrpSpPr>
                <p:cNvPr id="229418" name="Group 257"/>
                <p:cNvGrpSpPr/>
                <p:nvPr/>
              </p:nvGrpSpPr>
              <p:grpSpPr bwMode="auto">
                <a:xfrm>
                  <a:off x="906" y="855"/>
                  <a:ext cx="4567" cy="430"/>
                  <a:chOff x="902" y="857"/>
                  <a:chExt cx="4567" cy="430"/>
                </a:xfrm>
              </p:grpSpPr>
              <p:grpSp>
                <p:nvGrpSpPr>
                  <p:cNvPr id="229423" name="Group 258"/>
                  <p:cNvGrpSpPr/>
                  <p:nvPr/>
                </p:nvGrpSpPr>
                <p:grpSpPr bwMode="auto">
                  <a:xfrm>
                    <a:off x="1152" y="1013"/>
                    <a:ext cx="4317" cy="274"/>
                    <a:chOff x="1176" y="1068"/>
                    <a:chExt cx="4317" cy="274"/>
                  </a:xfrm>
                </p:grpSpPr>
                <p:sp>
                  <p:nvSpPr>
                    <p:cNvPr id="229434" name="Rectangle 2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5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15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29435" name="Rectangle 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29436" name="Rectangle 2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31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29437" name="Rectangle 2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16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29438" name="Rectangle 26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67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47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29439" name="Rectangle 2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1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32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41383" name="Rectangle 2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05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63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41384" name="Rectangle 2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48</a:t>
                      </a:r>
                      <a:endPara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grpSp>
                <p:nvGrpSpPr>
                  <p:cNvPr id="229424" name="Group 267"/>
                  <p:cNvGrpSpPr/>
                  <p:nvPr/>
                </p:nvGrpSpPr>
                <p:grpSpPr bwMode="auto">
                  <a:xfrm>
                    <a:off x="902" y="857"/>
                    <a:ext cx="4419" cy="145"/>
                    <a:chOff x="902" y="857"/>
                    <a:chExt cx="4419" cy="145"/>
                  </a:xfrm>
                </p:grpSpPr>
                <p:sp>
                  <p:nvSpPr>
                    <p:cNvPr id="229425" name="Freeform 268"/>
                    <p:cNvSpPr/>
                    <p:nvPr/>
                  </p:nvSpPr>
                  <p:spPr bwMode="auto">
                    <a:xfrm>
                      <a:off x="902" y="857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76200" cmpd="sng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26" name="Line 2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27" name="Line 2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28" name="Line 27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2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29" name="Line 2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00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30" name="Line 2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76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31" name="Line 2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5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32" name="Line 2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2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33" name="Line 2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0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229419" name="Text Box 277"/>
                <p:cNvSpPr txBox="1">
                  <a:spLocks noChangeArrowheads="1"/>
                </p:cNvSpPr>
                <p:nvPr/>
              </p:nvSpPr>
              <p:spPr bwMode="auto">
                <a:xfrm>
                  <a:off x="140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9420" name="Text Box 278"/>
                <p:cNvSpPr txBox="1">
                  <a:spLocks noChangeArrowheads="1"/>
                </p:cNvSpPr>
                <p:nvPr/>
              </p:nvSpPr>
              <p:spPr bwMode="auto">
                <a:xfrm>
                  <a:off x="254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9421" name="Text Box 279"/>
                <p:cNvSpPr txBox="1">
                  <a:spLocks noChangeArrowheads="1"/>
                </p:cNvSpPr>
                <p:nvPr/>
              </p:nvSpPr>
              <p:spPr bwMode="auto">
                <a:xfrm>
                  <a:off x="3722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29422" name="Text Box 280"/>
                <p:cNvSpPr txBox="1">
                  <a:spLocks noChangeArrowheads="1"/>
                </p:cNvSpPr>
                <p:nvPr/>
              </p:nvSpPr>
              <p:spPr bwMode="auto">
                <a:xfrm>
                  <a:off x="486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2" name="Group 281"/>
              <p:cNvGrpSpPr/>
              <p:nvPr/>
            </p:nvGrpSpPr>
            <p:grpSpPr bwMode="auto">
              <a:xfrm>
                <a:off x="1146" y="3544"/>
                <a:ext cx="4304" cy="336"/>
                <a:chOff x="1146" y="3544"/>
                <a:chExt cx="4304" cy="336"/>
              </a:xfrm>
            </p:grpSpPr>
            <p:grpSp>
              <p:nvGrpSpPr>
                <p:cNvPr id="229406" name="Group 282"/>
                <p:cNvGrpSpPr/>
                <p:nvPr/>
              </p:nvGrpSpPr>
              <p:grpSpPr bwMode="auto">
                <a:xfrm>
                  <a:off x="1146" y="3544"/>
                  <a:ext cx="823" cy="336"/>
                  <a:chOff x="1142" y="3546"/>
                  <a:chExt cx="823" cy="336"/>
                </a:xfrm>
              </p:grpSpPr>
              <p:sp>
                <p:nvSpPr>
                  <p:cNvPr id="229416" name="Rectangle 283"/>
                  <p:cNvSpPr>
                    <a:spLocks noChangeArrowheads="1"/>
                  </p:cNvSpPr>
                  <p:nvPr/>
                </p:nvSpPr>
                <p:spPr bwMode="auto">
                  <a:xfrm>
                    <a:off x="1142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417" name="Text Box 28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200" y="359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29407" name="Group 285"/>
                <p:cNvGrpSpPr/>
                <p:nvPr/>
              </p:nvGrpSpPr>
              <p:grpSpPr bwMode="auto">
                <a:xfrm>
                  <a:off x="2322" y="3544"/>
                  <a:ext cx="823" cy="336"/>
                  <a:chOff x="2318" y="3546"/>
                  <a:chExt cx="823" cy="336"/>
                </a:xfrm>
              </p:grpSpPr>
              <p:sp>
                <p:nvSpPr>
                  <p:cNvPr id="229414" name="Rectangle 286"/>
                  <p:cNvSpPr>
                    <a:spLocks noChangeArrowheads="1"/>
                  </p:cNvSpPr>
                  <p:nvPr/>
                </p:nvSpPr>
                <p:spPr bwMode="auto">
                  <a:xfrm>
                    <a:off x="2318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415" name="Text Box 28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52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29408" name="Group 288"/>
                <p:cNvGrpSpPr/>
                <p:nvPr/>
              </p:nvGrpSpPr>
              <p:grpSpPr bwMode="auto">
                <a:xfrm>
                  <a:off x="3474" y="3544"/>
                  <a:ext cx="823" cy="336"/>
                  <a:chOff x="3470" y="3546"/>
                  <a:chExt cx="823" cy="336"/>
                </a:xfrm>
              </p:grpSpPr>
              <p:sp>
                <p:nvSpPr>
                  <p:cNvPr id="229412" name="Rectangle 289"/>
                  <p:cNvSpPr>
                    <a:spLocks noChangeArrowheads="1"/>
                  </p:cNvSpPr>
                  <p:nvPr/>
                </p:nvSpPr>
                <p:spPr bwMode="auto">
                  <a:xfrm>
                    <a:off x="3470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413" name="Text Box 29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4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29409" name="Group 291"/>
                <p:cNvGrpSpPr/>
                <p:nvPr/>
              </p:nvGrpSpPr>
              <p:grpSpPr bwMode="auto">
                <a:xfrm>
                  <a:off x="4627" y="3544"/>
                  <a:ext cx="823" cy="336"/>
                  <a:chOff x="4623" y="3546"/>
                  <a:chExt cx="823" cy="336"/>
                </a:xfrm>
              </p:grpSpPr>
              <p:sp>
                <p:nvSpPr>
                  <p:cNvPr id="229410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4623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</a:pPr>
                    <a:endParaRPr lang="zh-CN" altLang="en-US"/>
                  </a:p>
                </p:txBody>
              </p:sp>
              <p:sp>
                <p:nvSpPr>
                  <p:cNvPr id="229411" name="Text Box 29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6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</p:grpSp>
          <p:grpSp>
            <p:nvGrpSpPr>
              <p:cNvPr id="43" name="Group 294"/>
              <p:cNvGrpSpPr/>
              <p:nvPr/>
            </p:nvGrpSpPr>
            <p:grpSpPr bwMode="auto">
              <a:xfrm>
                <a:off x="919" y="2630"/>
                <a:ext cx="3944" cy="254"/>
                <a:chOff x="919" y="2630"/>
                <a:chExt cx="3944" cy="254"/>
              </a:xfrm>
            </p:grpSpPr>
            <p:grpSp>
              <p:nvGrpSpPr>
                <p:cNvPr id="55" name="Group 295"/>
                <p:cNvGrpSpPr/>
                <p:nvPr/>
              </p:nvGrpSpPr>
              <p:grpSpPr bwMode="auto">
                <a:xfrm>
                  <a:off x="919" y="2694"/>
                  <a:ext cx="3858" cy="190"/>
                  <a:chOff x="915" y="2696"/>
                  <a:chExt cx="3858" cy="190"/>
                </a:xfrm>
              </p:grpSpPr>
              <p:sp>
                <p:nvSpPr>
                  <p:cNvPr id="229401" name="Freeform 296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402" name="Freeform 297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403" name="Freeform 298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404" name="Freeform 299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405" name="Freeform 300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6" name="Group 301"/>
                <p:cNvGrpSpPr/>
                <p:nvPr/>
              </p:nvGrpSpPr>
              <p:grpSpPr bwMode="auto">
                <a:xfrm>
                  <a:off x="1216" y="2630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229393" name="Group 302"/>
                  <p:cNvGrpSpPr/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229399" name="Line 30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400" name="Line 30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9394" name="Freeform 305"/>
                  <p:cNvSpPr/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9395" name="Group 306"/>
                  <p:cNvGrpSpPr/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229397" name="Line 30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98" name="Line 30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57" name="Group 309"/>
                <p:cNvGrpSpPr/>
                <p:nvPr/>
              </p:nvGrpSpPr>
              <p:grpSpPr bwMode="auto">
                <a:xfrm>
                  <a:off x="2368" y="2632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229386" name="Group 310"/>
                  <p:cNvGrpSpPr/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229391" name="Line 31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92" name="Line 31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9387" name="Freeform 313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9388" name="Group 314"/>
                  <p:cNvGrpSpPr/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229389" name="Line 315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90" name="Line 31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58" name="Group 317"/>
                <p:cNvGrpSpPr/>
                <p:nvPr/>
              </p:nvGrpSpPr>
              <p:grpSpPr bwMode="auto">
                <a:xfrm>
                  <a:off x="3520" y="2632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229379" name="Group 318"/>
                  <p:cNvGrpSpPr/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229384" name="Line 31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85" name="Line 320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29380" name="Freeform 321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229381" name="Group 322"/>
                  <p:cNvGrpSpPr/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229382" name="Line 32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83" name="Line 324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59" name="Group 325"/>
                <p:cNvGrpSpPr/>
                <p:nvPr/>
              </p:nvGrpSpPr>
              <p:grpSpPr bwMode="auto">
                <a:xfrm>
                  <a:off x="4671" y="2632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60" name="Group 326"/>
                  <p:cNvGrpSpPr/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229377" name="Line 32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78" name="Line 32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61" name="Freeform 329"/>
                  <p:cNvSpPr/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62" name="Group 330"/>
                  <p:cNvGrpSpPr/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63" name="Line 33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29376" name="Line 33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grpSp>
            <p:nvGrpSpPr>
              <p:cNvPr id="44" name="Group 333"/>
              <p:cNvGrpSpPr/>
              <p:nvPr/>
            </p:nvGrpSpPr>
            <p:grpSpPr bwMode="auto">
              <a:xfrm>
                <a:off x="1059" y="2734"/>
                <a:ext cx="4225" cy="816"/>
                <a:chOff x="1059" y="2734"/>
                <a:chExt cx="4225" cy="816"/>
              </a:xfrm>
            </p:grpSpPr>
            <p:grpSp>
              <p:nvGrpSpPr>
                <p:cNvPr id="45" name="Group 334"/>
                <p:cNvGrpSpPr/>
                <p:nvPr/>
              </p:nvGrpSpPr>
              <p:grpSpPr bwMode="auto">
                <a:xfrm>
                  <a:off x="1395" y="2734"/>
                  <a:ext cx="3889" cy="816"/>
                  <a:chOff x="1395" y="2734"/>
                  <a:chExt cx="3889" cy="816"/>
                </a:xfrm>
              </p:grpSpPr>
              <p:sp>
                <p:nvSpPr>
                  <p:cNvPr id="51" name="Freeform 335"/>
                  <p:cNvSpPr/>
                  <p:nvPr/>
                </p:nvSpPr>
                <p:spPr bwMode="auto">
                  <a:xfrm>
                    <a:off x="1395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2" name="Freeform 336"/>
                  <p:cNvSpPr/>
                  <p:nvPr/>
                </p:nvSpPr>
                <p:spPr bwMode="auto">
                  <a:xfrm>
                    <a:off x="4852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3" name="Freeform 337"/>
                  <p:cNvSpPr/>
                  <p:nvPr/>
                </p:nvSpPr>
                <p:spPr bwMode="auto">
                  <a:xfrm>
                    <a:off x="3700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4" name="Freeform 338"/>
                  <p:cNvSpPr/>
                  <p:nvPr/>
                </p:nvSpPr>
                <p:spPr bwMode="auto">
                  <a:xfrm>
                    <a:off x="2546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" name="Group 339"/>
                <p:cNvGrpSpPr/>
                <p:nvPr/>
              </p:nvGrpSpPr>
              <p:grpSpPr bwMode="auto">
                <a:xfrm>
                  <a:off x="1059" y="2746"/>
                  <a:ext cx="3750" cy="804"/>
                  <a:chOff x="1059" y="2746"/>
                  <a:chExt cx="3750" cy="804"/>
                </a:xfrm>
              </p:grpSpPr>
              <p:sp>
                <p:nvSpPr>
                  <p:cNvPr id="47" name="Freeform 340"/>
                  <p:cNvSpPr/>
                  <p:nvPr/>
                </p:nvSpPr>
                <p:spPr bwMode="auto">
                  <a:xfrm>
                    <a:off x="1059" y="2746"/>
                    <a:ext cx="280" cy="795"/>
                  </a:xfrm>
                  <a:custGeom>
                    <a:avLst/>
                    <a:gdLst>
                      <a:gd name="T0" fmla="*/ 276 w 280"/>
                      <a:gd name="T1" fmla="*/ 795 h 795"/>
                      <a:gd name="T2" fmla="*/ 280 w 280"/>
                      <a:gd name="T3" fmla="*/ 657 h 795"/>
                      <a:gd name="T4" fmla="*/ 0 w 280"/>
                      <a:gd name="T5" fmla="*/ 660 h 795"/>
                      <a:gd name="T6" fmla="*/ 3 w 280"/>
                      <a:gd name="T7" fmla="*/ 0 h 795"/>
                      <a:gd name="T8" fmla="*/ 144 w 280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80" h="795">
                        <a:moveTo>
                          <a:pt x="276" y="795"/>
                        </a:moveTo>
                        <a:lnTo>
                          <a:pt x="280" y="657"/>
                        </a:lnTo>
                        <a:lnTo>
                          <a:pt x="0" y="660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8" name="Freeform 341"/>
                  <p:cNvSpPr/>
                  <p:nvPr/>
                </p:nvSpPr>
                <p:spPr bwMode="auto">
                  <a:xfrm>
                    <a:off x="2211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Freeform 342"/>
                  <p:cNvSpPr/>
                  <p:nvPr/>
                </p:nvSpPr>
                <p:spPr bwMode="auto">
                  <a:xfrm>
                    <a:off x="3363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Freeform 343"/>
                  <p:cNvSpPr/>
                  <p:nvPr/>
                </p:nvSpPr>
                <p:spPr bwMode="auto">
                  <a:xfrm>
                    <a:off x="4515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</p:grpSp>
        <p:grpSp>
          <p:nvGrpSpPr>
            <p:cNvPr id="29" name="Group 344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grpSp>
            <p:nvGrpSpPr>
              <p:cNvPr id="30" name="Group 345"/>
              <p:cNvGrpSpPr/>
              <p:nvPr/>
            </p:nvGrpSpPr>
            <p:grpSpPr bwMode="auto">
              <a:xfrm>
                <a:off x="1964" y="3737"/>
                <a:ext cx="3637" cy="0"/>
                <a:chOff x="1964" y="3737"/>
                <a:chExt cx="3637" cy="0"/>
              </a:xfrm>
            </p:grpSpPr>
            <p:sp>
              <p:nvSpPr>
                <p:cNvPr id="36" name="Line 346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" name="Line 347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" name="Line 348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" name="Line 349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1" name="Group 350"/>
              <p:cNvGrpSpPr/>
              <p:nvPr/>
            </p:nvGrpSpPr>
            <p:grpSpPr bwMode="auto">
              <a:xfrm>
                <a:off x="1944" y="3527"/>
                <a:ext cx="3816" cy="212"/>
                <a:chOff x="1944" y="3527"/>
                <a:chExt cx="3816" cy="212"/>
              </a:xfrm>
            </p:grpSpPr>
            <p:sp>
              <p:nvSpPr>
                <p:cNvPr id="32" name="Text Box 351"/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3" name="Text Box 352"/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2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4" name="Text Box 353"/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3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5" name="Text Box 354"/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4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</p:grpSp>
      <p:grpSp>
        <p:nvGrpSpPr>
          <p:cNvPr id="229896" name="Group 355"/>
          <p:cNvGrpSpPr/>
          <p:nvPr/>
        </p:nvGrpSpPr>
        <p:grpSpPr bwMode="auto">
          <a:xfrm>
            <a:off x="2867770" y="1918672"/>
            <a:ext cx="6275387" cy="2357437"/>
            <a:chOff x="1051" y="1199"/>
            <a:chExt cx="3953" cy="1485"/>
          </a:xfrm>
        </p:grpSpPr>
        <p:grpSp>
          <p:nvGrpSpPr>
            <p:cNvPr id="229897" name="Group 356"/>
            <p:cNvGrpSpPr/>
            <p:nvPr/>
          </p:nvGrpSpPr>
          <p:grpSpPr bwMode="auto">
            <a:xfrm>
              <a:off x="1051" y="2355"/>
              <a:ext cx="3942" cy="5"/>
              <a:chOff x="1058" y="2355"/>
              <a:chExt cx="3942" cy="5"/>
            </a:xfrm>
          </p:grpSpPr>
          <p:sp>
            <p:nvSpPr>
              <p:cNvPr id="229907" name="Freeform 357"/>
              <p:cNvSpPr/>
              <p:nvPr/>
            </p:nvSpPr>
            <p:spPr bwMode="auto">
              <a:xfrm>
                <a:off x="1437" y="2359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08" name="Freeform 358"/>
              <p:cNvSpPr/>
              <p:nvPr/>
            </p:nvSpPr>
            <p:spPr bwMode="auto">
              <a:xfrm>
                <a:off x="1058" y="2359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09" name="Freeform 359"/>
              <p:cNvSpPr/>
              <p:nvPr/>
            </p:nvSpPr>
            <p:spPr bwMode="auto">
              <a:xfrm>
                <a:off x="2589" y="2359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10" name="Freeform 360"/>
              <p:cNvSpPr/>
              <p:nvPr/>
            </p:nvSpPr>
            <p:spPr bwMode="auto">
              <a:xfrm>
                <a:off x="2210" y="2359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11" name="Freeform 361"/>
              <p:cNvSpPr/>
              <p:nvPr/>
            </p:nvSpPr>
            <p:spPr bwMode="auto">
              <a:xfrm>
                <a:off x="3756" y="2355"/>
                <a:ext cx="99" cy="3"/>
              </a:xfrm>
              <a:custGeom>
                <a:avLst/>
                <a:gdLst>
                  <a:gd name="T0" fmla="*/ 0 w 99"/>
                  <a:gd name="T1" fmla="*/ 3 h 3"/>
                  <a:gd name="T2" fmla="*/ 99 w 9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3">
                    <a:moveTo>
                      <a:pt x="0" y="3"/>
                    </a:moveTo>
                    <a:lnTo>
                      <a:pt x="99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12" name="Freeform 362"/>
              <p:cNvSpPr/>
              <p:nvPr/>
            </p:nvSpPr>
            <p:spPr bwMode="auto">
              <a:xfrm>
                <a:off x="3362" y="2359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13" name="Freeform 363"/>
              <p:cNvSpPr/>
              <p:nvPr/>
            </p:nvSpPr>
            <p:spPr bwMode="auto">
              <a:xfrm>
                <a:off x="4893" y="2359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14" name="Freeform 364"/>
              <p:cNvSpPr/>
              <p:nvPr/>
            </p:nvSpPr>
            <p:spPr bwMode="auto">
              <a:xfrm>
                <a:off x="4514" y="2359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29898" name="Group 365"/>
            <p:cNvGrpSpPr/>
            <p:nvPr/>
          </p:nvGrpSpPr>
          <p:grpSpPr bwMode="auto">
            <a:xfrm>
              <a:off x="1055" y="1215"/>
              <a:ext cx="3608" cy="1469"/>
              <a:chOff x="1055" y="1215"/>
              <a:chExt cx="3608" cy="1469"/>
            </a:xfrm>
          </p:grpSpPr>
          <p:sp>
            <p:nvSpPr>
              <p:cNvPr id="229903" name="Freeform 366"/>
              <p:cNvSpPr/>
              <p:nvPr/>
            </p:nvSpPr>
            <p:spPr bwMode="auto">
              <a:xfrm>
                <a:off x="1055" y="1215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4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4" y="0"/>
                    </a:lnTo>
                    <a:lnTo>
                      <a:pt x="95" y="1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04" name="Freeform 367"/>
              <p:cNvSpPr/>
              <p:nvPr/>
            </p:nvSpPr>
            <p:spPr bwMode="auto">
              <a:xfrm>
                <a:off x="2207" y="1217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1 w 152"/>
                  <a:gd name="T5" fmla="*/ 1 h 1467"/>
                  <a:gd name="T6" fmla="*/ 86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1" y="1"/>
                    </a:lnTo>
                    <a:lnTo>
                      <a:pt x="86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05" name="Freeform 368"/>
              <p:cNvSpPr/>
              <p:nvPr/>
            </p:nvSpPr>
            <p:spPr bwMode="auto">
              <a:xfrm>
                <a:off x="3359" y="1218"/>
                <a:ext cx="152" cy="1466"/>
              </a:xfrm>
              <a:custGeom>
                <a:avLst/>
                <a:gdLst>
                  <a:gd name="T0" fmla="*/ 152 w 152"/>
                  <a:gd name="T1" fmla="*/ 1466 h 1466"/>
                  <a:gd name="T2" fmla="*/ 0 w 152"/>
                  <a:gd name="T3" fmla="*/ 1466 h 1466"/>
                  <a:gd name="T4" fmla="*/ 1 w 152"/>
                  <a:gd name="T5" fmla="*/ 0 h 1466"/>
                  <a:gd name="T6" fmla="*/ 109 w 152"/>
                  <a:gd name="T7" fmla="*/ 0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6">
                    <a:moveTo>
                      <a:pt x="152" y="1466"/>
                    </a:moveTo>
                    <a:lnTo>
                      <a:pt x="0" y="1466"/>
                    </a:lnTo>
                    <a:lnTo>
                      <a:pt x="1" y="0"/>
                    </a:lnTo>
                    <a:lnTo>
                      <a:pt x="109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29906" name="Freeform 369"/>
              <p:cNvSpPr/>
              <p:nvPr/>
            </p:nvSpPr>
            <p:spPr bwMode="auto">
              <a:xfrm>
                <a:off x="4505" y="1217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229899" name="Freeform 370"/>
            <p:cNvSpPr/>
            <p:nvPr/>
          </p:nvSpPr>
          <p:spPr bwMode="auto">
            <a:xfrm>
              <a:off x="1397" y="1202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9900" name="Freeform 371"/>
            <p:cNvSpPr/>
            <p:nvPr/>
          </p:nvSpPr>
          <p:spPr bwMode="auto">
            <a:xfrm>
              <a:off x="2550" y="1199"/>
              <a:ext cx="150" cy="1474"/>
            </a:xfrm>
            <a:custGeom>
              <a:avLst/>
              <a:gdLst>
                <a:gd name="T0" fmla="*/ 42 w 150"/>
                <a:gd name="T1" fmla="*/ 0 h 1474"/>
                <a:gd name="T2" fmla="*/ 150 w 150"/>
                <a:gd name="T3" fmla="*/ 0 h 1474"/>
                <a:gd name="T4" fmla="*/ 147 w 150"/>
                <a:gd name="T5" fmla="*/ 1474 h 1474"/>
                <a:gd name="T6" fmla="*/ 0 w 150"/>
                <a:gd name="T7" fmla="*/ 1474 h 14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1474">
                  <a:moveTo>
                    <a:pt x="42" y="0"/>
                  </a:moveTo>
                  <a:lnTo>
                    <a:pt x="150" y="0"/>
                  </a:lnTo>
                  <a:lnTo>
                    <a:pt x="147" y="1474"/>
                  </a:lnTo>
                  <a:lnTo>
                    <a:pt x="0" y="1474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9901" name="Freeform 372"/>
            <p:cNvSpPr/>
            <p:nvPr/>
          </p:nvSpPr>
          <p:spPr bwMode="auto">
            <a:xfrm>
              <a:off x="3705" y="1199"/>
              <a:ext cx="141" cy="1471"/>
            </a:xfrm>
            <a:custGeom>
              <a:avLst/>
              <a:gdLst>
                <a:gd name="T0" fmla="*/ 33 w 141"/>
                <a:gd name="T1" fmla="*/ 0 h 1471"/>
                <a:gd name="T2" fmla="*/ 141 w 141"/>
                <a:gd name="T3" fmla="*/ 0 h 1471"/>
                <a:gd name="T4" fmla="*/ 141 w 141"/>
                <a:gd name="T5" fmla="*/ 1471 h 1471"/>
                <a:gd name="T6" fmla="*/ 0 w 141"/>
                <a:gd name="T7" fmla="*/ 1471 h 1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471">
                  <a:moveTo>
                    <a:pt x="33" y="0"/>
                  </a:moveTo>
                  <a:lnTo>
                    <a:pt x="141" y="0"/>
                  </a:lnTo>
                  <a:lnTo>
                    <a:pt x="141" y="1471"/>
                  </a:lnTo>
                  <a:lnTo>
                    <a:pt x="0" y="1471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29902" name="Freeform 373"/>
            <p:cNvSpPr/>
            <p:nvPr/>
          </p:nvSpPr>
          <p:spPr bwMode="auto">
            <a:xfrm>
              <a:off x="4854" y="1199"/>
              <a:ext cx="150" cy="1480"/>
            </a:xfrm>
            <a:custGeom>
              <a:avLst/>
              <a:gdLst>
                <a:gd name="T0" fmla="*/ 42 w 150"/>
                <a:gd name="T1" fmla="*/ 0 h 1480"/>
                <a:gd name="T2" fmla="*/ 150 w 150"/>
                <a:gd name="T3" fmla="*/ 0 h 1480"/>
                <a:gd name="T4" fmla="*/ 147 w 150"/>
                <a:gd name="T5" fmla="*/ 1480 h 1480"/>
                <a:gd name="T6" fmla="*/ 0 w 150"/>
                <a:gd name="T7" fmla="*/ 1477 h 1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1480">
                  <a:moveTo>
                    <a:pt x="42" y="0"/>
                  </a:moveTo>
                  <a:lnTo>
                    <a:pt x="150" y="0"/>
                  </a:lnTo>
                  <a:lnTo>
                    <a:pt x="147" y="1480"/>
                  </a:lnTo>
                  <a:lnTo>
                    <a:pt x="0" y="1477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9915" name="Group 374"/>
          <p:cNvGrpSpPr/>
          <p:nvPr/>
        </p:nvGrpSpPr>
        <p:grpSpPr bwMode="auto">
          <a:xfrm>
            <a:off x="2651870" y="2633047"/>
            <a:ext cx="6613525" cy="1963737"/>
            <a:chOff x="915" y="1649"/>
            <a:chExt cx="4166" cy="1237"/>
          </a:xfrm>
        </p:grpSpPr>
        <p:grpSp>
          <p:nvGrpSpPr>
            <p:cNvPr id="229916" name="Group 375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29925" name="Group 376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29958" name="Freeform 377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9959" name="Freeform 378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9960" name="Freeform 379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9961" name="Freeform 380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9962" name="Freeform 381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9926" name="Group 382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29951" name="Group 383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56" name="Line 38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57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9952" name="Freeform 386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9953" name="Group 387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54" name="Line 38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55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9927" name="Group 390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29944" name="Group 391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49" name="Line 39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50" name="Line 39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9945" name="Freeform 394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9946" name="Group 395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47" name="Line 39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48" name="Line 39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9928" name="Group 398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29937" name="Group 399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42" name="Line 400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43" name="Line 401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9938" name="Freeform 402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9939" name="Group 403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40" name="Line 40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41" name="Line 40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9929" name="Group 406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29930" name="Group 407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35" name="Line 40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36" name="Line 40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29931" name="Freeform 410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29932" name="Group 411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29933" name="Line 41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9934" name="Line 41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29917" name="Rectangle 414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18" name="Text Box 415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19" name="Rectangle 416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20" name="Rectangle 417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21" name="Rectangle 418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22" name="Text Box 419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23" name="Text Box 420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29924" name="Text Box 421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229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822253" y="841625"/>
            <a:ext cx="7292975" cy="403225"/>
            <a:chOff x="1022" y="538"/>
            <a:chExt cx="4594" cy="254"/>
          </a:xfrm>
        </p:grpSpPr>
        <p:sp>
          <p:nvSpPr>
            <p:cNvPr id="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" name="Text Box 21"/>
          <p:cNvSpPr txBox="1">
            <a:spLocks noChangeArrowheads="1"/>
          </p:cNvSpPr>
          <p:nvPr/>
        </p:nvSpPr>
        <p:spPr bwMode="auto">
          <a:xfrm>
            <a:off x="275110" y="103438"/>
            <a:ext cx="7315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 dirty="0">
                <a:latin typeface="Times New Roman" panose="02020603050405020304" pitchFamily="18" charset="0"/>
              </a:rPr>
              <a:t>Intel 2114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矩阵 </a:t>
            </a:r>
            <a:r>
              <a:rPr lang="en-US" altLang="zh-CN" sz="3200" dirty="0">
                <a:latin typeface="Times New Roman" panose="02020603050405020304" pitchFamily="18" charset="0"/>
              </a:rPr>
              <a:t>(64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 dirty="0">
                <a:latin typeface="Times New Roman" panose="02020603050405020304" pitchFamily="18" charset="0"/>
              </a:rPr>
              <a:t> 64)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2" name="Group 22"/>
          <p:cNvGrpSpPr/>
          <p:nvPr/>
        </p:nvGrpSpPr>
        <p:grpSpPr bwMode="auto">
          <a:xfrm>
            <a:off x="4324028" y="5586663"/>
            <a:ext cx="6057900" cy="336550"/>
            <a:chOff x="1944" y="3527"/>
            <a:chExt cx="3816" cy="212"/>
          </a:xfrm>
        </p:grpSpPr>
        <p:sp>
          <p:nvSpPr>
            <p:cNvPr id="23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4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" name="Group 27"/>
          <p:cNvGrpSpPr/>
          <p:nvPr/>
        </p:nvGrpSpPr>
        <p:grpSpPr bwMode="auto">
          <a:xfrm>
            <a:off x="1460178" y="1057525"/>
            <a:ext cx="8686800" cy="5716588"/>
            <a:chOff x="140" y="674"/>
            <a:chExt cx="5472" cy="3601"/>
          </a:xfrm>
        </p:grpSpPr>
        <p:grpSp>
          <p:nvGrpSpPr>
            <p:cNvPr id="28" name="Group 28"/>
            <p:cNvGrpSpPr/>
            <p:nvPr/>
          </p:nvGrpSpPr>
          <p:grpSpPr bwMode="auto">
            <a:xfrm>
              <a:off x="140" y="713"/>
              <a:ext cx="5472" cy="3562"/>
              <a:chOff x="140" y="713"/>
              <a:chExt cx="5472" cy="3562"/>
            </a:xfrm>
          </p:grpSpPr>
          <p:sp>
            <p:nvSpPr>
              <p:cNvPr id="40" name="Rectangle 29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1" name="Rectangle 30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" name="Text Box 31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Rectangle 32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Rectangle 33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Text Box 34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Rectangle 35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" name="Rectangle 36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" name="Text Box 37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" name="Rectangle 38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" name="Rectangle 39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" name="Text Box 40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" name="Rectangle 41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" name="Rectangle 42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" name="Rectangle 43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" name="Rectangle 44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" name="Rectangle 45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" name="Rectangle 46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9" name="Rectangle 48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0" name="Rectangle 49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rIns="0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Line 50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2" name="Line 51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3" name="Freeform 52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0" name="Line 53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1" name="Line 54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2" name="Freeform 55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23" name="Freeform 56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24" name="Freeform 57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25" name="Line 58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6" name="Line 59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7" name="Freeform 60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8" name="Line 61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29" name="Line 62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30" name="Freeform 63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31" name="Freeform 64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32" name="Line 65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33" name="Line 66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34" name="Freeform 67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35" name="Line 68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36" name="Line 69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37" name="Freeform 70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38" name="Freeform 71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39" name="Line 72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0" name="Line 73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1" name="Freeform 74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2" name="Line 75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3" name="Line 76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4" name="Freeform 77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45" name="Freeform 78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46" name="Line 79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7" name="Line 80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8" name="Freeform 81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49" name="Line 82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0" name="Line 83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1" name="Freeform 84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52" name="Freeform 85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53" name="Line 86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4" name="Line 87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5" name="Freeform 88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6" name="Line 89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7" name="Line 90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0758" name="Freeform 91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59" name="Freeform 92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30760" name="Group 93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230817" name="Group 94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230822" name="Line 9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23" name="Line 9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30818" name="Freeform 97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30819" name="Group 98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230820" name="Line 9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21" name="Line 10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30761" name="Freeform 101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62" name="Freeform 102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230763" name="Group 103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230810" name="Group 104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230815" name="Line 10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16" name="Line 10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30811" name="Freeform 107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30812" name="Group 108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230813" name="Line 10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14" name="Line 11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30764" name="Freeform 111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65" name="Freeform 112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66" name="Freeform 113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67" name="Line 114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68" name="Line 115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69" name="Line 116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0" name="Line 117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1" name="Line 118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2" name="Line 119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3" name="Line 120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5" name="Line 121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6" name="Freeform 122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7" name="Freeform 123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8" name="Freeform 124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79" name="Freeform 125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80" name="Freeform 126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81" name="Freeform 127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82" name="Line 128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83" name="Line 129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0" name="Line 130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1" name="Line 131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2" name="Line 132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3" name="Line 133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4" name="Line 134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5" name="Line 135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6" name="Freeform 136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7" name="Line 137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8" name="Line 138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09" name="Line 139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0" name="Line 140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1" name="Line 141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2" name="Line 142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3" name="Line 143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4" name="Line 144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5" name="Freeform 145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6" name="Freeform 146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17" name="Rectangle 147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30418" name="Text Box 148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419" name="Freeform 149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1" name="Freeform 150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2" name="Freeform 151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3" name="Freeform 152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4" name="Freeform 153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5" name="Freeform 154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6" name="Freeform 155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7" name="Freeform 156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8" name="Freeform 157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29" name="Freeform 158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0" name="Freeform 159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1" name="Freeform 160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2" name="Freeform 161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3" name="Freeform 162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4" name="Freeform 163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5" name="Freeform 164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6" name="Freeform 165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7" name="Freeform 166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8" name="Freeform 167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39" name="Freeform 168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0" name="Freeform 169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1" name="Freeform 170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2" name="Freeform 171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3" name="Freeform 172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4" name="Freeform 173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5" name="Freeform 174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6" name="Freeform 175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7" name="Freeform 176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8" name="Freeform 177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49" name="Freeform 178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0" name="Freeform 179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1" name="Freeform 180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2" name="Freeform 181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3" name="Freeform 182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4" name="Freeform 183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5" name="Freeform 184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6" name="Freeform 185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7" name="Freeform 186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8" name="Line 187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59" name="Line 188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60" name="Line 189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461" name="Rectangle 190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30462" name="Text Box 191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463" name="Rectangle 192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2412" name="Text Box 193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13" name="Rectangle 194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2414" name="Text Box 195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15" name="Line 196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16" name="Line 197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17" name="Line 198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18" name="Line 199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19" name="Freeform 200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20" name="Freeform 201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21" name="Freeform 202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618 h 4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2422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3" name="Text Box 204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4" name="Text Box 205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5" name="Text Box 206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6" name="Text Box 207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7" name="Text Box 208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8" name="Text Box 209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29" name="Text Box 210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0" name="Text Box 211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1" name="Text Box 212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984" name="Text Box 213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985" name="Line 214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1987" name="Text Box 215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994" name="Text Box 216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84" name="Text Box 217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85" name="Text Box 218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86" name="Text Box 219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87" name="Text Box 220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88" name="Text Box 221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89" name="Text Box 222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0" name="Text Box 223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1" name="Text Box 224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2" name="Text Box 225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3" name="Text Box 226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4" name="Text Box 227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5" name="Text Box 228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796" name="Line 229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97" name="Line 230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98" name="Line 231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799" name="Line 232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0" name="Line 233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1" name="Line 234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2" name="Line 235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3" name="Line 236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4" name="Line 237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5" name="Line 238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6" name="Text Box 239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WE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807" name="Line 240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08" name="Text Box 241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  <a:endPara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809" name="Line 242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9" name="Group 243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30" name="Text Box 244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Text Box 245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Text Box 247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Text Box 248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5" name="Text Box 249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" name="Text Box 250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" name="Text Box 251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Text Box 252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Text Box 253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30824" name="Group 254"/>
          <p:cNvGrpSpPr/>
          <p:nvPr/>
        </p:nvGrpSpPr>
        <p:grpSpPr bwMode="auto">
          <a:xfrm>
            <a:off x="2669853" y="1348038"/>
            <a:ext cx="7712075" cy="4575175"/>
            <a:chOff x="902" y="857"/>
            <a:chExt cx="4858" cy="2882"/>
          </a:xfrm>
        </p:grpSpPr>
        <p:grpSp>
          <p:nvGrpSpPr>
            <p:cNvPr id="230825" name="Group 255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230837" name="Group 256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230842" name="Group 257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230853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54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55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56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57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58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59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860" name="Rectangle 265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  <a:endPara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30843" name="Group 266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230844" name="Freeform 267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45" name="Line 268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46" name="Line 269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47" name="Line 270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4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4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50" name="Line 273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5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852" name="Line 275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30838" name="Text Box 276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839" name="Text Box 277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840" name="Text Box 278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841" name="Text Box 279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30826" name="Group 280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grpSp>
            <p:nvGrpSpPr>
              <p:cNvPr id="230827" name="Group 281"/>
              <p:cNvGrpSpPr/>
              <p:nvPr/>
            </p:nvGrpSpPr>
            <p:grpSpPr bwMode="auto">
              <a:xfrm>
                <a:off x="1964" y="3737"/>
                <a:ext cx="3637" cy="0"/>
                <a:chOff x="1964" y="3737"/>
                <a:chExt cx="3637" cy="0"/>
              </a:xfrm>
            </p:grpSpPr>
            <p:sp>
              <p:nvSpPr>
                <p:cNvPr id="230833" name="Line 282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34" name="Line 283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35" name="Line 284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36" name="Line 285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30828" name="Group 286"/>
              <p:cNvGrpSpPr/>
              <p:nvPr/>
            </p:nvGrpSpPr>
            <p:grpSpPr bwMode="auto">
              <a:xfrm>
                <a:off x="1944" y="3527"/>
                <a:ext cx="3816" cy="212"/>
                <a:chOff x="1944" y="3527"/>
                <a:chExt cx="3816" cy="212"/>
              </a:xfrm>
            </p:grpSpPr>
            <p:sp>
              <p:nvSpPr>
                <p:cNvPr id="230829" name="Text Box 287"/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30830" name="Text Box 288"/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2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30831" name="Text Box 289"/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3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30832" name="Text Box 290"/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4</a:t>
                  </a:r>
                  <a:endPara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</p:grpSp>
      <p:grpSp>
        <p:nvGrpSpPr>
          <p:cNvPr id="230861" name="Group 291"/>
          <p:cNvGrpSpPr/>
          <p:nvPr/>
        </p:nvGrpSpPr>
        <p:grpSpPr bwMode="auto">
          <a:xfrm>
            <a:off x="2906391" y="1890963"/>
            <a:ext cx="6977062" cy="4259262"/>
            <a:chOff x="1051" y="1199"/>
            <a:chExt cx="4395" cy="2683"/>
          </a:xfrm>
        </p:grpSpPr>
        <p:grpSp>
          <p:nvGrpSpPr>
            <p:cNvPr id="230862" name="Group 292"/>
            <p:cNvGrpSpPr/>
            <p:nvPr/>
          </p:nvGrpSpPr>
          <p:grpSpPr bwMode="auto">
            <a:xfrm>
              <a:off x="1142" y="3546"/>
              <a:ext cx="4304" cy="336"/>
              <a:chOff x="1142" y="3546"/>
              <a:chExt cx="4304" cy="336"/>
            </a:xfrm>
          </p:grpSpPr>
          <p:grpSp>
            <p:nvGrpSpPr>
              <p:cNvPr id="230893" name="Group 293"/>
              <p:cNvGrpSpPr/>
              <p:nvPr/>
            </p:nvGrpSpPr>
            <p:grpSpPr bwMode="auto">
              <a:xfrm>
                <a:off x="1142" y="3546"/>
                <a:ext cx="823" cy="336"/>
                <a:chOff x="1142" y="3546"/>
                <a:chExt cx="823" cy="336"/>
              </a:xfrm>
            </p:grpSpPr>
            <p:sp>
              <p:nvSpPr>
                <p:cNvPr id="230903" name="Rectangle 294"/>
                <p:cNvSpPr>
                  <a:spLocks noChangeArrowheads="1"/>
                </p:cNvSpPr>
                <p:nvPr/>
              </p:nvSpPr>
              <p:spPr bwMode="auto">
                <a:xfrm>
                  <a:off x="1142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30904" name="Text Box 295"/>
                <p:cNvSpPr txBox="1">
                  <a:spLocks noChangeArrowheads="1"/>
                </p:cNvSpPr>
                <p:nvPr/>
              </p:nvSpPr>
              <p:spPr bwMode="auto">
                <a:xfrm>
                  <a:off x="1200" y="359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30894" name="Group 296"/>
              <p:cNvGrpSpPr/>
              <p:nvPr/>
            </p:nvGrpSpPr>
            <p:grpSpPr bwMode="auto">
              <a:xfrm>
                <a:off x="2318" y="3546"/>
                <a:ext cx="823" cy="336"/>
                <a:chOff x="2318" y="3546"/>
                <a:chExt cx="823" cy="336"/>
              </a:xfrm>
            </p:grpSpPr>
            <p:sp>
              <p:nvSpPr>
                <p:cNvPr id="230901" name="Rectangle 297"/>
                <p:cNvSpPr>
                  <a:spLocks noChangeArrowheads="1"/>
                </p:cNvSpPr>
                <p:nvPr/>
              </p:nvSpPr>
              <p:spPr bwMode="auto">
                <a:xfrm>
                  <a:off x="2318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30902" name="Text Box 298"/>
                <p:cNvSpPr txBox="1">
                  <a:spLocks noChangeArrowheads="1"/>
                </p:cNvSpPr>
                <p:nvPr/>
              </p:nvSpPr>
              <p:spPr bwMode="auto">
                <a:xfrm>
                  <a:off x="2352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30895" name="Group 299"/>
              <p:cNvGrpSpPr/>
              <p:nvPr/>
            </p:nvGrpSpPr>
            <p:grpSpPr bwMode="auto">
              <a:xfrm>
                <a:off x="3470" y="3546"/>
                <a:ext cx="823" cy="336"/>
                <a:chOff x="3470" y="3546"/>
                <a:chExt cx="823" cy="336"/>
              </a:xfrm>
            </p:grpSpPr>
            <p:sp>
              <p:nvSpPr>
                <p:cNvPr id="230899" name="Rectangle 300"/>
                <p:cNvSpPr>
                  <a:spLocks noChangeArrowheads="1"/>
                </p:cNvSpPr>
                <p:nvPr/>
              </p:nvSpPr>
              <p:spPr bwMode="auto">
                <a:xfrm>
                  <a:off x="3470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30900" name="Text Box 301"/>
                <p:cNvSpPr txBox="1">
                  <a:spLocks noChangeArrowheads="1"/>
                </p:cNvSpPr>
                <p:nvPr/>
              </p:nvSpPr>
              <p:spPr bwMode="auto">
                <a:xfrm>
                  <a:off x="3504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30896" name="Group 302"/>
              <p:cNvGrpSpPr/>
              <p:nvPr/>
            </p:nvGrpSpPr>
            <p:grpSpPr bwMode="auto">
              <a:xfrm>
                <a:off x="4623" y="3546"/>
                <a:ext cx="823" cy="336"/>
                <a:chOff x="4623" y="3546"/>
                <a:chExt cx="823" cy="336"/>
              </a:xfrm>
            </p:grpSpPr>
            <p:sp>
              <p:nvSpPr>
                <p:cNvPr id="230897" name="Rectangle 303"/>
                <p:cNvSpPr>
                  <a:spLocks noChangeArrowheads="1"/>
                </p:cNvSpPr>
                <p:nvPr/>
              </p:nvSpPr>
              <p:spPr bwMode="auto">
                <a:xfrm>
                  <a:off x="4623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230898" name="Text Box 304"/>
                <p:cNvSpPr txBox="1">
                  <a:spLocks noChangeArrowheads="1"/>
                </p:cNvSpPr>
                <p:nvPr/>
              </p:nvSpPr>
              <p:spPr bwMode="auto">
                <a:xfrm>
                  <a:off x="4656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230863" name="Group 305"/>
            <p:cNvGrpSpPr/>
            <p:nvPr/>
          </p:nvGrpSpPr>
          <p:grpSpPr bwMode="auto">
            <a:xfrm>
              <a:off x="1055" y="2736"/>
              <a:ext cx="4225" cy="816"/>
              <a:chOff x="1055" y="2736"/>
              <a:chExt cx="4225" cy="816"/>
            </a:xfrm>
          </p:grpSpPr>
          <p:grpSp>
            <p:nvGrpSpPr>
              <p:cNvPr id="230883" name="Group 306"/>
              <p:cNvGrpSpPr/>
              <p:nvPr/>
            </p:nvGrpSpPr>
            <p:grpSpPr bwMode="auto">
              <a:xfrm>
                <a:off x="1391" y="2736"/>
                <a:ext cx="3889" cy="816"/>
                <a:chOff x="1391" y="2736"/>
                <a:chExt cx="3889" cy="816"/>
              </a:xfrm>
            </p:grpSpPr>
            <p:sp>
              <p:nvSpPr>
                <p:cNvPr id="230889" name="Freeform 307"/>
                <p:cNvSpPr/>
                <p:nvPr/>
              </p:nvSpPr>
              <p:spPr bwMode="auto">
                <a:xfrm>
                  <a:off x="1391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90" name="Freeform 308"/>
                <p:cNvSpPr/>
                <p:nvPr/>
              </p:nvSpPr>
              <p:spPr bwMode="auto">
                <a:xfrm>
                  <a:off x="4848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91" name="Freeform 309"/>
                <p:cNvSpPr/>
                <p:nvPr/>
              </p:nvSpPr>
              <p:spPr bwMode="auto">
                <a:xfrm>
                  <a:off x="3696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92" name="Freeform 310"/>
                <p:cNvSpPr/>
                <p:nvPr/>
              </p:nvSpPr>
              <p:spPr bwMode="auto">
                <a:xfrm>
                  <a:off x="2542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30884" name="Group 311"/>
              <p:cNvGrpSpPr/>
              <p:nvPr/>
            </p:nvGrpSpPr>
            <p:grpSpPr bwMode="auto">
              <a:xfrm>
                <a:off x="1055" y="2748"/>
                <a:ext cx="3750" cy="804"/>
                <a:chOff x="1055" y="2748"/>
                <a:chExt cx="3750" cy="804"/>
              </a:xfrm>
            </p:grpSpPr>
            <p:sp>
              <p:nvSpPr>
                <p:cNvPr id="230885" name="Freeform 312"/>
                <p:cNvSpPr/>
                <p:nvPr/>
              </p:nvSpPr>
              <p:spPr bwMode="auto">
                <a:xfrm>
                  <a:off x="1055" y="2748"/>
                  <a:ext cx="280" cy="795"/>
                </a:xfrm>
                <a:custGeom>
                  <a:avLst/>
                  <a:gdLst>
                    <a:gd name="T0" fmla="*/ 276 w 280"/>
                    <a:gd name="T1" fmla="*/ 795 h 795"/>
                    <a:gd name="T2" fmla="*/ 280 w 280"/>
                    <a:gd name="T3" fmla="*/ 657 h 795"/>
                    <a:gd name="T4" fmla="*/ 0 w 280"/>
                    <a:gd name="T5" fmla="*/ 660 h 795"/>
                    <a:gd name="T6" fmla="*/ 3 w 280"/>
                    <a:gd name="T7" fmla="*/ 0 h 795"/>
                    <a:gd name="T8" fmla="*/ 144 w 280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80" h="795">
                      <a:moveTo>
                        <a:pt x="276" y="795"/>
                      </a:moveTo>
                      <a:lnTo>
                        <a:pt x="280" y="657"/>
                      </a:lnTo>
                      <a:lnTo>
                        <a:pt x="0" y="660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86" name="Freeform 313"/>
                <p:cNvSpPr/>
                <p:nvPr/>
              </p:nvSpPr>
              <p:spPr bwMode="auto">
                <a:xfrm>
                  <a:off x="2207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87" name="Freeform 314"/>
                <p:cNvSpPr/>
                <p:nvPr/>
              </p:nvSpPr>
              <p:spPr bwMode="auto">
                <a:xfrm>
                  <a:off x="3359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88" name="Freeform 315"/>
                <p:cNvSpPr/>
                <p:nvPr/>
              </p:nvSpPr>
              <p:spPr bwMode="auto">
                <a:xfrm>
                  <a:off x="4511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30864" name="Group 316"/>
            <p:cNvGrpSpPr/>
            <p:nvPr/>
          </p:nvGrpSpPr>
          <p:grpSpPr bwMode="auto">
            <a:xfrm>
              <a:off x="1051" y="1199"/>
              <a:ext cx="3953" cy="1485"/>
              <a:chOff x="1051" y="1199"/>
              <a:chExt cx="3953" cy="1485"/>
            </a:xfrm>
          </p:grpSpPr>
          <p:grpSp>
            <p:nvGrpSpPr>
              <p:cNvPr id="230865" name="Group 317"/>
              <p:cNvGrpSpPr/>
              <p:nvPr/>
            </p:nvGrpSpPr>
            <p:grpSpPr bwMode="auto">
              <a:xfrm>
                <a:off x="1051" y="2355"/>
                <a:ext cx="3942" cy="5"/>
                <a:chOff x="1051" y="2355"/>
                <a:chExt cx="3942" cy="5"/>
              </a:xfrm>
            </p:grpSpPr>
            <p:sp>
              <p:nvSpPr>
                <p:cNvPr id="230875" name="Freeform 318"/>
                <p:cNvSpPr/>
                <p:nvPr/>
              </p:nvSpPr>
              <p:spPr bwMode="auto">
                <a:xfrm>
                  <a:off x="1430" y="2359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6" name="Freeform 319"/>
                <p:cNvSpPr/>
                <p:nvPr/>
              </p:nvSpPr>
              <p:spPr bwMode="auto">
                <a:xfrm>
                  <a:off x="1051" y="2359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7" name="Freeform 320"/>
                <p:cNvSpPr/>
                <p:nvPr/>
              </p:nvSpPr>
              <p:spPr bwMode="auto">
                <a:xfrm>
                  <a:off x="2582" y="2359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8" name="Freeform 321"/>
                <p:cNvSpPr/>
                <p:nvPr/>
              </p:nvSpPr>
              <p:spPr bwMode="auto">
                <a:xfrm>
                  <a:off x="2203" y="2359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9" name="Freeform 322"/>
                <p:cNvSpPr/>
                <p:nvPr/>
              </p:nvSpPr>
              <p:spPr bwMode="auto">
                <a:xfrm>
                  <a:off x="3749" y="2355"/>
                  <a:ext cx="99" cy="3"/>
                </a:xfrm>
                <a:custGeom>
                  <a:avLst/>
                  <a:gdLst>
                    <a:gd name="T0" fmla="*/ 0 w 99"/>
                    <a:gd name="T1" fmla="*/ 3 h 3"/>
                    <a:gd name="T2" fmla="*/ 99 w 99"/>
                    <a:gd name="T3" fmla="*/ 0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9" h="3">
                      <a:moveTo>
                        <a:pt x="0" y="3"/>
                      </a:moveTo>
                      <a:lnTo>
                        <a:pt x="99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80" name="Freeform 323"/>
                <p:cNvSpPr/>
                <p:nvPr/>
              </p:nvSpPr>
              <p:spPr bwMode="auto">
                <a:xfrm>
                  <a:off x="3355" y="2359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81" name="Freeform 324"/>
                <p:cNvSpPr/>
                <p:nvPr/>
              </p:nvSpPr>
              <p:spPr bwMode="auto">
                <a:xfrm>
                  <a:off x="4886" y="2359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82" name="Freeform 325"/>
                <p:cNvSpPr/>
                <p:nvPr/>
              </p:nvSpPr>
              <p:spPr bwMode="auto">
                <a:xfrm>
                  <a:off x="4507" y="2359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30866" name="Group 326"/>
              <p:cNvGrpSpPr/>
              <p:nvPr/>
            </p:nvGrpSpPr>
            <p:grpSpPr bwMode="auto">
              <a:xfrm>
                <a:off x="1055" y="1215"/>
                <a:ext cx="3608" cy="1469"/>
                <a:chOff x="1055" y="1215"/>
                <a:chExt cx="3608" cy="1469"/>
              </a:xfrm>
            </p:grpSpPr>
            <p:sp>
              <p:nvSpPr>
                <p:cNvPr id="230871" name="Freeform 327"/>
                <p:cNvSpPr/>
                <p:nvPr/>
              </p:nvSpPr>
              <p:spPr bwMode="auto">
                <a:xfrm>
                  <a:off x="1055" y="1215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4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4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2" name="Freeform 328"/>
                <p:cNvSpPr/>
                <p:nvPr/>
              </p:nvSpPr>
              <p:spPr bwMode="auto">
                <a:xfrm>
                  <a:off x="2207" y="1217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1 w 152"/>
                    <a:gd name="T5" fmla="*/ 1 h 1467"/>
                    <a:gd name="T6" fmla="*/ 86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1" y="1"/>
                      </a:lnTo>
                      <a:lnTo>
                        <a:pt x="86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3" name="Freeform 329"/>
                <p:cNvSpPr/>
                <p:nvPr/>
              </p:nvSpPr>
              <p:spPr bwMode="auto">
                <a:xfrm>
                  <a:off x="3359" y="1218"/>
                  <a:ext cx="152" cy="1466"/>
                </a:xfrm>
                <a:custGeom>
                  <a:avLst/>
                  <a:gdLst>
                    <a:gd name="T0" fmla="*/ 152 w 152"/>
                    <a:gd name="T1" fmla="*/ 1466 h 1466"/>
                    <a:gd name="T2" fmla="*/ 0 w 152"/>
                    <a:gd name="T3" fmla="*/ 1466 h 1466"/>
                    <a:gd name="T4" fmla="*/ 1 w 152"/>
                    <a:gd name="T5" fmla="*/ 0 h 1466"/>
                    <a:gd name="T6" fmla="*/ 109 w 152"/>
                    <a:gd name="T7" fmla="*/ 0 h 14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1466">
                      <a:moveTo>
                        <a:pt x="152" y="1466"/>
                      </a:moveTo>
                      <a:lnTo>
                        <a:pt x="0" y="1466"/>
                      </a:lnTo>
                      <a:lnTo>
                        <a:pt x="1" y="0"/>
                      </a:lnTo>
                      <a:lnTo>
                        <a:pt x="109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874" name="Freeform 330"/>
                <p:cNvSpPr/>
                <p:nvPr/>
              </p:nvSpPr>
              <p:spPr bwMode="auto">
                <a:xfrm>
                  <a:off x="4505" y="1217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230867" name="Freeform 331"/>
              <p:cNvSpPr/>
              <p:nvPr/>
            </p:nvSpPr>
            <p:spPr bwMode="auto">
              <a:xfrm>
                <a:off x="1397" y="1202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68" name="Freeform 332"/>
              <p:cNvSpPr/>
              <p:nvPr/>
            </p:nvSpPr>
            <p:spPr bwMode="auto">
              <a:xfrm>
                <a:off x="2550" y="1199"/>
                <a:ext cx="150" cy="1474"/>
              </a:xfrm>
              <a:custGeom>
                <a:avLst/>
                <a:gdLst>
                  <a:gd name="T0" fmla="*/ 42 w 150"/>
                  <a:gd name="T1" fmla="*/ 0 h 1474"/>
                  <a:gd name="T2" fmla="*/ 150 w 150"/>
                  <a:gd name="T3" fmla="*/ 0 h 1474"/>
                  <a:gd name="T4" fmla="*/ 147 w 150"/>
                  <a:gd name="T5" fmla="*/ 1474 h 1474"/>
                  <a:gd name="T6" fmla="*/ 0 w 150"/>
                  <a:gd name="T7" fmla="*/ 1474 h 14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474">
                    <a:moveTo>
                      <a:pt x="42" y="0"/>
                    </a:moveTo>
                    <a:lnTo>
                      <a:pt x="150" y="0"/>
                    </a:lnTo>
                    <a:lnTo>
                      <a:pt x="147" y="1474"/>
                    </a:lnTo>
                    <a:lnTo>
                      <a:pt x="0" y="1474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69" name="Freeform 333"/>
              <p:cNvSpPr/>
              <p:nvPr/>
            </p:nvSpPr>
            <p:spPr bwMode="auto">
              <a:xfrm>
                <a:off x="3705" y="1199"/>
                <a:ext cx="141" cy="1471"/>
              </a:xfrm>
              <a:custGeom>
                <a:avLst/>
                <a:gdLst>
                  <a:gd name="T0" fmla="*/ 33 w 141"/>
                  <a:gd name="T1" fmla="*/ 0 h 1471"/>
                  <a:gd name="T2" fmla="*/ 141 w 141"/>
                  <a:gd name="T3" fmla="*/ 0 h 1471"/>
                  <a:gd name="T4" fmla="*/ 141 w 141"/>
                  <a:gd name="T5" fmla="*/ 1471 h 1471"/>
                  <a:gd name="T6" fmla="*/ 0 w 141"/>
                  <a:gd name="T7" fmla="*/ 1471 h 14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471">
                    <a:moveTo>
                      <a:pt x="33" y="0"/>
                    </a:moveTo>
                    <a:lnTo>
                      <a:pt x="141" y="0"/>
                    </a:lnTo>
                    <a:lnTo>
                      <a:pt x="141" y="1471"/>
                    </a:lnTo>
                    <a:lnTo>
                      <a:pt x="0" y="1471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870" name="Freeform 334"/>
              <p:cNvSpPr/>
              <p:nvPr/>
            </p:nvSpPr>
            <p:spPr bwMode="auto">
              <a:xfrm>
                <a:off x="4854" y="1199"/>
                <a:ext cx="150" cy="1480"/>
              </a:xfrm>
              <a:custGeom>
                <a:avLst/>
                <a:gdLst>
                  <a:gd name="T0" fmla="*/ 42 w 150"/>
                  <a:gd name="T1" fmla="*/ 0 h 1480"/>
                  <a:gd name="T2" fmla="*/ 150 w 150"/>
                  <a:gd name="T3" fmla="*/ 0 h 1480"/>
                  <a:gd name="T4" fmla="*/ 147 w 150"/>
                  <a:gd name="T5" fmla="*/ 1480 h 1480"/>
                  <a:gd name="T6" fmla="*/ 0 w 150"/>
                  <a:gd name="T7" fmla="*/ 1477 h 1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480">
                    <a:moveTo>
                      <a:pt x="42" y="0"/>
                    </a:moveTo>
                    <a:lnTo>
                      <a:pt x="150" y="0"/>
                    </a:lnTo>
                    <a:lnTo>
                      <a:pt x="147" y="1480"/>
                    </a:lnTo>
                    <a:lnTo>
                      <a:pt x="0" y="1477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30905" name="Group 335"/>
          <p:cNvGrpSpPr/>
          <p:nvPr/>
        </p:nvGrpSpPr>
        <p:grpSpPr bwMode="auto">
          <a:xfrm>
            <a:off x="2690491" y="4165850"/>
            <a:ext cx="6261100" cy="403225"/>
            <a:chOff x="915" y="2632"/>
            <a:chExt cx="3944" cy="254"/>
          </a:xfrm>
        </p:grpSpPr>
        <p:grpSp>
          <p:nvGrpSpPr>
            <p:cNvPr id="230906" name="Group 336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230939" name="Freeform 337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940" name="Freeform 338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941" name="Freeform 339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942" name="Freeform 340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230943" name="Freeform 341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30907" name="Group 342"/>
            <p:cNvGrpSpPr/>
            <p:nvPr/>
          </p:nvGrpSpPr>
          <p:grpSpPr bwMode="auto">
            <a:xfrm>
              <a:off x="1212" y="2632"/>
              <a:ext cx="192" cy="158"/>
              <a:chOff x="1212" y="2632"/>
              <a:chExt cx="192" cy="158"/>
            </a:xfrm>
          </p:grpSpPr>
          <p:grpSp>
            <p:nvGrpSpPr>
              <p:cNvPr id="230932" name="Group 343"/>
              <p:cNvGrpSpPr/>
              <p:nvPr/>
            </p:nvGrpSpPr>
            <p:grpSpPr bwMode="auto">
              <a:xfrm>
                <a:off x="1356" y="2632"/>
                <a:ext cx="48" cy="158"/>
                <a:chOff x="1356" y="2632"/>
                <a:chExt cx="48" cy="158"/>
              </a:xfrm>
            </p:grpSpPr>
            <p:sp>
              <p:nvSpPr>
                <p:cNvPr id="230937" name="Line 344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38" name="Line 345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09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30933" name="Freeform 346"/>
              <p:cNvSpPr/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30934" name="Group 347"/>
              <p:cNvGrpSpPr/>
              <p:nvPr/>
            </p:nvGrpSpPr>
            <p:grpSpPr bwMode="auto">
              <a:xfrm>
                <a:off x="1212" y="2632"/>
                <a:ext cx="48" cy="158"/>
                <a:chOff x="1212" y="2632"/>
                <a:chExt cx="48" cy="158"/>
              </a:xfrm>
            </p:grpSpPr>
            <p:sp>
              <p:nvSpPr>
                <p:cNvPr id="230935" name="Line 348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36" name="Line 349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3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30908" name="Group 350"/>
            <p:cNvGrpSpPr/>
            <p:nvPr/>
          </p:nvGrpSpPr>
          <p:grpSpPr bwMode="auto">
            <a:xfrm>
              <a:off x="2364" y="2634"/>
              <a:ext cx="192" cy="158"/>
              <a:chOff x="2364" y="2634"/>
              <a:chExt cx="192" cy="158"/>
            </a:xfrm>
          </p:grpSpPr>
          <p:grpSp>
            <p:nvGrpSpPr>
              <p:cNvPr id="230925" name="Group 351"/>
              <p:cNvGrpSpPr/>
              <p:nvPr/>
            </p:nvGrpSpPr>
            <p:grpSpPr bwMode="auto">
              <a:xfrm>
                <a:off x="2508" y="2634"/>
                <a:ext cx="48" cy="158"/>
                <a:chOff x="2508" y="2634"/>
                <a:chExt cx="48" cy="158"/>
              </a:xfrm>
            </p:grpSpPr>
            <p:sp>
              <p:nvSpPr>
                <p:cNvPr id="230930" name="Line 352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31" name="Line 353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30926" name="Freeform 354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30927" name="Group 355"/>
              <p:cNvGrpSpPr/>
              <p:nvPr/>
            </p:nvGrpSpPr>
            <p:grpSpPr bwMode="auto">
              <a:xfrm>
                <a:off x="2364" y="2634"/>
                <a:ext cx="48" cy="158"/>
                <a:chOff x="2364" y="2634"/>
                <a:chExt cx="48" cy="158"/>
              </a:xfrm>
            </p:grpSpPr>
            <p:sp>
              <p:nvSpPr>
                <p:cNvPr id="230928" name="Line 356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29" name="Line 357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30909" name="Group 358"/>
            <p:cNvGrpSpPr/>
            <p:nvPr/>
          </p:nvGrpSpPr>
          <p:grpSpPr bwMode="auto">
            <a:xfrm>
              <a:off x="3516" y="2634"/>
              <a:ext cx="192" cy="158"/>
              <a:chOff x="3516" y="2634"/>
              <a:chExt cx="192" cy="158"/>
            </a:xfrm>
          </p:grpSpPr>
          <p:grpSp>
            <p:nvGrpSpPr>
              <p:cNvPr id="230918" name="Group 359"/>
              <p:cNvGrpSpPr/>
              <p:nvPr/>
            </p:nvGrpSpPr>
            <p:grpSpPr bwMode="auto">
              <a:xfrm>
                <a:off x="3660" y="2634"/>
                <a:ext cx="48" cy="158"/>
                <a:chOff x="3660" y="2634"/>
                <a:chExt cx="48" cy="158"/>
              </a:xfrm>
            </p:grpSpPr>
            <p:sp>
              <p:nvSpPr>
                <p:cNvPr id="230923" name="Line 360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24" name="Line 361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30919" name="Freeform 362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30920" name="Group 363"/>
              <p:cNvGrpSpPr/>
              <p:nvPr/>
            </p:nvGrpSpPr>
            <p:grpSpPr bwMode="auto">
              <a:xfrm>
                <a:off x="3516" y="2634"/>
                <a:ext cx="48" cy="158"/>
                <a:chOff x="3516" y="2634"/>
                <a:chExt cx="48" cy="158"/>
              </a:xfrm>
            </p:grpSpPr>
            <p:sp>
              <p:nvSpPr>
                <p:cNvPr id="230921" name="Line 364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22" name="Line 365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30910" name="Group 366"/>
            <p:cNvGrpSpPr/>
            <p:nvPr/>
          </p:nvGrpSpPr>
          <p:grpSpPr bwMode="auto">
            <a:xfrm>
              <a:off x="4667" y="2634"/>
              <a:ext cx="192" cy="158"/>
              <a:chOff x="4667" y="2634"/>
              <a:chExt cx="192" cy="158"/>
            </a:xfrm>
          </p:grpSpPr>
          <p:grpSp>
            <p:nvGrpSpPr>
              <p:cNvPr id="230911" name="Group 367"/>
              <p:cNvGrpSpPr/>
              <p:nvPr/>
            </p:nvGrpSpPr>
            <p:grpSpPr bwMode="auto">
              <a:xfrm>
                <a:off x="4811" y="2634"/>
                <a:ext cx="48" cy="158"/>
                <a:chOff x="4811" y="2634"/>
                <a:chExt cx="48" cy="158"/>
              </a:xfrm>
            </p:grpSpPr>
            <p:sp>
              <p:nvSpPr>
                <p:cNvPr id="230916" name="Line 368"/>
                <p:cNvSpPr>
                  <a:spLocks noChangeShapeType="1"/>
                </p:cNvSpPr>
                <p:nvPr/>
              </p:nvSpPr>
              <p:spPr bwMode="auto">
                <a:xfrm rot="5400000">
                  <a:off x="47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17" name="Line 369"/>
                <p:cNvSpPr>
                  <a:spLocks noChangeShapeType="1"/>
                </p:cNvSpPr>
                <p:nvPr/>
              </p:nvSpPr>
              <p:spPr bwMode="auto">
                <a:xfrm rot="5400000">
                  <a:off x="4763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230912" name="Freeform 370"/>
              <p:cNvSpPr/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30913" name="Group 371"/>
              <p:cNvGrpSpPr/>
              <p:nvPr/>
            </p:nvGrpSpPr>
            <p:grpSpPr bwMode="auto">
              <a:xfrm>
                <a:off x="4667" y="2634"/>
                <a:ext cx="48" cy="158"/>
                <a:chOff x="4667" y="2634"/>
                <a:chExt cx="48" cy="158"/>
              </a:xfrm>
            </p:grpSpPr>
            <p:sp>
              <p:nvSpPr>
                <p:cNvPr id="230914" name="Line 372"/>
                <p:cNvSpPr>
                  <a:spLocks noChangeShapeType="1"/>
                </p:cNvSpPr>
                <p:nvPr/>
              </p:nvSpPr>
              <p:spPr bwMode="auto">
                <a:xfrm rot="-5400000">
                  <a:off x="4588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30915" name="Line 373"/>
                <p:cNvSpPr>
                  <a:spLocks noChangeShapeType="1"/>
                </p:cNvSpPr>
                <p:nvPr/>
              </p:nvSpPr>
              <p:spPr bwMode="auto">
                <a:xfrm rot="-5400000">
                  <a:off x="4667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30944" name="Group 374"/>
          <p:cNvGrpSpPr/>
          <p:nvPr/>
        </p:nvGrpSpPr>
        <p:grpSpPr bwMode="auto">
          <a:xfrm>
            <a:off x="3066728" y="1595688"/>
            <a:ext cx="5934075" cy="434975"/>
            <a:chOff x="1156" y="1013"/>
            <a:chExt cx="3738" cy="274"/>
          </a:xfrm>
        </p:grpSpPr>
        <p:sp>
          <p:nvSpPr>
            <p:cNvPr id="230945" name="Rectangle 375"/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46" name="Rectangle 376"/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47" name="Rectangle 377"/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48" name="Rectangle 378"/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0949" name="Group 379"/>
          <p:cNvGrpSpPr/>
          <p:nvPr/>
        </p:nvGrpSpPr>
        <p:grpSpPr bwMode="auto">
          <a:xfrm>
            <a:off x="2690491" y="2605338"/>
            <a:ext cx="6613525" cy="1963737"/>
            <a:chOff x="915" y="1649"/>
            <a:chExt cx="4166" cy="1237"/>
          </a:xfrm>
        </p:grpSpPr>
        <p:grpSp>
          <p:nvGrpSpPr>
            <p:cNvPr id="230950" name="Group 380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230959" name="Group 381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230992" name="Freeform 382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993" name="Freeform 383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994" name="Freeform 384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995" name="Freeform 385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996" name="Freeform 386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30960" name="Group 387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230985" name="Group 38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90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91" name="Line 39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30986" name="Freeform 39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30987" name="Group 39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88" name="Line 39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89" name="Line 39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30961" name="Group 395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230978" name="Group 39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83" name="Line 39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84" name="Line 39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30979" name="Freeform 39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30980" name="Group 40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81" name="Line 40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82" name="Line 40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30962" name="Group 403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230971" name="Group 40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76" name="Line 40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77" name="Line 40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30972" name="Freeform 40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30973" name="Group 40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74" name="Line 40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75" name="Line 41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30963" name="Group 411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230964" name="Group 41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69" name="Line 41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70" name="Line 41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30965" name="Freeform 41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230966" name="Group 41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230967" name="Line 41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0968" name="Line 41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230951" name="Rectangle 419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2" name="Text Box 420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3" name="Rectangle 421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4" name="Rectangle 422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5" name="Rectangle 423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rIns="0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  <a:endParaRPr lang="en-US" altLang="zh-CN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6" name="Text Box 424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7" name="Text Box 425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0958" name="Text Box 426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0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9"/>
          <p:cNvGrpSpPr/>
          <p:nvPr/>
        </p:nvGrpSpPr>
        <p:grpSpPr bwMode="auto">
          <a:xfrm>
            <a:off x="1534344" y="1093515"/>
            <a:ext cx="8462963" cy="5029200"/>
            <a:chOff x="48" y="714"/>
            <a:chExt cx="5331" cy="3168"/>
          </a:xfrm>
        </p:grpSpPr>
        <p:grpSp>
          <p:nvGrpSpPr>
            <p:cNvPr id="3" name="Group 118"/>
            <p:cNvGrpSpPr/>
            <p:nvPr/>
          </p:nvGrpSpPr>
          <p:grpSpPr bwMode="auto">
            <a:xfrm>
              <a:off x="48" y="714"/>
              <a:ext cx="5331" cy="3168"/>
              <a:chOff x="48" y="714"/>
              <a:chExt cx="5331" cy="3168"/>
            </a:xfrm>
          </p:grpSpPr>
          <p:sp>
            <p:nvSpPr>
              <p:cNvPr id="5" name="Line 4"/>
              <p:cNvSpPr>
                <a:spLocks noChangeShapeType="1"/>
              </p:cNvSpPr>
              <p:nvPr/>
            </p:nvSpPr>
            <p:spPr bwMode="auto">
              <a:xfrm>
                <a:off x="4752" y="2634"/>
                <a:ext cx="0" cy="768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6" name="Group 117"/>
              <p:cNvGrpSpPr/>
              <p:nvPr/>
            </p:nvGrpSpPr>
            <p:grpSpPr bwMode="auto">
              <a:xfrm>
                <a:off x="48" y="714"/>
                <a:ext cx="5331" cy="3168"/>
                <a:chOff x="48" y="714"/>
                <a:chExt cx="5331" cy="3168"/>
              </a:xfrm>
            </p:grpSpPr>
            <p:grpSp>
              <p:nvGrpSpPr>
                <p:cNvPr id="7" name="Group 116"/>
                <p:cNvGrpSpPr/>
                <p:nvPr/>
              </p:nvGrpSpPr>
              <p:grpSpPr bwMode="auto">
                <a:xfrm>
                  <a:off x="48" y="1338"/>
                  <a:ext cx="5331" cy="1704"/>
                  <a:chOff x="48" y="1338"/>
                  <a:chExt cx="5331" cy="1704"/>
                </a:xfrm>
              </p:grpSpPr>
              <p:grpSp>
                <p:nvGrpSpPr>
                  <p:cNvPr id="26" name="Group 7"/>
                  <p:cNvGrpSpPr/>
                  <p:nvPr/>
                </p:nvGrpSpPr>
                <p:grpSpPr bwMode="auto">
                  <a:xfrm>
                    <a:off x="522" y="1338"/>
                    <a:ext cx="4757" cy="345"/>
                    <a:chOff x="522" y="1338"/>
                    <a:chExt cx="4757" cy="345"/>
                  </a:xfrm>
                </p:grpSpPr>
                <p:sp>
                  <p:nvSpPr>
                    <p:cNvPr id="44" name="Freeform 8"/>
                    <p:cNvSpPr/>
                    <p:nvPr/>
                  </p:nvSpPr>
                  <p:spPr bwMode="auto">
                    <a:xfrm>
                      <a:off x="1368" y="1339"/>
                      <a:ext cx="2771" cy="336"/>
                    </a:xfrm>
                    <a:custGeom>
                      <a:avLst/>
                      <a:gdLst>
                        <a:gd name="T0" fmla="*/ 168 w 2771"/>
                        <a:gd name="T1" fmla="*/ 0 h 336"/>
                        <a:gd name="T2" fmla="*/ 0 w 2771"/>
                        <a:gd name="T3" fmla="*/ 170 h 336"/>
                        <a:gd name="T4" fmla="*/ 168 w 2771"/>
                        <a:gd name="T5" fmla="*/ 336 h 336"/>
                        <a:gd name="T6" fmla="*/ 2603 w 2771"/>
                        <a:gd name="T7" fmla="*/ 336 h 336"/>
                        <a:gd name="T8" fmla="*/ 2771 w 2771"/>
                        <a:gd name="T9" fmla="*/ 170 h 336"/>
                        <a:gd name="T10" fmla="*/ 2603 w 2771"/>
                        <a:gd name="T11" fmla="*/ 0 h 336"/>
                        <a:gd name="T12" fmla="*/ 168 w 2771"/>
                        <a:gd name="T13" fmla="*/ 0 h 3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771" h="336">
                          <a:moveTo>
                            <a:pt x="168" y="0"/>
                          </a:moveTo>
                          <a:lnTo>
                            <a:pt x="0" y="170"/>
                          </a:lnTo>
                          <a:lnTo>
                            <a:pt x="168" y="336"/>
                          </a:lnTo>
                          <a:lnTo>
                            <a:pt x="2603" y="336"/>
                          </a:lnTo>
                          <a:lnTo>
                            <a:pt x="2771" y="170"/>
                          </a:lnTo>
                          <a:lnTo>
                            <a:pt x="2603" y="0"/>
                          </a:lnTo>
                          <a:lnTo>
                            <a:pt x="168" y="0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" name="Freeform 9"/>
                    <p:cNvSpPr/>
                    <p:nvPr/>
                  </p:nvSpPr>
                  <p:spPr bwMode="auto">
                    <a:xfrm>
                      <a:off x="531" y="1338"/>
                      <a:ext cx="848" cy="175"/>
                    </a:xfrm>
                    <a:custGeom>
                      <a:avLst/>
                      <a:gdLst>
                        <a:gd name="T0" fmla="*/ 848 w 848"/>
                        <a:gd name="T1" fmla="*/ 162 h 175"/>
                        <a:gd name="T2" fmla="*/ 840 w 848"/>
                        <a:gd name="T3" fmla="*/ 175 h 175"/>
                        <a:gd name="T4" fmla="*/ 665 w 848"/>
                        <a:gd name="T5" fmla="*/ 0 h 175"/>
                        <a:gd name="T6" fmla="*/ 0 w 848"/>
                        <a:gd name="T7" fmla="*/ 0 h 175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848" h="175">
                          <a:moveTo>
                            <a:pt x="848" y="162"/>
                          </a:moveTo>
                          <a:lnTo>
                            <a:pt x="840" y="175"/>
                          </a:lnTo>
                          <a:lnTo>
                            <a:pt x="665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6" name="Freeform 10"/>
                    <p:cNvSpPr/>
                    <p:nvPr/>
                  </p:nvSpPr>
                  <p:spPr bwMode="auto">
                    <a:xfrm>
                      <a:off x="522" y="1504"/>
                      <a:ext cx="846" cy="179"/>
                    </a:xfrm>
                    <a:custGeom>
                      <a:avLst/>
                      <a:gdLst>
                        <a:gd name="T0" fmla="*/ 846 w 846"/>
                        <a:gd name="T1" fmla="*/ 0 h 179"/>
                        <a:gd name="T2" fmla="*/ 669 w 846"/>
                        <a:gd name="T3" fmla="*/ 179 h 179"/>
                        <a:gd name="T4" fmla="*/ 0 w 846"/>
                        <a:gd name="T5" fmla="*/ 179 h 179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846" h="179">
                          <a:moveTo>
                            <a:pt x="846" y="0"/>
                          </a:moveTo>
                          <a:lnTo>
                            <a:pt x="669" y="179"/>
                          </a:lnTo>
                          <a:lnTo>
                            <a:pt x="0" y="179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" name="Freeform 11"/>
                    <p:cNvSpPr/>
                    <p:nvPr/>
                  </p:nvSpPr>
                  <p:spPr bwMode="auto">
                    <a:xfrm>
                      <a:off x="4136" y="1338"/>
                      <a:ext cx="1140" cy="171"/>
                    </a:xfrm>
                    <a:custGeom>
                      <a:avLst/>
                      <a:gdLst>
                        <a:gd name="T0" fmla="*/ 0 w 1140"/>
                        <a:gd name="T1" fmla="*/ 171 h 171"/>
                        <a:gd name="T2" fmla="*/ 171 w 1140"/>
                        <a:gd name="T3" fmla="*/ 1 h 171"/>
                        <a:gd name="T4" fmla="*/ 268 w 1140"/>
                        <a:gd name="T5" fmla="*/ 1 h 171"/>
                        <a:gd name="T6" fmla="*/ 1140 w 1140"/>
                        <a:gd name="T7" fmla="*/ 0 h 17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140" h="171">
                          <a:moveTo>
                            <a:pt x="0" y="171"/>
                          </a:moveTo>
                          <a:lnTo>
                            <a:pt x="171" y="1"/>
                          </a:lnTo>
                          <a:lnTo>
                            <a:pt x="268" y="1"/>
                          </a:lnTo>
                          <a:lnTo>
                            <a:pt x="114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" name="Freeform 12"/>
                    <p:cNvSpPr/>
                    <p:nvPr/>
                  </p:nvSpPr>
                  <p:spPr bwMode="auto">
                    <a:xfrm>
                      <a:off x="4133" y="1504"/>
                      <a:ext cx="1146" cy="176"/>
                    </a:xfrm>
                    <a:custGeom>
                      <a:avLst/>
                      <a:gdLst>
                        <a:gd name="T0" fmla="*/ 0 w 1146"/>
                        <a:gd name="T1" fmla="*/ 0 h 176"/>
                        <a:gd name="T2" fmla="*/ 174 w 1146"/>
                        <a:gd name="T3" fmla="*/ 176 h 176"/>
                        <a:gd name="T4" fmla="*/ 1146 w 1146"/>
                        <a:gd name="T5" fmla="*/ 176 h 17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146" h="176">
                          <a:moveTo>
                            <a:pt x="0" y="0"/>
                          </a:moveTo>
                          <a:lnTo>
                            <a:pt x="174" y="176"/>
                          </a:lnTo>
                          <a:lnTo>
                            <a:pt x="1146" y="17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7" name="Group 13"/>
                  <p:cNvGrpSpPr/>
                  <p:nvPr/>
                </p:nvGrpSpPr>
                <p:grpSpPr bwMode="auto">
                  <a:xfrm>
                    <a:off x="528" y="2007"/>
                    <a:ext cx="4848" cy="249"/>
                    <a:chOff x="528" y="2007"/>
                    <a:chExt cx="4848" cy="249"/>
                  </a:xfrm>
                </p:grpSpPr>
                <p:sp>
                  <p:nvSpPr>
                    <p:cNvPr id="41" name="Freeform 14"/>
                    <p:cNvSpPr/>
                    <p:nvPr/>
                  </p:nvSpPr>
                  <p:spPr bwMode="auto">
                    <a:xfrm>
                      <a:off x="528" y="2007"/>
                      <a:ext cx="4844" cy="242"/>
                    </a:xfrm>
                    <a:custGeom>
                      <a:avLst/>
                      <a:gdLst>
                        <a:gd name="T0" fmla="*/ 0 w 4844"/>
                        <a:gd name="T1" fmla="*/ 0 h 242"/>
                        <a:gd name="T2" fmla="*/ 1301 w 4844"/>
                        <a:gd name="T3" fmla="*/ 5 h 242"/>
                        <a:gd name="T4" fmla="*/ 1539 w 4844"/>
                        <a:gd name="T5" fmla="*/ 242 h 242"/>
                        <a:gd name="T6" fmla="*/ 2210 w 4844"/>
                        <a:gd name="T7" fmla="*/ 242 h 242"/>
                        <a:gd name="T8" fmla="*/ 2448 w 4844"/>
                        <a:gd name="T9" fmla="*/ 3 h 242"/>
                        <a:gd name="T10" fmla="*/ 4844 w 4844"/>
                        <a:gd name="T11" fmla="*/ 5 h 242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4844" h="242">
                          <a:moveTo>
                            <a:pt x="0" y="0"/>
                          </a:moveTo>
                          <a:lnTo>
                            <a:pt x="1301" y="5"/>
                          </a:lnTo>
                          <a:lnTo>
                            <a:pt x="1539" y="242"/>
                          </a:lnTo>
                          <a:lnTo>
                            <a:pt x="2210" y="242"/>
                          </a:lnTo>
                          <a:lnTo>
                            <a:pt x="2448" y="3"/>
                          </a:lnTo>
                          <a:lnTo>
                            <a:pt x="4844" y="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" name="Freeform 15"/>
                    <p:cNvSpPr/>
                    <p:nvPr/>
                  </p:nvSpPr>
                  <p:spPr bwMode="auto">
                    <a:xfrm>
                      <a:off x="528" y="2016"/>
                      <a:ext cx="1536" cy="240"/>
                    </a:xfrm>
                    <a:custGeom>
                      <a:avLst/>
                      <a:gdLst>
                        <a:gd name="T0" fmla="*/ 0 w 1536"/>
                        <a:gd name="T1" fmla="*/ 0 h 240"/>
                        <a:gd name="T2" fmla="*/ 1296 w 1536"/>
                        <a:gd name="T3" fmla="*/ 0 h 240"/>
                        <a:gd name="T4" fmla="*/ 1536 w 1536"/>
                        <a:gd name="T5" fmla="*/ 240 h 240"/>
                        <a:gd name="T6" fmla="*/ 0 w 1536"/>
                        <a:gd name="T7" fmla="*/ 240 h 24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536" h="240">
                          <a:moveTo>
                            <a:pt x="0" y="0"/>
                          </a:moveTo>
                          <a:lnTo>
                            <a:pt x="1296" y="0"/>
                          </a:lnTo>
                          <a:lnTo>
                            <a:pt x="1536" y="240"/>
                          </a:lnTo>
                          <a:lnTo>
                            <a:pt x="0" y="240"/>
                          </a:lnTo>
                        </a:path>
                      </a:pathLst>
                    </a:custGeom>
                    <a:solidFill>
                      <a:schemeClr val="tx1">
                        <a:alpha val="50195"/>
                      </a:schemeClr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3" name="Freeform 16"/>
                    <p:cNvSpPr/>
                    <p:nvPr/>
                  </p:nvSpPr>
                  <p:spPr bwMode="auto">
                    <a:xfrm>
                      <a:off x="2736" y="2010"/>
                      <a:ext cx="2640" cy="240"/>
                    </a:xfrm>
                    <a:custGeom>
                      <a:avLst/>
                      <a:gdLst>
                        <a:gd name="T0" fmla="*/ 2640 w 2640"/>
                        <a:gd name="T1" fmla="*/ 0 h 240"/>
                        <a:gd name="T2" fmla="*/ 240 w 2640"/>
                        <a:gd name="T3" fmla="*/ 0 h 240"/>
                        <a:gd name="T4" fmla="*/ 0 w 2640"/>
                        <a:gd name="T5" fmla="*/ 240 h 240"/>
                        <a:gd name="T6" fmla="*/ 2640 w 2640"/>
                        <a:gd name="T7" fmla="*/ 240 h 24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640" h="240">
                          <a:moveTo>
                            <a:pt x="2640" y="0"/>
                          </a:moveTo>
                          <a:lnTo>
                            <a:pt x="240" y="0"/>
                          </a:lnTo>
                          <a:lnTo>
                            <a:pt x="0" y="240"/>
                          </a:lnTo>
                          <a:lnTo>
                            <a:pt x="2640" y="240"/>
                          </a:lnTo>
                        </a:path>
                      </a:pathLst>
                    </a:custGeom>
                    <a:solidFill>
                      <a:schemeClr val="tx1">
                        <a:alpha val="50195"/>
                      </a:schemeClr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8" name="Group 17"/>
                  <p:cNvGrpSpPr/>
                  <p:nvPr/>
                </p:nvGrpSpPr>
                <p:grpSpPr bwMode="auto">
                  <a:xfrm>
                    <a:off x="525" y="2685"/>
                    <a:ext cx="4854" cy="357"/>
                    <a:chOff x="525" y="2685"/>
                    <a:chExt cx="4854" cy="357"/>
                  </a:xfrm>
                </p:grpSpPr>
                <p:sp>
                  <p:nvSpPr>
                    <p:cNvPr id="34" name="Freeform 18"/>
                    <p:cNvSpPr/>
                    <p:nvPr/>
                  </p:nvSpPr>
                  <p:spPr bwMode="auto">
                    <a:xfrm>
                      <a:off x="4752" y="2865"/>
                      <a:ext cx="624" cy="1"/>
                    </a:xfrm>
                    <a:custGeom>
                      <a:avLst/>
                      <a:gdLst>
                        <a:gd name="T0" fmla="*/ 0 w 624"/>
                        <a:gd name="T1" fmla="*/ 0 h 1"/>
                        <a:gd name="T2" fmla="*/ 624 w 624"/>
                        <a:gd name="T3" fmla="*/ 0 h 1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624" h="1">
                          <a:moveTo>
                            <a:pt x="0" y="0"/>
                          </a:moveTo>
                          <a:lnTo>
                            <a:pt x="624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35" name="Group 19"/>
                    <p:cNvGrpSpPr/>
                    <p:nvPr/>
                  </p:nvGrpSpPr>
                  <p:grpSpPr bwMode="auto">
                    <a:xfrm>
                      <a:off x="525" y="2685"/>
                      <a:ext cx="4854" cy="357"/>
                      <a:chOff x="525" y="2685"/>
                      <a:chExt cx="4854" cy="357"/>
                    </a:xfrm>
                  </p:grpSpPr>
                  <p:sp>
                    <p:nvSpPr>
                      <p:cNvPr id="36" name="Freeform 20"/>
                      <p:cNvSpPr/>
                      <p:nvPr/>
                    </p:nvSpPr>
                    <p:spPr bwMode="auto">
                      <a:xfrm>
                        <a:off x="527" y="2864"/>
                        <a:ext cx="2067" cy="1"/>
                      </a:xfrm>
                      <a:custGeom>
                        <a:avLst/>
                        <a:gdLst>
                          <a:gd name="T0" fmla="*/ 0 w 2067"/>
                          <a:gd name="T1" fmla="*/ 0 h 1"/>
                          <a:gd name="T2" fmla="*/ 2067 w 2067"/>
                          <a:gd name="T3" fmla="*/ 0 h 1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2067" h="1">
                            <a:moveTo>
                              <a:pt x="0" y="0"/>
                            </a:moveTo>
                            <a:lnTo>
                              <a:pt x="2067" y="0"/>
                            </a:lnTo>
                          </a:path>
                        </a:pathLst>
                      </a:custGeom>
                      <a:noFill/>
                      <a:ln w="38100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>
                        <a:spAutoFit/>
                      </a:bodyPr>
                      <a:lstStyle/>
                      <a:p>
                        <a:endParaRPr lang="zh-CN" altLang="en-US"/>
                      </a:p>
                    </p:txBody>
                  </p:sp>
                  <p:grpSp>
                    <p:nvGrpSpPr>
                      <p:cNvPr id="37" name="Group 21"/>
                      <p:cNvGrpSpPr/>
                      <p:nvPr/>
                    </p:nvGrpSpPr>
                    <p:grpSpPr bwMode="auto">
                      <a:xfrm>
                        <a:off x="525" y="2685"/>
                        <a:ext cx="4854" cy="357"/>
                        <a:chOff x="525" y="2685"/>
                        <a:chExt cx="4854" cy="357"/>
                      </a:xfrm>
                    </p:grpSpPr>
                    <p:sp>
                      <p:nvSpPr>
                        <p:cNvPr id="38" name="Freeform 22"/>
                        <p:cNvSpPr/>
                        <p:nvPr/>
                      </p:nvSpPr>
                      <p:spPr bwMode="auto">
                        <a:xfrm>
                          <a:off x="2589" y="2691"/>
                          <a:ext cx="2160" cy="342"/>
                        </a:xfrm>
                        <a:custGeom>
                          <a:avLst/>
                          <a:gdLst>
                            <a:gd name="T0" fmla="*/ 170 w 2160"/>
                            <a:gd name="T1" fmla="*/ 0 h 342"/>
                            <a:gd name="T2" fmla="*/ 0 w 2160"/>
                            <a:gd name="T3" fmla="*/ 171 h 342"/>
                            <a:gd name="T4" fmla="*/ 170 w 2160"/>
                            <a:gd name="T5" fmla="*/ 342 h 342"/>
                            <a:gd name="T6" fmla="*/ 1991 w 2160"/>
                            <a:gd name="T7" fmla="*/ 342 h 342"/>
                            <a:gd name="T8" fmla="*/ 2160 w 2160"/>
                            <a:gd name="T9" fmla="*/ 171 h 342"/>
                            <a:gd name="T10" fmla="*/ 1991 w 2160"/>
                            <a:gd name="T11" fmla="*/ 0 h 342"/>
                            <a:gd name="T12" fmla="*/ 170 w 2160"/>
                            <a:gd name="T13" fmla="*/ 0 h 342"/>
                            <a:gd name="T14" fmla="*/ 0 60000 65536"/>
                            <a:gd name="T15" fmla="*/ 0 60000 65536"/>
                            <a:gd name="T16" fmla="*/ 0 60000 65536"/>
                            <a:gd name="T17" fmla="*/ 0 60000 65536"/>
                            <a:gd name="T18" fmla="*/ 0 60000 65536"/>
                            <a:gd name="T19" fmla="*/ 0 60000 65536"/>
                            <a:gd name="T20" fmla="*/ 0 60000 65536"/>
                          </a:gdLst>
                          <a:ahLst/>
                          <a:cxnLst>
                            <a:cxn ang="T14">
                              <a:pos x="T0" y="T1"/>
                            </a:cxn>
                            <a:cxn ang="T15">
                              <a:pos x="T2" y="T3"/>
                            </a:cxn>
                            <a:cxn ang="T16">
                              <a:pos x="T4" y="T5"/>
                            </a:cxn>
                            <a:cxn ang="T17">
                              <a:pos x="T6" y="T7"/>
                            </a:cxn>
                            <a:cxn ang="T18">
                              <a:pos x="T8" y="T9"/>
                            </a:cxn>
                            <a:cxn ang="T19">
                              <a:pos x="T10" y="T11"/>
                            </a:cxn>
                            <a:cxn ang="T20">
                              <a:pos x="T12" y="T13"/>
                            </a:cxn>
                          </a:cxnLst>
                          <a:rect l="0" t="0" r="r" b="b"/>
                          <a:pathLst>
                            <a:path w="2160" h="342">
                              <a:moveTo>
                                <a:pt x="170" y="0"/>
                              </a:moveTo>
                              <a:lnTo>
                                <a:pt x="0" y="171"/>
                              </a:lnTo>
                              <a:lnTo>
                                <a:pt x="170" y="342"/>
                              </a:lnTo>
                              <a:lnTo>
                                <a:pt x="1991" y="342"/>
                              </a:lnTo>
                              <a:lnTo>
                                <a:pt x="2160" y="171"/>
                              </a:lnTo>
                              <a:lnTo>
                                <a:pt x="1991" y="0"/>
                              </a:lnTo>
                              <a:lnTo>
                                <a:pt x="170" y="0"/>
                              </a:lnTo>
                              <a:close/>
                            </a:path>
                          </a:pathLst>
                        </a:custGeom>
                        <a:noFill/>
                        <a:ln w="38100" cmpd="sng">
                          <a:solidFill>
                            <a:schemeClr val="tx1"/>
                          </a:solidFill>
                          <a:prstDash val="solid"/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9" name="Freeform 23"/>
                        <p:cNvSpPr/>
                        <p:nvPr/>
                      </p:nvSpPr>
                      <p:spPr bwMode="auto">
                        <a:xfrm>
                          <a:off x="525" y="2685"/>
                          <a:ext cx="2244" cy="357"/>
                        </a:xfrm>
                        <a:custGeom>
                          <a:avLst/>
                          <a:gdLst>
                            <a:gd name="T0" fmla="*/ 2067 w 2244"/>
                            <a:gd name="T1" fmla="*/ 177 h 357"/>
                            <a:gd name="T2" fmla="*/ 2244 w 2244"/>
                            <a:gd name="T3" fmla="*/ 0 h 357"/>
                            <a:gd name="T4" fmla="*/ 3 w 2244"/>
                            <a:gd name="T5" fmla="*/ 0 h 357"/>
                            <a:gd name="T6" fmla="*/ 0 w 2244"/>
                            <a:gd name="T7" fmla="*/ 357 h 357"/>
                            <a:gd name="T8" fmla="*/ 2241 w 2244"/>
                            <a:gd name="T9" fmla="*/ 357 h 357"/>
                            <a:gd name="T10" fmla="*/ 0 60000 65536"/>
                            <a:gd name="T11" fmla="*/ 0 60000 65536"/>
                            <a:gd name="T12" fmla="*/ 0 60000 65536"/>
                            <a:gd name="T13" fmla="*/ 0 60000 65536"/>
                            <a:gd name="T14" fmla="*/ 0 60000 65536"/>
                          </a:gdLst>
                          <a:ahLst/>
                          <a:cxnLst>
                            <a:cxn ang="T10">
                              <a:pos x="T0" y="T1"/>
                            </a:cxn>
                            <a:cxn ang="T11">
                              <a:pos x="T2" y="T3"/>
                            </a:cxn>
                            <a:cxn ang="T12">
                              <a:pos x="T4" y="T5"/>
                            </a:cxn>
                            <a:cxn ang="T13">
                              <a:pos x="T6" y="T7"/>
                            </a:cxn>
                            <a:cxn ang="T14">
                              <a:pos x="T8" y="T9"/>
                            </a:cxn>
                          </a:cxnLst>
                          <a:rect l="0" t="0" r="r" b="b"/>
                          <a:pathLst>
                            <a:path w="2244" h="357">
                              <a:moveTo>
                                <a:pt x="2067" y="177"/>
                              </a:moveTo>
                              <a:lnTo>
                                <a:pt x="2244" y="0"/>
                              </a:lnTo>
                              <a:lnTo>
                                <a:pt x="3" y="0"/>
                              </a:lnTo>
                              <a:lnTo>
                                <a:pt x="0" y="357"/>
                              </a:lnTo>
                              <a:lnTo>
                                <a:pt x="2241" y="357"/>
                              </a:lnTo>
                            </a:path>
                          </a:pathLst>
                        </a:custGeom>
                        <a:solidFill>
                          <a:schemeClr val="tx1">
                            <a:alpha val="50195"/>
                          </a:schemeClr>
                        </a:solidFill>
                        <a:ln w="9525" cap="flat" cmpd="sng">
                          <a:solidFill>
                            <a:schemeClr val="tx1"/>
                          </a:solidFill>
                          <a:prstDash val="solid"/>
                          <a:round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>
                          <a:spAutoFit/>
                        </a:bodyPr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40" name="Freeform 24"/>
                        <p:cNvSpPr/>
                        <p:nvPr/>
                      </p:nvSpPr>
                      <p:spPr bwMode="auto">
                        <a:xfrm>
                          <a:off x="4563" y="2685"/>
                          <a:ext cx="816" cy="357"/>
                        </a:xfrm>
                        <a:custGeom>
                          <a:avLst/>
                          <a:gdLst>
                            <a:gd name="T0" fmla="*/ 0 w 816"/>
                            <a:gd name="T1" fmla="*/ 0 h 357"/>
                            <a:gd name="T2" fmla="*/ 815 w 816"/>
                            <a:gd name="T3" fmla="*/ 0 h 357"/>
                            <a:gd name="T4" fmla="*/ 816 w 816"/>
                            <a:gd name="T5" fmla="*/ 357 h 357"/>
                            <a:gd name="T6" fmla="*/ 9 w 816"/>
                            <a:gd name="T7" fmla="*/ 357 h 357"/>
                            <a:gd name="T8" fmla="*/ 186 w 816"/>
                            <a:gd name="T9" fmla="*/ 180 h 357"/>
                            <a:gd name="T10" fmla="*/ 0 60000 65536"/>
                            <a:gd name="T11" fmla="*/ 0 60000 65536"/>
                            <a:gd name="T12" fmla="*/ 0 60000 65536"/>
                            <a:gd name="T13" fmla="*/ 0 60000 65536"/>
                            <a:gd name="T14" fmla="*/ 0 60000 65536"/>
                          </a:gdLst>
                          <a:ahLst/>
                          <a:cxnLst>
                            <a:cxn ang="T10">
                              <a:pos x="T0" y="T1"/>
                            </a:cxn>
                            <a:cxn ang="T11">
                              <a:pos x="T2" y="T3"/>
                            </a:cxn>
                            <a:cxn ang="T12">
                              <a:pos x="T4" y="T5"/>
                            </a:cxn>
                            <a:cxn ang="T13">
                              <a:pos x="T6" y="T7"/>
                            </a:cxn>
                            <a:cxn ang="T14">
                              <a:pos x="T8" y="T9"/>
                            </a:cxn>
                          </a:cxnLst>
                          <a:rect l="0" t="0" r="r" b="b"/>
                          <a:pathLst>
                            <a:path w="816" h="357">
                              <a:moveTo>
                                <a:pt x="0" y="0"/>
                              </a:moveTo>
                              <a:lnTo>
                                <a:pt x="815" y="0"/>
                              </a:lnTo>
                              <a:lnTo>
                                <a:pt x="816" y="357"/>
                              </a:lnTo>
                              <a:lnTo>
                                <a:pt x="9" y="357"/>
                              </a:lnTo>
                              <a:lnTo>
                                <a:pt x="186" y="180"/>
                              </a:lnTo>
                            </a:path>
                          </a:pathLst>
                        </a:custGeom>
                        <a:solidFill>
                          <a:schemeClr val="tx1">
                            <a:alpha val="50195"/>
                          </a:schemeClr>
                        </a:solidFill>
                        <a:ln w="9525" cap="flat" cmpd="sng">
                          <a:solidFill>
                            <a:schemeClr val="tx1"/>
                          </a:solidFill>
                          <a:prstDash val="solid"/>
                          <a:round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>
                          <a:spAutoFit/>
                        </a:bodyPr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</p:grpSp>
              <p:grpSp>
                <p:nvGrpSpPr>
                  <p:cNvPr id="29" name="Group 25"/>
                  <p:cNvGrpSpPr/>
                  <p:nvPr/>
                </p:nvGrpSpPr>
                <p:grpSpPr bwMode="auto">
                  <a:xfrm>
                    <a:off x="48" y="1400"/>
                    <a:ext cx="494" cy="1634"/>
                    <a:chOff x="48" y="1400"/>
                    <a:chExt cx="494" cy="1634"/>
                  </a:xfrm>
                </p:grpSpPr>
                <p:sp>
                  <p:nvSpPr>
                    <p:cNvPr id="30" name="Text Box 2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06" y="1400"/>
                      <a:ext cx="255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400">
                          <a:latin typeface="Times New Roman" panose="02020603050405020304" pitchFamily="18" charset="0"/>
                        </a:rPr>
                        <a:t>A</a:t>
                      </a:r>
                      <a:endParaRPr lang="en-US" altLang="zh-CN" sz="24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31" name="Text Box 2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" y="2043"/>
                      <a:ext cx="362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400">
                          <a:latin typeface="Times New Roman" panose="02020603050405020304" pitchFamily="18" charset="0"/>
                        </a:rPr>
                        <a:t>CS</a:t>
                      </a:r>
                      <a:endParaRPr lang="en-US" altLang="zh-CN" sz="24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32" name="Text Box 2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" y="2708"/>
                      <a:ext cx="255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400">
                          <a:latin typeface="Times New Roman" panose="02020603050405020304" pitchFamily="18" charset="0"/>
                        </a:rPr>
                        <a:t>D</a:t>
                      </a:r>
                      <a:endParaRPr lang="en-US" altLang="zh-CN" sz="24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33" name="Text Box 2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83" y="2842"/>
                      <a:ext cx="359" cy="19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1400">
                          <a:latin typeface="Times New Roman" panose="02020603050405020304" pitchFamily="18" charset="0"/>
                        </a:rPr>
                        <a:t>OUT</a:t>
                      </a:r>
                      <a:endParaRPr lang="en-US" altLang="zh-CN" sz="1400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</p:grpSp>
            <p:grpSp>
              <p:nvGrpSpPr>
                <p:cNvPr id="8" name="Group 115"/>
                <p:cNvGrpSpPr/>
                <p:nvPr/>
              </p:nvGrpSpPr>
              <p:grpSpPr bwMode="auto">
                <a:xfrm>
                  <a:off x="632" y="714"/>
                  <a:ext cx="4740" cy="3168"/>
                  <a:chOff x="632" y="714"/>
                  <a:chExt cx="4740" cy="3168"/>
                </a:xfrm>
              </p:grpSpPr>
              <p:sp>
                <p:nvSpPr>
                  <p:cNvPr id="9" name="Line 31"/>
                  <p:cNvSpPr>
                    <a:spLocks noChangeShapeType="1"/>
                  </p:cNvSpPr>
                  <p:nvPr/>
                </p:nvSpPr>
                <p:spPr bwMode="auto">
                  <a:xfrm rot="10800000">
                    <a:off x="2880" y="3594"/>
                    <a:ext cx="48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tailEnd type="stealth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0" name="Line 32"/>
                  <p:cNvSpPr>
                    <a:spLocks noChangeShapeType="1"/>
                  </p:cNvSpPr>
                  <p:nvPr/>
                </p:nvSpPr>
                <p:spPr bwMode="auto">
                  <a:xfrm>
                    <a:off x="1366" y="810"/>
                    <a:ext cx="0" cy="2832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1" name="Line 33"/>
                  <p:cNvSpPr>
                    <a:spLocks noChangeShapeType="1"/>
                  </p:cNvSpPr>
                  <p:nvPr/>
                </p:nvSpPr>
                <p:spPr bwMode="auto">
                  <a:xfrm>
                    <a:off x="4128" y="810"/>
                    <a:ext cx="0" cy="1920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" name="Text Box 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2" y="714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地址有效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" name="Text Box 3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104" y="747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地址失效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grpSp>
                <p:nvGrpSpPr>
                  <p:cNvPr id="14" name="Group 114"/>
                  <p:cNvGrpSpPr/>
                  <p:nvPr/>
                </p:nvGrpSpPr>
                <p:grpSpPr bwMode="auto">
                  <a:xfrm>
                    <a:off x="2976" y="1712"/>
                    <a:ext cx="1048" cy="250"/>
                    <a:chOff x="2976" y="1712"/>
                    <a:chExt cx="1048" cy="250"/>
                  </a:xfrm>
                </p:grpSpPr>
                <p:sp>
                  <p:nvSpPr>
                    <p:cNvPr id="24" name="Line 3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976" y="1856"/>
                      <a:ext cx="33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tailEnd type="stealth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5" name="Text Box 3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4" y="1712"/>
                      <a:ext cx="760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片选失效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5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242"/>
                    <a:ext cx="0" cy="2352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6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2592" y="2682"/>
                    <a:ext cx="0" cy="1056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7" name="Group 113"/>
                  <p:cNvGrpSpPr/>
                  <p:nvPr/>
                </p:nvGrpSpPr>
                <p:grpSpPr bwMode="auto">
                  <a:xfrm>
                    <a:off x="1352" y="3440"/>
                    <a:ext cx="1240" cy="250"/>
                    <a:chOff x="1352" y="3440"/>
                    <a:chExt cx="1240" cy="250"/>
                  </a:xfrm>
                </p:grpSpPr>
                <p:sp>
                  <p:nvSpPr>
                    <p:cNvPr id="22" name="Line 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3594"/>
                      <a:ext cx="48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tailEnd type="stealth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3" name="Text Box 4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352" y="3440"/>
                      <a:ext cx="760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数据有效</a:t>
                      </a:r>
                      <a:endParaRPr lang="zh-CN" altLang="en-US" sz="2000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8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2880" y="1002"/>
                    <a:ext cx="0" cy="2880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68" y="3450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数据稳定</a:t>
                    </a:r>
                    <a:endParaRPr lang="en-US" altLang="zh-CN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" name="Text Box 4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34" y="3237"/>
                    <a:ext cx="43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高阻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" name="Line 47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2874"/>
                    <a:ext cx="336" cy="3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4" name="Line 48"/>
            <p:cNvSpPr>
              <a:spLocks noChangeShapeType="1"/>
            </p:cNvSpPr>
            <p:nvPr/>
          </p:nvSpPr>
          <p:spPr bwMode="auto">
            <a:xfrm>
              <a:off x="96" y="206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9" name="Text Box 49"/>
          <p:cNvSpPr txBox="1">
            <a:spLocks noChangeArrowheads="1"/>
          </p:cNvSpPr>
          <p:nvPr/>
        </p:nvSpPr>
        <p:spPr bwMode="auto">
          <a:xfrm>
            <a:off x="136577" y="58194"/>
            <a:ext cx="5410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(3) 静态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 </a:t>
            </a:r>
            <a:r>
              <a:rPr lang="zh-CN" altLang="en-US" sz="3200">
                <a:latin typeface="Times New Roman" panose="02020603050405020304" pitchFamily="18" charset="0"/>
              </a:rPr>
              <a:t>时序 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50" name="Group 50"/>
          <p:cNvGrpSpPr/>
          <p:nvPr/>
        </p:nvGrpSpPr>
        <p:grpSpPr bwMode="auto">
          <a:xfrm>
            <a:off x="3667944" y="1417365"/>
            <a:ext cx="2362200" cy="631825"/>
            <a:chOff x="1392" y="918"/>
            <a:chExt cx="1488" cy="398"/>
          </a:xfrm>
        </p:grpSpPr>
        <p:grpSp>
          <p:nvGrpSpPr>
            <p:cNvPr id="51" name="Group 51"/>
            <p:cNvGrpSpPr/>
            <p:nvPr/>
          </p:nvGrpSpPr>
          <p:grpSpPr bwMode="auto">
            <a:xfrm>
              <a:off x="1968" y="918"/>
              <a:ext cx="290" cy="398"/>
              <a:chOff x="4455" y="588"/>
              <a:chExt cx="290" cy="398"/>
            </a:xfrm>
          </p:grpSpPr>
          <p:sp>
            <p:nvSpPr>
              <p:cNvPr id="54" name="Text Box 52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" name="Text Box 53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185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A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2" name="Line 54"/>
            <p:cNvSpPr>
              <a:spLocks noChangeShapeType="1"/>
            </p:cNvSpPr>
            <p:nvPr/>
          </p:nvSpPr>
          <p:spPr bwMode="auto">
            <a:xfrm>
              <a:off x="2400" y="1146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Line 55"/>
            <p:cNvSpPr>
              <a:spLocks noChangeShapeType="1"/>
            </p:cNvSpPr>
            <p:nvPr/>
          </p:nvSpPr>
          <p:spPr bwMode="auto">
            <a:xfrm rot="10800000">
              <a:off x="1392" y="1146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56" name="Line 56"/>
          <p:cNvSpPr>
            <a:spLocks noChangeShapeType="1"/>
          </p:cNvSpPr>
          <p:nvPr/>
        </p:nvSpPr>
        <p:spPr bwMode="auto">
          <a:xfrm>
            <a:off x="4506144" y="2855640"/>
            <a:ext cx="0" cy="2595563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57" name="Group 57"/>
          <p:cNvGrpSpPr/>
          <p:nvPr/>
        </p:nvGrpSpPr>
        <p:grpSpPr bwMode="auto">
          <a:xfrm>
            <a:off x="4506144" y="3550965"/>
            <a:ext cx="1524000" cy="631825"/>
            <a:chOff x="1920" y="2262"/>
            <a:chExt cx="960" cy="398"/>
          </a:xfrm>
        </p:grpSpPr>
        <p:grpSp>
          <p:nvGrpSpPr>
            <p:cNvPr id="58" name="Group 58"/>
            <p:cNvGrpSpPr/>
            <p:nvPr/>
          </p:nvGrpSpPr>
          <p:grpSpPr bwMode="auto">
            <a:xfrm>
              <a:off x="2208" y="2262"/>
              <a:ext cx="365" cy="398"/>
              <a:chOff x="4455" y="588"/>
              <a:chExt cx="365" cy="398"/>
            </a:xfrm>
          </p:grpSpPr>
          <p:sp>
            <p:nvSpPr>
              <p:cNvPr id="61" name="Text Box 59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Text Box 60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CO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9" name="Line 61"/>
            <p:cNvSpPr>
              <a:spLocks noChangeShapeType="1"/>
            </p:cNvSpPr>
            <p:nvPr/>
          </p:nvSpPr>
          <p:spPr bwMode="auto">
            <a:xfrm>
              <a:off x="2592" y="2440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62"/>
            <p:cNvSpPr>
              <a:spLocks noChangeShapeType="1"/>
            </p:cNvSpPr>
            <p:nvPr/>
          </p:nvSpPr>
          <p:spPr bwMode="auto">
            <a:xfrm rot="10800000">
              <a:off x="1920" y="2440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3" name="Line 63"/>
          <p:cNvSpPr>
            <a:spLocks noChangeShapeType="1"/>
          </p:cNvSpPr>
          <p:nvPr/>
        </p:nvSpPr>
        <p:spPr bwMode="auto">
          <a:xfrm>
            <a:off x="8773344" y="3698603"/>
            <a:ext cx="0" cy="7620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43008" name="Group 64"/>
          <p:cNvGrpSpPr/>
          <p:nvPr/>
        </p:nvGrpSpPr>
        <p:grpSpPr bwMode="auto">
          <a:xfrm>
            <a:off x="7706544" y="3554140"/>
            <a:ext cx="1371600" cy="631825"/>
            <a:chOff x="3936" y="2264"/>
            <a:chExt cx="864" cy="398"/>
          </a:xfrm>
        </p:grpSpPr>
        <p:grpSp>
          <p:nvGrpSpPr>
            <p:cNvPr id="43009" name="Group 65"/>
            <p:cNvGrpSpPr/>
            <p:nvPr/>
          </p:nvGrpSpPr>
          <p:grpSpPr bwMode="auto">
            <a:xfrm>
              <a:off x="4168" y="2264"/>
              <a:ext cx="440" cy="398"/>
              <a:chOff x="4455" y="588"/>
              <a:chExt cx="440" cy="398"/>
            </a:xfrm>
          </p:grpSpPr>
          <p:sp>
            <p:nvSpPr>
              <p:cNvPr id="43014" name="Text Box 66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15" name="Text Box 67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335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OHA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43012" name="Line 68"/>
            <p:cNvSpPr>
              <a:spLocks noChangeShapeType="1"/>
            </p:cNvSpPr>
            <p:nvPr/>
          </p:nvSpPr>
          <p:spPr bwMode="auto">
            <a:xfrm flipH="1">
              <a:off x="4608" y="2440"/>
              <a:ext cx="192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3013" name="Line 69"/>
            <p:cNvSpPr>
              <a:spLocks noChangeShapeType="1"/>
            </p:cNvSpPr>
            <p:nvPr/>
          </p:nvSpPr>
          <p:spPr bwMode="auto">
            <a:xfrm rot="10800000" flipH="1">
              <a:off x="3936" y="2440"/>
              <a:ext cx="192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43016" name="Group 70"/>
          <p:cNvGrpSpPr/>
          <p:nvPr/>
        </p:nvGrpSpPr>
        <p:grpSpPr bwMode="auto">
          <a:xfrm>
            <a:off x="6182544" y="4849540"/>
            <a:ext cx="2819400" cy="631825"/>
            <a:chOff x="2976" y="3080"/>
            <a:chExt cx="1776" cy="398"/>
          </a:xfrm>
        </p:grpSpPr>
        <p:sp>
          <p:nvSpPr>
            <p:cNvPr id="43017" name="Line 71"/>
            <p:cNvSpPr>
              <a:spLocks noChangeShapeType="1"/>
            </p:cNvSpPr>
            <p:nvPr/>
          </p:nvSpPr>
          <p:spPr bwMode="auto">
            <a:xfrm>
              <a:off x="4128" y="3210"/>
              <a:ext cx="62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3018" name="Line 72"/>
            <p:cNvSpPr>
              <a:spLocks noChangeShapeType="1"/>
            </p:cNvSpPr>
            <p:nvPr/>
          </p:nvSpPr>
          <p:spPr bwMode="auto">
            <a:xfrm rot="10800000">
              <a:off x="2976" y="3210"/>
              <a:ext cx="62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43019" name="Group 73"/>
            <p:cNvGrpSpPr/>
            <p:nvPr/>
          </p:nvGrpSpPr>
          <p:grpSpPr bwMode="auto">
            <a:xfrm>
              <a:off x="3651" y="3080"/>
              <a:ext cx="429" cy="398"/>
              <a:chOff x="4455" y="588"/>
              <a:chExt cx="429" cy="398"/>
            </a:xfrm>
          </p:grpSpPr>
          <p:sp>
            <p:nvSpPr>
              <p:cNvPr id="43020" name="Text Box 74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21" name="Text Box 75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324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OTD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43022" name="Group 76"/>
          <p:cNvGrpSpPr/>
          <p:nvPr/>
        </p:nvGrpSpPr>
        <p:grpSpPr bwMode="auto">
          <a:xfrm>
            <a:off x="3629844" y="987153"/>
            <a:ext cx="4343400" cy="631825"/>
            <a:chOff x="1368" y="647"/>
            <a:chExt cx="2736" cy="398"/>
          </a:xfrm>
        </p:grpSpPr>
        <p:sp>
          <p:nvSpPr>
            <p:cNvPr id="43023" name="Line 77"/>
            <p:cNvSpPr>
              <a:spLocks noChangeShapeType="1"/>
            </p:cNvSpPr>
            <p:nvPr/>
          </p:nvSpPr>
          <p:spPr bwMode="auto">
            <a:xfrm>
              <a:off x="3048" y="875"/>
              <a:ext cx="105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43024" name="Group 78"/>
            <p:cNvGrpSpPr/>
            <p:nvPr/>
          </p:nvGrpSpPr>
          <p:grpSpPr bwMode="auto">
            <a:xfrm>
              <a:off x="2501" y="647"/>
              <a:ext cx="359" cy="398"/>
              <a:chOff x="4455" y="588"/>
              <a:chExt cx="359" cy="398"/>
            </a:xfrm>
          </p:grpSpPr>
          <p:sp>
            <p:nvSpPr>
              <p:cNvPr id="43026" name="Text Box 79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21" name="Text Box 80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54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RC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43025" name="Line 81"/>
            <p:cNvSpPr>
              <a:spLocks noChangeShapeType="1"/>
            </p:cNvSpPr>
            <p:nvPr/>
          </p:nvSpPr>
          <p:spPr bwMode="auto">
            <a:xfrm rot="10800000">
              <a:off x="1368" y="875"/>
              <a:ext cx="105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43122" name="Group 82"/>
          <p:cNvGrpSpPr/>
          <p:nvPr/>
        </p:nvGrpSpPr>
        <p:grpSpPr bwMode="auto">
          <a:xfrm>
            <a:off x="2772594" y="2681015"/>
            <a:ext cx="1714500" cy="396875"/>
            <a:chOff x="828" y="1714"/>
            <a:chExt cx="1080" cy="250"/>
          </a:xfrm>
        </p:grpSpPr>
        <p:sp>
          <p:nvSpPr>
            <p:cNvPr id="43123" name="Text Box 83"/>
            <p:cNvSpPr txBox="1">
              <a:spLocks noChangeArrowheads="1"/>
            </p:cNvSpPr>
            <p:nvPr/>
          </p:nvSpPr>
          <p:spPr bwMode="auto">
            <a:xfrm>
              <a:off x="828" y="1714"/>
              <a:ext cx="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片选有效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43124" name="Line 84"/>
            <p:cNvSpPr>
              <a:spLocks noChangeShapeType="1"/>
            </p:cNvSpPr>
            <p:nvPr/>
          </p:nvSpPr>
          <p:spPr bwMode="auto">
            <a:xfrm>
              <a:off x="1572" y="1848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3126" name="Group 86"/>
          <p:cNvGrpSpPr/>
          <p:nvPr/>
        </p:nvGrpSpPr>
        <p:grpSpPr bwMode="auto">
          <a:xfrm>
            <a:off x="2448744" y="6000478"/>
            <a:ext cx="6948488" cy="588962"/>
            <a:chOff x="624" y="3805"/>
            <a:chExt cx="4377" cy="371"/>
          </a:xfrm>
        </p:grpSpPr>
        <p:sp>
          <p:nvSpPr>
            <p:cNvPr id="43127" name="Rectangle 87"/>
            <p:cNvSpPr>
              <a:spLocks noChangeArrowheads="1"/>
            </p:cNvSpPr>
            <p:nvPr/>
          </p:nvSpPr>
          <p:spPr bwMode="auto">
            <a:xfrm>
              <a:off x="624" y="3805"/>
              <a:ext cx="4377" cy="371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</a:rPr>
                <a:t>读周期</a:t>
              </a:r>
              <a:r>
                <a:rPr lang="zh-CN" altLang="en-US" sz="2800"/>
                <a:t> </a:t>
              </a:r>
              <a:r>
                <a:rPr lang="en-US" altLang="zh-CN" sz="2800" i="1">
                  <a:solidFill>
                    <a:schemeClr val="folHlink"/>
                  </a:solidFill>
                </a:rPr>
                <a:t>t</a:t>
              </a:r>
              <a:r>
                <a:rPr lang="en-US" altLang="zh-CN" sz="2400" baseline="-25000">
                  <a:solidFill>
                    <a:schemeClr val="folHlink"/>
                  </a:solidFill>
                </a:rPr>
                <a:t>RC</a:t>
              </a:r>
              <a:r>
                <a:rPr lang="en-US" altLang="zh-CN" sz="2800" baseline="-25000"/>
                <a:t>  </a:t>
              </a:r>
              <a:r>
                <a:rPr lang="zh-CN" altLang="en-US" sz="2800"/>
                <a:t>地址有效    下一次地址有效</a:t>
              </a:r>
              <a:endParaRPr lang="zh-CN" altLang="en-US" sz="2800"/>
            </a:p>
          </p:txBody>
        </p:sp>
        <p:sp>
          <p:nvSpPr>
            <p:cNvPr id="43128" name="Line 88"/>
            <p:cNvSpPr>
              <a:spLocks noChangeShapeType="1"/>
            </p:cNvSpPr>
            <p:nvPr/>
          </p:nvSpPr>
          <p:spPr bwMode="auto">
            <a:xfrm>
              <a:off x="2985" y="4032"/>
              <a:ext cx="3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3129" name="Group 89"/>
          <p:cNvGrpSpPr/>
          <p:nvPr/>
        </p:nvGrpSpPr>
        <p:grpSpPr bwMode="auto">
          <a:xfrm>
            <a:off x="2448744" y="6000478"/>
            <a:ext cx="7467600" cy="595312"/>
            <a:chOff x="624" y="3805"/>
            <a:chExt cx="4704" cy="375"/>
          </a:xfrm>
        </p:grpSpPr>
        <p:sp>
          <p:nvSpPr>
            <p:cNvPr id="43130" name="Rectangle 90"/>
            <p:cNvSpPr>
              <a:spLocks noChangeArrowheads="1"/>
            </p:cNvSpPr>
            <p:nvPr/>
          </p:nvSpPr>
          <p:spPr bwMode="auto">
            <a:xfrm>
              <a:off x="624" y="3844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43131" name="Group 91"/>
            <p:cNvGrpSpPr/>
            <p:nvPr/>
          </p:nvGrpSpPr>
          <p:grpSpPr bwMode="auto">
            <a:xfrm>
              <a:off x="853" y="3805"/>
              <a:ext cx="4475" cy="365"/>
              <a:chOff x="853" y="3805"/>
              <a:chExt cx="4475" cy="365"/>
            </a:xfrm>
          </p:grpSpPr>
          <p:sp>
            <p:nvSpPr>
              <p:cNvPr id="43132" name="Rectangle 92"/>
              <p:cNvSpPr>
                <a:spLocks noChangeArrowheads="1"/>
              </p:cNvSpPr>
              <p:nvPr/>
            </p:nvSpPr>
            <p:spPr bwMode="auto">
              <a:xfrm>
                <a:off x="853" y="3805"/>
                <a:ext cx="2891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</a:rPr>
                  <a:t>读时间</a:t>
                </a:r>
                <a:r>
                  <a:rPr lang="zh-CN" altLang="en-US" sz="2800">
                    <a:solidFill>
                      <a:schemeClr val="folHlink"/>
                    </a:solidFill>
                  </a:rPr>
                  <a:t>  </a:t>
                </a:r>
                <a:r>
                  <a:rPr lang="en-US" altLang="zh-CN" sz="2800" i="1">
                    <a:solidFill>
                      <a:schemeClr val="folHlink"/>
                    </a:solidFill>
                  </a:rPr>
                  <a:t>t</a:t>
                </a:r>
                <a:r>
                  <a:rPr lang="en-US" altLang="zh-CN" sz="2400" baseline="-25000">
                    <a:solidFill>
                      <a:schemeClr val="folHlink"/>
                    </a:solidFill>
                  </a:rPr>
                  <a:t>A</a:t>
                </a:r>
                <a:r>
                  <a:rPr lang="en-US" altLang="zh-CN" sz="2800" baseline="-25000"/>
                  <a:t>   </a:t>
                </a:r>
                <a:r>
                  <a:rPr lang="zh-CN" altLang="en-US" sz="2800"/>
                  <a:t>地址有效</a:t>
                </a:r>
                <a:endParaRPr lang="zh-CN" altLang="en-US" sz="2800"/>
              </a:p>
            </p:txBody>
          </p:sp>
          <p:sp>
            <p:nvSpPr>
              <p:cNvPr id="43133" name="Line 93"/>
              <p:cNvSpPr>
                <a:spLocks noChangeShapeType="1"/>
              </p:cNvSpPr>
              <p:nvPr/>
            </p:nvSpPr>
            <p:spPr bwMode="auto">
              <a:xfrm>
                <a:off x="3312" y="4032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3134" name="Rectangle 94"/>
              <p:cNvSpPr>
                <a:spLocks noChangeArrowheads="1"/>
              </p:cNvSpPr>
              <p:nvPr/>
            </p:nvSpPr>
            <p:spPr bwMode="auto">
              <a:xfrm>
                <a:off x="3744" y="3835"/>
                <a:ext cx="1584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数据稳定 </a:t>
                </a:r>
                <a:endParaRPr lang="en-US" altLang="zh-CN" sz="2800"/>
              </a:p>
            </p:txBody>
          </p:sp>
        </p:grpSp>
      </p:grpSp>
      <p:grpSp>
        <p:nvGrpSpPr>
          <p:cNvPr id="43135" name="Group 95"/>
          <p:cNvGrpSpPr/>
          <p:nvPr/>
        </p:nvGrpSpPr>
        <p:grpSpPr bwMode="auto">
          <a:xfrm>
            <a:off x="2448744" y="6000478"/>
            <a:ext cx="6934200" cy="533400"/>
            <a:chOff x="624" y="3805"/>
            <a:chExt cx="4368" cy="336"/>
          </a:xfrm>
        </p:grpSpPr>
        <p:sp>
          <p:nvSpPr>
            <p:cNvPr id="231424" name="Rectangle 96"/>
            <p:cNvSpPr>
              <a:spLocks noChangeArrowheads="1"/>
            </p:cNvSpPr>
            <p:nvPr/>
          </p:nvSpPr>
          <p:spPr bwMode="auto">
            <a:xfrm>
              <a:off x="624" y="3805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1425" name="Group 97"/>
            <p:cNvGrpSpPr/>
            <p:nvPr/>
          </p:nvGrpSpPr>
          <p:grpSpPr bwMode="auto">
            <a:xfrm>
              <a:off x="1573" y="3805"/>
              <a:ext cx="2784" cy="327"/>
              <a:chOff x="1573" y="3805"/>
              <a:chExt cx="2784" cy="327"/>
            </a:xfrm>
          </p:grpSpPr>
          <p:sp>
            <p:nvSpPr>
              <p:cNvPr id="231426" name="Rectangle 98"/>
              <p:cNvSpPr>
                <a:spLocks noChangeArrowheads="1"/>
              </p:cNvSpPr>
              <p:nvPr/>
            </p:nvSpPr>
            <p:spPr bwMode="auto">
              <a:xfrm>
                <a:off x="1573" y="3805"/>
                <a:ext cx="141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CO</a:t>
                </a:r>
                <a:r>
                  <a:rPr lang="en-US" altLang="zh-CN" sz="2800" baseline="-25000"/>
                  <a:t>  </a:t>
                </a:r>
                <a:r>
                  <a:rPr lang="zh-CN" altLang="en-US" sz="2800"/>
                  <a:t>片选有效</a:t>
                </a:r>
                <a:endParaRPr lang="zh-CN" altLang="en-US" sz="2800"/>
              </a:p>
            </p:txBody>
          </p:sp>
          <p:sp>
            <p:nvSpPr>
              <p:cNvPr id="231427" name="Line 99"/>
              <p:cNvSpPr>
                <a:spLocks noChangeShapeType="1"/>
              </p:cNvSpPr>
              <p:nvPr/>
            </p:nvSpPr>
            <p:spPr bwMode="auto">
              <a:xfrm>
                <a:off x="3002" y="3984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1428" name="Rectangle 100"/>
              <p:cNvSpPr>
                <a:spLocks noChangeArrowheads="1"/>
              </p:cNvSpPr>
              <p:nvPr/>
            </p:nvSpPr>
            <p:spPr bwMode="auto">
              <a:xfrm>
                <a:off x="3341" y="3805"/>
                <a:ext cx="101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数据稳定</a:t>
                </a:r>
                <a:endParaRPr lang="zh-CN" altLang="en-US" sz="2800"/>
              </a:p>
            </p:txBody>
          </p:sp>
        </p:grpSp>
      </p:grpSp>
      <p:grpSp>
        <p:nvGrpSpPr>
          <p:cNvPr id="231429" name="Group 101"/>
          <p:cNvGrpSpPr/>
          <p:nvPr/>
        </p:nvGrpSpPr>
        <p:grpSpPr bwMode="auto">
          <a:xfrm>
            <a:off x="2448744" y="6000478"/>
            <a:ext cx="7010400" cy="533400"/>
            <a:chOff x="624" y="3805"/>
            <a:chExt cx="4416" cy="336"/>
          </a:xfrm>
        </p:grpSpPr>
        <p:sp>
          <p:nvSpPr>
            <p:cNvPr id="231430" name="Rectangle 102"/>
            <p:cNvSpPr>
              <a:spLocks noChangeArrowheads="1"/>
            </p:cNvSpPr>
            <p:nvPr/>
          </p:nvSpPr>
          <p:spPr bwMode="auto">
            <a:xfrm>
              <a:off x="624" y="3805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1431" name="Group 103"/>
            <p:cNvGrpSpPr/>
            <p:nvPr/>
          </p:nvGrpSpPr>
          <p:grpSpPr bwMode="auto">
            <a:xfrm>
              <a:off x="1536" y="3805"/>
              <a:ext cx="3504" cy="327"/>
              <a:chOff x="1536" y="3805"/>
              <a:chExt cx="3504" cy="327"/>
            </a:xfrm>
          </p:grpSpPr>
          <p:sp>
            <p:nvSpPr>
              <p:cNvPr id="231432" name="Rectangle 104"/>
              <p:cNvSpPr>
                <a:spLocks noChangeArrowheads="1"/>
              </p:cNvSpPr>
              <p:nvPr/>
            </p:nvSpPr>
            <p:spPr bwMode="auto">
              <a:xfrm>
                <a:off x="1536" y="3805"/>
                <a:ext cx="140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OTD</a:t>
                </a:r>
                <a:r>
                  <a:rPr lang="zh-CN" altLang="en-US" sz="2800" baseline="-25000"/>
                  <a:t> </a:t>
                </a:r>
                <a:r>
                  <a:rPr lang="zh-CN" altLang="en-US" sz="2800"/>
                  <a:t>片选失效</a:t>
                </a:r>
                <a:endParaRPr lang="zh-CN" altLang="en-US" sz="2800"/>
              </a:p>
            </p:txBody>
          </p:sp>
          <p:sp>
            <p:nvSpPr>
              <p:cNvPr id="231433" name="Line 105"/>
              <p:cNvSpPr>
                <a:spLocks noChangeShapeType="1"/>
              </p:cNvSpPr>
              <p:nvPr/>
            </p:nvSpPr>
            <p:spPr bwMode="auto">
              <a:xfrm>
                <a:off x="2965" y="3984"/>
                <a:ext cx="33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1434" name="Rectangle 106"/>
              <p:cNvSpPr>
                <a:spLocks noChangeArrowheads="1"/>
              </p:cNvSpPr>
              <p:nvPr/>
            </p:nvSpPr>
            <p:spPr bwMode="auto">
              <a:xfrm>
                <a:off x="3304" y="3805"/>
                <a:ext cx="173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输出高阻</a:t>
                </a:r>
                <a:endParaRPr lang="zh-CN" altLang="en-US" sz="2800"/>
              </a:p>
            </p:txBody>
          </p:sp>
        </p:grpSp>
      </p:grpSp>
      <p:grpSp>
        <p:nvGrpSpPr>
          <p:cNvPr id="231435" name="Group 107"/>
          <p:cNvGrpSpPr/>
          <p:nvPr/>
        </p:nvGrpSpPr>
        <p:grpSpPr bwMode="auto">
          <a:xfrm>
            <a:off x="2448744" y="6000478"/>
            <a:ext cx="6934200" cy="542925"/>
            <a:chOff x="624" y="3805"/>
            <a:chExt cx="4368" cy="342"/>
          </a:xfrm>
        </p:grpSpPr>
        <p:sp>
          <p:nvSpPr>
            <p:cNvPr id="231436" name="Rectangle 108"/>
            <p:cNvSpPr>
              <a:spLocks noChangeArrowheads="1"/>
            </p:cNvSpPr>
            <p:nvPr/>
          </p:nvSpPr>
          <p:spPr bwMode="auto">
            <a:xfrm>
              <a:off x="624" y="3811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1437" name="Group 109"/>
            <p:cNvGrpSpPr/>
            <p:nvPr/>
          </p:nvGrpSpPr>
          <p:grpSpPr bwMode="auto">
            <a:xfrm>
              <a:off x="1573" y="3805"/>
              <a:ext cx="3234" cy="327"/>
              <a:chOff x="1573" y="3805"/>
              <a:chExt cx="3234" cy="327"/>
            </a:xfrm>
          </p:grpSpPr>
          <p:sp>
            <p:nvSpPr>
              <p:cNvPr id="231438" name="Rectangle 110"/>
              <p:cNvSpPr>
                <a:spLocks noChangeArrowheads="1"/>
              </p:cNvSpPr>
              <p:nvPr/>
            </p:nvSpPr>
            <p:spPr bwMode="auto">
              <a:xfrm>
                <a:off x="1573" y="3805"/>
                <a:ext cx="185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OHA</a:t>
                </a:r>
                <a:r>
                  <a:rPr lang="zh-CN" altLang="en-US" sz="2800" baseline="-25000"/>
                  <a:t> </a:t>
                </a:r>
                <a:r>
                  <a:rPr lang="zh-CN" altLang="en-US" sz="2800"/>
                  <a:t>地址失效后的</a:t>
                </a:r>
                <a:endParaRPr lang="zh-CN" altLang="en-US" sz="2800"/>
              </a:p>
            </p:txBody>
          </p:sp>
          <p:sp>
            <p:nvSpPr>
              <p:cNvPr id="231439" name="Rectangle 111"/>
              <p:cNvSpPr>
                <a:spLocks noChangeArrowheads="1"/>
              </p:cNvSpPr>
              <p:nvPr/>
            </p:nvSpPr>
            <p:spPr bwMode="auto">
              <a:xfrm>
                <a:off x="3341" y="3805"/>
                <a:ext cx="146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数据维持时间</a:t>
                </a:r>
                <a:endParaRPr lang="zh-CN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3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4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3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3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43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231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1" dur="500"/>
                                        <p:tgtEl>
                                          <p:spTgt spid="43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231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6" dur="500"/>
                                        <p:tgtEl>
                                          <p:spTgt spid="43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577008" y="1370269"/>
            <a:ext cx="8847138" cy="4554538"/>
            <a:chOff x="96" y="864"/>
            <a:chExt cx="5573" cy="2869"/>
          </a:xfrm>
        </p:grpSpPr>
        <p:grpSp>
          <p:nvGrpSpPr>
            <p:cNvPr id="3" name="Group 3"/>
            <p:cNvGrpSpPr/>
            <p:nvPr/>
          </p:nvGrpSpPr>
          <p:grpSpPr bwMode="auto">
            <a:xfrm>
              <a:off x="96" y="864"/>
              <a:ext cx="5573" cy="2869"/>
              <a:chOff x="96" y="864"/>
              <a:chExt cx="5573" cy="2869"/>
            </a:xfrm>
          </p:grpSpPr>
          <p:grpSp>
            <p:nvGrpSpPr>
              <p:cNvPr id="5" name="Group 4"/>
              <p:cNvGrpSpPr/>
              <p:nvPr/>
            </p:nvGrpSpPr>
            <p:grpSpPr bwMode="auto">
              <a:xfrm>
                <a:off x="525" y="1627"/>
                <a:ext cx="5139" cy="254"/>
                <a:chOff x="525" y="1627"/>
                <a:chExt cx="5139" cy="254"/>
              </a:xfrm>
            </p:grpSpPr>
            <p:sp>
              <p:nvSpPr>
                <p:cNvPr id="40" name="Freeform 5"/>
                <p:cNvSpPr/>
                <p:nvPr/>
              </p:nvSpPr>
              <p:spPr bwMode="auto">
                <a:xfrm>
                  <a:off x="528" y="1627"/>
                  <a:ext cx="5121" cy="243"/>
                </a:xfrm>
                <a:custGeom>
                  <a:avLst/>
                  <a:gdLst>
                    <a:gd name="T0" fmla="*/ 0 w 5121"/>
                    <a:gd name="T1" fmla="*/ 3 h 243"/>
                    <a:gd name="T2" fmla="*/ 1104 w 5121"/>
                    <a:gd name="T3" fmla="*/ 0 h 243"/>
                    <a:gd name="T4" fmla="*/ 1346 w 5121"/>
                    <a:gd name="T5" fmla="*/ 243 h 243"/>
                    <a:gd name="T6" fmla="*/ 3273 w 5121"/>
                    <a:gd name="T7" fmla="*/ 242 h 243"/>
                    <a:gd name="T8" fmla="*/ 3509 w 5121"/>
                    <a:gd name="T9" fmla="*/ 6 h 243"/>
                    <a:gd name="T10" fmla="*/ 5121 w 5121"/>
                    <a:gd name="T11" fmla="*/ 5 h 2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121" h="243">
                      <a:moveTo>
                        <a:pt x="0" y="3"/>
                      </a:moveTo>
                      <a:lnTo>
                        <a:pt x="1104" y="0"/>
                      </a:lnTo>
                      <a:lnTo>
                        <a:pt x="1346" y="243"/>
                      </a:lnTo>
                      <a:lnTo>
                        <a:pt x="3273" y="242"/>
                      </a:lnTo>
                      <a:lnTo>
                        <a:pt x="3509" y="6"/>
                      </a:lnTo>
                      <a:lnTo>
                        <a:pt x="5121" y="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" name="Freeform 6"/>
                <p:cNvSpPr/>
                <p:nvPr/>
              </p:nvSpPr>
              <p:spPr bwMode="auto">
                <a:xfrm>
                  <a:off x="525" y="1627"/>
                  <a:ext cx="1349" cy="254"/>
                </a:xfrm>
                <a:custGeom>
                  <a:avLst/>
                  <a:gdLst>
                    <a:gd name="T0" fmla="*/ 3 w 1349"/>
                    <a:gd name="T1" fmla="*/ 0 h 254"/>
                    <a:gd name="T2" fmla="*/ 1097 w 1349"/>
                    <a:gd name="T3" fmla="*/ 0 h 254"/>
                    <a:gd name="T4" fmla="*/ 1349 w 1349"/>
                    <a:gd name="T5" fmla="*/ 254 h 254"/>
                    <a:gd name="T6" fmla="*/ 0 w 1349"/>
                    <a:gd name="T7" fmla="*/ 254 h 25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349" h="254">
                      <a:moveTo>
                        <a:pt x="3" y="0"/>
                      </a:moveTo>
                      <a:lnTo>
                        <a:pt x="1097" y="0"/>
                      </a:lnTo>
                      <a:lnTo>
                        <a:pt x="1349" y="254"/>
                      </a:lnTo>
                      <a:lnTo>
                        <a:pt x="0" y="254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" name="Freeform 7"/>
                <p:cNvSpPr/>
                <p:nvPr/>
              </p:nvSpPr>
              <p:spPr bwMode="auto">
                <a:xfrm>
                  <a:off x="3791" y="1627"/>
                  <a:ext cx="1873" cy="254"/>
                </a:xfrm>
                <a:custGeom>
                  <a:avLst/>
                  <a:gdLst>
                    <a:gd name="T0" fmla="*/ 1873 w 1873"/>
                    <a:gd name="T1" fmla="*/ 0 h 254"/>
                    <a:gd name="T2" fmla="*/ 258 w 1873"/>
                    <a:gd name="T3" fmla="*/ 0 h 254"/>
                    <a:gd name="T4" fmla="*/ 0 w 1873"/>
                    <a:gd name="T5" fmla="*/ 254 h 254"/>
                    <a:gd name="T6" fmla="*/ 1870 w 1873"/>
                    <a:gd name="T7" fmla="*/ 254 h 25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873" h="254">
                      <a:moveTo>
                        <a:pt x="1873" y="0"/>
                      </a:moveTo>
                      <a:lnTo>
                        <a:pt x="258" y="0"/>
                      </a:lnTo>
                      <a:lnTo>
                        <a:pt x="0" y="254"/>
                      </a:lnTo>
                      <a:lnTo>
                        <a:pt x="1870" y="254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8"/>
              <p:cNvGrpSpPr/>
              <p:nvPr/>
            </p:nvGrpSpPr>
            <p:grpSpPr bwMode="auto">
              <a:xfrm>
                <a:off x="558" y="864"/>
                <a:ext cx="5055" cy="342"/>
                <a:chOff x="558" y="864"/>
                <a:chExt cx="5055" cy="342"/>
              </a:xfrm>
            </p:grpSpPr>
            <p:sp>
              <p:nvSpPr>
                <p:cNvPr id="35" name="Freeform 9"/>
                <p:cNvSpPr/>
                <p:nvPr/>
              </p:nvSpPr>
              <p:spPr bwMode="auto">
                <a:xfrm>
                  <a:off x="723" y="864"/>
                  <a:ext cx="4329" cy="333"/>
                </a:xfrm>
                <a:custGeom>
                  <a:avLst/>
                  <a:gdLst>
                    <a:gd name="T0" fmla="*/ 168 w 4329"/>
                    <a:gd name="T1" fmla="*/ 1 h 333"/>
                    <a:gd name="T2" fmla="*/ 0 w 4329"/>
                    <a:gd name="T3" fmla="*/ 167 h 333"/>
                    <a:gd name="T4" fmla="*/ 167 w 4329"/>
                    <a:gd name="T5" fmla="*/ 332 h 333"/>
                    <a:gd name="T6" fmla="*/ 4167 w 4329"/>
                    <a:gd name="T7" fmla="*/ 333 h 333"/>
                    <a:gd name="T8" fmla="*/ 4329 w 4329"/>
                    <a:gd name="T9" fmla="*/ 174 h 333"/>
                    <a:gd name="T10" fmla="*/ 4152 w 4329"/>
                    <a:gd name="T11" fmla="*/ 0 h 333"/>
                    <a:gd name="T12" fmla="*/ 168 w 4329"/>
                    <a:gd name="T13" fmla="*/ 1 h 33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329" h="333">
                      <a:moveTo>
                        <a:pt x="168" y="1"/>
                      </a:moveTo>
                      <a:lnTo>
                        <a:pt x="0" y="167"/>
                      </a:lnTo>
                      <a:lnTo>
                        <a:pt x="167" y="332"/>
                      </a:lnTo>
                      <a:lnTo>
                        <a:pt x="4167" y="333"/>
                      </a:lnTo>
                      <a:lnTo>
                        <a:pt x="4329" y="174"/>
                      </a:lnTo>
                      <a:lnTo>
                        <a:pt x="4152" y="0"/>
                      </a:lnTo>
                      <a:lnTo>
                        <a:pt x="168" y="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" name="Freeform 10"/>
                <p:cNvSpPr/>
                <p:nvPr/>
              </p:nvSpPr>
              <p:spPr bwMode="auto">
                <a:xfrm>
                  <a:off x="5040" y="866"/>
                  <a:ext cx="561" cy="170"/>
                </a:xfrm>
                <a:custGeom>
                  <a:avLst/>
                  <a:gdLst>
                    <a:gd name="T0" fmla="*/ 0 w 561"/>
                    <a:gd name="T1" fmla="*/ 170 h 170"/>
                    <a:gd name="T2" fmla="*/ 171 w 561"/>
                    <a:gd name="T3" fmla="*/ 0 h 170"/>
                    <a:gd name="T4" fmla="*/ 268 w 561"/>
                    <a:gd name="T5" fmla="*/ 0 h 170"/>
                    <a:gd name="T6" fmla="*/ 561 w 561"/>
                    <a:gd name="T7" fmla="*/ 1 h 17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1" h="170">
                      <a:moveTo>
                        <a:pt x="0" y="170"/>
                      </a:moveTo>
                      <a:lnTo>
                        <a:pt x="171" y="0"/>
                      </a:lnTo>
                      <a:lnTo>
                        <a:pt x="268" y="0"/>
                      </a:lnTo>
                      <a:lnTo>
                        <a:pt x="561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" name="Freeform 11"/>
                <p:cNvSpPr/>
                <p:nvPr/>
              </p:nvSpPr>
              <p:spPr bwMode="auto">
                <a:xfrm>
                  <a:off x="5040" y="1031"/>
                  <a:ext cx="573" cy="175"/>
                </a:xfrm>
                <a:custGeom>
                  <a:avLst/>
                  <a:gdLst>
                    <a:gd name="T0" fmla="*/ 0 w 573"/>
                    <a:gd name="T1" fmla="*/ 0 h 175"/>
                    <a:gd name="T2" fmla="*/ 177 w 573"/>
                    <a:gd name="T3" fmla="*/ 175 h 175"/>
                    <a:gd name="T4" fmla="*/ 573 w 573"/>
                    <a:gd name="T5" fmla="*/ 175 h 17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73" h="175">
                      <a:moveTo>
                        <a:pt x="0" y="0"/>
                      </a:moveTo>
                      <a:lnTo>
                        <a:pt x="177" y="175"/>
                      </a:lnTo>
                      <a:lnTo>
                        <a:pt x="573" y="17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" name="Freeform 12"/>
                <p:cNvSpPr/>
                <p:nvPr/>
              </p:nvSpPr>
              <p:spPr bwMode="auto">
                <a:xfrm>
                  <a:off x="558" y="864"/>
                  <a:ext cx="170" cy="170"/>
                </a:xfrm>
                <a:custGeom>
                  <a:avLst/>
                  <a:gdLst>
                    <a:gd name="T0" fmla="*/ 170 w 170"/>
                    <a:gd name="T1" fmla="*/ 170 h 170"/>
                    <a:gd name="T2" fmla="*/ 0 w 170"/>
                    <a:gd name="T3" fmla="*/ 0 h 1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0" h="170">
                      <a:moveTo>
                        <a:pt x="170" y="17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" name="Freeform 13"/>
                <p:cNvSpPr/>
                <p:nvPr/>
              </p:nvSpPr>
              <p:spPr bwMode="auto">
                <a:xfrm>
                  <a:off x="560" y="1038"/>
                  <a:ext cx="162" cy="163"/>
                </a:xfrm>
                <a:custGeom>
                  <a:avLst/>
                  <a:gdLst>
                    <a:gd name="T0" fmla="*/ 0 w 162"/>
                    <a:gd name="T1" fmla="*/ 163 h 163"/>
                    <a:gd name="T2" fmla="*/ 162 w 162"/>
                    <a:gd name="T3" fmla="*/ 0 h 16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2" h="163">
                      <a:moveTo>
                        <a:pt x="0" y="163"/>
                      </a:moveTo>
                      <a:lnTo>
                        <a:pt x="16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" name="Group 14"/>
              <p:cNvGrpSpPr/>
              <p:nvPr/>
            </p:nvGrpSpPr>
            <p:grpSpPr bwMode="auto">
              <a:xfrm>
                <a:off x="527" y="3312"/>
                <a:ext cx="5142" cy="363"/>
                <a:chOff x="527" y="3312"/>
                <a:chExt cx="5142" cy="363"/>
              </a:xfrm>
            </p:grpSpPr>
            <p:sp>
              <p:nvSpPr>
                <p:cNvPr id="31" name="Freeform 15"/>
                <p:cNvSpPr/>
                <p:nvPr/>
              </p:nvSpPr>
              <p:spPr bwMode="auto">
                <a:xfrm>
                  <a:off x="3030" y="3317"/>
                  <a:ext cx="2634" cy="176"/>
                </a:xfrm>
                <a:custGeom>
                  <a:avLst/>
                  <a:gdLst>
                    <a:gd name="T0" fmla="*/ 0 w 2634"/>
                    <a:gd name="T1" fmla="*/ 176 h 176"/>
                    <a:gd name="T2" fmla="*/ 176 w 2634"/>
                    <a:gd name="T3" fmla="*/ 3 h 176"/>
                    <a:gd name="T4" fmla="*/ 272 w 2634"/>
                    <a:gd name="T5" fmla="*/ 3 h 176"/>
                    <a:gd name="T6" fmla="*/ 2634 w 2634"/>
                    <a:gd name="T7" fmla="*/ 0 h 17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34" h="176">
                      <a:moveTo>
                        <a:pt x="0" y="176"/>
                      </a:moveTo>
                      <a:lnTo>
                        <a:pt x="176" y="3"/>
                      </a:lnTo>
                      <a:lnTo>
                        <a:pt x="272" y="3"/>
                      </a:lnTo>
                      <a:lnTo>
                        <a:pt x="263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" name="Freeform 16"/>
                <p:cNvSpPr/>
                <p:nvPr/>
              </p:nvSpPr>
              <p:spPr bwMode="auto">
                <a:xfrm>
                  <a:off x="3027" y="3488"/>
                  <a:ext cx="2642" cy="178"/>
                </a:xfrm>
                <a:custGeom>
                  <a:avLst/>
                  <a:gdLst>
                    <a:gd name="T0" fmla="*/ 0 w 2642"/>
                    <a:gd name="T1" fmla="*/ 0 h 178"/>
                    <a:gd name="T2" fmla="*/ 174 w 2642"/>
                    <a:gd name="T3" fmla="*/ 176 h 178"/>
                    <a:gd name="T4" fmla="*/ 2642 w 2642"/>
                    <a:gd name="T5" fmla="*/ 178 h 17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42" h="178">
                      <a:moveTo>
                        <a:pt x="0" y="0"/>
                      </a:moveTo>
                      <a:lnTo>
                        <a:pt x="174" y="176"/>
                      </a:lnTo>
                      <a:lnTo>
                        <a:pt x="2642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" name="Freeform 17"/>
                <p:cNvSpPr/>
                <p:nvPr/>
              </p:nvSpPr>
              <p:spPr bwMode="auto">
                <a:xfrm>
                  <a:off x="527" y="3486"/>
                  <a:ext cx="2513" cy="2"/>
                </a:xfrm>
                <a:custGeom>
                  <a:avLst/>
                  <a:gdLst>
                    <a:gd name="T0" fmla="*/ 2513 w 2513"/>
                    <a:gd name="T1" fmla="*/ 2 h 2"/>
                    <a:gd name="T2" fmla="*/ 0 w 2513"/>
                    <a:gd name="T3" fmla="*/ 0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513" h="2">
                      <a:moveTo>
                        <a:pt x="2513" y="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" name="Freeform 18"/>
                <p:cNvSpPr/>
                <p:nvPr/>
              </p:nvSpPr>
              <p:spPr bwMode="auto">
                <a:xfrm>
                  <a:off x="528" y="3312"/>
                  <a:ext cx="2685" cy="363"/>
                </a:xfrm>
                <a:custGeom>
                  <a:avLst/>
                  <a:gdLst>
                    <a:gd name="T0" fmla="*/ 2514 w 2685"/>
                    <a:gd name="T1" fmla="*/ 180 h 363"/>
                    <a:gd name="T2" fmla="*/ 2685 w 2685"/>
                    <a:gd name="T3" fmla="*/ 0 h 363"/>
                    <a:gd name="T4" fmla="*/ 0 w 2685"/>
                    <a:gd name="T5" fmla="*/ 0 h 363"/>
                    <a:gd name="T6" fmla="*/ 0 w 2685"/>
                    <a:gd name="T7" fmla="*/ 362 h 363"/>
                    <a:gd name="T8" fmla="*/ 2682 w 2685"/>
                    <a:gd name="T9" fmla="*/ 363 h 3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85" h="363">
                      <a:moveTo>
                        <a:pt x="2514" y="180"/>
                      </a:moveTo>
                      <a:lnTo>
                        <a:pt x="2685" y="0"/>
                      </a:lnTo>
                      <a:lnTo>
                        <a:pt x="0" y="0"/>
                      </a:lnTo>
                      <a:lnTo>
                        <a:pt x="0" y="362"/>
                      </a:lnTo>
                      <a:lnTo>
                        <a:pt x="2682" y="363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" name="Group 19"/>
              <p:cNvGrpSpPr/>
              <p:nvPr/>
            </p:nvGrpSpPr>
            <p:grpSpPr bwMode="auto">
              <a:xfrm>
                <a:off x="516" y="2496"/>
                <a:ext cx="5151" cy="354"/>
                <a:chOff x="516" y="2496"/>
                <a:chExt cx="5151" cy="354"/>
              </a:xfrm>
            </p:grpSpPr>
            <p:sp>
              <p:nvSpPr>
                <p:cNvPr id="27" name="Freeform 20"/>
                <p:cNvSpPr/>
                <p:nvPr/>
              </p:nvSpPr>
              <p:spPr bwMode="auto">
                <a:xfrm>
                  <a:off x="525" y="2674"/>
                  <a:ext cx="1966" cy="170"/>
                </a:xfrm>
                <a:custGeom>
                  <a:avLst/>
                  <a:gdLst>
                    <a:gd name="T0" fmla="*/ 1966 w 1966"/>
                    <a:gd name="T1" fmla="*/ 0 h 170"/>
                    <a:gd name="T2" fmla="*/ 1795 w 1966"/>
                    <a:gd name="T3" fmla="*/ 170 h 170"/>
                    <a:gd name="T4" fmla="*/ 1698 w 1966"/>
                    <a:gd name="T5" fmla="*/ 170 h 170"/>
                    <a:gd name="T6" fmla="*/ 0 w 1966"/>
                    <a:gd name="T7" fmla="*/ 167 h 17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66" h="170">
                      <a:moveTo>
                        <a:pt x="1966" y="0"/>
                      </a:moveTo>
                      <a:lnTo>
                        <a:pt x="1795" y="170"/>
                      </a:lnTo>
                      <a:lnTo>
                        <a:pt x="1698" y="170"/>
                      </a:lnTo>
                      <a:lnTo>
                        <a:pt x="0" y="16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" name="Freeform 21"/>
                <p:cNvSpPr/>
                <p:nvPr/>
              </p:nvSpPr>
              <p:spPr bwMode="auto">
                <a:xfrm>
                  <a:off x="516" y="2503"/>
                  <a:ext cx="1978" cy="176"/>
                </a:xfrm>
                <a:custGeom>
                  <a:avLst/>
                  <a:gdLst>
                    <a:gd name="T0" fmla="*/ 1978 w 1978"/>
                    <a:gd name="T1" fmla="*/ 176 h 176"/>
                    <a:gd name="T2" fmla="*/ 1804 w 1978"/>
                    <a:gd name="T3" fmla="*/ 0 h 176"/>
                    <a:gd name="T4" fmla="*/ 0 w 1978"/>
                    <a:gd name="T5" fmla="*/ 2 h 17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78" h="176">
                      <a:moveTo>
                        <a:pt x="1978" y="176"/>
                      </a:moveTo>
                      <a:lnTo>
                        <a:pt x="1804" y="0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" name="Freeform 22"/>
                <p:cNvSpPr/>
                <p:nvPr/>
              </p:nvSpPr>
              <p:spPr bwMode="auto">
                <a:xfrm>
                  <a:off x="2481" y="2675"/>
                  <a:ext cx="3186" cy="4"/>
                </a:xfrm>
                <a:custGeom>
                  <a:avLst/>
                  <a:gdLst>
                    <a:gd name="T0" fmla="*/ 0 w 3186"/>
                    <a:gd name="T1" fmla="*/ 4 h 4"/>
                    <a:gd name="T2" fmla="*/ 3186 w 3186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186" h="4">
                      <a:moveTo>
                        <a:pt x="0" y="4"/>
                      </a:moveTo>
                      <a:lnTo>
                        <a:pt x="3186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" name="Freeform 23"/>
                <p:cNvSpPr/>
                <p:nvPr/>
              </p:nvSpPr>
              <p:spPr bwMode="auto">
                <a:xfrm>
                  <a:off x="2304" y="2496"/>
                  <a:ext cx="3360" cy="354"/>
                </a:xfrm>
                <a:custGeom>
                  <a:avLst/>
                  <a:gdLst>
                    <a:gd name="T0" fmla="*/ 6 w 3360"/>
                    <a:gd name="T1" fmla="*/ 0 h 354"/>
                    <a:gd name="T2" fmla="*/ 3360 w 3360"/>
                    <a:gd name="T3" fmla="*/ 3 h 354"/>
                    <a:gd name="T4" fmla="*/ 3360 w 3360"/>
                    <a:gd name="T5" fmla="*/ 354 h 354"/>
                    <a:gd name="T6" fmla="*/ 15 w 3360"/>
                    <a:gd name="T7" fmla="*/ 354 h 354"/>
                    <a:gd name="T8" fmla="*/ 0 w 3360"/>
                    <a:gd name="T9" fmla="*/ 351 h 354"/>
                    <a:gd name="T10" fmla="*/ 183 w 3360"/>
                    <a:gd name="T11" fmla="*/ 177 h 35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360" h="354">
                      <a:moveTo>
                        <a:pt x="6" y="0"/>
                      </a:moveTo>
                      <a:lnTo>
                        <a:pt x="3360" y="3"/>
                      </a:lnTo>
                      <a:lnTo>
                        <a:pt x="3360" y="354"/>
                      </a:lnTo>
                      <a:lnTo>
                        <a:pt x="15" y="354"/>
                      </a:lnTo>
                      <a:lnTo>
                        <a:pt x="0" y="351"/>
                      </a:lnTo>
                      <a:lnTo>
                        <a:pt x="183" y="177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" name="Group 24"/>
              <p:cNvGrpSpPr/>
              <p:nvPr/>
            </p:nvGrpSpPr>
            <p:grpSpPr bwMode="auto">
              <a:xfrm>
                <a:off x="96" y="896"/>
                <a:ext cx="507" cy="2837"/>
                <a:chOff x="96" y="896"/>
                <a:chExt cx="507" cy="2837"/>
              </a:xfrm>
            </p:grpSpPr>
            <p:sp>
              <p:nvSpPr>
                <p:cNvPr id="14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02" y="8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5" name="Group 26"/>
                <p:cNvGrpSpPr/>
                <p:nvPr/>
              </p:nvGrpSpPr>
              <p:grpSpPr bwMode="auto">
                <a:xfrm>
                  <a:off x="138" y="1664"/>
                  <a:ext cx="362" cy="288"/>
                  <a:chOff x="138" y="1664"/>
                  <a:chExt cx="362" cy="288"/>
                </a:xfrm>
              </p:grpSpPr>
              <p:sp>
                <p:nvSpPr>
                  <p:cNvPr id="25" name="Text Box 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1664"/>
                    <a:ext cx="36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CS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" name="Line 28"/>
                  <p:cNvSpPr>
                    <a:spLocks noChangeShapeType="1"/>
                  </p:cNvSpPr>
                  <p:nvPr/>
                </p:nvSpPr>
                <p:spPr bwMode="auto">
                  <a:xfrm>
                    <a:off x="196" y="1686"/>
                    <a:ext cx="24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6" name="Group 29"/>
                <p:cNvGrpSpPr/>
                <p:nvPr/>
              </p:nvGrpSpPr>
              <p:grpSpPr bwMode="auto">
                <a:xfrm>
                  <a:off x="96" y="2016"/>
                  <a:ext cx="436" cy="288"/>
                  <a:chOff x="138" y="2138"/>
                  <a:chExt cx="436" cy="288"/>
                </a:xfrm>
              </p:grpSpPr>
              <p:sp>
                <p:nvSpPr>
                  <p:cNvPr id="23" name="Text Box 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2138"/>
                    <a:ext cx="43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WE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4" name="Line 31"/>
                  <p:cNvSpPr>
                    <a:spLocks noChangeShapeType="1"/>
                  </p:cNvSpPr>
                  <p:nvPr/>
                </p:nvSpPr>
                <p:spPr bwMode="auto">
                  <a:xfrm>
                    <a:off x="186" y="2160"/>
                    <a:ext cx="28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7" name="Group 32"/>
                <p:cNvGrpSpPr/>
                <p:nvPr/>
              </p:nvGrpSpPr>
              <p:grpSpPr bwMode="auto">
                <a:xfrm>
                  <a:off x="138" y="2640"/>
                  <a:ext cx="465" cy="398"/>
                  <a:chOff x="138" y="2714"/>
                  <a:chExt cx="465" cy="398"/>
                </a:xfrm>
              </p:grpSpPr>
              <p:sp>
                <p:nvSpPr>
                  <p:cNvPr id="21" name="Text Box 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2714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D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" name="Text Box 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" y="2920"/>
                    <a:ext cx="359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1400">
                        <a:latin typeface="Times New Roman" panose="02020603050405020304" pitchFamily="18" charset="0"/>
                      </a:rPr>
                      <a:t>OUT</a:t>
                    </a:r>
                    <a:endParaRPr lang="en-US" altLang="zh-CN" sz="1400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8" name="Group 35"/>
                <p:cNvGrpSpPr/>
                <p:nvPr/>
              </p:nvGrpSpPr>
              <p:grpSpPr bwMode="auto">
                <a:xfrm>
                  <a:off x="138" y="3344"/>
                  <a:ext cx="395" cy="389"/>
                  <a:chOff x="138" y="3344"/>
                  <a:chExt cx="395" cy="389"/>
                </a:xfrm>
              </p:grpSpPr>
              <p:sp>
                <p:nvSpPr>
                  <p:cNvPr id="19" name="Text Box 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3344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D</a:t>
                    </a:r>
                    <a:endParaRPr lang="en-US" altLang="zh-CN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" name="Text Box 3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2" y="3541"/>
                    <a:ext cx="241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1400">
                        <a:latin typeface="Times New Roman" panose="02020603050405020304" pitchFamily="18" charset="0"/>
                      </a:rPr>
                      <a:t>IN</a:t>
                    </a:r>
                    <a:endParaRPr lang="en-US" altLang="zh-CN" sz="1400">
                      <a:latin typeface="Times New Roman" panose="02020603050405020304" pitchFamily="18" charset="0"/>
                    </a:endParaRPr>
                  </a:p>
                </p:txBody>
              </p:sp>
            </p:grpSp>
          </p:grpSp>
          <p:grpSp>
            <p:nvGrpSpPr>
              <p:cNvPr id="10" name="Group 38"/>
              <p:cNvGrpSpPr/>
              <p:nvPr/>
            </p:nvGrpSpPr>
            <p:grpSpPr bwMode="auto">
              <a:xfrm>
                <a:off x="527" y="2013"/>
                <a:ext cx="5140" cy="255"/>
                <a:chOff x="527" y="2013"/>
                <a:chExt cx="5140" cy="255"/>
              </a:xfrm>
            </p:grpSpPr>
            <p:sp>
              <p:nvSpPr>
                <p:cNvPr id="11" name="Freeform 39"/>
                <p:cNvSpPr/>
                <p:nvPr/>
              </p:nvSpPr>
              <p:spPr bwMode="auto">
                <a:xfrm>
                  <a:off x="528" y="2016"/>
                  <a:ext cx="5139" cy="243"/>
                </a:xfrm>
                <a:custGeom>
                  <a:avLst/>
                  <a:gdLst>
                    <a:gd name="T0" fmla="*/ 0 w 5139"/>
                    <a:gd name="T1" fmla="*/ 3 h 243"/>
                    <a:gd name="T2" fmla="*/ 1104 w 5139"/>
                    <a:gd name="T3" fmla="*/ 0 h 243"/>
                    <a:gd name="T4" fmla="*/ 1346 w 5139"/>
                    <a:gd name="T5" fmla="*/ 243 h 243"/>
                    <a:gd name="T6" fmla="*/ 3273 w 5139"/>
                    <a:gd name="T7" fmla="*/ 242 h 243"/>
                    <a:gd name="T8" fmla="*/ 3509 w 5139"/>
                    <a:gd name="T9" fmla="*/ 6 h 243"/>
                    <a:gd name="T10" fmla="*/ 5139 w 5139"/>
                    <a:gd name="T11" fmla="*/ 6 h 2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139" h="243">
                      <a:moveTo>
                        <a:pt x="0" y="3"/>
                      </a:moveTo>
                      <a:lnTo>
                        <a:pt x="1104" y="0"/>
                      </a:lnTo>
                      <a:lnTo>
                        <a:pt x="1346" y="243"/>
                      </a:lnTo>
                      <a:lnTo>
                        <a:pt x="3273" y="242"/>
                      </a:lnTo>
                      <a:lnTo>
                        <a:pt x="3509" y="6"/>
                      </a:lnTo>
                      <a:lnTo>
                        <a:pt x="5139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" name="Freeform 40"/>
                <p:cNvSpPr/>
                <p:nvPr/>
              </p:nvSpPr>
              <p:spPr bwMode="auto">
                <a:xfrm>
                  <a:off x="527" y="2016"/>
                  <a:ext cx="1350" cy="252"/>
                </a:xfrm>
                <a:custGeom>
                  <a:avLst/>
                  <a:gdLst>
                    <a:gd name="T0" fmla="*/ 1 w 1350"/>
                    <a:gd name="T1" fmla="*/ 0 h 252"/>
                    <a:gd name="T2" fmla="*/ 1095 w 1350"/>
                    <a:gd name="T3" fmla="*/ 0 h 252"/>
                    <a:gd name="T4" fmla="*/ 1350 w 1350"/>
                    <a:gd name="T5" fmla="*/ 252 h 252"/>
                    <a:gd name="T6" fmla="*/ 0 w 1350"/>
                    <a:gd name="T7" fmla="*/ 252 h 2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350" h="252">
                      <a:moveTo>
                        <a:pt x="1" y="0"/>
                      </a:moveTo>
                      <a:lnTo>
                        <a:pt x="1095" y="0"/>
                      </a:lnTo>
                      <a:lnTo>
                        <a:pt x="1350" y="252"/>
                      </a:lnTo>
                      <a:lnTo>
                        <a:pt x="0" y="252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" name="Freeform 41"/>
                <p:cNvSpPr/>
                <p:nvPr/>
              </p:nvSpPr>
              <p:spPr bwMode="auto">
                <a:xfrm>
                  <a:off x="3794" y="2013"/>
                  <a:ext cx="1867" cy="255"/>
                </a:xfrm>
                <a:custGeom>
                  <a:avLst/>
                  <a:gdLst>
                    <a:gd name="T0" fmla="*/ 1867 w 1867"/>
                    <a:gd name="T1" fmla="*/ 12 h 255"/>
                    <a:gd name="T2" fmla="*/ 262 w 1867"/>
                    <a:gd name="T3" fmla="*/ 0 h 255"/>
                    <a:gd name="T4" fmla="*/ 0 w 1867"/>
                    <a:gd name="T5" fmla="*/ 255 h 255"/>
                    <a:gd name="T6" fmla="*/ 1867 w 1867"/>
                    <a:gd name="T7" fmla="*/ 255 h 25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867" h="255">
                      <a:moveTo>
                        <a:pt x="1867" y="12"/>
                      </a:moveTo>
                      <a:lnTo>
                        <a:pt x="262" y="0"/>
                      </a:lnTo>
                      <a:lnTo>
                        <a:pt x="0" y="255"/>
                      </a:lnTo>
                      <a:lnTo>
                        <a:pt x="1867" y="255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4" name="Rectangle 42"/>
            <p:cNvSpPr>
              <a:spLocks noChangeArrowheads="1"/>
            </p:cNvSpPr>
            <p:nvPr/>
          </p:nvSpPr>
          <p:spPr bwMode="auto">
            <a:xfrm>
              <a:off x="4830" y="3312"/>
              <a:ext cx="834" cy="363"/>
            </a:xfrm>
            <a:prstGeom prst="rect">
              <a:avLst/>
            </a:prstGeom>
            <a:solidFill>
              <a:schemeClr val="tx1">
                <a:alpha val="50195"/>
              </a:schemeClr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43" name="Text Box 43"/>
          <p:cNvSpPr txBox="1">
            <a:spLocks noChangeArrowheads="1"/>
          </p:cNvSpPr>
          <p:nvPr/>
        </p:nvSpPr>
        <p:spPr bwMode="auto">
          <a:xfrm>
            <a:off x="91108" y="43119"/>
            <a:ext cx="5638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(4) 静态 </a:t>
            </a:r>
            <a:r>
              <a:rPr lang="en-US" altLang="zh-CN" sz="3200" dirty="0">
                <a:latin typeface="Times New Roman" panose="02020603050405020304" pitchFamily="18" charset="0"/>
              </a:rPr>
              <a:t>RAM (2114)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时序  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44" name="Group 44"/>
          <p:cNvGrpSpPr/>
          <p:nvPr/>
        </p:nvGrpSpPr>
        <p:grpSpPr bwMode="auto">
          <a:xfrm>
            <a:off x="2567608" y="782894"/>
            <a:ext cx="6858000" cy="631825"/>
            <a:chOff x="720" y="494"/>
            <a:chExt cx="4320" cy="398"/>
          </a:xfrm>
        </p:grpSpPr>
        <p:sp>
          <p:nvSpPr>
            <p:cNvPr id="45" name="Line 45"/>
            <p:cNvSpPr>
              <a:spLocks noChangeShapeType="1"/>
            </p:cNvSpPr>
            <p:nvPr/>
          </p:nvSpPr>
          <p:spPr bwMode="auto">
            <a:xfrm flipV="1">
              <a:off x="3600" y="720"/>
              <a:ext cx="1440" cy="2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808" y="494"/>
              <a:ext cx="386" cy="398"/>
              <a:chOff x="4455" y="588"/>
              <a:chExt cx="386" cy="398"/>
            </a:xfrm>
          </p:grpSpPr>
          <p:sp>
            <p:nvSpPr>
              <p:cNvPr id="48" name="Text Box 47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" name="Text Box 48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WC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47" name="Line 49"/>
            <p:cNvSpPr>
              <a:spLocks noChangeShapeType="1"/>
            </p:cNvSpPr>
            <p:nvPr/>
          </p:nvSpPr>
          <p:spPr bwMode="auto">
            <a:xfrm rot="10800000">
              <a:off x="720" y="720"/>
              <a:ext cx="1728" cy="2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0" name="Group 50"/>
          <p:cNvGrpSpPr/>
          <p:nvPr/>
        </p:nvGrpSpPr>
        <p:grpSpPr bwMode="auto">
          <a:xfrm>
            <a:off x="4390058" y="2002094"/>
            <a:ext cx="3278188" cy="631825"/>
            <a:chOff x="1868" y="1262"/>
            <a:chExt cx="2065" cy="398"/>
          </a:xfrm>
        </p:grpSpPr>
        <p:sp>
          <p:nvSpPr>
            <p:cNvPr id="51" name="Freeform 51"/>
            <p:cNvSpPr/>
            <p:nvPr/>
          </p:nvSpPr>
          <p:spPr bwMode="auto">
            <a:xfrm>
              <a:off x="3072" y="1394"/>
              <a:ext cx="861" cy="4"/>
            </a:xfrm>
            <a:custGeom>
              <a:avLst/>
              <a:gdLst>
                <a:gd name="T0" fmla="*/ 0 w 861"/>
                <a:gd name="T1" fmla="*/ 0 h 4"/>
                <a:gd name="T2" fmla="*/ 861 w 861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1" h="4">
                  <a:moveTo>
                    <a:pt x="0" y="0"/>
                  </a:moveTo>
                  <a:lnTo>
                    <a:pt x="861" y="4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52" name="Group 52"/>
            <p:cNvGrpSpPr/>
            <p:nvPr/>
          </p:nvGrpSpPr>
          <p:grpSpPr bwMode="auto">
            <a:xfrm>
              <a:off x="2707" y="1262"/>
              <a:ext cx="317" cy="398"/>
              <a:chOff x="4455" y="588"/>
              <a:chExt cx="317" cy="398"/>
            </a:xfrm>
          </p:grpSpPr>
          <p:sp>
            <p:nvSpPr>
              <p:cNvPr id="54" name="Text Box 53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" name="Text Box 54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1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3" name="Freeform 55"/>
            <p:cNvSpPr/>
            <p:nvPr/>
          </p:nvSpPr>
          <p:spPr bwMode="auto">
            <a:xfrm>
              <a:off x="1868" y="1391"/>
              <a:ext cx="724" cy="1"/>
            </a:xfrm>
            <a:custGeom>
              <a:avLst/>
              <a:gdLst>
                <a:gd name="T0" fmla="*/ 724 w 724"/>
                <a:gd name="T1" fmla="*/ 1 h 1"/>
                <a:gd name="T2" fmla="*/ 0 w 72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4" h="1">
                  <a:moveTo>
                    <a:pt x="724" y="1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6" name="Group 56"/>
          <p:cNvGrpSpPr/>
          <p:nvPr/>
        </p:nvGrpSpPr>
        <p:grpSpPr bwMode="auto">
          <a:xfrm>
            <a:off x="2567608" y="2002094"/>
            <a:ext cx="1828800" cy="631825"/>
            <a:chOff x="720" y="1262"/>
            <a:chExt cx="1152" cy="398"/>
          </a:xfrm>
        </p:grpSpPr>
        <p:grpSp>
          <p:nvGrpSpPr>
            <p:cNvPr id="57" name="Group 57"/>
            <p:cNvGrpSpPr/>
            <p:nvPr/>
          </p:nvGrpSpPr>
          <p:grpSpPr bwMode="auto">
            <a:xfrm>
              <a:off x="1115" y="1262"/>
              <a:ext cx="386" cy="398"/>
              <a:chOff x="4455" y="588"/>
              <a:chExt cx="386" cy="398"/>
            </a:xfrm>
          </p:grpSpPr>
          <p:sp>
            <p:nvSpPr>
              <p:cNvPr id="60" name="Text Box 58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Text Box 59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AW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8" name="Line 60"/>
            <p:cNvSpPr>
              <a:spLocks noChangeShapeType="1"/>
            </p:cNvSpPr>
            <p:nvPr/>
          </p:nvSpPr>
          <p:spPr bwMode="auto">
            <a:xfrm>
              <a:off x="1584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Line 61"/>
            <p:cNvSpPr>
              <a:spLocks noChangeShapeType="1"/>
            </p:cNvSpPr>
            <p:nvPr/>
          </p:nvSpPr>
          <p:spPr bwMode="auto">
            <a:xfrm rot="10800000">
              <a:off x="720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62" name="Group 62"/>
          <p:cNvGrpSpPr/>
          <p:nvPr/>
        </p:nvGrpSpPr>
        <p:grpSpPr bwMode="auto">
          <a:xfrm>
            <a:off x="6510958" y="4677032"/>
            <a:ext cx="1162050" cy="631825"/>
            <a:chOff x="3204" y="2947"/>
            <a:chExt cx="732" cy="398"/>
          </a:xfrm>
        </p:grpSpPr>
        <p:sp>
          <p:nvSpPr>
            <p:cNvPr id="63" name="Text Box 63"/>
            <p:cNvSpPr txBox="1">
              <a:spLocks noChangeArrowheads="1"/>
            </p:cNvSpPr>
            <p:nvPr/>
          </p:nvSpPr>
          <p:spPr bwMode="auto">
            <a:xfrm>
              <a:off x="3391" y="2947"/>
              <a:ext cx="187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endParaRPr lang="en-US" altLang="zh-CN" sz="3200" i="1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2512" name="Text Box 64"/>
            <p:cNvSpPr txBox="1">
              <a:spLocks noChangeArrowheads="1"/>
            </p:cNvSpPr>
            <p:nvPr/>
          </p:nvSpPr>
          <p:spPr bwMode="auto">
            <a:xfrm>
              <a:off x="3496" y="3172"/>
              <a:ext cx="28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DW</a:t>
              </a:r>
              <a:endParaRPr lang="en-US" altLang="zh-CN" sz="1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2513" name="Freeform 65"/>
            <p:cNvSpPr/>
            <p:nvPr/>
          </p:nvSpPr>
          <p:spPr bwMode="auto">
            <a:xfrm>
              <a:off x="3204" y="2976"/>
              <a:ext cx="732" cy="5"/>
            </a:xfrm>
            <a:custGeom>
              <a:avLst/>
              <a:gdLst>
                <a:gd name="T0" fmla="*/ 0 w 732"/>
                <a:gd name="T1" fmla="*/ 0 h 5"/>
                <a:gd name="T2" fmla="*/ 723 w 732"/>
                <a:gd name="T3" fmla="*/ 0 h 5"/>
                <a:gd name="T4" fmla="*/ 732 w 732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2" h="5">
                  <a:moveTo>
                    <a:pt x="0" y="0"/>
                  </a:moveTo>
                  <a:lnTo>
                    <a:pt x="723" y="0"/>
                  </a:lnTo>
                  <a:lnTo>
                    <a:pt x="732" y="5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2515" name="Group 66"/>
          <p:cNvGrpSpPr/>
          <p:nvPr/>
        </p:nvGrpSpPr>
        <p:grpSpPr bwMode="auto">
          <a:xfrm>
            <a:off x="7673008" y="4669094"/>
            <a:ext cx="1403350" cy="631825"/>
            <a:chOff x="3936" y="2942"/>
            <a:chExt cx="1002" cy="398"/>
          </a:xfrm>
        </p:grpSpPr>
        <p:grpSp>
          <p:nvGrpSpPr>
            <p:cNvPr id="232516" name="Group 67"/>
            <p:cNvGrpSpPr/>
            <p:nvPr/>
          </p:nvGrpSpPr>
          <p:grpSpPr bwMode="auto">
            <a:xfrm>
              <a:off x="4243" y="2942"/>
              <a:ext cx="400" cy="398"/>
              <a:chOff x="4455" y="588"/>
              <a:chExt cx="400" cy="398"/>
            </a:xfrm>
          </p:grpSpPr>
          <p:sp>
            <p:nvSpPr>
              <p:cNvPr id="232518" name="Text Box 68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21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520" name="Text Box 69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95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DH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32517" name="Freeform 70"/>
            <p:cNvSpPr/>
            <p:nvPr/>
          </p:nvSpPr>
          <p:spPr bwMode="auto">
            <a:xfrm>
              <a:off x="3936" y="2970"/>
              <a:ext cx="1002" cy="1"/>
            </a:xfrm>
            <a:custGeom>
              <a:avLst/>
              <a:gdLst>
                <a:gd name="T0" fmla="*/ 0 w 1002"/>
                <a:gd name="T1" fmla="*/ 0 h 1"/>
                <a:gd name="T2" fmla="*/ 1002 w 100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2" h="1">
                  <a:moveTo>
                    <a:pt x="0" y="0"/>
                  </a:moveTo>
                  <a:lnTo>
                    <a:pt x="1002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2521" name="Group 71"/>
          <p:cNvGrpSpPr/>
          <p:nvPr/>
        </p:nvGrpSpPr>
        <p:grpSpPr bwMode="auto">
          <a:xfrm>
            <a:off x="7673008" y="2002094"/>
            <a:ext cx="1752600" cy="631825"/>
            <a:chOff x="3936" y="1262"/>
            <a:chExt cx="1104" cy="398"/>
          </a:xfrm>
        </p:grpSpPr>
        <p:grpSp>
          <p:nvGrpSpPr>
            <p:cNvPr id="232522" name="Group 72"/>
            <p:cNvGrpSpPr/>
            <p:nvPr/>
          </p:nvGrpSpPr>
          <p:grpSpPr bwMode="auto">
            <a:xfrm>
              <a:off x="4291" y="1262"/>
              <a:ext cx="386" cy="398"/>
              <a:chOff x="4455" y="588"/>
              <a:chExt cx="386" cy="398"/>
            </a:xfrm>
          </p:grpSpPr>
          <p:sp>
            <p:nvSpPr>
              <p:cNvPr id="232526" name="Text Box 73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  <a:endPara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527" name="Text Box 74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WR</a:t>
                </a:r>
                <a:endPara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32523" name="Line 75"/>
            <p:cNvSpPr>
              <a:spLocks noChangeShapeType="1"/>
            </p:cNvSpPr>
            <p:nvPr/>
          </p:nvSpPr>
          <p:spPr bwMode="auto">
            <a:xfrm>
              <a:off x="4752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2524" name="Line 76"/>
            <p:cNvSpPr>
              <a:spLocks noChangeShapeType="1"/>
            </p:cNvSpPr>
            <p:nvPr/>
          </p:nvSpPr>
          <p:spPr bwMode="auto">
            <a:xfrm rot="10800000">
              <a:off x="3936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2529" name="Group 77"/>
          <p:cNvGrpSpPr/>
          <p:nvPr/>
        </p:nvGrpSpPr>
        <p:grpSpPr bwMode="auto">
          <a:xfrm>
            <a:off x="2567608" y="1065469"/>
            <a:ext cx="6858000" cy="2133600"/>
            <a:chOff x="720" y="672"/>
            <a:chExt cx="4320" cy="1344"/>
          </a:xfrm>
        </p:grpSpPr>
        <p:sp>
          <p:nvSpPr>
            <p:cNvPr id="232530" name="Line 78"/>
            <p:cNvSpPr>
              <a:spLocks noChangeShapeType="1"/>
            </p:cNvSpPr>
            <p:nvPr/>
          </p:nvSpPr>
          <p:spPr bwMode="auto">
            <a:xfrm>
              <a:off x="720" y="672"/>
              <a:ext cx="0" cy="1344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2534" name="Line 79"/>
            <p:cNvSpPr>
              <a:spLocks noChangeShapeType="1"/>
            </p:cNvSpPr>
            <p:nvPr/>
          </p:nvSpPr>
          <p:spPr bwMode="auto">
            <a:xfrm>
              <a:off x="5040" y="672"/>
              <a:ext cx="0" cy="91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2535" name="Group 80"/>
          <p:cNvGrpSpPr/>
          <p:nvPr/>
        </p:nvGrpSpPr>
        <p:grpSpPr bwMode="auto">
          <a:xfrm>
            <a:off x="4396408" y="2056069"/>
            <a:ext cx="3276600" cy="3124200"/>
            <a:chOff x="1872" y="1296"/>
            <a:chExt cx="2064" cy="1968"/>
          </a:xfrm>
        </p:grpSpPr>
        <p:sp>
          <p:nvSpPr>
            <p:cNvPr id="232536" name="Line 81"/>
            <p:cNvSpPr>
              <a:spLocks noChangeShapeType="1"/>
            </p:cNvSpPr>
            <p:nvPr/>
          </p:nvSpPr>
          <p:spPr bwMode="auto">
            <a:xfrm>
              <a:off x="1872" y="1296"/>
              <a:ext cx="0" cy="120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2537" name="Line 82"/>
            <p:cNvSpPr>
              <a:spLocks noChangeShapeType="1"/>
            </p:cNvSpPr>
            <p:nvPr/>
          </p:nvSpPr>
          <p:spPr bwMode="auto">
            <a:xfrm>
              <a:off x="3936" y="1344"/>
              <a:ext cx="0" cy="192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2538" name="Line 83"/>
          <p:cNvSpPr>
            <a:spLocks noChangeShapeType="1"/>
          </p:cNvSpPr>
          <p:nvPr/>
        </p:nvSpPr>
        <p:spPr bwMode="auto">
          <a:xfrm>
            <a:off x="6530008" y="3884869"/>
            <a:ext cx="0" cy="19812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32539" name="Line 84"/>
          <p:cNvSpPr>
            <a:spLocks noChangeShapeType="1"/>
          </p:cNvSpPr>
          <p:nvPr/>
        </p:nvSpPr>
        <p:spPr bwMode="auto">
          <a:xfrm>
            <a:off x="9092233" y="3884869"/>
            <a:ext cx="0" cy="12954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232541" name="Group 85"/>
          <p:cNvGrpSpPr/>
          <p:nvPr/>
        </p:nvGrpSpPr>
        <p:grpSpPr bwMode="auto">
          <a:xfrm>
            <a:off x="2415208" y="6047044"/>
            <a:ext cx="7391400" cy="581025"/>
            <a:chOff x="624" y="3810"/>
            <a:chExt cx="4656" cy="366"/>
          </a:xfrm>
        </p:grpSpPr>
        <p:sp>
          <p:nvSpPr>
            <p:cNvPr id="232542" name="Rectangle 86"/>
            <p:cNvSpPr>
              <a:spLocks noChangeArrowheads="1"/>
            </p:cNvSpPr>
            <p:nvPr/>
          </p:nvSpPr>
          <p:spPr bwMode="auto">
            <a:xfrm>
              <a:off x="624" y="3834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2543" name="Group 87"/>
            <p:cNvGrpSpPr/>
            <p:nvPr/>
          </p:nvGrpSpPr>
          <p:grpSpPr bwMode="auto">
            <a:xfrm>
              <a:off x="672" y="3810"/>
              <a:ext cx="4523" cy="365"/>
              <a:chOff x="672" y="3810"/>
              <a:chExt cx="4523" cy="365"/>
            </a:xfrm>
          </p:grpSpPr>
          <p:sp>
            <p:nvSpPr>
              <p:cNvPr id="232544" name="Rectangle 88"/>
              <p:cNvSpPr>
                <a:spLocks noChangeArrowheads="1"/>
              </p:cNvSpPr>
              <p:nvPr/>
            </p:nvSpPr>
            <p:spPr bwMode="auto">
              <a:xfrm>
                <a:off x="672" y="3810"/>
                <a:ext cx="2487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</a:rPr>
                  <a:t>写周期</a:t>
                </a:r>
                <a:r>
                  <a:rPr lang="zh-CN" altLang="en-US" sz="2800"/>
                  <a:t>  </a:t>
                </a:r>
                <a:r>
                  <a:rPr lang="en-US" altLang="zh-CN" sz="2800" i="1">
                    <a:solidFill>
                      <a:schemeClr val="folHlink"/>
                    </a:solidFill>
                  </a:rPr>
                  <a:t>t</a:t>
                </a:r>
                <a:r>
                  <a:rPr lang="en-US" altLang="zh-CN" sz="2400" baseline="-25000">
                    <a:solidFill>
                      <a:schemeClr val="folHlink"/>
                    </a:solidFill>
                  </a:rPr>
                  <a:t>WC</a:t>
                </a:r>
                <a:r>
                  <a:rPr lang="en-US" altLang="zh-CN" sz="2800" baseline="-25000"/>
                  <a:t>   </a:t>
                </a:r>
                <a:r>
                  <a:rPr lang="zh-CN" altLang="en-US" sz="2800"/>
                  <a:t>地址有效</a:t>
                </a:r>
                <a:endParaRPr lang="zh-CN" altLang="en-US" sz="2800"/>
              </a:p>
            </p:txBody>
          </p:sp>
          <p:sp>
            <p:nvSpPr>
              <p:cNvPr id="232546" name="Line 89"/>
              <p:cNvSpPr>
                <a:spLocks noChangeShapeType="1"/>
              </p:cNvSpPr>
              <p:nvPr/>
            </p:nvSpPr>
            <p:spPr bwMode="auto">
              <a:xfrm>
                <a:off x="3168" y="4023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2547" name="Rectangle 90"/>
              <p:cNvSpPr>
                <a:spLocks noChangeArrowheads="1"/>
              </p:cNvSpPr>
              <p:nvPr/>
            </p:nvSpPr>
            <p:spPr bwMode="auto">
              <a:xfrm>
                <a:off x="3504" y="3843"/>
                <a:ext cx="169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下一次地址有效</a:t>
                </a:r>
                <a:endParaRPr lang="zh-CN" altLang="en-US" sz="2800"/>
              </a:p>
            </p:txBody>
          </p:sp>
        </p:grpSp>
      </p:grpSp>
      <p:grpSp>
        <p:nvGrpSpPr>
          <p:cNvPr id="232549" name="Group 92"/>
          <p:cNvGrpSpPr/>
          <p:nvPr/>
        </p:nvGrpSpPr>
        <p:grpSpPr bwMode="auto">
          <a:xfrm>
            <a:off x="2415208" y="6047044"/>
            <a:ext cx="7391400" cy="592138"/>
            <a:chOff x="672" y="4187"/>
            <a:chExt cx="4656" cy="373"/>
          </a:xfrm>
        </p:grpSpPr>
        <p:sp>
          <p:nvSpPr>
            <p:cNvPr id="232550" name="Rectangle 93"/>
            <p:cNvSpPr>
              <a:spLocks noChangeArrowheads="1"/>
            </p:cNvSpPr>
            <p:nvPr/>
          </p:nvSpPr>
          <p:spPr bwMode="auto">
            <a:xfrm>
              <a:off x="672" y="4187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2552" name="Group 94"/>
            <p:cNvGrpSpPr/>
            <p:nvPr/>
          </p:nvGrpSpPr>
          <p:grpSpPr bwMode="auto">
            <a:xfrm>
              <a:off x="912" y="4195"/>
              <a:ext cx="4080" cy="365"/>
              <a:chOff x="912" y="4195"/>
              <a:chExt cx="4080" cy="365"/>
            </a:xfrm>
          </p:grpSpPr>
          <p:sp>
            <p:nvSpPr>
              <p:cNvPr id="232553" name="Rectangle 95"/>
              <p:cNvSpPr>
                <a:spLocks noChangeArrowheads="1"/>
              </p:cNvSpPr>
              <p:nvPr/>
            </p:nvSpPr>
            <p:spPr bwMode="auto">
              <a:xfrm>
                <a:off x="912" y="4195"/>
                <a:ext cx="408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solidFill>
                      <a:schemeClr val="folHlink"/>
                    </a:solidFill>
                  </a:rPr>
                  <a:t>写时间</a:t>
                </a:r>
                <a:r>
                  <a:rPr lang="zh-CN" altLang="en-US" sz="2800"/>
                  <a:t>  </a:t>
                </a:r>
                <a:r>
                  <a:rPr lang="en-US" altLang="zh-CN" sz="2800" i="1">
                    <a:solidFill>
                      <a:schemeClr val="folHlink"/>
                    </a:solidFill>
                  </a:rPr>
                  <a:t>t</a:t>
                </a:r>
                <a:r>
                  <a:rPr lang="en-US" altLang="zh-CN" sz="2400" baseline="-25000">
                    <a:solidFill>
                      <a:schemeClr val="folHlink"/>
                    </a:solidFill>
                  </a:rPr>
                  <a:t>W</a:t>
                </a:r>
                <a:r>
                  <a:rPr lang="zh-CN" altLang="en-US" sz="2800"/>
                  <a:t> </a:t>
                </a:r>
                <a:r>
                  <a:rPr lang="en-US" altLang="zh-CN" sz="2800" baseline="-25000"/>
                  <a:t>  </a:t>
                </a:r>
                <a:r>
                  <a:rPr lang="zh-CN" altLang="en-US" sz="2800"/>
                  <a:t>写命令 </a:t>
                </a:r>
                <a:r>
                  <a:rPr lang="en-US" altLang="zh-CN" sz="2200"/>
                  <a:t>WE</a:t>
                </a:r>
                <a:r>
                  <a:rPr lang="en-US" altLang="zh-CN" sz="2000"/>
                  <a:t> </a:t>
                </a:r>
                <a:r>
                  <a:rPr lang="zh-CN" altLang="en-US" sz="2800"/>
                  <a:t>的有效时间</a:t>
                </a:r>
                <a:endParaRPr lang="zh-CN" altLang="en-US" sz="2800"/>
              </a:p>
            </p:txBody>
          </p:sp>
          <p:sp>
            <p:nvSpPr>
              <p:cNvPr id="232554" name="Line 96"/>
              <p:cNvSpPr>
                <a:spLocks noChangeShapeType="1"/>
              </p:cNvSpPr>
              <p:nvPr/>
            </p:nvSpPr>
            <p:spPr bwMode="auto">
              <a:xfrm>
                <a:off x="3168" y="4282"/>
                <a:ext cx="2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32555" name="Group 97"/>
          <p:cNvGrpSpPr/>
          <p:nvPr/>
        </p:nvGrpSpPr>
        <p:grpSpPr bwMode="auto">
          <a:xfrm>
            <a:off x="2415208" y="6047044"/>
            <a:ext cx="7391400" cy="542925"/>
            <a:chOff x="624" y="3840"/>
            <a:chExt cx="4656" cy="342"/>
          </a:xfrm>
        </p:grpSpPr>
        <p:sp>
          <p:nvSpPr>
            <p:cNvPr id="232556" name="Rectangle 98"/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2558" name="Group 99"/>
            <p:cNvGrpSpPr/>
            <p:nvPr/>
          </p:nvGrpSpPr>
          <p:grpSpPr bwMode="auto">
            <a:xfrm>
              <a:off x="1008" y="3840"/>
              <a:ext cx="4032" cy="327"/>
              <a:chOff x="1008" y="3840"/>
              <a:chExt cx="4032" cy="327"/>
            </a:xfrm>
          </p:grpSpPr>
          <p:sp>
            <p:nvSpPr>
              <p:cNvPr id="232559" name="Rectangle 100"/>
              <p:cNvSpPr>
                <a:spLocks noChangeArrowheads="1"/>
              </p:cNvSpPr>
              <p:nvPr/>
            </p:nvSpPr>
            <p:spPr bwMode="auto">
              <a:xfrm>
                <a:off x="1008" y="3840"/>
                <a:ext cx="201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AW</a:t>
                </a:r>
                <a:r>
                  <a:rPr lang="zh-CN" altLang="en-US" sz="2800"/>
                  <a:t>  地址有效</a:t>
                </a:r>
                <a:endParaRPr lang="zh-CN" altLang="en-US" sz="2800"/>
              </a:p>
            </p:txBody>
          </p:sp>
          <p:sp>
            <p:nvSpPr>
              <p:cNvPr id="232560" name="Line 101"/>
              <p:cNvSpPr>
                <a:spLocks noChangeShapeType="1"/>
              </p:cNvSpPr>
              <p:nvPr/>
            </p:nvSpPr>
            <p:spPr bwMode="auto">
              <a:xfrm>
                <a:off x="2544" y="4032"/>
                <a:ext cx="33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2561" name="Rectangle 102"/>
              <p:cNvSpPr>
                <a:spLocks noChangeArrowheads="1"/>
              </p:cNvSpPr>
              <p:nvPr/>
            </p:nvSpPr>
            <p:spPr bwMode="auto">
              <a:xfrm>
                <a:off x="2899" y="3840"/>
                <a:ext cx="214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片选有效的滞后时间</a:t>
                </a:r>
                <a:endParaRPr lang="zh-CN" altLang="en-US" sz="2800"/>
              </a:p>
            </p:txBody>
          </p:sp>
        </p:grpSp>
      </p:grpSp>
      <p:grpSp>
        <p:nvGrpSpPr>
          <p:cNvPr id="232562" name="Group 103"/>
          <p:cNvGrpSpPr/>
          <p:nvPr/>
        </p:nvGrpSpPr>
        <p:grpSpPr bwMode="auto">
          <a:xfrm>
            <a:off x="2415208" y="6085144"/>
            <a:ext cx="7391400" cy="542925"/>
            <a:chOff x="624" y="3840"/>
            <a:chExt cx="4656" cy="342"/>
          </a:xfrm>
        </p:grpSpPr>
        <p:sp>
          <p:nvSpPr>
            <p:cNvPr id="232563" name="Rectangle 104"/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2565" name="Group 105"/>
            <p:cNvGrpSpPr/>
            <p:nvPr/>
          </p:nvGrpSpPr>
          <p:grpSpPr bwMode="auto">
            <a:xfrm>
              <a:off x="1296" y="3855"/>
              <a:ext cx="3582" cy="327"/>
              <a:chOff x="1296" y="3855"/>
              <a:chExt cx="3582" cy="327"/>
            </a:xfrm>
          </p:grpSpPr>
          <p:sp>
            <p:nvSpPr>
              <p:cNvPr id="232566" name="Rectangle 106"/>
              <p:cNvSpPr>
                <a:spLocks noChangeArrowheads="1"/>
              </p:cNvSpPr>
              <p:nvPr/>
            </p:nvSpPr>
            <p:spPr bwMode="auto">
              <a:xfrm>
                <a:off x="1296" y="3855"/>
                <a:ext cx="201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WR</a:t>
                </a:r>
                <a:r>
                  <a:rPr lang="zh-CN" altLang="en-US" sz="2800"/>
                  <a:t>  片选失效</a:t>
                </a:r>
                <a:endParaRPr lang="zh-CN" altLang="en-US" sz="2800"/>
              </a:p>
            </p:txBody>
          </p:sp>
          <p:sp>
            <p:nvSpPr>
              <p:cNvPr id="232567" name="Line 107"/>
              <p:cNvSpPr>
                <a:spLocks noChangeShapeType="1"/>
              </p:cNvSpPr>
              <p:nvPr/>
            </p:nvSpPr>
            <p:spPr bwMode="auto">
              <a:xfrm>
                <a:off x="2832" y="4047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2568" name="Rectangle 108"/>
              <p:cNvSpPr>
                <a:spLocks noChangeArrowheads="1"/>
              </p:cNvSpPr>
              <p:nvPr/>
            </p:nvSpPr>
            <p:spPr bwMode="auto">
              <a:xfrm>
                <a:off x="3187" y="3855"/>
                <a:ext cx="169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下一次地址有效</a:t>
                </a:r>
                <a:endParaRPr lang="zh-CN" altLang="en-US" sz="2800"/>
              </a:p>
            </p:txBody>
          </p:sp>
        </p:grpSp>
      </p:grpSp>
      <p:grpSp>
        <p:nvGrpSpPr>
          <p:cNvPr id="232569" name="Group 109"/>
          <p:cNvGrpSpPr/>
          <p:nvPr/>
        </p:nvGrpSpPr>
        <p:grpSpPr bwMode="auto">
          <a:xfrm>
            <a:off x="2415208" y="6094669"/>
            <a:ext cx="7391400" cy="542925"/>
            <a:chOff x="624" y="3840"/>
            <a:chExt cx="4656" cy="342"/>
          </a:xfrm>
        </p:grpSpPr>
        <p:sp>
          <p:nvSpPr>
            <p:cNvPr id="232570" name="Rectangle 110"/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232571" name="Group 111"/>
            <p:cNvGrpSpPr/>
            <p:nvPr/>
          </p:nvGrpSpPr>
          <p:grpSpPr bwMode="auto">
            <a:xfrm>
              <a:off x="1392" y="3855"/>
              <a:ext cx="2914" cy="327"/>
              <a:chOff x="1392" y="3855"/>
              <a:chExt cx="2914" cy="327"/>
            </a:xfrm>
          </p:grpSpPr>
          <p:sp>
            <p:nvSpPr>
              <p:cNvPr id="232572" name="Rectangle 112"/>
              <p:cNvSpPr>
                <a:spLocks noChangeArrowheads="1"/>
              </p:cNvSpPr>
              <p:nvPr/>
            </p:nvSpPr>
            <p:spPr bwMode="auto">
              <a:xfrm>
                <a:off x="1392" y="3855"/>
                <a:ext cx="196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DW   </a:t>
                </a:r>
                <a:r>
                  <a:rPr lang="zh-CN" altLang="en-US" sz="2800"/>
                  <a:t>数据稳定</a:t>
                </a:r>
                <a:endParaRPr lang="zh-CN" altLang="en-US" sz="2800"/>
              </a:p>
            </p:txBody>
          </p:sp>
          <p:sp>
            <p:nvSpPr>
              <p:cNvPr id="232573" name="Line 113"/>
              <p:cNvSpPr>
                <a:spLocks noChangeShapeType="1"/>
              </p:cNvSpPr>
              <p:nvPr/>
            </p:nvSpPr>
            <p:spPr bwMode="auto">
              <a:xfrm>
                <a:off x="2976" y="4047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2574" name="Rectangle 114"/>
              <p:cNvSpPr>
                <a:spLocks noChangeArrowheads="1"/>
              </p:cNvSpPr>
              <p:nvPr/>
            </p:nvSpPr>
            <p:spPr bwMode="auto">
              <a:xfrm>
                <a:off x="3360" y="3855"/>
                <a:ext cx="94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 </a:t>
                </a:r>
                <a:r>
                  <a:rPr lang="en-US" altLang="zh-CN" sz="2200"/>
                  <a:t>WE </a:t>
                </a:r>
                <a:r>
                  <a:rPr lang="zh-CN" altLang="en-US" sz="2800"/>
                  <a:t>失效</a:t>
                </a:r>
                <a:endParaRPr lang="en-US" altLang="zh-CN" sz="2800"/>
              </a:p>
            </p:txBody>
          </p:sp>
          <p:sp>
            <p:nvSpPr>
              <p:cNvPr id="232575" name="Line 115"/>
              <p:cNvSpPr>
                <a:spLocks noChangeShapeType="1"/>
              </p:cNvSpPr>
              <p:nvPr/>
            </p:nvSpPr>
            <p:spPr bwMode="auto">
              <a:xfrm>
                <a:off x="3504" y="3975"/>
                <a:ext cx="2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44032" name="Group 116"/>
          <p:cNvGrpSpPr/>
          <p:nvPr/>
        </p:nvGrpSpPr>
        <p:grpSpPr bwMode="auto">
          <a:xfrm>
            <a:off x="2415208" y="6085144"/>
            <a:ext cx="7391400" cy="542925"/>
            <a:chOff x="624" y="3978"/>
            <a:chExt cx="4656" cy="342"/>
          </a:xfrm>
        </p:grpSpPr>
        <p:sp>
          <p:nvSpPr>
            <p:cNvPr id="44033" name="Rectangle 117"/>
            <p:cNvSpPr>
              <a:spLocks noChangeArrowheads="1"/>
            </p:cNvSpPr>
            <p:nvPr/>
          </p:nvSpPr>
          <p:spPr bwMode="auto">
            <a:xfrm>
              <a:off x="624" y="3978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44036" name="Group 118"/>
            <p:cNvGrpSpPr/>
            <p:nvPr/>
          </p:nvGrpSpPr>
          <p:grpSpPr bwMode="auto">
            <a:xfrm>
              <a:off x="1392" y="3993"/>
              <a:ext cx="3408" cy="327"/>
              <a:chOff x="1392" y="3849"/>
              <a:chExt cx="3408" cy="327"/>
            </a:xfrm>
          </p:grpSpPr>
          <p:sp>
            <p:nvSpPr>
              <p:cNvPr id="44037" name="Rectangle 119"/>
              <p:cNvSpPr>
                <a:spLocks noChangeArrowheads="1"/>
              </p:cNvSpPr>
              <p:nvPr/>
            </p:nvSpPr>
            <p:spPr bwMode="auto">
              <a:xfrm>
                <a:off x="1392" y="3849"/>
                <a:ext cx="340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i="1"/>
                  <a:t>t</a:t>
                </a:r>
                <a:r>
                  <a:rPr lang="en-US" altLang="zh-CN" sz="2400" baseline="-25000"/>
                  <a:t>DH</a:t>
                </a:r>
                <a:r>
                  <a:rPr lang="en-US" altLang="zh-CN" sz="2200"/>
                  <a:t>  </a:t>
                </a:r>
                <a:r>
                  <a:rPr lang="en-US" altLang="zh-CN" sz="1000"/>
                  <a:t> </a:t>
                </a:r>
                <a:r>
                  <a:rPr lang="en-US" altLang="zh-CN" sz="2200"/>
                  <a:t>WE </a:t>
                </a:r>
                <a:r>
                  <a:rPr lang="zh-CN" altLang="en-US" sz="2800"/>
                  <a:t>失效后的数据维持时间</a:t>
                </a:r>
                <a:endParaRPr lang="zh-CN" altLang="en-US" sz="2800"/>
              </a:p>
            </p:txBody>
          </p:sp>
          <p:sp>
            <p:nvSpPr>
              <p:cNvPr id="44038" name="Line 120"/>
              <p:cNvSpPr>
                <a:spLocks noChangeShapeType="1"/>
              </p:cNvSpPr>
              <p:nvPr/>
            </p:nvSpPr>
            <p:spPr bwMode="auto">
              <a:xfrm>
                <a:off x="1872" y="3936"/>
                <a:ext cx="2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2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" dur="500"/>
                                        <p:tgtEl>
                                          <p:spTgt spid="232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32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7" dur="500"/>
                                        <p:tgtEl>
                                          <p:spTgt spid="232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3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3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500"/>
                                        <p:tgtEl>
                                          <p:spTgt spid="232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32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2" dur="500"/>
                                        <p:tgtEl>
                                          <p:spTgt spid="232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44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7" dur="500"/>
                                        <p:tgtEl>
                                          <p:spTgt spid="232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2" dur="500"/>
                                        <p:tgtEl>
                                          <p:spTgt spid="232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114996" y="1597323"/>
            <a:ext cx="5657850" cy="3784600"/>
            <a:chOff x="8" y="1130"/>
            <a:chExt cx="3564" cy="2384"/>
          </a:xfrm>
        </p:grpSpPr>
        <p:sp>
          <p:nvSpPr>
            <p:cNvPr id="3" name="Text Box 3"/>
            <p:cNvSpPr txBox="1">
              <a:spLocks noChangeArrowheads="1"/>
            </p:cNvSpPr>
            <p:nvPr/>
          </p:nvSpPr>
          <p:spPr bwMode="auto">
            <a:xfrm>
              <a:off x="3328" y="1239"/>
              <a:ext cx="244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 baseline="-25000">
                  <a:latin typeface="Times New Roman" panose="02020603050405020304" pitchFamily="18" charset="0"/>
                </a:rPr>
                <a:t>DD</a:t>
              </a:r>
              <a:endParaRPr lang="en-US" altLang="zh-CN" sz="16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4" name="Line 4"/>
            <p:cNvSpPr>
              <a:spLocks noChangeShapeType="1"/>
            </p:cNvSpPr>
            <p:nvPr/>
          </p:nvSpPr>
          <p:spPr bwMode="auto">
            <a:xfrm>
              <a:off x="384" y="1440"/>
              <a:ext cx="24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" name="Freeform 5"/>
            <p:cNvSpPr/>
            <p:nvPr/>
          </p:nvSpPr>
          <p:spPr bwMode="auto">
            <a:xfrm>
              <a:off x="384" y="2922"/>
              <a:ext cx="2502" cy="3"/>
            </a:xfrm>
            <a:custGeom>
              <a:avLst/>
              <a:gdLst>
                <a:gd name="T0" fmla="*/ 0 w 2502"/>
                <a:gd name="T1" fmla="*/ 3 h 3"/>
                <a:gd name="T2" fmla="*/ 2502 w 250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02" h="3">
                  <a:moveTo>
                    <a:pt x="0" y="3"/>
                  </a:moveTo>
                  <a:lnTo>
                    <a:pt x="250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6" name="Group 6"/>
            <p:cNvGrpSpPr/>
            <p:nvPr/>
          </p:nvGrpSpPr>
          <p:grpSpPr bwMode="auto">
            <a:xfrm>
              <a:off x="1872" y="1632"/>
              <a:ext cx="49" cy="231"/>
              <a:chOff x="1872" y="1632"/>
              <a:chExt cx="49" cy="231"/>
            </a:xfrm>
          </p:grpSpPr>
          <p:sp>
            <p:nvSpPr>
              <p:cNvPr id="47" name="Freeform 7"/>
              <p:cNvSpPr/>
              <p:nvPr/>
            </p:nvSpPr>
            <p:spPr bwMode="auto">
              <a:xfrm>
                <a:off x="1872" y="1690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" name="Freeform 8"/>
              <p:cNvSpPr/>
              <p:nvPr/>
            </p:nvSpPr>
            <p:spPr bwMode="auto">
              <a:xfrm>
                <a:off x="1920" y="1632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7" name="Freeform 9"/>
            <p:cNvSpPr/>
            <p:nvPr/>
          </p:nvSpPr>
          <p:spPr bwMode="auto">
            <a:xfrm>
              <a:off x="1584" y="1440"/>
              <a:ext cx="291" cy="308"/>
            </a:xfrm>
            <a:custGeom>
              <a:avLst/>
              <a:gdLst>
                <a:gd name="T0" fmla="*/ 0 w 291"/>
                <a:gd name="T1" fmla="*/ 0 h 212"/>
                <a:gd name="T2" fmla="*/ 0 w 291"/>
                <a:gd name="T3" fmla="*/ 649 h 212"/>
                <a:gd name="T4" fmla="*/ 291 w 291"/>
                <a:gd name="T5" fmla="*/ 649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212">
                  <a:moveTo>
                    <a:pt x="0" y="0"/>
                  </a:moveTo>
                  <a:lnTo>
                    <a:pt x="0" y="212"/>
                  </a:lnTo>
                  <a:lnTo>
                    <a:pt x="291" y="21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" name="Freeform 10"/>
            <p:cNvSpPr/>
            <p:nvPr/>
          </p:nvSpPr>
          <p:spPr bwMode="auto">
            <a:xfrm>
              <a:off x="2447" y="1248"/>
              <a:ext cx="1" cy="2027"/>
            </a:xfrm>
            <a:custGeom>
              <a:avLst/>
              <a:gdLst>
                <a:gd name="T0" fmla="*/ 1 w 1"/>
                <a:gd name="T1" fmla="*/ 0 h 2027"/>
                <a:gd name="T2" fmla="*/ 0 w 1"/>
                <a:gd name="T3" fmla="*/ 2027 h 20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27">
                  <a:moveTo>
                    <a:pt x="1" y="0"/>
                  </a:moveTo>
                  <a:lnTo>
                    <a:pt x="0" y="202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" name="Freeform 11"/>
            <p:cNvSpPr/>
            <p:nvPr/>
          </p:nvSpPr>
          <p:spPr bwMode="auto">
            <a:xfrm>
              <a:off x="1917" y="1697"/>
              <a:ext cx="536" cy="1"/>
            </a:xfrm>
            <a:custGeom>
              <a:avLst/>
              <a:gdLst>
                <a:gd name="T0" fmla="*/ 0 w 536"/>
                <a:gd name="T1" fmla="*/ 0 h 1"/>
                <a:gd name="T2" fmla="*/ 536 w 53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6" h="1">
                  <a:moveTo>
                    <a:pt x="0" y="0"/>
                  </a:moveTo>
                  <a:lnTo>
                    <a:pt x="53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0" name="Group 12"/>
            <p:cNvGrpSpPr/>
            <p:nvPr/>
          </p:nvGrpSpPr>
          <p:grpSpPr bwMode="auto">
            <a:xfrm>
              <a:off x="1872" y="2121"/>
              <a:ext cx="49" cy="231"/>
              <a:chOff x="1872" y="2121"/>
              <a:chExt cx="49" cy="231"/>
            </a:xfrm>
          </p:grpSpPr>
          <p:sp>
            <p:nvSpPr>
              <p:cNvPr id="45" name="Freeform 13"/>
              <p:cNvSpPr/>
              <p:nvPr/>
            </p:nvSpPr>
            <p:spPr bwMode="auto">
              <a:xfrm>
                <a:off x="1872" y="217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" name="Freeform 14"/>
              <p:cNvSpPr/>
              <p:nvPr/>
            </p:nvSpPr>
            <p:spPr bwMode="auto">
              <a:xfrm>
                <a:off x="1920" y="212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1" name="Freeform 15"/>
            <p:cNvSpPr/>
            <p:nvPr/>
          </p:nvSpPr>
          <p:spPr bwMode="auto">
            <a:xfrm>
              <a:off x="1917" y="1797"/>
              <a:ext cx="288" cy="395"/>
            </a:xfrm>
            <a:custGeom>
              <a:avLst/>
              <a:gdLst>
                <a:gd name="T0" fmla="*/ 0 w 288"/>
                <a:gd name="T1" fmla="*/ 2 h 395"/>
                <a:gd name="T2" fmla="*/ 288 w 288"/>
                <a:gd name="T3" fmla="*/ 0 h 395"/>
                <a:gd name="T4" fmla="*/ 287 w 288"/>
                <a:gd name="T5" fmla="*/ 395 h 395"/>
                <a:gd name="T6" fmla="*/ 6 w 288"/>
                <a:gd name="T7" fmla="*/ 395 h 3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395">
                  <a:moveTo>
                    <a:pt x="0" y="2"/>
                  </a:moveTo>
                  <a:lnTo>
                    <a:pt x="288" y="0"/>
                  </a:lnTo>
                  <a:lnTo>
                    <a:pt x="287" y="395"/>
                  </a:lnTo>
                  <a:lnTo>
                    <a:pt x="6" y="39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" name="Freeform 16"/>
            <p:cNvSpPr/>
            <p:nvPr/>
          </p:nvSpPr>
          <p:spPr bwMode="auto">
            <a:xfrm>
              <a:off x="1917" y="2291"/>
              <a:ext cx="291" cy="253"/>
            </a:xfrm>
            <a:custGeom>
              <a:avLst/>
              <a:gdLst>
                <a:gd name="T0" fmla="*/ 0 w 291"/>
                <a:gd name="T1" fmla="*/ 0 h 253"/>
                <a:gd name="T2" fmla="*/ 290 w 291"/>
                <a:gd name="T3" fmla="*/ 0 h 253"/>
                <a:gd name="T4" fmla="*/ 291 w 291"/>
                <a:gd name="T5" fmla="*/ 253 h 2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253">
                  <a:moveTo>
                    <a:pt x="0" y="0"/>
                  </a:moveTo>
                  <a:lnTo>
                    <a:pt x="290" y="0"/>
                  </a:lnTo>
                  <a:lnTo>
                    <a:pt x="291" y="2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" name="Line 17"/>
            <p:cNvSpPr>
              <a:spLocks noChangeShapeType="1"/>
            </p:cNvSpPr>
            <p:nvPr/>
          </p:nvSpPr>
          <p:spPr bwMode="auto">
            <a:xfrm>
              <a:off x="2112" y="254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" name="Freeform 18"/>
            <p:cNvSpPr/>
            <p:nvPr/>
          </p:nvSpPr>
          <p:spPr bwMode="auto">
            <a:xfrm>
              <a:off x="768" y="1248"/>
              <a:ext cx="1" cy="2037"/>
            </a:xfrm>
            <a:custGeom>
              <a:avLst/>
              <a:gdLst>
                <a:gd name="T0" fmla="*/ 0 w 1"/>
                <a:gd name="T1" fmla="*/ 0 h 2037"/>
                <a:gd name="T2" fmla="*/ 0 w 1"/>
                <a:gd name="T3" fmla="*/ 2037 h 20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37">
                  <a:moveTo>
                    <a:pt x="0" y="0"/>
                  </a:moveTo>
                  <a:lnTo>
                    <a:pt x="0" y="203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" name="Group 19"/>
            <p:cNvGrpSpPr/>
            <p:nvPr/>
          </p:nvGrpSpPr>
          <p:grpSpPr bwMode="auto">
            <a:xfrm>
              <a:off x="1007" y="2398"/>
              <a:ext cx="231" cy="49"/>
              <a:chOff x="1007" y="2398"/>
              <a:chExt cx="231" cy="49"/>
            </a:xfrm>
          </p:grpSpPr>
          <p:sp>
            <p:nvSpPr>
              <p:cNvPr id="43" name="Freeform 20"/>
              <p:cNvSpPr/>
              <p:nvPr/>
            </p:nvSpPr>
            <p:spPr bwMode="auto">
              <a:xfrm rot="-5400000">
                <a:off x="1124" y="238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4" name="Freeform 21"/>
              <p:cNvSpPr/>
              <p:nvPr/>
            </p:nvSpPr>
            <p:spPr bwMode="auto">
              <a:xfrm rot="-5400000">
                <a:off x="1122" y="228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6" name="Freeform 22"/>
            <p:cNvSpPr/>
            <p:nvPr/>
          </p:nvSpPr>
          <p:spPr bwMode="auto">
            <a:xfrm>
              <a:off x="1391" y="2495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" name="Freeform 23"/>
            <p:cNvSpPr/>
            <p:nvPr/>
          </p:nvSpPr>
          <p:spPr bwMode="auto">
            <a:xfrm>
              <a:off x="1389" y="2591"/>
              <a:ext cx="284" cy="1"/>
            </a:xfrm>
            <a:custGeom>
              <a:avLst/>
              <a:gdLst>
                <a:gd name="T0" fmla="*/ 0 w 284"/>
                <a:gd name="T1" fmla="*/ 0 h 1"/>
                <a:gd name="T2" fmla="*/ 284 w 28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4" h="1">
                  <a:moveTo>
                    <a:pt x="0" y="0"/>
                  </a:moveTo>
                  <a:lnTo>
                    <a:pt x="28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" name="Freeform 24"/>
            <p:cNvSpPr/>
            <p:nvPr/>
          </p:nvSpPr>
          <p:spPr bwMode="auto">
            <a:xfrm>
              <a:off x="1164" y="2235"/>
              <a:ext cx="707" cy="159"/>
            </a:xfrm>
            <a:custGeom>
              <a:avLst/>
              <a:gdLst>
                <a:gd name="T0" fmla="*/ 707 w 707"/>
                <a:gd name="T1" fmla="*/ 0 h 159"/>
                <a:gd name="T2" fmla="*/ 0 w 707"/>
                <a:gd name="T3" fmla="*/ 3 h 159"/>
                <a:gd name="T4" fmla="*/ 0 w 707"/>
                <a:gd name="T5" fmla="*/ 159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7" h="159">
                  <a:moveTo>
                    <a:pt x="707" y="0"/>
                  </a:moveTo>
                  <a:lnTo>
                    <a:pt x="0" y="3"/>
                  </a:lnTo>
                  <a:lnTo>
                    <a:pt x="0" y="1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" name="Freeform 25"/>
            <p:cNvSpPr/>
            <p:nvPr/>
          </p:nvSpPr>
          <p:spPr bwMode="auto">
            <a:xfrm>
              <a:off x="1535" y="2237"/>
              <a:ext cx="1" cy="259"/>
            </a:xfrm>
            <a:custGeom>
              <a:avLst/>
              <a:gdLst>
                <a:gd name="T0" fmla="*/ 0 w 1"/>
                <a:gd name="T1" fmla="*/ 0 h 259"/>
                <a:gd name="T2" fmla="*/ 0 w 1"/>
                <a:gd name="T3" fmla="*/ 259 h 2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59">
                  <a:moveTo>
                    <a:pt x="0" y="0"/>
                  </a:moveTo>
                  <a:lnTo>
                    <a:pt x="0" y="2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" name="Freeform 26"/>
            <p:cNvSpPr/>
            <p:nvPr/>
          </p:nvSpPr>
          <p:spPr bwMode="auto">
            <a:xfrm>
              <a:off x="1116" y="2454"/>
              <a:ext cx="3" cy="468"/>
            </a:xfrm>
            <a:custGeom>
              <a:avLst/>
              <a:gdLst>
                <a:gd name="T0" fmla="*/ 3 w 3"/>
                <a:gd name="T1" fmla="*/ 0 h 468"/>
                <a:gd name="T2" fmla="*/ 0 w 3"/>
                <a:gd name="T3" fmla="*/ 468 h 4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68">
                  <a:moveTo>
                    <a:pt x="3" y="0"/>
                  </a:moveTo>
                  <a:lnTo>
                    <a:pt x="0" y="46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" name="Line 27"/>
            <p:cNvSpPr>
              <a:spLocks noChangeShapeType="1"/>
            </p:cNvSpPr>
            <p:nvPr/>
          </p:nvSpPr>
          <p:spPr bwMode="auto">
            <a:xfrm>
              <a:off x="1536" y="2592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" name="Line 28"/>
            <p:cNvSpPr>
              <a:spLocks noChangeShapeType="1"/>
            </p:cNvSpPr>
            <p:nvPr/>
          </p:nvSpPr>
          <p:spPr bwMode="auto">
            <a:xfrm>
              <a:off x="1440" y="2736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" name="Freeform 29"/>
            <p:cNvSpPr/>
            <p:nvPr/>
          </p:nvSpPr>
          <p:spPr bwMode="auto">
            <a:xfrm>
              <a:off x="771" y="2235"/>
              <a:ext cx="306" cy="162"/>
            </a:xfrm>
            <a:custGeom>
              <a:avLst/>
              <a:gdLst>
                <a:gd name="T0" fmla="*/ 306 w 306"/>
                <a:gd name="T1" fmla="*/ 162 h 162"/>
                <a:gd name="T2" fmla="*/ 306 w 306"/>
                <a:gd name="T3" fmla="*/ 0 h 162"/>
                <a:gd name="T4" fmla="*/ 0 w 30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6" h="162">
                  <a:moveTo>
                    <a:pt x="306" y="162"/>
                  </a:moveTo>
                  <a:lnTo>
                    <a:pt x="306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4" name="Group 30"/>
            <p:cNvGrpSpPr/>
            <p:nvPr/>
          </p:nvGrpSpPr>
          <p:grpSpPr bwMode="auto">
            <a:xfrm>
              <a:off x="2600" y="1871"/>
              <a:ext cx="231" cy="49"/>
              <a:chOff x="2600" y="1871"/>
              <a:chExt cx="231" cy="49"/>
            </a:xfrm>
          </p:grpSpPr>
          <p:sp>
            <p:nvSpPr>
              <p:cNvPr id="41" name="Freeform 31"/>
              <p:cNvSpPr/>
              <p:nvPr/>
            </p:nvSpPr>
            <p:spPr bwMode="auto">
              <a:xfrm rot="-5400000">
                <a:off x="2717" y="1860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2" name="Freeform 32"/>
              <p:cNvSpPr/>
              <p:nvPr/>
            </p:nvSpPr>
            <p:spPr bwMode="auto">
              <a:xfrm rot="-5400000">
                <a:off x="2715" y="1756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5" name="Freeform 33"/>
            <p:cNvSpPr/>
            <p:nvPr/>
          </p:nvSpPr>
          <p:spPr bwMode="auto">
            <a:xfrm>
              <a:off x="2457" y="1692"/>
              <a:ext cx="210" cy="183"/>
            </a:xfrm>
            <a:custGeom>
              <a:avLst/>
              <a:gdLst>
                <a:gd name="T0" fmla="*/ 0 w 210"/>
                <a:gd name="T1" fmla="*/ 0 h 183"/>
                <a:gd name="T2" fmla="*/ 210 w 210"/>
                <a:gd name="T3" fmla="*/ 0 h 183"/>
                <a:gd name="T4" fmla="*/ 210 w 210"/>
                <a:gd name="T5" fmla="*/ 183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183">
                  <a:moveTo>
                    <a:pt x="0" y="0"/>
                  </a:moveTo>
                  <a:lnTo>
                    <a:pt x="210" y="0"/>
                  </a:lnTo>
                  <a:lnTo>
                    <a:pt x="210" y="1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" name="Freeform 34"/>
            <p:cNvSpPr/>
            <p:nvPr/>
          </p:nvSpPr>
          <p:spPr bwMode="auto">
            <a:xfrm>
              <a:off x="2769" y="1230"/>
              <a:ext cx="414" cy="639"/>
            </a:xfrm>
            <a:custGeom>
              <a:avLst/>
              <a:gdLst>
                <a:gd name="T0" fmla="*/ 0 w 414"/>
                <a:gd name="T1" fmla="*/ 639 h 639"/>
                <a:gd name="T2" fmla="*/ 0 w 414"/>
                <a:gd name="T3" fmla="*/ 465 h 639"/>
                <a:gd name="T4" fmla="*/ 414 w 414"/>
                <a:gd name="T5" fmla="*/ 465 h 639"/>
                <a:gd name="T6" fmla="*/ 414 w 414"/>
                <a:gd name="T7" fmla="*/ 0 h 6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639">
                  <a:moveTo>
                    <a:pt x="0" y="639"/>
                  </a:moveTo>
                  <a:lnTo>
                    <a:pt x="0" y="465"/>
                  </a:lnTo>
                  <a:lnTo>
                    <a:pt x="414" y="465"/>
                  </a:lnTo>
                  <a:lnTo>
                    <a:pt x="41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7" name="Freeform 35"/>
            <p:cNvSpPr/>
            <p:nvPr/>
          </p:nvSpPr>
          <p:spPr bwMode="auto">
            <a:xfrm>
              <a:off x="2721" y="1923"/>
              <a:ext cx="441" cy="186"/>
            </a:xfrm>
            <a:custGeom>
              <a:avLst/>
              <a:gdLst>
                <a:gd name="T0" fmla="*/ 0 w 441"/>
                <a:gd name="T1" fmla="*/ 0 h 186"/>
                <a:gd name="T2" fmla="*/ 0 w 441"/>
                <a:gd name="T3" fmla="*/ 186 h 186"/>
                <a:gd name="T4" fmla="*/ 441 w 441"/>
                <a:gd name="T5" fmla="*/ 186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1" h="186">
                  <a:moveTo>
                    <a:pt x="0" y="0"/>
                  </a:moveTo>
                  <a:lnTo>
                    <a:pt x="0" y="186"/>
                  </a:lnTo>
                  <a:lnTo>
                    <a:pt x="441" y="18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" name="Text Box 36"/>
            <p:cNvSpPr txBox="1">
              <a:spLocks noChangeArrowheads="1"/>
            </p:cNvSpPr>
            <p:nvPr/>
          </p:nvSpPr>
          <p:spPr bwMode="auto">
            <a:xfrm>
              <a:off x="2487" y="2112"/>
              <a:ext cx="92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预充电信号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9" name="Text Box 37"/>
            <p:cNvSpPr txBox="1">
              <a:spLocks noChangeArrowheads="1"/>
            </p:cNvSpPr>
            <p:nvPr/>
          </p:nvSpPr>
          <p:spPr bwMode="auto">
            <a:xfrm>
              <a:off x="8" y="1440"/>
              <a:ext cx="760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5000"/>
                </a:lnSpc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读选择线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0" name="Text Box 38"/>
            <p:cNvSpPr txBox="1">
              <a:spLocks noChangeArrowheads="1"/>
            </p:cNvSpPr>
            <p:nvPr/>
          </p:nvSpPr>
          <p:spPr bwMode="auto">
            <a:xfrm>
              <a:off x="432" y="3264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写数据线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1" name="Text Box 39"/>
            <p:cNvSpPr txBox="1">
              <a:spLocks noChangeArrowheads="1"/>
            </p:cNvSpPr>
            <p:nvPr/>
          </p:nvSpPr>
          <p:spPr bwMode="auto">
            <a:xfrm>
              <a:off x="8" y="2947"/>
              <a:ext cx="760" cy="2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5000"/>
                </a:lnSpc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写选择线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2" name="Text Box 40"/>
            <p:cNvSpPr txBox="1">
              <a:spLocks noChangeArrowheads="1"/>
            </p:cNvSpPr>
            <p:nvPr/>
          </p:nvSpPr>
          <p:spPr bwMode="auto">
            <a:xfrm>
              <a:off x="1880" y="3264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读数据线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3" name="Text Box 41"/>
            <p:cNvSpPr txBox="1">
              <a:spLocks noChangeArrowheads="1"/>
            </p:cNvSpPr>
            <p:nvPr/>
          </p:nvSpPr>
          <p:spPr bwMode="auto">
            <a:xfrm>
              <a:off x="3155" y="1130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V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34" name="Text Box 42"/>
            <p:cNvSpPr txBox="1">
              <a:spLocks noChangeArrowheads="1"/>
            </p:cNvSpPr>
            <p:nvPr/>
          </p:nvSpPr>
          <p:spPr bwMode="auto">
            <a:xfrm>
              <a:off x="1167" y="2447"/>
              <a:ext cx="22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endParaRPr lang="en-US" altLang="zh-CN" sz="2000" i="1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5" name="Text Box 43"/>
            <p:cNvSpPr txBox="1">
              <a:spLocks noChangeArrowheads="1"/>
            </p:cNvSpPr>
            <p:nvPr/>
          </p:nvSpPr>
          <p:spPr bwMode="auto">
            <a:xfrm>
              <a:off x="1283" y="2516"/>
              <a:ext cx="18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g</a:t>
              </a:r>
              <a:endParaRPr lang="en-US" altLang="zh-CN" sz="1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6" name="Text Box 44"/>
            <p:cNvSpPr txBox="1">
              <a:spLocks noChangeArrowheads="1"/>
            </p:cNvSpPr>
            <p:nvPr/>
          </p:nvSpPr>
          <p:spPr bwMode="auto">
            <a:xfrm>
              <a:off x="2816" y="1807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4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7" name="Text Box 45"/>
            <p:cNvSpPr txBox="1">
              <a:spLocks noChangeArrowheads="1"/>
            </p:cNvSpPr>
            <p:nvPr/>
          </p:nvSpPr>
          <p:spPr bwMode="auto">
            <a:xfrm>
              <a:off x="2990" y="1835"/>
              <a:ext cx="1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38" name="Text Box 46"/>
            <p:cNvSpPr txBox="1">
              <a:spLocks noChangeArrowheads="1"/>
            </p:cNvSpPr>
            <p:nvPr/>
          </p:nvSpPr>
          <p:spPr bwMode="auto">
            <a:xfrm>
              <a:off x="829" y="2306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3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39" name="Text Box 47"/>
            <p:cNvSpPr txBox="1">
              <a:spLocks noChangeArrowheads="1"/>
            </p:cNvSpPr>
            <p:nvPr/>
          </p:nvSpPr>
          <p:spPr bwMode="auto">
            <a:xfrm>
              <a:off x="1632" y="1478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2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1632" y="1968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1</a:t>
              </a:r>
              <a:endParaRPr lang="en-US" altLang="zh-CN" sz="2000" baseline="-25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49" name="Group 49"/>
          <p:cNvGrpSpPr/>
          <p:nvPr/>
        </p:nvGrpSpPr>
        <p:grpSpPr bwMode="auto">
          <a:xfrm>
            <a:off x="4988496" y="2470448"/>
            <a:ext cx="685800" cy="2532063"/>
            <a:chOff x="2448" y="1680"/>
            <a:chExt cx="432" cy="1595"/>
          </a:xfrm>
        </p:grpSpPr>
        <p:sp>
          <p:nvSpPr>
            <p:cNvPr id="50" name="Freeform 50"/>
            <p:cNvSpPr/>
            <p:nvPr/>
          </p:nvSpPr>
          <p:spPr bwMode="auto">
            <a:xfrm>
              <a:off x="2448" y="1680"/>
              <a:ext cx="1" cy="1595"/>
            </a:xfrm>
            <a:custGeom>
              <a:avLst/>
              <a:gdLst>
                <a:gd name="T0" fmla="*/ 0 w 1"/>
                <a:gd name="T1" fmla="*/ 0 h 1595"/>
                <a:gd name="T2" fmla="*/ 0 w 1"/>
                <a:gd name="T3" fmla="*/ 1595 h 15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95">
                  <a:moveTo>
                    <a:pt x="0" y="0"/>
                  </a:moveTo>
                  <a:lnTo>
                    <a:pt x="0" y="1595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1" name="Group 51"/>
            <p:cNvGrpSpPr/>
            <p:nvPr/>
          </p:nvGrpSpPr>
          <p:grpSpPr bwMode="auto">
            <a:xfrm>
              <a:off x="2544" y="2371"/>
              <a:ext cx="336" cy="365"/>
              <a:chOff x="1680" y="2371"/>
              <a:chExt cx="336" cy="365"/>
            </a:xfrm>
          </p:grpSpPr>
          <p:sp>
            <p:nvSpPr>
              <p:cNvPr id="52" name="Rectangle 52"/>
              <p:cNvSpPr>
                <a:spLocks noChangeArrowheads="1"/>
              </p:cNvSpPr>
              <p:nvPr/>
            </p:nvSpPr>
            <p:spPr bwMode="auto">
              <a:xfrm>
                <a:off x="1680" y="2400"/>
                <a:ext cx="336" cy="33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" name="Text Box 53"/>
              <p:cNvSpPr txBox="1">
                <a:spLocks noChangeArrowheads="1"/>
              </p:cNvSpPr>
              <p:nvPr/>
            </p:nvSpPr>
            <p:spPr bwMode="auto">
              <a:xfrm>
                <a:off x="1728" y="2371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54" name="Text Box 54"/>
          <p:cNvSpPr txBox="1">
            <a:spLocks noChangeArrowheads="1"/>
          </p:cNvSpPr>
          <p:nvPr/>
        </p:nvSpPr>
        <p:spPr bwMode="auto">
          <a:xfrm>
            <a:off x="2169096" y="946448"/>
            <a:ext cx="541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(1)  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基本单元电路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55" name="Text Box 55"/>
          <p:cNvSpPr txBox="1">
            <a:spLocks noChangeArrowheads="1"/>
          </p:cNvSpPr>
          <p:nvPr/>
        </p:nvSpPr>
        <p:spPr bwMode="auto">
          <a:xfrm>
            <a:off x="180752" y="146348"/>
            <a:ext cx="44211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2. 动态 </a:t>
            </a:r>
            <a:r>
              <a:rPr lang="en-US" altLang="zh-CN" sz="3200">
                <a:latin typeface="Times New Roman" panose="02020603050405020304" pitchFamily="18" charset="0"/>
              </a:rPr>
              <a:t>RAM ( DRAM )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56" name="Text Box 56"/>
          <p:cNvSpPr txBox="1">
            <a:spLocks noChangeArrowheads="1"/>
          </p:cNvSpPr>
          <p:nvPr/>
        </p:nvSpPr>
        <p:spPr bwMode="auto">
          <a:xfrm>
            <a:off x="1635696" y="5423198"/>
            <a:ext cx="3657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读出与原存信息相反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57" name="Text Box 57"/>
          <p:cNvSpPr txBox="1">
            <a:spLocks noChangeArrowheads="1"/>
          </p:cNvSpPr>
          <p:nvPr/>
        </p:nvSpPr>
        <p:spPr bwMode="auto">
          <a:xfrm>
            <a:off x="5369496" y="5423198"/>
            <a:ext cx="487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读出时数据线有电流 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“1”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58" name="Group 58"/>
          <p:cNvGrpSpPr/>
          <p:nvPr/>
        </p:nvGrpSpPr>
        <p:grpSpPr bwMode="auto">
          <a:xfrm>
            <a:off x="6547421" y="1781473"/>
            <a:ext cx="3013075" cy="2987675"/>
            <a:chOff x="3430" y="1246"/>
            <a:chExt cx="1898" cy="1882"/>
          </a:xfrm>
        </p:grpSpPr>
        <p:sp>
          <p:nvSpPr>
            <p:cNvPr id="59" name="Line 59"/>
            <p:cNvSpPr>
              <a:spLocks noChangeShapeType="1"/>
            </p:cNvSpPr>
            <p:nvPr/>
          </p:nvSpPr>
          <p:spPr bwMode="auto">
            <a:xfrm>
              <a:off x="3744" y="1536"/>
              <a:ext cx="15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>
              <a:off x="3936" y="1248"/>
              <a:ext cx="0" cy="17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4449" y="1536"/>
              <a:ext cx="351" cy="540"/>
            </a:xfrm>
            <a:custGeom>
              <a:avLst/>
              <a:gdLst>
                <a:gd name="T0" fmla="*/ 351 w 351"/>
                <a:gd name="T1" fmla="*/ 0 h 540"/>
                <a:gd name="T2" fmla="*/ 351 w 351"/>
                <a:gd name="T3" fmla="*/ 540 h 540"/>
                <a:gd name="T4" fmla="*/ 0 w 351"/>
                <a:gd name="T5" fmla="*/ 540 h 5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540">
                  <a:moveTo>
                    <a:pt x="351" y="0"/>
                  </a:moveTo>
                  <a:lnTo>
                    <a:pt x="351" y="540"/>
                  </a:lnTo>
                  <a:lnTo>
                    <a:pt x="0" y="5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62" name="Group 62"/>
            <p:cNvGrpSpPr/>
            <p:nvPr/>
          </p:nvGrpSpPr>
          <p:grpSpPr bwMode="auto">
            <a:xfrm>
              <a:off x="4397" y="2004"/>
              <a:ext cx="49" cy="231"/>
              <a:chOff x="1586" y="1334"/>
              <a:chExt cx="49" cy="231"/>
            </a:xfrm>
          </p:grpSpPr>
          <p:sp>
            <p:nvSpPr>
              <p:cNvPr id="233483" name="Freeform 63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3484" name="Freeform 64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63" name="Freeform 65"/>
            <p:cNvSpPr/>
            <p:nvPr/>
          </p:nvSpPr>
          <p:spPr bwMode="auto">
            <a:xfrm rot="10800000">
              <a:off x="3936" y="2112"/>
              <a:ext cx="465" cy="1"/>
            </a:xfrm>
            <a:custGeom>
              <a:avLst/>
              <a:gdLst>
                <a:gd name="T0" fmla="*/ 465 w 465"/>
                <a:gd name="T1" fmla="*/ 0 h 1"/>
                <a:gd name="T2" fmla="*/ 0 w 46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5" h="1">
                  <a:moveTo>
                    <a:pt x="465" y="0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72" name="Freeform 66"/>
            <p:cNvSpPr/>
            <p:nvPr/>
          </p:nvSpPr>
          <p:spPr bwMode="auto">
            <a:xfrm>
              <a:off x="4455" y="2163"/>
              <a:ext cx="342" cy="330"/>
            </a:xfrm>
            <a:custGeom>
              <a:avLst/>
              <a:gdLst>
                <a:gd name="T0" fmla="*/ 0 w 342"/>
                <a:gd name="T1" fmla="*/ 0 h 330"/>
                <a:gd name="T2" fmla="*/ 342 w 342"/>
                <a:gd name="T3" fmla="*/ 0 h 330"/>
                <a:gd name="T4" fmla="*/ 342 w 342"/>
                <a:gd name="T5" fmla="*/ 330 h 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330">
                  <a:moveTo>
                    <a:pt x="0" y="0"/>
                  </a:moveTo>
                  <a:lnTo>
                    <a:pt x="342" y="0"/>
                  </a:lnTo>
                  <a:lnTo>
                    <a:pt x="342" y="33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73" name="Freeform 67"/>
            <p:cNvSpPr/>
            <p:nvPr/>
          </p:nvSpPr>
          <p:spPr bwMode="auto">
            <a:xfrm>
              <a:off x="4656" y="2496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75" name="Freeform 68"/>
            <p:cNvSpPr/>
            <p:nvPr/>
          </p:nvSpPr>
          <p:spPr bwMode="auto">
            <a:xfrm>
              <a:off x="4656" y="2591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76" name="Line 69"/>
            <p:cNvSpPr>
              <a:spLocks noChangeShapeType="1"/>
            </p:cNvSpPr>
            <p:nvPr/>
          </p:nvSpPr>
          <p:spPr bwMode="auto">
            <a:xfrm>
              <a:off x="4800" y="2592"/>
              <a:ext cx="0" cy="3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77" name="Line 70"/>
            <p:cNvSpPr>
              <a:spLocks noChangeShapeType="1"/>
            </p:cNvSpPr>
            <p:nvPr/>
          </p:nvSpPr>
          <p:spPr bwMode="auto">
            <a:xfrm>
              <a:off x="4704" y="2928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78" name="Text Box 71"/>
            <p:cNvSpPr txBox="1">
              <a:spLocks noChangeArrowheads="1"/>
            </p:cNvSpPr>
            <p:nvPr/>
          </p:nvSpPr>
          <p:spPr bwMode="auto">
            <a:xfrm>
              <a:off x="4596" y="1246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数据线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33479" name="Text Box 72"/>
            <p:cNvSpPr txBox="1">
              <a:spLocks noChangeArrowheads="1"/>
            </p:cNvSpPr>
            <p:nvPr/>
          </p:nvSpPr>
          <p:spPr bwMode="auto">
            <a:xfrm>
              <a:off x="5007" y="2431"/>
              <a:ext cx="22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endParaRPr lang="en-US" altLang="zh-CN" sz="2000" i="1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3480" name="Text Box 73"/>
            <p:cNvSpPr txBox="1">
              <a:spLocks noChangeArrowheads="1"/>
            </p:cNvSpPr>
            <p:nvPr/>
          </p:nvSpPr>
          <p:spPr bwMode="auto">
            <a:xfrm>
              <a:off x="5124" y="2470"/>
              <a:ext cx="17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3481" name="Text Box 74"/>
            <p:cNvSpPr txBox="1">
              <a:spLocks noChangeArrowheads="1"/>
            </p:cNvSpPr>
            <p:nvPr/>
          </p:nvSpPr>
          <p:spPr bwMode="auto">
            <a:xfrm>
              <a:off x="4208" y="1785"/>
              <a:ext cx="22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33482" name="Text Box 75"/>
            <p:cNvSpPr txBox="1">
              <a:spLocks noChangeArrowheads="1"/>
            </p:cNvSpPr>
            <p:nvPr/>
          </p:nvSpPr>
          <p:spPr bwMode="auto">
            <a:xfrm>
              <a:off x="3430" y="2878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字线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3485" name="Group 76"/>
          <p:cNvGrpSpPr/>
          <p:nvPr/>
        </p:nvGrpSpPr>
        <p:grpSpPr bwMode="auto">
          <a:xfrm rot="-5400000">
            <a:off x="5375846" y="2630786"/>
            <a:ext cx="77788" cy="366712"/>
            <a:chOff x="1586" y="1334"/>
            <a:chExt cx="49" cy="231"/>
          </a:xfrm>
        </p:grpSpPr>
        <p:sp>
          <p:nvSpPr>
            <p:cNvPr id="233486" name="Freeform 77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87" name="Freeform 78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488" name="Freeform 79"/>
          <p:cNvSpPr/>
          <p:nvPr/>
        </p:nvSpPr>
        <p:spPr bwMode="auto">
          <a:xfrm>
            <a:off x="5421884" y="2856211"/>
            <a:ext cx="700087" cy="295275"/>
          </a:xfrm>
          <a:custGeom>
            <a:avLst/>
            <a:gdLst>
              <a:gd name="T0" fmla="*/ 0 w 441"/>
              <a:gd name="T1" fmla="*/ 0 h 186"/>
              <a:gd name="T2" fmla="*/ 0 w 441"/>
              <a:gd name="T3" fmla="*/ 2147483646 h 186"/>
              <a:gd name="T4" fmla="*/ 2147483646 w 441"/>
              <a:gd name="T5" fmla="*/ 2147483646 h 18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41" h="186">
                <a:moveTo>
                  <a:pt x="0" y="0"/>
                </a:moveTo>
                <a:lnTo>
                  <a:pt x="0" y="186"/>
                </a:lnTo>
                <a:lnTo>
                  <a:pt x="441" y="186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489" name="Group 80"/>
          <p:cNvGrpSpPr/>
          <p:nvPr/>
        </p:nvGrpSpPr>
        <p:grpSpPr bwMode="auto">
          <a:xfrm>
            <a:off x="5498084" y="1590973"/>
            <a:ext cx="1274762" cy="1173163"/>
            <a:chOff x="2769" y="1133"/>
            <a:chExt cx="803" cy="739"/>
          </a:xfrm>
        </p:grpSpPr>
        <p:sp>
          <p:nvSpPr>
            <p:cNvPr id="233490" name="Text Box 81"/>
            <p:cNvSpPr txBox="1">
              <a:spLocks noChangeArrowheads="1"/>
            </p:cNvSpPr>
            <p:nvPr/>
          </p:nvSpPr>
          <p:spPr bwMode="auto">
            <a:xfrm>
              <a:off x="3328" y="1242"/>
              <a:ext cx="244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DD</a:t>
              </a:r>
              <a:endParaRPr lang="en-US" altLang="zh-CN" sz="16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3491" name="Freeform 82"/>
            <p:cNvSpPr/>
            <p:nvPr/>
          </p:nvSpPr>
          <p:spPr bwMode="auto">
            <a:xfrm>
              <a:off x="2769" y="1224"/>
              <a:ext cx="402" cy="648"/>
            </a:xfrm>
            <a:custGeom>
              <a:avLst/>
              <a:gdLst>
                <a:gd name="T0" fmla="*/ 0 w 402"/>
                <a:gd name="T1" fmla="*/ 648 h 648"/>
                <a:gd name="T2" fmla="*/ 0 w 402"/>
                <a:gd name="T3" fmla="*/ 465 h 648"/>
                <a:gd name="T4" fmla="*/ 402 w 402"/>
                <a:gd name="T5" fmla="*/ 465 h 648"/>
                <a:gd name="T6" fmla="*/ 402 w 402"/>
                <a:gd name="T7" fmla="*/ 0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2" h="648">
                  <a:moveTo>
                    <a:pt x="0" y="648"/>
                  </a:moveTo>
                  <a:lnTo>
                    <a:pt x="0" y="465"/>
                  </a:lnTo>
                  <a:lnTo>
                    <a:pt x="402" y="465"/>
                  </a:lnTo>
                  <a:lnTo>
                    <a:pt x="402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92" name="Text Box 83"/>
            <p:cNvSpPr txBox="1">
              <a:spLocks noChangeArrowheads="1"/>
            </p:cNvSpPr>
            <p:nvPr/>
          </p:nvSpPr>
          <p:spPr bwMode="auto">
            <a:xfrm>
              <a:off x="3155" y="1133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V</a:t>
              </a:r>
              <a:endPara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33493" name="Freeform 84"/>
          <p:cNvSpPr/>
          <p:nvPr/>
        </p:nvSpPr>
        <p:spPr bwMode="auto">
          <a:xfrm>
            <a:off x="5002784" y="2489498"/>
            <a:ext cx="333375" cy="290513"/>
          </a:xfrm>
          <a:custGeom>
            <a:avLst/>
            <a:gdLst>
              <a:gd name="T0" fmla="*/ 0 w 210"/>
              <a:gd name="T1" fmla="*/ 0 h 183"/>
              <a:gd name="T2" fmla="*/ 2147483646 w 210"/>
              <a:gd name="T3" fmla="*/ 0 h 183"/>
              <a:gd name="T4" fmla="*/ 2147483646 w 210"/>
              <a:gd name="T5" fmla="*/ 2147483646 h 18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0" h="183">
                <a:moveTo>
                  <a:pt x="0" y="0"/>
                </a:moveTo>
                <a:lnTo>
                  <a:pt x="210" y="0"/>
                </a:lnTo>
                <a:lnTo>
                  <a:pt x="210" y="183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494" name="Line 85"/>
          <p:cNvSpPr>
            <a:spLocks noChangeShapeType="1"/>
          </p:cNvSpPr>
          <p:nvPr/>
        </p:nvSpPr>
        <p:spPr bwMode="auto">
          <a:xfrm>
            <a:off x="1711896" y="2089448"/>
            <a:ext cx="19050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495" name="Group 86"/>
          <p:cNvGrpSpPr/>
          <p:nvPr/>
        </p:nvGrpSpPr>
        <p:grpSpPr bwMode="auto">
          <a:xfrm>
            <a:off x="4074096" y="2394248"/>
            <a:ext cx="77788" cy="366713"/>
            <a:chOff x="1586" y="1334"/>
            <a:chExt cx="49" cy="231"/>
          </a:xfrm>
        </p:grpSpPr>
        <p:sp>
          <p:nvSpPr>
            <p:cNvPr id="233496" name="Freeform 87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497" name="Freeform 88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498" name="Freeform 89"/>
          <p:cNvSpPr/>
          <p:nvPr/>
        </p:nvSpPr>
        <p:spPr bwMode="auto">
          <a:xfrm>
            <a:off x="4150296" y="2484736"/>
            <a:ext cx="857250" cy="1587"/>
          </a:xfrm>
          <a:custGeom>
            <a:avLst/>
            <a:gdLst>
              <a:gd name="T0" fmla="*/ 0 w 540"/>
              <a:gd name="T1" fmla="*/ 0 h 1"/>
              <a:gd name="T2" fmla="*/ 2147483646 w 540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540" h="1">
                <a:moveTo>
                  <a:pt x="0" y="0"/>
                </a:moveTo>
                <a:lnTo>
                  <a:pt x="540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none" w="med" len="med"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499" name="Group 90"/>
          <p:cNvGrpSpPr/>
          <p:nvPr/>
        </p:nvGrpSpPr>
        <p:grpSpPr bwMode="auto">
          <a:xfrm>
            <a:off x="4074096" y="3170536"/>
            <a:ext cx="77788" cy="366712"/>
            <a:chOff x="1586" y="1334"/>
            <a:chExt cx="49" cy="231"/>
          </a:xfrm>
        </p:grpSpPr>
        <p:sp>
          <p:nvSpPr>
            <p:cNvPr id="233500" name="Freeform 91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501" name="Freeform 92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02" name="Freeform 93"/>
          <p:cNvSpPr/>
          <p:nvPr/>
        </p:nvSpPr>
        <p:spPr bwMode="auto">
          <a:xfrm>
            <a:off x="4145534" y="2656186"/>
            <a:ext cx="457200" cy="627062"/>
          </a:xfrm>
          <a:custGeom>
            <a:avLst/>
            <a:gdLst>
              <a:gd name="T0" fmla="*/ 0 w 288"/>
              <a:gd name="T1" fmla="*/ 2147483646 h 395"/>
              <a:gd name="T2" fmla="*/ 2147483646 w 288"/>
              <a:gd name="T3" fmla="*/ 0 h 395"/>
              <a:gd name="T4" fmla="*/ 2147483646 w 288"/>
              <a:gd name="T5" fmla="*/ 2147483646 h 395"/>
              <a:gd name="T6" fmla="*/ 2147483646 w 288"/>
              <a:gd name="T7" fmla="*/ 2147483646 h 39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88" h="395">
                <a:moveTo>
                  <a:pt x="0" y="2"/>
                </a:moveTo>
                <a:lnTo>
                  <a:pt x="288" y="0"/>
                </a:lnTo>
                <a:lnTo>
                  <a:pt x="287" y="395"/>
                </a:lnTo>
                <a:lnTo>
                  <a:pt x="6" y="395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03" name="Freeform 94"/>
          <p:cNvSpPr/>
          <p:nvPr/>
        </p:nvSpPr>
        <p:spPr bwMode="auto">
          <a:xfrm>
            <a:off x="4145534" y="3440411"/>
            <a:ext cx="461962" cy="401637"/>
          </a:xfrm>
          <a:custGeom>
            <a:avLst/>
            <a:gdLst>
              <a:gd name="T0" fmla="*/ 0 w 291"/>
              <a:gd name="T1" fmla="*/ 0 h 253"/>
              <a:gd name="T2" fmla="*/ 2147483646 w 291"/>
              <a:gd name="T3" fmla="*/ 0 h 253"/>
              <a:gd name="T4" fmla="*/ 2147483646 w 291"/>
              <a:gd name="T5" fmla="*/ 2147483646 h 2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1" h="253">
                <a:moveTo>
                  <a:pt x="0" y="0"/>
                </a:moveTo>
                <a:lnTo>
                  <a:pt x="290" y="0"/>
                </a:lnTo>
                <a:lnTo>
                  <a:pt x="291" y="253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04" name="Line 95"/>
          <p:cNvSpPr>
            <a:spLocks noChangeShapeType="1"/>
          </p:cNvSpPr>
          <p:nvPr/>
        </p:nvSpPr>
        <p:spPr bwMode="auto">
          <a:xfrm>
            <a:off x="4455096" y="3842048"/>
            <a:ext cx="3048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505" name="Group 96"/>
          <p:cNvGrpSpPr/>
          <p:nvPr/>
        </p:nvGrpSpPr>
        <p:grpSpPr bwMode="auto">
          <a:xfrm>
            <a:off x="3769296" y="3567411"/>
            <a:ext cx="533400" cy="579437"/>
            <a:chOff x="1680" y="2371"/>
            <a:chExt cx="336" cy="365"/>
          </a:xfrm>
        </p:grpSpPr>
        <p:sp>
          <p:nvSpPr>
            <p:cNvPr id="233506" name="Rectangle 97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3507" name="Text Box 98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3508" name="Group 99"/>
          <p:cNvGrpSpPr/>
          <p:nvPr/>
        </p:nvGrpSpPr>
        <p:grpSpPr bwMode="auto">
          <a:xfrm>
            <a:off x="3769296" y="3567411"/>
            <a:ext cx="533400" cy="579437"/>
            <a:chOff x="1680" y="2371"/>
            <a:chExt cx="336" cy="365"/>
          </a:xfrm>
        </p:grpSpPr>
        <p:sp>
          <p:nvSpPr>
            <p:cNvPr id="233509" name="Rectangle 100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3510" name="Text Box 101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3511" name="Group 102"/>
          <p:cNvGrpSpPr/>
          <p:nvPr/>
        </p:nvGrpSpPr>
        <p:grpSpPr bwMode="auto">
          <a:xfrm>
            <a:off x="7807896" y="3537248"/>
            <a:ext cx="533400" cy="579438"/>
            <a:chOff x="1680" y="2371"/>
            <a:chExt cx="336" cy="365"/>
          </a:xfrm>
        </p:grpSpPr>
        <p:sp>
          <p:nvSpPr>
            <p:cNvPr id="233512" name="Rectangle 103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3513" name="Text Box 104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3514" name="Group 105"/>
          <p:cNvGrpSpPr/>
          <p:nvPr/>
        </p:nvGrpSpPr>
        <p:grpSpPr bwMode="auto">
          <a:xfrm>
            <a:off x="7807896" y="3537248"/>
            <a:ext cx="533400" cy="579438"/>
            <a:chOff x="1680" y="2371"/>
            <a:chExt cx="336" cy="365"/>
          </a:xfrm>
        </p:grpSpPr>
        <p:sp>
          <p:nvSpPr>
            <p:cNvPr id="233515" name="Rectangle 106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3516" name="Text Box 107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3517" name="Group 108"/>
          <p:cNvGrpSpPr/>
          <p:nvPr/>
        </p:nvGrpSpPr>
        <p:grpSpPr bwMode="auto">
          <a:xfrm>
            <a:off x="7350696" y="1784648"/>
            <a:ext cx="738188" cy="2819400"/>
            <a:chOff x="3936" y="1248"/>
            <a:chExt cx="465" cy="1776"/>
          </a:xfrm>
        </p:grpSpPr>
        <p:sp>
          <p:nvSpPr>
            <p:cNvPr id="233518" name="Line 109"/>
            <p:cNvSpPr>
              <a:spLocks noChangeShapeType="1"/>
            </p:cNvSpPr>
            <p:nvPr/>
          </p:nvSpPr>
          <p:spPr bwMode="auto">
            <a:xfrm>
              <a:off x="3936" y="1248"/>
              <a:ext cx="0" cy="1776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519" name="Freeform 110"/>
            <p:cNvSpPr/>
            <p:nvPr/>
          </p:nvSpPr>
          <p:spPr bwMode="auto">
            <a:xfrm rot="10800000">
              <a:off x="3936" y="2112"/>
              <a:ext cx="465" cy="1"/>
            </a:xfrm>
            <a:custGeom>
              <a:avLst/>
              <a:gdLst>
                <a:gd name="T0" fmla="*/ 465 w 465"/>
                <a:gd name="T1" fmla="*/ 0 h 1"/>
                <a:gd name="T2" fmla="*/ 0 w 46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5" h="1">
                  <a:moveTo>
                    <a:pt x="465" y="0"/>
                  </a:moveTo>
                  <a:lnTo>
                    <a:pt x="0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33520" name="Group 111"/>
          <p:cNvGrpSpPr/>
          <p:nvPr/>
        </p:nvGrpSpPr>
        <p:grpSpPr bwMode="auto">
          <a:xfrm>
            <a:off x="8082534" y="2984798"/>
            <a:ext cx="77787" cy="366713"/>
            <a:chOff x="1586" y="1334"/>
            <a:chExt cx="49" cy="231"/>
          </a:xfrm>
        </p:grpSpPr>
        <p:sp>
          <p:nvSpPr>
            <p:cNvPr id="233522" name="Freeform 112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523" name="Freeform 113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24" name="Freeform 114"/>
          <p:cNvSpPr/>
          <p:nvPr/>
        </p:nvSpPr>
        <p:spPr bwMode="auto">
          <a:xfrm>
            <a:off x="8174609" y="3237211"/>
            <a:ext cx="542925" cy="523875"/>
          </a:xfrm>
          <a:custGeom>
            <a:avLst/>
            <a:gdLst>
              <a:gd name="T0" fmla="*/ 0 w 342"/>
              <a:gd name="T1" fmla="*/ 0 h 330"/>
              <a:gd name="T2" fmla="*/ 2147483646 w 342"/>
              <a:gd name="T3" fmla="*/ 0 h 330"/>
              <a:gd name="T4" fmla="*/ 2147483646 w 342"/>
              <a:gd name="T5" fmla="*/ 2147483646 h 3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42" h="330">
                <a:moveTo>
                  <a:pt x="0" y="0"/>
                </a:moveTo>
                <a:lnTo>
                  <a:pt x="342" y="0"/>
                </a:lnTo>
                <a:lnTo>
                  <a:pt x="342" y="33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525" name="Group 115"/>
          <p:cNvGrpSpPr/>
          <p:nvPr/>
        </p:nvGrpSpPr>
        <p:grpSpPr bwMode="auto">
          <a:xfrm>
            <a:off x="8493696" y="3765848"/>
            <a:ext cx="447675" cy="152400"/>
            <a:chOff x="4656" y="2496"/>
            <a:chExt cx="282" cy="96"/>
          </a:xfrm>
        </p:grpSpPr>
        <p:sp>
          <p:nvSpPr>
            <p:cNvPr id="233527" name="Freeform 116"/>
            <p:cNvSpPr/>
            <p:nvPr/>
          </p:nvSpPr>
          <p:spPr bwMode="auto">
            <a:xfrm>
              <a:off x="4656" y="2496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531" name="Freeform 117"/>
            <p:cNvSpPr/>
            <p:nvPr/>
          </p:nvSpPr>
          <p:spPr bwMode="auto">
            <a:xfrm>
              <a:off x="4656" y="2591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32" name="Line 118"/>
          <p:cNvSpPr>
            <a:spLocks noChangeShapeType="1"/>
          </p:cNvSpPr>
          <p:nvPr/>
        </p:nvSpPr>
        <p:spPr bwMode="auto">
          <a:xfrm>
            <a:off x="8722296" y="3918248"/>
            <a:ext cx="0" cy="53340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33" name="Line 119"/>
          <p:cNvSpPr>
            <a:spLocks noChangeShapeType="1"/>
          </p:cNvSpPr>
          <p:nvPr/>
        </p:nvSpPr>
        <p:spPr bwMode="auto">
          <a:xfrm>
            <a:off x="8569896" y="4451648"/>
            <a:ext cx="3048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34" name="Line 120"/>
          <p:cNvSpPr>
            <a:spLocks noChangeShapeType="1"/>
          </p:cNvSpPr>
          <p:nvPr/>
        </p:nvSpPr>
        <p:spPr bwMode="auto">
          <a:xfrm>
            <a:off x="7045896" y="2241848"/>
            <a:ext cx="25908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35" name="Freeform 121"/>
          <p:cNvSpPr/>
          <p:nvPr/>
        </p:nvSpPr>
        <p:spPr bwMode="auto">
          <a:xfrm>
            <a:off x="8165084" y="2241848"/>
            <a:ext cx="557212" cy="857250"/>
          </a:xfrm>
          <a:custGeom>
            <a:avLst/>
            <a:gdLst>
              <a:gd name="T0" fmla="*/ 2147483646 w 351"/>
              <a:gd name="T1" fmla="*/ 0 h 540"/>
              <a:gd name="T2" fmla="*/ 2147483646 w 351"/>
              <a:gd name="T3" fmla="*/ 2147483646 h 540"/>
              <a:gd name="T4" fmla="*/ 0 w 351"/>
              <a:gd name="T5" fmla="*/ 2147483646 h 5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1" h="540">
                <a:moveTo>
                  <a:pt x="351" y="0"/>
                </a:moveTo>
                <a:lnTo>
                  <a:pt x="351" y="540"/>
                </a:lnTo>
                <a:lnTo>
                  <a:pt x="0" y="54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536" name="Group 122"/>
          <p:cNvGrpSpPr/>
          <p:nvPr/>
        </p:nvGrpSpPr>
        <p:grpSpPr bwMode="auto">
          <a:xfrm>
            <a:off x="5140896" y="3556298"/>
            <a:ext cx="533400" cy="590550"/>
            <a:chOff x="3168" y="2352"/>
            <a:chExt cx="336" cy="384"/>
          </a:xfrm>
        </p:grpSpPr>
        <p:sp>
          <p:nvSpPr>
            <p:cNvPr id="233537" name="Rectangle 123"/>
            <p:cNvSpPr>
              <a:spLocks noChangeArrowheads="1"/>
            </p:cNvSpPr>
            <p:nvPr/>
          </p:nvSpPr>
          <p:spPr bwMode="auto">
            <a:xfrm>
              <a:off x="3168" y="2383"/>
              <a:ext cx="336" cy="3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3538" name="Text Box 124"/>
            <p:cNvSpPr txBox="1">
              <a:spLocks noChangeArrowheads="1"/>
            </p:cNvSpPr>
            <p:nvPr/>
          </p:nvSpPr>
          <p:spPr bwMode="auto">
            <a:xfrm>
              <a:off x="3216" y="2352"/>
              <a:ext cx="244" cy="3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bg1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3200">
                <a:solidFill>
                  <a:schemeClr val="bg1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33539" name="Freeform 125"/>
          <p:cNvSpPr/>
          <p:nvPr/>
        </p:nvSpPr>
        <p:spPr bwMode="auto">
          <a:xfrm>
            <a:off x="4988496" y="2470448"/>
            <a:ext cx="1588" cy="2528888"/>
          </a:xfrm>
          <a:custGeom>
            <a:avLst/>
            <a:gdLst>
              <a:gd name="T0" fmla="*/ 0 w 1"/>
              <a:gd name="T1" fmla="*/ 0 h 1593"/>
              <a:gd name="T2" fmla="*/ 0 w 1"/>
              <a:gd name="T3" fmla="*/ 2147483646 h 159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" h="1593">
                <a:moveTo>
                  <a:pt x="0" y="0"/>
                </a:moveTo>
                <a:lnTo>
                  <a:pt x="0" y="1593"/>
                </a:lnTo>
              </a:path>
            </a:pathLst>
          </a:custGeom>
          <a:noFill/>
          <a:ln w="76200">
            <a:solidFill>
              <a:srgbClr val="C28F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540" name="Group 126"/>
          <p:cNvGrpSpPr/>
          <p:nvPr/>
        </p:nvGrpSpPr>
        <p:grpSpPr bwMode="auto">
          <a:xfrm>
            <a:off x="5140896" y="3564236"/>
            <a:ext cx="533400" cy="579437"/>
            <a:chOff x="1680" y="2371"/>
            <a:chExt cx="336" cy="365"/>
          </a:xfrm>
        </p:grpSpPr>
        <p:sp>
          <p:nvSpPr>
            <p:cNvPr id="233541" name="Rectangle 127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B89928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3542" name="Text Box 128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B89928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33543" name="Line 129"/>
          <p:cNvSpPr>
            <a:spLocks noChangeShapeType="1"/>
          </p:cNvSpPr>
          <p:nvPr/>
        </p:nvSpPr>
        <p:spPr bwMode="auto">
          <a:xfrm flipV="1">
            <a:off x="4988496" y="1784648"/>
            <a:ext cx="0" cy="68580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233544" name="Group 130"/>
          <p:cNvGrpSpPr/>
          <p:nvPr/>
        </p:nvGrpSpPr>
        <p:grpSpPr bwMode="auto">
          <a:xfrm>
            <a:off x="3616896" y="2076748"/>
            <a:ext cx="2057400" cy="488950"/>
            <a:chOff x="1584" y="1536"/>
            <a:chExt cx="1296" cy="212"/>
          </a:xfrm>
        </p:grpSpPr>
        <p:sp>
          <p:nvSpPr>
            <p:cNvPr id="233545" name="Freeform 131"/>
            <p:cNvSpPr/>
            <p:nvPr/>
          </p:nvSpPr>
          <p:spPr bwMode="auto">
            <a:xfrm>
              <a:off x="1584" y="1536"/>
              <a:ext cx="291" cy="212"/>
            </a:xfrm>
            <a:custGeom>
              <a:avLst/>
              <a:gdLst>
                <a:gd name="T0" fmla="*/ 0 w 291"/>
                <a:gd name="T1" fmla="*/ 0 h 212"/>
                <a:gd name="T2" fmla="*/ 0 w 291"/>
                <a:gd name="T3" fmla="*/ 212 h 212"/>
                <a:gd name="T4" fmla="*/ 291 w 291"/>
                <a:gd name="T5" fmla="*/ 212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212">
                  <a:moveTo>
                    <a:pt x="0" y="0"/>
                  </a:moveTo>
                  <a:lnTo>
                    <a:pt x="0" y="212"/>
                  </a:lnTo>
                  <a:lnTo>
                    <a:pt x="291" y="212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3546" name="Line 132"/>
            <p:cNvSpPr>
              <a:spLocks noChangeShapeType="1"/>
            </p:cNvSpPr>
            <p:nvPr/>
          </p:nvSpPr>
          <p:spPr bwMode="auto">
            <a:xfrm>
              <a:off x="1584" y="1536"/>
              <a:ext cx="1296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3547" name="Rectangle 133"/>
          <p:cNvSpPr>
            <a:spLocks noChangeArrowheads="1"/>
          </p:cNvSpPr>
          <p:nvPr/>
        </p:nvSpPr>
        <p:spPr bwMode="auto">
          <a:xfrm>
            <a:off x="1635696" y="5956598"/>
            <a:ext cx="3581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r>
              <a:rPr lang="zh-CN" altLang="en-US" sz="2400">
                <a:latin typeface="Times New Roman" panose="02020603050405020304" pitchFamily="18" charset="0"/>
              </a:rPr>
              <a:t>写入与输入信息相同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233549" name="Text Box 134"/>
          <p:cNvSpPr txBox="1">
            <a:spLocks noChangeArrowheads="1"/>
          </p:cNvSpPr>
          <p:nvPr/>
        </p:nvSpPr>
        <p:spPr bwMode="auto">
          <a:xfrm>
            <a:off x="5369496" y="5956598"/>
            <a:ext cx="487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写入时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S </a:t>
            </a:r>
            <a:r>
              <a:rPr lang="zh-CN" altLang="en-US" sz="2400">
                <a:latin typeface="Times New Roman" panose="02020603050405020304" pitchFamily="18" charset="0"/>
              </a:rPr>
              <a:t>充电 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“1” </a:t>
            </a:r>
            <a:r>
              <a:rPr lang="zh-CN" altLang="en-US" sz="2400">
                <a:latin typeface="Times New Roman" panose="02020603050405020304" pitchFamily="18" charset="0"/>
              </a:rPr>
              <a:t>放电 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“0”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33550" name="Group 135"/>
          <p:cNvGrpSpPr/>
          <p:nvPr/>
        </p:nvGrpSpPr>
        <p:grpSpPr bwMode="auto">
          <a:xfrm>
            <a:off x="4186809" y="1784648"/>
            <a:ext cx="839787" cy="703263"/>
            <a:chOff x="1943" y="1248"/>
            <a:chExt cx="529" cy="443"/>
          </a:xfrm>
        </p:grpSpPr>
        <p:sp>
          <p:nvSpPr>
            <p:cNvPr id="233553" name="Line 136"/>
            <p:cNvSpPr>
              <a:spLocks noChangeShapeType="1"/>
            </p:cNvSpPr>
            <p:nvPr/>
          </p:nvSpPr>
          <p:spPr bwMode="auto">
            <a:xfrm flipV="1">
              <a:off x="2448" y="1248"/>
              <a:ext cx="0" cy="432"/>
            </a:xfrm>
            <a:prstGeom prst="line">
              <a:avLst/>
            </a:prstGeom>
            <a:noFill/>
            <a:ln w="76200">
              <a:solidFill>
                <a:srgbClr val="C28F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33554" name="Freeform 137"/>
            <p:cNvSpPr/>
            <p:nvPr/>
          </p:nvSpPr>
          <p:spPr bwMode="auto">
            <a:xfrm>
              <a:off x="1943" y="1689"/>
              <a:ext cx="529" cy="2"/>
            </a:xfrm>
            <a:custGeom>
              <a:avLst/>
              <a:gdLst>
                <a:gd name="T0" fmla="*/ 0 w 529"/>
                <a:gd name="T1" fmla="*/ 2 h 2"/>
                <a:gd name="T2" fmla="*/ 529 w 52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9" h="2">
                  <a:moveTo>
                    <a:pt x="0" y="2"/>
                  </a:moveTo>
                  <a:lnTo>
                    <a:pt x="529" y="0"/>
                  </a:lnTo>
                </a:path>
              </a:pathLst>
            </a:custGeom>
            <a:noFill/>
            <a:ln w="76200" cmpd="sng">
              <a:solidFill>
                <a:srgbClr val="C28F00"/>
              </a:solidFill>
              <a:round/>
              <a:headEnd type="none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55" name="Freeform 138"/>
          <p:cNvSpPr/>
          <p:nvPr/>
        </p:nvSpPr>
        <p:spPr bwMode="auto">
          <a:xfrm>
            <a:off x="4186809" y="2656186"/>
            <a:ext cx="411162" cy="627062"/>
          </a:xfrm>
          <a:custGeom>
            <a:avLst/>
            <a:gdLst>
              <a:gd name="T0" fmla="*/ 0 w 259"/>
              <a:gd name="T1" fmla="*/ 2147483646 h 395"/>
              <a:gd name="T2" fmla="*/ 2147483646 w 259"/>
              <a:gd name="T3" fmla="*/ 0 h 395"/>
              <a:gd name="T4" fmla="*/ 2147483646 w 259"/>
              <a:gd name="T5" fmla="*/ 2147483646 h 395"/>
              <a:gd name="T6" fmla="*/ 2147483646 w 259"/>
              <a:gd name="T7" fmla="*/ 2147483646 h 39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9" h="395">
                <a:moveTo>
                  <a:pt x="0" y="2"/>
                </a:moveTo>
                <a:lnTo>
                  <a:pt x="259" y="0"/>
                </a:lnTo>
                <a:lnTo>
                  <a:pt x="258" y="395"/>
                </a:lnTo>
                <a:lnTo>
                  <a:pt x="3" y="393"/>
                </a:lnTo>
              </a:path>
            </a:pathLst>
          </a:custGeom>
          <a:noFill/>
          <a:ln w="76200" cmpd="sng">
            <a:solidFill>
              <a:srgbClr val="C28F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59" name="Freeform 139"/>
          <p:cNvSpPr/>
          <p:nvPr/>
        </p:nvSpPr>
        <p:spPr bwMode="auto">
          <a:xfrm>
            <a:off x="4188396" y="3437236"/>
            <a:ext cx="419100" cy="404812"/>
          </a:xfrm>
          <a:custGeom>
            <a:avLst/>
            <a:gdLst>
              <a:gd name="T0" fmla="*/ 0 w 264"/>
              <a:gd name="T1" fmla="*/ 0 h 255"/>
              <a:gd name="T2" fmla="*/ 2147483646 w 264"/>
              <a:gd name="T3" fmla="*/ 2147483646 h 255"/>
              <a:gd name="T4" fmla="*/ 2147483646 w 264"/>
              <a:gd name="T5" fmla="*/ 2147483646 h 25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4" h="255">
                <a:moveTo>
                  <a:pt x="0" y="0"/>
                </a:moveTo>
                <a:lnTo>
                  <a:pt x="263" y="2"/>
                </a:lnTo>
                <a:lnTo>
                  <a:pt x="264" y="255"/>
                </a:lnTo>
              </a:path>
            </a:pathLst>
          </a:custGeom>
          <a:noFill/>
          <a:ln w="76200" cmpd="sng">
            <a:solidFill>
              <a:srgbClr val="C28F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60" name="Line 140"/>
          <p:cNvSpPr>
            <a:spLocks noChangeShapeType="1"/>
          </p:cNvSpPr>
          <p:nvPr/>
        </p:nvSpPr>
        <p:spPr bwMode="auto">
          <a:xfrm>
            <a:off x="4455096" y="3842048"/>
            <a:ext cx="304800" cy="0"/>
          </a:xfrm>
          <a:prstGeom prst="line">
            <a:avLst/>
          </a:prstGeom>
          <a:noFill/>
          <a:ln w="76200">
            <a:solidFill>
              <a:srgbClr val="C28F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3564" name="Group 142"/>
          <p:cNvGrpSpPr/>
          <p:nvPr/>
        </p:nvGrpSpPr>
        <p:grpSpPr bwMode="auto">
          <a:xfrm>
            <a:off x="2418334" y="2149773"/>
            <a:ext cx="1711325" cy="1711325"/>
            <a:chOff x="829" y="1478"/>
            <a:chExt cx="1078" cy="1078"/>
          </a:xfrm>
        </p:grpSpPr>
        <p:sp>
          <p:nvSpPr>
            <p:cNvPr id="233569" name="Text Box 143"/>
            <p:cNvSpPr txBox="1">
              <a:spLocks noChangeArrowheads="1"/>
            </p:cNvSpPr>
            <p:nvPr/>
          </p:nvSpPr>
          <p:spPr bwMode="auto">
            <a:xfrm>
              <a:off x="829" y="2306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3</a:t>
              </a:r>
              <a:endPara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3570" name="Text Box 144"/>
            <p:cNvSpPr txBox="1">
              <a:spLocks noChangeArrowheads="1"/>
            </p:cNvSpPr>
            <p:nvPr/>
          </p:nvSpPr>
          <p:spPr bwMode="auto">
            <a:xfrm>
              <a:off x="1632" y="1478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endPara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3572" name="Text Box 145"/>
            <p:cNvSpPr txBox="1">
              <a:spLocks noChangeArrowheads="1"/>
            </p:cNvSpPr>
            <p:nvPr/>
          </p:nvSpPr>
          <p:spPr bwMode="auto">
            <a:xfrm>
              <a:off x="1632" y="1968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33573" name="Text Box 146"/>
          <p:cNvSpPr txBox="1">
            <a:spLocks noChangeArrowheads="1"/>
          </p:cNvSpPr>
          <p:nvPr/>
        </p:nvSpPr>
        <p:spPr bwMode="auto">
          <a:xfrm>
            <a:off x="7782496" y="2637136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33575" name="AutoShape 147"/>
          <p:cNvSpPr>
            <a:spLocks noChangeArrowheads="1"/>
          </p:cNvSpPr>
          <p:nvPr/>
        </p:nvSpPr>
        <p:spPr bwMode="auto">
          <a:xfrm>
            <a:off x="7579296" y="1403648"/>
            <a:ext cx="1066800" cy="381000"/>
          </a:xfrm>
          <a:prstGeom prst="wedgeRoundRectCallout">
            <a:avLst>
              <a:gd name="adj1" fmla="val -50894"/>
              <a:gd name="adj2" fmla="val 16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18800" tIns="10800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2000">
                <a:latin typeface="Times New Roman" panose="02020603050405020304" pitchFamily="18" charset="0"/>
              </a:rPr>
              <a:t>无电流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  <p:sp>
        <p:nvSpPr>
          <p:cNvPr id="233576" name="AutoShape 148"/>
          <p:cNvSpPr>
            <a:spLocks noChangeArrowheads="1"/>
          </p:cNvSpPr>
          <p:nvPr/>
        </p:nvSpPr>
        <p:spPr bwMode="auto">
          <a:xfrm>
            <a:off x="7579296" y="1403648"/>
            <a:ext cx="1066800" cy="381000"/>
          </a:xfrm>
          <a:prstGeom prst="wedgeRoundRectCallout">
            <a:avLst>
              <a:gd name="adj1" fmla="val -50894"/>
              <a:gd name="adj2" fmla="val 16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18800" tIns="10800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2000">
                <a:latin typeface="Times New Roman" panose="02020603050405020304" pitchFamily="18" charset="0"/>
              </a:rPr>
              <a:t>有电流</a:t>
            </a:r>
            <a:endParaRPr lang="zh-CN" altLang="en-US" sz="20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33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33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2" dur="500"/>
                                        <p:tgtEl>
                                          <p:spTgt spid="233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233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233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6" dur="500"/>
                                        <p:tgtEl>
                                          <p:spTgt spid="233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233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" dur="500"/>
                                        <p:tgtEl>
                                          <p:spTgt spid="233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4" dur="500"/>
                                        <p:tgtEl>
                                          <p:spTgt spid="233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233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233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233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233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233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92" dur="500"/>
                                        <p:tgtEl>
                                          <p:spTgt spid="233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500"/>
                            </p:stCondLst>
                            <p:childTnLst>
                              <p:par>
                                <p:cTn id="9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6" dur="500"/>
                                        <p:tgtEl>
                                          <p:spTgt spid="233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"/>
                            </p:stCondLst>
                            <p:childTnLst>
                              <p:par>
                                <p:cTn id="9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0" dur="500"/>
                                        <p:tgtEl>
                                          <p:spTgt spid="233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500"/>
                            </p:stCondLst>
                            <p:childTnLst>
                              <p:par>
                                <p:cTn id="102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233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09" dur="500"/>
                                        <p:tgtEl>
                                          <p:spTgt spid="233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13" dur="500"/>
                                        <p:tgtEl>
                                          <p:spTgt spid="233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7" dur="500"/>
                                        <p:tgtEl>
                                          <p:spTgt spid="23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1" dur="500"/>
                                        <p:tgtEl>
                                          <p:spTgt spid="233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2000"/>
                            </p:stCondLst>
                            <p:childTnLst>
                              <p:par>
                                <p:cTn id="12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5" dur="500"/>
                                        <p:tgtEl>
                                          <p:spTgt spid="233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500"/>
                                        <p:tgtEl>
                                          <p:spTgt spid="233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0" dur="500"/>
                                        <p:tgtEl>
                                          <p:spTgt spid="233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45" dur="500"/>
                                        <p:tgtEl>
                                          <p:spTgt spid="233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500"/>
                            </p:stCondLst>
                            <p:childTnLst>
                              <p:par>
                                <p:cTn id="14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9" dur="500"/>
                                        <p:tgtEl>
                                          <p:spTgt spid="233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4" dur="500"/>
                                        <p:tgtEl>
                                          <p:spTgt spid="23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9" dur="500"/>
                                        <p:tgtEl>
                                          <p:spTgt spid="2335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3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4" dur="500"/>
                                        <p:tgtEl>
                                          <p:spTgt spid="233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9" dur="500"/>
                                        <p:tgtEl>
                                          <p:spTgt spid="233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00"/>
                            </p:stCondLst>
                            <p:childTnLst>
                              <p:par>
                                <p:cTn id="17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73" dur="500"/>
                                        <p:tgtEl>
                                          <p:spTgt spid="233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000"/>
                            </p:stCondLst>
                            <p:childTnLst>
                              <p:par>
                                <p:cTn id="17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7" dur="500"/>
                                        <p:tgtEl>
                                          <p:spTgt spid="233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82" dur="500"/>
                                        <p:tgtEl>
                                          <p:spTgt spid="233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87" dur="500"/>
                                        <p:tgtEl>
                                          <p:spTgt spid="233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00"/>
                            </p:stCondLst>
                            <p:childTnLst>
                              <p:par>
                                <p:cTn id="18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91" dur="500"/>
                                        <p:tgtEl>
                                          <p:spTgt spid="233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6" dur="500"/>
                                        <p:tgtEl>
                                          <p:spTgt spid="23357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3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6" dur="500"/>
                                        <p:tgtEl>
                                          <p:spTgt spid="233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utoUpdateAnimBg="0"/>
      <p:bldP spid="56" grpId="0" autoUpdateAnimBg="0"/>
      <p:bldP spid="57" grpId="0" autoUpdateAnimBg="0"/>
      <p:bldP spid="233547" grpId="0" autoUpdateAnimBg="0"/>
      <p:bldP spid="233549" grpId="0" autoUpdateAnimBg="0"/>
      <p:bldP spid="233573" grpId="0" autoUpdateAnimBg="0"/>
      <p:bldP spid="233575" grpId="0" animBg="1" autoUpdateAnimBg="0"/>
      <p:bldP spid="233576" grpId="0" animBg="1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498" name="Group 2"/>
          <p:cNvGrpSpPr/>
          <p:nvPr/>
        </p:nvGrpSpPr>
        <p:grpSpPr bwMode="auto">
          <a:xfrm>
            <a:off x="1524000" y="1400176"/>
            <a:ext cx="9151938" cy="5441951"/>
            <a:chOff x="0" y="882"/>
            <a:chExt cx="5765" cy="3428"/>
          </a:xfrm>
        </p:grpSpPr>
        <p:grpSp>
          <p:nvGrpSpPr>
            <p:cNvPr id="46131" name="Group 3"/>
            <p:cNvGrpSpPr/>
            <p:nvPr/>
          </p:nvGrpSpPr>
          <p:grpSpPr bwMode="auto">
            <a:xfrm>
              <a:off x="3296" y="1995"/>
              <a:ext cx="438" cy="429"/>
              <a:chOff x="3296" y="1995"/>
              <a:chExt cx="438" cy="429"/>
            </a:xfrm>
          </p:grpSpPr>
          <p:sp>
            <p:nvSpPr>
              <p:cNvPr id="46268" name="Text Box 4"/>
              <p:cNvSpPr txBox="1">
                <a:spLocks noChangeArrowheads="1"/>
              </p:cNvSpPr>
              <p:nvPr/>
            </p:nvSpPr>
            <p:spPr bwMode="auto">
              <a:xfrm>
                <a:off x="3296" y="1995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69" name="Text Box 5"/>
              <p:cNvSpPr txBox="1">
                <a:spLocks noChangeArrowheads="1"/>
              </p:cNvSpPr>
              <p:nvPr/>
            </p:nvSpPr>
            <p:spPr bwMode="auto">
              <a:xfrm>
                <a:off x="3296" y="2174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6132" name="Group 6"/>
            <p:cNvGrpSpPr/>
            <p:nvPr/>
          </p:nvGrpSpPr>
          <p:grpSpPr bwMode="auto">
            <a:xfrm>
              <a:off x="0" y="882"/>
              <a:ext cx="5765" cy="3428"/>
              <a:chOff x="0" y="882"/>
              <a:chExt cx="5765" cy="3428"/>
            </a:xfrm>
          </p:grpSpPr>
          <p:sp>
            <p:nvSpPr>
              <p:cNvPr id="46133" name="Rectangle 7"/>
              <p:cNvSpPr>
                <a:spLocks noChangeArrowheads="1"/>
              </p:cNvSpPr>
              <p:nvPr/>
            </p:nvSpPr>
            <p:spPr bwMode="auto">
              <a:xfrm>
                <a:off x="462" y="882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34" name="Freeform 8"/>
              <p:cNvSpPr/>
              <p:nvPr/>
            </p:nvSpPr>
            <p:spPr bwMode="auto">
              <a:xfrm>
                <a:off x="1155" y="1057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35" name="Rectangle 9"/>
              <p:cNvSpPr>
                <a:spLocks noChangeArrowheads="1"/>
              </p:cNvSpPr>
              <p:nvPr/>
            </p:nvSpPr>
            <p:spPr bwMode="auto">
              <a:xfrm>
                <a:off x="1615" y="1144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36" name="Freeform 10"/>
              <p:cNvSpPr/>
              <p:nvPr/>
            </p:nvSpPr>
            <p:spPr bwMode="auto">
              <a:xfrm>
                <a:off x="4351" y="1057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37" name="Freeform 11"/>
              <p:cNvSpPr/>
              <p:nvPr/>
            </p:nvSpPr>
            <p:spPr bwMode="auto">
              <a:xfrm>
                <a:off x="1155" y="1361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38" name="Freeform 12"/>
              <p:cNvSpPr/>
              <p:nvPr/>
            </p:nvSpPr>
            <p:spPr bwMode="auto">
              <a:xfrm>
                <a:off x="2727" y="1053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39" name="Freeform 13"/>
              <p:cNvSpPr/>
              <p:nvPr/>
            </p:nvSpPr>
            <p:spPr bwMode="auto">
              <a:xfrm>
                <a:off x="1791" y="1051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0" name="Freeform 14"/>
              <p:cNvSpPr/>
              <p:nvPr/>
            </p:nvSpPr>
            <p:spPr bwMode="auto">
              <a:xfrm>
                <a:off x="1788" y="1278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1" name="Freeform 15"/>
              <p:cNvSpPr/>
              <p:nvPr/>
            </p:nvSpPr>
            <p:spPr bwMode="auto">
              <a:xfrm>
                <a:off x="2736" y="1266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2" name="Line 16"/>
              <p:cNvSpPr>
                <a:spLocks noChangeShapeType="1"/>
              </p:cNvSpPr>
              <p:nvPr/>
            </p:nvSpPr>
            <p:spPr bwMode="auto">
              <a:xfrm rot="10800000">
                <a:off x="4351" y="12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3" name="Freeform 17"/>
              <p:cNvSpPr/>
              <p:nvPr/>
            </p:nvSpPr>
            <p:spPr bwMode="auto">
              <a:xfrm>
                <a:off x="1155" y="1625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4" name="Line 18"/>
              <p:cNvSpPr>
                <a:spLocks noChangeShapeType="1"/>
              </p:cNvSpPr>
              <p:nvPr/>
            </p:nvSpPr>
            <p:spPr bwMode="auto">
              <a:xfrm>
                <a:off x="4351" y="1625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5" name="Freeform 19"/>
              <p:cNvSpPr/>
              <p:nvPr/>
            </p:nvSpPr>
            <p:spPr bwMode="auto">
              <a:xfrm>
                <a:off x="1155" y="1929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6" name="Line 20"/>
              <p:cNvSpPr>
                <a:spLocks noChangeShapeType="1"/>
              </p:cNvSpPr>
              <p:nvPr/>
            </p:nvSpPr>
            <p:spPr bwMode="auto">
              <a:xfrm>
                <a:off x="2725" y="1625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7" name="Line 21"/>
              <p:cNvSpPr>
                <a:spLocks noChangeShapeType="1"/>
              </p:cNvSpPr>
              <p:nvPr/>
            </p:nvSpPr>
            <p:spPr bwMode="auto">
              <a:xfrm>
                <a:off x="1788" y="1625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8" name="Line 22"/>
              <p:cNvSpPr>
                <a:spLocks noChangeShapeType="1"/>
              </p:cNvSpPr>
              <p:nvPr/>
            </p:nvSpPr>
            <p:spPr bwMode="auto">
              <a:xfrm rot="10800000">
                <a:off x="1788" y="1844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49" name="Line 23"/>
              <p:cNvSpPr>
                <a:spLocks noChangeShapeType="1"/>
              </p:cNvSpPr>
              <p:nvPr/>
            </p:nvSpPr>
            <p:spPr bwMode="auto">
              <a:xfrm rot="10800000">
                <a:off x="2725" y="1846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0" name="Line 24"/>
              <p:cNvSpPr>
                <a:spLocks noChangeShapeType="1"/>
              </p:cNvSpPr>
              <p:nvPr/>
            </p:nvSpPr>
            <p:spPr bwMode="auto">
              <a:xfrm rot="10800000">
                <a:off x="4351" y="1846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1" name="Freeform 25"/>
              <p:cNvSpPr/>
              <p:nvPr/>
            </p:nvSpPr>
            <p:spPr bwMode="auto">
              <a:xfrm>
                <a:off x="1155" y="2498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2" name="Line 26"/>
              <p:cNvSpPr>
                <a:spLocks noChangeShapeType="1"/>
              </p:cNvSpPr>
              <p:nvPr/>
            </p:nvSpPr>
            <p:spPr bwMode="auto">
              <a:xfrm>
                <a:off x="4351" y="249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3" name="Freeform 27"/>
              <p:cNvSpPr/>
              <p:nvPr/>
            </p:nvSpPr>
            <p:spPr bwMode="auto">
              <a:xfrm>
                <a:off x="1155" y="2802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4" name="Line 28"/>
              <p:cNvSpPr>
                <a:spLocks noChangeShapeType="1"/>
              </p:cNvSpPr>
              <p:nvPr/>
            </p:nvSpPr>
            <p:spPr bwMode="auto">
              <a:xfrm>
                <a:off x="2725" y="249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5" name="Line 29"/>
              <p:cNvSpPr>
                <a:spLocks noChangeShapeType="1"/>
              </p:cNvSpPr>
              <p:nvPr/>
            </p:nvSpPr>
            <p:spPr bwMode="auto">
              <a:xfrm>
                <a:off x="1788" y="249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6" name="Line 30"/>
              <p:cNvSpPr>
                <a:spLocks noChangeShapeType="1"/>
              </p:cNvSpPr>
              <p:nvPr/>
            </p:nvSpPr>
            <p:spPr bwMode="auto">
              <a:xfrm rot="10800000">
                <a:off x="1788" y="2718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7" name="Line 31"/>
              <p:cNvSpPr>
                <a:spLocks noChangeShapeType="1"/>
              </p:cNvSpPr>
              <p:nvPr/>
            </p:nvSpPr>
            <p:spPr bwMode="auto">
              <a:xfrm rot="10800000">
                <a:off x="2725" y="272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8" name="Line 32"/>
              <p:cNvSpPr>
                <a:spLocks noChangeShapeType="1"/>
              </p:cNvSpPr>
              <p:nvPr/>
            </p:nvSpPr>
            <p:spPr bwMode="auto">
              <a:xfrm rot="10800000">
                <a:off x="4351" y="272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59" name="AutoShape 33"/>
              <p:cNvSpPr>
                <a:spLocks noChangeArrowheads="1"/>
              </p:cNvSpPr>
              <p:nvPr/>
            </p:nvSpPr>
            <p:spPr bwMode="auto">
              <a:xfrm rot="-5400000">
                <a:off x="1700" y="2850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60" name="Freeform 34"/>
              <p:cNvSpPr/>
              <p:nvPr/>
            </p:nvSpPr>
            <p:spPr bwMode="auto">
              <a:xfrm>
                <a:off x="1416" y="1214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1" name="Freeform 35"/>
              <p:cNvSpPr/>
              <p:nvPr/>
            </p:nvSpPr>
            <p:spPr bwMode="auto">
              <a:xfrm>
                <a:off x="1419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2" name="Freeform 36"/>
              <p:cNvSpPr/>
              <p:nvPr/>
            </p:nvSpPr>
            <p:spPr bwMode="auto">
              <a:xfrm>
                <a:off x="1422" y="2651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3" name="Line 37"/>
              <p:cNvSpPr>
                <a:spLocks noChangeShapeType="1"/>
              </p:cNvSpPr>
              <p:nvPr/>
            </p:nvSpPr>
            <p:spPr bwMode="auto">
              <a:xfrm>
                <a:off x="1419" y="302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4" name="Freeform 38"/>
              <p:cNvSpPr/>
              <p:nvPr/>
            </p:nvSpPr>
            <p:spPr bwMode="auto">
              <a:xfrm>
                <a:off x="3979" y="1214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5" name="Freeform 39"/>
              <p:cNvSpPr/>
              <p:nvPr/>
            </p:nvSpPr>
            <p:spPr bwMode="auto">
              <a:xfrm>
                <a:off x="3982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6" name="Freeform 40"/>
              <p:cNvSpPr/>
              <p:nvPr/>
            </p:nvSpPr>
            <p:spPr bwMode="auto">
              <a:xfrm>
                <a:off x="3985" y="2651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7" name="Line 41"/>
              <p:cNvSpPr>
                <a:spLocks noChangeShapeType="1"/>
              </p:cNvSpPr>
              <p:nvPr/>
            </p:nvSpPr>
            <p:spPr bwMode="auto">
              <a:xfrm>
                <a:off x="3982" y="302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8" name="Freeform 42"/>
              <p:cNvSpPr/>
              <p:nvPr/>
            </p:nvSpPr>
            <p:spPr bwMode="auto">
              <a:xfrm>
                <a:off x="2347" y="1214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69" name="Freeform 43"/>
              <p:cNvSpPr/>
              <p:nvPr/>
            </p:nvSpPr>
            <p:spPr bwMode="auto">
              <a:xfrm>
                <a:off x="2350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0" name="Freeform 44"/>
              <p:cNvSpPr/>
              <p:nvPr/>
            </p:nvSpPr>
            <p:spPr bwMode="auto">
              <a:xfrm>
                <a:off x="2353" y="2651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1" name="Line 45"/>
              <p:cNvSpPr>
                <a:spLocks noChangeShapeType="1"/>
              </p:cNvSpPr>
              <p:nvPr/>
            </p:nvSpPr>
            <p:spPr bwMode="auto">
              <a:xfrm>
                <a:off x="2350" y="302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2" name="Freeform 46"/>
              <p:cNvSpPr/>
              <p:nvPr/>
            </p:nvSpPr>
            <p:spPr bwMode="auto">
              <a:xfrm>
                <a:off x="1964" y="1201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3" name="Freeform 47"/>
              <p:cNvSpPr/>
              <p:nvPr/>
            </p:nvSpPr>
            <p:spPr bwMode="auto">
              <a:xfrm rot="10800000">
                <a:off x="1959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4" name="Freeform 48"/>
              <p:cNvSpPr/>
              <p:nvPr/>
            </p:nvSpPr>
            <p:spPr bwMode="auto">
              <a:xfrm rot="10800000">
                <a:off x="1959" y="265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5" name="Freeform 49"/>
              <p:cNvSpPr/>
              <p:nvPr/>
            </p:nvSpPr>
            <p:spPr bwMode="auto">
              <a:xfrm>
                <a:off x="1958" y="3023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6" name="Freeform 50"/>
              <p:cNvSpPr/>
              <p:nvPr/>
            </p:nvSpPr>
            <p:spPr bwMode="auto">
              <a:xfrm>
                <a:off x="2893" y="1201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7" name="Freeform 51"/>
              <p:cNvSpPr/>
              <p:nvPr/>
            </p:nvSpPr>
            <p:spPr bwMode="auto">
              <a:xfrm rot="10800000">
                <a:off x="2890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8" name="Freeform 52"/>
              <p:cNvSpPr/>
              <p:nvPr/>
            </p:nvSpPr>
            <p:spPr bwMode="auto">
              <a:xfrm rot="10800000">
                <a:off x="2890" y="265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79" name="Freeform 53"/>
              <p:cNvSpPr/>
              <p:nvPr/>
            </p:nvSpPr>
            <p:spPr bwMode="auto">
              <a:xfrm>
                <a:off x="2895" y="3023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80" name="Freeform 54"/>
              <p:cNvSpPr/>
              <p:nvPr/>
            </p:nvSpPr>
            <p:spPr bwMode="auto">
              <a:xfrm>
                <a:off x="4531" y="1201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81" name="Freeform 55"/>
              <p:cNvSpPr/>
              <p:nvPr/>
            </p:nvSpPr>
            <p:spPr bwMode="auto">
              <a:xfrm rot="10800000">
                <a:off x="4528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82" name="Freeform 56"/>
              <p:cNvSpPr/>
              <p:nvPr/>
            </p:nvSpPr>
            <p:spPr bwMode="auto">
              <a:xfrm rot="10800000">
                <a:off x="4528" y="265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83" name="Freeform 57"/>
              <p:cNvSpPr/>
              <p:nvPr/>
            </p:nvSpPr>
            <p:spPr bwMode="auto">
              <a:xfrm rot="10800000">
                <a:off x="4524" y="302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84" name="Rectangle 58"/>
              <p:cNvSpPr>
                <a:spLocks noChangeArrowheads="1"/>
              </p:cNvSpPr>
              <p:nvPr/>
            </p:nvSpPr>
            <p:spPr bwMode="auto">
              <a:xfrm>
                <a:off x="1204" y="3242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tIns="3600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85" name="Rectangle 59"/>
              <p:cNvSpPr>
                <a:spLocks noChangeArrowheads="1"/>
              </p:cNvSpPr>
              <p:nvPr/>
            </p:nvSpPr>
            <p:spPr bwMode="auto">
              <a:xfrm>
                <a:off x="1204" y="3722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86" name="Text Box 60"/>
              <p:cNvSpPr txBox="1">
                <a:spLocks noChangeArrowheads="1"/>
              </p:cNvSpPr>
              <p:nvPr/>
            </p:nvSpPr>
            <p:spPr bwMode="auto">
              <a:xfrm rot="5400000">
                <a:off x="1689" y="203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87" name="Text Box 61"/>
              <p:cNvSpPr txBox="1">
                <a:spLocks noChangeArrowheads="1"/>
              </p:cNvSpPr>
              <p:nvPr/>
            </p:nvSpPr>
            <p:spPr bwMode="auto">
              <a:xfrm rot="5400000">
                <a:off x="2620" y="203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88" name="Text Box 62"/>
              <p:cNvSpPr txBox="1">
                <a:spLocks noChangeArrowheads="1"/>
              </p:cNvSpPr>
              <p:nvPr/>
            </p:nvSpPr>
            <p:spPr bwMode="auto">
              <a:xfrm rot="5400000">
                <a:off x="4252" y="203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89" name="Rectangle 63"/>
              <p:cNvSpPr>
                <a:spLocks noChangeArrowheads="1"/>
              </p:cNvSpPr>
              <p:nvPr/>
            </p:nvSpPr>
            <p:spPr bwMode="auto">
              <a:xfrm>
                <a:off x="1615" y="1709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0" name="Rectangle 64"/>
              <p:cNvSpPr>
                <a:spLocks noChangeArrowheads="1"/>
              </p:cNvSpPr>
              <p:nvPr/>
            </p:nvSpPr>
            <p:spPr bwMode="auto">
              <a:xfrm>
                <a:off x="1615" y="258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1" name="Rectangle 65"/>
              <p:cNvSpPr>
                <a:spLocks noChangeArrowheads="1"/>
              </p:cNvSpPr>
              <p:nvPr/>
            </p:nvSpPr>
            <p:spPr bwMode="auto">
              <a:xfrm>
                <a:off x="2546" y="1144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2" name="Rectangle 66"/>
              <p:cNvSpPr>
                <a:spLocks noChangeArrowheads="1"/>
              </p:cNvSpPr>
              <p:nvPr/>
            </p:nvSpPr>
            <p:spPr bwMode="auto">
              <a:xfrm>
                <a:off x="2546" y="1709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3" name="Rectangle 67"/>
              <p:cNvSpPr>
                <a:spLocks noChangeArrowheads="1"/>
              </p:cNvSpPr>
              <p:nvPr/>
            </p:nvSpPr>
            <p:spPr bwMode="auto">
              <a:xfrm>
                <a:off x="2546" y="258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4" name="Rectangle 68"/>
              <p:cNvSpPr>
                <a:spLocks noChangeArrowheads="1"/>
              </p:cNvSpPr>
              <p:nvPr/>
            </p:nvSpPr>
            <p:spPr bwMode="auto">
              <a:xfrm>
                <a:off x="4178" y="1144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5" name="Rectangle 69"/>
              <p:cNvSpPr>
                <a:spLocks noChangeArrowheads="1"/>
              </p:cNvSpPr>
              <p:nvPr/>
            </p:nvSpPr>
            <p:spPr bwMode="auto">
              <a:xfrm>
                <a:off x="4178" y="1709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6" name="Rectangle 70"/>
              <p:cNvSpPr>
                <a:spLocks noChangeArrowheads="1"/>
              </p:cNvSpPr>
              <p:nvPr/>
            </p:nvSpPr>
            <p:spPr bwMode="auto">
              <a:xfrm>
                <a:off x="4178" y="258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7" name="AutoShape 71"/>
              <p:cNvSpPr>
                <a:spLocks noChangeArrowheads="1"/>
              </p:cNvSpPr>
              <p:nvPr/>
            </p:nvSpPr>
            <p:spPr bwMode="auto">
              <a:xfrm rot="-5400000">
                <a:off x="2631" y="2850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8" name="AutoShape 72"/>
              <p:cNvSpPr>
                <a:spLocks noChangeArrowheads="1"/>
              </p:cNvSpPr>
              <p:nvPr/>
            </p:nvSpPr>
            <p:spPr bwMode="auto">
              <a:xfrm rot="-5400000">
                <a:off x="4263" y="2850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99" name="Text Box 73"/>
              <p:cNvSpPr txBox="1">
                <a:spLocks noChangeArrowheads="1"/>
              </p:cNvSpPr>
              <p:nvPr/>
            </p:nvSpPr>
            <p:spPr bwMode="auto">
              <a:xfrm>
                <a:off x="4796" y="92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0" name="Text Box 74"/>
              <p:cNvSpPr txBox="1">
                <a:spLocks noChangeArrowheads="1"/>
              </p:cNvSpPr>
              <p:nvPr/>
            </p:nvSpPr>
            <p:spPr bwMode="auto">
              <a:xfrm>
                <a:off x="4806" y="121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1" name="Line 75"/>
              <p:cNvSpPr>
                <a:spLocks noChangeShapeType="1"/>
              </p:cNvSpPr>
              <p:nvPr/>
            </p:nvSpPr>
            <p:spPr bwMode="auto">
              <a:xfrm>
                <a:off x="4817" y="3372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02" name="Text Box 76"/>
              <p:cNvSpPr txBox="1">
                <a:spLocks noChangeArrowheads="1"/>
              </p:cNvSpPr>
              <p:nvPr/>
            </p:nvSpPr>
            <p:spPr bwMode="auto">
              <a:xfrm>
                <a:off x="4906" y="3090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3" name="Text Box 77"/>
              <p:cNvSpPr txBox="1">
                <a:spLocks noChangeArrowheads="1"/>
              </p:cNvSpPr>
              <p:nvPr/>
            </p:nvSpPr>
            <p:spPr bwMode="auto">
              <a:xfrm>
                <a:off x="503" y="1002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4" name="Text Box 78"/>
              <p:cNvSpPr txBox="1">
                <a:spLocks noChangeArrowheads="1"/>
              </p:cNvSpPr>
              <p:nvPr/>
            </p:nvSpPr>
            <p:spPr bwMode="auto">
              <a:xfrm>
                <a:off x="907" y="93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5" name="Text Box 79"/>
              <p:cNvSpPr txBox="1">
                <a:spLocks noChangeArrowheads="1"/>
              </p:cNvSpPr>
              <p:nvPr/>
            </p:nvSpPr>
            <p:spPr bwMode="auto">
              <a:xfrm>
                <a:off x="907" y="121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6" name="Text Box 80"/>
              <p:cNvSpPr txBox="1">
                <a:spLocks noChangeArrowheads="1"/>
              </p:cNvSpPr>
              <p:nvPr/>
            </p:nvSpPr>
            <p:spPr bwMode="auto">
              <a:xfrm>
                <a:off x="907" y="152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7" name="Text Box 81"/>
              <p:cNvSpPr txBox="1">
                <a:spLocks noChangeArrowheads="1"/>
              </p:cNvSpPr>
              <p:nvPr/>
            </p:nvSpPr>
            <p:spPr bwMode="auto">
              <a:xfrm>
                <a:off x="907" y="182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8" name="Text Box 82"/>
              <p:cNvSpPr txBox="1">
                <a:spLocks noChangeArrowheads="1"/>
              </p:cNvSpPr>
              <p:nvPr/>
            </p:nvSpPr>
            <p:spPr bwMode="auto">
              <a:xfrm>
                <a:off x="854" y="236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09" name="Text Box 83"/>
              <p:cNvSpPr txBox="1">
                <a:spLocks noChangeArrowheads="1"/>
              </p:cNvSpPr>
              <p:nvPr/>
            </p:nvSpPr>
            <p:spPr bwMode="auto">
              <a:xfrm>
                <a:off x="858" y="2658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10" name="Line 84"/>
              <p:cNvSpPr>
                <a:spLocks noChangeShapeType="1"/>
              </p:cNvSpPr>
              <p:nvPr/>
            </p:nvSpPr>
            <p:spPr bwMode="auto">
              <a:xfrm>
                <a:off x="1887" y="3515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11" name="Line 85"/>
              <p:cNvSpPr>
                <a:spLocks noChangeShapeType="1"/>
              </p:cNvSpPr>
              <p:nvPr/>
            </p:nvSpPr>
            <p:spPr bwMode="auto">
              <a:xfrm>
                <a:off x="2832" y="3515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12" name="Text Box 86"/>
              <p:cNvSpPr txBox="1">
                <a:spLocks noChangeArrowheads="1"/>
              </p:cNvSpPr>
              <p:nvPr/>
            </p:nvSpPr>
            <p:spPr bwMode="auto">
              <a:xfrm>
                <a:off x="2613" y="348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6213" name="Group 87"/>
              <p:cNvGrpSpPr/>
              <p:nvPr/>
            </p:nvGrpSpPr>
            <p:grpSpPr bwMode="auto">
              <a:xfrm>
                <a:off x="0" y="1160"/>
                <a:ext cx="462" cy="252"/>
                <a:chOff x="0" y="933"/>
                <a:chExt cx="462" cy="252"/>
              </a:xfrm>
            </p:grpSpPr>
            <p:sp>
              <p:nvSpPr>
                <p:cNvPr id="46266" name="Line 88"/>
                <p:cNvSpPr>
                  <a:spLocks noChangeShapeType="1"/>
                </p:cNvSpPr>
                <p:nvPr/>
              </p:nvSpPr>
              <p:spPr bwMode="auto">
                <a:xfrm>
                  <a:off x="214" y="991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67" name="Text Box 89"/>
                <p:cNvSpPr txBox="1">
                  <a:spLocks noChangeArrowheads="1"/>
                </p:cNvSpPr>
                <p:nvPr/>
              </p:nvSpPr>
              <p:spPr bwMode="auto">
                <a:xfrm>
                  <a:off x="0" y="933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9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14" name="Group 90"/>
              <p:cNvGrpSpPr/>
              <p:nvPr/>
            </p:nvGrpSpPr>
            <p:grpSpPr bwMode="auto">
              <a:xfrm>
                <a:off x="16" y="1606"/>
                <a:ext cx="446" cy="252"/>
                <a:chOff x="16" y="1371"/>
                <a:chExt cx="446" cy="252"/>
              </a:xfrm>
            </p:grpSpPr>
            <p:sp>
              <p:nvSpPr>
                <p:cNvPr id="46264" name="Line 91"/>
                <p:cNvSpPr>
                  <a:spLocks noChangeShapeType="1"/>
                </p:cNvSpPr>
                <p:nvPr/>
              </p:nvSpPr>
              <p:spPr bwMode="auto">
                <a:xfrm>
                  <a:off x="214" y="1439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65" name="Text Box 92"/>
                <p:cNvSpPr txBox="1">
                  <a:spLocks noChangeArrowheads="1"/>
                </p:cNvSpPr>
                <p:nvPr/>
              </p:nvSpPr>
              <p:spPr bwMode="auto">
                <a:xfrm>
                  <a:off x="16" y="137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8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15" name="Group 93"/>
              <p:cNvGrpSpPr/>
              <p:nvPr/>
            </p:nvGrpSpPr>
            <p:grpSpPr bwMode="auto">
              <a:xfrm>
                <a:off x="16" y="2053"/>
                <a:ext cx="446" cy="252"/>
                <a:chOff x="16" y="1809"/>
                <a:chExt cx="446" cy="252"/>
              </a:xfrm>
            </p:grpSpPr>
            <p:sp>
              <p:nvSpPr>
                <p:cNvPr id="46262" name="Line 94"/>
                <p:cNvSpPr>
                  <a:spLocks noChangeShapeType="1"/>
                </p:cNvSpPr>
                <p:nvPr/>
              </p:nvSpPr>
              <p:spPr bwMode="auto">
                <a:xfrm>
                  <a:off x="214" y="1886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63" name="Text Box 95"/>
                <p:cNvSpPr txBox="1">
                  <a:spLocks noChangeArrowheads="1"/>
                </p:cNvSpPr>
                <p:nvPr/>
              </p:nvSpPr>
              <p:spPr bwMode="auto">
                <a:xfrm>
                  <a:off x="16" y="1809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7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16" name="Group 96"/>
              <p:cNvGrpSpPr/>
              <p:nvPr/>
            </p:nvGrpSpPr>
            <p:grpSpPr bwMode="auto">
              <a:xfrm>
                <a:off x="16" y="2499"/>
                <a:ext cx="446" cy="252"/>
                <a:chOff x="16" y="2276"/>
                <a:chExt cx="446" cy="252"/>
              </a:xfrm>
            </p:grpSpPr>
            <p:sp>
              <p:nvSpPr>
                <p:cNvPr id="46260" name="Line 97"/>
                <p:cNvSpPr>
                  <a:spLocks noChangeShapeType="1"/>
                </p:cNvSpPr>
                <p:nvPr/>
              </p:nvSpPr>
              <p:spPr bwMode="auto">
                <a:xfrm>
                  <a:off x="214" y="2334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61" name="Text Box 98"/>
                <p:cNvSpPr txBox="1">
                  <a:spLocks noChangeArrowheads="1"/>
                </p:cNvSpPr>
                <p:nvPr/>
              </p:nvSpPr>
              <p:spPr bwMode="auto">
                <a:xfrm>
                  <a:off x="16" y="2276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6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17" name="Group 99"/>
              <p:cNvGrpSpPr/>
              <p:nvPr/>
            </p:nvGrpSpPr>
            <p:grpSpPr bwMode="auto">
              <a:xfrm>
                <a:off x="16" y="2946"/>
                <a:ext cx="446" cy="252"/>
                <a:chOff x="16" y="2725"/>
                <a:chExt cx="446" cy="252"/>
              </a:xfrm>
            </p:grpSpPr>
            <p:sp>
              <p:nvSpPr>
                <p:cNvPr id="46258" name="Line 100"/>
                <p:cNvSpPr>
                  <a:spLocks noChangeShapeType="1"/>
                </p:cNvSpPr>
                <p:nvPr/>
              </p:nvSpPr>
              <p:spPr bwMode="auto">
                <a:xfrm>
                  <a:off x="214" y="2782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59" name="Text Box 101"/>
                <p:cNvSpPr txBox="1">
                  <a:spLocks noChangeArrowheads="1"/>
                </p:cNvSpPr>
                <p:nvPr/>
              </p:nvSpPr>
              <p:spPr bwMode="auto">
                <a:xfrm>
                  <a:off x="16" y="2725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5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6218" name="Line 102"/>
              <p:cNvSpPr>
                <a:spLocks noChangeShapeType="1"/>
              </p:cNvSpPr>
              <p:nvPr/>
            </p:nvSpPr>
            <p:spPr bwMode="auto">
              <a:xfrm>
                <a:off x="4473" y="3515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19" name="Text Box 103"/>
              <p:cNvSpPr txBox="1">
                <a:spLocks noChangeArrowheads="1"/>
              </p:cNvSpPr>
              <p:nvPr/>
            </p:nvSpPr>
            <p:spPr bwMode="auto">
              <a:xfrm>
                <a:off x="4176" y="348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6220" name="Group 104"/>
              <p:cNvGrpSpPr/>
              <p:nvPr/>
            </p:nvGrpSpPr>
            <p:grpSpPr bwMode="auto">
              <a:xfrm>
                <a:off x="1492" y="3984"/>
                <a:ext cx="287" cy="325"/>
                <a:chOff x="1584" y="3918"/>
                <a:chExt cx="287" cy="325"/>
              </a:xfrm>
            </p:grpSpPr>
            <p:sp>
              <p:nvSpPr>
                <p:cNvPr id="46256" name="Line 105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57" name="Text Box 106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21" name="Group 107"/>
              <p:cNvGrpSpPr/>
              <p:nvPr/>
            </p:nvGrpSpPr>
            <p:grpSpPr bwMode="auto">
              <a:xfrm>
                <a:off x="2234" y="3984"/>
                <a:ext cx="288" cy="326"/>
                <a:chOff x="2355" y="3918"/>
                <a:chExt cx="288" cy="326"/>
              </a:xfrm>
            </p:grpSpPr>
            <p:sp>
              <p:nvSpPr>
                <p:cNvPr id="46254" name="Line 108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55" name="Text Box 109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22" name="Group 110"/>
              <p:cNvGrpSpPr/>
              <p:nvPr/>
            </p:nvGrpSpPr>
            <p:grpSpPr bwMode="auto">
              <a:xfrm>
                <a:off x="2978" y="3984"/>
                <a:ext cx="287" cy="326"/>
                <a:chOff x="3102" y="3918"/>
                <a:chExt cx="287" cy="326"/>
              </a:xfrm>
            </p:grpSpPr>
            <p:sp>
              <p:nvSpPr>
                <p:cNvPr id="46252" name="Line 111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53" name="Text Box 112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23" name="Group 113"/>
              <p:cNvGrpSpPr/>
              <p:nvPr/>
            </p:nvGrpSpPr>
            <p:grpSpPr bwMode="auto">
              <a:xfrm>
                <a:off x="3721" y="3984"/>
                <a:ext cx="287" cy="326"/>
                <a:chOff x="3844" y="3918"/>
                <a:chExt cx="287" cy="326"/>
              </a:xfrm>
            </p:grpSpPr>
            <p:sp>
              <p:nvSpPr>
                <p:cNvPr id="46250" name="Line 114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51" name="Text Box 115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24" name="Group 116"/>
              <p:cNvGrpSpPr/>
              <p:nvPr/>
            </p:nvGrpSpPr>
            <p:grpSpPr bwMode="auto">
              <a:xfrm>
                <a:off x="4464" y="3984"/>
                <a:ext cx="287" cy="325"/>
                <a:chOff x="4603" y="3918"/>
                <a:chExt cx="287" cy="325"/>
              </a:xfrm>
            </p:grpSpPr>
            <p:sp>
              <p:nvSpPr>
                <p:cNvPr id="46248" name="Line 117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49" name="Text Box 118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6225" name="Line 119"/>
              <p:cNvSpPr>
                <a:spLocks noChangeShapeType="1"/>
              </p:cNvSpPr>
              <p:nvPr/>
            </p:nvSpPr>
            <p:spPr bwMode="auto">
              <a:xfrm>
                <a:off x="2689" y="1756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26" name="Line 120"/>
              <p:cNvSpPr>
                <a:spLocks noChangeShapeType="1"/>
              </p:cNvSpPr>
              <p:nvPr/>
            </p:nvSpPr>
            <p:spPr bwMode="auto">
              <a:xfrm>
                <a:off x="3976" y="2105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27" name="Line 121"/>
              <p:cNvSpPr>
                <a:spLocks noChangeShapeType="1"/>
              </p:cNvSpPr>
              <p:nvPr/>
            </p:nvSpPr>
            <p:spPr bwMode="auto">
              <a:xfrm>
                <a:off x="4718" y="1450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6228" name="Text Box 122"/>
              <p:cNvSpPr txBox="1">
                <a:spLocks noChangeArrowheads="1"/>
              </p:cNvSpPr>
              <p:nvPr/>
            </p:nvSpPr>
            <p:spPr bwMode="auto">
              <a:xfrm>
                <a:off x="4844" y="2794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29" name="Line 123"/>
              <p:cNvSpPr>
                <a:spLocks noChangeShapeType="1"/>
              </p:cNvSpPr>
              <p:nvPr/>
            </p:nvSpPr>
            <p:spPr bwMode="auto">
              <a:xfrm flipV="1">
                <a:off x="4520" y="3023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46230" name="Group 124"/>
              <p:cNvGrpSpPr/>
              <p:nvPr/>
            </p:nvGrpSpPr>
            <p:grpSpPr bwMode="auto">
              <a:xfrm>
                <a:off x="4916" y="1792"/>
                <a:ext cx="277" cy="893"/>
                <a:chOff x="4920" y="1790"/>
                <a:chExt cx="277" cy="893"/>
              </a:xfrm>
            </p:grpSpPr>
            <p:sp>
              <p:nvSpPr>
                <p:cNvPr id="46244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45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46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47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31" name="Group 129"/>
              <p:cNvGrpSpPr/>
              <p:nvPr/>
            </p:nvGrpSpPr>
            <p:grpSpPr bwMode="auto">
              <a:xfrm>
                <a:off x="5372" y="1571"/>
                <a:ext cx="277" cy="879"/>
                <a:chOff x="5394" y="1612"/>
                <a:chExt cx="277" cy="879"/>
              </a:xfrm>
            </p:grpSpPr>
            <p:sp>
              <p:nvSpPr>
                <p:cNvPr id="46240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41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42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43" name="Text Box 133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6232" name="Group 134"/>
              <p:cNvGrpSpPr/>
              <p:nvPr/>
            </p:nvGrpSpPr>
            <p:grpSpPr bwMode="auto">
              <a:xfrm>
                <a:off x="3320" y="981"/>
                <a:ext cx="372" cy="2170"/>
                <a:chOff x="3324" y="979"/>
                <a:chExt cx="372" cy="2170"/>
              </a:xfrm>
            </p:grpSpPr>
            <p:sp>
              <p:nvSpPr>
                <p:cNvPr id="46236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37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38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6239" name="Text Box 138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6233" name="Text Box 139"/>
              <p:cNvSpPr txBox="1">
                <a:spLocks noChangeArrowheads="1"/>
              </p:cNvSpPr>
              <p:nvPr/>
            </p:nvSpPr>
            <p:spPr bwMode="auto">
              <a:xfrm rot="5400000">
                <a:off x="916" y="204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34" name="Text Box 140"/>
              <p:cNvSpPr txBox="1">
                <a:spLocks noChangeArrowheads="1"/>
              </p:cNvSpPr>
              <p:nvPr/>
            </p:nvSpPr>
            <p:spPr bwMode="auto">
              <a:xfrm>
                <a:off x="1678" y="348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235" name="Text Box 141"/>
              <p:cNvSpPr txBox="1">
                <a:spLocks noChangeArrowheads="1"/>
              </p:cNvSpPr>
              <p:nvPr/>
            </p:nvSpPr>
            <p:spPr bwMode="auto">
              <a:xfrm>
                <a:off x="3350" y="3378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46083" name="Text Box 142"/>
          <p:cNvSpPr txBox="1">
            <a:spLocks noChangeArrowheads="1"/>
          </p:cNvSpPr>
          <p:nvPr/>
        </p:nvSpPr>
        <p:spPr bwMode="auto">
          <a:xfrm>
            <a:off x="493066" y="125414"/>
            <a:ext cx="541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 (2)  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芯片举例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234639" name="Text Box 143"/>
          <p:cNvSpPr txBox="1">
            <a:spLocks noChangeArrowheads="1"/>
          </p:cNvSpPr>
          <p:nvPr/>
        </p:nvSpPr>
        <p:spPr bwMode="auto">
          <a:xfrm>
            <a:off x="2286000" y="762000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①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34640" name="Group 144"/>
          <p:cNvGrpSpPr/>
          <p:nvPr/>
        </p:nvGrpSpPr>
        <p:grpSpPr bwMode="auto">
          <a:xfrm>
            <a:off x="1884363" y="1895476"/>
            <a:ext cx="361950" cy="3362325"/>
            <a:chOff x="300" y="720"/>
            <a:chExt cx="221" cy="2327"/>
          </a:xfrm>
        </p:grpSpPr>
        <p:sp>
          <p:nvSpPr>
            <p:cNvPr id="46126" name="Text Box 145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7" name="Text Box 146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8" name="Text Box 147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9" name="Text Box 148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30" name="Text Box 149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4646" name="Group 150"/>
          <p:cNvGrpSpPr/>
          <p:nvPr/>
        </p:nvGrpSpPr>
        <p:grpSpPr bwMode="auto">
          <a:xfrm>
            <a:off x="3505201" y="6251576"/>
            <a:ext cx="5154613" cy="519113"/>
            <a:chOff x="1452" y="3984"/>
            <a:chExt cx="3149" cy="359"/>
          </a:xfrm>
        </p:grpSpPr>
        <p:sp>
          <p:nvSpPr>
            <p:cNvPr id="46121" name="Text Box 151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2" name="Text Box 152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3" name="Text Box 153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4" name="Text Box 154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5" name="Text Box 155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4652" name="Group 156"/>
          <p:cNvGrpSpPr/>
          <p:nvPr/>
        </p:nvGrpSpPr>
        <p:grpSpPr bwMode="auto">
          <a:xfrm>
            <a:off x="4178300" y="5500688"/>
            <a:ext cx="336550" cy="457200"/>
            <a:chOff x="1233" y="3465"/>
            <a:chExt cx="212" cy="288"/>
          </a:xfrm>
        </p:grpSpPr>
        <p:sp>
          <p:nvSpPr>
            <p:cNvPr id="46119" name="Text Box 157"/>
            <p:cNvSpPr txBox="1">
              <a:spLocks noChangeArrowheads="1"/>
            </p:cNvSpPr>
            <p:nvPr/>
          </p:nvSpPr>
          <p:spPr bwMode="auto">
            <a:xfrm>
              <a:off x="1233" y="3465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20" name="Freeform 158"/>
            <p:cNvSpPr/>
            <p:nvPr/>
          </p:nvSpPr>
          <p:spPr bwMode="auto">
            <a:xfrm>
              <a:off x="1436" y="3512"/>
              <a:ext cx="1" cy="136"/>
            </a:xfrm>
            <a:custGeom>
              <a:avLst/>
              <a:gdLst>
                <a:gd name="T0" fmla="*/ 0 w 1"/>
                <a:gd name="T1" fmla="*/ 0 h 208"/>
                <a:gd name="T2" fmla="*/ 0 w 1"/>
                <a:gd name="T3" fmla="*/ 208 h 2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4655" name="Freeform 159"/>
          <p:cNvSpPr/>
          <p:nvPr/>
        </p:nvSpPr>
        <p:spPr bwMode="auto">
          <a:xfrm>
            <a:off x="4632326" y="1903413"/>
            <a:ext cx="314325" cy="3230562"/>
          </a:xfrm>
          <a:custGeom>
            <a:avLst/>
            <a:gdLst>
              <a:gd name="T0" fmla="*/ 0 w 192"/>
              <a:gd name="T1" fmla="*/ 0 h 2236"/>
              <a:gd name="T2" fmla="*/ 514584404 w 192"/>
              <a:gd name="T3" fmla="*/ 0 h 2236"/>
              <a:gd name="T4" fmla="*/ 506544560 w 192"/>
              <a:gd name="T5" fmla="*/ 2147483646 h 223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92" h="2236">
                <a:moveTo>
                  <a:pt x="0" y="0"/>
                </a:moveTo>
                <a:lnTo>
                  <a:pt x="192" y="0"/>
                </a:lnTo>
                <a:lnTo>
                  <a:pt x="189" y="2236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4656" name="Group 160"/>
          <p:cNvGrpSpPr/>
          <p:nvPr/>
        </p:nvGrpSpPr>
        <p:grpSpPr bwMode="auto">
          <a:xfrm>
            <a:off x="9170988" y="4902200"/>
            <a:ext cx="628650" cy="457200"/>
            <a:chOff x="4775" y="2954"/>
            <a:chExt cx="384" cy="316"/>
          </a:xfrm>
        </p:grpSpPr>
        <p:sp>
          <p:nvSpPr>
            <p:cNvPr id="46117" name="Line 16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118" name="Text Box 16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4659" name="Group 163"/>
          <p:cNvGrpSpPr/>
          <p:nvPr/>
        </p:nvGrpSpPr>
        <p:grpSpPr bwMode="auto">
          <a:xfrm>
            <a:off x="3351214" y="1554164"/>
            <a:ext cx="5775325" cy="579437"/>
            <a:chOff x="1159" y="979"/>
            <a:chExt cx="3638" cy="365"/>
          </a:xfrm>
        </p:grpSpPr>
        <p:grpSp>
          <p:nvGrpSpPr>
            <p:cNvPr id="46108" name="Group 164"/>
            <p:cNvGrpSpPr/>
            <p:nvPr/>
          </p:nvGrpSpPr>
          <p:grpSpPr bwMode="auto">
            <a:xfrm>
              <a:off x="1159" y="1049"/>
              <a:ext cx="3638" cy="227"/>
              <a:chOff x="1159" y="1049"/>
              <a:chExt cx="3638" cy="227"/>
            </a:xfrm>
          </p:grpSpPr>
          <p:sp>
            <p:nvSpPr>
              <p:cNvPr id="46110" name="Freeform 165"/>
              <p:cNvSpPr/>
              <p:nvPr/>
            </p:nvSpPr>
            <p:spPr bwMode="auto">
              <a:xfrm>
                <a:off x="1159" y="1054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11" name="Rectangle 166"/>
              <p:cNvSpPr>
                <a:spLocks noChangeArrowheads="1"/>
              </p:cNvSpPr>
              <p:nvPr/>
            </p:nvSpPr>
            <p:spPr bwMode="auto">
              <a:xfrm>
                <a:off x="1619" y="1142"/>
                <a:ext cx="346" cy="13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12" name="Freeform 167"/>
              <p:cNvSpPr/>
              <p:nvPr/>
            </p:nvSpPr>
            <p:spPr bwMode="auto">
              <a:xfrm>
                <a:off x="4356" y="1054"/>
                <a:ext cx="1" cy="85"/>
              </a:xfrm>
              <a:custGeom>
                <a:avLst/>
                <a:gdLst>
                  <a:gd name="T0" fmla="*/ 0 w 1"/>
                  <a:gd name="T1" fmla="*/ 0 h 85"/>
                  <a:gd name="T2" fmla="*/ 0 w 1"/>
                  <a:gd name="T3" fmla="*/ 85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5">
                    <a:moveTo>
                      <a:pt x="0" y="0"/>
                    </a:moveTo>
                    <a:lnTo>
                      <a:pt x="0" y="85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13" name="Freeform 168"/>
              <p:cNvSpPr/>
              <p:nvPr/>
            </p:nvSpPr>
            <p:spPr bwMode="auto">
              <a:xfrm>
                <a:off x="2733" y="1053"/>
                <a:ext cx="1" cy="84"/>
              </a:xfrm>
              <a:custGeom>
                <a:avLst/>
                <a:gdLst>
                  <a:gd name="T0" fmla="*/ 0 w 1"/>
                  <a:gd name="T1" fmla="*/ 0 h 84"/>
                  <a:gd name="T2" fmla="*/ 0 w 1"/>
                  <a:gd name="T3" fmla="*/ 84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4">
                    <a:moveTo>
                      <a:pt x="0" y="0"/>
                    </a:moveTo>
                    <a:lnTo>
                      <a:pt x="0" y="84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14" name="Freeform 169"/>
              <p:cNvSpPr/>
              <p:nvPr/>
            </p:nvSpPr>
            <p:spPr bwMode="auto">
              <a:xfrm>
                <a:off x="1792" y="1049"/>
                <a:ext cx="3" cy="93"/>
              </a:xfrm>
              <a:custGeom>
                <a:avLst/>
                <a:gdLst>
                  <a:gd name="T0" fmla="*/ 3 w 3"/>
                  <a:gd name="T1" fmla="*/ 0 h 102"/>
                  <a:gd name="T2" fmla="*/ 0 w 3"/>
                  <a:gd name="T3" fmla="*/ 85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2">
                    <a:moveTo>
                      <a:pt x="3" y="0"/>
                    </a:moveTo>
                    <a:lnTo>
                      <a:pt x="0" y="102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15" name="Rectangle 170"/>
              <p:cNvSpPr>
                <a:spLocks noChangeArrowheads="1"/>
              </p:cNvSpPr>
              <p:nvPr/>
            </p:nvSpPr>
            <p:spPr bwMode="auto">
              <a:xfrm>
                <a:off x="2550" y="1142"/>
                <a:ext cx="347" cy="13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6116" name="Rectangle 171"/>
              <p:cNvSpPr>
                <a:spLocks noChangeArrowheads="1"/>
              </p:cNvSpPr>
              <p:nvPr/>
            </p:nvSpPr>
            <p:spPr bwMode="auto">
              <a:xfrm>
                <a:off x="4182" y="1142"/>
                <a:ext cx="347" cy="13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sp>
          <p:nvSpPr>
            <p:cNvPr id="46109" name="Text Box 172"/>
            <p:cNvSpPr txBox="1">
              <a:spLocks noChangeArrowheads="1"/>
            </p:cNvSpPr>
            <p:nvPr/>
          </p:nvSpPr>
          <p:spPr bwMode="auto">
            <a:xfrm>
              <a:off x="3324" y="97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4669" name="Group 173"/>
          <p:cNvGrpSpPr/>
          <p:nvPr/>
        </p:nvGrpSpPr>
        <p:grpSpPr bwMode="auto">
          <a:xfrm>
            <a:off x="4170363" y="5505450"/>
            <a:ext cx="336550" cy="457200"/>
            <a:chOff x="768" y="3561"/>
            <a:chExt cx="212" cy="288"/>
          </a:xfrm>
        </p:grpSpPr>
        <p:sp>
          <p:nvSpPr>
            <p:cNvPr id="46106" name="Text Box 174"/>
            <p:cNvSpPr txBox="1">
              <a:spLocks noChangeArrowheads="1"/>
            </p:cNvSpPr>
            <p:nvPr/>
          </p:nvSpPr>
          <p:spPr bwMode="auto">
            <a:xfrm>
              <a:off x="768" y="356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rgbClr val="C28F00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rgbClr val="C28F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07" name="Freeform 175"/>
            <p:cNvSpPr/>
            <p:nvPr/>
          </p:nvSpPr>
          <p:spPr bwMode="auto">
            <a:xfrm>
              <a:off x="971" y="3608"/>
              <a:ext cx="1" cy="136"/>
            </a:xfrm>
            <a:custGeom>
              <a:avLst/>
              <a:gdLst>
                <a:gd name="T0" fmla="*/ 0 w 1"/>
                <a:gd name="T1" fmla="*/ 0 h 208"/>
                <a:gd name="T2" fmla="*/ 0 w 1"/>
                <a:gd name="T3" fmla="*/ 208 h 2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</a:path>
              </a:pathLst>
            </a:custGeom>
            <a:noFill/>
            <a:ln w="76200">
              <a:solidFill>
                <a:srgbClr val="C28F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4672" name="Group 176"/>
          <p:cNvGrpSpPr/>
          <p:nvPr/>
        </p:nvGrpSpPr>
        <p:grpSpPr bwMode="auto">
          <a:xfrm>
            <a:off x="4175125" y="5505450"/>
            <a:ext cx="336550" cy="457200"/>
            <a:chOff x="1233" y="3465"/>
            <a:chExt cx="212" cy="288"/>
          </a:xfrm>
        </p:grpSpPr>
        <p:sp>
          <p:nvSpPr>
            <p:cNvPr id="46104" name="Text Box 177"/>
            <p:cNvSpPr txBox="1">
              <a:spLocks noChangeArrowheads="1"/>
            </p:cNvSpPr>
            <p:nvPr/>
          </p:nvSpPr>
          <p:spPr bwMode="auto">
            <a:xfrm>
              <a:off x="1233" y="3465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05" name="Freeform 178"/>
            <p:cNvSpPr/>
            <p:nvPr/>
          </p:nvSpPr>
          <p:spPr bwMode="auto">
            <a:xfrm>
              <a:off x="1436" y="3512"/>
              <a:ext cx="1" cy="136"/>
            </a:xfrm>
            <a:custGeom>
              <a:avLst/>
              <a:gdLst>
                <a:gd name="T0" fmla="*/ 0 w 1"/>
                <a:gd name="T1" fmla="*/ 0 h 208"/>
                <a:gd name="T2" fmla="*/ 0 w 1"/>
                <a:gd name="T3" fmla="*/ 208 h 2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4676" name="Group 180"/>
          <p:cNvGrpSpPr/>
          <p:nvPr/>
        </p:nvGrpSpPr>
        <p:grpSpPr bwMode="auto">
          <a:xfrm>
            <a:off x="6756401" y="3167064"/>
            <a:ext cx="695325" cy="681037"/>
            <a:chOff x="3296" y="1995"/>
            <a:chExt cx="438" cy="429"/>
          </a:xfrm>
        </p:grpSpPr>
        <p:sp>
          <p:nvSpPr>
            <p:cNvPr id="46102" name="Text Box 181"/>
            <p:cNvSpPr txBox="1">
              <a:spLocks noChangeArrowheads="1"/>
            </p:cNvSpPr>
            <p:nvPr/>
          </p:nvSpPr>
          <p:spPr bwMode="auto">
            <a:xfrm>
              <a:off x="3296" y="1995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单元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6103" name="Text Box 182"/>
            <p:cNvSpPr txBox="1">
              <a:spLocks noChangeArrowheads="1"/>
            </p:cNvSpPr>
            <p:nvPr/>
          </p:nvSpPr>
          <p:spPr bwMode="auto">
            <a:xfrm>
              <a:off x="3296" y="2174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电路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34679" name="Rectangle 183"/>
          <p:cNvSpPr>
            <a:spLocks noChangeArrowheads="1"/>
          </p:cNvSpPr>
          <p:nvPr/>
        </p:nvSpPr>
        <p:spPr bwMode="auto">
          <a:xfrm>
            <a:off x="3435350" y="5141914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  <a:endParaRPr lang="zh-CN" altLang="en-US" sz="2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34680" name="Rectangle 184"/>
          <p:cNvSpPr>
            <a:spLocks noChangeArrowheads="1"/>
          </p:cNvSpPr>
          <p:nvPr/>
        </p:nvSpPr>
        <p:spPr bwMode="auto">
          <a:xfrm>
            <a:off x="4087814" y="1812926"/>
            <a:ext cx="549275" cy="212725"/>
          </a:xfrm>
          <a:prstGeom prst="rect">
            <a:avLst/>
          </a:prstGeom>
          <a:solidFill>
            <a:srgbClr val="C28F00"/>
          </a:solidFill>
          <a:ln w="38100">
            <a:solidFill>
              <a:srgbClr val="C28F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en-US" sz="2400" b="0">
              <a:latin typeface="Times New Roman" panose="02020603050405020304" pitchFamily="18" charset="0"/>
            </a:endParaRPr>
          </a:p>
        </p:txBody>
      </p:sp>
      <p:grpSp>
        <p:nvGrpSpPr>
          <p:cNvPr id="234681" name="Group 185"/>
          <p:cNvGrpSpPr/>
          <p:nvPr/>
        </p:nvGrpSpPr>
        <p:grpSpPr bwMode="auto">
          <a:xfrm>
            <a:off x="4079875" y="2711451"/>
            <a:ext cx="793750" cy="1597025"/>
            <a:chOff x="1610" y="1708"/>
            <a:chExt cx="500" cy="1006"/>
          </a:xfrm>
        </p:grpSpPr>
        <p:sp>
          <p:nvSpPr>
            <p:cNvPr id="46099" name="Rectangle 186"/>
            <p:cNvSpPr>
              <a:spLocks noChangeArrowheads="1"/>
            </p:cNvSpPr>
            <p:nvPr/>
          </p:nvSpPr>
          <p:spPr bwMode="auto">
            <a:xfrm>
              <a:off x="1610" y="2580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6100" name="Rectangle 187"/>
            <p:cNvSpPr>
              <a:spLocks noChangeArrowheads="1"/>
            </p:cNvSpPr>
            <p:nvPr/>
          </p:nvSpPr>
          <p:spPr bwMode="auto">
            <a:xfrm>
              <a:off x="1610" y="1708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6101" name="Text Box 188"/>
            <p:cNvSpPr txBox="1">
              <a:spLocks noChangeArrowheads="1"/>
            </p:cNvSpPr>
            <p:nvPr/>
          </p:nvSpPr>
          <p:spPr bwMode="auto">
            <a:xfrm>
              <a:off x="1645" y="2044"/>
              <a:ext cx="465" cy="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4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34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34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" dur="500"/>
                                        <p:tgtEl>
                                          <p:spTgt spid="234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34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234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34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3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34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3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234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" dur="500"/>
                                        <p:tgtEl>
                                          <p:spTgt spid="234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234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234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500"/>
                                        <p:tgtEl>
                                          <p:spTgt spid="234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" dur="500"/>
                                        <p:tgtEl>
                                          <p:spTgt spid="234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639" grpId="0" autoUpdateAnimBg="0"/>
      <p:bldP spid="234679" grpId="0" animBg="1" autoUpdateAnimBg="0"/>
      <p:bldP spid="234680" grpId="0" animBg="1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522" name="Group 2"/>
          <p:cNvGrpSpPr/>
          <p:nvPr/>
        </p:nvGrpSpPr>
        <p:grpSpPr bwMode="auto">
          <a:xfrm>
            <a:off x="1524000" y="1295401"/>
            <a:ext cx="9151938" cy="5441951"/>
            <a:chOff x="0" y="816"/>
            <a:chExt cx="5765" cy="3428"/>
          </a:xfrm>
        </p:grpSpPr>
        <p:grpSp>
          <p:nvGrpSpPr>
            <p:cNvPr id="47110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47246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47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7111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47244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45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7112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47242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43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7113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47240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41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7114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47238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39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7115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47116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17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18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19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0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1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2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3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4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5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6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7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8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29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0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1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2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3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4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5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6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7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8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39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0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1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2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43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4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5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6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7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8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49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0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1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2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3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4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5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6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7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8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59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0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1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2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3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4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5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6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7167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68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69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70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71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72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3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4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5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6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7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8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79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80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81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7182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83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84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185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86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87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88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89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0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1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2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3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4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5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196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197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98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199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7200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47236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37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201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47234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35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202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47232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33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203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47230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31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204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47228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29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7205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06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07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7208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209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47210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47224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25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26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27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211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47220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21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22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23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7212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47216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17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18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7219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7213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214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215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47107" name="Text Box 141"/>
          <p:cNvSpPr txBox="1">
            <a:spLocks noChangeArrowheads="1"/>
          </p:cNvSpPr>
          <p:nvPr/>
        </p:nvSpPr>
        <p:spPr bwMode="auto">
          <a:xfrm>
            <a:off x="460375" y="145567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35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546" name="Group 2"/>
          <p:cNvGrpSpPr/>
          <p:nvPr/>
        </p:nvGrpSpPr>
        <p:grpSpPr bwMode="auto">
          <a:xfrm>
            <a:off x="1865313" y="1819276"/>
            <a:ext cx="361950" cy="3362325"/>
            <a:chOff x="300" y="720"/>
            <a:chExt cx="221" cy="2327"/>
          </a:xfrm>
        </p:grpSpPr>
        <p:sp>
          <p:nvSpPr>
            <p:cNvPr id="48273" name="Text Box 3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8274" name="Text Box 4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8275" name="Text Box 5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8276" name="Text Box 6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8277" name="Text Box 7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48132" name="Text Box 9"/>
          <p:cNvSpPr txBox="1">
            <a:spLocks noChangeArrowheads="1"/>
          </p:cNvSpPr>
          <p:nvPr/>
        </p:nvSpPr>
        <p:spPr bwMode="auto">
          <a:xfrm>
            <a:off x="676275" y="146294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48133" name="Group 10"/>
          <p:cNvGrpSpPr/>
          <p:nvPr/>
        </p:nvGrpSpPr>
        <p:grpSpPr bwMode="auto">
          <a:xfrm>
            <a:off x="1524000" y="1295401"/>
            <a:ext cx="9151938" cy="5441951"/>
            <a:chOff x="0" y="816"/>
            <a:chExt cx="5765" cy="3428"/>
          </a:xfrm>
        </p:grpSpPr>
        <p:grpSp>
          <p:nvGrpSpPr>
            <p:cNvPr id="48135" name="Group 11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48271" name="Line 12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72" name="Text Box 13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8136" name="Group 14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48269" name="Line 15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70" name="Text Box 16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8137" name="Group 17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48267" name="Line 18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68" name="Text Box 19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8138" name="Group 20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48265" name="Line 21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66" name="Text Box 22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8139" name="Group 23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48263" name="Line 24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64" name="Text Box 25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8140" name="Group 26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48141" name="Rectangle 27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142" name="Freeform 28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43" name="Rectangle 29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144" name="Freeform 30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45" name="Freeform 31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46" name="Freeform 32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47" name="Freeform 33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48" name="Freeform 34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49" name="Freeform 35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0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1" name="Freeform 37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2" name="Line 38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3" name="Freeform 39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4" name="Line 40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5" name="Line 41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6" name="Line 42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7" name="Line 43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8" name="Line 44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59" name="Freeform 45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0" name="Line 46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1" name="Freeform 47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2" name="Line 48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3" name="Line 49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4" name="Line 50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5" name="Line 51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6" name="Line 52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7" name="AutoShape 53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168" name="Freeform 54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69" name="Freeform 55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0" name="Freeform 56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1" name="Line 57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2" name="Freeform 58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3" name="Freeform 59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4" name="Freeform 60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5" name="Line 61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6" name="Freeform 62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7" name="Freeform 63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8" name="Freeform 64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79" name="Line 65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0" name="Freeform 66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1" name="Freeform 67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2" name="Freeform 68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3" name="Freeform 69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4" name="Freeform 70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5" name="Freeform 71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6" name="Freeform 72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7" name="Freeform 73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8" name="Freeform 74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89" name="Freeform 75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90" name="Freeform 76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91" name="Freeform 77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8192" name="Rectangle 78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193" name="Rectangle 79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194" name="Text Box 80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195" name="Text Box 81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196" name="Text Box 82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197" name="Rectangle 83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198" name="Rectangle 84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199" name="Rectangle 85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0" name="Rectangle 86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1" name="Rectangle 87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2" name="Rectangle 88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3" name="Rectangle 89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4" name="Rectangle 90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5" name="AutoShape 91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6" name="AutoShape 92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8207" name="Text Box 93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08" name="Text Box 94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09" name="Line 95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10" name="Text Box 96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1" name="Text Box 97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2" name="Text Box 98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3" name="Text Box 99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4" name="Text Box 100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5" name="Text Box 101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6" name="Text Box 102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7" name="Text Box 103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8" name="Text Box 104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19" name="Text Box 105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20" name="Line 106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21" name="Line 107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22" name="Text Box 108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23" name="Line 109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24" name="Text Box 110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8225" name="Group 111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48261" name="Line 112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62" name="Text Box 113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8226" name="Group 114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48259" name="Line 115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60" name="Text Box 116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8227" name="Group 117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48257" name="Line 118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58" name="Text Box 119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8228" name="Group 120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48255" name="Line 121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56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8229" name="Group 123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48253" name="Line 124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54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8230" name="Line 126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31" name="Line 127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32" name="Line 128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8233" name="Text Box 129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34" name="Line 130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48235" name="Group 131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48249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50" name="Text Box 133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51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52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8236" name="Group 136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48245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46" name="Text Box 138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47" name="Text Box 139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48" name="Text Box 140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8237" name="Group 141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48241" name="Text Box 142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42" name="Text Box 143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43" name="Text Box 144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8244" name="Text Box 145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8238" name="Text Box 146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39" name="Text Box 147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240" name="Text Box 148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36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4" name="Group 2"/>
          <p:cNvGrpSpPr/>
          <p:nvPr/>
        </p:nvGrpSpPr>
        <p:grpSpPr bwMode="auto">
          <a:xfrm>
            <a:off x="1415480" y="1052736"/>
            <a:ext cx="9151938" cy="5441951"/>
            <a:chOff x="0" y="816"/>
            <a:chExt cx="5765" cy="3428"/>
          </a:xfrm>
        </p:grpSpPr>
        <p:grpSp>
          <p:nvGrpSpPr>
            <p:cNvPr id="49173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49309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310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9174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49307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308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9175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49305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306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9176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49303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304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9177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49301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302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9178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49179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180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1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182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3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4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5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6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7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8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89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0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1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2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3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4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5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6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7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8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199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0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1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2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3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4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5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06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7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8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09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0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1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2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3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4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5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6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7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8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19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0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1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2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3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4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5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6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7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8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29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9230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31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32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33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34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35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36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37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38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39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40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41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42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43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44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49245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46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47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48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49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0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1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2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3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4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5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6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7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58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59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60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61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62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9263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49299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300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9264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49297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298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9265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49295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296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9266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49293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294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9267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49291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292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9268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69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70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9271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72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49273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49287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8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9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90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9274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49283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4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5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6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49275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49279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0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1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9282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9276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77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278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49155" name="Group 141"/>
          <p:cNvGrpSpPr/>
          <p:nvPr/>
        </p:nvGrpSpPr>
        <p:grpSpPr bwMode="auto">
          <a:xfrm>
            <a:off x="1756793" y="1576611"/>
            <a:ext cx="361950" cy="3362325"/>
            <a:chOff x="300" y="720"/>
            <a:chExt cx="221" cy="2327"/>
          </a:xfrm>
        </p:grpSpPr>
        <p:sp>
          <p:nvSpPr>
            <p:cNvPr id="49168" name="Text Box 142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9169" name="Text Box 143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9170" name="Text Box 144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9171" name="Text Box 145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9172" name="Text Box 146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7715" name="Group 147"/>
          <p:cNvGrpSpPr/>
          <p:nvPr/>
        </p:nvGrpSpPr>
        <p:grpSpPr bwMode="auto">
          <a:xfrm>
            <a:off x="3249043" y="3468911"/>
            <a:ext cx="5791200" cy="646113"/>
            <a:chOff x="1155" y="2338"/>
            <a:chExt cx="3648" cy="407"/>
          </a:xfrm>
        </p:grpSpPr>
        <p:sp>
          <p:nvSpPr>
            <p:cNvPr id="49160" name="Freeform 148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161" name="Line 149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162" name="Line 150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163" name="Freeform 151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9164" name="Rectangle 152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9165" name="Rectangle 153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9166" name="Rectangle 154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49167" name="Text Box 155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49158" name="Text Box 157"/>
          <p:cNvSpPr txBox="1">
            <a:spLocks noChangeArrowheads="1"/>
          </p:cNvSpPr>
          <p:nvPr/>
        </p:nvSpPr>
        <p:spPr bwMode="auto">
          <a:xfrm>
            <a:off x="519907" y="155382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37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2"/>
          <p:cNvGrpSpPr/>
          <p:nvPr/>
        </p:nvGrpSpPr>
        <p:grpSpPr bwMode="auto">
          <a:xfrm>
            <a:off x="1520031" y="980728"/>
            <a:ext cx="9151938" cy="5441951"/>
            <a:chOff x="0" y="816"/>
            <a:chExt cx="5765" cy="3428"/>
          </a:xfrm>
        </p:grpSpPr>
        <p:grpSp>
          <p:nvGrpSpPr>
            <p:cNvPr id="50203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50339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40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0204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50337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38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0205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50335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36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0206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50333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34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0207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50331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32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0208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50209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10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1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12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3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4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5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6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7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8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19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0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1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2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3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4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5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6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7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8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29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0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1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2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3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4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5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36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7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8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39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0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1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2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3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4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5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6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7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8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49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0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1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2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3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4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5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6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7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8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59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0260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61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62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63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64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65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66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67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68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69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70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71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72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73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74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0275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76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77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278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79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0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1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2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3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4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5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6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7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88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289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290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291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292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0293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50329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330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0294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50327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328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0295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50325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326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0296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50323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324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0297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50321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322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0298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299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00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0301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302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0303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50317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8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9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20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0304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50313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4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5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6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0305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50309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0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1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0312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0306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307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308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0179" name="Group 141"/>
          <p:cNvGrpSpPr/>
          <p:nvPr/>
        </p:nvGrpSpPr>
        <p:grpSpPr bwMode="auto">
          <a:xfrm>
            <a:off x="3353594" y="3396903"/>
            <a:ext cx="5791200" cy="646113"/>
            <a:chOff x="1155" y="2338"/>
            <a:chExt cx="3648" cy="407"/>
          </a:xfrm>
        </p:grpSpPr>
        <p:sp>
          <p:nvSpPr>
            <p:cNvPr id="50195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196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197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198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0199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0200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0201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0202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8742" name="Group 150"/>
          <p:cNvGrpSpPr/>
          <p:nvPr/>
        </p:nvGrpSpPr>
        <p:grpSpPr bwMode="auto">
          <a:xfrm>
            <a:off x="3501232" y="5824190"/>
            <a:ext cx="5154613" cy="519112"/>
            <a:chOff x="1452" y="3984"/>
            <a:chExt cx="3149" cy="359"/>
          </a:xfrm>
        </p:grpSpPr>
        <p:sp>
          <p:nvSpPr>
            <p:cNvPr id="50190" name="Text Box 151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91" name="Text Box 152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92" name="Text Box 153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93" name="Text Box 154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94" name="Text Box 155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0181" name="Group 156"/>
          <p:cNvGrpSpPr/>
          <p:nvPr/>
        </p:nvGrpSpPr>
        <p:grpSpPr bwMode="auto">
          <a:xfrm>
            <a:off x="1861344" y="1504603"/>
            <a:ext cx="361950" cy="3362325"/>
            <a:chOff x="300" y="720"/>
            <a:chExt cx="221" cy="2327"/>
          </a:xfrm>
        </p:grpSpPr>
        <p:sp>
          <p:nvSpPr>
            <p:cNvPr id="50185" name="Text Box 157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86" name="Text Box 158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87" name="Text Box 159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88" name="Text Box 160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89" name="Text Box 161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50183" name="Text Box 163"/>
          <p:cNvSpPr txBox="1">
            <a:spLocks noChangeArrowheads="1"/>
          </p:cNvSpPr>
          <p:nvPr/>
        </p:nvSpPr>
        <p:spPr bwMode="auto">
          <a:xfrm>
            <a:off x="362744" y="70313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38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2" name="Group 2"/>
          <p:cNvGrpSpPr/>
          <p:nvPr/>
        </p:nvGrpSpPr>
        <p:grpSpPr bwMode="auto">
          <a:xfrm>
            <a:off x="1520031" y="980728"/>
            <a:ext cx="9151938" cy="5441951"/>
            <a:chOff x="0" y="816"/>
            <a:chExt cx="5765" cy="3428"/>
          </a:xfrm>
        </p:grpSpPr>
        <p:grpSp>
          <p:nvGrpSpPr>
            <p:cNvPr id="51240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51376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77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1241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51374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75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1242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51372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73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1243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51370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71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1244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51368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69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1245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51246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247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48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249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0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1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2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3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4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5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6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7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8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59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0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1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2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3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4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5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6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7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8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69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0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1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2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273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4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5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6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7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8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79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0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1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2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3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4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5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6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7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8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89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0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1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2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3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4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5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6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1297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98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99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00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01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02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3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4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5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6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7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8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09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10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11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1312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13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14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15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16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17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18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19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0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1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2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3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4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5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26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27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28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29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1330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51366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367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1331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51364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365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1332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51362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363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1333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51360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361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1334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51358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359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1335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36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37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1338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39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1340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51354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55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56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57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1341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51350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51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52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53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1342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51346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47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48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1349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1343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44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345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1203" name="Group 141"/>
          <p:cNvGrpSpPr/>
          <p:nvPr/>
        </p:nvGrpSpPr>
        <p:grpSpPr bwMode="auto">
          <a:xfrm>
            <a:off x="3353594" y="3396903"/>
            <a:ext cx="5791200" cy="646113"/>
            <a:chOff x="1155" y="2338"/>
            <a:chExt cx="3648" cy="407"/>
          </a:xfrm>
        </p:grpSpPr>
        <p:sp>
          <p:nvSpPr>
            <p:cNvPr id="51232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233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234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235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236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1237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1238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1239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1204" name="Group 150"/>
          <p:cNvGrpSpPr/>
          <p:nvPr/>
        </p:nvGrpSpPr>
        <p:grpSpPr bwMode="auto">
          <a:xfrm>
            <a:off x="5664995" y="5122516"/>
            <a:ext cx="344487" cy="396875"/>
            <a:chOff x="2611" y="3425"/>
            <a:chExt cx="217" cy="250"/>
          </a:xfrm>
        </p:grpSpPr>
        <p:sp>
          <p:nvSpPr>
            <p:cNvPr id="51230" name="Text Box 151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31" name="Freeform 152"/>
            <p:cNvSpPr/>
            <p:nvPr/>
          </p:nvSpPr>
          <p:spPr bwMode="auto">
            <a:xfrm>
              <a:off x="2827" y="3430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1205" name="Group 153"/>
          <p:cNvGrpSpPr/>
          <p:nvPr/>
        </p:nvGrpSpPr>
        <p:grpSpPr bwMode="auto">
          <a:xfrm>
            <a:off x="1861344" y="1504603"/>
            <a:ext cx="361950" cy="3362325"/>
            <a:chOff x="300" y="720"/>
            <a:chExt cx="221" cy="2327"/>
          </a:xfrm>
        </p:grpSpPr>
        <p:sp>
          <p:nvSpPr>
            <p:cNvPr id="51225" name="Text Box 154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6" name="Text Box 155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7" name="Text Box 156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8" name="Text Box 157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9" name="Text Box 158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1206" name="Group 159"/>
          <p:cNvGrpSpPr/>
          <p:nvPr/>
        </p:nvGrpSpPr>
        <p:grpSpPr bwMode="auto">
          <a:xfrm>
            <a:off x="3501232" y="5824190"/>
            <a:ext cx="5154613" cy="519112"/>
            <a:chOff x="1452" y="3984"/>
            <a:chExt cx="3149" cy="359"/>
          </a:xfrm>
        </p:grpSpPr>
        <p:sp>
          <p:nvSpPr>
            <p:cNvPr id="51220" name="Text Box 160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1" name="Text Box 161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2" name="Text Box 162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3" name="Text Box 163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24" name="Text Box 164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9781" name="Group 165"/>
          <p:cNvGrpSpPr/>
          <p:nvPr/>
        </p:nvGrpSpPr>
        <p:grpSpPr bwMode="auto">
          <a:xfrm>
            <a:off x="5672931" y="5114578"/>
            <a:ext cx="344488" cy="396875"/>
            <a:chOff x="2855" y="3408"/>
            <a:chExt cx="217" cy="250"/>
          </a:xfrm>
        </p:grpSpPr>
        <p:sp>
          <p:nvSpPr>
            <p:cNvPr id="51218" name="Text Box 166"/>
            <p:cNvSpPr txBox="1">
              <a:spLocks noChangeArrowheads="1"/>
            </p:cNvSpPr>
            <p:nvPr/>
          </p:nvSpPr>
          <p:spPr bwMode="auto">
            <a:xfrm>
              <a:off x="2855" y="3408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rgbClr val="C28F00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C28F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19" name="Freeform 167"/>
            <p:cNvSpPr/>
            <p:nvPr/>
          </p:nvSpPr>
          <p:spPr bwMode="auto">
            <a:xfrm>
              <a:off x="3071" y="3413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rgbClr val="C28F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9784" name="Group 168"/>
          <p:cNvGrpSpPr/>
          <p:nvPr/>
        </p:nvGrpSpPr>
        <p:grpSpPr bwMode="auto">
          <a:xfrm>
            <a:off x="5671345" y="5114578"/>
            <a:ext cx="344487" cy="396875"/>
            <a:chOff x="2611" y="3425"/>
            <a:chExt cx="217" cy="250"/>
          </a:xfrm>
        </p:grpSpPr>
        <p:sp>
          <p:nvSpPr>
            <p:cNvPr id="51216" name="Text Box 169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1217" name="Freeform 170"/>
            <p:cNvSpPr/>
            <p:nvPr/>
          </p:nvSpPr>
          <p:spPr bwMode="auto">
            <a:xfrm>
              <a:off x="2827" y="3430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51210" name="Text Box 172"/>
          <p:cNvSpPr txBox="1">
            <a:spLocks noChangeArrowheads="1"/>
          </p:cNvSpPr>
          <p:nvPr/>
        </p:nvSpPr>
        <p:spPr bwMode="auto">
          <a:xfrm>
            <a:off x="362744" y="80767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39789" name="Group 173"/>
          <p:cNvGrpSpPr/>
          <p:nvPr/>
        </p:nvGrpSpPr>
        <p:grpSpPr bwMode="auto">
          <a:xfrm>
            <a:off x="5552281" y="1404591"/>
            <a:ext cx="808038" cy="2058987"/>
            <a:chOff x="2540" y="1083"/>
            <a:chExt cx="509" cy="1297"/>
          </a:xfrm>
        </p:grpSpPr>
        <p:sp>
          <p:nvSpPr>
            <p:cNvPr id="51213" name="Rectangle 174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1214" name="Rectangle 175"/>
            <p:cNvSpPr>
              <a:spLocks noChangeArrowheads="1"/>
            </p:cNvSpPr>
            <p:nvPr/>
          </p:nvSpPr>
          <p:spPr bwMode="auto">
            <a:xfrm>
              <a:off x="2540" y="1636"/>
              <a:ext cx="358" cy="138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1215" name="Text Box 176"/>
            <p:cNvSpPr txBox="1">
              <a:spLocks noChangeArrowheads="1"/>
            </p:cNvSpPr>
            <p:nvPr/>
          </p:nvSpPr>
          <p:spPr bwMode="auto">
            <a:xfrm>
              <a:off x="2584" y="1972"/>
              <a:ext cx="465" cy="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9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239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239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26" name="Group 2"/>
          <p:cNvGrpSpPr/>
          <p:nvPr/>
        </p:nvGrpSpPr>
        <p:grpSpPr bwMode="auto">
          <a:xfrm>
            <a:off x="1520031" y="980728"/>
            <a:ext cx="9151938" cy="5441951"/>
            <a:chOff x="0" y="816"/>
            <a:chExt cx="5765" cy="3428"/>
          </a:xfrm>
        </p:grpSpPr>
        <p:grpSp>
          <p:nvGrpSpPr>
            <p:cNvPr id="52261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52397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98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2262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52395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96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2263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52393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94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2264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52391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92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2265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52389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90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2266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52267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268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69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270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1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2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3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4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5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6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7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8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79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0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1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2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3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4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5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6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7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8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89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0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1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2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3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294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5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6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7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8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299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0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1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2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3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4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5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6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7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8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09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0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1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2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3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4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5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6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7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2318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19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20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21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22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23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24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25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26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27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28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29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30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31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32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2333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34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35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36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37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38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39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0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1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2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3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4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5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6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47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48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49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50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2351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52387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388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352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52385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386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353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52383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384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354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52381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382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355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52379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380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2356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57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58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2359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60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2361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52375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6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7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8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362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52371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2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3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4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2363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52367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68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69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2370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2364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65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66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2227" name="Group 141"/>
          <p:cNvGrpSpPr/>
          <p:nvPr/>
        </p:nvGrpSpPr>
        <p:grpSpPr bwMode="auto">
          <a:xfrm>
            <a:off x="3353594" y="3396903"/>
            <a:ext cx="5791200" cy="646113"/>
            <a:chOff x="1155" y="2338"/>
            <a:chExt cx="3648" cy="407"/>
          </a:xfrm>
        </p:grpSpPr>
        <p:sp>
          <p:nvSpPr>
            <p:cNvPr id="52253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2254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2255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2256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2257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2258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2259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2260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40790" name="Group 150"/>
          <p:cNvGrpSpPr/>
          <p:nvPr/>
        </p:nvGrpSpPr>
        <p:grpSpPr bwMode="auto">
          <a:xfrm>
            <a:off x="9167019" y="4493865"/>
            <a:ext cx="628650" cy="457200"/>
            <a:chOff x="4775" y="2954"/>
            <a:chExt cx="384" cy="316"/>
          </a:xfrm>
        </p:grpSpPr>
        <p:sp>
          <p:nvSpPr>
            <p:cNvPr id="52251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252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2229" name="Group 153"/>
          <p:cNvGrpSpPr/>
          <p:nvPr/>
        </p:nvGrpSpPr>
        <p:grpSpPr bwMode="auto">
          <a:xfrm>
            <a:off x="1861344" y="1504603"/>
            <a:ext cx="361950" cy="3362325"/>
            <a:chOff x="300" y="720"/>
            <a:chExt cx="221" cy="2327"/>
          </a:xfrm>
        </p:grpSpPr>
        <p:sp>
          <p:nvSpPr>
            <p:cNvPr id="52246" name="Text Box 154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7" name="Text Box 155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8" name="Text Box 156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9" name="Text Box 157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50" name="Text Box 158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2230" name="Group 159"/>
          <p:cNvGrpSpPr/>
          <p:nvPr/>
        </p:nvGrpSpPr>
        <p:grpSpPr bwMode="auto">
          <a:xfrm>
            <a:off x="3501232" y="5824190"/>
            <a:ext cx="5154613" cy="519112"/>
            <a:chOff x="1452" y="3984"/>
            <a:chExt cx="3149" cy="359"/>
          </a:xfrm>
        </p:grpSpPr>
        <p:sp>
          <p:nvSpPr>
            <p:cNvPr id="52241" name="Text Box 160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2" name="Text Box 161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3" name="Text Box 162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4" name="Text Box 163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5" name="Text Box 164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2231" name="Group 165"/>
          <p:cNvGrpSpPr/>
          <p:nvPr/>
        </p:nvGrpSpPr>
        <p:grpSpPr bwMode="auto">
          <a:xfrm>
            <a:off x="5671345" y="5114578"/>
            <a:ext cx="344487" cy="396875"/>
            <a:chOff x="2611" y="3425"/>
            <a:chExt cx="217" cy="250"/>
          </a:xfrm>
        </p:grpSpPr>
        <p:sp>
          <p:nvSpPr>
            <p:cNvPr id="52239" name="Text Box 166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240" name="Freeform 167"/>
            <p:cNvSpPr/>
            <p:nvPr/>
          </p:nvSpPr>
          <p:spPr bwMode="auto">
            <a:xfrm>
              <a:off x="2827" y="3430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52233" name="Text Box 169"/>
          <p:cNvSpPr txBox="1">
            <a:spLocks noChangeArrowheads="1"/>
          </p:cNvSpPr>
          <p:nvPr/>
        </p:nvSpPr>
        <p:spPr bwMode="auto">
          <a:xfrm>
            <a:off x="519907" y="100013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52234" name="Group 170"/>
          <p:cNvGrpSpPr/>
          <p:nvPr/>
        </p:nvGrpSpPr>
        <p:grpSpPr bwMode="auto">
          <a:xfrm>
            <a:off x="5566569" y="1404591"/>
            <a:ext cx="793750" cy="2058987"/>
            <a:chOff x="2549" y="1083"/>
            <a:chExt cx="500" cy="1297"/>
          </a:xfrm>
        </p:grpSpPr>
        <p:sp>
          <p:nvSpPr>
            <p:cNvPr id="52236" name="Rectangle 171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2237" name="Rectangle 172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2238" name="Text Box 173"/>
            <p:cNvSpPr txBox="1">
              <a:spLocks noChangeArrowheads="1"/>
            </p:cNvSpPr>
            <p:nvPr/>
          </p:nvSpPr>
          <p:spPr bwMode="auto">
            <a:xfrm>
              <a:off x="2584" y="1972"/>
              <a:ext cx="465" cy="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0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50" name="Group 2"/>
          <p:cNvGrpSpPr/>
          <p:nvPr/>
        </p:nvGrpSpPr>
        <p:grpSpPr bwMode="auto">
          <a:xfrm>
            <a:off x="1520031" y="980728"/>
            <a:ext cx="9151938" cy="5441951"/>
            <a:chOff x="0" y="816"/>
            <a:chExt cx="5765" cy="3428"/>
          </a:xfrm>
        </p:grpSpPr>
        <p:grpSp>
          <p:nvGrpSpPr>
            <p:cNvPr id="53286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53422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423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3287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53420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421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3288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53418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419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3289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53416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417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3290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53414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415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3291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53292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293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294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295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296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297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298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299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0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1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2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3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4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5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6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7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8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09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0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1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2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3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4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5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6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7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18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19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0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1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2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3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4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5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6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7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8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29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0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1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2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3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4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5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6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7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8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39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40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41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42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3343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44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45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46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47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48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49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0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1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2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3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4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5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6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7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3358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59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0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61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2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3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4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5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6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7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8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69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70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71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72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73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74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75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3376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53412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413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3377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53410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411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3378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53408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409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3379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53406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407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3380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53404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405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3381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82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83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3384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85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3386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53400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401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402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403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3387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53396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397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398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399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3388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53392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393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394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3395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3389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90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91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3251" name="Group 141"/>
          <p:cNvGrpSpPr/>
          <p:nvPr/>
        </p:nvGrpSpPr>
        <p:grpSpPr bwMode="auto">
          <a:xfrm>
            <a:off x="3353594" y="3396903"/>
            <a:ext cx="5791200" cy="646113"/>
            <a:chOff x="1155" y="2338"/>
            <a:chExt cx="3648" cy="407"/>
          </a:xfrm>
        </p:grpSpPr>
        <p:sp>
          <p:nvSpPr>
            <p:cNvPr id="53278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3279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3280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3281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3282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3283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3284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3285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3252" name="Group 150"/>
          <p:cNvGrpSpPr/>
          <p:nvPr/>
        </p:nvGrpSpPr>
        <p:grpSpPr bwMode="auto">
          <a:xfrm>
            <a:off x="9167019" y="4493865"/>
            <a:ext cx="628650" cy="457200"/>
            <a:chOff x="4775" y="2954"/>
            <a:chExt cx="384" cy="316"/>
          </a:xfrm>
        </p:grpSpPr>
        <p:sp>
          <p:nvSpPr>
            <p:cNvPr id="53276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277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3253" name="Group 153"/>
          <p:cNvGrpSpPr/>
          <p:nvPr/>
        </p:nvGrpSpPr>
        <p:grpSpPr bwMode="auto">
          <a:xfrm>
            <a:off x="1861344" y="1504603"/>
            <a:ext cx="361950" cy="3362325"/>
            <a:chOff x="300" y="720"/>
            <a:chExt cx="221" cy="2327"/>
          </a:xfrm>
        </p:grpSpPr>
        <p:sp>
          <p:nvSpPr>
            <p:cNvPr id="53271" name="Text Box 154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72" name="Text Box 155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73" name="Text Box 156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74" name="Text Box 157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75" name="Text Box 158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3254" name="Group 159"/>
          <p:cNvGrpSpPr/>
          <p:nvPr/>
        </p:nvGrpSpPr>
        <p:grpSpPr bwMode="auto">
          <a:xfrm>
            <a:off x="3501232" y="5824190"/>
            <a:ext cx="5154613" cy="519112"/>
            <a:chOff x="1452" y="3984"/>
            <a:chExt cx="3149" cy="359"/>
          </a:xfrm>
        </p:grpSpPr>
        <p:sp>
          <p:nvSpPr>
            <p:cNvPr id="53266" name="Text Box 160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67" name="Text Box 161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68" name="Text Box 162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69" name="Text Box 163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70" name="Text Box 164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3255" name="Group 165"/>
          <p:cNvGrpSpPr/>
          <p:nvPr/>
        </p:nvGrpSpPr>
        <p:grpSpPr bwMode="auto">
          <a:xfrm>
            <a:off x="5671345" y="5114578"/>
            <a:ext cx="344487" cy="396875"/>
            <a:chOff x="2611" y="3425"/>
            <a:chExt cx="217" cy="250"/>
          </a:xfrm>
        </p:grpSpPr>
        <p:sp>
          <p:nvSpPr>
            <p:cNvPr id="53264" name="Text Box 166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3265" name="Freeform 167"/>
            <p:cNvSpPr/>
            <p:nvPr/>
          </p:nvSpPr>
          <p:spPr bwMode="auto">
            <a:xfrm>
              <a:off x="2827" y="3430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53257" name="Text Box 169"/>
          <p:cNvSpPr txBox="1">
            <a:spLocks noChangeArrowheads="1"/>
          </p:cNvSpPr>
          <p:nvPr/>
        </p:nvSpPr>
        <p:spPr bwMode="auto">
          <a:xfrm>
            <a:off x="334357" y="27232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41834" name="Rectangle 170"/>
          <p:cNvSpPr>
            <a:spLocks noChangeArrowheads="1"/>
          </p:cNvSpPr>
          <p:nvPr/>
        </p:nvSpPr>
        <p:spPr bwMode="auto">
          <a:xfrm>
            <a:off x="3431381" y="4714528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  <a:endParaRPr lang="zh-CN" altLang="en-US" sz="2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53259" name="Group 171"/>
          <p:cNvGrpSpPr/>
          <p:nvPr/>
        </p:nvGrpSpPr>
        <p:grpSpPr bwMode="auto">
          <a:xfrm>
            <a:off x="5566569" y="1404591"/>
            <a:ext cx="793750" cy="2058987"/>
            <a:chOff x="2549" y="1083"/>
            <a:chExt cx="500" cy="1297"/>
          </a:xfrm>
        </p:grpSpPr>
        <p:sp>
          <p:nvSpPr>
            <p:cNvPr id="53261" name="Rectangle 172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3262" name="Rectangle 173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3263" name="Text Box 174"/>
            <p:cNvSpPr txBox="1">
              <a:spLocks noChangeArrowheads="1"/>
            </p:cNvSpPr>
            <p:nvPr/>
          </p:nvSpPr>
          <p:spPr bwMode="auto">
            <a:xfrm>
              <a:off x="2584" y="1972"/>
              <a:ext cx="465" cy="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834" grpId="0" animBg="1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74" name="Group 2"/>
          <p:cNvGrpSpPr/>
          <p:nvPr/>
        </p:nvGrpSpPr>
        <p:grpSpPr bwMode="auto">
          <a:xfrm>
            <a:off x="1524000" y="1295401"/>
            <a:ext cx="9151938" cy="5441951"/>
            <a:chOff x="0" y="816"/>
            <a:chExt cx="5765" cy="3428"/>
          </a:xfrm>
        </p:grpSpPr>
        <p:grpSp>
          <p:nvGrpSpPr>
            <p:cNvPr id="54312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54448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49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4313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54446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47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4314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54444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45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4315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54442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43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4316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54440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41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4317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54318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19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0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21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2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3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4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5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6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7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8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29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0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1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2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3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4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5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6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7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8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39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0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1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2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3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4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45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6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7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8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49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0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1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2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3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4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5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6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7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8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59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0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1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2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3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4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5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6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7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8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4369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0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1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2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3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74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75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76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77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78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79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80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81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82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83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4384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85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86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387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88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89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0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1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2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3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4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5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6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397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398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399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00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01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4402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54438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9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4403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54436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7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4404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54434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5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4405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54432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3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4406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54430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1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4407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08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09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4410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11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4412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54426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7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8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9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4413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54422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3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4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5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4414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54418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19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0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4421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4415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16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4417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4275" name="Group 141"/>
          <p:cNvGrpSpPr/>
          <p:nvPr/>
        </p:nvGrpSpPr>
        <p:grpSpPr bwMode="auto">
          <a:xfrm>
            <a:off x="3357563" y="3711576"/>
            <a:ext cx="5791200" cy="646113"/>
            <a:chOff x="1155" y="2338"/>
            <a:chExt cx="3648" cy="407"/>
          </a:xfrm>
        </p:grpSpPr>
        <p:sp>
          <p:nvSpPr>
            <p:cNvPr id="54304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305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306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307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4308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4309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4310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4311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4276" name="Group 150"/>
          <p:cNvGrpSpPr/>
          <p:nvPr/>
        </p:nvGrpSpPr>
        <p:grpSpPr bwMode="auto">
          <a:xfrm>
            <a:off x="9170988" y="4808538"/>
            <a:ext cx="628650" cy="457200"/>
            <a:chOff x="4775" y="2954"/>
            <a:chExt cx="384" cy="316"/>
          </a:xfrm>
        </p:grpSpPr>
        <p:sp>
          <p:nvSpPr>
            <p:cNvPr id="54302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4303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54277" name="Freeform 153"/>
          <p:cNvSpPr/>
          <p:nvPr/>
        </p:nvSpPr>
        <p:spPr bwMode="auto">
          <a:xfrm>
            <a:off x="5238750" y="1820864"/>
            <a:ext cx="14288" cy="3228975"/>
          </a:xfrm>
          <a:custGeom>
            <a:avLst/>
            <a:gdLst>
              <a:gd name="T0" fmla="*/ 0 w 9"/>
              <a:gd name="T1" fmla="*/ 0 h 2034"/>
              <a:gd name="T2" fmla="*/ 22682994 w 9"/>
              <a:gd name="T3" fmla="*/ 15120938 h 2034"/>
              <a:gd name="T4" fmla="*/ 15121467 w 9"/>
              <a:gd name="T5" fmla="*/ 2147483646 h 203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" h="2034">
                <a:moveTo>
                  <a:pt x="0" y="0"/>
                </a:moveTo>
                <a:lnTo>
                  <a:pt x="9" y="6"/>
                </a:lnTo>
                <a:lnTo>
                  <a:pt x="6" y="203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4278" name="Freeform 154"/>
          <p:cNvSpPr/>
          <p:nvPr/>
        </p:nvSpPr>
        <p:spPr bwMode="auto">
          <a:xfrm>
            <a:off x="5253039" y="4084639"/>
            <a:ext cx="301625" cy="1587"/>
          </a:xfrm>
          <a:custGeom>
            <a:avLst/>
            <a:gdLst>
              <a:gd name="T0" fmla="*/ 0 w 190"/>
              <a:gd name="T1" fmla="*/ 0 h 1"/>
              <a:gd name="T2" fmla="*/ 478829688 w 190"/>
              <a:gd name="T3" fmla="*/ 2518569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0" h="1">
                <a:moveTo>
                  <a:pt x="0" y="0"/>
                </a:moveTo>
                <a:lnTo>
                  <a:pt x="190" y="1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54279" name="Group 155"/>
          <p:cNvGrpSpPr/>
          <p:nvPr/>
        </p:nvGrpSpPr>
        <p:grpSpPr bwMode="auto">
          <a:xfrm>
            <a:off x="1865313" y="1819276"/>
            <a:ext cx="361950" cy="3362325"/>
            <a:chOff x="300" y="720"/>
            <a:chExt cx="221" cy="2327"/>
          </a:xfrm>
        </p:grpSpPr>
        <p:sp>
          <p:nvSpPr>
            <p:cNvPr id="54297" name="Text Box 156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8" name="Text Box 157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9" name="Text Box 158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300" name="Text Box 159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301" name="Text Box 160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4280" name="Group 161"/>
          <p:cNvGrpSpPr/>
          <p:nvPr/>
        </p:nvGrpSpPr>
        <p:grpSpPr bwMode="auto">
          <a:xfrm>
            <a:off x="3505201" y="6138863"/>
            <a:ext cx="5154613" cy="519112"/>
            <a:chOff x="1452" y="3984"/>
            <a:chExt cx="3149" cy="359"/>
          </a:xfrm>
        </p:grpSpPr>
        <p:sp>
          <p:nvSpPr>
            <p:cNvPr id="54292" name="Text Box 162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3" name="Text Box 163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4" name="Text Box 164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5" name="Text Box 165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6" name="Text Box 166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4281" name="Group 167"/>
          <p:cNvGrpSpPr/>
          <p:nvPr/>
        </p:nvGrpSpPr>
        <p:grpSpPr bwMode="auto">
          <a:xfrm>
            <a:off x="5675314" y="5429251"/>
            <a:ext cx="344487" cy="396875"/>
            <a:chOff x="2611" y="3425"/>
            <a:chExt cx="217" cy="250"/>
          </a:xfrm>
        </p:grpSpPr>
        <p:sp>
          <p:nvSpPr>
            <p:cNvPr id="54290" name="Text Box 168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4291" name="Freeform 169"/>
            <p:cNvSpPr/>
            <p:nvPr/>
          </p:nvSpPr>
          <p:spPr bwMode="auto">
            <a:xfrm>
              <a:off x="2827" y="3430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54283" name="Text Box 171"/>
          <p:cNvSpPr txBox="1">
            <a:spLocks noChangeArrowheads="1"/>
          </p:cNvSpPr>
          <p:nvPr/>
        </p:nvSpPr>
        <p:spPr bwMode="auto">
          <a:xfrm>
            <a:off x="438092" y="172994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54284" name="Rectangle 172"/>
          <p:cNvSpPr>
            <a:spLocks noChangeArrowheads="1"/>
          </p:cNvSpPr>
          <p:nvPr/>
        </p:nvSpPr>
        <p:spPr bwMode="auto">
          <a:xfrm>
            <a:off x="3435350" y="5029201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  <a:endParaRPr lang="zh-CN" altLang="en-US" sz="2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54285" name="Group 173"/>
          <p:cNvGrpSpPr/>
          <p:nvPr/>
        </p:nvGrpSpPr>
        <p:grpSpPr bwMode="auto">
          <a:xfrm>
            <a:off x="5570538" y="1719264"/>
            <a:ext cx="793750" cy="2058987"/>
            <a:chOff x="2549" y="1083"/>
            <a:chExt cx="500" cy="1297"/>
          </a:xfrm>
        </p:grpSpPr>
        <p:sp>
          <p:nvSpPr>
            <p:cNvPr id="54287" name="Rectangle 174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4288" name="Rectangle 175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4289" name="Text Box 176"/>
            <p:cNvSpPr txBox="1">
              <a:spLocks noChangeArrowheads="1"/>
            </p:cNvSpPr>
            <p:nvPr/>
          </p:nvSpPr>
          <p:spPr bwMode="auto">
            <a:xfrm>
              <a:off x="2584" y="1972"/>
              <a:ext cx="465" cy="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298" name="Group 2"/>
          <p:cNvGrpSpPr/>
          <p:nvPr/>
        </p:nvGrpSpPr>
        <p:grpSpPr bwMode="auto">
          <a:xfrm>
            <a:off x="1524000" y="1295401"/>
            <a:ext cx="9151938" cy="5441951"/>
            <a:chOff x="0" y="816"/>
            <a:chExt cx="5765" cy="3428"/>
          </a:xfrm>
        </p:grpSpPr>
        <p:grpSp>
          <p:nvGrpSpPr>
            <p:cNvPr id="55338" name="Group 3"/>
            <p:cNvGrpSpPr/>
            <p:nvPr/>
          </p:nvGrpSpPr>
          <p:grpSpPr bwMode="auto">
            <a:xfrm>
              <a:off x="0" y="1094"/>
              <a:ext cx="462" cy="252"/>
              <a:chOff x="0" y="933"/>
              <a:chExt cx="462" cy="252"/>
            </a:xfrm>
          </p:grpSpPr>
          <p:sp>
            <p:nvSpPr>
              <p:cNvPr id="55474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75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5339" name="Group 6"/>
            <p:cNvGrpSpPr/>
            <p:nvPr/>
          </p:nvGrpSpPr>
          <p:grpSpPr bwMode="auto">
            <a:xfrm>
              <a:off x="16" y="1540"/>
              <a:ext cx="446" cy="252"/>
              <a:chOff x="16" y="1371"/>
              <a:chExt cx="446" cy="252"/>
            </a:xfrm>
          </p:grpSpPr>
          <p:sp>
            <p:nvSpPr>
              <p:cNvPr id="55472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73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5340" name="Group 9"/>
            <p:cNvGrpSpPr/>
            <p:nvPr/>
          </p:nvGrpSpPr>
          <p:grpSpPr bwMode="auto">
            <a:xfrm>
              <a:off x="16" y="1987"/>
              <a:ext cx="446" cy="252"/>
              <a:chOff x="16" y="1809"/>
              <a:chExt cx="446" cy="252"/>
            </a:xfrm>
          </p:grpSpPr>
          <p:sp>
            <p:nvSpPr>
              <p:cNvPr id="55470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71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5341" name="Group 12"/>
            <p:cNvGrpSpPr/>
            <p:nvPr/>
          </p:nvGrpSpPr>
          <p:grpSpPr bwMode="auto">
            <a:xfrm>
              <a:off x="16" y="2433"/>
              <a:ext cx="446" cy="252"/>
              <a:chOff x="16" y="2276"/>
              <a:chExt cx="446" cy="252"/>
            </a:xfrm>
          </p:grpSpPr>
          <p:sp>
            <p:nvSpPr>
              <p:cNvPr id="55468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69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5342" name="Group 15"/>
            <p:cNvGrpSpPr/>
            <p:nvPr/>
          </p:nvGrpSpPr>
          <p:grpSpPr bwMode="auto">
            <a:xfrm>
              <a:off x="16" y="2880"/>
              <a:ext cx="446" cy="252"/>
              <a:chOff x="16" y="2725"/>
              <a:chExt cx="446" cy="252"/>
            </a:xfrm>
          </p:grpSpPr>
          <p:sp>
            <p:nvSpPr>
              <p:cNvPr id="55466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67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5343" name="Group 18"/>
            <p:cNvGrpSpPr/>
            <p:nvPr/>
          </p:nvGrpSpPr>
          <p:grpSpPr bwMode="auto">
            <a:xfrm>
              <a:off x="462" y="816"/>
              <a:ext cx="5303" cy="3428"/>
              <a:chOff x="462" y="816"/>
              <a:chExt cx="5303" cy="3428"/>
            </a:xfrm>
          </p:grpSpPr>
          <p:sp>
            <p:nvSpPr>
              <p:cNvPr id="55344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345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3751 w 352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46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347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72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48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49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0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1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78 h 93"/>
                  <a:gd name="T2" fmla="*/ 0 w 1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2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86 h 105"/>
                  <a:gd name="T2" fmla="*/ 3 w 3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3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4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3766 w 354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5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6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3769 w 354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7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8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59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0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1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2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3789 w 35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3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4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5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6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7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8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69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0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371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2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3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4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5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6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7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8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79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04 w 192"/>
                  <a:gd name="T1" fmla="*/ 0 h 2224"/>
                  <a:gd name="T2" fmla="*/ 0 w 192"/>
                  <a:gd name="T3" fmla="*/ 0 h 2224"/>
                  <a:gd name="T4" fmla="*/ 2 w 192"/>
                  <a:gd name="T5" fmla="*/ 1842 h 2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0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1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04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2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3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4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5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6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06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7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04 w 193"/>
                  <a:gd name="T3" fmla="*/ 0 h 2250"/>
                  <a:gd name="T4" fmla="*/ 205 w 193"/>
                  <a:gd name="T5" fmla="*/ 1862 h 2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8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89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90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00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91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92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93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94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07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5395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396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bIns="0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397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398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399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00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1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2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3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4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5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6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7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8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09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5410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1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2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13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4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5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6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11" cy="20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7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8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19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20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21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22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23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24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25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26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27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5428" name="Group 103"/>
              <p:cNvGrpSpPr/>
              <p:nvPr/>
            </p:nvGrpSpPr>
            <p:grpSpPr bwMode="auto">
              <a:xfrm>
                <a:off x="1492" y="3918"/>
                <a:ext cx="287" cy="325"/>
                <a:chOff x="1584" y="3918"/>
                <a:chExt cx="287" cy="325"/>
              </a:xfrm>
            </p:grpSpPr>
            <p:sp>
              <p:nvSpPr>
                <p:cNvPr id="55464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65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5429" name="Group 106"/>
              <p:cNvGrpSpPr/>
              <p:nvPr/>
            </p:nvGrpSpPr>
            <p:grpSpPr bwMode="auto">
              <a:xfrm>
                <a:off x="2234" y="3918"/>
                <a:ext cx="288" cy="326"/>
                <a:chOff x="2355" y="3918"/>
                <a:chExt cx="288" cy="326"/>
              </a:xfrm>
            </p:grpSpPr>
            <p:sp>
              <p:nvSpPr>
                <p:cNvPr id="55462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63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5430" name="Group 109"/>
              <p:cNvGrpSpPr/>
              <p:nvPr/>
            </p:nvGrpSpPr>
            <p:grpSpPr bwMode="auto">
              <a:xfrm>
                <a:off x="2978" y="3918"/>
                <a:ext cx="287" cy="326"/>
                <a:chOff x="3102" y="3918"/>
                <a:chExt cx="287" cy="326"/>
              </a:xfrm>
            </p:grpSpPr>
            <p:sp>
              <p:nvSpPr>
                <p:cNvPr id="55460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61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5431" name="Group 112"/>
              <p:cNvGrpSpPr/>
              <p:nvPr/>
            </p:nvGrpSpPr>
            <p:grpSpPr bwMode="auto">
              <a:xfrm>
                <a:off x="3721" y="3918"/>
                <a:ext cx="287" cy="326"/>
                <a:chOff x="3844" y="3918"/>
                <a:chExt cx="287" cy="326"/>
              </a:xfrm>
            </p:grpSpPr>
            <p:sp>
              <p:nvSpPr>
                <p:cNvPr id="55458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59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5432" name="Group 115"/>
              <p:cNvGrpSpPr/>
              <p:nvPr/>
            </p:nvGrpSpPr>
            <p:grpSpPr bwMode="auto">
              <a:xfrm>
                <a:off x="4464" y="3918"/>
                <a:ext cx="287" cy="325"/>
                <a:chOff x="4603" y="3918"/>
                <a:chExt cx="287" cy="325"/>
              </a:xfrm>
            </p:grpSpPr>
            <p:sp>
              <p:nvSpPr>
                <p:cNvPr id="55456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57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  <a:endParaRPr lang="en-US" altLang="zh-CN" sz="2000" baseline="-25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5433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34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35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55436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37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5438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55452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53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54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55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5439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55448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49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50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51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5440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55444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45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46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5447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5441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42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5443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5299" name="Group 141"/>
          <p:cNvGrpSpPr/>
          <p:nvPr/>
        </p:nvGrpSpPr>
        <p:grpSpPr bwMode="auto">
          <a:xfrm>
            <a:off x="3357563" y="3711576"/>
            <a:ext cx="5791200" cy="646113"/>
            <a:chOff x="1155" y="2338"/>
            <a:chExt cx="3648" cy="407"/>
          </a:xfrm>
        </p:grpSpPr>
        <p:sp>
          <p:nvSpPr>
            <p:cNvPr id="55330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331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332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333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334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5335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5336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5337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5300" name="Group 150"/>
          <p:cNvGrpSpPr/>
          <p:nvPr/>
        </p:nvGrpSpPr>
        <p:grpSpPr bwMode="auto">
          <a:xfrm>
            <a:off x="9170988" y="4808538"/>
            <a:ext cx="628650" cy="457200"/>
            <a:chOff x="4775" y="2954"/>
            <a:chExt cx="384" cy="316"/>
          </a:xfrm>
        </p:grpSpPr>
        <p:sp>
          <p:nvSpPr>
            <p:cNvPr id="55328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5329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5301" name="Group 153"/>
          <p:cNvGrpSpPr/>
          <p:nvPr/>
        </p:nvGrpSpPr>
        <p:grpSpPr bwMode="auto">
          <a:xfrm>
            <a:off x="5238751" y="1820864"/>
            <a:ext cx="315913" cy="3228975"/>
            <a:chOff x="2340" y="1128"/>
            <a:chExt cx="199" cy="2034"/>
          </a:xfrm>
        </p:grpSpPr>
        <p:sp>
          <p:nvSpPr>
            <p:cNvPr id="55326" name="Freeform 154"/>
            <p:cNvSpPr/>
            <p:nvPr/>
          </p:nvSpPr>
          <p:spPr bwMode="auto">
            <a:xfrm>
              <a:off x="2340" y="1128"/>
              <a:ext cx="9" cy="2034"/>
            </a:xfrm>
            <a:custGeom>
              <a:avLst/>
              <a:gdLst>
                <a:gd name="T0" fmla="*/ 0 w 9"/>
                <a:gd name="T1" fmla="*/ 0 h 2034"/>
                <a:gd name="T2" fmla="*/ 9 w 9"/>
                <a:gd name="T3" fmla="*/ 6 h 2034"/>
                <a:gd name="T4" fmla="*/ 6 w 9"/>
                <a:gd name="T5" fmla="*/ 2034 h 20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34">
                  <a:moveTo>
                    <a:pt x="0" y="0"/>
                  </a:moveTo>
                  <a:lnTo>
                    <a:pt x="9" y="6"/>
                  </a:lnTo>
                  <a:lnTo>
                    <a:pt x="6" y="2034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5327" name="Freeform 155"/>
            <p:cNvSpPr/>
            <p:nvPr/>
          </p:nvSpPr>
          <p:spPr bwMode="auto">
            <a:xfrm>
              <a:off x="2349" y="2577"/>
              <a:ext cx="190" cy="1"/>
            </a:xfrm>
            <a:custGeom>
              <a:avLst/>
              <a:gdLst>
                <a:gd name="T0" fmla="*/ 0 w 190"/>
                <a:gd name="T1" fmla="*/ 0 h 1"/>
                <a:gd name="T2" fmla="*/ 190 w 19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0" h="1">
                  <a:moveTo>
                    <a:pt x="0" y="0"/>
                  </a:moveTo>
                  <a:lnTo>
                    <a:pt x="190" y="1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43868" name="Rectangle 156"/>
          <p:cNvSpPr>
            <a:spLocks noChangeArrowheads="1"/>
          </p:cNvSpPr>
          <p:nvPr/>
        </p:nvSpPr>
        <p:spPr bwMode="auto">
          <a:xfrm>
            <a:off x="5565776" y="3987801"/>
            <a:ext cx="549275" cy="227013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55303" name="Group 157"/>
          <p:cNvGrpSpPr/>
          <p:nvPr/>
        </p:nvGrpSpPr>
        <p:grpSpPr bwMode="auto">
          <a:xfrm>
            <a:off x="1865313" y="1819276"/>
            <a:ext cx="361950" cy="3362325"/>
            <a:chOff x="300" y="720"/>
            <a:chExt cx="221" cy="2327"/>
          </a:xfrm>
        </p:grpSpPr>
        <p:sp>
          <p:nvSpPr>
            <p:cNvPr id="55321" name="Text Box 158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22" name="Text Box 159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23" name="Text Box 160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24" name="Text Box 161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25" name="Text Box 162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5304" name="Group 163"/>
          <p:cNvGrpSpPr/>
          <p:nvPr/>
        </p:nvGrpSpPr>
        <p:grpSpPr bwMode="auto">
          <a:xfrm>
            <a:off x="3505201" y="6138863"/>
            <a:ext cx="5154613" cy="519112"/>
            <a:chOff x="1452" y="3984"/>
            <a:chExt cx="3149" cy="359"/>
          </a:xfrm>
        </p:grpSpPr>
        <p:sp>
          <p:nvSpPr>
            <p:cNvPr id="55316" name="Text Box 164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17" name="Text Box 165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18" name="Text Box 166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19" name="Text Box 167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20" name="Text Box 168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5305" name="Group 169"/>
          <p:cNvGrpSpPr/>
          <p:nvPr/>
        </p:nvGrpSpPr>
        <p:grpSpPr bwMode="auto">
          <a:xfrm>
            <a:off x="5675314" y="5429251"/>
            <a:ext cx="344487" cy="396875"/>
            <a:chOff x="2611" y="3425"/>
            <a:chExt cx="217" cy="250"/>
          </a:xfrm>
        </p:grpSpPr>
        <p:sp>
          <p:nvSpPr>
            <p:cNvPr id="55314" name="Text Box 170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5315" name="Freeform 171"/>
            <p:cNvSpPr/>
            <p:nvPr/>
          </p:nvSpPr>
          <p:spPr bwMode="auto">
            <a:xfrm>
              <a:off x="2827" y="3430"/>
              <a:ext cx="1" cy="136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55307" name="Text Box 173"/>
          <p:cNvSpPr txBox="1">
            <a:spLocks noChangeArrowheads="1"/>
          </p:cNvSpPr>
          <p:nvPr/>
        </p:nvSpPr>
        <p:spPr bwMode="auto">
          <a:xfrm>
            <a:off x="513556" y="172706"/>
            <a:ext cx="769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 dirty="0">
                <a:latin typeface="Times New Roman" panose="02020603050405020304" pitchFamily="18" charset="0"/>
              </a:rPr>
              <a:t>三管动态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芯片 (</a:t>
            </a:r>
            <a:r>
              <a:rPr lang="en-US" altLang="zh-CN" sz="3200" dirty="0">
                <a:latin typeface="Times New Roman" panose="02020603050405020304" pitchFamily="18" charset="0"/>
              </a:rPr>
              <a:t>Intel 1103)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endParaRPr lang="zh-CN" altLang="en-US" sz="36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55308" name="Rectangle 174"/>
          <p:cNvSpPr>
            <a:spLocks noChangeArrowheads="1"/>
          </p:cNvSpPr>
          <p:nvPr/>
        </p:nvSpPr>
        <p:spPr bwMode="auto">
          <a:xfrm>
            <a:off x="3435350" y="5029201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  <a:endParaRPr lang="zh-CN" altLang="en-US" sz="2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55309" name="Group 175"/>
          <p:cNvGrpSpPr/>
          <p:nvPr/>
        </p:nvGrpSpPr>
        <p:grpSpPr bwMode="auto">
          <a:xfrm>
            <a:off x="5570538" y="1719264"/>
            <a:ext cx="793750" cy="2058987"/>
            <a:chOff x="2549" y="1083"/>
            <a:chExt cx="500" cy="1297"/>
          </a:xfrm>
        </p:grpSpPr>
        <p:sp>
          <p:nvSpPr>
            <p:cNvPr id="55311" name="Rectangle 176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5312" name="Rectangle 177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5313" name="Text Box 178"/>
            <p:cNvSpPr txBox="1">
              <a:spLocks noChangeArrowheads="1"/>
            </p:cNvSpPr>
            <p:nvPr/>
          </p:nvSpPr>
          <p:spPr bwMode="auto">
            <a:xfrm>
              <a:off x="2584" y="1972"/>
              <a:ext cx="465" cy="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3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840" name="Group 104"/>
          <p:cNvGrpSpPr/>
          <p:nvPr/>
        </p:nvGrpSpPr>
        <p:grpSpPr bwMode="auto">
          <a:xfrm>
            <a:off x="1960563" y="1200150"/>
            <a:ext cx="8631238" cy="5456238"/>
            <a:chOff x="275" y="756"/>
            <a:chExt cx="5437" cy="3437"/>
          </a:xfrm>
        </p:grpSpPr>
        <p:grpSp>
          <p:nvGrpSpPr>
            <p:cNvPr id="56340" name="Group 103"/>
            <p:cNvGrpSpPr/>
            <p:nvPr/>
          </p:nvGrpSpPr>
          <p:grpSpPr bwMode="auto">
            <a:xfrm>
              <a:off x="275" y="756"/>
              <a:ext cx="5437" cy="3437"/>
              <a:chOff x="275" y="756"/>
              <a:chExt cx="5437" cy="3437"/>
            </a:xfrm>
          </p:grpSpPr>
          <p:sp>
            <p:nvSpPr>
              <p:cNvPr id="56343" name="Rectangle 5"/>
              <p:cNvSpPr>
                <a:spLocks noChangeArrowheads="1"/>
              </p:cNvSpPr>
              <p:nvPr/>
            </p:nvSpPr>
            <p:spPr bwMode="auto">
              <a:xfrm>
                <a:off x="1362" y="784"/>
                <a:ext cx="3015" cy="6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44" name="Rectangle 6"/>
              <p:cNvSpPr>
                <a:spLocks noChangeArrowheads="1"/>
              </p:cNvSpPr>
              <p:nvPr/>
            </p:nvSpPr>
            <p:spPr bwMode="auto">
              <a:xfrm>
                <a:off x="2251" y="966"/>
                <a:ext cx="123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800"/>
                  <a:t>时序与控制 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45" name="Rectangle 7"/>
              <p:cNvSpPr>
                <a:spLocks noChangeArrowheads="1"/>
              </p:cNvSpPr>
              <p:nvPr/>
            </p:nvSpPr>
            <p:spPr bwMode="auto">
              <a:xfrm>
                <a:off x="4728" y="766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行时钟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46" name="Rectangle 8"/>
              <p:cNvSpPr>
                <a:spLocks noChangeArrowheads="1"/>
              </p:cNvSpPr>
              <p:nvPr/>
            </p:nvSpPr>
            <p:spPr bwMode="auto">
              <a:xfrm>
                <a:off x="4728" y="1004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列时钟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47" name="Rectangle 9"/>
              <p:cNvSpPr>
                <a:spLocks noChangeArrowheads="1"/>
              </p:cNvSpPr>
              <p:nvPr/>
            </p:nvSpPr>
            <p:spPr bwMode="auto">
              <a:xfrm>
                <a:off x="4728" y="1242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写时钟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48" name="Rectangle 10"/>
              <p:cNvSpPr>
                <a:spLocks noChangeArrowheads="1"/>
              </p:cNvSpPr>
              <p:nvPr/>
            </p:nvSpPr>
            <p:spPr bwMode="auto">
              <a:xfrm>
                <a:off x="640" y="1229"/>
                <a:ext cx="337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200">
                    <a:latin typeface="Times New Roman" panose="02020603050405020304" pitchFamily="18" charset="0"/>
                  </a:rPr>
                  <a:t> </a:t>
                </a:r>
                <a:r>
                  <a:rPr lang="en-US" altLang="zh-CN" sz="2200">
                    <a:latin typeface="Times New Roman" panose="02020603050405020304" pitchFamily="18" charset="0"/>
                  </a:rPr>
                  <a:t>WE</a:t>
                </a:r>
                <a:endParaRPr lang="en-US" altLang="zh-CN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49" name="Line 11"/>
              <p:cNvSpPr>
                <a:spLocks noChangeShapeType="1"/>
              </p:cNvSpPr>
              <p:nvPr/>
            </p:nvSpPr>
            <p:spPr bwMode="auto">
              <a:xfrm>
                <a:off x="648" y="1243"/>
                <a:ext cx="33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50" name="Rectangle 12"/>
              <p:cNvSpPr>
                <a:spLocks noChangeArrowheads="1"/>
              </p:cNvSpPr>
              <p:nvPr/>
            </p:nvSpPr>
            <p:spPr bwMode="auto">
              <a:xfrm>
                <a:off x="651" y="756"/>
                <a:ext cx="35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200">
                    <a:latin typeface="Times New Roman" panose="02020603050405020304" pitchFamily="18" charset="0"/>
                  </a:rPr>
                  <a:t>RAS</a:t>
                </a:r>
                <a:endParaRPr lang="en-US" altLang="zh-CN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51" name="Line 13"/>
              <p:cNvSpPr>
                <a:spLocks noChangeShapeType="1"/>
              </p:cNvSpPr>
              <p:nvPr/>
            </p:nvSpPr>
            <p:spPr bwMode="auto">
              <a:xfrm>
                <a:off x="624" y="768"/>
                <a:ext cx="40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52" name="Rectangle 14"/>
              <p:cNvSpPr>
                <a:spLocks noChangeArrowheads="1"/>
              </p:cNvSpPr>
              <p:nvPr/>
            </p:nvSpPr>
            <p:spPr bwMode="auto">
              <a:xfrm>
                <a:off x="651" y="992"/>
                <a:ext cx="355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200">
                    <a:latin typeface="Times New Roman" panose="02020603050405020304" pitchFamily="18" charset="0"/>
                  </a:rPr>
                  <a:t>CAS</a:t>
                </a:r>
                <a:endParaRPr lang="en-US" altLang="zh-CN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53" name="Line 15"/>
              <p:cNvSpPr>
                <a:spLocks noChangeShapeType="1"/>
              </p:cNvSpPr>
              <p:nvPr/>
            </p:nvSpPr>
            <p:spPr bwMode="auto">
              <a:xfrm>
                <a:off x="624" y="1004"/>
                <a:ext cx="40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54" name="Rectangle 16"/>
              <p:cNvSpPr>
                <a:spLocks noChangeArrowheads="1"/>
              </p:cNvSpPr>
              <p:nvPr/>
            </p:nvSpPr>
            <p:spPr bwMode="auto">
              <a:xfrm>
                <a:off x="957" y="1618"/>
                <a:ext cx="525" cy="85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55" name="Rectangle 19"/>
              <p:cNvSpPr>
                <a:spLocks noChangeArrowheads="1"/>
              </p:cNvSpPr>
              <p:nvPr/>
            </p:nvSpPr>
            <p:spPr bwMode="auto">
              <a:xfrm>
                <a:off x="957" y="3107"/>
                <a:ext cx="525" cy="857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56" name="Rectangle 22"/>
              <p:cNvSpPr>
                <a:spLocks noChangeArrowheads="1"/>
              </p:cNvSpPr>
              <p:nvPr/>
            </p:nvSpPr>
            <p:spPr bwMode="auto">
              <a:xfrm rot="5400000">
                <a:off x="1785" y="2301"/>
                <a:ext cx="8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 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57" name="Rectangle 23"/>
              <p:cNvSpPr>
                <a:spLocks noChangeArrowheads="1"/>
              </p:cNvSpPr>
              <p:nvPr/>
            </p:nvSpPr>
            <p:spPr bwMode="auto">
              <a:xfrm>
                <a:off x="336" y="1714"/>
                <a:ext cx="287" cy="4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58" name="Rectangle 24"/>
              <p:cNvSpPr>
                <a:spLocks noChangeArrowheads="1"/>
              </p:cNvSpPr>
              <p:nvPr/>
            </p:nvSpPr>
            <p:spPr bwMode="auto">
              <a:xfrm>
                <a:off x="336" y="1743"/>
                <a:ext cx="121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100">
                    <a:latin typeface="Times New Roman" panose="02020603050405020304" pitchFamily="18" charset="0"/>
                  </a:rPr>
                  <a:t>A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59" name="Rectangle 25"/>
              <p:cNvSpPr>
                <a:spLocks noChangeArrowheads="1"/>
              </p:cNvSpPr>
              <p:nvPr/>
            </p:nvSpPr>
            <p:spPr bwMode="auto">
              <a:xfrm>
                <a:off x="432" y="1718"/>
                <a:ext cx="3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'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60" name="Rectangle 26"/>
              <p:cNvSpPr>
                <a:spLocks noChangeArrowheads="1"/>
              </p:cNvSpPr>
              <p:nvPr/>
            </p:nvSpPr>
            <p:spPr bwMode="auto">
              <a:xfrm>
                <a:off x="468" y="1822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6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61" name="Rectangle 27"/>
              <p:cNvSpPr>
                <a:spLocks noChangeArrowheads="1"/>
              </p:cNvSpPr>
              <p:nvPr/>
            </p:nvSpPr>
            <p:spPr bwMode="auto">
              <a:xfrm>
                <a:off x="336" y="2071"/>
                <a:ext cx="121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100">
                    <a:latin typeface="Times New Roman" panose="02020603050405020304" pitchFamily="18" charset="0"/>
                  </a:rPr>
                  <a:t>A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62" name="Rectangle 28"/>
              <p:cNvSpPr>
                <a:spLocks noChangeArrowheads="1"/>
              </p:cNvSpPr>
              <p:nvPr/>
            </p:nvSpPr>
            <p:spPr bwMode="auto">
              <a:xfrm>
                <a:off x="432" y="2054"/>
                <a:ext cx="3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'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63" name="Rectangle 29"/>
              <p:cNvSpPr>
                <a:spLocks noChangeArrowheads="1"/>
              </p:cNvSpPr>
              <p:nvPr/>
            </p:nvSpPr>
            <p:spPr bwMode="auto">
              <a:xfrm>
                <a:off x="468" y="2150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64" name="Rectangle 30"/>
              <p:cNvSpPr>
                <a:spLocks noChangeArrowheads="1"/>
              </p:cNvSpPr>
              <p:nvPr/>
            </p:nvSpPr>
            <p:spPr bwMode="auto">
              <a:xfrm>
                <a:off x="624" y="2016"/>
                <a:ext cx="48" cy="153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65" name="Rectangle 31"/>
              <p:cNvSpPr>
                <a:spLocks noChangeArrowheads="1"/>
              </p:cNvSpPr>
              <p:nvPr/>
            </p:nvSpPr>
            <p:spPr bwMode="auto">
              <a:xfrm>
                <a:off x="2208" y="3696"/>
                <a:ext cx="1152" cy="3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存储单元阵列</a:t>
                </a:r>
                <a:endParaRPr lang="zh-CN" altLang="en-US" sz="2000"/>
              </a:p>
            </p:txBody>
          </p:sp>
          <p:sp>
            <p:nvSpPr>
              <p:cNvPr id="56366" name="Rectangle 32"/>
              <p:cNvSpPr>
                <a:spLocks noChangeArrowheads="1"/>
              </p:cNvSpPr>
              <p:nvPr/>
            </p:nvSpPr>
            <p:spPr bwMode="auto">
              <a:xfrm>
                <a:off x="2304" y="3336"/>
                <a:ext cx="1152" cy="38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基准单元</a:t>
                </a:r>
                <a:endParaRPr lang="zh-CN" altLang="en-US" sz="2000"/>
              </a:p>
            </p:txBody>
          </p:sp>
          <p:sp>
            <p:nvSpPr>
              <p:cNvPr id="56367" name="Rectangle 33"/>
              <p:cNvSpPr>
                <a:spLocks noChangeArrowheads="1"/>
              </p:cNvSpPr>
              <p:nvPr/>
            </p:nvSpPr>
            <p:spPr bwMode="auto">
              <a:xfrm>
                <a:off x="1920" y="3264"/>
                <a:ext cx="288" cy="7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行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译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码</a:t>
                </a:r>
                <a:endParaRPr lang="zh-CN" altLang="en-US" sz="2000"/>
              </a:p>
            </p:txBody>
          </p:sp>
          <p:sp>
            <p:nvSpPr>
              <p:cNvPr id="56368" name="Rectangle 34"/>
              <p:cNvSpPr>
                <a:spLocks noChangeArrowheads="1"/>
              </p:cNvSpPr>
              <p:nvPr/>
            </p:nvSpPr>
            <p:spPr bwMode="auto">
              <a:xfrm>
                <a:off x="2352" y="2948"/>
                <a:ext cx="1152" cy="33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列译码器</a:t>
                </a:r>
                <a:endParaRPr lang="zh-CN" altLang="en-US" sz="2000"/>
              </a:p>
            </p:txBody>
          </p:sp>
          <p:sp>
            <p:nvSpPr>
              <p:cNvPr id="56369" name="Rectangle 35"/>
              <p:cNvSpPr>
                <a:spLocks noChangeArrowheads="1"/>
              </p:cNvSpPr>
              <p:nvPr/>
            </p:nvSpPr>
            <p:spPr bwMode="auto">
              <a:xfrm>
                <a:off x="2256" y="2597"/>
                <a:ext cx="1152" cy="36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再生放大器</a:t>
                </a:r>
                <a:endParaRPr lang="zh-CN" altLang="en-US" sz="2000"/>
              </a:p>
            </p:txBody>
          </p:sp>
          <p:sp>
            <p:nvSpPr>
              <p:cNvPr id="56370" name="Rectangle 36"/>
              <p:cNvSpPr>
                <a:spLocks noChangeArrowheads="1"/>
              </p:cNvSpPr>
              <p:nvPr/>
            </p:nvSpPr>
            <p:spPr bwMode="auto">
              <a:xfrm>
                <a:off x="2352" y="2319"/>
                <a:ext cx="115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列译码器</a:t>
                </a:r>
                <a:endParaRPr lang="zh-CN" altLang="en-US" sz="2000"/>
              </a:p>
            </p:txBody>
          </p:sp>
          <p:sp>
            <p:nvSpPr>
              <p:cNvPr id="56371" name="Rectangle 37"/>
              <p:cNvSpPr>
                <a:spLocks noChangeArrowheads="1"/>
              </p:cNvSpPr>
              <p:nvPr/>
            </p:nvSpPr>
            <p:spPr bwMode="auto">
              <a:xfrm>
                <a:off x="1920" y="2279"/>
                <a:ext cx="288" cy="98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读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出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放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大</a:t>
                </a:r>
                <a:endParaRPr lang="zh-CN" altLang="en-US" sz="2000"/>
              </a:p>
            </p:txBody>
          </p:sp>
          <p:sp>
            <p:nvSpPr>
              <p:cNvPr id="56372" name="Rectangle 38"/>
              <p:cNvSpPr>
                <a:spLocks noChangeArrowheads="1"/>
              </p:cNvSpPr>
              <p:nvPr/>
            </p:nvSpPr>
            <p:spPr bwMode="auto">
              <a:xfrm>
                <a:off x="2352" y="1970"/>
                <a:ext cx="1152" cy="3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基准单元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73" name="Rectangle 39"/>
              <p:cNvSpPr>
                <a:spLocks noChangeArrowheads="1"/>
              </p:cNvSpPr>
              <p:nvPr/>
            </p:nvSpPr>
            <p:spPr bwMode="auto">
              <a:xfrm>
                <a:off x="2208" y="1596"/>
                <a:ext cx="1152" cy="38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存储单元阵列</a:t>
                </a:r>
                <a:endParaRPr lang="zh-CN" altLang="en-US" sz="2000"/>
              </a:p>
            </p:txBody>
          </p:sp>
          <p:sp>
            <p:nvSpPr>
              <p:cNvPr id="56374" name="Rectangle 40"/>
              <p:cNvSpPr>
                <a:spLocks noChangeArrowheads="1"/>
              </p:cNvSpPr>
              <p:nvPr/>
            </p:nvSpPr>
            <p:spPr bwMode="auto">
              <a:xfrm>
                <a:off x="1920" y="1536"/>
                <a:ext cx="288" cy="7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行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译</a:t>
                </a:r>
                <a:endParaRPr lang="zh-CN" altLang="en-US" sz="2000"/>
              </a:p>
              <a:p>
                <a:pPr eaLnBrk="1" hangingPunct="1">
                  <a:lnSpc>
                    <a:spcPct val="95000"/>
                  </a:lnSpc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码</a:t>
                </a:r>
                <a:endParaRPr lang="zh-CN" altLang="en-US" sz="2000"/>
              </a:p>
            </p:txBody>
          </p:sp>
          <p:sp>
            <p:nvSpPr>
              <p:cNvPr id="56375" name="Line 41"/>
              <p:cNvSpPr>
                <a:spLocks noChangeShapeType="1"/>
              </p:cNvSpPr>
              <p:nvPr/>
            </p:nvSpPr>
            <p:spPr bwMode="auto">
              <a:xfrm>
                <a:off x="1920" y="2279"/>
                <a:ext cx="14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76" name="Line 42"/>
              <p:cNvSpPr>
                <a:spLocks noChangeShapeType="1"/>
              </p:cNvSpPr>
              <p:nvPr/>
            </p:nvSpPr>
            <p:spPr bwMode="auto">
              <a:xfrm>
                <a:off x="1920" y="3264"/>
                <a:ext cx="14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77" name="Line 43"/>
              <p:cNvSpPr>
                <a:spLocks noChangeShapeType="1"/>
              </p:cNvSpPr>
              <p:nvPr/>
            </p:nvSpPr>
            <p:spPr bwMode="auto">
              <a:xfrm>
                <a:off x="1920" y="4007"/>
                <a:ext cx="1440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78" name="Line 44"/>
              <p:cNvSpPr>
                <a:spLocks noChangeShapeType="1"/>
              </p:cNvSpPr>
              <p:nvPr/>
            </p:nvSpPr>
            <p:spPr bwMode="auto">
              <a:xfrm>
                <a:off x="1920" y="1536"/>
                <a:ext cx="0" cy="247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79" name="Line 45"/>
              <p:cNvSpPr>
                <a:spLocks noChangeShapeType="1"/>
              </p:cNvSpPr>
              <p:nvPr/>
            </p:nvSpPr>
            <p:spPr bwMode="auto">
              <a:xfrm>
                <a:off x="2208" y="1536"/>
                <a:ext cx="0" cy="247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0" name="Line 46"/>
              <p:cNvSpPr>
                <a:spLocks noChangeShapeType="1"/>
              </p:cNvSpPr>
              <p:nvPr/>
            </p:nvSpPr>
            <p:spPr bwMode="auto">
              <a:xfrm>
                <a:off x="3360" y="1536"/>
                <a:ext cx="0" cy="247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1" name="Freeform 47"/>
              <p:cNvSpPr/>
              <p:nvPr/>
            </p:nvSpPr>
            <p:spPr bwMode="auto">
              <a:xfrm>
                <a:off x="1923" y="1533"/>
                <a:ext cx="1437" cy="4"/>
              </a:xfrm>
              <a:custGeom>
                <a:avLst/>
                <a:gdLst>
                  <a:gd name="T0" fmla="*/ 0 w 1437"/>
                  <a:gd name="T1" fmla="*/ 0 h 4"/>
                  <a:gd name="T2" fmla="*/ 1437 w 1437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37" h="4">
                    <a:moveTo>
                      <a:pt x="0" y="0"/>
                    </a:moveTo>
                    <a:lnTo>
                      <a:pt x="1437" y="4"/>
                    </a:lnTo>
                  </a:path>
                </a:pathLst>
              </a:custGeom>
              <a:noFill/>
              <a:ln w="38100" cap="sq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2" name="Line 48"/>
              <p:cNvSpPr>
                <a:spLocks noChangeShapeType="1"/>
              </p:cNvSpPr>
              <p:nvPr/>
            </p:nvSpPr>
            <p:spPr bwMode="auto">
              <a:xfrm>
                <a:off x="2208" y="1920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3" name="Line 49"/>
              <p:cNvSpPr>
                <a:spLocks noChangeShapeType="1"/>
              </p:cNvSpPr>
              <p:nvPr/>
            </p:nvSpPr>
            <p:spPr bwMode="auto">
              <a:xfrm>
                <a:off x="2208" y="2567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4" name="Line 50"/>
              <p:cNvSpPr>
                <a:spLocks noChangeShapeType="1"/>
              </p:cNvSpPr>
              <p:nvPr/>
            </p:nvSpPr>
            <p:spPr bwMode="auto">
              <a:xfrm>
                <a:off x="2208" y="2928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5" name="Line 51"/>
              <p:cNvSpPr>
                <a:spLocks noChangeShapeType="1"/>
              </p:cNvSpPr>
              <p:nvPr/>
            </p:nvSpPr>
            <p:spPr bwMode="auto">
              <a:xfrm>
                <a:off x="2208" y="3648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386" name="Rectangle 52"/>
              <p:cNvSpPr>
                <a:spLocks noChangeArrowheads="1"/>
              </p:cNvSpPr>
              <p:nvPr/>
            </p:nvSpPr>
            <p:spPr bwMode="auto">
              <a:xfrm>
                <a:off x="4215" y="2497"/>
                <a:ext cx="740" cy="6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87" name="Rectangle 53"/>
              <p:cNvSpPr>
                <a:spLocks noChangeArrowheads="1"/>
              </p:cNvSpPr>
              <p:nvPr/>
            </p:nvSpPr>
            <p:spPr bwMode="auto">
              <a:xfrm>
                <a:off x="4223" y="2568"/>
                <a:ext cx="503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200">
                    <a:latin typeface="Times New Roman" panose="02020603050405020304" pitchFamily="18" charset="0"/>
                  </a:rPr>
                  <a:t>     </a:t>
                </a:r>
                <a:r>
                  <a:rPr lang="zh-CN" altLang="en-US" sz="1200">
                    <a:latin typeface="Times New Roman" panose="02020603050405020304" pitchFamily="18" charset="0"/>
                  </a:rPr>
                  <a:t> </a:t>
                </a:r>
                <a:r>
                  <a:rPr lang="en-US" altLang="zh-CN" sz="2200">
                    <a:latin typeface="Times New Roman" panose="02020603050405020304" pitchFamily="18" charset="0"/>
                  </a:rPr>
                  <a:t>I/O</a:t>
                </a:r>
                <a:endParaRPr lang="en-US" altLang="zh-CN" sz="2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88" name="Rectangle 54"/>
              <p:cNvSpPr>
                <a:spLocks noChangeArrowheads="1"/>
              </p:cNvSpPr>
              <p:nvPr/>
            </p:nvSpPr>
            <p:spPr bwMode="auto">
              <a:xfrm>
                <a:off x="4353" y="2802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缓存器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89" name="Rectangle 55"/>
              <p:cNvSpPr>
                <a:spLocks noChangeArrowheads="1"/>
              </p:cNvSpPr>
              <p:nvPr/>
            </p:nvSpPr>
            <p:spPr bwMode="auto">
              <a:xfrm>
                <a:off x="4192" y="3547"/>
                <a:ext cx="73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90" name="Rectangle 56"/>
              <p:cNvSpPr>
                <a:spLocks noChangeArrowheads="1"/>
              </p:cNvSpPr>
              <p:nvPr/>
            </p:nvSpPr>
            <p:spPr bwMode="auto">
              <a:xfrm>
                <a:off x="4224" y="3592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数据输出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91" name="Rectangle 57"/>
              <p:cNvSpPr>
                <a:spLocks noChangeArrowheads="1"/>
              </p:cNvSpPr>
              <p:nvPr/>
            </p:nvSpPr>
            <p:spPr bwMode="auto">
              <a:xfrm>
                <a:off x="4417" y="3815"/>
                <a:ext cx="322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驱动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92" name="Rectangle 58"/>
              <p:cNvSpPr>
                <a:spLocks noChangeArrowheads="1"/>
              </p:cNvSpPr>
              <p:nvPr/>
            </p:nvSpPr>
            <p:spPr bwMode="auto">
              <a:xfrm>
                <a:off x="4215" y="1692"/>
                <a:ext cx="740" cy="48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93" name="Rectangle 59"/>
              <p:cNvSpPr>
                <a:spLocks noChangeArrowheads="1"/>
              </p:cNvSpPr>
              <p:nvPr/>
            </p:nvSpPr>
            <p:spPr bwMode="auto">
              <a:xfrm>
                <a:off x="4265" y="1718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数据输入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94" name="Rectangle 60"/>
              <p:cNvSpPr>
                <a:spLocks noChangeArrowheads="1"/>
              </p:cNvSpPr>
              <p:nvPr/>
            </p:nvSpPr>
            <p:spPr bwMode="auto">
              <a:xfrm>
                <a:off x="4344" y="1958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寄存器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95" name="Rectangle 61"/>
              <p:cNvSpPr>
                <a:spLocks noChangeArrowheads="1"/>
              </p:cNvSpPr>
              <p:nvPr/>
            </p:nvSpPr>
            <p:spPr bwMode="auto">
              <a:xfrm>
                <a:off x="3744" y="2389"/>
                <a:ext cx="48" cy="1795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96" name="Rectangle 62"/>
              <p:cNvSpPr>
                <a:spLocks noChangeArrowheads="1"/>
              </p:cNvSpPr>
              <p:nvPr/>
            </p:nvSpPr>
            <p:spPr bwMode="auto">
              <a:xfrm>
                <a:off x="3840" y="2524"/>
                <a:ext cx="42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100" b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397" name="Rectangle 63"/>
              <p:cNvSpPr>
                <a:spLocks noChangeArrowheads="1"/>
              </p:cNvSpPr>
              <p:nvPr/>
            </p:nvSpPr>
            <p:spPr bwMode="auto">
              <a:xfrm rot="5400000">
                <a:off x="2479" y="2917"/>
                <a:ext cx="48" cy="2487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98" name="Rectangle 64"/>
              <p:cNvSpPr>
                <a:spLocks noChangeArrowheads="1"/>
              </p:cNvSpPr>
              <p:nvPr/>
            </p:nvSpPr>
            <p:spPr bwMode="auto">
              <a:xfrm>
                <a:off x="1200" y="3975"/>
                <a:ext cx="48" cy="218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399" name="Freeform 65"/>
              <p:cNvSpPr/>
              <p:nvPr/>
            </p:nvSpPr>
            <p:spPr bwMode="auto">
              <a:xfrm>
                <a:off x="4608" y="2181"/>
                <a:ext cx="1" cy="315"/>
              </a:xfrm>
              <a:custGeom>
                <a:avLst/>
                <a:gdLst>
                  <a:gd name="T0" fmla="*/ 0 w 1"/>
                  <a:gd name="T1" fmla="*/ 0 h 315"/>
                  <a:gd name="T2" fmla="*/ 1 w 1"/>
                  <a:gd name="T3" fmla="*/ 315 h 3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15">
                    <a:moveTo>
                      <a:pt x="0" y="0"/>
                    </a:moveTo>
                    <a:lnTo>
                      <a:pt x="1" y="31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0" name="Freeform 66"/>
              <p:cNvSpPr/>
              <p:nvPr/>
            </p:nvSpPr>
            <p:spPr bwMode="auto">
              <a:xfrm>
                <a:off x="4608" y="3117"/>
                <a:ext cx="1" cy="429"/>
              </a:xfrm>
              <a:custGeom>
                <a:avLst/>
                <a:gdLst>
                  <a:gd name="T0" fmla="*/ 0 w 1"/>
                  <a:gd name="T1" fmla="*/ 0 h 429"/>
                  <a:gd name="T2" fmla="*/ 1 w 1"/>
                  <a:gd name="T3" fmla="*/ 429 h 4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29">
                    <a:moveTo>
                      <a:pt x="0" y="0"/>
                    </a:moveTo>
                    <a:lnTo>
                      <a:pt x="1" y="42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1" name="Line 67"/>
              <p:cNvSpPr>
                <a:spLocks noChangeShapeType="1"/>
              </p:cNvSpPr>
              <p:nvPr/>
            </p:nvSpPr>
            <p:spPr bwMode="auto">
              <a:xfrm flipH="1">
                <a:off x="4944" y="1968"/>
                <a:ext cx="3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2" name="Line 68"/>
              <p:cNvSpPr>
                <a:spLocks noChangeShapeType="1"/>
              </p:cNvSpPr>
              <p:nvPr/>
            </p:nvSpPr>
            <p:spPr bwMode="auto">
              <a:xfrm rot="10800000" flipH="1">
                <a:off x="4938" y="3792"/>
                <a:ext cx="3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3" name="Text Box 69"/>
              <p:cNvSpPr txBox="1">
                <a:spLocks noChangeArrowheads="1"/>
              </p:cNvSpPr>
              <p:nvPr/>
            </p:nvSpPr>
            <p:spPr bwMode="auto">
              <a:xfrm>
                <a:off x="5040" y="1968"/>
                <a:ext cx="48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IN</a:t>
                </a:r>
                <a:endParaRPr lang="en-US" altLang="zh-CN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404" name="Text Box 70"/>
              <p:cNvSpPr txBox="1">
                <a:spLocks noChangeArrowheads="1"/>
              </p:cNvSpPr>
              <p:nvPr/>
            </p:nvSpPr>
            <p:spPr bwMode="auto">
              <a:xfrm>
                <a:off x="4992" y="3801"/>
                <a:ext cx="72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OUT</a:t>
                </a:r>
                <a:endParaRPr lang="en-US" altLang="zh-CN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405" name="Line 71"/>
              <p:cNvSpPr>
                <a:spLocks noChangeShapeType="1"/>
              </p:cNvSpPr>
              <p:nvPr/>
            </p:nvSpPr>
            <p:spPr bwMode="auto">
              <a:xfrm>
                <a:off x="1056" y="862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6" name="Line 72"/>
              <p:cNvSpPr>
                <a:spLocks noChangeShapeType="1"/>
              </p:cNvSpPr>
              <p:nvPr/>
            </p:nvSpPr>
            <p:spPr bwMode="auto">
              <a:xfrm>
                <a:off x="1056" y="1098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7" name="Line 73"/>
              <p:cNvSpPr>
                <a:spLocks noChangeShapeType="1"/>
              </p:cNvSpPr>
              <p:nvPr/>
            </p:nvSpPr>
            <p:spPr bwMode="auto">
              <a:xfrm>
                <a:off x="1056" y="1334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8" name="Line 74"/>
              <p:cNvSpPr>
                <a:spLocks noChangeShapeType="1"/>
              </p:cNvSpPr>
              <p:nvPr/>
            </p:nvSpPr>
            <p:spPr bwMode="auto">
              <a:xfrm>
                <a:off x="4368" y="864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09" name="Line 75"/>
              <p:cNvSpPr>
                <a:spLocks noChangeShapeType="1"/>
              </p:cNvSpPr>
              <p:nvPr/>
            </p:nvSpPr>
            <p:spPr bwMode="auto">
              <a:xfrm>
                <a:off x="4368" y="1100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10" name="Line 76"/>
              <p:cNvSpPr>
                <a:spLocks noChangeShapeType="1"/>
              </p:cNvSpPr>
              <p:nvPr/>
            </p:nvSpPr>
            <p:spPr bwMode="auto">
              <a:xfrm>
                <a:off x="4368" y="1336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6411" name="AutoShape 77"/>
              <p:cNvSpPr>
                <a:spLocks noChangeArrowheads="1"/>
              </p:cNvSpPr>
              <p:nvPr/>
            </p:nvSpPr>
            <p:spPr bwMode="auto">
              <a:xfrm>
                <a:off x="560" y="1980"/>
                <a:ext cx="388" cy="100"/>
              </a:xfrm>
              <a:prstGeom prst="rightArrow">
                <a:avLst>
                  <a:gd name="adj1" fmla="val 50000"/>
                  <a:gd name="adj2" fmla="val 970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2" name="AutoShape 78"/>
              <p:cNvSpPr>
                <a:spLocks noChangeArrowheads="1"/>
              </p:cNvSpPr>
              <p:nvPr/>
            </p:nvSpPr>
            <p:spPr bwMode="auto">
              <a:xfrm>
                <a:off x="625" y="3488"/>
                <a:ext cx="320" cy="100"/>
              </a:xfrm>
              <a:prstGeom prst="rightArrow">
                <a:avLst>
                  <a:gd name="adj1" fmla="val 50000"/>
                  <a:gd name="adj2" fmla="val 800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3" name="Rectangle 79"/>
              <p:cNvSpPr>
                <a:spLocks noChangeArrowheads="1"/>
              </p:cNvSpPr>
              <p:nvPr/>
            </p:nvSpPr>
            <p:spPr bwMode="auto">
              <a:xfrm>
                <a:off x="1572" y="2004"/>
                <a:ext cx="48" cy="153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6414" name="AutoShape 80"/>
              <p:cNvSpPr>
                <a:spLocks noChangeArrowheads="1"/>
              </p:cNvSpPr>
              <p:nvPr/>
            </p:nvSpPr>
            <p:spPr bwMode="auto">
              <a:xfrm>
                <a:off x="1488" y="1968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5" name="AutoShape 81"/>
              <p:cNvSpPr>
                <a:spLocks noChangeArrowheads="1"/>
              </p:cNvSpPr>
              <p:nvPr/>
            </p:nvSpPr>
            <p:spPr bwMode="auto">
              <a:xfrm>
                <a:off x="1573" y="3476"/>
                <a:ext cx="342" cy="100"/>
              </a:xfrm>
              <a:prstGeom prst="rightArrow">
                <a:avLst>
                  <a:gd name="adj1" fmla="val 50000"/>
                  <a:gd name="adj2" fmla="val 855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6" name="AutoShape 82"/>
              <p:cNvSpPr>
                <a:spLocks noChangeArrowheads="1"/>
              </p:cNvSpPr>
              <p:nvPr/>
            </p:nvSpPr>
            <p:spPr bwMode="auto">
              <a:xfrm rot="10800000">
                <a:off x="3359" y="2348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7" name="AutoShape 83"/>
              <p:cNvSpPr>
                <a:spLocks noChangeArrowheads="1"/>
              </p:cNvSpPr>
              <p:nvPr/>
            </p:nvSpPr>
            <p:spPr bwMode="auto">
              <a:xfrm rot="10800000">
                <a:off x="3360" y="3036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8" name="AutoShape 84"/>
              <p:cNvSpPr>
                <a:spLocks noChangeArrowheads="1"/>
              </p:cNvSpPr>
              <p:nvPr/>
            </p:nvSpPr>
            <p:spPr bwMode="auto">
              <a:xfrm>
                <a:off x="3357" y="2700"/>
                <a:ext cx="841" cy="96"/>
              </a:xfrm>
              <a:prstGeom prst="leftRightArrow">
                <a:avLst>
                  <a:gd name="adj1" fmla="val 52083"/>
                  <a:gd name="adj2" fmla="val 115589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56419" name="Text Box 85"/>
              <p:cNvSpPr txBox="1">
                <a:spLocks noChangeArrowheads="1"/>
              </p:cNvSpPr>
              <p:nvPr/>
            </p:nvSpPr>
            <p:spPr bwMode="auto">
              <a:xfrm>
                <a:off x="275" y="1920"/>
                <a:ext cx="349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</a:rPr>
                  <a:t>~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6341" name="Text Box 101"/>
            <p:cNvSpPr txBox="1">
              <a:spLocks noChangeArrowheads="1"/>
            </p:cNvSpPr>
            <p:nvPr/>
          </p:nvSpPr>
          <p:spPr bwMode="auto">
            <a:xfrm>
              <a:off x="939" y="1797"/>
              <a:ext cx="726" cy="5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行地址</a:t>
              </a:r>
              <a:endParaRPr lang="zh-CN" altLang="en-US" sz="1800"/>
            </a:p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缓存器</a:t>
              </a:r>
              <a:endParaRPr lang="zh-CN" altLang="en-US" sz="1800"/>
            </a:p>
            <a:p>
              <a:pPr eaLnBrk="1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56342" name="Text Box 102"/>
            <p:cNvSpPr txBox="1">
              <a:spLocks noChangeArrowheads="1"/>
            </p:cNvSpPr>
            <p:nvPr/>
          </p:nvSpPr>
          <p:spPr bwMode="auto">
            <a:xfrm>
              <a:off x="939" y="3319"/>
              <a:ext cx="726" cy="5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列地址</a:t>
              </a:r>
              <a:endParaRPr lang="zh-CN" altLang="en-US" sz="1800"/>
            </a:p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缓存器</a:t>
              </a:r>
              <a:endParaRPr lang="zh-CN" altLang="en-US" sz="1800"/>
            </a:p>
            <a:p>
              <a:pPr eaLnBrk="1" hangingPunct="1">
                <a:spcBef>
                  <a:spcPct val="50000"/>
                </a:spcBef>
              </a:pPr>
              <a:endParaRPr lang="zh-CN" altLang="en-US"/>
            </a:p>
          </p:txBody>
        </p:sp>
      </p:grpSp>
      <p:sp>
        <p:nvSpPr>
          <p:cNvPr id="56323" name="Text Box 2"/>
          <p:cNvSpPr txBox="1">
            <a:spLocks noChangeArrowheads="1"/>
          </p:cNvSpPr>
          <p:nvPr/>
        </p:nvSpPr>
        <p:spPr bwMode="auto">
          <a:xfrm>
            <a:off x="615835" y="150020"/>
            <a:ext cx="8153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zh-CN" altLang="en-US" sz="3200" dirty="0">
                <a:latin typeface="Times New Roman" panose="02020603050405020304" pitchFamily="18" charset="0"/>
              </a:rPr>
              <a:t>单管动态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4116 </a:t>
            </a:r>
            <a:r>
              <a:rPr lang="zh-CN" altLang="en-US" sz="3200" dirty="0">
                <a:latin typeface="Times New Roman" panose="02020603050405020304" pitchFamily="18" charset="0"/>
              </a:rPr>
              <a:t>(16</a:t>
            </a:r>
            <a:r>
              <a:rPr lang="en-US" altLang="zh-CN" sz="3200" dirty="0">
                <a:latin typeface="Times New Roman" panose="02020603050405020304" pitchFamily="18" charset="0"/>
              </a:rPr>
              <a:t>K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3200" dirty="0">
                <a:latin typeface="Times New Roman" panose="02020603050405020304" pitchFamily="18" charset="0"/>
              </a:rPr>
              <a:t> </a:t>
            </a:r>
            <a:r>
              <a:rPr lang="en-US" altLang="zh-CN" sz="2800" dirty="0"/>
              <a:t>1</a:t>
            </a:r>
            <a:r>
              <a:rPr lang="zh-CN" altLang="en-US" sz="2800" dirty="0"/>
              <a:t>位</a:t>
            </a:r>
            <a:r>
              <a:rPr lang="zh-CN" altLang="en-US" sz="3200" dirty="0">
                <a:latin typeface="Times New Roman" panose="02020603050405020304" pitchFamily="18" charset="0"/>
              </a:rPr>
              <a:t>) 外特性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244822" name="Group 86"/>
          <p:cNvGrpSpPr/>
          <p:nvPr/>
        </p:nvGrpSpPr>
        <p:grpSpPr bwMode="auto">
          <a:xfrm>
            <a:off x="9363076" y="3124200"/>
            <a:ext cx="1228725" cy="3367088"/>
            <a:chOff x="4938" y="1968"/>
            <a:chExt cx="774" cy="2121"/>
          </a:xfrm>
        </p:grpSpPr>
        <p:sp>
          <p:nvSpPr>
            <p:cNvPr id="56336" name="Text Box 87"/>
            <p:cNvSpPr txBox="1">
              <a:spLocks noChangeArrowheads="1"/>
            </p:cNvSpPr>
            <p:nvPr/>
          </p:nvSpPr>
          <p:spPr bwMode="auto">
            <a:xfrm>
              <a:off x="5040" y="1968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IN</a:t>
              </a:r>
              <a:endPara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7" name="Line 88"/>
            <p:cNvSpPr>
              <a:spLocks noChangeShapeType="1"/>
            </p:cNvSpPr>
            <p:nvPr/>
          </p:nvSpPr>
          <p:spPr bwMode="auto">
            <a:xfrm flipH="1">
              <a:off x="4944" y="1968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338" name="Line 89"/>
            <p:cNvSpPr>
              <a:spLocks noChangeShapeType="1"/>
            </p:cNvSpPr>
            <p:nvPr/>
          </p:nvSpPr>
          <p:spPr bwMode="auto">
            <a:xfrm rot="10800000" flipH="1">
              <a:off x="4938" y="3792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6339" name="Text Box 90"/>
            <p:cNvSpPr txBox="1">
              <a:spLocks noChangeArrowheads="1"/>
            </p:cNvSpPr>
            <p:nvPr/>
          </p:nvSpPr>
          <p:spPr bwMode="auto">
            <a:xfrm>
              <a:off x="4992" y="3801"/>
              <a:ext cx="72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  <a:endPara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44827" name="Group 91"/>
          <p:cNvGrpSpPr/>
          <p:nvPr/>
        </p:nvGrpSpPr>
        <p:grpSpPr bwMode="auto">
          <a:xfrm>
            <a:off x="1960563" y="2720976"/>
            <a:ext cx="554038" cy="936625"/>
            <a:chOff x="275" y="1714"/>
            <a:chExt cx="349" cy="590"/>
          </a:xfrm>
        </p:grpSpPr>
        <p:sp>
          <p:nvSpPr>
            <p:cNvPr id="56328" name="Rectangle 92"/>
            <p:cNvSpPr>
              <a:spLocks noChangeArrowheads="1"/>
            </p:cNvSpPr>
            <p:nvPr/>
          </p:nvSpPr>
          <p:spPr bwMode="auto">
            <a:xfrm>
              <a:off x="336" y="1714"/>
              <a:ext cx="287" cy="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6329" name="Rectangle 93"/>
            <p:cNvSpPr>
              <a:spLocks noChangeArrowheads="1"/>
            </p:cNvSpPr>
            <p:nvPr/>
          </p:nvSpPr>
          <p:spPr bwMode="auto">
            <a:xfrm>
              <a:off x="336" y="1743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1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0" name="Rectangle 94"/>
            <p:cNvSpPr>
              <a:spLocks noChangeArrowheads="1"/>
            </p:cNvSpPr>
            <p:nvPr/>
          </p:nvSpPr>
          <p:spPr bwMode="auto">
            <a:xfrm>
              <a:off x="432" y="1718"/>
              <a:ext cx="3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'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1" name="Rectangle 95"/>
            <p:cNvSpPr>
              <a:spLocks noChangeArrowheads="1"/>
            </p:cNvSpPr>
            <p:nvPr/>
          </p:nvSpPr>
          <p:spPr bwMode="auto">
            <a:xfrm>
              <a:off x="468" y="1822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6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2" name="Rectangle 96"/>
            <p:cNvSpPr>
              <a:spLocks noChangeArrowheads="1"/>
            </p:cNvSpPr>
            <p:nvPr/>
          </p:nvSpPr>
          <p:spPr bwMode="auto">
            <a:xfrm>
              <a:off x="336" y="2071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1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3" name="Rectangle 97"/>
            <p:cNvSpPr>
              <a:spLocks noChangeArrowheads="1"/>
            </p:cNvSpPr>
            <p:nvPr/>
          </p:nvSpPr>
          <p:spPr bwMode="auto">
            <a:xfrm>
              <a:off x="432" y="2054"/>
              <a:ext cx="3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'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4" name="Rectangle 98"/>
            <p:cNvSpPr>
              <a:spLocks noChangeArrowheads="1"/>
            </p:cNvSpPr>
            <p:nvPr/>
          </p:nvSpPr>
          <p:spPr bwMode="auto">
            <a:xfrm>
              <a:off x="468" y="2150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6335" name="Text Box 99"/>
            <p:cNvSpPr txBox="1">
              <a:spLocks noChangeArrowheads="1"/>
            </p:cNvSpPr>
            <p:nvPr/>
          </p:nvSpPr>
          <p:spPr bwMode="auto">
            <a:xfrm>
              <a:off x="275" y="1920"/>
              <a:ext cx="349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~</a:t>
              </a:r>
              <a:endParaRPr lang="zh-CN" altLang="en-US" sz="2400" b="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4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44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44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8418" name="Group 2"/>
          <p:cNvGrpSpPr/>
          <p:nvPr/>
        </p:nvGrpSpPr>
        <p:grpSpPr bwMode="auto">
          <a:xfrm>
            <a:off x="1568451" y="660400"/>
            <a:ext cx="9034463" cy="5892800"/>
            <a:chOff x="28" y="416"/>
            <a:chExt cx="5691" cy="3712"/>
          </a:xfrm>
        </p:grpSpPr>
        <p:sp>
          <p:nvSpPr>
            <p:cNvPr id="57435" name="Freeform 3"/>
            <p:cNvSpPr/>
            <p:nvPr/>
          </p:nvSpPr>
          <p:spPr bwMode="auto">
            <a:xfrm>
              <a:off x="4464" y="568"/>
              <a:ext cx="419" cy="3138"/>
            </a:xfrm>
            <a:custGeom>
              <a:avLst/>
              <a:gdLst>
                <a:gd name="T0" fmla="*/ 0 w 419"/>
                <a:gd name="T1" fmla="*/ 0 h 3138"/>
                <a:gd name="T2" fmla="*/ 0 w 419"/>
                <a:gd name="T3" fmla="*/ 130 h 3138"/>
                <a:gd name="T4" fmla="*/ 416 w 419"/>
                <a:gd name="T5" fmla="*/ 130 h 3138"/>
                <a:gd name="T6" fmla="*/ 419 w 419"/>
                <a:gd name="T7" fmla="*/ 3138 h 3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3138">
                  <a:moveTo>
                    <a:pt x="0" y="0"/>
                  </a:moveTo>
                  <a:lnTo>
                    <a:pt x="0" y="130"/>
                  </a:lnTo>
                  <a:lnTo>
                    <a:pt x="416" y="130"/>
                  </a:lnTo>
                  <a:lnTo>
                    <a:pt x="419" y="313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36" name="Freeform 4"/>
            <p:cNvSpPr/>
            <p:nvPr/>
          </p:nvSpPr>
          <p:spPr bwMode="auto">
            <a:xfrm>
              <a:off x="3743" y="3684"/>
              <a:ext cx="1" cy="136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437" name="Freeform 5"/>
            <p:cNvSpPr/>
            <p:nvPr/>
          </p:nvSpPr>
          <p:spPr bwMode="auto">
            <a:xfrm>
              <a:off x="3751" y="3694"/>
              <a:ext cx="1145" cy="2"/>
            </a:xfrm>
            <a:custGeom>
              <a:avLst/>
              <a:gdLst>
                <a:gd name="T0" fmla="*/ 1282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8" name="Freeform 6"/>
            <p:cNvSpPr/>
            <p:nvPr/>
          </p:nvSpPr>
          <p:spPr bwMode="auto">
            <a:xfrm>
              <a:off x="5308" y="432"/>
              <a:ext cx="144" cy="1776"/>
            </a:xfrm>
            <a:custGeom>
              <a:avLst/>
              <a:gdLst>
                <a:gd name="T0" fmla="*/ 0 w 134"/>
                <a:gd name="T1" fmla="*/ 0 h 1540"/>
                <a:gd name="T2" fmla="*/ 17 w 134"/>
                <a:gd name="T3" fmla="*/ 3 h 1540"/>
                <a:gd name="T4" fmla="*/ 31 w 134"/>
                <a:gd name="T5" fmla="*/ 14 h 1540"/>
                <a:gd name="T6" fmla="*/ 43 w 134"/>
                <a:gd name="T7" fmla="*/ 29 h 1540"/>
                <a:gd name="T8" fmla="*/ 55 w 134"/>
                <a:gd name="T9" fmla="*/ 51 h 1540"/>
                <a:gd name="T10" fmla="*/ 64 w 134"/>
                <a:gd name="T11" fmla="*/ 75 h 1540"/>
                <a:gd name="T12" fmla="*/ 72 w 134"/>
                <a:gd name="T13" fmla="*/ 104 h 1540"/>
                <a:gd name="T14" fmla="*/ 76 w 134"/>
                <a:gd name="T15" fmla="*/ 137 h 1540"/>
                <a:gd name="T16" fmla="*/ 78 w 134"/>
                <a:gd name="T17" fmla="*/ 171 h 1540"/>
                <a:gd name="T18" fmla="*/ 78 w 134"/>
                <a:gd name="T19" fmla="*/ 856 h 1540"/>
                <a:gd name="T20" fmla="*/ 81 w 134"/>
                <a:gd name="T21" fmla="*/ 888 h 1540"/>
                <a:gd name="T22" fmla="*/ 86 w 134"/>
                <a:gd name="T23" fmla="*/ 919 h 1540"/>
                <a:gd name="T24" fmla="*/ 90 w 134"/>
                <a:gd name="T25" fmla="*/ 949 h 1540"/>
                <a:gd name="T26" fmla="*/ 99 w 134"/>
                <a:gd name="T27" fmla="*/ 974 h 1540"/>
                <a:gd name="T28" fmla="*/ 112 w 134"/>
                <a:gd name="T29" fmla="*/ 995 h 1540"/>
                <a:gd name="T30" fmla="*/ 124 w 134"/>
                <a:gd name="T31" fmla="*/ 1009 h 1540"/>
                <a:gd name="T32" fmla="*/ 138 w 134"/>
                <a:gd name="T33" fmla="*/ 1021 h 1540"/>
                <a:gd name="T34" fmla="*/ 155 w 134"/>
                <a:gd name="T35" fmla="*/ 1024 h 1540"/>
                <a:gd name="T36" fmla="*/ 138 w 134"/>
                <a:gd name="T37" fmla="*/ 1028 h 1540"/>
                <a:gd name="T38" fmla="*/ 124 w 134"/>
                <a:gd name="T39" fmla="*/ 1038 h 1540"/>
                <a:gd name="T40" fmla="*/ 112 w 134"/>
                <a:gd name="T41" fmla="*/ 1053 h 1540"/>
                <a:gd name="T42" fmla="*/ 99 w 134"/>
                <a:gd name="T43" fmla="*/ 1075 h 1540"/>
                <a:gd name="T44" fmla="*/ 90 w 134"/>
                <a:gd name="T45" fmla="*/ 1099 h 1540"/>
                <a:gd name="T46" fmla="*/ 86 w 134"/>
                <a:gd name="T47" fmla="*/ 1128 h 1540"/>
                <a:gd name="T48" fmla="*/ 81 w 134"/>
                <a:gd name="T49" fmla="*/ 1161 h 1540"/>
                <a:gd name="T50" fmla="*/ 78 w 134"/>
                <a:gd name="T51" fmla="*/ 1195 h 1540"/>
                <a:gd name="T52" fmla="*/ 78 w 134"/>
                <a:gd name="T53" fmla="*/ 1876 h 1540"/>
                <a:gd name="T54" fmla="*/ 76 w 134"/>
                <a:gd name="T55" fmla="*/ 1912 h 1540"/>
                <a:gd name="T56" fmla="*/ 72 w 134"/>
                <a:gd name="T57" fmla="*/ 1943 h 1540"/>
                <a:gd name="T58" fmla="*/ 64 w 134"/>
                <a:gd name="T59" fmla="*/ 1973 h 1540"/>
                <a:gd name="T60" fmla="*/ 55 w 134"/>
                <a:gd name="T61" fmla="*/ 1999 h 1540"/>
                <a:gd name="T62" fmla="*/ 43 w 134"/>
                <a:gd name="T63" fmla="*/ 2019 h 1540"/>
                <a:gd name="T64" fmla="*/ 31 w 134"/>
                <a:gd name="T65" fmla="*/ 2033 h 1540"/>
                <a:gd name="T66" fmla="*/ 17 w 134"/>
                <a:gd name="T67" fmla="*/ 2045 h 1540"/>
                <a:gd name="T68" fmla="*/ 0 w 134"/>
                <a:gd name="T69" fmla="*/ 2048 h 15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4" h="1540">
                  <a:moveTo>
                    <a:pt x="0" y="0"/>
                  </a:moveTo>
                  <a:lnTo>
                    <a:pt x="15" y="3"/>
                  </a:lnTo>
                  <a:lnTo>
                    <a:pt x="27" y="10"/>
                  </a:lnTo>
                  <a:lnTo>
                    <a:pt x="37" y="22"/>
                  </a:lnTo>
                  <a:lnTo>
                    <a:pt x="47" y="38"/>
                  </a:lnTo>
                  <a:lnTo>
                    <a:pt x="56" y="56"/>
                  </a:lnTo>
                  <a:lnTo>
                    <a:pt x="62" y="78"/>
                  </a:lnTo>
                  <a:lnTo>
                    <a:pt x="66" y="103"/>
                  </a:lnTo>
                  <a:lnTo>
                    <a:pt x="68" y="128"/>
                  </a:lnTo>
                  <a:lnTo>
                    <a:pt x="68" y="643"/>
                  </a:lnTo>
                  <a:lnTo>
                    <a:pt x="70" y="668"/>
                  </a:lnTo>
                  <a:lnTo>
                    <a:pt x="74" y="691"/>
                  </a:lnTo>
                  <a:lnTo>
                    <a:pt x="78" y="714"/>
                  </a:lnTo>
                  <a:lnTo>
                    <a:pt x="86" y="733"/>
                  </a:lnTo>
                  <a:lnTo>
                    <a:pt x="97" y="748"/>
                  </a:lnTo>
                  <a:lnTo>
                    <a:pt x="107" y="759"/>
                  </a:lnTo>
                  <a:lnTo>
                    <a:pt x="119" y="767"/>
                  </a:lnTo>
                  <a:lnTo>
                    <a:pt x="134" y="770"/>
                  </a:lnTo>
                  <a:lnTo>
                    <a:pt x="119" y="773"/>
                  </a:lnTo>
                  <a:lnTo>
                    <a:pt x="107" y="780"/>
                  </a:lnTo>
                  <a:lnTo>
                    <a:pt x="97" y="792"/>
                  </a:lnTo>
                  <a:lnTo>
                    <a:pt x="86" y="808"/>
                  </a:lnTo>
                  <a:lnTo>
                    <a:pt x="78" y="826"/>
                  </a:lnTo>
                  <a:lnTo>
                    <a:pt x="74" y="848"/>
                  </a:lnTo>
                  <a:lnTo>
                    <a:pt x="70" y="873"/>
                  </a:lnTo>
                  <a:lnTo>
                    <a:pt x="68" y="898"/>
                  </a:lnTo>
                  <a:lnTo>
                    <a:pt x="68" y="1411"/>
                  </a:lnTo>
                  <a:lnTo>
                    <a:pt x="66" y="1438"/>
                  </a:lnTo>
                  <a:lnTo>
                    <a:pt x="62" y="1461"/>
                  </a:lnTo>
                  <a:lnTo>
                    <a:pt x="56" y="1484"/>
                  </a:lnTo>
                  <a:lnTo>
                    <a:pt x="47" y="1503"/>
                  </a:lnTo>
                  <a:lnTo>
                    <a:pt x="37" y="1518"/>
                  </a:lnTo>
                  <a:lnTo>
                    <a:pt x="27" y="1529"/>
                  </a:lnTo>
                  <a:lnTo>
                    <a:pt x="15" y="1537"/>
                  </a:lnTo>
                  <a:lnTo>
                    <a:pt x="0" y="15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9" name="Freeform 7"/>
            <p:cNvSpPr/>
            <p:nvPr/>
          </p:nvSpPr>
          <p:spPr bwMode="auto">
            <a:xfrm>
              <a:off x="121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0" name="Freeform 8"/>
            <p:cNvSpPr/>
            <p:nvPr/>
          </p:nvSpPr>
          <p:spPr bwMode="auto">
            <a:xfrm>
              <a:off x="2956" y="1665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1" name="Freeform 9"/>
            <p:cNvSpPr/>
            <p:nvPr/>
          </p:nvSpPr>
          <p:spPr bwMode="auto">
            <a:xfrm>
              <a:off x="168" y="3445"/>
              <a:ext cx="3859" cy="155"/>
            </a:xfrm>
            <a:custGeom>
              <a:avLst/>
              <a:gdLst>
                <a:gd name="T0" fmla="*/ 0 w 3179"/>
                <a:gd name="T1" fmla="*/ 0 h 136"/>
                <a:gd name="T2" fmla="*/ 2 w 3179"/>
                <a:gd name="T3" fmla="*/ 10 h 136"/>
                <a:gd name="T4" fmla="*/ 8 w 3179"/>
                <a:gd name="T5" fmla="*/ 18 h 136"/>
                <a:gd name="T6" fmla="*/ 18 w 3179"/>
                <a:gd name="T7" fmla="*/ 27 h 136"/>
                <a:gd name="T8" fmla="*/ 30 w 3179"/>
                <a:gd name="T9" fmla="*/ 35 h 136"/>
                <a:gd name="T10" fmla="*/ 49 w 3179"/>
                <a:gd name="T11" fmla="*/ 43 h 136"/>
                <a:gd name="T12" fmla="*/ 67 w 3179"/>
                <a:gd name="T13" fmla="*/ 50 h 136"/>
                <a:gd name="T14" fmla="*/ 115 w 3179"/>
                <a:gd name="T15" fmla="*/ 63 h 136"/>
                <a:gd name="T16" fmla="*/ 172 w 3179"/>
                <a:gd name="T17" fmla="*/ 73 h 136"/>
                <a:gd name="T18" fmla="*/ 239 w 3179"/>
                <a:gd name="T19" fmla="*/ 81 h 136"/>
                <a:gd name="T20" fmla="*/ 311 w 3179"/>
                <a:gd name="T21" fmla="*/ 87 h 136"/>
                <a:gd name="T22" fmla="*/ 391 w 3179"/>
                <a:gd name="T23" fmla="*/ 89 h 136"/>
                <a:gd name="T24" fmla="*/ 1976 w 3179"/>
                <a:gd name="T25" fmla="*/ 89 h 136"/>
                <a:gd name="T26" fmla="*/ 2055 w 3179"/>
                <a:gd name="T27" fmla="*/ 91 h 136"/>
                <a:gd name="T28" fmla="*/ 2128 w 3179"/>
                <a:gd name="T29" fmla="*/ 96 h 136"/>
                <a:gd name="T30" fmla="*/ 2195 w 3179"/>
                <a:gd name="T31" fmla="*/ 104 h 136"/>
                <a:gd name="T32" fmla="*/ 2252 w 3179"/>
                <a:gd name="T33" fmla="*/ 115 h 136"/>
                <a:gd name="T34" fmla="*/ 2300 w 3179"/>
                <a:gd name="T35" fmla="*/ 128 h 136"/>
                <a:gd name="T36" fmla="*/ 2317 w 3179"/>
                <a:gd name="T37" fmla="*/ 136 h 136"/>
                <a:gd name="T38" fmla="*/ 2336 w 3179"/>
                <a:gd name="T39" fmla="*/ 142 h 136"/>
                <a:gd name="T40" fmla="*/ 2349 w 3179"/>
                <a:gd name="T41" fmla="*/ 152 h 136"/>
                <a:gd name="T42" fmla="*/ 2357 w 3179"/>
                <a:gd name="T43" fmla="*/ 160 h 136"/>
                <a:gd name="T44" fmla="*/ 2363 w 3179"/>
                <a:gd name="T45" fmla="*/ 168 h 136"/>
                <a:gd name="T46" fmla="*/ 2367 w 3179"/>
                <a:gd name="T47" fmla="*/ 177 h 136"/>
                <a:gd name="T48" fmla="*/ 2370 w 3179"/>
                <a:gd name="T49" fmla="*/ 168 h 136"/>
                <a:gd name="T50" fmla="*/ 2376 w 3179"/>
                <a:gd name="T51" fmla="*/ 160 h 136"/>
                <a:gd name="T52" fmla="*/ 2384 w 3179"/>
                <a:gd name="T53" fmla="*/ 152 h 136"/>
                <a:gd name="T54" fmla="*/ 2396 w 3179"/>
                <a:gd name="T55" fmla="*/ 142 h 136"/>
                <a:gd name="T56" fmla="*/ 2416 w 3179"/>
                <a:gd name="T57" fmla="*/ 136 h 136"/>
                <a:gd name="T58" fmla="*/ 2433 w 3179"/>
                <a:gd name="T59" fmla="*/ 128 h 136"/>
                <a:gd name="T60" fmla="*/ 2481 w 3179"/>
                <a:gd name="T61" fmla="*/ 115 h 136"/>
                <a:gd name="T62" fmla="*/ 2539 w 3179"/>
                <a:gd name="T63" fmla="*/ 104 h 136"/>
                <a:gd name="T64" fmla="*/ 2605 w 3179"/>
                <a:gd name="T65" fmla="*/ 96 h 136"/>
                <a:gd name="T66" fmla="*/ 2678 w 3179"/>
                <a:gd name="T67" fmla="*/ 91 h 136"/>
                <a:gd name="T68" fmla="*/ 2756 w 3179"/>
                <a:gd name="T69" fmla="*/ 89 h 136"/>
                <a:gd name="T70" fmla="*/ 4294 w 3179"/>
                <a:gd name="T71" fmla="*/ 89 h 136"/>
                <a:gd name="T72" fmla="*/ 4374 w 3179"/>
                <a:gd name="T73" fmla="*/ 87 h 136"/>
                <a:gd name="T74" fmla="*/ 4445 w 3179"/>
                <a:gd name="T75" fmla="*/ 81 h 136"/>
                <a:gd name="T76" fmla="*/ 4512 w 3179"/>
                <a:gd name="T77" fmla="*/ 73 h 136"/>
                <a:gd name="T78" fmla="*/ 4569 w 3179"/>
                <a:gd name="T79" fmla="*/ 63 h 136"/>
                <a:gd name="T80" fmla="*/ 4618 w 3179"/>
                <a:gd name="T81" fmla="*/ 50 h 136"/>
                <a:gd name="T82" fmla="*/ 4636 w 3179"/>
                <a:gd name="T83" fmla="*/ 43 h 136"/>
                <a:gd name="T84" fmla="*/ 4654 w 3179"/>
                <a:gd name="T85" fmla="*/ 35 h 136"/>
                <a:gd name="T86" fmla="*/ 4665 w 3179"/>
                <a:gd name="T87" fmla="*/ 27 h 136"/>
                <a:gd name="T88" fmla="*/ 4676 w 3179"/>
                <a:gd name="T89" fmla="*/ 18 h 136"/>
                <a:gd name="T90" fmla="*/ 4682 w 3179"/>
                <a:gd name="T91" fmla="*/ 10 h 136"/>
                <a:gd name="T92" fmla="*/ 4684 w 3179"/>
                <a:gd name="T93" fmla="*/ 0 h 1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79" h="136">
                  <a:moveTo>
                    <a:pt x="0" y="0"/>
                  </a:moveTo>
                  <a:lnTo>
                    <a:pt x="2" y="8"/>
                  </a:lnTo>
                  <a:lnTo>
                    <a:pt x="6" y="14"/>
                  </a:lnTo>
                  <a:lnTo>
                    <a:pt x="12" y="21"/>
                  </a:lnTo>
                  <a:lnTo>
                    <a:pt x="21" y="27"/>
                  </a:lnTo>
                  <a:lnTo>
                    <a:pt x="33" y="33"/>
                  </a:lnTo>
                  <a:lnTo>
                    <a:pt x="45" y="39"/>
                  </a:lnTo>
                  <a:lnTo>
                    <a:pt x="78" y="48"/>
                  </a:lnTo>
                  <a:lnTo>
                    <a:pt x="117" y="56"/>
                  </a:lnTo>
                  <a:lnTo>
                    <a:pt x="162" y="62"/>
                  </a:lnTo>
                  <a:lnTo>
                    <a:pt x="211" y="67"/>
                  </a:lnTo>
                  <a:lnTo>
                    <a:pt x="265" y="68"/>
                  </a:lnTo>
                  <a:lnTo>
                    <a:pt x="1341" y="68"/>
                  </a:lnTo>
                  <a:lnTo>
                    <a:pt x="1395" y="70"/>
                  </a:lnTo>
                  <a:lnTo>
                    <a:pt x="1444" y="74"/>
                  </a:lnTo>
                  <a:lnTo>
                    <a:pt x="1489" y="80"/>
                  </a:lnTo>
                  <a:lnTo>
                    <a:pt x="1528" y="89"/>
                  </a:lnTo>
                  <a:lnTo>
                    <a:pt x="1561" y="98"/>
                  </a:lnTo>
                  <a:lnTo>
                    <a:pt x="1573" y="104"/>
                  </a:lnTo>
                  <a:lnTo>
                    <a:pt x="1585" y="110"/>
                  </a:lnTo>
                  <a:lnTo>
                    <a:pt x="1594" y="117"/>
                  </a:lnTo>
                  <a:lnTo>
                    <a:pt x="1600" y="123"/>
                  </a:lnTo>
                  <a:lnTo>
                    <a:pt x="1604" y="129"/>
                  </a:lnTo>
                  <a:lnTo>
                    <a:pt x="1606" y="136"/>
                  </a:lnTo>
                  <a:lnTo>
                    <a:pt x="1608" y="129"/>
                  </a:lnTo>
                  <a:lnTo>
                    <a:pt x="1612" y="123"/>
                  </a:lnTo>
                  <a:lnTo>
                    <a:pt x="1618" y="117"/>
                  </a:lnTo>
                  <a:lnTo>
                    <a:pt x="1626" y="110"/>
                  </a:lnTo>
                  <a:lnTo>
                    <a:pt x="1639" y="104"/>
                  </a:lnTo>
                  <a:lnTo>
                    <a:pt x="1651" y="98"/>
                  </a:lnTo>
                  <a:lnTo>
                    <a:pt x="1684" y="89"/>
                  </a:lnTo>
                  <a:lnTo>
                    <a:pt x="1723" y="80"/>
                  </a:lnTo>
                  <a:lnTo>
                    <a:pt x="1768" y="74"/>
                  </a:lnTo>
                  <a:lnTo>
                    <a:pt x="1817" y="70"/>
                  </a:lnTo>
                  <a:lnTo>
                    <a:pt x="1870" y="68"/>
                  </a:lnTo>
                  <a:lnTo>
                    <a:pt x="2914" y="68"/>
                  </a:lnTo>
                  <a:lnTo>
                    <a:pt x="2968" y="67"/>
                  </a:lnTo>
                  <a:lnTo>
                    <a:pt x="3017" y="62"/>
                  </a:lnTo>
                  <a:lnTo>
                    <a:pt x="3062" y="56"/>
                  </a:lnTo>
                  <a:lnTo>
                    <a:pt x="3101" y="48"/>
                  </a:lnTo>
                  <a:lnTo>
                    <a:pt x="3134" y="39"/>
                  </a:lnTo>
                  <a:lnTo>
                    <a:pt x="3146" y="33"/>
                  </a:lnTo>
                  <a:lnTo>
                    <a:pt x="3158" y="27"/>
                  </a:lnTo>
                  <a:lnTo>
                    <a:pt x="3166" y="21"/>
                  </a:lnTo>
                  <a:lnTo>
                    <a:pt x="3173" y="14"/>
                  </a:lnTo>
                  <a:lnTo>
                    <a:pt x="3177" y="8"/>
                  </a:lnTo>
                  <a:lnTo>
                    <a:pt x="317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2" name="Rectangle 10"/>
            <p:cNvSpPr>
              <a:spLocks noChangeArrowheads="1"/>
            </p:cNvSpPr>
            <p:nvPr/>
          </p:nvSpPr>
          <p:spPr bwMode="auto">
            <a:xfrm>
              <a:off x="2163" y="3869"/>
              <a:ext cx="745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443" name="Rectangle 11"/>
            <p:cNvSpPr>
              <a:spLocks noChangeArrowheads="1"/>
            </p:cNvSpPr>
            <p:nvPr/>
          </p:nvSpPr>
          <p:spPr bwMode="auto">
            <a:xfrm>
              <a:off x="3354" y="3869"/>
              <a:ext cx="742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444" name="Rectangle 12"/>
            <p:cNvSpPr>
              <a:spLocks noChangeArrowheads="1"/>
            </p:cNvSpPr>
            <p:nvPr/>
          </p:nvSpPr>
          <p:spPr bwMode="auto">
            <a:xfrm>
              <a:off x="4540" y="3869"/>
              <a:ext cx="744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445" name="Line 13"/>
            <p:cNvSpPr>
              <a:spLocks noChangeShapeType="1"/>
            </p:cNvSpPr>
            <p:nvPr/>
          </p:nvSpPr>
          <p:spPr bwMode="auto">
            <a:xfrm>
              <a:off x="681" y="698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6" name="Line 14"/>
            <p:cNvSpPr>
              <a:spLocks noChangeShapeType="1"/>
            </p:cNvSpPr>
            <p:nvPr/>
          </p:nvSpPr>
          <p:spPr bwMode="auto">
            <a:xfrm>
              <a:off x="3212" y="698"/>
              <a:ext cx="2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7" name="Freeform 15"/>
            <p:cNvSpPr/>
            <p:nvPr/>
          </p:nvSpPr>
          <p:spPr bwMode="auto">
            <a:xfrm>
              <a:off x="3357" y="698"/>
              <a:ext cx="1" cy="187"/>
            </a:xfrm>
            <a:custGeom>
              <a:avLst/>
              <a:gdLst>
                <a:gd name="T0" fmla="*/ 0 w 1"/>
                <a:gd name="T1" fmla="*/ 0 h 187"/>
                <a:gd name="T2" fmla="*/ 0 w 1"/>
                <a:gd name="T3" fmla="*/ 187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0"/>
                  </a:moveTo>
                  <a:lnTo>
                    <a:pt x="0" y="187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8" name="Rectangle 16"/>
            <p:cNvSpPr>
              <a:spLocks noChangeArrowheads="1"/>
            </p:cNvSpPr>
            <p:nvPr/>
          </p:nvSpPr>
          <p:spPr bwMode="auto">
            <a:xfrm>
              <a:off x="1708" y="576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449" name="Text Box 17"/>
            <p:cNvSpPr txBox="1">
              <a:spLocks noChangeArrowheads="1"/>
            </p:cNvSpPr>
            <p:nvPr/>
          </p:nvSpPr>
          <p:spPr bwMode="auto">
            <a:xfrm>
              <a:off x="1704" y="566"/>
              <a:ext cx="9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450" name="Rectangle 18"/>
            <p:cNvSpPr>
              <a:spLocks noChangeArrowheads="1"/>
            </p:cNvSpPr>
            <p:nvPr/>
          </p:nvSpPr>
          <p:spPr bwMode="auto">
            <a:xfrm>
              <a:off x="1708" y="1292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451" name="Text Box 19"/>
            <p:cNvSpPr txBox="1">
              <a:spLocks noChangeArrowheads="1"/>
            </p:cNvSpPr>
            <p:nvPr/>
          </p:nvSpPr>
          <p:spPr bwMode="auto">
            <a:xfrm>
              <a:off x="1704" y="1282"/>
              <a:ext cx="9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452" name="Rectangle 20"/>
            <p:cNvSpPr>
              <a:spLocks noChangeArrowheads="1"/>
            </p:cNvSpPr>
            <p:nvPr/>
          </p:nvSpPr>
          <p:spPr bwMode="auto">
            <a:xfrm>
              <a:off x="1712" y="2348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453" name="Text Box 21"/>
            <p:cNvSpPr txBox="1">
              <a:spLocks noChangeArrowheads="1"/>
            </p:cNvSpPr>
            <p:nvPr/>
          </p:nvSpPr>
          <p:spPr bwMode="auto">
            <a:xfrm>
              <a:off x="1708" y="2338"/>
              <a:ext cx="9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454" name="Text Box 22"/>
            <p:cNvSpPr txBox="1">
              <a:spLocks noChangeArrowheads="1"/>
            </p:cNvSpPr>
            <p:nvPr/>
          </p:nvSpPr>
          <p:spPr bwMode="auto">
            <a:xfrm rot="5400000">
              <a:off x="361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55" name="Text Box 23"/>
            <p:cNvSpPr txBox="1">
              <a:spLocks noChangeArrowheads="1"/>
            </p:cNvSpPr>
            <p:nvPr/>
          </p:nvSpPr>
          <p:spPr bwMode="auto">
            <a:xfrm rot="5400000">
              <a:off x="1312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56" name="Text Box 24"/>
            <p:cNvSpPr txBox="1">
              <a:spLocks noChangeArrowheads="1"/>
            </p:cNvSpPr>
            <p:nvPr/>
          </p:nvSpPr>
          <p:spPr bwMode="auto">
            <a:xfrm rot="5400000">
              <a:off x="2732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57" name="Text Box 25"/>
            <p:cNvSpPr txBox="1">
              <a:spLocks noChangeArrowheads="1"/>
            </p:cNvSpPr>
            <p:nvPr/>
          </p:nvSpPr>
          <p:spPr bwMode="auto">
            <a:xfrm>
              <a:off x="3439" y="3043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58" name="Text Box 26"/>
            <p:cNvSpPr txBox="1">
              <a:spLocks noChangeArrowheads="1"/>
            </p:cNvSpPr>
            <p:nvPr/>
          </p:nvSpPr>
          <p:spPr bwMode="auto">
            <a:xfrm>
              <a:off x="412" y="3043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59" name="Text Box 27"/>
            <p:cNvSpPr txBox="1">
              <a:spLocks noChangeArrowheads="1"/>
            </p:cNvSpPr>
            <p:nvPr/>
          </p:nvSpPr>
          <p:spPr bwMode="auto">
            <a:xfrm rot="5400000">
              <a:off x="2060" y="174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60" name="Text Box 28"/>
            <p:cNvSpPr txBox="1">
              <a:spLocks noChangeArrowheads="1"/>
            </p:cNvSpPr>
            <p:nvPr/>
          </p:nvSpPr>
          <p:spPr bwMode="auto">
            <a:xfrm rot="5400000">
              <a:off x="1895" y="1755"/>
              <a:ext cx="427" cy="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61" name="Text Box 29"/>
            <p:cNvSpPr txBox="1">
              <a:spLocks noChangeArrowheads="1"/>
            </p:cNvSpPr>
            <p:nvPr/>
          </p:nvSpPr>
          <p:spPr bwMode="auto">
            <a:xfrm>
              <a:off x="3340" y="5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7462" name="Text Box 30"/>
            <p:cNvSpPr txBox="1">
              <a:spLocks noChangeArrowheads="1"/>
            </p:cNvSpPr>
            <p:nvPr/>
          </p:nvSpPr>
          <p:spPr bwMode="auto">
            <a:xfrm>
              <a:off x="904" y="5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57463" name="Group 31"/>
            <p:cNvGrpSpPr/>
            <p:nvPr/>
          </p:nvGrpSpPr>
          <p:grpSpPr bwMode="auto">
            <a:xfrm>
              <a:off x="315" y="864"/>
              <a:ext cx="49" cy="231"/>
              <a:chOff x="315" y="864"/>
              <a:chExt cx="49" cy="231"/>
            </a:xfrm>
          </p:grpSpPr>
          <p:sp>
            <p:nvSpPr>
              <p:cNvPr id="57669" name="Freeform 32"/>
              <p:cNvSpPr/>
              <p:nvPr/>
            </p:nvSpPr>
            <p:spPr bwMode="auto">
              <a:xfrm>
                <a:off x="31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70" name="Freeform 33"/>
              <p:cNvSpPr/>
              <p:nvPr/>
            </p:nvSpPr>
            <p:spPr bwMode="auto">
              <a:xfrm>
                <a:off x="36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64" name="Group 34"/>
            <p:cNvGrpSpPr/>
            <p:nvPr/>
          </p:nvGrpSpPr>
          <p:grpSpPr bwMode="auto">
            <a:xfrm>
              <a:off x="315" y="1593"/>
              <a:ext cx="49" cy="231"/>
              <a:chOff x="315" y="1593"/>
              <a:chExt cx="49" cy="231"/>
            </a:xfrm>
          </p:grpSpPr>
          <p:sp>
            <p:nvSpPr>
              <p:cNvPr id="57667" name="Freeform 35"/>
              <p:cNvSpPr/>
              <p:nvPr/>
            </p:nvSpPr>
            <p:spPr bwMode="auto">
              <a:xfrm>
                <a:off x="315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68" name="Freeform 36"/>
              <p:cNvSpPr/>
              <p:nvPr/>
            </p:nvSpPr>
            <p:spPr bwMode="auto">
              <a:xfrm>
                <a:off x="363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65" name="Group 37"/>
            <p:cNvGrpSpPr/>
            <p:nvPr/>
          </p:nvGrpSpPr>
          <p:grpSpPr bwMode="auto">
            <a:xfrm>
              <a:off x="315" y="2601"/>
              <a:ext cx="49" cy="231"/>
              <a:chOff x="315" y="2601"/>
              <a:chExt cx="49" cy="231"/>
            </a:xfrm>
          </p:grpSpPr>
          <p:sp>
            <p:nvSpPr>
              <p:cNvPr id="57665" name="Freeform 38"/>
              <p:cNvSpPr/>
              <p:nvPr/>
            </p:nvSpPr>
            <p:spPr bwMode="auto">
              <a:xfrm>
                <a:off x="315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66" name="Freeform 39"/>
              <p:cNvSpPr/>
              <p:nvPr/>
            </p:nvSpPr>
            <p:spPr bwMode="auto">
              <a:xfrm>
                <a:off x="363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66" name="Group 40"/>
            <p:cNvGrpSpPr/>
            <p:nvPr/>
          </p:nvGrpSpPr>
          <p:grpSpPr bwMode="auto">
            <a:xfrm>
              <a:off x="1275" y="864"/>
              <a:ext cx="49" cy="231"/>
              <a:chOff x="1275" y="864"/>
              <a:chExt cx="49" cy="231"/>
            </a:xfrm>
          </p:grpSpPr>
          <p:sp>
            <p:nvSpPr>
              <p:cNvPr id="57663" name="Freeform 41"/>
              <p:cNvSpPr/>
              <p:nvPr/>
            </p:nvSpPr>
            <p:spPr bwMode="auto">
              <a:xfrm>
                <a:off x="127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64" name="Freeform 42"/>
              <p:cNvSpPr/>
              <p:nvPr/>
            </p:nvSpPr>
            <p:spPr bwMode="auto">
              <a:xfrm>
                <a:off x="132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67" name="Group 43"/>
            <p:cNvGrpSpPr/>
            <p:nvPr/>
          </p:nvGrpSpPr>
          <p:grpSpPr bwMode="auto">
            <a:xfrm>
              <a:off x="1276" y="1593"/>
              <a:ext cx="49" cy="231"/>
              <a:chOff x="1276" y="1593"/>
              <a:chExt cx="49" cy="231"/>
            </a:xfrm>
          </p:grpSpPr>
          <p:sp>
            <p:nvSpPr>
              <p:cNvPr id="57661" name="Freeform 44"/>
              <p:cNvSpPr/>
              <p:nvPr/>
            </p:nvSpPr>
            <p:spPr bwMode="auto">
              <a:xfrm>
                <a:off x="1276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62" name="Freeform 45"/>
              <p:cNvSpPr/>
              <p:nvPr/>
            </p:nvSpPr>
            <p:spPr bwMode="auto">
              <a:xfrm>
                <a:off x="1324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68" name="Group 46"/>
            <p:cNvGrpSpPr/>
            <p:nvPr/>
          </p:nvGrpSpPr>
          <p:grpSpPr bwMode="auto">
            <a:xfrm>
              <a:off x="1276" y="2601"/>
              <a:ext cx="49" cy="231"/>
              <a:chOff x="1276" y="2601"/>
              <a:chExt cx="49" cy="231"/>
            </a:xfrm>
          </p:grpSpPr>
          <p:sp>
            <p:nvSpPr>
              <p:cNvPr id="57659" name="Freeform 47"/>
              <p:cNvSpPr/>
              <p:nvPr/>
            </p:nvSpPr>
            <p:spPr bwMode="auto">
              <a:xfrm>
                <a:off x="1276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60" name="Freeform 48"/>
              <p:cNvSpPr/>
              <p:nvPr/>
            </p:nvSpPr>
            <p:spPr bwMode="auto">
              <a:xfrm>
                <a:off x="1324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7469" name="Freeform 49"/>
            <p:cNvSpPr/>
            <p:nvPr/>
          </p:nvSpPr>
          <p:spPr bwMode="auto">
            <a:xfrm>
              <a:off x="124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70" name="Line 50"/>
            <p:cNvSpPr>
              <a:spLocks noChangeShapeType="1"/>
            </p:cNvSpPr>
            <p:nvPr/>
          </p:nvSpPr>
          <p:spPr bwMode="auto">
            <a:xfrm>
              <a:off x="124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1" name="Line 51"/>
            <p:cNvSpPr>
              <a:spLocks noChangeShapeType="1"/>
            </p:cNvSpPr>
            <p:nvPr/>
          </p:nvSpPr>
          <p:spPr bwMode="auto">
            <a:xfrm>
              <a:off x="126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2" name="Freeform 52"/>
            <p:cNvSpPr/>
            <p:nvPr/>
          </p:nvSpPr>
          <p:spPr bwMode="auto">
            <a:xfrm>
              <a:off x="121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3" name="Freeform 53"/>
            <p:cNvSpPr/>
            <p:nvPr/>
          </p:nvSpPr>
          <p:spPr bwMode="auto">
            <a:xfrm>
              <a:off x="1078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4" name="Freeform 54"/>
            <p:cNvSpPr/>
            <p:nvPr/>
          </p:nvSpPr>
          <p:spPr bwMode="auto">
            <a:xfrm>
              <a:off x="1081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75" name="Line 55"/>
            <p:cNvSpPr>
              <a:spLocks noChangeShapeType="1"/>
            </p:cNvSpPr>
            <p:nvPr/>
          </p:nvSpPr>
          <p:spPr bwMode="auto">
            <a:xfrm>
              <a:off x="1081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6" name="Line 56"/>
            <p:cNvSpPr>
              <a:spLocks noChangeShapeType="1"/>
            </p:cNvSpPr>
            <p:nvPr/>
          </p:nvSpPr>
          <p:spPr bwMode="auto">
            <a:xfrm>
              <a:off x="1083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7" name="Freeform 57"/>
            <p:cNvSpPr/>
            <p:nvPr/>
          </p:nvSpPr>
          <p:spPr bwMode="auto">
            <a:xfrm>
              <a:off x="1078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78" name="Freeform 58"/>
            <p:cNvSpPr/>
            <p:nvPr/>
          </p:nvSpPr>
          <p:spPr bwMode="auto">
            <a:xfrm>
              <a:off x="364" y="696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7479" name="Group 59"/>
            <p:cNvGrpSpPr/>
            <p:nvPr/>
          </p:nvGrpSpPr>
          <p:grpSpPr bwMode="auto">
            <a:xfrm>
              <a:off x="364" y="1019"/>
              <a:ext cx="202" cy="277"/>
              <a:chOff x="364" y="1019"/>
              <a:chExt cx="202" cy="277"/>
            </a:xfrm>
          </p:grpSpPr>
          <p:sp>
            <p:nvSpPr>
              <p:cNvPr id="57653" name="Freeform 60"/>
              <p:cNvSpPr/>
              <p:nvPr/>
            </p:nvSpPr>
            <p:spPr bwMode="auto">
              <a:xfrm>
                <a:off x="466" y="1197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54" name="Freeform 61"/>
              <p:cNvSpPr/>
              <p:nvPr/>
            </p:nvSpPr>
            <p:spPr bwMode="auto">
              <a:xfrm>
                <a:off x="41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55" name="Freeform 62"/>
              <p:cNvSpPr/>
              <p:nvPr/>
            </p:nvSpPr>
            <p:spPr bwMode="auto">
              <a:xfrm>
                <a:off x="36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56" name="Group 63"/>
              <p:cNvGrpSpPr/>
              <p:nvPr/>
            </p:nvGrpSpPr>
            <p:grpSpPr bwMode="auto">
              <a:xfrm>
                <a:off x="364" y="1151"/>
                <a:ext cx="202" cy="49"/>
                <a:chOff x="432" y="1152"/>
                <a:chExt cx="202" cy="49"/>
              </a:xfrm>
            </p:grpSpPr>
            <p:sp>
              <p:nvSpPr>
                <p:cNvPr id="57657" name="Freeform 64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58" name="Freeform 65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7480" name="Freeform 66"/>
            <p:cNvSpPr/>
            <p:nvPr/>
          </p:nvSpPr>
          <p:spPr bwMode="auto">
            <a:xfrm>
              <a:off x="885" y="698"/>
              <a:ext cx="4" cy="190"/>
            </a:xfrm>
            <a:custGeom>
              <a:avLst/>
              <a:gdLst>
                <a:gd name="T0" fmla="*/ 4 w 4"/>
                <a:gd name="T1" fmla="*/ 0 h 190"/>
                <a:gd name="T2" fmla="*/ 0 w 4"/>
                <a:gd name="T3" fmla="*/ 19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0">
                  <a:moveTo>
                    <a:pt x="4" y="0"/>
                  </a:moveTo>
                  <a:lnTo>
                    <a:pt x="0" y="19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7481" name="Group 67"/>
            <p:cNvGrpSpPr/>
            <p:nvPr/>
          </p:nvGrpSpPr>
          <p:grpSpPr bwMode="auto">
            <a:xfrm>
              <a:off x="364" y="1739"/>
              <a:ext cx="202" cy="277"/>
              <a:chOff x="364" y="1739"/>
              <a:chExt cx="202" cy="277"/>
            </a:xfrm>
          </p:grpSpPr>
          <p:sp>
            <p:nvSpPr>
              <p:cNvPr id="57647" name="Freeform 68"/>
              <p:cNvSpPr/>
              <p:nvPr/>
            </p:nvSpPr>
            <p:spPr bwMode="auto">
              <a:xfrm>
                <a:off x="466" y="1919"/>
                <a:ext cx="1" cy="95"/>
              </a:xfrm>
              <a:custGeom>
                <a:avLst/>
                <a:gdLst>
                  <a:gd name="T0" fmla="*/ 1 w 1"/>
                  <a:gd name="T1" fmla="*/ 0 h 95"/>
                  <a:gd name="T2" fmla="*/ 0 w 1"/>
                  <a:gd name="T3" fmla="*/ 95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5">
                    <a:moveTo>
                      <a:pt x="1" y="0"/>
                    </a:moveTo>
                    <a:lnTo>
                      <a:pt x="0" y="9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48" name="Freeform 69"/>
              <p:cNvSpPr/>
              <p:nvPr/>
            </p:nvSpPr>
            <p:spPr bwMode="auto">
              <a:xfrm>
                <a:off x="41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49" name="Freeform 70"/>
              <p:cNvSpPr/>
              <p:nvPr/>
            </p:nvSpPr>
            <p:spPr bwMode="auto">
              <a:xfrm>
                <a:off x="36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50" name="Group 71"/>
              <p:cNvGrpSpPr/>
              <p:nvPr/>
            </p:nvGrpSpPr>
            <p:grpSpPr bwMode="auto">
              <a:xfrm>
                <a:off x="364" y="1871"/>
                <a:ext cx="202" cy="49"/>
                <a:chOff x="432" y="1152"/>
                <a:chExt cx="202" cy="49"/>
              </a:xfrm>
            </p:grpSpPr>
            <p:sp>
              <p:nvSpPr>
                <p:cNvPr id="57651" name="Freeform 7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52" name="Freeform 7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7482" name="Group 74"/>
            <p:cNvGrpSpPr/>
            <p:nvPr/>
          </p:nvGrpSpPr>
          <p:grpSpPr bwMode="auto">
            <a:xfrm>
              <a:off x="364" y="2747"/>
              <a:ext cx="202" cy="277"/>
              <a:chOff x="364" y="2747"/>
              <a:chExt cx="202" cy="277"/>
            </a:xfrm>
          </p:grpSpPr>
          <p:sp>
            <p:nvSpPr>
              <p:cNvPr id="57641" name="Freeform 75"/>
              <p:cNvSpPr/>
              <p:nvPr/>
            </p:nvSpPr>
            <p:spPr bwMode="auto">
              <a:xfrm>
                <a:off x="466" y="2925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42" name="Freeform 76"/>
              <p:cNvSpPr/>
              <p:nvPr/>
            </p:nvSpPr>
            <p:spPr bwMode="auto">
              <a:xfrm>
                <a:off x="41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43" name="Freeform 77"/>
              <p:cNvSpPr/>
              <p:nvPr/>
            </p:nvSpPr>
            <p:spPr bwMode="auto">
              <a:xfrm>
                <a:off x="36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44" name="Group 78"/>
              <p:cNvGrpSpPr/>
              <p:nvPr/>
            </p:nvGrpSpPr>
            <p:grpSpPr bwMode="auto">
              <a:xfrm>
                <a:off x="364" y="2879"/>
                <a:ext cx="202" cy="49"/>
                <a:chOff x="432" y="1152"/>
                <a:chExt cx="202" cy="49"/>
              </a:xfrm>
            </p:grpSpPr>
            <p:sp>
              <p:nvSpPr>
                <p:cNvPr id="57645" name="Freeform 79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46" name="Freeform 80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7483" name="Freeform 81"/>
            <p:cNvSpPr/>
            <p:nvPr/>
          </p:nvSpPr>
          <p:spPr bwMode="auto">
            <a:xfrm>
              <a:off x="364" y="1414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84" name="Freeform 82"/>
            <p:cNvSpPr/>
            <p:nvPr/>
          </p:nvSpPr>
          <p:spPr bwMode="auto">
            <a:xfrm>
              <a:off x="367" y="2423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85" name="Line 83"/>
            <p:cNvSpPr>
              <a:spLocks noChangeShapeType="1"/>
            </p:cNvSpPr>
            <p:nvPr/>
          </p:nvSpPr>
          <p:spPr bwMode="auto">
            <a:xfrm>
              <a:off x="681" y="1407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86" name="Freeform 84"/>
            <p:cNvSpPr/>
            <p:nvPr/>
          </p:nvSpPr>
          <p:spPr bwMode="auto">
            <a:xfrm>
              <a:off x="888" y="1407"/>
              <a:ext cx="1" cy="189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87" name="Line 85"/>
            <p:cNvSpPr>
              <a:spLocks noChangeShapeType="1"/>
            </p:cNvSpPr>
            <p:nvPr/>
          </p:nvSpPr>
          <p:spPr bwMode="auto">
            <a:xfrm>
              <a:off x="681" y="2423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88" name="Freeform 86"/>
            <p:cNvSpPr/>
            <p:nvPr/>
          </p:nvSpPr>
          <p:spPr bwMode="auto">
            <a:xfrm>
              <a:off x="885" y="2423"/>
              <a:ext cx="4" cy="193"/>
            </a:xfrm>
            <a:custGeom>
              <a:avLst/>
              <a:gdLst>
                <a:gd name="T0" fmla="*/ 4 w 4"/>
                <a:gd name="T1" fmla="*/ 0 h 193"/>
                <a:gd name="T2" fmla="*/ 0 w 4"/>
                <a:gd name="T3" fmla="*/ 193 h 1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3">
                  <a:moveTo>
                    <a:pt x="4" y="0"/>
                  </a:moveTo>
                  <a:lnTo>
                    <a:pt x="0" y="19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7489" name="Group 87"/>
            <p:cNvGrpSpPr/>
            <p:nvPr/>
          </p:nvGrpSpPr>
          <p:grpSpPr bwMode="auto">
            <a:xfrm>
              <a:off x="1324" y="1019"/>
              <a:ext cx="202" cy="277"/>
              <a:chOff x="1324" y="1019"/>
              <a:chExt cx="202" cy="277"/>
            </a:xfrm>
          </p:grpSpPr>
          <p:sp>
            <p:nvSpPr>
              <p:cNvPr id="57635" name="Line 88"/>
              <p:cNvSpPr>
                <a:spLocks noChangeShapeType="1"/>
              </p:cNvSpPr>
              <p:nvPr/>
            </p:nvSpPr>
            <p:spPr bwMode="auto">
              <a:xfrm>
                <a:off x="1424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36" name="Freeform 89"/>
              <p:cNvSpPr/>
              <p:nvPr/>
            </p:nvSpPr>
            <p:spPr bwMode="auto">
              <a:xfrm>
                <a:off x="137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37" name="Freeform 90"/>
              <p:cNvSpPr/>
              <p:nvPr/>
            </p:nvSpPr>
            <p:spPr bwMode="auto">
              <a:xfrm>
                <a:off x="132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38" name="Group 91"/>
              <p:cNvGrpSpPr/>
              <p:nvPr/>
            </p:nvGrpSpPr>
            <p:grpSpPr bwMode="auto">
              <a:xfrm>
                <a:off x="1324" y="1151"/>
                <a:ext cx="202" cy="49"/>
                <a:chOff x="432" y="1152"/>
                <a:chExt cx="202" cy="49"/>
              </a:xfrm>
            </p:grpSpPr>
            <p:sp>
              <p:nvSpPr>
                <p:cNvPr id="57639" name="Freeform 9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40" name="Freeform 9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7490" name="Group 94"/>
            <p:cNvGrpSpPr/>
            <p:nvPr/>
          </p:nvGrpSpPr>
          <p:grpSpPr bwMode="auto">
            <a:xfrm>
              <a:off x="1324" y="1739"/>
              <a:ext cx="202" cy="277"/>
              <a:chOff x="1324" y="1739"/>
              <a:chExt cx="202" cy="277"/>
            </a:xfrm>
          </p:grpSpPr>
          <p:sp>
            <p:nvSpPr>
              <p:cNvPr id="57629" name="Line 95"/>
              <p:cNvSpPr>
                <a:spLocks noChangeShapeType="1"/>
              </p:cNvSpPr>
              <p:nvPr/>
            </p:nvSpPr>
            <p:spPr bwMode="auto">
              <a:xfrm>
                <a:off x="1424" y="191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30" name="Freeform 96"/>
              <p:cNvSpPr/>
              <p:nvPr/>
            </p:nvSpPr>
            <p:spPr bwMode="auto">
              <a:xfrm>
                <a:off x="137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31" name="Freeform 97"/>
              <p:cNvSpPr/>
              <p:nvPr/>
            </p:nvSpPr>
            <p:spPr bwMode="auto">
              <a:xfrm>
                <a:off x="132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32" name="Group 98"/>
              <p:cNvGrpSpPr/>
              <p:nvPr/>
            </p:nvGrpSpPr>
            <p:grpSpPr bwMode="auto">
              <a:xfrm>
                <a:off x="1324" y="1871"/>
                <a:ext cx="202" cy="49"/>
                <a:chOff x="432" y="1152"/>
                <a:chExt cx="202" cy="49"/>
              </a:xfrm>
            </p:grpSpPr>
            <p:sp>
              <p:nvSpPr>
                <p:cNvPr id="57633" name="Freeform 99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34" name="Freeform 100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7491" name="Group 101"/>
            <p:cNvGrpSpPr/>
            <p:nvPr/>
          </p:nvGrpSpPr>
          <p:grpSpPr bwMode="auto">
            <a:xfrm>
              <a:off x="1324" y="2747"/>
              <a:ext cx="202" cy="277"/>
              <a:chOff x="1324" y="2747"/>
              <a:chExt cx="202" cy="277"/>
            </a:xfrm>
          </p:grpSpPr>
          <p:sp>
            <p:nvSpPr>
              <p:cNvPr id="57623" name="Line 102"/>
              <p:cNvSpPr>
                <a:spLocks noChangeShapeType="1"/>
              </p:cNvSpPr>
              <p:nvPr/>
            </p:nvSpPr>
            <p:spPr bwMode="auto">
              <a:xfrm>
                <a:off x="1424" y="2927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24" name="Freeform 103"/>
              <p:cNvSpPr/>
              <p:nvPr/>
            </p:nvSpPr>
            <p:spPr bwMode="auto">
              <a:xfrm>
                <a:off x="137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25" name="Freeform 104"/>
              <p:cNvSpPr/>
              <p:nvPr/>
            </p:nvSpPr>
            <p:spPr bwMode="auto">
              <a:xfrm>
                <a:off x="132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26" name="Group 105"/>
              <p:cNvGrpSpPr/>
              <p:nvPr/>
            </p:nvGrpSpPr>
            <p:grpSpPr bwMode="auto">
              <a:xfrm>
                <a:off x="1324" y="2879"/>
                <a:ext cx="202" cy="49"/>
                <a:chOff x="432" y="1152"/>
                <a:chExt cx="202" cy="49"/>
              </a:xfrm>
            </p:grpSpPr>
            <p:sp>
              <p:nvSpPr>
                <p:cNvPr id="57627" name="Freeform 106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28" name="Freeform 107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7492" name="Freeform 108"/>
            <p:cNvSpPr/>
            <p:nvPr/>
          </p:nvSpPr>
          <p:spPr bwMode="auto">
            <a:xfrm>
              <a:off x="1315" y="696"/>
              <a:ext cx="108" cy="237"/>
            </a:xfrm>
            <a:custGeom>
              <a:avLst/>
              <a:gdLst>
                <a:gd name="T0" fmla="*/ 0 w 108"/>
                <a:gd name="T1" fmla="*/ 237 h 237"/>
                <a:gd name="T2" fmla="*/ 108 w 108"/>
                <a:gd name="T3" fmla="*/ 237 h 237"/>
                <a:gd name="T4" fmla="*/ 108 w 108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7">
                  <a:moveTo>
                    <a:pt x="0" y="237"/>
                  </a:moveTo>
                  <a:lnTo>
                    <a:pt x="108" y="237"/>
                  </a:lnTo>
                  <a:lnTo>
                    <a:pt x="10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93" name="Freeform 109"/>
            <p:cNvSpPr/>
            <p:nvPr/>
          </p:nvSpPr>
          <p:spPr bwMode="auto">
            <a:xfrm>
              <a:off x="1327" y="1416"/>
              <a:ext cx="96" cy="243"/>
            </a:xfrm>
            <a:custGeom>
              <a:avLst/>
              <a:gdLst>
                <a:gd name="T0" fmla="*/ 0 w 96"/>
                <a:gd name="T1" fmla="*/ 243 h 243"/>
                <a:gd name="T2" fmla="*/ 96 w 96"/>
                <a:gd name="T3" fmla="*/ 243 h 243"/>
                <a:gd name="T4" fmla="*/ 96 w 9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3">
                  <a:moveTo>
                    <a:pt x="0" y="243"/>
                  </a:moveTo>
                  <a:lnTo>
                    <a:pt x="96" y="243"/>
                  </a:ln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94" name="Freeform 110"/>
            <p:cNvSpPr/>
            <p:nvPr/>
          </p:nvSpPr>
          <p:spPr bwMode="auto">
            <a:xfrm>
              <a:off x="1327" y="2427"/>
              <a:ext cx="98" cy="249"/>
            </a:xfrm>
            <a:custGeom>
              <a:avLst/>
              <a:gdLst>
                <a:gd name="T0" fmla="*/ 0 w 98"/>
                <a:gd name="T1" fmla="*/ 249 h 249"/>
                <a:gd name="T2" fmla="*/ 96 w 98"/>
                <a:gd name="T3" fmla="*/ 249 h 249"/>
                <a:gd name="T4" fmla="*/ 98 w 98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49">
                  <a:moveTo>
                    <a:pt x="0" y="249"/>
                  </a:moveTo>
                  <a:lnTo>
                    <a:pt x="96" y="249"/>
                  </a:lnTo>
                  <a:lnTo>
                    <a:pt x="9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7495" name="Group 111"/>
            <p:cNvGrpSpPr/>
            <p:nvPr/>
          </p:nvGrpSpPr>
          <p:grpSpPr bwMode="auto">
            <a:xfrm>
              <a:off x="4299" y="526"/>
              <a:ext cx="231" cy="49"/>
              <a:chOff x="4299" y="526"/>
              <a:chExt cx="231" cy="49"/>
            </a:xfrm>
          </p:grpSpPr>
          <p:sp>
            <p:nvSpPr>
              <p:cNvPr id="57621" name="Freeform 112"/>
              <p:cNvSpPr/>
              <p:nvPr/>
            </p:nvSpPr>
            <p:spPr bwMode="auto">
              <a:xfrm rot="5400000">
                <a:off x="4412" y="46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22" name="Freeform 113"/>
              <p:cNvSpPr/>
              <p:nvPr/>
            </p:nvSpPr>
            <p:spPr bwMode="auto">
              <a:xfrm rot="5400000">
                <a:off x="4414" y="45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7496" name="Freeform 114"/>
            <p:cNvSpPr/>
            <p:nvPr/>
          </p:nvSpPr>
          <p:spPr bwMode="auto">
            <a:xfrm>
              <a:off x="2617" y="579"/>
              <a:ext cx="1761" cy="120"/>
            </a:xfrm>
            <a:custGeom>
              <a:avLst/>
              <a:gdLst>
                <a:gd name="T0" fmla="*/ 1761 w 1761"/>
                <a:gd name="T1" fmla="*/ 0 h 120"/>
                <a:gd name="T2" fmla="*/ 1761 w 1761"/>
                <a:gd name="T3" fmla="*/ 117 h 120"/>
                <a:gd name="T4" fmla="*/ 0 w 1761"/>
                <a:gd name="T5" fmla="*/ 12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1" h="120">
                  <a:moveTo>
                    <a:pt x="1761" y="0"/>
                  </a:moveTo>
                  <a:lnTo>
                    <a:pt x="1761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97" name="Freeform 115"/>
            <p:cNvSpPr/>
            <p:nvPr/>
          </p:nvSpPr>
          <p:spPr bwMode="auto">
            <a:xfrm>
              <a:off x="2620" y="1296"/>
              <a:ext cx="1758" cy="117"/>
            </a:xfrm>
            <a:custGeom>
              <a:avLst/>
              <a:gdLst>
                <a:gd name="T0" fmla="*/ 1758 w 1758"/>
                <a:gd name="T1" fmla="*/ 0 h 117"/>
                <a:gd name="T2" fmla="*/ 1758 w 1758"/>
                <a:gd name="T3" fmla="*/ 117 h 117"/>
                <a:gd name="T4" fmla="*/ 0 w 1758"/>
                <a:gd name="T5" fmla="*/ 114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8" h="117">
                  <a:moveTo>
                    <a:pt x="1758" y="0"/>
                  </a:moveTo>
                  <a:lnTo>
                    <a:pt x="1758" y="117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98" name="Freeform 116"/>
            <p:cNvSpPr/>
            <p:nvPr/>
          </p:nvSpPr>
          <p:spPr bwMode="auto">
            <a:xfrm>
              <a:off x="2626" y="2352"/>
              <a:ext cx="1752" cy="120"/>
            </a:xfrm>
            <a:custGeom>
              <a:avLst/>
              <a:gdLst>
                <a:gd name="T0" fmla="*/ 1752 w 1752"/>
                <a:gd name="T1" fmla="*/ 0 h 120"/>
                <a:gd name="T2" fmla="*/ 1752 w 1752"/>
                <a:gd name="T3" fmla="*/ 117 h 120"/>
                <a:gd name="T4" fmla="*/ 0 w 1752"/>
                <a:gd name="T5" fmla="*/ 12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2" h="120">
                  <a:moveTo>
                    <a:pt x="1752" y="0"/>
                  </a:moveTo>
                  <a:lnTo>
                    <a:pt x="1752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7499" name="Group 117"/>
            <p:cNvGrpSpPr/>
            <p:nvPr/>
          </p:nvGrpSpPr>
          <p:grpSpPr bwMode="auto">
            <a:xfrm>
              <a:off x="4299" y="1246"/>
              <a:ext cx="231" cy="49"/>
              <a:chOff x="4299" y="1246"/>
              <a:chExt cx="231" cy="49"/>
            </a:xfrm>
          </p:grpSpPr>
          <p:sp>
            <p:nvSpPr>
              <p:cNvPr id="57619" name="Freeform 118"/>
              <p:cNvSpPr/>
              <p:nvPr/>
            </p:nvSpPr>
            <p:spPr bwMode="auto">
              <a:xfrm rot="5400000">
                <a:off x="4412" y="118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20" name="Freeform 119"/>
              <p:cNvSpPr/>
              <p:nvPr/>
            </p:nvSpPr>
            <p:spPr bwMode="auto">
              <a:xfrm rot="5400000">
                <a:off x="4414" y="117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500" name="Group 120"/>
            <p:cNvGrpSpPr/>
            <p:nvPr/>
          </p:nvGrpSpPr>
          <p:grpSpPr bwMode="auto">
            <a:xfrm>
              <a:off x="4299" y="2302"/>
              <a:ext cx="231" cy="49"/>
              <a:chOff x="4299" y="2302"/>
              <a:chExt cx="231" cy="49"/>
            </a:xfrm>
          </p:grpSpPr>
          <p:sp>
            <p:nvSpPr>
              <p:cNvPr id="57617" name="Freeform 121"/>
              <p:cNvSpPr/>
              <p:nvPr/>
            </p:nvSpPr>
            <p:spPr bwMode="auto">
              <a:xfrm rot="5400000">
                <a:off x="4412" y="2243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18" name="Freeform 122"/>
              <p:cNvSpPr/>
              <p:nvPr/>
            </p:nvSpPr>
            <p:spPr bwMode="auto">
              <a:xfrm rot="5400000">
                <a:off x="4414" y="2235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501" name="Group 123"/>
            <p:cNvGrpSpPr/>
            <p:nvPr/>
          </p:nvGrpSpPr>
          <p:grpSpPr bwMode="auto">
            <a:xfrm>
              <a:off x="2706" y="702"/>
              <a:ext cx="251" cy="594"/>
              <a:chOff x="2706" y="702"/>
              <a:chExt cx="251" cy="594"/>
            </a:xfrm>
          </p:grpSpPr>
          <p:grpSp>
            <p:nvGrpSpPr>
              <p:cNvPr id="57607" name="Group 124"/>
              <p:cNvGrpSpPr/>
              <p:nvPr/>
            </p:nvGrpSpPr>
            <p:grpSpPr bwMode="auto">
              <a:xfrm rot="10800000">
                <a:off x="2908" y="864"/>
                <a:ext cx="49" cy="231"/>
                <a:chOff x="1586" y="1334"/>
                <a:chExt cx="49" cy="231"/>
              </a:xfrm>
            </p:grpSpPr>
            <p:sp>
              <p:nvSpPr>
                <p:cNvPr id="57615" name="Freeform 125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616" name="Freeform 126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7608" name="Line 127"/>
              <p:cNvSpPr>
                <a:spLocks noChangeShapeType="1"/>
              </p:cNvSpPr>
              <p:nvPr/>
            </p:nvSpPr>
            <p:spPr bwMode="auto">
              <a:xfrm>
                <a:off x="2806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09" name="Freeform 128"/>
              <p:cNvSpPr/>
              <p:nvPr/>
            </p:nvSpPr>
            <p:spPr bwMode="auto">
              <a:xfrm>
                <a:off x="2754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10" name="Freeform 129"/>
              <p:cNvSpPr/>
              <p:nvPr/>
            </p:nvSpPr>
            <p:spPr bwMode="auto">
              <a:xfrm>
                <a:off x="2808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11" name="Group 130"/>
              <p:cNvGrpSpPr/>
              <p:nvPr/>
            </p:nvGrpSpPr>
            <p:grpSpPr bwMode="auto">
              <a:xfrm>
                <a:off x="2706" y="1151"/>
                <a:ext cx="202" cy="49"/>
                <a:chOff x="432" y="1152"/>
                <a:chExt cx="202" cy="49"/>
              </a:xfrm>
            </p:grpSpPr>
            <p:sp>
              <p:nvSpPr>
                <p:cNvPr id="57613" name="Freeform 131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14" name="Freeform 132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612" name="Freeform 133"/>
              <p:cNvSpPr/>
              <p:nvPr/>
            </p:nvSpPr>
            <p:spPr bwMode="auto">
              <a:xfrm>
                <a:off x="2806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502" name="Group 134"/>
            <p:cNvGrpSpPr/>
            <p:nvPr/>
          </p:nvGrpSpPr>
          <p:grpSpPr bwMode="auto">
            <a:xfrm>
              <a:off x="2716" y="1406"/>
              <a:ext cx="251" cy="580"/>
              <a:chOff x="2716" y="1406"/>
              <a:chExt cx="251" cy="580"/>
            </a:xfrm>
          </p:grpSpPr>
          <p:grpSp>
            <p:nvGrpSpPr>
              <p:cNvPr id="57597" name="Group 135"/>
              <p:cNvGrpSpPr/>
              <p:nvPr/>
            </p:nvGrpSpPr>
            <p:grpSpPr bwMode="auto">
              <a:xfrm rot="10800000">
                <a:off x="2918" y="1554"/>
                <a:ext cx="49" cy="231"/>
                <a:chOff x="1586" y="1334"/>
                <a:chExt cx="49" cy="231"/>
              </a:xfrm>
            </p:grpSpPr>
            <p:sp>
              <p:nvSpPr>
                <p:cNvPr id="57605" name="Freeform 136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606" name="Freeform 137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7598" name="Line 138"/>
              <p:cNvSpPr>
                <a:spLocks noChangeShapeType="1"/>
              </p:cNvSpPr>
              <p:nvPr/>
            </p:nvSpPr>
            <p:spPr bwMode="auto">
              <a:xfrm>
                <a:off x="2816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99" name="Freeform 139"/>
              <p:cNvSpPr/>
              <p:nvPr/>
            </p:nvSpPr>
            <p:spPr bwMode="auto">
              <a:xfrm>
                <a:off x="2764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600" name="Freeform 140"/>
              <p:cNvSpPr/>
              <p:nvPr/>
            </p:nvSpPr>
            <p:spPr bwMode="auto">
              <a:xfrm>
                <a:off x="2818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601" name="Group 141"/>
              <p:cNvGrpSpPr/>
              <p:nvPr/>
            </p:nvGrpSpPr>
            <p:grpSpPr bwMode="auto">
              <a:xfrm>
                <a:off x="2716" y="1841"/>
                <a:ext cx="202" cy="49"/>
                <a:chOff x="432" y="1152"/>
                <a:chExt cx="202" cy="49"/>
              </a:xfrm>
            </p:grpSpPr>
            <p:sp>
              <p:nvSpPr>
                <p:cNvPr id="57603" name="Freeform 14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04" name="Freeform 14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602" name="Freeform 144"/>
              <p:cNvSpPr/>
              <p:nvPr/>
            </p:nvSpPr>
            <p:spPr bwMode="auto">
              <a:xfrm>
                <a:off x="2814" y="1406"/>
                <a:ext cx="101" cy="211"/>
              </a:xfrm>
              <a:custGeom>
                <a:avLst/>
                <a:gdLst>
                  <a:gd name="T0" fmla="*/ 0 w 101"/>
                  <a:gd name="T1" fmla="*/ 0 h 211"/>
                  <a:gd name="T2" fmla="*/ 2 w 101"/>
                  <a:gd name="T3" fmla="*/ 211 h 211"/>
                  <a:gd name="T4" fmla="*/ 101 w 101"/>
                  <a:gd name="T5" fmla="*/ 211 h 2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11">
                    <a:moveTo>
                      <a:pt x="0" y="0"/>
                    </a:moveTo>
                    <a:lnTo>
                      <a:pt x="2" y="211"/>
                    </a:lnTo>
                    <a:lnTo>
                      <a:pt x="101" y="21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503" name="Group 145"/>
            <p:cNvGrpSpPr/>
            <p:nvPr/>
          </p:nvGrpSpPr>
          <p:grpSpPr bwMode="auto">
            <a:xfrm>
              <a:off x="2716" y="2469"/>
              <a:ext cx="251" cy="573"/>
              <a:chOff x="2716" y="2469"/>
              <a:chExt cx="251" cy="573"/>
            </a:xfrm>
          </p:grpSpPr>
          <p:grpSp>
            <p:nvGrpSpPr>
              <p:cNvPr id="57587" name="Group 146"/>
              <p:cNvGrpSpPr/>
              <p:nvPr/>
            </p:nvGrpSpPr>
            <p:grpSpPr bwMode="auto">
              <a:xfrm rot="10800000">
                <a:off x="2918" y="2610"/>
                <a:ext cx="49" cy="231"/>
                <a:chOff x="1586" y="1334"/>
                <a:chExt cx="49" cy="231"/>
              </a:xfrm>
            </p:grpSpPr>
            <p:sp>
              <p:nvSpPr>
                <p:cNvPr id="57595" name="Freeform 147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596" name="Freeform 148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7588" name="Line 149"/>
              <p:cNvSpPr>
                <a:spLocks noChangeShapeType="1"/>
              </p:cNvSpPr>
              <p:nvPr/>
            </p:nvSpPr>
            <p:spPr bwMode="auto">
              <a:xfrm>
                <a:off x="2816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89" name="Freeform 150"/>
              <p:cNvSpPr/>
              <p:nvPr/>
            </p:nvSpPr>
            <p:spPr bwMode="auto">
              <a:xfrm>
                <a:off x="2764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590" name="Freeform 151"/>
              <p:cNvSpPr/>
              <p:nvPr/>
            </p:nvSpPr>
            <p:spPr bwMode="auto">
              <a:xfrm>
                <a:off x="2818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591" name="Group 152"/>
              <p:cNvGrpSpPr/>
              <p:nvPr/>
            </p:nvGrpSpPr>
            <p:grpSpPr bwMode="auto">
              <a:xfrm>
                <a:off x="2716" y="2897"/>
                <a:ext cx="202" cy="49"/>
                <a:chOff x="432" y="1152"/>
                <a:chExt cx="202" cy="49"/>
              </a:xfrm>
            </p:grpSpPr>
            <p:sp>
              <p:nvSpPr>
                <p:cNvPr id="57593" name="Freeform 153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94" name="Freeform 154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92" name="Freeform 155"/>
              <p:cNvSpPr/>
              <p:nvPr/>
            </p:nvSpPr>
            <p:spPr bwMode="auto">
              <a:xfrm>
                <a:off x="2816" y="2469"/>
                <a:ext cx="99" cy="204"/>
              </a:xfrm>
              <a:custGeom>
                <a:avLst/>
                <a:gdLst>
                  <a:gd name="T0" fmla="*/ 1 w 99"/>
                  <a:gd name="T1" fmla="*/ 0 h 204"/>
                  <a:gd name="T2" fmla="*/ 0 w 99"/>
                  <a:gd name="T3" fmla="*/ 204 h 204"/>
                  <a:gd name="T4" fmla="*/ 99 w 99"/>
                  <a:gd name="T5" fmla="*/ 204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04">
                    <a:moveTo>
                      <a:pt x="1" y="0"/>
                    </a:moveTo>
                    <a:lnTo>
                      <a:pt x="0" y="204"/>
                    </a:lnTo>
                    <a:lnTo>
                      <a:pt x="99" y="20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7504" name="Freeform 156"/>
            <p:cNvSpPr/>
            <p:nvPr/>
          </p:nvSpPr>
          <p:spPr bwMode="auto">
            <a:xfrm>
              <a:off x="2959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05" name="Freeform 157"/>
            <p:cNvSpPr/>
            <p:nvPr/>
          </p:nvSpPr>
          <p:spPr bwMode="auto">
            <a:xfrm>
              <a:off x="2956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06" name="Freeform 158"/>
            <p:cNvSpPr/>
            <p:nvPr/>
          </p:nvSpPr>
          <p:spPr bwMode="auto">
            <a:xfrm>
              <a:off x="2956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07" name="Freeform 159"/>
            <p:cNvSpPr/>
            <p:nvPr/>
          </p:nvSpPr>
          <p:spPr bwMode="auto">
            <a:xfrm>
              <a:off x="2956" y="272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08" name="Freeform 160"/>
            <p:cNvSpPr/>
            <p:nvPr/>
          </p:nvSpPr>
          <p:spPr bwMode="auto">
            <a:xfrm>
              <a:off x="3243" y="1410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0 w 1"/>
                <a:gd name="T3" fmla="*/ 174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4">
                  <a:moveTo>
                    <a:pt x="0" y="0"/>
                  </a:moveTo>
                  <a:lnTo>
                    <a:pt x="0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09" name="Freeform 161"/>
            <p:cNvSpPr/>
            <p:nvPr/>
          </p:nvSpPr>
          <p:spPr bwMode="auto">
            <a:xfrm>
              <a:off x="3389" y="1409"/>
              <a:ext cx="1" cy="183"/>
            </a:xfrm>
            <a:custGeom>
              <a:avLst/>
              <a:gdLst>
                <a:gd name="T0" fmla="*/ 0 w 1"/>
                <a:gd name="T1" fmla="*/ 0 h 183"/>
                <a:gd name="T2" fmla="*/ 0 w 1"/>
                <a:gd name="T3" fmla="*/ 183 h 1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3">
                  <a:moveTo>
                    <a:pt x="0" y="0"/>
                  </a:moveTo>
                  <a:lnTo>
                    <a:pt x="0" y="18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10" name="Freeform 162"/>
            <p:cNvSpPr/>
            <p:nvPr/>
          </p:nvSpPr>
          <p:spPr bwMode="auto">
            <a:xfrm>
              <a:off x="3245" y="2466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1 w 1"/>
                <a:gd name="T3" fmla="*/ 174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4">
                  <a:moveTo>
                    <a:pt x="0" y="0"/>
                  </a:moveTo>
                  <a:lnTo>
                    <a:pt x="1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11" name="Freeform 163"/>
            <p:cNvSpPr/>
            <p:nvPr/>
          </p:nvSpPr>
          <p:spPr bwMode="auto">
            <a:xfrm>
              <a:off x="3391" y="2459"/>
              <a:ext cx="2" cy="181"/>
            </a:xfrm>
            <a:custGeom>
              <a:avLst/>
              <a:gdLst>
                <a:gd name="T0" fmla="*/ 2 w 2"/>
                <a:gd name="T1" fmla="*/ 0 h 181"/>
                <a:gd name="T2" fmla="*/ 0 w 2"/>
                <a:gd name="T3" fmla="*/ 181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1">
                  <a:moveTo>
                    <a:pt x="2" y="0"/>
                  </a:moveTo>
                  <a:lnTo>
                    <a:pt x="0" y="18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12" name="Freeform 164"/>
            <p:cNvSpPr/>
            <p:nvPr/>
          </p:nvSpPr>
          <p:spPr bwMode="auto">
            <a:xfrm>
              <a:off x="3915" y="1665"/>
              <a:ext cx="178" cy="1"/>
            </a:xfrm>
            <a:custGeom>
              <a:avLst/>
              <a:gdLst>
                <a:gd name="T0" fmla="*/ 0 w 178"/>
                <a:gd name="T1" fmla="*/ 0 h 1"/>
                <a:gd name="T2" fmla="*/ 178 w 17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">
                  <a:moveTo>
                    <a:pt x="0" y="0"/>
                  </a:moveTo>
                  <a:lnTo>
                    <a:pt x="17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13" name="Text Box 165"/>
            <p:cNvSpPr txBox="1">
              <a:spLocks noChangeArrowheads="1"/>
            </p:cNvSpPr>
            <p:nvPr/>
          </p:nvSpPr>
          <p:spPr bwMode="auto">
            <a:xfrm rot="5400000">
              <a:off x="3674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57514" name="Group 166"/>
            <p:cNvGrpSpPr/>
            <p:nvPr/>
          </p:nvGrpSpPr>
          <p:grpSpPr bwMode="auto">
            <a:xfrm>
              <a:off x="3648" y="702"/>
              <a:ext cx="251" cy="594"/>
              <a:chOff x="3648" y="702"/>
              <a:chExt cx="251" cy="594"/>
            </a:xfrm>
          </p:grpSpPr>
          <p:grpSp>
            <p:nvGrpSpPr>
              <p:cNvPr id="57577" name="Group 167"/>
              <p:cNvGrpSpPr/>
              <p:nvPr/>
            </p:nvGrpSpPr>
            <p:grpSpPr bwMode="auto">
              <a:xfrm rot="10800000">
                <a:off x="3850" y="864"/>
                <a:ext cx="49" cy="231"/>
                <a:chOff x="1586" y="1334"/>
                <a:chExt cx="49" cy="231"/>
              </a:xfrm>
            </p:grpSpPr>
            <p:sp>
              <p:nvSpPr>
                <p:cNvPr id="57585" name="Freeform 168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586" name="Freeform 169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7578" name="Line 170"/>
              <p:cNvSpPr>
                <a:spLocks noChangeShapeType="1"/>
              </p:cNvSpPr>
              <p:nvPr/>
            </p:nvSpPr>
            <p:spPr bwMode="auto">
              <a:xfrm>
                <a:off x="3748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79" name="Freeform 171"/>
              <p:cNvSpPr/>
              <p:nvPr/>
            </p:nvSpPr>
            <p:spPr bwMode="auto">
              <a:xfrm>
                <a:off x="3696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580" name="Freeform 172"/>
              <p:cNvSpPr/>
              <p:nvPr/>
            </p:nvSpPr>
            <p:spPr bwMode="auto">
              <a:xfrm>
                <a:off x="3750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581" name="Group 173"/>
              <p:cNvGrpSpPr/>
              <p:nvPr/>
            </p:nvGrpSpPr>
            <p:grpSpPr bwMode="auto">
              <a:xfrm>
                <a:off x="3648" y="1151"/>
                <a:ext cx="202" cy="49"/>
                <a:chOff x="432" y="1152"/>
                <a:chExt cx="202" cy="49"/>
              </a:xfrm>
            </p:grpSpPr>
            <p:sp>
              <p:nvSpPr>
                <p:cNvPr id="57583" name="Freeform 174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84" name="Freeform 175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82" name="Freeform 176"/>
              <p:cNvSpPr/>
              <p:nvPr/>
            </p:nvSpPr>
            <p:spPr bwMode="auto">
              <a:xfrm>
                <a:off x="3748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515" name="Group 177"/>
            <p:cNvGrpSpPr/>
            <p:nvPr/>
          </p:nvGrpSpPr>
          <p:grpSpPr bwMode="auto">
            <a:xfrm>
              <a:off x="3658" y="1409"/>
              <a:ext cx="251" cy="577"/>
              <a:chOff x="3658" y="1409"/>
              <a:chExt cx="251" cy="577"/>
            </a:xfrm>
          </p:grpSpPr>
          <p:grpSp>
            <p:nvGrpSpPr>
              <p:cNvPr id="57567" name="Group 178"/>
              <p:cNvGrpSpPr/>
              <p:nvPr/>
            </p:nvGrpSpPr>
            <p:grpSpPr bwMode="auto">
              <a:xfrm rot="10800000">
                <a:off x="3860" y="1554"/>
                <a:ext cx="49" cy="231"/>
                <a:chOff x="1586" y="1334"/>
                <a:chExt cx="49" cy="231"/>
              </a:xfrm>
            </p:grpSpPr>
            <p:sp>
              <p:nvSpPr>
                <p:cNvPr id="57575" name="Freeform 179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576" name="Freeform 180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7568" name="Line 181"/>
              <p:cNvSpPr>
                <a:spLocks noChangeShapeType="1"/>
              </p:cNvSpPr>
              <p:nvPr/>
            </p:nvSpPr>
            <p:spPr bwMode="auto">
              <a:xfrm>
                <a:off x="3758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69" name="Freeform 182"/>
              <p:cNvSpPr/>
              <p:nvPr/>
            </p:nvSpPr>
            <p:spPr bwMode="auto">
              <a:xfrm>
                <a:off x="3706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570" name="Freeform 183"/>
              <p:cNvSpPr/>
              <p:nvPr/>
            </p:nvSpPr>
            <p:spPr bwMode="auto">
              <a:xfrm>
                <a:off x="3760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571" name="Group 184"/>
              <p:cNvGrpSpPr/>
              <p:nvPr/>
            </p:nvGrpSpPr>
            <p:grpSpPr bwMode="auto">
              <a:xfrm>
                <a:off x="3658" y="1841"/>
                <a:ext cx="202" cy="49"/>
                <a:chOff x="432" y="1152"/>
                <a:chExt cx="202" cy="49"/>
              </a:xfrm>
            </p:grpSpPr>
            <p:sp>
              <p:nvSpPr>
                <p:cNvPr id="57573" name="Freeform 185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74" name="Freeform 186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72" name="Freeform 187"/>
              <p:cNvSpPr/>
              <p:nvPr/>
            </p:nvSpPr>
            <p:spPr bwMode="auto">
              <a:xfrm>
                <a:off x="3758" y="1409"/>
                <a:ext cx="99" cy="208"/>
              </a:xfrm>
              <a:custGeom>
                <a:avLst/>
                <a:gdLst>
                  <a:gd name="T0" fmla="*/ 0 w 99"/>
                  <a:gd name="T1" fmla="*/ 0 h 208"/>
                  <a:gd name="T2" fmla="*/ 0 w 99"/>
                  <a:gd name="T3" fmla="*/ 208 h 208"/>
                  <a:gd name="T4" fmla="*/ 99 w 99"/>
                  <a:gd name="T5" fmla="*/ 208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08">
                    <a:moveTo>
                      <a:pt x="0" y="0"/>
                    </a:moveTo>
                    <a:lnTo>
                      <a:pt x="0" y="208"/>
                    </a:lnTo>
                    <a:lnTo>
                      <a:pt x="99" y="20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516" name="Group 188"/>
            <p:cNvGrpSpPr/>
            <p:nvPr/>
          </p:nvGrpSpPr>
          <p:grpSpPr bwMode="auto">
            <a:xfrm>
              <a:off x="3658" y="2468"/>
              <a:ext cx="251" cy="574"/>
              <a:chOff x="3658" y="2468"/>
              <a:chExt cx="251" cy="574"/>
            </a:xfrm>
          </p:grpSpPr>
          <p:grpSp>
            <p:nvGrpSpPr>
              <p:cNvPr id="57557" name="Group 189"/>
              <p:cNvGrpSpPr/>
              <p:nvPr/>
            </p:nvGrpSpPr>
            <p:grpSpPr bwMode="auto">
              <a:xfrm rot="10800000">
                <a:off x="3860" y="2610"/>
                <a:ext cx="49" cy="231"/>
                <a:chOff x="1586" y="1334"/>
                <a:chExt cx="49" cy="231"/>
              </a:xfrm>
            </p:grpSpPr>
            <p:sp>
              <p:nvSpPr>
                <p:cNvPr id="57565" name="Freeform 190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566" name="Freeform 191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7558" name="Line 192"/>
              <p:cNvSpPr>
                <a:spLocks noChangeShapeType="1"/>
              </p:cNvSpPr>
              <p:nvPr/>
            </p:nvSpPr>
            <p:spPr bwMode="auto">
              <a:xfrm>
                <a:off x="3758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59" name="Freeform 193"/>
              <p:cNvSpPr/>
              <p:nvPr/>
            </p:nvSpPr>
            <p:spPr bwMode="auto">
              <a:xfrm>
                <a:off x="3706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560" name="Freeform 194"/>
              <p:cNvSpPr/>
              <p:nvPr/>
            </p:nvSpPr>
            <p:spPr bwMode="auto">
              <a:xfrm>
                <a:off x="3760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7561" name="Group 195"/>
              <p:cNvGrpSpPr/>
              <p:nvPr/>
            </p:nvGrpSpPr>
            <p:grpSpPr bwMode="auto">
              <a:xfrm>
                <a:off x="3658" y="2897"/>
                <a:ext cx="202" cy="49"/>
                <a:chOff x="432" y="1152"/>
                <a:chExt cx="202" cy="49"/>
              </a:xfrm>
            </p:grpSpPr>
            <p:sp>
              <p:nvSpPr>
                <p:cNvPr id="57563" name="Freeform 196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64" name="Freeform 197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62" name="Freeform 198"/>
              <p:cNvSpPr/>
              <p:nvPr/>
            </p:nvSpPr>
            <p:spPr bwMode="auto">
              <a:xfrm>
                <a:off x="3758" y="2468"/>
                <a:ext cx="99" cy="205"/>
              </a:xfrm>
              <a:custGeom>
                <a:avLst/>
                <a:gdLst>
                  <a:gd name="T0" fmla="*/ 0 w 99"/>
                  <a:gd name="T1" fmla="*/ 0 h 205"/>
                  <a:gd name="T2" fmla="*/ 0 w 99"/>
                  <a:gd name="T3" fmla="*/ 205 h 205"/>
                  <a:gd name="T4" fmla="*/ 99 w 99"/>
                  <a:gd name="T5" fmla="*/ 205 h 2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05">
                    <a:moveTo>
                      <a:pt x="0" y="0"/>
                    </a:moveTo>
                    <a:lnTo>
                      <a:pt x="0" y="205"/>
                    </a:lnTo>
                    <a:lnTo>
                      <a:pt x="99" y="20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7517" name="Freeform 199"/>
            <p:cNvSpPr/>
            <p:nvPr/>
          </p:nvSpPr>
          <p:spPr bwMode="auto">
            <a:xfrm>
              <a:off x="3901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18" name="Freeform 200"/>
            <p:cNvSpPr/>
            <p:nvPr/>
          </p:nvSpPr>
          <p:spPr bwMode="auto">
            <a:xfrm>
              <a:off x="3898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19" name="Freeform 201"/>
            <p:cNvSpPr/>
            <p:nvPr/>
          </p:nvSpPr>
          <p:spPr bwMode="auto">
            <a:xfrm>
              <a:off x="3898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20" name="Freeform 202"/>
            <p:cNvSpPr/>
            <p:nvPr/>
          </p:nvSpPr>
          <p:spPr bwMode="auto">
            <a:xfrm>
              <a:off x="3906" y="2721"/>
              <a:ext cx="187" cy="1"/>
            </a:xfrm>
            <a:custGeom>
              <a:avLst/>
              <a:gdLst>
                <a:gd name="T0" fmla="*/ 0 w 187"/>
                <a:gd name="T1" fmla="*/ 0 h 1"/>
                <a:gd name="T2" fmla="*/ 187 w 18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1">
                  <a:moveTo>
                    <a:pt x="0" y="0"/>
                  </a:moveTo>
                  <a:lnTo>
                    <a:pt x="187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21" name="Freeform 203"/>
            <p:cNvSpPr/>
            <p:nvPr/>
          </p:nvSpPr>
          <p:spPr bwMode="auto">
            <a:xfrm>
              <a:off x="4453" y="1302"/>
              <a:ext cx="432" cy="111"/>
            </a:xfrm>
            <a:custGeom>
              <a:avLst/>
              <a:gdLst>
                <a:gd name="T0" fmla="*/ 0 w 432"/>
                <a:gd name="T1" fmla="*/ 0 h 111"/>
                <a:gd name="T2" fmla="*/ 0 w 432"/>
                <a:gd name="T3" fmla="*/ 111 h 111"/>
                <a:gd name="T4" fmla="*/ 432 w 432"/>
                <a:gd name="T5" fmla="*/ 111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11">
                  <a:moveTo>
                    <a:pt x="0" y="0"/>
                  </a:moveTo>
                  <a:lnTo>
                    <a:pt x="0" y="111"/>
                  </a:lnTo>
                  <a:lnTo>
                    <a:pt x="432" y="1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22" name="Freeform 204"/>
            <p:cNvSpPr/>
            <p:nvPr/>
          </p:nvSpPr>
          <p:spPr bwMode="auto">
            <a:xfrm>
              <a:off x="4453" y="2358"/>
              <a:ext cx="423" cy="120"/>
            </a:xfrm>
            <a:custGeom>
              <a:avLst/>
              <a:gdLst>
                <a:gd name="T0" fmla="*/ 0 w 423"/>
                <a:gd name="T1" fmla="*/ 0 h 120"/>
                <a:gd name="T2" fmla="*/ 0 w 423"/>
                <a:gd name="T3" fmla="*/ 120 h 120"/>
                <a:gd name="T4" fmla="*/ 423 w 423"/>
                <a:gd name="T5" fmla="*/ 12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20">
                  <a:moveTo>
                    <a:pt x="0" y="0"/>
                  </a:moveTo>
                  <a:lnTo>
                    <a:pt x="0" y="120"/>
                  </a:lnTo>
                  <a:lnTo>
                    <a:pt x="423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23" name="Freeform 205"/>
            <p:cNvSpPr/>
            <p:nvPr/>
          </p:nvSpPr>
          <p:spPr bwMode="auto">
            <a:xfrm>
              <a:off x="4411" y="432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645 w 993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24" name="Freeform 206"/>
            <p:cNvSpPr/>
            <p:nvPr/>
          </p:nvSpPr>
          <p:spPr bwMode="auto">
            <a:xfrm>
              <a:off x="4411" y="1152"/>
              <a:ext cx="801" cy="96"/>
            </a:xfrm>
            <a:custGeom>
              <a:avLst/>
              <a:gdLst>
                <a:gd name="T0" fmla="*/ 0 w 993"/>
                <a:gd name="T1" fmla="*/ 93 h 99"/>
                <a:gd name="T2" fmla="*/ 0 w 993"/>
                <a:gd name="T3" fmla="*/ 0 h 99"/>
                <a:gd name="T4" fmla="*/ 646 w 993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25" name="Freeform 207"/>
            <p:cNvSpPr/>
            <p:nvPr/>
          </p:nvSpPr>
          <p:spPr bwMode="auto">
            <a:xfrm>
              <a:off x="4411" y="2208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645 w 993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526" name="Text Box 208"/>
            <p:cNvSpPr txBox="1">
              <a:spLocks noChangeArrowheads="1"/>
            </p:cNvSpPr>
            <p:nvPr/>
          </p:nvSpPr>
          <p:spPr bwMode="auto">
            <a:xfrm>
              <a:off x="28" y="316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527" name="Text Box 209"/>
            <p:cNvSpPr txBox="1">
              <a:spLocks noChangeArrowheads="1"/>
            </p:cNvSpPr>
            <p:nvPr/>
          </p:nvSpPr>
          <p:spPr bwMode="auto">
            <a:xfrm>
              <a:off x="940" y="3161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63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528" name="Text Box 210"/>
            <p:cNvSpPr txBox="1">
              <a:spLocks noChangeArrowheads="1"/>
            </p:cNvSpPr>
            <p:nvPr/>
          </p:nvSpPr>
          <p:spPr bwMode="auto">
            <a:xfrm>
              <a:off x="2994" y="3161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64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529" name="Text Box 211"/>
            <p:cNvSpPr txBox="1">
              <a:spLocks noChangeArrowheads="1"/>
            </p:cNvSpPr>
            <p:nvPr/>
          </p:nvSpPr>
          <p:spPr bwMode="auto">
            <a:xfrm>
              <a:off x="3916" y="3161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530" name="Text Box 212"/>
            <p:cNvSpPr txBox="1">
              <a:spLocks noChangeArrowheads="1"/>
            </p:cNvSpPr>
            <p:nvPr/>
          </p:nvSpPr>
          <p:spPr bwMode="auto">
            <a:xfrm>
              <a:off x="1776" y="3590"/>
              <a:ext cx="87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128 根行线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57531" name="Text Box 213"/>
            <p:cNvSpPr txBox="1">
              <a:spLocks noChangeArrowheads="1"/>
            </p:cNvSpPr>
            <p:nvPr/>
          </p:nvSpPr>
          <p:spPr bwMode="auto">
            <a:xfrm>
              <a:off x="546" y="1034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endPara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7532" name="Text Box 214"/>
            <p:cNvSpPr txBox="1">
              <a:spLocks noChangeArrowheads="1"/>
            </p:cNvSpPr>
            <p:nvPr/>
          </p:nvSpPr>
          <p:spPr bwMode="auto">
            <a:xfrm>
              <a:off x="700" y="1119"/>
              <a:ext cx="16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endParaRPr lang="en-US" altLang="zh-CN" sz="1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7533" name="Text Box 215"/>
            <p:cNvSpPr txBox="1">
              <a:spLocks noChangeArrowheads="1"/>
            </p:cNvSpPr>
            <p:nvPr/>
          </p:nvSpPr>
          <p:spPr bwMode="auto">
            <a:xfrm>
              <a:off x="5100" y="41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534" name="Text Box 216"/>
            <p:cNvSpPr txBox="1">
              <a:spLocks noChangeArrowheads="1"/>
            </p:cNvSpPr>
            <p:nvPr/>
          </p:nvSpPr>
          <p:spPr bwMode="auto">
            <a:xfrm>
              <a:off x="5020" y="2201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7535" name="Text Box 217"/>
            <p:cNvSpPr txBox="1">
              <a:spLocks noChangeArrowheads="1"/>
            </p:cNvSpPr>
            <p:nvPr/>
          </p:nvSpPr>
          <p:spPr bwMode="auto">
            <a:xfrm>
              <a:off x="5100" y="1178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536" name="Group 218"/>
            <p:cNvGrpSpPr/>
            <p:nvPr/>
          </p:nvGrpSpPr>
          <p:grpSpPr bwMode="auto">
            <a:xfrm>
              <a:off x="5356" y="1039"/>
              <a:ext cx="363" cy="972"/>
              <a:chOff x="5356" y="1039"/>
              <a:chExt cx="363" cy="972"/>
            </a:xfrm>
          </p:grpSpPr>
          <p:sp>
            <p:nvSpPr>
              <p:cNvPr id="57553" name="Text Box 219"/>
              <p:cNvSpPr txBox="1">
                <a:spLocks noChangeArrowheads="1"/>
              </p:cNvSpPr>
              <p:nvPr/>
            </p:nvSpPr>
            <p:spPr bwMode="auto">
              <a:xfrm>
                <a:off x="5356" y="1039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128</a:t>
                </a:r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54" name="Text Box 220"/>
              <p:cNvSpPr txBox="1">
                <a:spLocks noChangeArrowheads="1"/>
              </p:cNvSpPr>
              <p:nvPr/>
            </p:nvSpPr>
            <p:spPr bwMode="auto">
              <a:xfrm>
                <a:off x="5442" y="1294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55" name="Text Box 221"/>
              <p:cNvSpPr txBox="1">
                <a:spLocks noChangeArrowheads="1"/>
              </p:cNvSpPr>
              <p:nvPr/>
            </p:nvSpPr>
            <p:spPr bwMode="auto">
              <a:xfrm>
                <a:off x="5442" y="152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选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56" name="Text Box 222"/>
              <p:cNvSpPr txBox="1">
                <a:spLocks noChangeArrowheads="1"/>
              </p:cNvSpPr>
              <p:nvPr/>
            </p:nvSpPr>
            <p:spPr bwMode="auto">
              <a:xfrm>
                <a:off x="5442" y="176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择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7537" name="Text Box 223"/>
            <p:cNvSpPr txBox="1">
              <a:spLocks noChangeArrowheads="1"/>
            </p:cNvSpPr>
            <p:nvPr/>
          </p:nvSpPr>
          <p:spPr bwMode="auto">
            <a:xfrm>
              <a:off x="4896" y="2745"/>
              <a:ext cx="64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读/写线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7538" name="Line 224"/>
            <p:cNvSpPr>
              <a:spLocks noChangeShapeType="1"/>
            </p:cNvSpPr>
            <p:nvPr/>
          </p:nvSpPr>
          <p:spPr bwMode="auto">
            <a:xfrm flipV="1">
              <a:off x="4876" y="2976"/>
              <a:ext cx="336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539" name="Line 225"/>
            <p:cNvSpPr>
              <a:spLocks noChangeShapeType="1"/>
            </p:cNvSpPr>
            <p:nvPr/>
          </p:nvSpPr>
          <p:spPr bwMode="auto">
            <a:xfrm>
              <a:off x="29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540" name="Line 226"/>
            <p:cNvSpPr>
              <a:spLocks noChangeShapeType="1"/>
            </p:cNvSpPr>
            <p:nvPr/>
          </p:nvSpPr>
          <p:spPr bwMode="auto">
            <a:xfrm>
              <a:off x="41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541" name="Line 227"/>
            <p:cNvSpPr>
              <a:spLocks noChangeShapeType="1"/>
            </p:cNvSpPr>
            <p:nvPr/>
          </p:nvSpPr>
          <p:spPr bwMode="auto">
            <a:xfrm>
              <a:off x="5295" y="398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542" name="Line 228"/>
            <p:cNvSpPr>
              <a:spLocks noChangeShapeType="1"/>
            </p:cNvSpPr>
            <p:nvPr/>
          </p:nvSpPr>
          <p:spPr bwMode="auto">
            <a:xfrm>
              <a:off x="17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543" name="Text Box 229"/>
            <p:cNvSpPr txBox="1">
              <a:spLocks noChangeArrowheads="1"/>
            </p:cNvSpPr>
            <p:nvPr/>
          </p:nvSpPr>
          <p:spPr bwMode="auto">
            <a:xfrm>
              <a:off x="2158" y="3878"/>
              <a:ext cx="760" cy="2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数据输入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7544" name="Text Box 230"/>
            <p:cNvSpPr txBox="1">
              <a:spLocks noChangeArrowheads="1"/>
            </p:cNvSpPr>
            <p:nvPr/>
          </p:nvSpPr>
          <p:spPr bwMode="auto">
            <a:xfrm>
              <a:off x="3398" y="3865"/>
              <a:ext cx="6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I/O</a:t>
              </a:r>
              <a:r>
                <a:rPr lang="zh-CN" altLang="en-US" sz="2000">
                  <a:latin typeface="Times New Roman" panose="02020603050405020304" pitchFamily="18" charset="0"/>
                </a:rPr>
                <a:t>缓冲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7545" name="Text Box 231"/>
            <p:cNvSpPr txBox="1">
              <a:spLocks noChangeArrowheads="1"/>
            </p:cNvSpPr>
            <p:nvPr/>
          </p:nvSpPr>
          <p:spPr bwMode="auto">
            <a:xfrm>
              <a:off x="4534" y="3853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输出驱动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7546" name="Text Box 232"/>
            <p:cNvSpPr txBox="1">
              <a:spLocks noChangeArrowheads="1"/>
            </p:cNvSpPr>
            <p:nvPr/>
          </p:nvSpPr>
          <p:spPr bwMode="auto">
            <a:xfrm>
              <a:off x="5212" y="3648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47" name="Text Box 233"/>
            <p:cNvSpPr txBox="1">
              <a:spLocks noChangeArrowheads="1"/>
            </p:cNvSpPr>
            <p:nvPr/>
          </p:nvSpPr>
          <p:spPr bwMode="auto">
            <a:xfrm>
              <a:off x="5356" y="3744"/>
              <a:ext cx="35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OUT</a:t>
              </a:r>
              <a:endParaRPr lang="en-US" altLang="zh-CN" sz="1400">
                <a:latin typeface="Times New Roman" panose="02020603050405020304" pitchFamily="18" charset="0"/>
              </a:endParaRPr>
            </a:p>
          </p:txBody>
        </p:sp>
        <p:sp>
          <p:nvSpPr>
            <p:cNvPr id="57548" name="Text Box 234"/>
            <p:cNvSpPr txBox="1">
              <a:spLocks noChangeArrowheads="1"/>
            </p:cNvSpPr>
            <p:nvPr/>
          </p:nvSpPr>
          <p:spPr bwMode="auto">
            <a:xfrm>
              <a:off x="1392" y="3818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49" name="Text Box 235"/>
            <p:cNvSpPr txBox="1">
              <a:spLocks noChangeArrowheads="1"/>
            </p:cNvSpPr>
            <p:nvPr/>
          </p:nvSpPr>
          <p:spPr bwMode="auto">
            <a:xfrm>
              <a:off x="1535" y="3936"/>
              <a:ext cx="24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IN</a:t>
              </a:r>
              <a:endParaRPr lang="en-US" altLang="zh-CN" sz="1400">
                <a:latin typeface="Times New Roman" panose="02020603050405020304" pitchFamily="18" charset="0"/>
              </a:endParaRPr>
            </a:p>
          </p:txBody>
        </p:sp>
        <p:grpSp>
          <p:nvGrpSpPr>
            <p:cNvPr id="57550" name="Group 236"/>
            <p:cNvGrpSpPr/>
            <p:nvPr/>
          </p:nvGrpSpPr>
          <p:grpSpPr bwMode="auto">
            <a:xfrm>
              <a:off x="1536" y="2784"/>
              <a:ext cx="320" cy="297"/>
              <a:chOff x="1536" y="2784"/>
              <a:chExt cx="320" cy="297"/>
            </a:xfrm>
          </p:grpSpPr>
          <p:sp>
            <p:nvSpPr>
              <p:cNvPr id="57551" name="Text Box 237"/>
              <p:cNvSpPr txBox="1">
                <a:spLocks noChangeArrowheads="1"/>
              </p:cNvSpPr>
              <p:nvPr/>
            </p:nvSpPr>
            <p:spPr bwMode="auto">
              <a:xfrm>
                <a:off x="1536" y="278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</a:t>
                </a:r>
                <a:endPara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52" name="Text Box 238"/>
              <p:cNvSpPr txBox="1">
                <a:spLocks noChangeArrowheads="1"/>
              </p:cNvSpPr>
              <p:nvPr/>
            </p:nvSpPr>
            <p:spPr bwMode="auto">
              <a:xfrm>
                <a:off x="1690" y="2869"/>
                <a:ext cx="16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s</a:t>
                </a:r>
                <a:endPara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57347" name="Text Box 239"/>
          <p:cNvSpPr txBox="1">
            <a:spLocks noChangeArrowheads="1"/>
          </p:cNvSpPr>
          <p:nvPr/>
        </p:nvSpPr>
        <p:spPr bwMode="auto">
          <a:xfrm>
            <a:off x="349251" y="15875"/>
            <a:ext cx="6248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 dirty="0">
                <a:latin typeface="Times New Roman" panose="02020603050405020304" pitchFamily="18" charset="0"/>
                <a:ea typeface="楷体_GB2312" pitchFamily="49" charset="-122"/>
              </a:rPr>
              <a:t>④ </a:t>
            </a:r>
            <a:r>
              <a:rPr lang="en-US" altLang="zh-CN" sz="3200" dirty="0">
                <a:latin typeface="Times New Roman" panose="02020603050405020304" pitchFamily="18" charset="0"/>
              </a:rPr>
              <a:t>4116 (16K 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 </a:t>
            </a:r>
            <a:r>
              <a:rPr lang="en-US" altLang="zh-CN" sz="3200" dirty="0">
                <a:latin typeface="Times New Roman" panose="02020603050405020304" pitchFamily="18" charset="0"/>
              </a:rPr>
              <a:t>1</a:t>
            </a:r>
            <a:r>
              <a:rPr lang="zh-CN" altLang="en-US" sz="3200" dirty="0">
                <a:latin typeface="Times New Roman" panose="02020603050405020304" pitchFamily="18" charset="0"/>
              </a:rPr>
              <a:t>位) 芯片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r>
              <a: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原理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828656" name="Group 240"/>
          <p:cNvGrpSpPr/>
          <p:nvPr/>
        </p:nvGrpSpPr>
        <p:grpSpPr bwMode="auto">
          <a:xfrm>
            <a:off x="3546476" y="1371600"/>
            <a:ext cx="79375" cy="3124200"/>
            <a:chOff x="1342" y="864"/>
            <a:chExt cx="50" cy="1968"/>
          </a:xfrm>
        </p:grpSpPr>
        <p:grpSp>
          <p:nvGrpSpPr>
            <p:cNvPr id="57426" name="Group 241"/>
            <p:cNvGrpSpPr/>
            <p:nvPr/>
          </p:nvGrpSpPr>
          <p:grpSpPr bwMode="auto">
            <a:xfrm>
              <a:off x="1342" y="864"/>
              <a:ext cx="49" cy="231"/>
              <a:chOff x="1586" y="1334"/>
              <a:chExt cx="49" cy="231"/>
            </a:xfrm>
          </p:grpSpPr>
          <p:sp>
            <p:nvSpPr>
              <p:cNvPr id="57433" name="Freeform 242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434" name="Freeform 243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27" name="Group 244"/>
            <p:cNvGrpSpPr/>
            <p:nvPr/>
          </p:nvGrpSpPr>
          <p:grpSpPr bwMode="auto">
            <a:xfrm>
              <a:off x="1343" y="1593"/>
              <a:ext cx="49" cy="231"/>
              <a:chOff x="1586" y="1334"/>
              <a:chExt cx="49" cy="231"/>
            </a:xfrm>
          </p:grpSpPr>
          <p:sp>
            <p:nvSpPr>
              <p:cNvPr id="57431" name="Freeform 245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432" name="Freeform 246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7428" name="Group 247"/>
            <p:cNvGrpSpPr/>
            <p:nvPr/>
          </p:nvGrpSpPr>
          <p:grpSpPr bwMode="auto">
            <a:xfrm>
              <a:off x="1343" y="2601"/>
              <a:ext cx="49" cy="231"/>
              <a:chOff x="1586" y="1334"/>
              <a:chExt cx="49" cy="231"/>
            </a:xfrm>
          </p:grpSpPr>
          <p:sp>
            <p:nvSpPr>
              <p:cNvPr id="57429" name="Freeform 248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430" name="Freeform 249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828666" name="Group 250"/>
          <p:cNvGrpSpPr/>
          <p:nvPr/>
        </p:nvGrpSpPr>
        <p:grpSpPr bwMode="auto">
          <a:xfrm>
            <a:off x="4227514" y="898526"/>
            <a:ext cx="1538287" cy="3216275"/>
            <a:chOff x="1703" y="566"/>
            <a:chExt cx="969" cy="2026"/>
          </a:xfrm>
        </p:grpSpPr>
        <p:grpSp>
          <p:nvGrpSpPr>
            <p:cNvPr id="57414" name="Group 251"/>
            <p:cNvGrpSpPr/>
            <p:nvPr/>
          </p:nvGrpSpPr>
          <p:grpSpPr bwMode="auto">
            <a:xfrm>
              <a:off x="1703" y="566"/>
              <a:ext cx="964" cy="254"/>
              <a:chOff x="1771" y="566"/>
              <a:chExt cx="964" cy="254"/>
            </a:xfrm>
          </p:grpSpPr>
          <p:sp>
            <p:nvSpPr>
              <p:cNvPr id="57424" name="Rectangle 252"/>
              <p:cNvSpPr>
                <a:spLocks noChangeArrowheads="1"/>
              </p:cNvSpPr>
              <p:nvPr/>
            </p:nvSpPr>
            <p:spPr bwMode="auto">
              <a:xfrm>
                <a:off x="1775" y="576"/>
                <a:ext cx="906" cy="24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425" name="Text Box 253"/>
              <p:cNvSpPr txBox="1">
                <a:spLocks noChangeArrowheads="1"/>
              </p:cNvSpPr>
              <p:nvPr/>
            </p:nvSpPr>
            <p:spPr bwMode="auto">
              <a:xfrm>
                <a:off x="1771" y="566"/>
                <a:ext cx="9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读放大器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7415" name="Group 254"/>
            <p:cNvGrpSpPr/>
            <p:nvPr/>
          </p:nvGrpSpPr>
          <p:grpSpPr bwMode="auto">
            <a:xfrm>
              <a:off x="1708" y="1282"/>
              <a:ext cx="964" cy="254"/>
              <a:chOff x="1771" y="566"/>
              <a:chExt cx="964" cy="254"/>
            </a:xfrm>
          </p:grpSpPr>
          <p:sp>
            <p:nvSpPr>
              <p:cNvPr id="57422" name="Rectangle 255"/>
              <p:cNvSpPr>
                <a:spLocks noChangeArrowheads="1"/>
              </p:cNvSpPr>
              <p:nvPr/>
            </p:nvSpPr>
            <p:spPr bwMode="auto">
              <a:xfrm>
                <a:off x="1775" y="576"/>
                <a:ext cx="906" cy="24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423" name="Text Box 256"/>
              <p:cNvSpPr txBox="1">
                <a:spLocks noChangeArrowheads="1"/>
              </p:cNvSpPr>
              <p:nvPr/>
            </p:nvSpPr>
            <p:spPr bwMode="auto">
              <a:xfrm>
                <a:off x="1771" y="566"/>
                <a:ext cx="9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读放大器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7416" name="Group 257"/>
            <p:cNvGrpSpPr/>
            <p:nvPr/>
          </p:nvGrpSpPr>
          <p:grpSpPr bwMode="auto">
            <a:xfrm>
              <a:off x="1708" y="2338"/>
              <a:ext cx="964" cy="254"/>
              <a:chOff x="1771" y="566"/>
              <a:chExt cx="964" cy="254"/>
            </a:xfrm>
          </p:grpSpPr>
          <p:sp>
            <p:nvSpPr>
              <p:cNvPr id="57420" name="Rectangle 258"/>
              <p:cNvSpPr>
                <a:spLocks noChangeArrowheads="1"/>
              </p:cNvSpPr>
              <p:nvPr/>
            </p:nvSpPr>
            <p:spPr bwMode="auto">
              <a:xfrm>
                <a:off x="1775" y="576"/>
                <a:ext cx="906" cy="24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421" name="Text Box 259"/>
              <p:cNvSpPr txBox="1">
                <a:spLocks noChangeArrowheads="1"/>
              </p:cNvSpPr>
              <p:nvPr/>
            </p:nvSpPr>
            <p:spPr bwMode="auto">
              <a:xfrm>
                <a:off x="1771" y="566"/>
                <a:ext cx="9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读放大器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57417" name="Group 260"/>
            <p:cNvGrpSpPr/>
            <p:nvPr/>
          </p:nvGrpSpPr>
          <p:grpSpPr bwMode="auto">
            <a:xfrm>
              <a:off x="2062" y="1732"/>
              <a:ext cx="365" cy="427"/>
              <a:chOff x="2130" y="1570"/>
              <a:chExt cx="365" cy="427"/>
            </a:xfrm>
          </p:grpSpPr>
          <p:sp>
            <p:nvSpPr>
              <p:cNvPr id="57418" name="Text Box 261"/>
              <p:cNvSpPr txBox="1">
                <a:spLocks noChangeArrowheads="1"/>
              </p:cNvSpPr>
              <p:nvPr/>
            </p:nvSpPr>
            <p:spPr bwMode="auto">
              <a:xfrm rot="5400000">
                <a:off x="2127" y="158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419" name="Text Box 262"/>
              <p:cNvSpPr txBox="1">
                <a:spLocks noChangeArrowheads="1"/>
              </p:cNvSpPr>
              <p:nvPr/>
            </p:nvSpPr>
            <p:spPr bwMode="auto">
              <a:xfrm rot="5400000">
                <a:off x="1962" y="1755"/>
                <a:ext cx="427" cy="5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rot="10800000"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828679" name="Freeform 263"/>
          <p:cNvSpPr/>
          <p:nvPr/>
        </p:nvSpPr>
        <p:spPr bwMode="auto">
          <a:xfrm>
            <a:off x="8534400" y="685801"/>
            <a:ext cx="1270000" cy="157163"/>
          </a:xfrm>
          <a:custGeom>
            <a:avLst/>
            <a:gdLst>
              <a:gd name="T0" fmla="*/ 0 w 993"/>
              <a:gd name="T1" fmla="*/ 249497056 h 99"/>
              <a:gd name="T2" fmla="*/ 0 w 993"/>
              <a:gd name="T3" fmla="*/ 0 h 99"/>
              <a:gd name="T4" fmla="*/ 1624269889 w 993"/>
              <a:gd name="T5" fmla="*/ 0 h 9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93" h="99">
                <a:moveTo>
                  <a:pt x="0" y="99"/>
                </a:moveTo>
                <a:lnTo>
                  <a:pt x="0" y="0"/>
                </a:lnTo>
                <a:lnTo>
                  <a:pt x="993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28680" name="Freeform 264"/>
          <p:cNvSpPr/>
          <p:nvPr/>
        </p:nvSpPr>
        <p:spPr bwMode="auto">
          <a:xfrm>
            <a:off x="5676900" y="919163"/>
            <a:ext cx="2795588" cy="190500"/>
          </a:xfrm>
          <a:custGeom>
            <a:avLst/>
            <a:gdLst>
              <a:gd name="T0" fmla="*/ 2147483646 w 1761"/>
              <a:gd name="T1" fmla="*/ 0 h 120"/>
              <a:gd name="T2" fmla="*/ 2147483646 w 1761"/>
              <a:gd name="T3" fmla="*/ 294859075 h 120"/>
              <a:gd name="T4" fmla="*/ 0 w 1761"/>
              <a:gd name="T5" fmla="*/ 302418750 h 1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61" h="120">
                <a:moveTo>
                  <a:pt x="1761" y="0"/>
                </a:moveTo>
                <a:lnTo>
                  <a:pt x="1761" y="117"/>
                </a:lnTo>
                <a:lnTo>
                  <a:pt x="0" y="12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28681" name="Group 265"/>
          <p:cNvGrpSpPr/>
          <p:nvPr/>
        </p:nvGrpSpPr>
        <p:grpSpPr bwMode="auto">
          <a:xfrm>
            <a:off x="3233739" y="1557338"/>
            <a:ext cx="314325" cy="3548062"/>
            <a:chOff x="1145" y="981"/>
            <a:chExt cx="198" cy="2235"/>
          </a:xfrm>
        </p:grpSpPr>
        <p:sp>
          <p:nvSpPr>
            <p:cNvPr id="57408" name="Line 266"/>
            <p:cNvSpPr>
              <a:spLocks noChangeShapeType="1"/>
            </p:cNvSpPr>
            <p:nvPr/>
          </p:nvSpPr>
          <p:spPr bwMode="auto">
            <a:xfrm>
              <a:off x="1150" y="2255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7409" name="Group 267"/>
            <p:cNvGrpSpPr/>
            <p:nvPr/>
          </p:nvGrpSpPr>
          <p:grpSpPr bwMode="auto">
            <a:xfrm>
              <a:off x="1145" y="981"/>
              <a:ext cx="198" cy="2235"/>
              <a:chOff x="1145" y="981"/>
              <a:chExt cx="198" cy="2235"/>
            </a:xfrm>
          </p:grpSpPr>
          <p:sp>
            <p:nvSpPr>
              <p:cNvPr id="57411" name="Freeform 268"/>
              <p:cNvSpPr/>
              <p:nvPr/>
            </p:nvSpPr>
            <p:spPr bwMode="auto">
              <a:xfrm>
                <a:off x="1145" y="1707"/>
                <a:ext cx="198" cy="3"/>
              </a:xfrm>
              <a:custGeom>
                <a:avLst/>
                <a:gdLst>
                  <a:gd name="T0" fmla="*/ 0 w 198"/>
                  <a:gd name="T1" fmla="*/ 3 h 3"/>
                  <a:gd name="T2" fmla="*/ 198 w 19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8" h="3">
                    <a:moveTo>
                      <a:pt x="0" y="3"/>
                    </a:moveTo>
                    <a:lnTo>
                      <a:pt x="198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412" name="Freeform 269"/>
              <p:cNvSpPr/>
              <p:nvPr/>
            </p:nvSpPr>
            <p:spPr bwMode="auto">
              <a:xfrm>
                <a:off x="1148" y="981"/>
                <a:ext cx="189" cy="2235"/>
              </a:xfrm>
              <a:custGeom>
                <a:avLst/>
                <a:gdLst>
                  <a:gd name="T0" fmla="*/ 189 w 189"/>
                  <a:gd name="T1" fmla="*/ 0 h 2235"/>
                  <a:gd name="T2" fmla="*/ 0 w 189"/>
                  <a:gd name="T3" fmla="*/ 0 h 2235"/>
                  <a:gd name="T4" fmla="*/ 0 w 189"/>
                  <a:gd name="T5" fmla="*/ 2235 h 22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235">
                    <a:moveTo>
                      <a:pt x="189" y="0"/>
                    </a:moveTo>
                    <a:lnTo>
                      <a:pt x="0" y="0"/>
                    </a:lnTo>
                    <a:lnTo>
                      <a:pt x="0" y="2235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413" name="Freeform 270"/>
              <p:cNvSpPr/>
              <p:nvPr/>
            </p:nvSpPr>
            <p:spPr bwMode="auto">
              <a:xfrm>
                <a:off x="1145" y="2718"/>
                <a:ext cx="192" cy="1"/>
              </a:xfrm>
              <a:custGeom>
                <a:avLst/>
                <a:gdLst>
                  <a:gd name="T0" fmla="*/ 0 w 192"/>
                  <a:gd name="T1" fmla="*/ 0 h 1"/>
                  <a:gd name="T2" fmla="*/ 192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410" name="Line 271"/>
            <p:cNvSpPr>
              <a:spLocks noChangeShapeType="1"/>
            </p:cNvSpPr>
            <p:nvPr/>
          </p:nvSpPr>
          <p:spPr bwMode="auto">
            <a:xfrm>
              <a:off x="1148" y="2063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8688" name="Group 272"/>
          <p:cNvGrpSpPr/>
          <p:nvPr/>
        </p:nvGrpSpPr>
        <p:grpSpPr bwMode="auto">
          <a:xfrm rot="5400000">
            <a:off x="8493126" y="692151"/>
            <a:ext cx="77787" cy="366712"/>
            <a:chOff x="1586" y="1334"/>
            <a:chExt cx="49" cy="231"/>
          </a:xfrm>
        </p:grpSpPr>
        <p:sp>
          <p:nvSpPr>
            <p:cNvPr id="57406" name="Freeform 273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407" name="Freeform 274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28691" name="Group 275"/>
          <p:cNvGrpSpPr/>
          <p:nvPr/>
        </p:nvGrpSpPr>
        <p:grpSpPr bwMode="auto">
          <a:xfrm>
            <a:off x="3557588" y="1104900"/>
            <a:ext cx="696912" cy="3695700"/>
            <a:chOff x="1281" y="696"/>
            <a:chExt cx="439" cy="2328"/>
          </a:xfrm>
        </p:grpSpPr>
        <p:grpSp>
          <p:nvGrpSpPr>
            <p:cNvPr id="57375" name="Group 276"/>
            <p:cNvGrpSpPr/>
            <p:nvPr/>
          </p:nvGrpSpPr>
          <p:grpSpPr bwMode="auto">
            <a:xfrm>
              <a:off x="1314" y="696"/>
              <a:ext cx="406" cy="2328"/>
              <a:chOff x="1314" y="696"/>
              <a:chExt cx="406" cy="2328"/>
            </a:xfrm>
          </p:grpSpPr>
          <p:grpSp>
            <p:nvGrpSpPr>
              <p:cNvPr id="57377" name="Group 277"/>
              <p:cNvGrpSpPr/>
              <p:nvPr/>
            </p:nvGrpSpPr>
            <p:grpSpPr bwMode="auto">
              <a:xfrm>
                <a:off x="1314" y="696"/>
                <a:ext cx="391" cy="237"/>
                <a:chOff x="1382" y="696"/>
                <a:chExt cx="391" cy="237"/>
              </a:xfrm>
            </p:grpSpPr>
            <p:sp>
              <p:nvSpPr>
                <p:cNvPr id="57404" name="Freeform 278"/>
                <p:cNvSpPr/>
                <p:nvPr/>
              </p:nvSpPr>
              <p:spPr bwMode="auto">
                <a:xfrm>
                  <a:off x="1382" y="696"/>
                  <a:ext cx="108" cy="237"/>
                </a:xfrm>
                <a:custGeom>
                  <a:avLst/>
                  <a:gdLst>
                    <a:gd name="T0" fmla="*/ 0 w 108"/>
                    <a:gd name="T1" fmla="*/ 237 h 237"/>
                    <a:gd name="T2" fmla="*/ 108 w 108"/>
                    <a:gd name="T3" fmla="*/ 237 h 237"/>
                    <a:gd name="T4" fmla="*/ 108 w 108"/>
                    <a:gd name="T5" fmla="*/ 0 h 23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8" h="237">
                      <a:moveTo>
                        <a:pt x="0" y="237"/>
                      </a:moveTo>
                      <a:lnTo>
                        <a:pt x="108" y="237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405" name="Freeform 279"/>
                <p:cNvSpPr/>
                <p:nvPr/>
              </p:nvSpPr>
              <p:spPr bwMode="auto">
                <a:xfrm>
                  <a:off x="1509" y="702"/>
                  <a:ext cx="264" cy="136"/>
                </a:xfrm>
                <a:custGeom>
                  <a:avLst/>
                  <a:gdLst>
                    <a:gd name="T0" fmla="*/ 0 w 264"/>
                    <a:gd name="T1" fmla="*/ 0 h 1"/>
                    <a:gd name="T2" fmla="*/ 264 w 264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64" h="1">
                      <a:moveTo>
                        <a:pt x="0" y="0"/>
                      </a:moveTo>
                      <a:lnTo>
                        <a:pt x="264" y="0"/>
                      </a:lnTo>
                    </a:path>
                  </a:pathLst>
                </a:custGeom>
                <a:noFill/>
                <a:ln w="7620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7378" name="Group 280"/>
              <p:cNvGrpSpPr/>
              <p:nvPr/>
            </p:nvGrpSpPr>
            <p:grpSpPr bwMode="auto">
              <a:xfrm>
                <a:off x="1330" y="1403"/>
                <a:ext cx="390" cy="253"/>
                <a:chOff x="1398" y="1403"/>
                <a:chExt cx="390" cy="253"/>
              </a:xfrm>
            </p:grpSpPr>
            <p:sp>
              <p:nvSpPr>
                <p:cNvPr id="57402" name="Freeform 281"/>
                <p:cNvSpPr/>
                <p:nvPr/>
              </p:nvSpPr>
              <p:spPr bwMode="auto">
                <a:xfrm>
                  <a:off x="1398" y="1403"/>
                  <a:ext cx="102" cy="253"/>
                </a:xfrm>
                <a:custGeom>
                  <a:avLst/>
                  <a:gdLst>
                    <a:gd name="T0" fmla="*/ 0 w 102"/>
                    <a:gd name="T1" fmla="*/ 253 h 253"/>
                    <a:gd name="T2" fmla="*/ 102 w 102"/>
                    <a:gd name="T3" fmla="*/ 253 h 253"/>
                    <a:gd name="T4" fmla="*/ 102 w 102"/>
                    <a:gd name="T5" fmla="*/ 0 h 25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2" h="253">
                      <a:moveTo>
                        <a:pt x="0" y="253"/>
                      </a:moveTo>
                      <a:lnTo>
                        <a:pt x="102" y="253"/>
                      </a:lnTo>
                      <a:lnTo>
                        <a:pt x="102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  <a:tailEnd type="oval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403" name="Freeform 282"/>
                <p:cNvSpPr/>
                <p:nvPr/>
              </p:nvSpPr>
              <p:spPr bwMode="auto">
                <a:xfrm>
                  <a:off x="1521" y="1413"/>
                  <a:ext cx="267" cy="136"/>
                </a:xfrm>
                <a:custGeom>
                  <a:avLst/>
                  <a:gdLst>
                    <a:gd name="T0" fmla="*/ 0 w 267"/>
                    <a:gd name="T1" fmla="*/ 0 h 1"/>
                    <a:gd name="T2" fmla="*/ 267 w 267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67" h="1">
                      <a:moveTo>
                        <a:pt x="0" y="0"/>
                      </a:moveTo>
                      <a:lnTo>
                        <a:pt x="267" y="0"/>
                      </a:lnTo>
                    </a:path>
                  </a:pathLst>
                </a:custGeom>
                <a:noFill/>
                <a:ln w="7620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57379" name="Freeform 283"/>
              <p:cNvSpPr/>
              <p:nvPr/>
            </p:nvSpPr>
            <p:spPr bwMode="auto">
              <a:xfrm>
                <a:off x="1324" y="2415"/>
                <a:ext cx="108" cy="252"/>
              </a:xfrm>
              <a:custGeom>
                <a:avLst/>
                <a:gdLst>
                  <a:gd name="T0" fmla="*/ 0 w 108"/>
                  <a:gd name="T1" fmla="*/ 252 h 252"/>
                  <a:gd name="T2" fmla="*/ 107 w 108"/>
                  <a:gd name="T3" fmla="*/ 249 h 252"/>
                  <a:gd name="T4" fmla="*/ 108 w 108"/>
                  <a:gd name="T5" fmla="*/ 0 h 2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52">
                    <a:moveTo>
                      <a:pt x="0" y="252"/>
                    </a:moveTo>
                    <a:lnTo>
                      <a:pt x="107" y="249"/>
                    </a:lnTo>
                    <a:lnTo>
                      <a:pt x="10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380" name="Freeform 284"/>
              <p:cNvSpPr/>
              <p:nvPr/>
            </p:nvSpPr>
            <p:spPr bwMode="auto">
              <a:xfrm>
                <a:off x="1444" y="2414"/>
                <a:ext cx="274" cy="136"/>
              </a:xfrm>
              <a:custGeom>
                <a:avLst/>
                <a:gdLst>
                  <a:gd name="T0" fmla="*/ 0 w 274"/>
                  <a:gd name="T1" fmla="*/ 1 h 1"/>
                  <a:gd name="T2" fmla="*/ 274 w 27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4" h="1">
                    <a:moveTo>
                      <a:pt x="0" y="1"/>
                    </a:moveTo>
                    <a:lnTo>
                      <a:pt x="274" y="0"/>
                    </a:lnTo>
                  </a:path>
                </a:pathLst>
              </a:custGeom>
              <a:noFill/>
              <a:ln w="7620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7381" name="Group 285"/>
              <p:cNvGrpSpPr/>
              <p:nvPr/>
            </p:nvGrpSpPr>
            <p:grpSpPr bwMode="auto">
              <a:xfrm>
                <a:off x="1324" y="2747"/>
                <a:ext cx="202" cy="277"/>
                <a:chOff x="1392" y="2736"/>
                <a:chExt cx="202" cy="277"/>
              </a:xfrm>
            </p:grpSpPr>
            <p:sp>
              <p:nvSpPr>
                <p:cNvPr id="57396" name="Line 286"/>
                <p:cNvSpPr>
                  <a:spLocks noChangeShapeType="1"/>
                </p:cNvSpPr>
                <p:nvPr/>
              </p:nvSpPr>
              <p:spPr bwMode="auto">
                <a:xfrm>
                  <a:off x="1492" y="2916"/>
                  <a:ext cx="2" cy="95"/>
                </a:xfrm>
                <a:prstGeom prst="line">
                  <a:avLst/>
                </a:pr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397" name="Freeform 287"/>
                <p:cNvSpPr/>
                <p:nvPr/>
              </p:nvSpPr>
              <p:spPr bwMode="auto">
                <a:xfrm>
                  <a:off x="1440" y="3012"/>
                  <a:ext cx="120" cy="1"/>
                </a:xfrm>
                <a:custGeom>
                  <a:avLst/>
                  <a:gdLst>
                    <a:gd name="T0" fmla="*/ 0 w 120"/>
                    <a:gd name="T1" fmla="*/ 0 h 1"/>
                    <a:gd name="T2" fmla="*/ 120 w 12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0" h="1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398" name="Freeform 288"/>
                <p:cNvSpPr/>
                <p:nvPr/>
              </p:nvSpPr>
              <p:spPr bwMode="auto">
                <a:xfrm>
                  <a:off x="1392" y="2736"/>
                  <a:ext cx="102" cy="141"/>
                </a:xfrm>
                <a:custGeom>
                  <a:avLst/>
                  <a:gdLst>
                    <a:gd name="T0" fmla="*/ 0 w 102"/>
                    <a:gd name="T1" fmla="*/ 0 h 141"/>
                    <a:gd name="T2" fmla="*/ 102 w 102"/>
                    <a:gd name="T3" fmla="*/ 0 h 141"/>
                    <a:gd name="T4" fmla="*/ 102 w 102"/>
                    <a:gd name="T5" fmla="*/ 141 h 14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2" h="141">
                      <a:moveTo>
                        <a:pt x="0" y="0"/>
                      </a:moveTo>
                      <a:lnTo>
                        <a:pt x="102" y="0"/>
                      </a:lnTo>
                      <a:lnTo>
                        <a:pt x="102" y="14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57399" name="Group 289"/>
                <p:cNvGrpSpPr/>
                <p:nvPr/>
              </p:nvGrpSpPr>
              <p:grpSpPr bwMode="auto">
                <a:xfrm>
                  <a:off x="1392" y="2868"/>
                  <a:ext cx="202" cy="49"/>
                  <a:chOff x="432" y="1152"/>
                  <a:chExt cx="202" cy="49"/>
                </a:xfrm>
              </p:grpSpPr>
              <p:sp>
                <p:nvSpPr>
                  <p:cNvPr id="57400" name="Freeform 290"/>
                  <p:cNvSpPr/>
                  <p:nvPr/>
                </p:nvSpPr>
                <p:spPr bwMode="auto">
                  <a:xfrm>
                    <a:off x="432" y="1152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01" name="Freeform 291"/>
                  <p:cNvSpPr/>
                  <p:nvPr/>
                </p:nvSpPr>
                <p:spPr bwMode="auto">
                  <a:xfrm>
                    <a:off x="432" y="1200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57382" name="Group 292"/>
              <p:cNvGrpSpPr/>
              <p:nvPr/>
            </p:nvGrpSpPr>
            <p:grpSpPr bwMode="auto">
              <a:xfrm>
                <a:off x="1324" y="1019"/>
                <a:ext cx="202" cy="277"/>
                <a:chOff x="1392" y="1019"/>
                <a:chExt cx="202" cy="277"/>
              </a:xfrm>
            </p:grpSpPr>
            <p:sp>
              <p:nvSpPr>
                <p:cNvPr id="57390" name="Line 293"/>
                <p:cNvSpPr>
                  <a:spLocks noChangeShapeType="1"/>
                </p:cNvSpPr>
                <p:nvPr/>
              </p:nvSpPr>
              <p:spPr bwMode="auto">
                <a:xfrm>
                  <a:off x="1492" y="1199"/>
                  <a:ext cx="2" cy="95"/>
                </a:xfrm>
                <a:prstGeom prst="line">
                  <a:avLst/>
                </a:pr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391" name="Freeform 294"/>
                <p:cNvSpPr/>
                <p:nvPr/>
              </p:nvSpPr>
              <p:spPr bwMode="auto">
                <a:xfrm>
                  <a:off x="1440" y="1295"/>
                  <a:ext cx="120" cy="1"/>
                </a:xfrm>
                <a:custGeom>
                  <a:avLst/>
                  <a:gdLst>
                    <a:gd name="T0" fmla="*/ 0 w 120"/>
                    <a:gd name="T1" fmla="*/ 0 h 1"/>
                    <a:gd name="T2" fmla="*/ 120 w 12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0" h="1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392" name="Freeform 295"/>
                <p:cNvSpPr/>
                <p:nvPr/>
              </p:nvSpPr>
              <p:spPr bwMode="auto">
                <a:xfrm>
                  <a:off x="1392" y="1019"/>
                  <a:ext cx="102" cy="141"/>
                </a:xfrm>
                <a:custGeom>
                  <a:avLst/>
                  <a:gdLst>
                    <a:gd name="T0" fmla="*/ 0 w 102"/>
                    <a:gd name="T1" fmla="*/ 0 h 141"/>
                    <a:gd name="T2" fmla="*/ 102 w 102"/>
                    <a:gd name="T3" fmla="*/ 0 h 141"/>
                    <a:gd name="T4" fmla="*/ 102 w 102"/>
                    <a:gd name="T5" fmla="*/ 141 h 14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2" h="141">
                      <a:moveTo>
                        <a:pt x="0" y="0"/>
                      </a:moveTo>
                      <a:lnTo>
                        <a:pt x="102" y="0"/>
                      </a:lnTo>
                      <a:lnTo>
                        <a:pt x="102" y="14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57393" name="Group 296"/>
                <p:cNvGrpSpPr/>
                <p:nvPr/>
              </p:nvGrpSpPr>
              <p:grpSpPr bwMode="auto">
                <a:xfrm>
                  <a:off x="1392" y="1151"/>
                  <a:ext cx="202" cy="49"/>
                  <a:chOff x="432" y="1152"/>
                  <a:chExt cx="202" cy="49"/>
                </a:xfrm>
              </p:grpSpPr>
              <p:sp>
                <p:nvSpPr>
                  <p:cNvPr id="57394" name="Freeform 297"/>
                  <p:cNvSpPr/>
                  <p:nvPr/>
                </p:nvSpPr>
                <p:spPr bwMode="auto">
                  <a:xfrm>
                    <a:off x="432" y="1152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95" name="Freeform 298"/>
                  <p:cNvSpPr/>
                  <p:nvPr/>
                </p:nvSpPr>
                <p:spPr bwMode="auto">
                  <a:xfrm>
                    <a:off x="432" y="1200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57383" name="Group 299"/>
              <p:cNvGrpSpPr/>
              <p:nvPr/>
            </p:nvGrpSpPr>
            <p:grpSpPr bwMode="auto">
              <a:xfrm>
                <a:off x="1324" y="1739"/>
                <a:ext cx="202" cy="277"/>
                <a:chOff x="1392" y="1776"/>
                <a:chExt cx="202" cy="277"/>
              </a:xfrm>
            </p:grpSpPr>
            <p:sp>
              <p:nvSpPr>
                <p:cNvPr id="57384" name="Line 300"/>
                <p:cNvSpPr>
                  <a:spLocks noChangeShapeType="1"/>
                </p:cNvSpPr>
                <p:nvPr/>
              </p:nvSpPr>
              <p:spPr bwMode="auto">
                <a:xfrm>
                  <a:off x="1492" y="1956"/>
                  <a:ext cx="2" cy="95"/>
                </a:xfrm>
                <a:prstGeom prst="line">
                  <a:avLst/>
                </a:pr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385" name="Freeform 301"/>
                <p:cNvSpPr/>
                <p:nvPr/>
              </p:nvSpPr>
              <p:spPr bwMode="auto">
                <a:xfrm>
                  <a:off x="1440" y="2052"/>
                  <a:ext cx="120" cy="1"/>
                </a:xfrm>
                <a:custGeom>
                  <a:avLst/>
                  <a:gdLst>
                    <a:gd name="T0" fmla="*/ 0 w 120"/>
                    <a:gd name="T1" fmla="*/ 0 h 1"/>
                    <a:gd name="T2" fmla="*/ 120 w 120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0" h="1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7386" name="Freeform 302"/>
                <p:cNvSpPr/>
                <p:nvPr/>
              </p:nvSpPr>
              <p:spPr bwMode="auto">
                <a:xfrm>
                  <a:off x="1392" y="1776"/>
                  <a:ext cx="102" cy="141"/>
                </a:xfrm>
                <a:custGeom>
                  <a:avLst/>
                  <a:gdLst>
                    <a:gd name="T0" fmla="*/ 0 w 102"/>
                    <a:gd name="T1" fmla="*/ 0 h 141"/>
                    <a:gd name="T2" fmla="*/ 102 w 102"/>
                    <a:gd name="T3" fmla="*/ 0 h 141"/>
                    <a:gd name="T4" fmla="*/ 102 w 102"/>
                    <a:gd name="T5" fmla="*/ 141 h 14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2" h="141">
                      <a:moveTo>
                        <a:pt x="0" y="0"/>
                      </a:moveTo>
                      <a:lnTo>
                        <a:pt x="102" y="0"/>
                      </a:lnTo>
                      <a:lnTo>
                        <a:pt x="102" y="14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57387" name="Group 303"/>
                <p:cNvGrpSpPr/>
                <p:nvPr/>
              </p:nvGrpSpPr>
              <p:grpSpPr bwMode="auto">
                <a:xfrm>
                  <a:off x="1392" y="1908"/>
                  <a:ext cx="202" cy="49"/>
                  <a:chOff x="432" y="1152"/>
                  <a:chExt cx="202" cy="49"/>
                </a:xfrm>
              </p:grpSpPr>
              <p:sp>
                <p:nvSpPr>
                  <p:cNvPr id="57388" name="Freeform 304"/>
                  <p:cNvSpPr/>
                  <p:nvPr/>
                </p:nvSpPr>
                <p:spPr bwMode="auto">
                  <a:xfrm>
                    <a:off x="432" y="1152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89" name="Freeform 305"/>
                  <p:cNvSpPr/>
                  <p:nvPr/>
                </p:nvSpPr>
                <p:spPr bwMode="auto">
                  <a:xfrm>
                    <a:off x="432" y="1200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57376" name="Text Box 306"/>
            <p:cNvSpPr txBox="1">
              <a:spLocks noChangeArrowheads="1"/>
            </p:cNvSpPr>
            <p:nvPr/>
          </p:nvSpPr>
          <p:spPr bwMode="auto">
            <a:xfrm>
              <a:off x="1281" y="2056"/>
              <a:ext cx="427" cy="3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828724" name="Text Box 308"/>
          <p:cNvSpPr txBox="1">
            <a:spLocks noChangeArrowheads="1"/>
          </p:cNvSpPr>
          <p:nvPr/>
        </p:nvSpPr>
        <p:spPr bwMode="auto">
          <a:xfrm>
            <a:off x="3016250" y="5018088"/>
            <a:ext cx="488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63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28725" name="Text Box 309"/>
          <p:cNvSpPr txBox="1">
            <a:spLocks noChangeArrowheads="1"/>
          </p:cNvSpPr>
          <p:nvPr/>
        </p:nvSpPr>
        <p:spPr bwMode="auto">
          <a:xfrm>
            <a:off x="9620250" y="660400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28726" name="Text Box 310"/>
          <p:cNvSpPr txBox="1">
            <a:spLocks noChangeArrowheads="1"/>
          </p:cNvSpPr>
          <p:nvPr/>
        </p:nvSpPr>
        <p:spPr bwMode="auto">
          <a:xfrm>
            <a:off x="9620250" y="661988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28727" name="Text Box 311"/>
          <p:cNvSpPr txBox="1">
            <a:spLocks noChangeArrowheads="1"/>
          </p:cNvSpPr>
          <p:nvPr/>
        </p:nvSpPr>
        <p:spPr bwMode="auto">
          <a:xfrm>
            <a:off x="9620250" y="661988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828728" name="Group 312"/>
          <p:cNvGrpSpPr/>
          <p:nvPr/>
        </p:nvGrpSpPr>
        <p:grpSpPr bwMode="auto">
          <a:xfrm>
            <a:off x="7466013" y="901700"/>
            <a:ext cx="1847850" cy="5143500"/>
            <a:chOff x="3743" y="568"/>
            <a:chExt cx="1164" cy="3240"/>
          </a:xfrm>
        </p:grpSpPr>
        <p:grpSp>
          <p:nvGrpSpPr>
            <p:cNvPr id="57371" name="Group 313"/>
            <p:cNvGrpSpPr/>
            <p:nvPr/>
          </p:nvGrpSpPr>
          <p:grpSpPr bwMode="auto">
            <a:xfrm>
              <a:off x="3743" y="568"/>
              <a:ext cx="1140" cy="3240"/>
              <a:chOff x="3743" y="568"/>
              <a:chExt cx="1140" cy="3240"/>
            </a:xfrm>
          </p:grpSpPr>
          <p:sp>
            <p:nvSpPr>
              <p:cNvPr id="57373" name="Freeform 314"/>
              <p:cNvSpPr/>
              <p:nvPr/>
            </p:nvSpPr>
            <p:spPr bwMode="auto">
              <a:xfrm>
                <a:off x="4464" y="568"/>
                <a:ext cx="419" cy="3138"/>
              </a:xfrm>
              <a:custGeom>
                <a:avLst/>
                <a:gdLst>
                  <a:gd name="T0" fmla="*/ 0 w 419"/>
                  <a:gd name="T1" fmla="*/ 0 h 3138"/>
                  <a:gd name="T2" fmla="*/ 0 w 419"/>
                  <a:gd name="T3" fmla="*/ 130 h 3138"/>
                  <a:gd name="T4" fmla="*/ 416 w 419"/>
                  <a:gd name="T5" fmla="*/ 130 h 3138"/>
                  <a:gd name="T6" fmla="*/ 419 w 419"/>
                  <a:gd name="T7" fmla="*/ 3138 h 3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9" h="3138">
                    <a:moveTo>
                      <a:pt x="0" y="0"/>
                    </a:moveTo>
                    <a:lnTo>
                      <a:pt x="0" y="130"/>
                    </a:lnTo>
                    <a:lnTo>
                      <a:pt x="416" y="130"/>
                    </a:lnTo>
                    <a:lnTo>
                      <a:pt x="419" y="3138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7374" name="Freeform 315"/>
              <p:cNvSpPr/>
              <p:nvPr/>
            </p:nvSpPr>
            <p:spPr bwMode="auto">
              <a:xfrm>
                <a:off x="3743" y="3672"/>
                <a:ext cx="1" cy="136"/>
              </a:xfrm>
              <a:custGeom>
                <a:avLst/>
                <a:gdLst>
                  <a:gd name="T0" fmla="*/ 1 w 1"/>
                  <a:gd name="T1" fmla="*/ 0 h 201"/>
                  <a:gd name="T2" fmla="*/ 0 w 1"/>
                  <a:gd name="T3" fmla="*/ 201 h 2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01">
                    <a:moveTo>
                      <a:pt x="1" y="0"/>
                    </a:moveTo>
                    <a:lnTo>
                      <a:pt x="0" y="201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7372" name="Freeform 316"/>
            <p:cNvSpPr/>
            <p:nvPr/>
          </p:nvSpPr>
          <p:spPr bwMode="auto">
            <a:xfrm>
              <a:off x="3751" y="3694"/>
              <a:ext cx="1156" cy="2"/>
            </a:xfrm>
            <a:custGeom>
              <a:avLst/>
              <a:gdLst>
                <a:gd name="T0" fmla="*/ 1306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76200" cmpd="sng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8733" name="Group 317"/>
          <p:cNvGrpSpPr/>
          <p:nvPr/>
        </p:nvGrpSpPr>
        <p:grpSpPr bwMode="auto">
          <a:xfrm>
            <a:off x="6845301" y="5791200"/>
            <a:ext cx="3751263" cy="750888"/>
            <a:chOff x="3352" y="3648"/>
            <a:chExt cx="2363" cy="473"/>
          </a:xfrm>
        </p:grpSpPr>
        <p:sp>
          <p:nvSpPr>
            <p:cNvPr id="57363" name="Rectangle 318"/>
            <p:cNvSpPr>
              <a:spLocks noChangeArrowheads="1"/>
            </p:cNvSpPr>
            <p:nvPr/>
          </p:nvSpPr>
          <p:spPr bwMode="auto">
            <a:xfrm>
              <a:off x="4538" y="3869"/>
              <a:ext cx="742" cy="25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364" name="Rectangle 319"/>
            <p:cNvSpPr>
              <a:spLocks noChangeArrowheads="1"/>
            </p:cNvSpPr>
            <p:nvPr/>
          </p:nvSpPr>
          <p:spPr bwMode="auto">
            <a:xfrm>
              <a:off x="3352" y="3869"/>
              <a:ext cx="742" cy="25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7365" name="Freeform 320"/>
            <p:cNvSpPr/>
            <p:nvPr/>
          </p:nvSpPr>
          <p:spPr bwMode="auto">
            <a:xfrm>
              <a:off x="4080" y="3984"/>
              <a:ext cx="453" cy="136"/>
            </a:xfrm>
            <a:custGeom>
              <a:avLst/>
              <a:gdLst>
                <a:gd name="T0" fmla="*/ 0 w 453"/>
                <a:gd name="T1" fmla="*/ 0 h 1"/>
                <a:gd name="T2" fmla="*/ 453 w 45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3" h="1">
                  <a:moveTo>
                    <a:pt x="0" y="0"/>
                  </a:moveTo>
                  <a:lnTo>
                    <a:pt x="453" y="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366" name="Text Box 321"/>
            <p:cNvSpPr txBox="1">
              <a:spLocks noChangeArrowheads="1"/>
            </p:cNvSpPr>
            <p:nvPr/>
          </p:nvSpPr>
          <p:spPr bwMode="auto">
            <a:xfrm>
              <a:off x="3402" y="3867"/>
              <a:ext cx="6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I/O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缓冲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7367" name="Text Box 322"/>
            <p:cNvSpPr txBox="1">
              <a:spLocks noChangeArrowheads="1"/>
            </p:cNvSpPr>
            <p:nvPr/>
          </p:nvSpPr>
          <p:spPr bwMode="auto">
            <a:xfrm>
              <a:off x="4540" y="3856"/>
              <a:ext cx="7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输出驱动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7368" name="Line 323"/>
            <p:cNvSpPr>
              <a:spLocks noChangeShapeType="1"/>
            </p:cNvSpPr>
            <p:nvPr/>
          </p:nvSpPr>
          <p:spPr bwMode="auto">
            <a:xfrm>
              <a:off x="5295" y="3984"/>
              <a:ext cx="192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369" name="Text Box 324"/>
            <p:cNvSpPr txBox="1">
              <a:spLocks noChangeArrowheads="1"/>
            </p:cNvSpPr>
            <p:nvPr/>
          </p:nvSpPr>
          <p:spPr bwMode="auto">
            <a:xfrm>
              <a:off x="5356" y="3744"/>
              <a:ext cx="35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  <a:endParaRPr lang="en-US" altLang="zh-CN" sz="1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7370" name="Text Box 325"/>
            <p:cNvSpPr txBox="1">
              <a:spLocks noChangeArrowheads="1"/>
            </p:cNvSpPr>
            <p:nvPr/>
          </p:nvSpPr>
          <p:spPr bwMode="auto">
            <a:xfrm>
              <a:off x="5212" y="3648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28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28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828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28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828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28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28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828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828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0" dur="500"/>
                                        <p:tgtEl>
                                          <p:spTgt spid="82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828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828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4" dur="500"/>
                                        <p:tgtEl>
                                          <p:spTgt spid="828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" dur="500"/>
                                        <p:tgtEl>
                                          <p:spTgt spid="828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8724" grpId="0" autoUpdateAnimBg="0"/>
      <p:bldP spid="828725" grpId="0" autoUpdateAnimBg="0"/>
      <p:bldP spid="828726" grpId="0" autoUpdateAnimBg="0"/>
      <p:bldP spid="828727" grpId="0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092" name="Group 308"/>
          <p:cNvGrpSpPr/>
          <p:nvPr/>
        </p:nvGrpSpPr>
        <p:grpSpPr bwMode="auto">
          <a:xfrm>
            <a:off x="1568451" y="660400"/>
            <a:ext cx="9034463" cy="5892800"/>
            <a:chOff x="28" y="416"/>
            <a:chExt cx="5691" cy="3712"/>
          </a:xfrm>
        </p:grpSpPr>
        <p:sp>
          <p:nvSpPr>
            <p:cNvPr id="58438" name="Freeform 309"/>
            <p:cNvSpPr/>
            <p:nvPr/>
          </p:nvSpPr>
          <p:spPr bwMode="auto">
            <a:xfrm>
              <a:off x="4464" y="568"/>
              <a:ext cx="419" cy="3138"/>
            </a:xfrm>
            <a:custGeom>
              <a:avLst/>
              <a:gdLst>
                <a:gd name="T0" fmla="*/ 0 w 419"/>
                <a:gd name="T1" fmla="*/ 0 h 3138"/>
                <a:gd name="T2" fmla="*/ 0 w 419"/>
                <a:gd name="T3" fmla="*/ 130 h 3138"/>
                <a:gd name="T4" fmla="*/ 416 w 419"/>
                <a:gd name="T5" fmla="*/ 130 h 3138"/>
                <a:gd name="T6" fmla="*/ 419 w 419"/>
                <a:gd name="T7" fmla="*/ 3138 h 3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3138">
                  <a:moveTo>
                    <a:pt x="0" y="0"/>
                  </a:moveTo>
                  <a:lnTo>
                    <a:pt x="0" y="130"/>
                  </a:lnTo>
                  <a:lnTo>
                    <a:pt x="416" y="130"/>
                  </a:lnTo>
                  <a:lnTo>
                    <a:pt x="419" y="313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39" name="Freeform 310"/>
            <p:cNvSpPr/>
            <p:nvPr/>
          </p:nvSpPr>
          <p:spPr bwMode="auto">
            <a:xfrm>
              <a:off x="3743" y="3684"/>
              <a:ext cx="1" cy="136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440" name="Freeform 311"/>
            <p:cNvSpPr/>
            <p:nvPr/>
          </p:nvSpPr>
          <p:spPr bwMode="auto">
            <a:xfrm>
              <a:off x="3751" y="3694"/>
              <a:ext cx="1145" cy="2"/>
            </a:xfrm>
            <a:custGeom>
              <a:avLst/>
              <a:gdLst>
                <a:gd name="T0" fmla="*/ 1282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1" name="Freeform 312"/>
            <p:cNvSpPr/>
            <p:nvPr/>
          </p:nvSpPr>
          <p:spPr bwMode="auto">
            <a:xfrm>
              <a:off x="5308" y="432"/>
              <a:ext cx="144" cy="1776"/>
            </a:xfrm>
            <a:custGeom>
              <a:avLst/>
              <a:gdLst>
                <a:gd name="T0" fmla="*/ 0 w 134"/>
                <a:gd name="T1" fmla="*/ 0 h 1540"/>
                <a:gd name="T2" fmla="*/ 17 w 134"/>
                <a:gd name="T3" fmla="*/ 3 h 1540"/>
                <a:gd name="T4" fmla="*/ 31 w 134"/>
                <a:gd name="T5" fmla="*/ 14 h 1540"/>
                <a:gd name="T6" fmla="*/ 43 w 134"/>
                <a:gd name="T7" fmla="*/ 29 h 1540"/>
                <a:gd name="T8" fmla="*/ 55 w 134"/>
                <a:gd name="T9" fmla="*/ 51 h 1540"/>
                <a:gd name="T10" fmla="*/ 64 w 134"/>
                <a:gd name="T11" fmla="*/ 75 h 1540"/>
                <a:gd name="T12" fmla="*/ 72 w 134"/>
                <a:gd name="T13" fmla="*/ 104 h 1540"/>
                <a:gd name="T14" fmla="*/ 76 w 134"/>
                <a:gd name="T15" fmla="*/ 137 h 1540"/>
                <a:gd name="T16" fmla="*/ 78 w 134"/>
                <a:gd name="T17" fmla="*/ 171 h 1540"/>
                <a:gd name="T18" fmla="*/ 78 w 134"/>
                <a:gd name="T19" fmla="*/ 856 h 1540"/>
                <a:gd name="T20" fmla="*/ 81 w 134"/>
                <a:gd name="T21" fmla="*/ 888 h 1540"/>
                <a:gd name="T22" fmla="*/ 86 w 134"/>
                <a:gd name="T23" fmla="*/ 919 h 1540"/>
                <a:gd name="T24" fmla="*/ 90 w 134"/>
                <a:gd name="T25" fmla="*/ 949 h 1540"/>
                <a:gd name="T26" fmla="*/ 99 w 134"/>
                <a:gd name="T27" fmla="*/ 974 h 1540"/>
                <a:gd name="T28" fmla="*/ 112 w 134"/>
                <a:gd name="T29" fmla="*/ 995 h 1540"/>
                <a:gd name="T30" fmla="*/ 124 w 134"/>
                <a:gd name="T31" fmla="*/ 1009 h 1540"/>
                <a:gd name="T32" fmla="*/ 138 w 134"/>
                <a:gd name="T33" fmla="*/ 1021 h 1540"/>
                <a:gd name="T34" fmla="*/ 155 w 134"/>
                <a:gd name="T35" fmla="*/ 1024 h 1540"/>
                <a:gd name="T36" fmla="*/ 138 w 134"/>
                <a:gd name="T37" fmla="*/ 1028 h 1540"/>
                <a:gd name="T38" fmla="*/ 124 w 134"/>
                <a:gd name="T39" fmla="*/ 1038 h 1540"/>
                <a:gd name="T40" fmla="*/ 112 w 134"/>
                <a:gd name="T41" fmla="*/ 1053 h 1540"/>
                <a:gd name="T42" fmla="*/ 99 w 134"/>
                <a:gd name="T43" fmla="*/ 1075 h 1540"/>
                <a:gd name="T44" fmla="*/ 90 w 134"/>
                <a:gd name="T45" fmla="*/ 1099 h 1540"/>
                <a:gd name="T46" fmla="*/ 86 w 134"/>
                <a:gd name="T47" fmla="*/ 1128 h 1540"/>
                <a:gd name="T48" fmla="*/ 81 w 134"/>
                <a:gd name="T49" fmla="*/ 1161 h 1540"/>
                <a:gd name="T50" fmla="*/ 78 w 134"/>
                <a:gd name="T51" fmla="*/ 1195 h 1540"/>
                <a:gd name="T52" fmla="*/ 78 w 134"/>
                <a:gd name="T53" fmla="*/ 1876 h 1540"/>
                <a:gd name="T54" fmla="*/ 76 w 134"/>
                <a:gd name="T55" fmla="*/ 1912 h 1540"/>
                <a:gd name="T56" fmla="*/ 72 w 134"/>
                <a:gd name="T57" fmla="*/ 1943 h 1540"/>
                <a:gd name="T58" fmla="*/ 64 w 134"/>
                <a:gd name="T59" fmla="*/ 1973 h 1540"/>
                <a:gd name="T60" fmla="*/ 55 w 134"/>
                <a:gd name="T61" fmla="*/ 1999 h 1540"/>
                <a:gd name="T62" fmla="*/ 43 w 134"/>
                <a:gd name="T63" fmla="*/ 2019 h 1540"/>
                <a:gd name="T64" fmla="*/ 31 w 134"/>
                <a:gd name="T65" fmla="*/ 2033 h 1540"/>
                <a:gd name="T66" fmla="*/ 17 w 134"/>
                <a:gd name="T67" fmla="*/ 2045 h 1540"/>
                <a:gd name="T68" fmla="*/ 0 w 134"/>
                <a:gd name="T69" fmla="*/ 2048 h 15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4" h="1540">
                  <a:moveTo>
                    <a:pt x="0" y="0"/>
                  </a:moveTo>
                  <a:lnTo>
                    <a:pt x="15" y="3"/>
                  </a:lnTo>
                  <a:lnTo>
                    <a:pt x="27" y="10"/>
                  </a:lnTo>
                  <a:lnTo>
                    <a:pt x="37" y="22"/>
                  </a:lnTo>
                  <a:lnTo>
                    <a:pt x="47" y="38"/>
                  </a:lnTo>
                  <a:lnTo>
                    <a:pt x="56" y="56"/>
                  </a:lnTo>
                  <a:lnTo>
                    <a:pt x="62" y="78"/>
                  </a:lnTo>
                  <a:lnTo>
                    <a:pt x="66" y="103"/>
                  </a:lnTo>
                  <a:lnTo>
                    <a:pt x="68" y="128"/>
                  </a:lnTo>
                  <a:lnTo>
                    <a:pt x="68" y="643"/>
                  </a:lnTo>
                  <a:lnTo>
                    <a:pt x="70" y="668"/>
                  </a:lnTo>
                  <a:lnTo>
                    <a:pt x="74" y="691"/>
                  </a:lnTo>
                  <a:lnTo>
                    <a:pt x="78" y="714"/>
                  </a:lnTo>
                  <a:lnTo>
                    <a:pt x="86" y="733"/>
                  </a:lnTo>
                  <a:lnTo>
                    <a:pt x="97" y="748"/>
                  </a:lnTo>
                  <a:lnTo>
                    <a:pt x="107" y="759"/>
                  </a:lnTo>
                  <a:lnTo>
                    <a:pt x="119" y="767"/>
                  </a:lnTo>
                  <a:lnTo>
                    <a:pt x="134" y="770"/>
                  </a:lnTo>
                  <a:lnTo>
                    <a:pt x="119" y="773"/>
                  </a:lnTo>
                  <a:lnTo>
                    <a:pt x="107" y="780"/>
                  </a:lnTo>
                  <a:lnTo>
                    <a:pt x="97" y="792"/>
                  </a:lnTo>
                  <a:lnTo>
                    <a:pt x="86" y="808"/>
                  </a:lnTo>
                  <a:lnTo>
                    <a:pt x="78" y="826"/>
                  </a:lnTo>
                  <a:lnTo>
                    <a:pt x="74" y="848"/>
                  </a:lnTo>
                  <a:lnTo>
                    <a:pt x="70" y="873"/>
                  </a:lnTo>
                  <a:lnTo>
                    <a:pt x="68" y="898"/>
                  </a:lnTo>
                  <a:lnTo>
                    <a:pt x="68" y="1411"/>
                  </a:lnTo>
                  <a:lnTo>
                    <a:pt x="66" y="1438"/>
                  </a:lnTo>
                  <a:lnTo>
                    <a:pt x="62" y="1461"/>
                  </a:lnTo>
                  <a:lnTo>
                    <a:pt x="56" y="1484"/>
                  </a:lnTo>
                  <a:lnTo>
                    <a:pt x="47" y="1503"/>
                  </a:lnTo>
                  <a:lnTo>
                    <a:pt x="37" y="1518"/>
                  </a:lnTo>
                  <a:lnTo>
                    <a:pt x="27" y="1529"/>
                  </a:lnTo>
                  <a:lnTo>
                    <a:pt x="15" y="1537"/>
                  </a:lnTo>
                  <a:lnTo>
                    <a:pt x="0" y="15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2" name="Freeform 313"/>
            <p:cNvSpPr/>
            <p:nvPr/>
          </p:nvSpPr>
          <p:spPr bwMode="auto">
            <a:xfrm>
              <a:off x="121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3" name="Freeform 314"/>
            <p:cNvSpPr/>
            <p:nvPr/>
          </p:nvSpPr>
          <p:spPr bwMode="auto">
            <a:xfrm>
              <a:off x="2956" y="1665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4" name="Freeform 315"/>
            <p:cNvSpPr/>
            <p:nvPr/>
          </p:nvSpPr>
          <p:spPr bwMode="auto">
            <a:xfrm>
              <a:off x="168" y="3445"/>
              <a:ext cx="3859" cy="155"/>
            </a:xfrm>
            <a:custGeom>
              <a:avLst/>
              <a:gdLst>
                <a:gd name="T0" fmla="*/ 0 w 3179"/>
                <a:gd name="T1" fmla="*/ 0 h 136"/>
                <a:gd name="T2" fmla="*/ 2 w 3179"/>
                <a:gd name="T3" fmla="*/ 10 h 136"/>
                <a:gd name="T4" fmla="*/ 8 w 3179"/>
                <a:gd name="T5" fmla="*/ 18 h 136"/>
                <a:gd name="T6" fmla="*/ 18 w 3179"/>
                <a:gd name="T7" fmla="*/ 27 h 136"/>
                <a:gd name="T8" fmla="*/ 30 w 3179"/>
                <a:gd name="T9" fmla="*/ 35 h 136"/>
                <a:gd name="T10" fmla="*/ 49 w 3179"/>
                <a:gd name="T11" fmla="*/ 43 h 136"/>
                <a:gd name="T12" fmla="*/ 67 w 3179"/>
                <a:gd name="T13" fmla="*/ 50 h 136"/>
                <a:gd name="T14" fmla="*/ 115 w 3179"/>
                <a:gd name="T15" fmla="*/ 63 h 136"/>
                <a:gd name="T16" fmla="*/ 172 w 3179"/>
                <a:gd name="T17" fmla="*/ 73 h 136"/>
                <a:gd name="T18" fmla="*/ 239 w 3179"/>
                <a:gd name="T19" fmla="*/ 81 h 136"/>
                <a:gd name="T20" fmla="*/ 311 w 3179"/>
                <a:gd name="T21" fmla="*/ 87 h 136"/>
                <a:gd name="T22" fmla="*/ 391 w 3179"/>
                <a:gd name="T23" fmla="*/ 89 h 136"/>
                <a:gd name="T24" fmla="*/ 1976 w 3179"/>
                <a:gd name="T25" fmla="*/ 89 h 136"/>
                <a:gd name="T26" fmla="*/ 2055 w 3179"/>
                <a:gd name="T27" fmla="*/ 91 h 136"/>
                <a:gd name="T28" fmla="*/ 2128 w 3179"/>
                <a:gd name="T29" fmla="*/ 96 h 136"/>
                <a:gd name="T30" fmla="*/ 2195 w 3179"/>
                <a:gd name="T31" fmla="*/ 104 h 136"/>
                <a:gd name="T32" fmla="*/ 2252 w 3179"/>
                <a:gd name="T33" fmla="*/ 115 h 136"/>
                <a:gd name="T34" fmla="*/ 2300 w 3179"/>
                <a:gd name="T35" fmla="*/ 128 h 136"/>
                <a:gd name="T36" fmla="*/ 2317 w 3179"/>
                <a:gd name="T37" fmla="*/ 136 h 136"/>
                <a:gd name="T38" fmla="*/ 2336 w 3179"/>
                <a:gd name="T39" fmla="*/ 142 h 136"/>
                <a:gd name="T40" fmla="*/ 2349 w 3179"/>
                <a:gd name="T41" fmla="*/ 152 h 136"/>
                <a:gd name="T42" fmla="*/ 2357 w 3179"/>
                <a:gd name="T43" fmla="*/ 160 h 136"/>
                <a:gd name="T44" fmla="*/ 2363 w 3179"/>
                <a:gd name="T45" fmla="*/ 168 h 136"/>
                <a:gd name="T46" fmla="*/ 2367 w 3179"/>
                <a:gd name="T47" fmla="*/ 177 h 136"/>
                <a:gd name="T48" fmla="*/ 2370 w 3179"/>
                <a:gd name="T49" fmla="*/ 168 h 136"/>
                <a:gd name="T50" fmla="*/ 2376 w 3179"/>
                <a:gd name="T51" fmla="*/ 160 h 136"/>
                <a:gd name="T52" fmla="*/ 2384 w 3179"/>
                <a:gd name="T53" fmla="*/ 152 h 136"/>
                <a:gd name="T54" fmla="*/ 2396 w 3179"/>
                <a:gd name="T55" fmla="*/ 142 h 136"/>
                <a:gd name="T56" fmla="*/ 2416 w 3179"/>
                <a:gd name="T57" fmla="*/ 136 h 136"/>
                <a:gd name="T58" fmla="*/ 2433 w 3179"/>
                <a:gd name="T59" fmla="*/ 128 h 136"/>
                <a:gd name="T60" fmla="*/ 2481 w 3179"/>
                <a:gd name="T61" fmla="*/ 115 h 136"/>
                <a:gd name="T62" fmla="*/ 2539 w 3179"/>
                <a:gd name="T63" fmla="*/ 104 h 136"/>
                <a:gd name="T64" fmla="*/ 2605 w 3179"/>
                <a:gd name="T65" fmla="*/ 96 h 136"/>
                <a:gd name="T66" fmla="*/ 2678 w 3179"/>
                <a:gd name="T67" fmla="*/ 91 h 136"/>
                <a:gd name="T68" fmla="*/ 2756 w 3179"/>
                <a:gd name="T69" fmla="*/ 89 h 136"/>
                <a:gd name="T70" fmla="*/ 4294 w 3179"/>
                <a:gd name="T71" fmla="*/ 89 h 136"/>
                <a:gd name="T72" fmla="*/ 4374 w 3179"/>
                <a:gd name="T73" fmla="*/ 87 h 136"/>
                <a:gd name="T74" fmla="*/ 4445 w 3179"/>
                <a:gd name="T75" fmla="*/ 81 h 136"/>
                <a:gd name="T76" fmla="*/ 4512 w 3179"/>
                <a:gd name="T77" fmla="*/ 73 h 136"/>
                <a:gd name="T78" fmla="*/ 4569 w 3179"/>
                <a:gd name="T79" fmla="*/ 63 h 136"/>
                <a:gd name="T80" fmla="*/ 4618 w 3179"/>
                <a:gd name="T81" fmla="*/ 50 h 136"/>
                <a:gd name="T82" fmla="*/ 4636 w 3179"/>
                <a:gd name="T83" fmla="*/ 43 h 136"/>
                <a:gd name="T84" fmla="*/ 4654 w 3179"/>
                <a:gd name="T85" fmla="*/ 35 h 136"/>
                <a:gd name="T86" fmla="*/ 4665 w 3179"/>
                <a:gd name="T87" fmla="*/ 27 h 136"/>
                <a:gd name="T88" fmla="*/ 4676 w 3179"/>
                <a:gd name="T89" fmla="*/ 18 h 136"/>
                <a:gd name="T90" fmla="*/ 4682 w 3179"/>
                <a:gd name="T91" fmla="*/ 10 h 136"/>
                <a:gd name="T92" fmla="*/ 4684 w 3179"/>
                <a:gd name="T93" fmla="*/ 0 h 1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79" h="136">
                  <a:moveTo>
                    <a:pt x="0" y="0"/>
                  </a:moveTo>
                  <a:lnTo>
                    <a:pt x="2" y="8"/>
                  </a:lnTo>
                  <a:lnTo>
                    <a:pt x="6" y="14"/>
                  </a:lnTo>
                  <a:lnTo>
                    <a:pt x="12" y="21"/>
                  </a:lnTo>
                  <a:lnTo>
                    <a:pt x="21" y="27"/>
                  </a:lnTo>
                  <a:lnTo>
                    <a:pt x="33" y="33"/>
                  </a:lnTo>
                  <a:lnTo>
                    <a:pt x="45" y="39"/>
                  </a:lnTo>
                  <a:lnTo>
                    <a:pt x="78" y="48"/>
                  </a:lnTo>
                  <a:lnTo>
                    <a:pt x="117" y="56"/>
                  </a:lnTo>
                  <a:lnTo>
                    <a:pt x="162" y="62"/>
                  </a:lnTo>
                  <a:lnTo>
                    <a:pt x="211" y="67"/>
                  </a:lnTo>
                  <a:lnTo>
                    <a:pt x="265" y="68"/>
                  </a:lnTo>
                  <a:lnTo>
                    <a:pt x="1341" y="68"/>
                  </a:lnTo>
                  <a:lnTo>
                    <a:pt x="1395" y="70"/>
                  </a:lnTo>
                  <a:lnTo>
                    <a:pt x="1444" y="74"/>
                  </a:lnTo>
                  <a:lnTo>
                    <a:pt x="1489" y="80"/>
                  </a:lnTo>
                  <a:lnTo>
                    <a:pt x="1528" y="89"/>
                  </a:lnTo>
                  <a:lnTo>
                    <a:pt x="1561" y="98"/>
                  </a:lnTo>
                  <a:lnTo>
                    <a:pt x="1573" y="104"/>
                  </a:lnTo>
                  <a:lnTo>
                    <a:pt x="1585" y="110"/>
                  </a:lnTo>
                  <a:lnTo>
                    <a:pt x="1594" y="117"/>
                  </a:lnTo>
                  <a:lnTo>
                    <a:pt x="1600" y="123"/>
                  </a:lnTo>
                  <a:lnTo>
                    <a:pt x="1604" y="129"/>
                  </a:lnTo>
                  <a:lnTo>
                    <a:pt x="1606" y="136"/>
                  </a:lnTo>
                  <a:lnTo>
                    <a:pt x="1608" y="129"/>
                  </a:lnTo>
                  <a:lnTo>
                    <a:pt x="1612" y="123"/>
                  </a:lnTo>
                  <a:lnTo>
                    <a:pt x="1618" y="117"/>
                  </a:lnTo>
                  <a:lnTo>
                    <a:pt x="1626" y="110"/>
                  </a:lnTo>
                  <a:lnTo>
                    <a:pt x="1639" y="104"/>
                  </a:lnTo>
                  <a:lnTo>
                    <a:pt x="1651" y="98"/>
                  </a:lnTo>
                  <a:lnTo>
                    <a:pt x="1684" y="89"/>
                  </a:lnTo>
                  <a:lnTo>
                    <a:pt x="1723" y="80"/>
                  </a:lnTo>
                  <a:lnTo>
                    <a:pt x="1768" y="74"/>
                  </a:lnTo>
                  <a:lnTo>
                    <a:pt x="1817" y="70"/>
                  </a:lnTo>
                  <a:lnTo>
                    <a:pt x="1870" y="68"/>
                  </a:lnTo>
                  <a:lnTo>
                    <a:pt x="2914" y="68"/>
                  </a:lnTo>
                  <a:lnTo>
                    <a:pt x="2968" y="67"/>
                  </a:lnTo>
                  <a:lnTo>
                    <a:pt x="3017" y="62"/>
                  </a:lnTo>
                  <a:lnTo>
                    <a:pt x="3062" y="56"/>
                  </a:lnTo>
                  <a:lnTo>
                    <a:pt x="3101" y="48"/>
                  </a:lnTo>
                  <a:lnTo>
                    <a:pt x="3134" y="39"/>
                  </a:lnTo>
                  <a:lnTo>
                    <a:pt x="3146" y="33"/>
                  </a:lnTo>
                  <a:lnTo>
                    <a:pt x="3158" y="27"/>
                  </a:lnTo>
                  <a:lnTo>
                    <a:pt x="3166" y="21"/>
                  </a:lnTo>
                  <a:lnTo>
                    <a:pt x="3173" y="14"/>
                  </a:lnTo>
                  <a:lnTo>
                    <a:pt x="3177" y="8"/>
                  </a:lnTo>
                  <a:lnTo>
                    <a:pt x="317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5" name="Rectangle 316"/>
            <p:cNvSpPr>
              <a:spLocks noChangeArrowheads="1"/>
            </p:cNvSpPr>
            <p:nvPr/>
          </p:nvSpPr>
          <p:spPr bwMode="auto">
            <a:xfrm>
              <a:off x="2163" y="3869"/>
              <a:ext cx="745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446" name="Rectangle 317"/>
            <p:cNvSpPr>
              <a:spLocks noChangeArrowheads="1"/>
            </p:cNvSpPr>
            <p:nvPr/>
          </p:nvSpPr>
          <p:spPr bwMode="auto">
            <a:xfrm>
              <a:off x="3354" y="3869"/>
              <a:ext cx="742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447" name="Rectangle 318"/>
            <p:cNvSpPr>
              <a:spLocks noChangeArrowheads="1"/>
            </p:cNvSpPr>
            <p:nvPr/>
          </p:nvSpPr>
          <p:spPr bwMode="auto">
            <a:xfrm>
              <a:off x="4540" y="3869"/>
              <a:ext cx="744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448" name="Line 319"/>
            <p:cNvSpPr>
              <a:spLocks noChangeShapeType="1"/>
            </p:cNvSpPr>
            <p:nvPr/>
          </p:nvSpPr>
          <p:spPr bwMode="auto">
            <a:xfrm>
              <a:off x="681" y="698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9" name="Line 320"/>
            <p:cNvSpPr>
              <a:spLocks noChangeShapeType="1"/>
            </p:cNvSpPr>
            <p:nvPr/>
          </p:nvSpPr>
          <p:spPr bwMode="auto">
            <a:xfrm>
              <a:off x="3212" y="698"/>
              <a:ext cx="2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0" name="Freeform 321"/>
            <p:cNvSpPr/>
            <p:nvPr/>
          </p:nvSpPr>
          <p:spPr bwMode="auto">
            <a:xfrm>
              <a:off x="3357" y="698"/>
              <a:ext cx="1" cy="187"/>
            </a:xfrm>
            <a:custGeom>
              <a:avLst/>
              <a:gdLst>
                <a:gd name="T0" fmla="*/ 0 w 1"/>
                <a:gd name="T1" fmla="*/ 0 h 187"/>
                <a:gd name="T2" fmla="*/ 0 w 1"/>
                <a:gd name="T3" fmla="*/ 187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7">
                  <a:moveTo>
                    <a:pt x="0" y="0"/>
                  </a:moveTo>
                  <a:lnTo>
                    <a:pt x="0" y="187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1" name="Rectangle 322"/>
            <p:cNvSpPr>
              <a:spLocks noChangeArrowheads="1"/>
            </p:cNvSpPr>
            <p:nvPr/>
          </p:nvSpPr>
          <p:spPr bwMode="auto">
            <a:xfrm>
              <a:off x="1708" y="576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452" name="Text Box 323"/>
            <p:cNvSpPr txBox="1">
              <a:spLocks noChangeArrowheads="1"/>
            </p:cNvSpPr>
            <p:nvPr/>
          </p:nvSpPr>
          <p:spPr bwMode="auto">
            <a:xfrm>
              <a:off x="1704" y="566"/>
              <a:ext cx="9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453" name="Rectangle 324"/>
            <p:cNvSpPr>
              <a:spLocks noChangeArrowheads="1"/>
            </p:cNvSpPr>
            <p:nvPr/>
          </p:nvSpPr>
          <p:spPr bwMode="auto">
            <a:xfrm>
              <a:off x="1708" y="1292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454" name="Text Box 325"/>
            <p:cNvSpPr txBox="1">
              <a:spLocks noChangeArrowheads="1"/>
            </p:cNvSpPr>
            <p:nvPr/>
          </p:nvSpPr>
          <p:spPr bwMode="auto">
            <a:xfrm>
              <a:off x="1704" y="1282"/>
              <a:ext cx="9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455" name="Rectangle 326"/>
            <p:cNvSpPr>
              <a:spLocks noChangeArrowheads="1"/>
            </p:cNvSpPr>
            <p:nvPr/>
          </p:nvSpPr>
          <p:spPr bwMode="auto">
            <a:xfrm>
              <a:off x="1712" y="2348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456" name="Text Box 327"/>
            <p:cNvSpPr txBox="1">
              <a:spLocks noChangeArrowheads="1"/>
            </p:cNvSpPr>
            <p:nvPr/>
          </p:nvSpPr>
          <p:spPr bwMode="auto">
            <a:xfrm>
              <a:off x="1708" y="2338"/>
              <a:ext cx="9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457" name="Text Box 328"/>
            <p:cNvSpPr txBox="1">
              <a:spLocks noChangeArrowheads="1"/>
            </p:cNvSpPr>
            <p:nvPr/>
          </p:nvSpPr>
          <p:spPr bwMode="auto">
            <a:xfrm rot="5400000">
              <a:off x="361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58" name="Text Box 329"/>
            <p:cNvSpPr txBox="1">
              <a:spLocks noChangeArrowheads="1"/>
            </p:cNvSpPr>
            <p:nvPr/>
          </p:nvSpPr>
          <p:spPr bwMode="auto">
            <a:xfrm rot="5400000">
              <a:off x="1312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59" name="Text Box 330"/>
            <p:cNvSpPr txBox="1">
              <a:spLocks noChangeArrowheads="1"/>
            </p:cNvSpPr>
            <p:nvPr/>
          </p:nvSpPr>
          <p:spPr bwMode="auto">
            <a:xfrm rot="5400000">
              <a:off x="2732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60" name="Text Box 331"/>
            <p:cNvSpPr txBox="1">
              <a:spLocks noChangeArrowheads="1"/>
            </p:cNvSpPr>
            <p:nvPr/>
          </p:nvSpPr>
          <p:spPr bwMode="auto">
            <a:xfrm>
              <a:off x="3439" y="3043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61" name="Text Box 332"/>
            <p:cNvSpPr txBox="1">
              <a:spLocks noChangeArrowheads="1"/>
            </p:cNvSpPr>
            <p:nvPr/>
          </p:nvSpPr>
          <p:spPr bwMode="auto">
            <a:xfrm>
              <a:off x="412" y="3043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62" name="Text Box 333"/>
            <p:cNvSpPr txBox="1">
              <a:spLocks noChangeArrowheads="1"/>
            </p:cNvSpPr>
            <p:nvPr/>
          </p:nvSpPr>
          <p:spPr bwMode="auto">
            <a:xfrm rot="5400000">
              <a:off x="2060" y="174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63" name="Text Box 334"/>
            <p:cNvSpPr txBox="1">
              <a:spLocks noChangeArrowheads="1"/>
            </p:cNvSpPr>
            <p:nvPr/>
          </p:nvSpPr>
          <p:spPr bwMode="auto">
            <a:xfrm rot="5400000">
              <a:off x="1895" y="1755"/>
              <a:ext cx="427" cy="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64" name="Text Box 335"/>
            <p:cNvSpPr txBox="1">
              <a:spLocks noChangeArrowheads="1"/>
            </p:cNvSpPr>
            <p:nvPr/>
          </p:nvSpPr>
          <p:spPr bwMode="auto">
            <a:xfrm>
              <a:off x="3340" y="5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58465" name="Text Box 336"/>
            <p:cNvSpPr txBox="1">
              <a:spLocks noChangeArrowheads="1"/>
            </p:cNvSpPr>
            <p:nvPr/>
          </p:nvSpPr>
          <p:spPr bwMode="auto">
            <a:xfrm>
              <a:off x="904" y="57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58466" name="Group 337"/>
            <p:cNvGrpSpPr/>
            <p:nvPr/>
          </p:nvGrpSpPr>
          <p:grpSpPr bwMode="auto">
            <a:xfrm>
              <a:off x="315" y="864"/>
              <a:ext cx="49" cy="231"/>
              <a:chOff x="315" y="864"/>
              <a:chExt cx="49" cy="231"/>
            </a:xfrm>
          </p:grpSpPr>
          <p:sp>
            <p:nvSpPr>
              <p:cNvPr id="58672" name="Freeform 338"/>
              <p:cNvSpPr/>
              <p:nvPr/>
            </p:nvSpPr>
            <p:spPr bwMode="auto">
              <a:xfrm>
                <a:off x="31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73" name="Freeform 339"/>
              <p:cNvSpPr/>
              <p:nvPr/>
            </p:nvSpPr>
            <p:spPr bwMode="auto">
              <a:xfrm>
                <a:off x="36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467" name="Group 340"/>
            <p:cNvGrpSpPr/>
            <p:nvPr/>
          </p:nvGrpSpPr>
          <p:grpSpPr bwMode="auto">
            <a:xfrm>
              <a:off x="315" y="1593"/>
              <a:ext cx="49" cy="231"/>
              <a:chOff x="315" y="1593"/>
              <a:chExt cx="49" cy="231"/>
            </a:xfrm>
          </p:grpSpPr>
          <p:sp>
            <p:nvSpPr>
              <p:cNvPr id="58670" name="Freeform 341"/>
              <p:cNvSpPr/>
              <p:nvPr/>
            </p:nvSpPr>
            <p:spPr bwMode="auto">
              <a:xfrm>
                <a:off x="315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71" name="Freeform 342"/>
              <p:cNvSpPr/>
              <p:nvPr/>
            </p:nvSpPr>
            <p:spPr bwMode="auto">
              <a:xfrm>
                <a:off x="363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468" name="Group 343"/>
            <p:cNvGrpSpPr/>
            <p:nvPr/>
          </p:nvGrpSpPr>
          <p:grpSpPr bwMode="auto">
            <a:xfrm>
              <a:off x="315" y="2601"/>
              <a:ext cx="49" cy="231"/>
              <a:chOff x="315" y="2601"/>
              <a:chExt cx="49" cy="231"/>
            </a:xfrm>
          </p:grpSpPr>
          <p:sp>
            <p:nvSpPr>
              <p:cNvPr id="58668" name="Freeform 344"/>
              <p:cNvSpPr/>
              <p:nvPr/>
            </p:nvSpPr>
            <p:spPr bwMode="auto">
              <a:xfrm>
                <a:off x="315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69" name="Freeform 345"/>
              <p:cNvSpPr/>
              <p:nvPr/>
            </p:nvSpPr>
            <p:spPr bwMode="auto">
              <a:xfrm>
                <a:off x="363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469" name="Group 346"/>
            <p:cNvGrpSpPr/>
            <p:nvPr/>
          </p:nvGrpSpPr>
          <p:grpSpPr bwMode="auto">
            <a:xfrm>
              <a:off x="1275" y="864"/>
              <a:ext cx="49" cy="231"/>
              <a:chOff x="1275" y="864"/>
              <a:chExt cx="49" cy="231"/>
            </a:xfrm>
          </p:grpSpPr>
          <p:sp>
            <p:nvSpPr>
              <p:cNvPr id="58666" name="Freeform 347"/>
              <p:cNvSpPr/>
              <p:nvPr/>
            </p:nvSpPr>
            <p:spPr bwMode="auto">
              <a:xfrm>
                <a:off x="127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67" name="Freeform 348"/>
              <p:cNvSpPr/>
              <p:nvPr/>
            </p:nvSpPr>
            <p:spPr bwMode="auto">
              <a:xfrm>
                <a:off x="132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470" name="Group 349"/>
            <p:cNvGrpSpPr/>
            <p:nvPr/>
          </p:nvGrpSpPr>
          <p:grpSpPr bwMode="auto">
            <a:xfrm>
              <a:off x="1276" y="1593"/>
              <a:ext cx="49" cy="231"/>
              <a:chOff x="1276" y="1593"/>
              <a:chExt cx="49" cy="231"/>
            </a:xfrm>
          </p:grpSpPr>
          <p:sp>
            <p:nvSpPr>
              <p:cNvPr id="58664" name="Freeform 350"/>
              <p:cNvSpPr/>
              <p:nvPr/>
            </p:nvSpPr>
            <p:spPr bwMode="auto">
              <a:xfrm>
                <a:off x="1276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65" name="Freeform 351"/>
              <p:cNvSpPr/>
              <p:nvPr/>
            </p:nvSpPr>
            <p:spPr bwMode="auto">
              <a:xfrm>
                <a:off x="1324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471" name="Group 352"/>
            <p:cNvGrpSpPr/>
            <p:nvPr/>
          </p:nvGrpSpPr>
          <p:grpSpPr bwMode="auto">
            <a:xfrm>
              <a:off x="1276" y="2601"/>
              <a:ext cx="49" cy="231"/>
              <a:chOff x="1276" y="2601"/>
              <a:chExt cx="49" cy="231"/>
            </a:xfrm>
          </p:grpSpPr>
          <p:sp>
            <p:nvSpPr>
              <p:cNvPr id="58662" name="Freeform 353"/>
              <p:cNvSpPr/>
              <p:nvPr/>
            </p:nvSpPr>
            <p:spPr bwMode="auto">
              <a:xfrm>
                <a:off x="1276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63" name="Freeform 354"/>
              <p:cNvSpPr/>
              <p:nvPr/>
            </p:nvSpPr>
            <p:spPr bwMode="auto">
              <a:xfrm>
                <a:off x="1324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8472" name="Freeform 355"/>
            <p:cNvSpPr/>
            <p:nvPr/>
          </p:nvSpPr>
          <p:spPr bwMode="auto">
            <a:xfrm>
              <a:off x="124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73" name="Line 356"/>
            <p:cNvSpPr>
              <a:spLocks noChangeShapeType="1"/>
            </p:cNvSpPr>
            <p:nvPr/>
          </p:nvSpPr>
          <p:spPr bwMode="auto">
            <a:xfrm>
              <a:off x="124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4" name="Line 357"/>
            <p:cNvSpPr>
              <a:spLocks noChangeShapeType="1"/>
            </p:cNvSpPr>
            <p:nvPr/>
          </p:nvSpPr>
          <p:spPr bwMode="auto">
            <a:xfrm>
              <a:off x="126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5" name="Freeform 358"/>
            <p:cNvSpPr/>
            <p:nvPr/>
          </p:nvSpPr>
          <p:spPr bwMode="auto">
            <a:xfrm>
              <a:off x="121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6" name="Freeform 359"/>
            <p:cNvSpPr/>
            <p:nvPr/>
          </p:nvSpPr>
          <p:spPr bwMode="auto">
            <a:xfrm>
              <a:off x="1078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7" name="Freeform 360"/>
            <p:cNvSpPr/>
            <p:nvPr/>
          </p:nvSpPr>
          <p:spPr bwMode="auto">
            <a:xfrm>
              <a:off x="1081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78" name="Line 361"/>
            <p:cNvSpPr>
              <a:spLocks noChangeShapeType="1"/>
            </p:cNvSpPr>
            <p:nvPr/>
          </p:nvSpPr>
          <p:spPr bwMode="auto">
            <a:xfrm>
              <a:off x="1081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9" name="Line 362"/>
            <p:cNvSpPr>
              <a:spLocks noChangeShapeType="1"/>
            </p:cNvSpPr>
            <p:nvPr/>
          </p:nvSpPr>
          <p:spPr bwMode="auto">
            <a:xfrm>
              <a:off x="1083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0" name="Freeform 363"/>
            <p:cNvSpPr/>
            <p:nvPr/>
          </p:nvSpPr>
          <p:spPr bwMode="auto">
            <a:xfrm>
              <a:off x="1078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1" name="Freeform 364"/>
            <p:cNvSpPr/>
            <p:nvPr/>
          </p:nvSpPr>
          <p:spPr bwMode="auto">
            <a:xfrm>
              <a:off x="364" y="696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8482" name="Group 365"/>
            <p:cNvGrpSpPr/>
            <p:nvPr/>
          </p:nvGrpSpPr>
          <p:grpSpPr bwMode="auto">
            <a:xfrm>
              <a:off x="364" y="1019"/>
              <a:ext cx="202" cy="277"/>
              <a:chOff x="364" y="1019"/>
              <a:chExt cx="202" cy="277"/>
            </a:xfrm>
          </p:grpSpPr>
          <p:sp>
            <p:nvSpPr>
              <p:cNvPr id="58656" name="Freeform 366"/>
              <p:cNvSpPr/>
              <p:nvPr/>
            </p:nvSpPr>
            <p:spPr bwMode="auto">
              <a:xfrm>
                <a:off x="466" y="1197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7" name="Freeform 367"/>
              <p:cNvSpPr/>
              <p:nvPr/>
            </p:nvSpPr>
            <p:spPr bwMode="auto">
              <a:xfrm>
                <a:off x="41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58" name="Freeform 368"/>
              <p:cNvSpPr/>
              <p:nvPr/>
            </p:nvSpPr>
            <p:spPr bwMode="auto">
              <a:xfrm>
                <a:off x="36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59" name="Group 369"/>
              <p:cNvGrpSpPr/>
              <p:nvPr/>
            </p:nvGrpSpPr>
            <p:grpSpPr bwMode="auto">
              <a:xfrm>
                <a:off x="364" y="1151"/>
                <a:ext cx="202" cy="49"/>
                <a:chOff x="432" y="1152"/>
                <a:chExt cx="202" cy="49"/>
              </a:xfrm>
            </p:grpSpPr>
            <p:sp>
              <p:nvSpPr>
                <p:cNvPr id="58660" name="Freeform 370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61" name="Freeform 371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8483" name="Freeform 372"/>
            <p:cNvSpPr/>
            <p:nvPr/>
          </p:nvSpPr>
          <p:spPr bwMode="auto">
            <a:xfrm>
              <a:off x="885" y="698"/>
              <a:ext cx="4" cy="190"/>
            </a:xfrm>
            <a:custGeom>
              <a:avLst/>
              <a:gdLst>
                <a:gd name="T0" fmla="*/ 4 w 4"/>
                <a:gd name="T1" fmla="*/ 0 h 190"/>
                <a:gd name="T2" fmla="*/ 0 w 4"/>
                <a:gd name="T3" fmla="*/ 19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0">
                  <a:moveTo>
                    <a:pt x="4" y="0"/>
                  </a:moveTo>
                  <a:lnTo>
                    <a:pt x="0" y="19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8484" name="Group 373"/>
            <p:cNvGrpSpPr/>
            <p:nvPr/>
          </p:nvGrpSpPr>
          <p:grpSpPr bwMode="auto">
            <a:xfrm>
              <a:off x="364" y="1739"/>
              <a:ext cx="202" cy="277"/>
              <a:chOff x="364" y="1739"/>
              <a:chExt cx="202" cy="277"/>
            </a:xfrm>
          </p:grpSpPr>
          <p:sp>
            <p:nvSpPr>
              <p:cNvPr id="58650" name="Freeform 374"/>
              <p:cNvSpPr/>
              <p:nvPr/>
            </p:nvSpPr>
            <p:spPr bwMode="auto">
              <a:xfrm>
                <a:off x="466" y="1919"/>
                <a:ext cx="1" cy="95"/>
              </a:xfrm>
              <a:custGeom>
                <a:avLst/>
                <a:gdLst>
                  <a:gd name="T0" fmla="*/ 1 w 1"/>
                  <a:gd name="T1" fmla="*/ 0 h 95"/>
                  <a:gd name="T2" fmla="*/ 0 w 1"/>
                  <a:gd name="T3" fmla="*/ 95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5">
                    <a:moveTo>
                      <a:pt x="1" y="0"/>
                    </a:moveTo>
                    <a:lnTo>
                      <a:pt x="0" y="9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1" name="Freeform 375"/>
              <p:cNvSpPr/>
              <p:nvPr/>
            </p:nvSpPr>
            <p:spPr bwMode="auto">
              <a:xfrm>
                <a:off x="41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52" name="Freeform 376"/>
              <p:cNvSpPr/>
              <p:nvPr/>
            </p:nvSpPr>
            <p:spPr bwMode="auto">
              <a:xfrm>
                <a:off x="36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53" name="Group 377"/>
              <p:cNvGrpSpPr/>
              <p:nvPr/>
            </p:nvGrpSpPr>
            <p:grpSpPr bwMode="auto">
              <a:xfrm>
                <a:off x="364" y="1871"/>
                <a:ext cx="202" cy="49"/>
                <a:chOff x="432" y="1152"/>
                <a:chExt cx="202" cy="49"/>
              </a:xfrm>
            </p:grpSpPr>
            <p:sp>
              <p:nvSpPr>
                <p:cNvPr id="58654" name="Freeform 37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55" name="Freeform 37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8485" name="Group 380"/>
            <p:cNvGrpSpPr/>
            <p:nvPr/>
          </p:nvGrpSpPr>
          <p:grpSpPr bwMode="auto">
            <a:xfrm>
              <a:off x="364" y="2747"/>
              <a:ext cx="202" cy="277"/>
              <a:chOff x="364" y="2747"/>
              <a:chExt cx="202" cy="277"/>
            </a:xfrm>
          </p:grpSpPr>
          <p:sp>
            <p:nvSpPr>
              <p:cNvPr id="58644" name="Freeform 381"/>
              <p:cNvSpPr/>
              <p:nvPr/>
            </p:nvSpPr>
            <p:spPr bwMode="auto">
              <a:xfrm>
                <a:off x="466" y="2925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5" name="Freeform 382"/>
              <p:cNvSpPr/>
              <p:nvPr/>
            </p:nvSpPr>
            <p:spPr bwMode="auto">
              <a:xfrm>
                <a:off x="41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46" name="Freeform 383"/>
              <p:cNvSpPr/>
              <p:nvPr/>
            </p:nvSpPr>
            <p:spPr bwMode="auto">
              <a:xfrm>
                <a:off x="36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47" name="Group 384"/>
              <p:cNvGrpSpPr/>
              <p:nvPr/>
            </p:nvGrpSpPr>
            <p:grpSpPr bwMode="auto">
              <a:xfrm>
                <a:off x="364" y="2879"/>
                <a:ext cx="202" cy="49"/>
                <a:chOff x="432" y="1152"/>
                <a:chExt cx="202" cy="49"/>
              </a:xfrm>
            </p:grpSpPr>
            <p:sp>
              <p:nvSpPr>
                <p:cNvPr id="58648" name="Freeform 385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49" name="Freeform 386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8486" name="Freeform 387"/>
            <p:cNvSpPr/>
            <p:nvPr/>
          </p:nvSpPr>
          <p:spPr bwMode="auto">
            <a:xfrm>
              <a:off x="364" y="1414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87" name="Freeform 388"/>
            <p:cNvSpPr/>
            <p:nvPr/>
          </p:nvSpPr>
          <p:spPr bwMode="auto">
            <a:xfrm>
              <a:off x="367" y="2423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88" name="Line 389"/>
            <p:cNvSpPr>
              <a:spLocks noChangeShapeType="1"/>
            </p:cNvSpPr>
            <p:nvPr/>
          </p:nvSpPr>
          <p:spPr bwMode="auto">
            <a:xfrm>
              <a:off x="681" y="1407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9" name="Freeform 390"/>
            <p:cNvSpPr/>
            <p:nvPr/>
          </p:nvSpPr>
          <p:spPr bwMode="auto">
            <a:xfrm>
              <a:off x="888" y="1407"/>
              <a:ext cx="1" cy="189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0" name="Line 391"/>
            <p:cNvSpPr>
              <a:spLocks noChangeShapeType="1"/>
            </p:cNvSpPr>
            <p:nvPr/>
          </p:nvSpPr>
          <p:spPr bwMode="auto">
            <a:xfrm>
              <a:off x="681" y="2423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1" name="Freeform 392"/>
            <p:cNvSpPr/>
            <p:nvPr/>
          </p:nvSpPr>
          <p:spPr bwMode="auto">
            <a:xfrm>
              <a:off x="885" y="2423"/>
              <a:ext cx="4" cy="193"/>
            </a:xfrm>
            <a:custGeom>
              <a:avLst/>
              <a:gdLst>
                <a:gd name="T0" fmla="*/ 4 w 4"/>
                <a:gd name="T1" fmla="*/ 0 h 193"/>
                <a:gd name="T2" fmla="*/ 0 w 4"/>
                <a:gd name="T3" fmla="*/ 193 h 1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3">
                  <a:moveTo>
                    <a:pt x="4" y="0"/>
                  </a:moveTo>
                  <a:lnTo>
                    <a:pt x="0" y="19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8492" name="Group 393"/>
            <p:cNvGrpSpPr/>
            <p:nvPr/>
          </p:nvGrpSpPr>
          <p:grpSpPr bwMode="auto">
            <a:xfrm>
              <a:off x="1324" y="1019"/>
              <a:ext cx="202" cy="277"/>
              <a:chOff x="1324" y="1019"/>
              <a:chExt cx="202" cy="277"/>
            </a:xfrm>
          </p:grpSpPr>
          <p:sp>
            <p:nvSpPr>
              <p:cNvPr id="58638" name="Line 394"/>
              <p:cNvSpPr>
                <a:spLocks noChangeShapeType="1"/>
              </p:cNvSpPr>
              <p:nvPr/>
            </p:nvSpPr>
            <p:spPr bwMode="auto">
              <a:xfrm>
                <a:off x="1424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9" name="Freeform 395"/>
              <p:cNvSpPr/>
              <p:nvPr/>
            </p:nvSpPr>
            <p:spPr bwMode="auto">
              <a:xfrm>
                <a:off x="137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40" name="Freeform 396"/>
              <p:cNvSpPr/>
              <p:nvPr/>
            </p:nvSpPr>
            <p:spPr bwMode="auto">
              <a:xfrm>
                <a:off x="132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41" name="Group 397"/>
              <p:cNvGrpSpPr/>
              <p:nvPr/>
            </p:nvGrpSpPr>
            <p:grpSpPr bwMode="auto">
              <a:xfrm>
                <a:off x="1324" y="1151"/>
                <a:ext cx="202" cy="49"/>
                <a:chOff x="432" y="1152"/>
                <a:chExt cx="202" cy="49"/>
              </a:xfrm>
            </p:grpSpPr>
            <p:sp>
              <p:nvSpPr>
                <p:cNvPr id="58642" name="Freeform 39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43" name="Freeform 39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8493" name="Group 400"/>
            <p:cNvGrpSpPr/>
            <p:nvPr/>
          </p:nvGrpSpPr>
          <p:grpSpPr bwMode="auto">
            <a:xfrm>
              <a:off x="1324" y="1739"/>
              <a:ext cx="202" cy="277"/>
              <a:chOff x="1324" y="1739"/>
              <a:chExt cx="202" cy="277"/>
            </a:xfrm>
          </p:grpSpPr>
          <p:sp>
            <p:nvSpPr>
              <p:cNvPr id="58632" name="Line 401"/>
              <p:cNvSpPr>
                <a:spLocks noChangeShapeType="1"/>
              </p:cNvSpPr>
              <p:nvPr/>
            </p:nvSpPr>
            <p:spPr bwMode="auto">
              <a:xfrm>
                <a:off x="1424" y="191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3" name="Freeform 402"/>
              <p:cNvSpPr/>
              <p:nvPr/>
            </p:nvSpPr>
            <p:spPr bwMode="auto">
              <a:xfrm>
                <a:off x="137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34" name="Freeform 403"/>
              <p:cNvSpPr/>
              <p:nvPr/>
            </p:nvSpPr>
            <p:spPr bwMode="auto">
              <a:xfrm>
                <a:off x="132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35" name="Group 404"/>
              <p:cNvGrpSpPr/>
              <p:nvPr/>
            </p:nvGrpSpPr>
            <p:grpSpPr bwMode="auto">
              <a:xfrm>
                <a:off x="1324" y="1871"/>
                <a:ext cx="202" cy="49"/>
                <a:chOff x="432" y="1152"/>
                <a:chExt cx="202" cy="49"/>
              </a:xfrm>
            </p:grpSpPr>
            <p:sp>
              <p:nvSpPr>
                <p:cNvPr id="58636" name="Freeform 405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37" name="Freeform 406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8494" name="Group 407"/>
            <p:cNvGrpSpPr/>
            <p:nvPr/>
          </p:nvGrpSpPr>
          <p:grpSpPr bwMode="auto">
            <a:xfrm>
              <a:off x="1324" y="2747"/>
              <a:ext cx="202" cy="277"/>
              <a:chOff x="1324" y="2747"/>
              <a:chExt cx="202" cy="277"/>
            </a:xfrm>
          </p:grpSpPr>
          <p:sp>
            <p:nvSpPr>
              <p:cNvPr id="58626" name="Line 408"/>
              <p:cNvSpPr>
                <a:spLocks noChangeShapeType="1"/>
              </p:cNvSpPr>
              <p:nvPr/>
            </p:nvSpPr>
            <p:spPr bwMode="auto">
              <a:xfrm>
                <a:off x="1424" y="2927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7" name="Freeform 409"/>
              <p:cNvSpPr/>
              <p:nvPr/>
            </p:nvSpPr>
            <p:spPr bwMode="auto">
              <a:xfrm>
                <a:off x="137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28" name="Freeform 410"/>
              <p:cNvSpPr/>
              <p:nvPr/>
            </p:nvSpPr>
            <p:spPr bwMode="auto">
              <a:xfrm>
                <a:off x="132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29" name="Group 411"/>
              <p:cNvGrpSpPr/>
              <p:nvPr/>
            </p:nvGrpSpPr>
            <p:grpSpPr bwMode="auto">
              <a:xfrm>
                <a:off x="1324" y="2879"/>
                <a:ext cx="202" cy="49"/>
                <a:chOff x="432" y="1152"/>
                <a:chExt cx="202" cy="49"/>
              </a:xfrm>
            </p:grpSpPr>
            <p:sp>
              <p:nvSpPr>
                <p:cNvPr id="58630" name="Freeform 41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31" name="Freeform 41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8495" name="Freeform 414"/>
            <p:cNvSpPr/>
            <p:nvPr/>
          </p:nvSpPr>
          <p:spPr bwMode="auto">
            <a:xfrm>
              <a:off x="1315" y="696"/>
              <a:ext cx="108" cy="237"/>
            </a:xfrm>
            <a:custGeom>
              <a:avLst/>
              <a:gdLst>
                <a:gd name="T0" fmla="*/ 0 w 108"/>
                <a:gd name="T1" fmla="*/ 237 h 237"/>
                <a:gd name="T2" fmla="*/ 108 w 108"/>
                <a:gd name="T3" fmla="*/ 237 h 237"/>
                <a:gd name="T4" fmla="*/ 108 w 108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7">
                  <a:moveTo>
                    <a:pt x="0" y="237"/>
                  </a:moveTo>
                  <a:lnTo>
                    <a:pt x="108" y="237"/>
                  </a:lnTo>
                  <a:lnTo>
                    <a:pt x="10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96" name="Freeform 415"/>
            <p:cNvSpPr/>
            <p:nvPr/>
          </p:nvSpPr>
          <p:spPr bwMode="auto">
            <a:xfrm>
              <a:off x="1327" y="1416"/>
              <a:ext cx="96" cy="243"/>
            </a:xfrm>
            <a:custGeom>
              <a:avLst/>
              <a:gdLst>
                <a:gd name="T0" fmla="*/ 0 w 96"/>
                <a:gd name="T1" fmla="*/ 243 h 243"/>
                <a:gd name="T2" fmla="*/ 96 w 96"/>
                <a:gd name="T3" fmla="*/ 243 h 243"/>
                <a:gd name="T4" fmla="*/ 96 w 9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3">
                  <a:moveTo>
                    <a:pt x="0" y="243"/>
                  </a:moveTo>
                  <a:lnTo>
                    <a:pt x="96" y="243"/>
                  </a:ln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97" name="Freeform 416"/>
            <p:cNvSpPr/>
            <p:nvPr/>
          </p:nvSpPr>
          <p:spPr bwMode="auto">
            <a:xfrm>
              <a:off x="1327" y="2427"/>
              <a:ext cx="98" cy="249"/>
            </a:xfrm>
            <a:custGeom>
              <a:avLst/>
              <a:gdLst>
                <a:gd name="T0" fmla="*/ 0 w 98"/>
                <a:gd name="T1" fmla="*/ 249 h 249"/>
                <a:gd name="T2" fmla="*/ 96 w 98"/>
                <a:gd name="T3" fmla="*/ 249 h 249"/>
                <a:gd name="T4" fmla="*/ 98 w 98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49">
                  <a:moveTo>
                    <a:pt x="0" y="249"/>
                  </a:moveTo>
                  <a:lnTo>
                    <a:pt x="96" y="249"/>
                  </a:lnTo>
                  <a:lnTo>
                    <a:pt x="9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8498" name="Group 417"/>
            <p:cNvGrpSpPr/>
            <p:nvPr/>
          </p:nvGrpSpPr>
          <p:grpSpPr bwMode="auto">
            <a:xfrm>
              <a:off x="4299" y="526"/>
              <a:ext cx="231" cy="49"/>
              <a:chOff x="4299" y="526"/>
              <a:chExt cx="231" cy="49"/>
            </a:xfrm>
          </p:grpSpPr>
          <p:sp>
            <p:nvSpPr>
              <p:cNvPr id="58624" name="Freeform 418"/>
              <p:cNvSpPr/>
              <p:nvPr/>
            </p:nvSpPr>
            <p:spPr bwMode="auto">
              <a:xfrm rot="5400000">
                <a:off x="4412" y="46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25" name="Freeform 419"/>
              <p:cNvSpPr/>
              <p:nvPr/>
            </p:nvSpPr>
            <p:spPr bwMode="auto">
              <a:xfrm rot="5400000">
                <a:off x="4414" y="45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8499" name="Freeform 420"/>
            <p:cNvSpPr/>
            <p:nvPr/>
          </p:nvSpPr>
          <p:spPr bwMode="auto">
            <a:xfrm>
              <a:off x="2617" y="579"/>
              <a:ext cx="1761" cy="120"/>
            </a:xfrm>
            <a:custGeom>
              <a:avLst/>
              <a:gdLst>
                <a:gd name="T0" fmla="*/ 1761 w 1761"/>
                <a:gd name="T1" fmla="*/ 0 h 120"/>
                <a:gd name="T2" fmla="*/ 1761 w 1761"/>
                <a:gd name="T3" fmla="*/ 117 h 120"/>
                <a:gd name="T4" fmla="*/ 0 w 1761"/>
                <a:gd name="T5" fmla="*/ 12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1" h="120">
                  <a:moveTo>
                    <a:pt x="1761" y="0"/>
                  </a:moveTo>
                  <a:lnTo>
                    <a:pt x="1761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00" name="Freeform 421"/>
            <p:cNvSpPr/>
            <p:nvPr/>
          </p:nvSpPr>
          <p:spPr bwMode="auto">
            <a:xfrm>
              <a:off x="2620" y="1296"/>
              <a:ext cx="1758" cy="117"/>
            </a:xfrm>
            <a:custGeom>
              <a:avLst/>
              <a:gdLst>
                <a:gd name="T0" fmla="*/ 1758 w 1758"/>
                <a:gd name="T1" fmla="*/ 0 h 117"/>
                <a:gd name="T2" fmla="*/ 1758 w 1758"/>
                <a:gd name="T3" fmla="*/ 117 h 117"/>
                <a:gd name="T4" fmla="*/ 0 w 1758"/>
                <a:gd name="T5" fmla="*/ 114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8" h="117">
                  <a:moveTo>
                    <a:pt x="1758" y="0"/>
                  </a:moveTo>
                  <a:lnTo>
                    <a:pt x="1758" y="117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01" name="Freeform 422"/>
            <p:cNvSpPr/>
            <p:nvPr/>
          </p:nvSpPr>
          <p:spPr bwMode="auto">
            <a:xfrm>
              <a:off x="2626" y="2352"/>
              <a:ext cx="1752" cy="120"/>
            </a:xfrm>
            <a:custGeom>
              <a:avLst/>
              <a:gdLst>
                <a:gd name="T0" fmla="*/ 1752 w 1752"/>
                <a:gd name="T1" fmla="*/ 0 h 120"/>
                <a:gd name="T2" fmla="*/ 1752 w 1752"/>
                <a:gd name="T3" fmla="*/ 117 h 120"/>
                <a:gd name="T4" fmla="*/ 0 w 1752"/>
                <a:gd name="T5" fmla="*/ 12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2" h="120">
                  <a:moveTo>
                    <a:pt x="1752" y="0"/>
                  </a:moveTo>
                  <a:lnTo>
                    <a:pt x="1752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8502" name="Group 423"/>
            <p:cNvGrpSpPr/>
            <p:nvPr/>
          </p:nvGrpSpPr>
          <p:grpSpPr bwMode="auto">
            <a:xfrm>
              <a:off x="4299" y="1246"/>
              <a:ext cx="231" cy="49"/>
              <a:chOff x="4299" y="1246"/>
              <a:chExt cx="231" cy="49"/>
            </a:xfrm>
          </p:grpSpPr>
          <p:sp>
            <p:nvSpPr>
              <p:cNvPr id="58622" name="Freeform 424"/>
              <p:cNvSpPr/>
              <p:nvPr/>
            </p:nvSpPr>
            <p:spPr bwMode="auto">
              <a:xfrm rot="5400000">
                <a:off x="4412" y="118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23" name="Freeform 425"/>
              <p:cNvSpPr/>
              <p:nvPr/>
            </p:nvSpPr>
            <p:spPr bwMode="auto">
              <a:xfrm rot="5400000">
                <a:off x="4414" y="117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503" name="Group 426"/>
            <p:cNvGrpSpPr/>
            <p:nvPr/>
          </p:nvGrpSpPr>
          <p:grpSpPr bwMode="auto">
            <a:xfrm>
              <a:off x="4299" y="2302"/>
              <a:ext cx="231" cy="49"/>
              <a:chOff x="4299" y="2302"/>
              <a:chExt cx="231" cy="49"/>
            </a:xfrm>
          </p:grpSpPr>
          <p:sp>
            <p:nvSpPr>
              <p:cNvPr id="58620" name="Freeform 427"/>
              <p:cNvSpPr/>
              <p:nvPr/>
            </p:nvSpPr>
            <p:spPr bwMode="auto">
              <a:xfrm rot="5400000">
                <a:off x="4412" y="2243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21" name="Freeform 428"/>
              <p:cNvSpPr/>
              <p:nvPr/>
            </p:nvSpPr>
            <p:spPr bwMode="auto">
              <a:xfrm rot="5400000">
                <a:off x="4414" y="2235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504" name="Group 429"/>
            <p:cNvGrpSpPr/>
            <p:nvPr/>
          </p:nvGrpSpPr>
          <p:grpSpPr bwMode="auto">
            <a:xfrm>
              <a:off x="2706" y="702"/>
              <a:ext cx="251" cy="594"/>
              <a:chOff x="2706" y="702"/>
              <a:chExt cx="251" cy="594"/>
            </a:xfrm>
          </p:grpSpPr>
          <p:grpSp>
            <p:nvGrpSpPr>
              <p:cNvPr id="58610" name="Group 430"/>
              <p:cNvGrpSpPr/>
              <p:nvPr/>
            </p:nvGrpSpPr>
            <p:grpSpPr bwMode="auto">
              <a:xfrm rot="10800000">
                <a:off x="2908" y="864"/>
                <a:ext cx="49" cy="231"/>
                <a:chOff x="1586" y="1334"/>
                <a:chExt cx="49" cy="231"/>
              </a:xfrm>
            </p:grpSpPr>
            <p:sp>
              <p:nvSpPr>
                <p:cNvPr id="58618" name="Freeform 431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619" name="Freeform 432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8611" name="Line 433"/>
              <p:cNvSpPr>
                <a:spLocks noChangeShapeType="1"/>
              </p:cNvSpPr>
              <p:nvPr/>
            </p:nvSpPr>
            <p:spPr bwMode="auto">
              <a:xfrm>
                <a:off x="2806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2" name="Freeform 434"/>
              <p:cNvSpPr/>
              <p:nvPr/>
            </p:nvSpPr>
            <p:spPr bwMode="auto">
              <a:xfrm>
                <a:off x="2754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13" name="Freeform 435"/>
              <p:cNvSpPr/>
              <p:nvPr/>
            </p:nvSpPr>
            <p:spPr bwMode="auto">
              <a:xfrm>
                <a:off x="2808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14" name="Group 436"/>
              <p:cNvGrpSpPr/>
              <p:nvPr/>
            </p:nvGrpSpPr>
            <p:grpSpPr bwMode="auto">
              <a:xfrm>
                <a:off x="2706" y="1151"/>
                <a:ext cx="202" cy="49"/>
                <a:chOff x="432" y="1152"/>
                <a:chExt cx="202" cy="49"/>
              </a:xfrm>
            </p:grpSpPr>
            <p:sp>
              <p:nvSpPr>
                <p:cNvPr id="58616" name="Freeform 437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17" name="Freeform 438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8615" name="Freeform 439"/>
              <p:cNvSpPr/>
              <p:nvPr/>
            </p:nvSpPr>
            <p:spPr bwMode="auto">
              <a:xfrm>
                <a:off x="2806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505" name="Group 440"/>
            <p:cNvGrpSpPr/>
            <p:nvPr/>
          </p:nvGrpSpPr>
          <p:grpSpPr bwMode="auto">
            <a:xfrm>
              <a:off x="2716" y="1406"/>
              <a:ext cx="251" cy="580"/>
              <a:chOff x="2716" y="1406"/>
              <a:chExt cx="251" cy="580"/>
            </a:xfrm>
          </p:grpSpPr>
          <p:grpSp>
            <p:nvGrpSpPr>
              <p:cNvPr id="58600" name="Group 441"/>
              <p:cNvGrpSpPr/>
              <p:nvPr/>
            </p:nvGrpSpPr>
            <p:grpSpPr bwMode="auto">
              <a:xfrm rot="10800000">
                <a:off x="2918" y="1554"/>
                <a:ext cx="49" cy="231"/>
                <a:chOff x="1586" y="1334"/>
                <a:chExt cx="49" cy="231"/>
              </a:xfrm>
            </p:grpSpPr>
            <p:sp>
              <p:nvSpPr>
                <p:cNvPr id="58608" name="Freeform 442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609" name="Freeform 443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8601" name="Line 444"/>
              <p:cNvSpPr>
                <a:spLocks noChangeShapeType="1"/>
              </p:cNvSpPr>
              <p:nvPr/>
            </p:nvSpPr>
            <p:spPr bwMode="auto">
              <a:xfrm>
                <a:off x="2816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2" name="Freeform 445"/>
              <p:cNvSpPr/>
              <p:nvPr/>
            </p:nvSpPr>
            <p:spPr bwMode="auto">
              <a:xfrm>
                <a:off x="2764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603" name="Freeform 446"/>
              <p:cNvSpPr/>
              <p:nvPr/>
            </p:nvSpPr>
            <p:spPr bwMode="auto">
              <a:xfrm>
                <a:off x="2818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604" name="Group 447"/>
              <p:cNvGrpSpPr/>
              <p:nvPr/>
            </p:nvGrpSpPr>
            <p:grpSpPr bwMode="auto">
              <a:xfrm>
                <a:off x="2716" y="1841"/>
                <a:ext cx="202" cy="49"/>
                <a:chOff x="432" y="1152"/>
                <a:chExt cx="202" cy="49"/>
              </a:xfrm>
            </p:grpSpPr>
            <p:sp>
              <p:nvSpPr>
                <p:cNvPr id="58606" name="Freeform 44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607" name="Freeform 44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8605" name="Freeform 450"/>
              <p:cNvSpPr/>
              <p:nvPr/>
            </p:nvSpPr>
            <p:spPr bwMode="auto">
              <a:xfrm>
                <a:off x="2814" y="1406"/>
                <a:ext cx="101" cy="211"/>
              </a:xfrm>
              <a:custGeom>
                <a:avLst/>
                <a:gdLst>
                  <a:gd name="T0" fmla="*/ 0 w 101"/>
                  <a:gd name="T1" fmla="*/ 0 h 211"/>
                  <a:gd name="T2" fmla="*/ 2 w 101"/>
                  <a:gd name="T3" fmla="*/ 211 h 211"/>
                  <a:gd name="T4" fmla="*/ 101 w 101"/>
                  <a:gd name="T5" fmla="*/ 211 h 2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11">
                    <a:moveTo>
                      <a:pt x="0" y="0"/>
                    </a:moveTo>
                    <a:lnTo>
                      <a:pt x="2" y="211"/>
                    </a:lnTo>
                    <a:lnTo>
                      <a:pt x="101" y="21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506" name="Group 451"/>
            <p:cNvGrpSpPr/>
            <p:nvPr/>
          </p:nvGrpSpPr>
          <p:grpSpPr bwMode="auto">
            <a:xfrm>
              <a:off x="2716" y="2469"/>
              <a:ext cx="251" cy="573"/>
              <a:chOff x="2716" y="2469"/>
              <a:chExt cx="251" cy="573"/>
            </a:xfrm>
          </p:grpSpPr>
          <p:grpSp>
            <p:nvGrpSpPr>
              <p:cNvPr id="58590" name="Group 452"/>
              <p:cNvGrpSpPr/>
              <p:nvPr/>
            </p:nvGrpSpPr>
            <p:grpSpPr bwMode="auto">
              <a:xfrm rot="10800000">
                <a:off x="2918" y="2610"/>
                <a:ext cx="49" cy="231"/>
                <a:chOff x="1586" y="1334"/>
                <a:chExt cx="49" cy="231"/>
              </a:xfrm>
            </p:grpSpPr>
            <p:sp>
              <p:nvSpPr>
                <p:cNvPr id="58598" name="Freeform 453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599" name="Freeform 454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8591" name="Line 455"/>
              <p:cNvSpPr>
                <a:spLocks noChangeShapeType="1"/>
              </p:cNvSpPr>
              <p:nvPr/>
            </p:nvSpPr>
            <p:spPr bwMode="auto">
              <a:xfrm>
                <a:off x="2816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2" name="Freeform 456"/>
              <p:cNvSpPr/>
              <p:nvPr/>
            </p:nvSpPr>
            <p:spPr bwMode="auto">
              <a:xfrm>
                <a:off x="2764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593" name="Freeform 457"/>
              <p:cNvSpPr/>
              <p:nvPr/>
            </p:nvSpPr>
            <p:spPr bwMode="auto">
              <a:xfrm>
                <a:off x="2818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594" name="Group 458"/>
              <p:cNvGrpSpPr/>
              <p:nvPr/>
            </p:nvGrpSpPr>
            <p:grpSpPr bwMode="auto">
              <a:xfrm>
                <a:off x="2716" y="2897"/>
                <a:ext cx="202" cy="49"/>
                <a:chOff x="432" y="1152"/>
                <a:chExt cx="202" cy="49"/>
              </a:xfrm>
            </p:grpSpPr>
            <p:sp>
              <p:nvSpPr>
                <p:cNvPr id="58596" name="Freeform 459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597" name="Freeform 460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8595" name="Freeform 461"/>
              <p:cNvSpPr/>
              <p:nvPr/>
            </p:nvSpPr>
            <p:spPr bwMode="auto">
              <a:xfrm>
                <a:off x="2816" y="2469"/>
                <a:ext cx="99" cy="204"/>
              </a:xfrm>
              <a:custGeom>
                <a:avLst/>
                <a:gdLst>
                  <a:gd name="T0" fmla="*/ 1 w 99"/>
                  <a:gd name="T1" fmla="*/ 0 h 204"/>
                  <a:gd name="T2" fmla="*/ 0 w 99"/>
                  <a:gd name="T3" fmla="*/ 204 h 204"/>
                  <a:gd name="T4" fmla="*/ 99 w 99"/>
                  <a:gd name="T5" fmla="*/ 204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04">
                    <a:moveTo>
                      <a:pt x="1" y="0"/>
                    </a:moveTo>
                    <a:lnTo>
                      <a:pt x="0" y="204"/>
                    </a:lnTo>
                    <a:lnTo>
                      <a:pt x="99" y="20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8507" name="Freeform 462"/>
            <p:cNvSpPr/>
            <p:nvPr/>
          </p:nvSpPr>
          <p:spPr bwMode="auto">
            <a:xfrm>
              <a:off x="2959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08" name="Freeform 463"/>
            <p:cNvSpPr/>
            <p:nvPr/>
          </p:nvSpPr>
          <p:spPr bwMode="auto">
            <a:xfrm>
              <a:off x="2956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9" name="Freeform 464"/>
            <p:cNvSpPr/>
            <p:nvPr/>
          </p:nvSpPr>
          <p:spPr bwMode="auto">
            <a:xfrm>
              <a:off x="2956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0" name="Freeform 465"/>
            <p:cNvSpPr/>
            <p:nvPr/>
          </p:nvSpPr>
          <p:spPr bwMode="auto">
            <a:xfrm>
              <a:off x="2956" y="272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1" name="Freeform 466"/>
            <p:cNvSpPr/>
            <p:nvPr/>
          </p:nvSpPr>
          <p:spPr bwMode="auto">
            <a:xfrm>
              <a:off x="3243" y="1410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0 w 1"/>
                <a:gd name="T3" fmla="*/ 174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4">
                  <a:moveTo>
                    <a:pt x="0" y="0"/>
                  </a:moveTo>
                  <a:lnTo>
                    <a:pt x="0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2" name="Freeform 467"/>
            <p:cNvSpPr/>
            <p:nvPr/>
          </p:nvSpPr>
          <p:spPr bwMode="auto">
            <a:xfrm>
              <a:off x="3389" y="1409"/>
              <a:ext cx="1" cy="183"/>
            </a:xfrm>
            <a:custGeom>
              <a:avLst/>
              <a:gdLst>
                <a:gd name="T0" fmla="*/ 0 w 1"/>
                <a:gd name="T1" fmla="*/ 0 h 183"/>
                <a:gd name="T2" fmla="*/ 0 w 1"/>
                <a:gd name="T3" fmla="*/ 183 h 1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3">
                  <a:moveTo>
                    <a:pt x="0" y="0"/>
                  </a:moveTo>
                  <a:lnTo>
                    <a:pt x="0" y="18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3" name="Freeform 468"/>
            <p:cNvSpPr/>
            <p:nvPr/>
          </p:nvSpPr>
          <p:spPr bwMode="auto">
            <a:xfrm>
              <a:off x="3245" y="2466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1 w 1"/>
                <a:gd name="T3" fmla="*/ 174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4">
                  <a:moveTo>
                    <a:pt x="0" y="0"/>
                  </a:moveTo>
                  <a:lnTo>
                    <a:pt x="1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4" name="Freeform 469"/>
            <p:cNvSpPr/>
            <p:nvPr/>
          </p:nvSpPr>
          <p:spPr bwMode="auto">
            <a:xfrm>
              <a:off x="3391" y="2459"/>
              <a:ext cx="2" cy="181"/>
            </a:xfrm>
            <a:custGeom>
              <a:avLst/>
              <a:gdLst>
                <a:gd name="T0" fmla="*/ 2 w 2"/>
                <a:gd name="T1" fmla="*/ 0 h 181"/>
                <a:gd name="T2" fmla="*/ 0 w 2"/>
                <a:gd name="T3" fmla="*/ 181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1">
                  <a:moveTo>
                    <a:pt x="2" y="0"/>
                  </a:moveTo>
                  <a:lnTo>
                    <a:pt x="0" y="18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5" name="Freeform 470"/>
            <p:cNvSpPr/>
            <p:nvPr/>
          </p:nvSpPr>
          <p:spPr bwMode="auto">
            <a:xfrm>
              <a:off x="3915" y="1665"/>
              <a:ext cx="178" cy="1"/>
            </a:xfrm>
            <a:custGeom>
              <a:avLst/>
              <a:gdLst>
                <a:gd name="T0" fmla="*/ 0 w 178"/>
                <a:gd name="T1" fmla="*/ 0 h 1"/>
                <a:gd name="T2" fmla="*/ 178 w 17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">
                  <a:moveTo>
                    <a:pt x="0" y="0"/>
                  </a:moveTo>
                  <a:lnTo>
                    <a:pt x="17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6" name="Text Box 471"/>
            <p:cNvSpPr txBox="1">
              <a:spLocks noChangeArrowheads="1"/>
            </p:cNvSpPr>
            <p:nvPr/>
          </p:nvSpPr>
          <p:spPr bwMode="auto">
            <a:xfrm rot="5400000">
              <a:off x="3674" y="203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58517" name="Group 472"/>
            <p:cNvGrpSpPr/>
            <p:nvPr/>
          </p:nvGrpSpPr>
          <p:grpSpPr bwMode="auto">
            <a:xfrm>
              <a:off x="3648" y="702"/>
              <a:ext cx="251" cy="594"/>
              <a:chOff x="3648" y="702"/>
              <a:chExt cx="251" cy="594"/>
            </a:xfrm>
          </p:grpSpPr>
          <p:grpSp>
            <p:nvGrpSpPr>
              <p:cNvPr id="58580" name="Group 473"/>
              <p:cNvGrpSpPr/>
              <p:nvPr/>
            </p:nvGrpSpPr>
            <p:grpSpPr bwMode="auto">
              <a:xfrm rot="10800000">
                <a:off x="3850" y="864"/>
                <a:ext cx="49" cy="231"/>
                <a:chOff x="1586" y="1334"/>
                <a:chExt cx="49" cy="231"/>
              </a:xfrm>
            </p:grpSpPr>
            <p:sp>
              <p:nvSpPr>
                <p:cNvPr id="58588" name="Freeform 474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589" name="Freeform 475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8581" name="Line 476"/>
              <p:cNvSpPr>
                <a:spLocks noChangeShapeType="1"/>
              </p:cNvSpPr>
              <p:nvPr/>
            </p:nvSpPr>
            <p:spPr bwMode="auto">
              <a:xfrm>
                <a:off x="3748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2" name="Freeform 477"/>
              <p:cNvSpPr/>
              <p:nvPr/>
            </p:nvSpPr>
            <p:spPr bwMode="auto">
              <a:xfrm>
                <a:off x="3696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583" name="Freeform 478"/>
              <p:cNvSpPr/>
              <p:nvPr/>
            </p:nvSpPr>
            <p:spPr bwMode="auto">
              <a:xfrm>
                <a:off x="3750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584" name="Group 479"/>
              <p:cNvGrpSpPr/>
              <p:nvPr/>
            </p:nvGrpSpPr>
            <p:grpSpPr bwMode="auto">
              <a:xfrm>
                <a:off x="3648" y="1151"/>
                <a:ext cx="202" cy="49"/>
                <a:chOff x="432" y="1152"/>
                <a:chExt cx="202" cy="49"/>
              </a:xfrm>
            </p:grpSpPr>
            <p:sp>
              <p:nvSpPr>
                <p:cNvPr id="58586" name="Freeform 480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587" name="Freeform 481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8585" name="Freeform 482"/>
              <p:cNvSpPr/>
              <p:nvPr/>
            </p:nvSpPr>
            <p:spPr bwMode="auto">
              <a:xfrm>
                <a:off x="3748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518" name="Group 483"/>
            <p:cNvGrpSpPr/>
            <p:nvPr/>
          </p:nvGrpSpPr>
          <p:grpSpPr bwMode="auto">
            <a:xfrm>
              <a:off x="3658" y="1409"/>
              <a:ext cx="251" cy="577"/>
              <a:chOff x="3658" y="1409"/>
              <a:chExt cx="251" cy="577"/>
            </a:xfrm>
          </p:grpSpPr>
          <p:grpSp>
            <p:nvGrpSpPr>
              <p:cNvPr id="58570" name="Group 484"/>
              <p:cNvGrpSpPr/>
              <p:nvPr/>
            </p:nvGrpSpPr>
            <p:grpSpPr bwMode="auto">
              <a:xfrm rot="10800000">
                <a:off x="3860" y="1554"/>
                <a:ext cx="49" cy="231"/>
                <a:chOff x="1586" y="1334"/>
                <a:chExt cx="49" cy="231"/>
              </a:xfrm>
            </p:grpSpPr>
            <p:sp>
              <p:nvSpPr>
                <p:cNvPr id="58578" name="Freeform 485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579" name="Freeform 486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8571" name="Line 487"/>
              <p:cNvSpPr>
                <a:spLocks noChangeShapeType="1"/>
              </p:cNvSpPr>
              <p:nvPr/>
            </p:nvSpPr>
            <p:spPr bwMode="auto">
              <a:xfrm>
                <a:off x="3758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2" name="Freeform 488"/>
              <p:cNvSpPr/>
              <p:nvPr/>
            </p:nvSpPr>
            <p:spPr bwMode="auto">
              <a:xfrm>
                <a:off x="3706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573" name="Freeform 489"/>
              <p:cNvSpPr/>
              <p:nvPr/>
            </p:nvSpPr>
            <p:spPr bwMode="auto">
              <a:xfrm>
                <a:off x="3760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574" name="Group 490"/>
              <p:cNvGrpSpPr/>
              <p:nvPr/>
            </p:nvGrpSpPr>
            <p:grpSpPr bwMode="auto">
              <a:xfrm>
                <a:off x="3658" y="1841"/>
                <a:ext cx="202" cy="49"/>
                <a:chOff x="432" y="1152"/>
                <a:chExt cx="202" cy="49"/>
              </a:xfrm>
            </p:grpSpPr>
            <p:sp>
              <p:nvSpPr>
                <p:cNvPr id="58576" name="Freeform 491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577" name="Freeform 492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8575" name="Freeform 493"/>
              <p:cNvSpPr/>
              <p:nvPr/>
            </p:nvSpPr>
            <p:spPr bwMode="auto">
              <a:xfrm>
                <a:off x="3758" y="1409"/>
                <a:ext cx="99" cy="208"/>
              </a:xfrm>
              <a:custGeom>
                <a:avLst/>
                <a:gdLst>
                  <a:gd name="T0" fmla="*/ 0 w 99"/>
                  <a:gd name="T1" fmla="*/ 0 h 208"/>
                  <a:gd name="T2" fmla="*/ 0 w 99"/>
                  <a:gd name="T3" fmla="*/ 208 h 208"/>
                  <a:gd name="T4" fmla="*/ 99 w 99"/>
                  <a:gd name="T5" fmla="*/ 208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08">
                    <a:moveTo>
                      <a:pt x="0" y="0"/>
                    </a:moveTo>
                    <a:lnTo>
                      <a:pt x="0" y="208"/>
                    </a:lnTo>
                    <a:lnTo>
                      <a:pt x="99" y="20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58519" name="Group 494"/>
            <p:cNvGrpSpPr/>
            <p:nvPr/>
          </p:nvGrpSpPr>
          <p:grpSpPr bwMode="auto">
            <a:xfrm>
              <a:off x="3658" y="2468"/>
              <a:ext cx="251" cy="574"/>
              <a:chOff x="3658" y="2468"/>
              <a:chExt cx="251" cy="574"/>
            </a:xfrm>
          </p:grpSpPr>
          <p:grpSp>
            <p:nvGrpSpPr>
              <p:cNvPr id="58560" name="Group 495"/>
              <p:cNvGrpSpPr/>
              <p:nvPr/>
            </p:nvGrpSpPr>
            <p:grpSpPr bwMode="auto">
              <a:xfrm rot="10800000">
                <a:off x="3860" y="2610"/>
                <a:ext cx="49" cy="231"/>
                <a:chOff x="1586" y="1334"/>
                <a:chExt cx="49" cy="231"/>
              </a:xfrm>
            </p:grpSpPr>
            <p:sp>
              <p:nvSpPr>
                <p:cNvPr id="58568" name="Freeform 496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569" name="Freeform 497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58561" name="Line 498"/>
              <p:cNvSpPr>
                <a:spLocks noChangeShapeType="1"/>
              </p:cNvSpPr>
              <p:nvPr/>
            </p:nvSpPr>
            <p:spPr bwMode="auto">
              <a:xfrm>
                <a:off x="3758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2" name="Freeform 499"/>
              <p:cNvSpPr/>
              <p:nvPr/>
            </p:nvSpPr>
            <p:spPr bwMode="auto">
              <a:xfrm>
                <a:off x="3706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563" name="Freeform 500"/>
              <p:cNvSpPr/>
              <p:nvPr/>
            </p:nvSpPr>
            <p:spPr bwMode="auto">
              <a:xfrm>
                <a:off x="3760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564" name="Group 501"/>
              <p:cNvGrpSpPr/>
              <p:nvPr/>
            </p:nvGrpSpPr>
            <p:grpSpPr bwMode="auto">
              <a:xfrm>
                <a:off x="3658" y="2897"/>
                <a:ext cx="202" cy="49"/>
                <a:chOff x="432" y="1152"/>
                <a:chExt cx="202" cy="49"/>
              </a:xfrm>
            </p:grpSpPr>
            <p:sp>
              <p:nvSpPr>
                <p:cNvPr id="58566" name="Freeform 50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567" name="Freeform 50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8565" name="Freeform 504"/>
              <p:cNvSpPr/>
              <p:nvPr/>
            </p:nvSpPr>
            <p:spPr bwMode="auto">
              <a:xfrm>
                <a:off x="3758" y="2468"/>
                <a:ext cx="99" cy="205"/>
              </a:xfrm>
              <a:custGeom>
                <a:avLst/>
                <a:gdLst>
                  <a:gd name="T0" fmla="*/ 0 w 99"/>
                  <a:gd name="T1" fmla="*/ 0 h 205"/>
                  <a:gd name="T2" fmla="*/ 0 w 99"/>
                  <a:gd name="T3" fmla="*/ 205 h 205"/>
                  <a:gd name="T4" fmla="*/ 99 w 99"/>
                  <a:gd name="T5" fmla="*/ 205 h 2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05">
                    <a:moveTo>
                      <a:pt x="0" y="0"/>
                    </a:moveTo>
                    <a:lnTo>
                      <a:pt x="0" y="205"/>
                    </a:lnTo>
                    <a:lnTo>
                      <a:pt x="99" y="20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58520" name="Freeform 505"/>
            <p:cNvSpPr/>
            <p:nvPr/>
          </p:nvSpPr>
          <p:spPr bwMode="auto">
            <a:xfrm>
              <a:off x="3901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21" name="Freeform 506"/>
            <p:cNvSpPr/>
            <p:nvPr/>
          </p:nvSpPr>
          <p:spPr bwMode="auto">
            <a:xfrm>
              <a:off x="3898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2" name="Freeform 507"/>
            <p:cNvSpPr/>
            <p:nvPr/>
          </p:nvSpPr>
          <p:spPr bwMode="auto">
            <a:xfrm>
              <a:off x="3898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3" name="Freeform 508"/>
            <p:cNvSpPr/>
            <p:nvPr/>
          </p:nvSpPr>
          <p:spPr bwMode="auto">
            <a:xfrm>
              <a:off x="3906" y="2721"/>
              <a:ext cx="187" cy="1"/>
            </a:xfrm>
            <a:custGeom>
              <a:avLst/>
              <a:gdLst>
                <a:gd name="T0" fmla="*/ 0 w 187"/>
                <a:gd name="T1" fmla="*/ 0 h 1"/>
                <a:gd name="T2" fmla="*/ 187 w 18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1">
                  <a:moveTo>
                    <a:pt x="0" y="0"/>
                  </a:moveTo>
                  <a:lnTo>
                    <a:pt x="187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4" name="Freeform 509"/>
            <p:cNvSpPr/>
            <p:nvPr/>
          </p:nvSpPr>
          <p:spPr bwMode="auto">
            <a:xfrm>
              <a:off x="4453" y="1302"/>
              <a:ext cx="432" cy="111"/>
            </a:xfrm>
            <a:custGeom>
              <a:avLst/>
              <a:gdLst>
                <a:gd name="T0" fmla="*/ 0 w 432"/>
                <a:gd name="T1" fmla="*/ 0 h 111"/>
                <a:gd name="T2" fmla="*/ 0 w 432"/>
                <a:gd name="T3" fmla="*/ 111 h 111"/>
                <a:gd name="T4" fmla="*/ 432 w 432"/>
                <a:gd name="T5" fmla="*/ 111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11">
                  <a:moveTo>
                    <a:pt x="0" y="0"/>
                  </a:moveTo>
                  <a:lnTo>
                    <a:pt x="0" y="111"/>
                  </a:lnTo>
                  <a:lnTo>
                    <a:pt x="432" y="1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25" name="Freeform 510"/>
            <p:cNvSpPr/>
            <p:nvPr/>
          </p:nvSpPr>
          <p:spPr bwMode="auto">
            <a:xfrm>
              <a:off x="4453" y="2358"/>
              <a:ext cx="423" cy="120"/>
            </a:xfrm>
            <a:custGeom>
              <a:avLst/>
              <a:gdLst>
                <a:gd name="T0" fmla="*/ 0 w 423"/>
                <a:gd name="T1" fmla="*/ 0 h 120"/>
                <a:gd name="T2" fmla="*/ 0 w 423"/>
                <a:gd name="T3" fmla="*/ 120 h 120"/>
                <a:gd name="T4" fmla="*/ 423 w 423"/>
                <a:gd name="T5" fmla="*/ 12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20">
                  <a:moveTo>
                    <a:pt x="0" y="0"/>
                  </a:moveTo>
                  <a:lnTo>
                    <a:pt x="0" y="120"/>
                  </a:lnTo>
                  <a:lnTo>
                    <a:pt x="423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26" name="Freeform 511"/>
            <p:cNvSpPr/>
            <p:nvPr/>
          </p:nvSpPr>
          <p:spPr bwMode="auto">
            <a:xfrm>
              <a:off x="4411" y="432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645 w 993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27" name="Freeform 512"/>
            <p:cNvSpPr/>
            <p:nvPr/>
          </p:nvSpPr>
          <p:spPr bwMode="auto">
            <a:xfrm>
              <a:off x="4411" y="1152"/>
              <a:ext cx="801" cy="96"/>
            </a:xfrm>
            <a:custGeom>
              <a:avLst/>
              <a:gdLst>
                <a:gd name="T0" fmla="*/ 0 w 993"/>
                <a:gd name="T1" fmla="*/ 93 h 99"/>
                <a:gd name="T2" fmla="*/ 0 w 993"/>
                <a:gd name="T3" fmla="*/ 0 h 99"/>
                <a:gd name="T4" fmla="*/ 646 w 993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28" name="Freeform 513"/>
            <p:cNvSpPr/>
            <p:nvPr/>
          </p:nvSpPr>
          <p:spPr bwMode="auto">
            <a:xfrm>
              <a:off x="4411" y="2208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645 w 993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529" name="Text Box 514"/>
            <p:cNvSpPr txBox="1">
              <a:spLocks noChangeArrowheads="1"/>
            </p:cNvSpPr>
            <p:nvPr/>
          </p:nvSpPr>
          <p:spPr bwMode="auto">
            <a:xfrm>
              <a:off x="28" y="316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530" name="Text Box 515"/>
            <p:cNvSpPr txBox="1">
              <a:spLocks noChangeArrowheads="1"/>
            </p:cNvSpPr>
            <p:nvPr/>
          </p:nvSpPr>
          <p:spPr bwMode="auto">
            <a:xfrm>
              <a:off x="940" y="3161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63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531" name="Text Box 516"/>
            <p:cNvSpPr txBox="1">
              <a:spLocks noChangeArrowheads="1"/>
            </p:cNvSpPr>
            <p:nvPr/>
          </p:nvSpPr>
          <p:spPr bwMode="auto">
            <a:xfrm>
              <a:off x="2994" y="3161"/>
              <a:ext cx="3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64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532" name="Text Box 517"/>
            <p:cNvSpPr txBox="1">
              <a:spLocks noChangeArrowheads="1"/>
            </p:cNvSpPr>
            <p:nvPr/>
          </p:nvSpPr>
          <p:spPr bwMode="auto">
            <a:xfrm>
              <a:off x="3916" y="3161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533" name="Text Box 518"/>
            <p:cNvSpPr txBox="1">
              <a:spLocks noChangeArrowheads="1"/>
            </p:cNvSpPr>
            <p:nvPr/>
          </p:nvSpPr>
          <p:spPr bwMode="auto">
            <a:xfrm>
              <a:off x="1776" y="3590"/>
              <a:ext cx="87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128 根行线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58534" name="Text Box 519"/>
            <p:cNvSpPr txBox="1">
              <a:spLocks noChangeArrowheads="1"/>
            </p:cNvSpPr>
            <p:nvPr/>
          </p:nvSpPr>
          <p:spPr bwMode="auto">
            <a:xfrm>
              <a:off x="546" y="1034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endPara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8535" name="Text Box 520"/>
            <p:cNvSpPr txBox="1">
              <a:spLocks noChangeArrowheads="1"/>
            </p:cNvSpPr>
            <p:nvPr/>
          </p:nvSpPr>
          <p:spPr bwMode="auto">
            <a:xfrm>
              <a:off x="700" y="1119"/>
              <a:ext cx="16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endParaRPr lang="en-US" altLang="zh-CN" sz="1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8536" name="Text Box 521"/>
            <p:cNvSpPr txBox="1">
              <a:spLocks noChangeArrowheads="1"/>
            </p:cNvSpPr>
            <p:nvPr/>
          </p:nvSpPr>
          <p:spPr bwMode="auto">
            <a:xfrm>
              <a:off x="5100" y="41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537" name="Text Box 522"/>
            <p:cNvSpPr txBox="1">
              <a:spLocks noChangeArrowheads="1"/>
            </p:cNvSpPr>
            <p:nvPr/>
          </p:nvSpPr>
          <p:spPr bwMode="auto">
            <a:xfrm>
              <a:off x="5020" y="2201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538" name="Text Box 523"/>
            <p:cNvSpPr txBox="1">
              <a:spLocks noChangeArrowheads="1"/>
            </p:cNvSpPr>
            <p:nvPr/>
          </p:nvSpPr>
          <p:spPr bwMode="auto">
            <a:xfrm>
              <a:off x="5100" y="1178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8539" name="Group 524"/>
            <p:cNvGrpSpPr/>
            <p:nvPr/>
          </p:nvGrpSpPr>
          <p:grpSpPr bwMode="auto">
            <a:xfrm>
              <a:off x="5356" y="1039"/>
              <a:ext cx="363" cy="972"/>
              <a:chOff x="5356" y="1039"/>
              <a:chExt cx="363" cy="972"/>
            </a:xfrm>
          </p:grpSpPr>
          <p:sp>
            <p:nvSpPr>
              <p:cNvPr id="58556" name="Text Box 525"/>
              <p:cNvSpPr txBox="1">
                <a:spLocks noChangeArrowheads="1"/>
              </p:cNvSpPr>
              <p:nvPr/>
            </p:nvSpPr>
            <p:spPr bwMode="auto">
              <a:xfrm>
                <a:off x="5356" y="1039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128</a:t>
                </a:r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8557" name="Text Box 526"/>
              <p:cNvSpPr txBox="1">
                <a:spLocks noChangeArrowheads="1"/>
              </p:cNvSpPr>
              <p:nvPr/>
            </p:nvSpPr>
            <p:spPr bwMode="auto">
              <a:xfrm>
                <a:off x="5442" y="1294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8558" name="Text Box 527"/>
              <p:cNvSpPr txBox="1">
                <a:spLocks noChangeArrowheads="1"/>
              </p:cNvSpPr>
              <p:nvPr/>
            </p:nvSpPr>
            <p:spPr bwMode="auto">
              <a:xfrm>
                <a:off x="5442" y="152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选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8559" name="Text Box 528"/>
              <p:cNvSpPr txBox="1">
                <a:spLocks noChangeArrowheads="1"/>
              </p:cNvSpPr>
              <p:nvPr/>
            </p:nvSpPr>
            <p:spPr bwMode="auto">
              <a:xfrm>
                <a:off x="5442" y="176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择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58540" name="Text Box 529"/>
            <p:cNvSpPr txBox="1">
              <a:spLocks noChangeArrowheads="1"/>
            </p:cNvSpPr>
            <p:nvPr/>
          </p:nvSpPr>
          <p:spPr bwMode="auto">
            <a:xfrm>
              <a:off x="4896" y="2745"/>
              <a:ext cx="64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读/写线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8541" name="Line 530"/>
            <p:cNvSpPr>
              <a:spLocks noChangeShapeType="1"/>
            </p:cNvSpPr>
            <p:nvPr/>
          </p:nvSpPr>
          <p:spPr bwMode="auto">
            <a:xfrm flipV="1">
              <a:off x="4876" y="2976"/>
              <a:ext cx="336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542" name="Line 531"/>
            <p:cNvSpPr>
              <a:spLocks noChangeShapeType="1"/>
            </p:cNvSpPr>
            <p:nvPr/>
          </p:nvSpPr>
          <p:spPr bwMode="auto">
            <a:xfrm>
              <a:off x="29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543" name="Line 532"/>
            <p:cNvSpPr>
              <a:spLocks noChangeShapeType="1"/>
            </p:cNvSpPr>
            <p:nvPr/>
          </p:nvSpPr>
          <p:spPr bwMode="auto">
            <a:xfrm>
              <a:off x="41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544" name="Line 533"/>
            <p:cNvSpPr>
              <a:spLocks noChangeShapeType="1"/>
            </p:cNvSpPr>
            <p:nvPr/>
          </p:nvSpPr>
          <p:spPr bwMode="auto">
            <a:xfrm>
              <a:off x="5295" y="398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545" name="Line 534"/>
            <p:cNvSpPr>
              <a:spLocks noChangeShapeType="1"/>
            </p:cNvSpPr>
            <p:nvPr/>
          </p:nvSpPr>
          <p:spPr bwMode="auto">
            <a:xfrm>
              <a:off x="17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546" name="Text Box 535"/>
            <p:cNvSpPr txBox="1">
              <a:spLocks noChangeArrowheads="1"/>
            </p:cNvSpPr>
            <p:nvPr/>
          </p:nvSpPr>
          <p:spPr bwMode="auto">
            <a:xfrm>
              <a:off x="2158" y="3878"/>
              <a:ext cx="760" cy="2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数据输入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8547" name="Text Box 536"/>
            <p:cNvSpPr txBox="1">
              <a:spLocks noChangeArrowheads="1"/>
            </p:cNvSpPr>
            <p:nvPr/>
          </p:nvSpPr>
          <p:spPr bwMode="auto">
            <a:xfrm>
              <a:off x="3398" y="3865"/>
              <a:ext cx="6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I/O</a:t>
              </a:r>
              <a:r>
                <a:rPr lang="zh-CN" altLang="en-US" sz="2000">
                  <a:latin typeface="Times New Roman" panose="02020603050405020304" pitchFamily="18" charset="0"/>
                </a:rPr>
                <a:t>缓冲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8548" name="Text Box 537"/>
            <p:cNvSpPr txBox="1">
              <a:spLocks noChangeArrowheads="1"/>
            </p:cNvSpPr>
            <p:nvPr/>
          </p:nvSpPr>
          <p:spPr bwMode="auto">
            <a:xfrm>
              <a:off x="4534" y="3853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输出驱动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58549" name="Text Box 538"/>
            <p:cNvSpPr txBox="1">
              <a:spLocks noChangeArrowheads="1"/>
            </p:cNvSpPr>
            <p:nvPr/>
          </p:nvSpPr>
          <p:spPr bwMode="auto">
            <a:xfrm>
              <a:off x="5212" y="3648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8550" name="Text Box 539"/>
            <p:cNvSpPr txBox="1">
              <a:spLocks noChangeArrowheads="1"/>
            </p:cNvSpPr>
            <p:nvPr/>
          </p:nvSpPr>
          <p:spPr bwMode="auto">
            <a:xfrm>
              <a:off x="5356" y="3744"/>
              <a:ext cx="35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OUT</a:t>
              </a:r>
              <a:endParaRPr lang="en-US" altLang="zh-CN" sz="1400">
                <a:latin typeface="Times New Roman" panose="02020603050405020304" pitchFamily="18" charset="0"/>
              </a:endParaRPr>
            </a:p>
          </p:txBody>
        </p:sp>
        <p:sp>
          <p:nvSpPr>
            <p:cNvPr id="58551" name="Text Box 540"/>
            <p:cNvSpPr txBox="1">
              <a:spLocks noChangeArrowheads="1"/>
            </p:cNvSpPr>
            <p:nvPr/>
          </p:nvSpPr>
          <p:spPr bwMode="auto">
            <a:xfrm>
              <a:off x="1392" y="3818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8552" name="Text Box 541"/>
            <p:cNvSpPr txBox="1">
              <a:spLocks noChangeArrowheads="1"/>
            </p:cNvSpPr>
            <p:nvPr/>
          </p:nvSpPr>
          <p:spPr bwMode="auto">
            <a:xfrm>
              <a:off x="1535" y="3936"/>
              <a:ext cx="24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IN</a:t>
              </a:r>
              <a:endParaRPr lang="en-US" altLang="zh-CN" sz="1400">
                <a:latin typeface="Times New Roman" panose="02020603050405020304" pitchFamily="18" charset="0"/>
              </a:endParaRPr>
            </a:p>
          </p:txBody>
        </p:sp>
        <p:grpSp>
          <p:nvGrpSpPr>
            <p:cNvPr id="58553" name="Group 542"/>
            <p:cNvGrpSpPr/>
            <p:nvPr/>
          </p:nvGrpSpPr>
          <p:grpSpPr bwMode="auto">
            <a:xfrm>
              <a:off x="1536" y="2784"/>
              <a:ext cx="320" cy="297"/>
              <a:chOff x="1536" y="2784"/>
              <a:chExt cx="320" cy="297"/>
            </a:xfrm>
          </p:grpSpPr>
          <p:sp>
            <p:nvSpPr>
              <p:cNvPr id="58554" name="Text Box 543"/>
              <p:cNvSpPr txBox="1">
                <a:spLocks noChangeArrowheads="1"/>
              </p:cNvSpPr>
              <p:nvPr/>
            </p:nvSpPr>
            <p:spPr bwMode="auto">
              <a:xfrm>
                <a:off x="1536" y="278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</a:t>
                </a:r>
                <a:endPara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8555" name="Text Box 544"/>
              <p:cNvSpPr txBox="1">
                <a:spLocks noChangeArrowheads="1"/>
              </p:cNvSpPr>
              <p:nvPr/>
            </p:nvSpPr>
            <p:spPr bwMode="auto">
              <a:xfrm>
                <a:off x="1690" y="2869"/>
                <a:ext cx="16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s</a:t>
                </a:r>
                <a:endPara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47025" name="Freeform 241"/>
          <p:cNvSpPr/>
          <p:nvPr/>
        </p:nvSpPr>
        <p:spPr bwMode="auto">
          <a:xfrm>
            <a:off x="8534400" y="685801"/>
            <a:ext cx="1270000" cy="157163"/>
          </a:xfrm>
          <a:custGeom>
            <a:avLst/>
            <a:gdLst>
              <a:gd name="T0" fmla="*/ 0 w 993"/>
              <a:gd name="T1" fmla="*/ 249497056 h 99"/>
              <a:gd name="T2" fmla="*/ 0 w 993"/>
              <a:gd name="T3" fmla="*/ 0 h 99"/>
              <a:gd name="T4" fmla="*/ 1624269889 w 993"/>
              <a:gd name="T5" fmla="*/ 0 h 9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93" h="99">
                <a:moveTo>
                  <a:pt x="0" y="99"/>
                </a:moveTo>
                <a:lnTo>
                  <a:pt x="0" y="0"/>
                </a:lnTo>
                <a:lnTo>
                  <a:pt x="993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47026" name="Freeform 242"/>
          <p:cNvSpPr/>
          <p:nvPr/>
        </p:nvSpPr>
        <p:spPr bwMode="auto">
          <a:xfrm>
            <a:off x="5676900" y="919163"/>
            <a:ext cx="2795588" cy="190500"/>
          </a:xfrm>
          <a:custGeom>
            <a:avLst/>
            <a:gdLst>
              <a:gd name="T0" fmla="*/ 2147483646 w 1761"/>
              <a:gd name="T1" fmla="*/ 0 h 120"/>
              <a:gd name="T2" fmla="*/ 2147483646 w 1761"/>
              <a:gd name="T3" fmla="*/ 294859075 h 120"/>
              <a:gd name="T4" fmla="*/ 0 w 1761"/>
              <a:gd name="T5" fmla="*/ 302418750 h 1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61" h="120">
                <a:moveTo>
                  <a:pt x="1761" y="0"/>
                </a:moveTo>
                <a:lnTo>
                  <a:pt x="1761" y="117"/>
                </a:lnTo>
                <a:lnTo>
                  <a:pt x="0" y="12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47027" name="Group 243"/>
          <p:cNvGrpSpPr/>
          <p:nvPr/>
        </p:nvGrpSpPr>
        <p:grpSpPr bwMode="auto">
          <a:xfrm>
            <a:off x="3233739" y="1557338"/>
            <a:ext cx="314325" cy="3548062"/>
            <a:chOff x="1145" y="981"/>
            <a:chExt cx="198" cy="2235"/>
          </a:xfrm>
        </p:grpSpPr>
        <p:sp>
          <p:nvSpPr>
            <p:cNvPr id="58432" name="Line 244"/>
            <p:cNvSpPr>
              <a:spLocks noChangeShapeType="1"/>
            </p:cNvSpPr>
            <p:nvPr/>
          </p:nvSpPr>
          <p:spPr bwMode="auto">
            <a:xfrm>
              <a:off x="1150" y="2255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8433" name="Group 245"/>
            <p:cNvGrpSpPr/>
            <p:nvPr/>
          </p:nvGrpSpPr>
          <p:grpSpPr bwMode="auto">
            <a:xfrm>
              <a:off x="1145" y="981"/>
              <a:ext cx="198" cy="2235"/>
              <a:chOff x="1145" y="981"/>
              <a:chExt cx="198" cy="2235"/>
            </a:xfrm>
          </p:grpSpPr>
          <p:sp>
            <p:nvSpPr>
              <p:cNvPr id="58435" name="Freeform 246"/>
              <p:cNvSpPr/>
              <p:nvPr/>
            </p:nvSpPr>
            <p:spPr bwMode="auto">
              <a:xfrm>
                <a:off x="1145" y="1707"/>
                <a:ext cx="198" cy="3"/>
              </a:xfrm>
              <a:custGeom>
                <a:avLst/>
                <a:gdLst>
                  <a:gd name="T0" fmla="*/ 0 w 198"/>
                  <a:gd name="T1" fmla="*/ 3 h 3"/>
                  <a:gd name="T2" fmla="*/ 198 w 19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8" h="3">
                    <a:moveTo>
                      <a:pt x="0" y="3"/>
                    </a:moveTo>
                    <a:lnTo>
                      <a:pt x="198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36" name="Freeform 247"/>
              <p:cNvSpPr/>
              <p:nvPr/>
            </p:nvSpPr>
            <p:spPr bwMode="auto">
              <a:xfrm>
                <a:off x="1148" y="981"/>
                <a:ext cx="189" cy="2235"/>
              </a:xfrm>
              <a:custGeom>
                <a:avLst/>
                <a:gdLst>
                  <a:gd name="T0" fmla="*/ 189 w 189"/>
                  <a:gd name="T1" fmla="*/ 0 h 2235"/>
                  <a:gd name="T2" fmla="*/ 0 w 189"/>
                  <a:gd name="T3" fmla="*/ 0 h 2235"/>
                  <a:gd name="T4" fmla="*/ 0 w 189"/>
                  <a:gd name="T5" fmla="*/ 2235 h 22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235">
                    <a:moveTo>
                      <a:pt x="189" y="0"/>
                    </a:moveTo>
                    <a:lnTo>
                      <a:pt x="0" y="0"/>
                    </a:lnTo>
                    <a:lnTo>
                      <a:pt x="0" y="2235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437" name="Freeform 248"/>
              <p:cNvSpPr/>
              <p:nvPr/>
            </p:nvSpPr>
            <p:spPr bwMode="auto">
              <a:xfrm>
                <a:off x="1145" y="2718"/>
                <a:ext cx="192" cy="1"/>
              </a:xfrm>
              <a:custGeom>
                <a:avLst/>
                <a:gdLst>
                  <a:gd name="T0" fmla="*/ 0 w 192"/>
                  <a:gd name="T1" fmla="*/ 0 h 1"/>
                  <a:gd name="T2" fmla="*/ 192 w 19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8434" name="Line 249"/>
            <p:cNvSpPr>
              <a:spLocks noChangeShapeType="1"/>
            </p:cNvSpPr>
            <p:nvPr/>
          </p:nvSpPr>
          <p:spPr bwMode="auto">
            <a:xfrm>
              <a:off x="1148" y="2063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7034" name="Group 250"/>
          <p:cNvGrpSpPr/>
          <p:nvPr/>
        </p:nvGrpSpPr>
        <p:grpSpPr bwMode="auto">
          <a:xfrm rot="5400000">
            <a:off x="8493126" y="692151"/>
            <a:ext cx="77787" cy="366712"/>
            <a:chOff x="1586" y="1334"/>
            <a:chExt cx="49" cy="231"/>
          </a:xfrm>
        </p:grpSpPr>
        <p:sp>
          <p:nvSpPr>
            <p:cNvPr id="58430" name="Freeform 251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8431" name="Freeform 252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47037" name="Group 253"/>
          <p:cNvGrpSpPr/>
          <p:nvPr/>
        </p:nvGrpSpPr>
        <p:grpSpPr bwMode="auto">
          <a:xfrm>
            <a:off x="3609976" y="1104900"/>
            <a:ext cx="620713" cy="952500"/>
            <a:chOff x="1314" y="696"/>
            <a:chExt cx="391" cy="600"/>
          </a:xfrm>
        </p:grpSpPr>
        <p:grpSp>
          <p:nvGrpSpPr>
            <p:cNvPr id="58420" name="Group 254"/>
            <p:cNvGrpSpPr/>
            <p:nvPr/>
          </p:nvGrpSpPr>
          <p:grpSpPr bwMode="auto">
            <a:xfrm>
              <a:off x="1314" y="696"/>
              <a:ext cx="391" cy="237"/>
              <a:chOff x="1382" y="696"/>
              <a:chExt cx="391" cy="237"/>
            </a:xfrm>
          </p:grpSpPr>
          <p:sp>
            <p:nvSpPr>
              <p:cNvPr id="58428" name="Freeform 255"/>
              <p:cNvSpPr/>
              <p:nvPr/>
            </p:nvSpPr>
            <p:spPr bwMode="auto">
              <a:xfrm>
                <a:off x="1382" y="696"/>
                <a:ext cx="108" cy="237"/>
              </a:xfrm>
              <a:custGeom>
                <a:avLst/>
                <a:gdLst>
                  <a:gd name="T0" fmla="*/ 0 w 108"/>
                  <a:gd name="T1" fmla="*/ 237 h 237"/>
                  <a:gd name="T2" fmla="*/ 108 w 108"/>
                  <a:gd name="T3" fmla="*/ 237 h 237"/>
                  <a:gd name="T4" fmla="*/ 108 w 108"/>
                  <a:gd name="T5" fmla="*/ 0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37">
                    <a:moveTo>
                      <a:pt x="0" y="237"/>
                    </a:moveTo>
                    <a:lnTo>
                      <a:pt x="108" y="237"/>
                    </a:lnTo>
                    <a:lnTo>
                      <a:pt x="10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429" name="Freeform 256"/>
              <p:cNvSpPr/>
              <p:nvPr/>
            </p:nvSpPr>
            <p:spPr bwMode="auto">
              <a:xfrm>
                <a:off x="1509" y="702"/>
                <a:ext cx="264" cy="136"/>
              </a:xfrm>
              <a:custGeom>
                <a:avLst/>
                <a:gdLst>
                  <a:gd name="T0" fmla="*/ 0 w 264"/>
                  <a:gd name="T1" fmla="*/ 0 h 1"/>
                  <a:gd name="T2" fmla="*/ 264 w 26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4" h="1">
                    <a:moveTo>
                      <a:pt x="0" y="0"/>
                    </a:moveTo>
                    <a:lnTo>
                      <a:pt x="264" y="0"/>
                    </a:lnTo>
                  </a:path>
                </a:pathLst>
              </a:custGeom>
              <a:noFill/>
              <a:ln w="7620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8421" name="Group 257"/>
            <p:cNvGrpSpPr/>
            <p:nvPr/>
          </p:nvGrpSpPr>
          <p:grpSpPr bwMode="auto">
            <a:xfrm>
              <a:off x="1324" y="1019"/>
              <a:ext cx="202" cy="277"/>
              <a:chOff x="1392" y="1019"/>
              <a:chExt cx="202" cy="277"/>
            </a:xfrm>
          </p:grpSpPr>
          <p:sp>
            <p:nvSpPr>
              <p:cNvPr id="58422" name="Line 258"/>
              <p:cNvSpPr>
                <a:spLocks noChangeShapeType="1"/>
              </p:cNvSpPr>
              <p:nvPr/>
            </p:nvSpPr>
            <p:spPr bwMode="auto">
              <a:xfrm>
                <a:off x="1492" y="1199"/>
                <a:ext cx="2" cy="95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23" name="Freeform 259"/>
              <p:cNvSpPr/>
              <p:nvPr/>
            </p:nvSpPr>
            <p:spPr bwMode="auto">
              <a:xfrm>
                <a:off x="1440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424" name="Freeform 260"/>
              <p:cNvSpPr/>
              <p:nvPr/>
            </p:nvSpPr>
            <p:spPr bwMode="auto">
              <a:xfrm>
                <a:off x="1392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58425" name="Group 261"/>
              <p:cNvGrpSpPr/>
              <p:nvPr/>
            </p:nvGrpSpPr>
            <p:grpSpPr bwMode="auto">
              <a:xfrm>
                <a:off x="1392" y="1151"/>
                <a:ext cx="202" cy="49"/>
                <a:chOff x="432" y="1152"/>
                <a:chExt cx="202" cy="49"/>
              </a:xfrm>
            </p:grpSpPr>
            <p:sp>
              <p:nvSpPr>
                <p:cNvPr id="58426" name="Freeform 26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57150" cmpd="sng">
                  <a:solidFill>
                    <a:schemeClr val="folHlink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8427" name="Freeform 26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57150" cmpd="sng">
                  <a:solidFill>
                    <a:schemeClr val="folHlink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47048" name="Group 264"/>
          <p:cNvGrpSpPr/>
          <p:nvPr/>
        </p:nvGrpSpPr>
        <p:grpSpPr bwMode="auto">
          <a:xfrm>
            <a:off x="3546476" y="1371600"/>
            <a:ext cx="688975" cy="3124200"/>
            <a:chOff x="1274" y="864"/>
            <a:chExt cx="434" cy="1968"/>
          </a:xfrm>
        </p:grpSpPr>
        <p:grpSp>
          <p:nvGrpSpPr>
            <p:cNvPr id="58409" name="Group 265"/>
            <p:cNvGrpSpPr/>
            <p:nvPr/>
          </p:nvGrpSpPr>
          <p:grpSpPr bwMode="auto">
            <a:xfrm>
              <a:off x="1274" y="864"/>
              <a:ext cx="50" cy="1968"/>
              <a:chOff x="1342" y="864"/>
              <a:chExt cx="50" cy="1968"/>
            </a:xfrm>
          </p:grpSpPr>
          <p:grpSp>
            <p:nvGrpSpPr>
              <p:cNvPr id="58411" name="Group 266"/>
              <p:cNvGrpSpPr/>
              <p:nvPr/>
            </p:nvGrpSpPr>
            <p:grpSpPr bwMode="auto">
              <a:xfrm>
                <a:off x="1342" y="864"/>
                <a:ext cx="49" cy="231"/>
                <a:chOff x="1586" y="1334"/>
                <a:chExt cx="49" cy="231"/>
              </a:xfrm>
            </p:grpSpPr>
            <p:sp>
              <p:nvSpPr>
                <p:cNvPr id="58418" name="Freeform 267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419" name="Freeform 268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8412" name="Group 269"/>
              <p:cNvGrpSpPr/>
              <p:nvPr/>
            </p:nvGrpSpPr>
            <p:grpSpPr bwMode="auto">
              <a:xfrm>
                <a:off x="1343" y="1593"/>
                <a:ext cx="49" cy="231"/>
                <a:chOff x="1586" y="1334"/>
                <a:chExt cx="49" cy="231"/>
              </a:xfrm>
            </p:grpSpPr>
            <p:sp>
              <p:nvSpPr>
                <p:cNvPr id="58416" name="Freeform 270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417" name="Freeform 271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8413" name="Group 272"/>
              <p:cNvGrpSpPr/>
              <p:nvPr/>
            </p:nvGrpSpPr>
            <p:grpSpPr bwMode="auto">
              <a:xfrm>
                <a:off x="1343" y="2601"/>
                <a:ext cx="49" cy="231"/>
                <a:chOff x="1586" y="1334"/>
                <a:chExt cx="49" cy="231"/>
              </a:xfrm>
            </p:grpSpPr>
            <p:sp>
              <p:nvSpPr>
                <p:cNvPr id="58414" name="Freeform 273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58415" name="Freeform 274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8410" name="Text Box 275"/>
            <p:cNvSpPr txBox="1">
              <a:spLocks noChangeArrowheads="1"/>
            </p:cNvSpPr>
            <p:nvPr/>
          </p:nvSpPr>
          <p:spPr bwMode="auto">
            <a:xfrm>
              <a:off x="1281" y="2056"/>
              <a:ext cx="427" cy="3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58377" name="Text Box 276"/>
          <p:cNvSpPr txBox="1">
            <a:spLocks noChangeArrowheads="1"/>
          </p:cNvSpPr>
          <p:nvPr/>
        </p:nvSpPr>
        <p:spPr bwMode="auto">
          <a:xfrm>
            <a:off x="270454" y="-57944"/>
            <a:ext cx="6019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 dirty="0">
                <a:latin typeface="Times New Roman" panose="02020603050405020304" pitchFamily="18" charset="0"/>
                <a:ea typeface="楷体_GB2312" pitchFamily="49" charset="-122"/>
              </a:rPr>
              <a:t>⑤ </a:t>
            </a:r>
            <a:r>
              <a:rPr lang="en-US" altLang="zh-CN" sz="3200" dirty="0">
                <a:latin typeface="Times New Roman" panose="02020603050405020304" pitchFamily="18" charset="0"/>
              </a:rPr>
              <a:t>4116 (16K</a:t>
            </a:r>
            <a:r>
              <a:rPr lang="en-US" altLang="zh-CN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3200" dirty="0">
                <a:latin typeface="Times New Roman" panose="02020603050405020304" pitchFamily="18" charset="0"/>
              </a:rPr>
              <a:t>1</a:t>
            </a:r>
            <a:r>
              <a:rPr lang="zh-CN" altLang="en-US" sz="3200" dirty="0">
                <a:latin typeface="Times New Roman" panose="02020603050405020304" pitchFamily="18" charset="0"/>
              </a:rPr>
              <a:t>位) 芯片 </a:t>
            </a:r>
            <a:r>
              <a:rPr lang="zh-CN" altLang="en-US" sz="36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原理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247061" name="Group 277"/>
          <p:cNvGrpSpPr/>
          <p:nvPr/>
        </p:nvGrpSpPr>
        <p:grpSpPr bwMode="auto">
          <a:xfrm>
            <a:off x="3733800" y="6061075"/>
            <a:ext cx="4292600" cy="508000"/>
            <a:chOff x="1392" y="3818"/>
            <a:chExt cx="2704" cy="320"/>
          </a:xfrm>
        </p:grpSpPr>
        <p:grpSp>
          <p:nvGrpSpPr>
            <p:cNvPr id="58396" name="Group 278"/>
            <p:cNvGrpSpPr/>
            <p:nvPr/>
          </p:nvGrpSpPr>
          <p:grpSpPr bwMode="auto">
            <a:xfrm>
              <a:off x="2163" y="3867"/>
              <a:ext cx="1933" cy="271"/>
              <a:chOff x="2163" y="3867"/>
              <a:chExt cx="1933" cy="271"/>
            </a:xfrm>
          </p:grpSpPr>
          <p:sp>
            <p:nvSpPr>
              <p:cNvPr id="58400" name="Line 279"/>
              <p:cNvSpPr>
                <a:spLocks noChangeShapeType="1"/>
              </p:cNvSpPr>
              <p:nvPr/>
            </p:nvSpPr>
            <p:spPr bwMode="auto">
              <a:xfrm>
                <a:off x="2908" y="3984"/>
                <a:ext cx="43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8401" name="Group 280"/>
              <p:cNvGrpSpPr/>
              <p:nvPr/>
            </p:nvGrpSpPr>
            <p:grpSpPr bwMode="auto">
              <a:xfrm>
                <a:off x="2163" y="3867"/>
                <a:ext cx="765" cy="254"/>
                <a:chOff x="2163" y="3867"/>
                <a:chExt cx="765" cy="254"/>
              </a:xfrm>
            </p:grpSpPr>
            <p:sp>
              <p:nvSpPr>
                <p:cNvPr id="58407" name="Rectangle 281"/>
                <p:cNvSpPr>
                  <a:spLocks noChangeArrowheads="1"/>
                </p:cNvSpPr>
                <p:nvPr/>
              </p:nvSpPr>
              <p:spPr bwMode="auto">
                <a:xfrm>
                  <a:off x="2163" y="3869"/>
                  <a:ext cx="745" cy="25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4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8408" name="Text Box 282"/>
                <p:cNvSpPr txBox="1">
                  <a:spLocks noChangeArrowheads="1"/>
                </p:cNvSpPr>
                <p:nvPr/>
              </p:nvSpPr>
              <p:spPr bwMode="auto">
                <a:xfrm>
                  <a:off x="2168" y="3867"/>
                  <a:ext cx="760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folHlink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folHlink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数据输入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58402" name="Group 283"/>
              <p:cNvGrpSpPr/>
              <p:nvPr/>
            </p:nvGrpSpPr>
            <p:grpSpPr bwMode="auto">
              <a:xfrm>
                <a:off x="3352" y="3869"/>
                <a:ext cx="744" cy="269"/>
                <a:chOff x="3352" y="3869"/>
                <a:chExt cx="744" cy="269"/>
              </a:xfrm>
            </p:grpSpPr>
            <p:sp>
              <p:nvSpPr>
                <p:cNvPr id="58403" name="Rectangle 284"/>
                <p:cNvSpPr>
                  <a:spLocks noChangeArrowheads="1"/>
                </p:cNvSpPr>
                <p:nvPr/>
              </p:nvSpPr>
              <p:spPr bwMode="auto">
                <a:xfrm>
                  <a:off x="3354" y="3869"/>
                  <a:ext cx="742" cy="25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58404" name="Text Box 285"/>
                <p:cNvSpPr txBox="1">
                  <a:spLocks noChangeArrowheads="1"/>
                </p:cNvSpPr>
                <p:nvPr/>
              </p:nvSpPr>
              <p:spPr bwMode="auto">
                <a:xfrm>
                  <a:off x="3388" y="3888"/>
                  <a:ext cx="668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I/O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缓冲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58405" name="Rectangle 286"/>
                <p:cNvSpPr>
                  <a:spLocks noChangeArrowheads="1"/>
                </p:cNvSpPr>
                <p:nvPr/>
              </p:nvSpPr>
              <p:spPr bwMode="auto">
                <a:xfrm>
                  <a:off x="3352" y="3869"/>
                  <a:ext cx="742" cy="25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58406" name="Text Box 287"/>
                <p:cNvSpPr txBox="1">
                  <a:spLocks noChangeArrowheads="1"/>
                </p:cNvSpPr>
                <p:nvPr/>
              </p:nvSpPr>
              <p:spPr bwMode="auto">
                <a:xfrm>
                  <a:off x="3402" y="3878"/>
                  <a:ext cx="668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缓冲</a:t>
                  </a:r>
                  <a:endPara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58397" name="Line 288"/>
            <p:cNvSpPr>
              <a:spLocks noChangeShapeType="1"/>
            </p:cNvSpPr>
            <p:nvPr/>
          </p:nvSpPr>
          <p:spPr bwMode="auto">
            <a:xfrm>
              <a:off x="1708" y="3984"/>
              <a:ext cx="432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398" name="Text Box 289"/>
            <p:cNvSpPr txBox="1">
              <a:spLocks noChangeArrowheads="1"/>
            </p:cNvSpPr>
            <p:nvPr/>
          </p:nvSpPr>
          <p:spPr bwMode="auto">
            <a:xfrm>
              <a:off x="1392" y="3818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8399" name="Text Box 290"/>
            <p:cNvSpPr txBox="1">
              <a:spLocks noChangeArrowheads="1"/>
            </p:cNvSpPr>
            <p:nvPr/>
          </p:nvSpPr>
          <p:spPr bwMode="auto">
            <a:xfrm>
              <a:off x="1535" y="3936"/>
              <a:ext cx="24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IN</a:t>
              </a:r>
              <a:endParaRPr lang="en-US" altLang="zh-CN" sz="1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47075" name="Group 291"/>
          <p:cNvGrpSpPr/>
          <p:nvPr/>
        </p:nvGrpSpPr>
        <p:grpSpPr bwMode="auto">
          <a:xfrm>
            <a:off x="4183064" y="898525"/>
            <a:ext cx="1531937" cy="406400"/>
            <a:chOff x="1703" y="566"/>
            <a:chExt cx="965" cy="256"/>
          </a:xfrm>
        </p:grpSpPr>
        <p:sp>
          <p:nvSpPr>
            <p:cNvPr id="58392" name="Rectangle 292"/>
            <p:cNvSpPr>
              <a:spLocks noChangeArrowheads="1"/>
            </p:cNvSpPr>
            <p:nvPr/>
          </p:nvSpPr>
          <p:spPr bwMode="auto">
            <a:xfrm>
              <a:off x="1708" y="576"/>
              <a:ext cx="906" cy="24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58393" name="Text Box 293"/>
            <p:cNvSpPr txBox="1">
              <a:spLocks noChangeArrowheads="1"/>
            </p:cNvSpPr>
            <p:nvPr/>
          </p:nvSpPr>
          <p:spPr bwMode="auto">
            <a:xfrm>
              <a:off x="1704" y="566"/>
              <a:ext cx="964" cy="256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读出放大器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58394" name="Rectangle 294"/>
            <p:cNvSpPr>
              <a:spLocks noChangeArrowheads="1"/>
            </p:cNvSpPr>
            <p:nvPr/>
          </p:nvSpPr>
          <p:spPr bwMode="auto">
            <a:xfrm>
              <a:off x="1707" y="576"/>
              <a:ext cx="906" cy="24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3200" b="0">
                <a:latin typeface="Times New Roman" panose="02020603050405020304" pitchFamily="18" charset="0"/>
              </a:endParaRPr>
            </a:p>
          </p:txBody>
        </p:sp>
        <p:sp>
          <p:nvSpPr>
            <p:cNvPr id="58395" name="Text Box 295"/>
            <p:cNvSpPr txBox="1">
              <a:spLocks noChangeArrowheads="1"/>
            </p:cNvSpPr>
            <p:nvPr/>
          </p:nvSpPr>
          <p:spPr bwMode="auto">
            <a:xfrm>
              <a:off x="1703" y="566"/>
              <a:ext cx="964" cy="256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chemeClr val="bg2"/>
                  </a:solidFill>
                  <a:latin typeface="Times New Roman" panose="02020603050405020304" pitchFamily="18" charset="0"/>
                </a:rPr>
                <a:t>       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47081" name="Text Box 297"/>
          <p:cNvSpPr txBox="1">
            <a:spLocks noChangeArrowheads="1"/>
          </p:cNvSpPr>
          <p:nvPr/>
        </p:nvSpPr>
        <p:spPr bwMode="auto">
          <a:xfrm>
            <a:off x="3016250" y="5016500"/>
            <a:ext cx="488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63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47082" name="Text Box 298"/>
          <p:cNvSpPr txBox="1">
            <a:spLocks noChangeArrowheads="1"/>
          </p:cNvSpPr>
          <p:nvPr/>
        </p:nvSpPr>
        <p:spPr bwMode="auto">
          <a:xfrm>
            <a:off x="9620250" y="660400"/>
            <a:ext cx="336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47083" name="Group 299"/>
          <p:cNvGrpSpPr/>
          <p:nvPr/>
        </p:nvGrpSpPr>
        <p:grpSpPr bwMode="auto">
          <a:xfrm>
            <a:off x="7466013" y="5829291"/>
            <a:ext cx="1847850" cy="215900"/>
            <a:chOff x="3743" y="3672"/>
            <a:chExt cx="1164" cy="136"/>
          </a:xfrm>
        </p:grpSpPr>
        <p:sp>
          <p:nvSpPr>
            <p:cNvPr id="58390" name="Freeform 300"/>
            <p:cNvSpPr/>
            <p:nvPr/>
          </p:nvSpPr>
          <p:spPr bwMode="auto">
            <a:xfrm>
              <a:off x="3743" y="3672"/>
              <a:ext cx="1" cy="136"/>
            </a:xfrm>
            <a:custGeom>
              <a:avLst/>
              <a:gdLst>
                <a:gd name="T0" fmla="*/ 1 w 1"/>
                <a:gd name="T1" fmla="*/ 0 h 201"/>
                <a:gd name="T2" fmla="*/ 0 w 1"/>
                <a:gd name="T3" fmla="*/ 201 h 2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1">
                  <a:moveTo>
                    <a:pt x="1" y="0"/>
                  </a:moveTo>
                  <a:lnTo>
                    <a:pt x="0" y="20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391" name="Freeform 301"/>
            <p:cNvSpPr/>
            <p:nvPr/>
          </p:nvSpPr>
          <p:spPr bwMode="auto">
            <a:xfrm>
              <a:off x="3751" y="3694"/>
              <a:ext cx="1156" cy="2"/>
            </a:xfrm>
            <a:custGeom>
              <a:avLst/>
              <a:gdLst>
                <a:gd name="T0" fmla="*/ 1306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76200" cmpd="sng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7086" name="Group 302"/>
          <p:cNvGrpSpPr/>
          <p:nvPr/>
        </p:nvGrpSpPr>
        <p:grpSpPr bwMode="auto">
          <a:xfrm>
            <a:off x="8593139" y="881063"/>
            <a:ext cx="682625" cy="5002212"/>
            <a:chOff x="4453" y="555"/>
            <a:chExt cx="430" cy="3151"/>
          </a:xfrm>
        </p:grpSpPr>
        <p:sp>
          <p:nvSpPr>
            <p:cNvPr id="58386" name="Freeform 303"/>
            <p:cNvSpPr/>
            <p:nvPr/>
          </p:nvSpPr>
          <p:spPr bwMode="auto">
            <a:xfrm>
              <a:off x="4464" y="555"/>
              <a:ext cx="419" cy="3151"/>
            </a:xfrm>
            <a:custGeom>
              <a:avLst/>
              <a:gdLst>
                <a:gd name="T0" fmla="*/ 0 w 419"/>
                <a:gd name="T1" fmla="*/ 0 h 3045"/>
                <a:gd name="T2" fmla="*/ 0 w 419"/>
                <a:gd name="T3" fmla="*/ 148 h 3045"/>
                <a:gd name="T4" fmla="*/ 416 w 419"/>
                <a:gd name="T5" fmla="*/ 148 h 3045"/>
                <a:gd name="T6" fmla="*/ 419 w 419"/>
                <a:gd name="T7" fmla="*/ 3261 h 30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3045">
                  <a:moveTo>
                    <a:pt x="0" y="0"/>
                  </a:moveTo>
                  <a:lnTo>
                    <a:pt x="0" y="138"/>
                  </a:lnTo>
                  <a:lnTo>
                    <a:pt x="416" y="138"/>
                  </a:lnTo>
                  <a:lnTo>
                    <a:pt x="419" y="304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stealth" w="med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58387" name="Group 304"/>
            <p:cNvGrpSpPr/>
            <p:nvPr/>
          </p:nvGrpSpPr>
          <p:grpSpPr bwMode="auto">
            <a:xfrm>
              <a:off x="4453" y="1302"/>
              <a:ext cx="423" cy="1176"/>
              <a:chOff x="4453" y="1302"/>
              <a:chExt cx="423" cy="1176"/>
            </a:xfrm>
          </p:grpSpPr>
          <p:sp>
            <p:nvSpPr>
              <p:cNvPr id="58388" name="Freeform 305"/>
              <p:cNvSpPr/>
              <p:nvPr/>
            </p:nvSpPr>
            <p:spPr bwMode="auto">
              <a:xfrm>
                <a:off x="4453" y="1302"/>
                <a:ext cx="419" cy="111"/>
              </a:xfrm>
              <a:custGeom>
                <a:avLst/>
                <a:gdLst>
                  <a:gd name="T0" fmla="*/ 0 w 432"/>
                  <a:gd name="T1" fmla="*/ 0 h 111"/>
                  <a:gd name="T2" fmla="*/ 0 w 432"/>
                  <a:gd name="T3" fmla="*/ 111 h 111"/>
                  <a:gd name="T4" fmla="*/ 406 w 432"/>
                  <a:gd name="T5" fmla="*/ 111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11">
                    <a:moveTo>
                      <a:pt x="0" y="0"/>
                    </a:moveTo>
                    <a:lnTo>
                      <a:pt x="0" y="111"/>
                    </a:lnTo>
                    <a:lnTo>
                      <a:pt x="432" y="111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58389" name="Freeform 306"/>
              <p:cNvSpPr/>
              <p:nvPr/>
            </p:nvSpPr>
            <p:spPr bwMode="auto">
              <a:xfrm>
                <a:off x="4453" y="2358"/>
                <a:ext cx="423" cy="120"/>
              </a:xfrm>
              <a:custGeom>
                <a:avLst/>
                <a:gdLst>
                  <a:gd name="T0" fmla="*/ 0 w 423"/>
                  <a:gd name="T1" fmla="*/ 0 h 120"/>
                  <a:gd name="T2" fmla="*/ 0 w 423"/>
                  <a:gd name="T3" fmla="*/ 120 h 120"/>
                  <a:gd name="T4" fmla="*/ 423 w 423"/>
                  <a:gd name="T5" fmla="*/ 12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120">
                    <a:moveTo>
                      <a:pt x="0" y="0"/>
                    </a:moveTo>
                    <a:lnTo>
                      <a:pt x="0" y="120"/>
                    </a:lnTo>
                    <a:lnTo>
                      <a:pt x="423" y="12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7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47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247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47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47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247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6" dur="500"/>
                                        <p:tgtEl>
                                          <p:spTgt spid="247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47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6" dur="500"/>
                                        <p:tgtEl>
                                          <p:spTgt spid="247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247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247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9" dur="500"/>
                                        <p:tgtEl>
                                          <p:spTgt spid="247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4" dur="500"/>
                                        <p:tgtEl>
                                          <p:spTgt spid="247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081" grpId="0" autoUpdateAnimBg="0"/>
      <p:bldP spid="247082" grpId="0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Text Box 2"/>
          <p:cNvSpPr txBox="1">
            <a:spLocks noChangeArrowheads="1"/>
          </p:cNvSpPr>
          <p:nvPr/>
        </p:nvSpPr>
        <p:spPr bwMode="auto">
          <a:xfrm>
            <a:off x="407368" y="138690"/>
            <a:ext cx="5410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 dirty="0">
                <a:latin typeface="Times New Roman" panose="02020603050405020304" pitchFamily="18" charset="0"/>
              </a:rPr>
              <a:t> (3)  动态 </a:t>
            </a:r>
            <a:r>
              <a:rPr lang="en-US" altLang="zh-CN" sz="3600" dirty="0">
                <a:latin typeface="Times New Roman" panose="02020603050405020304" pitchFamily="18" charset="0"/>
              </a:rPr>
              <a:t>RAM </a:t>
            </a:r>
            <a:r>
              <a:rPr lang="zh-CN" altLang="en-US" sz="3600" dirty="0">
                <a:latin typeface="Times New Roman" panose="02020603050405020304" pitchFamily="18" charset="0"/>
              </a:rPr>
              <a:t>时序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47811" name="Text Box 3"/>
          <p:cNvSpPr txBox="1">
            <a:spLocks noChangeArrowheads="1"/>
          </p:cNvSpPr>
          <p:nvPr/>
        </p:nvSpPr>
        <p:spPr bwMode="auto">
          <a:xfrm>
            <a:off x="3200400" y="1295400"/>
            <a:ext cx="541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行、列地址分开传送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47812" name="Text Box 4"/>
          <p:cNvSpPr txBox="1">
            <a:spLocks noChangeArrowheads="1"/>
          </p:cNvSpPr>
          <p:nvPr/>
        </p:nvSpPr>
        <p:spPr bwMode="auto">
          <a:xfrm>
            <a:off x="7162800" y="2438401"/>
            <a:ext cx="243840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000">
                <a:latin typeface="Times New Roman" panose="02020603050405020304" pitchFamily="18" charset="0"/>
              </a:rPr>
              <a:t>写时序</a:t>
            </a:r>
            <a:endParaRPr lang="zh-CN" altLang="en-US" sz="3000">
              <a:latin typeface="Times New Roman" panose="02020603050405020304" pitchFamily="18" charset="0"/>
            </a:endParaRPr>
          </a:p>
        </p:txBody>
      </p:sp>
      <p:grpSp>
        <p:nvGrpSpPr>
          <p:cNvPr id="247813" name="Group 5"/>
          <p:cNvGrpSpPr/>
          <p:nvPr/>
        </p:nvGrpSpPr>
        <p:grpSpPr bwMode="auto">
          <a:xfrm>
            <a:off x="2362200" y="3190876"/>
            <a:ext cx="3200400" cy="519113"/>
            <a:chOff x="528" y="2106"/>
            <a:chExt cx="2016" cy="327"/>
          </a:xfrm>
        </p:grpSpPr>
        <p:sp>
          <p:nvSpPr>
            <p:cNvPr id="59418" name="Text Box 6"/>
            <p:cNvSpPr txBox="1">
              <a:spLocks noChangeArrowheads="1"/>
            </p:cNvSpPr>
            <p:nvPr/>
          </p:nvSpPr>
          <p:spPr bwMode="auto">
            <a:xfrm>
              <a:off x="528" y="2106"/>
              <a:ext cx="2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行地址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RAS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59419" name="Freeform 7"/>
            <p:cNvSpPr/>
            <p:nvPr/>
          </p:nvSpPr>
          <p:spPr bwMode="auto">
            <a:xfrm>
              <a:off x="1351" y="2142"/>
              <a:ext cx="501" cy="136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47816" name="Group 8"/>
          <p:cNvGrpSpPr/>
          <p:nvPr/>
        </p:nvGrpSpPr>
        <p:grpSpPr bwMode="auto">
          <a:xfrm>
            <a:off x="2362200" y="3914776"/>
            <a:ext cx="3657600" cy="519113"/>
            <a:chOff x="528" y="2562"/>
            <a:chExt cx="2304" cy="327"/>
          </a:xfrm>
        </p:grpSpPr>
        <p:sp>
          <p:nvSpPr>
            <p:cNvPr id="59416" name="Text Box 9"/>
            <p:cNvSpPr txBox="1">
              <a:spLocks noChangeArrowheads="1"/>
            </p:cNvSpPr>
            <p:nvPr/>
          </p:nvSpPr>
          <p:spPr bwMode="auto">
            <a:xfrm>
              <a:off x="528" y="2562"/>
              <a:ext cx="230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写允许  </a:t>
              </a:r>
              <a:r>
                <a:rPr lang="en-US" altLang="zh-CN" sz="2800">
                  <a:latin typeface="Times New Roman" panose="02020603050405020304" pitchFamily="18" charset="0"/>
                </a:rPr>
                <a:t>WE 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有效(高)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59417" name="Line 10"/>
            <p:cNvSpPr>
              <a:spLocks noChangeShapeType="1"/>
            </p:cNvSpPr>
            <p:nvPr/>
          </p:nvSpPr>
          <p:spPr bwMode="auto">
            <a:xfrm>
              <a:off x="1344" y="2592"/>
              <a:ext cx="4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7819" name="Text Box 11"/>
          <p:cNvSpPr txBox="1">
            <a:spLocks noChangeArrowheads="1"/>
          </p:cNvSpPr>
          <p:nvPr/>
        </p:nvSpPr>
        <p:spPr bwMode="auto">
          <a:xfrm>
            <a:off x="2362200" y="5364164"/>
            <a:ext cx="3200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数据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2000">
                <a:latin typeface="Times New Roman" panose="02020603050405020304" pitchFamily="18" charset="0"/>
              </a:rPr>
              <a:t>       </a:t>
            </a:r>
            <a:r>
              <a:rPr lang="en-US" altLang="zh-CN" sz="2800">
                <a:latin typeface="Times New Roman" panose="02020603050405020304" pitchFamily="18" charset="0"/>
              </a:rPr>
              <a:t>D</a:t>
            </a:r>
            <a:r>
              <a:rPr lang="en-US" altLang="zh-CN" sz="2200" baseline="-25000">
                <a:latin typeface="Times New Roman" panose="02020603050405020304" pitchFamily="18" charset="0"/>
              </a:rPr>
              <a:t>OUT</a:t>
            </a:r>
            <a:r>
              <a:rPr lang="en-US" altLang="zh-CN" sz="2200" baseline="-25000"/>
              <a:t>   </a:t>
            </a:r>
            <a:r>
              <a:rPr lang="zh-CN" altLang="en-US" sz="2800">
                <a:latin typeface="Times New Roman" panose="02020603050405020304" pitchFamily="18" charset="0"/>
              </a:rPr>
              <a:t>有效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47820" name="Text Box 12"/>
          <p:cNvSpPr txBox="1">
            <a:spLocks noChangeArrowheads="1"/>
          </p:cNvSpPr>
          <p:nvPr/>
        </p:nvSpPr>
        <p:spPr bwMode="auto">
          <a:xfrm>
            <a:off x="6553200" y="4638676"/>
            <a:ext cx="3733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数据 </a:t>
            </a:r>
            <a:r>
              <a:rPr lang="en-US" altLang="zh-CN" sz="2000">
                <a:latin typeface="Times New Roman" panose="02020603050405020304" pitchFamily="18" charset="0"/>
              </a:rPr>
              <a:t>       </a:t>
            </a:r>
            <a:r>
              <a:rPr lang="en-US" altLang="zh-CN" sz="2800">
                <a:latin typeface="Times New Roman" panose="02020603050405020304" pitchFamily="18" charset="0"/>
              </a:rPr>
              <a:t>D</a:t>
            </a:r>
            <a:r>
              <a:rPr lang="en-US" altLang="zh-CN" sz="2200" baseline="-25000">
                <a:latin typeface="Times New Roman" panose="02020603050405020304" pitchFamily="18" charset="0"/>
              </a:rPr>
              <a:t>IN </a:t>
            </a:r>
            <a:r>
              <a:rPr lang="en-US" altLang="zh-CN" sz="2200" baseline="-25000"/>
              <a:t>  </a:t>
            </a:r>
            <a:r>
              <a:rPr lang="zh-CN" altLang="en-US" sz="2800">
                <a:latin typeface="Times New Roman" panose="02020603050405020304" pitchFamily="18" charset="0"/>
              </a:rPr>
              <a:t>有效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47821" name="Text Box 13"/>
          <p:cNvSpPr txBox="1">
            <a:spLocks noChangeArrowheads="1"/>
          </p:cNvSpPr>
          <p:nvPr/>
        </p:nvSpPr>
        <p:spPr bwMode="auto">
          <a:xfrm>
            <a:off x="3276600" y="2438401"/>
            <a:ext cx="175260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000">
                <a:latin typeface="Times New Roman" panose="02020603050405020304" pitchFamily="18" charset="0"/>
              </a:rPr>
              <a:t>读时序</a:t>
            </a:r>
            <a:endParaRPr lang="zh-CN" altLang="en-US" sz="3000">
              <a:latin typeface="Times New Roman" panose="02020603050405020304" pitchFamily="18" charset="0"/>
            </a:endParaRPr>
          </a:p>
        </p:txBody>
      </p:sp>
      <p:grpSp>
        <p:nvGrpSpPr>
          <p:cNvPr id="247823" name="Group 15"/>
          <p:cNvGrpSpPr/>
          <p:nvPr/>
        </p:nvGrpSpPr>
        <p:grpSpPr bwMode="auto">
          <a:xfrm>
            <a:off x="6553200" y="3190876"/>
            <a:ext cx="3200400" cy="519113"/>
            <a:chOff x="3168" y="2106"/>
            <a:chExt cx="2016" cy="327"/>
          </a:xfrm>
        </p:grpSpPr>
        <p:sp>
          <p:nvSpPr>
            <p:cNvPr id="59414" name="Text Box 16"/>
            <p:cNvSpPr txBox="1">
              <a:spLocks noChangeArrowheads="1"/>
            </p:cNvSpPr>
            <p:nvPr/>
          </p:nvSpPr>
          <p:spPr bwMode="auto">
            <a:xfrm>
              <a:off x="3168" y="2106"/>
              <a:ext cx="2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行地址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RAS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59415" name="Freeform 17"/>
            <p:cNvSpPr/>
            <p:nvPr/>
          </p:nvSpPr>
          <p:spPr bwMode="auto">
            <a:xfrm>
              <a:off x="3984" y="2142"/>
              <a:ext cx="501" cy="136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47826" name="Group 18"/>
          <p:cNvGrpSpPr/>
          <p:nvPr/>
        </p:nvGrpSpPr>
        <p:grpSpPr bwMode="auto">
          <a:xfrm>
            <a:off x="6553200" y="3914776"/>
            <a:ext cx="3657600" cy="519113"/>
            <a:chOff x="3168" y="2562"/>
            <a:chExt cx="2304" cy="327"/>
          </a:xfrm>
        </p:grpSpPr>
        <p:sp>
          <p:nvSpPr>
            <p:cNvPr id="59412" name="Text Box 19"/>
            <p:cNvSpPr txBox="1">
              <a:spLocks noChangeArrowheads="1"/>
            </p:cNvSpPr>
            <p:nvPr/>
          </p:nvSpPr>
          <p:spPr bwMode="auto">
            <a:xfrm>
              <a:off x="3168" y="2562"/>
              <a:ext cx="230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写允许  </a:t>
              </a:r>
              <a:r>
                <a:rPr lang="en-US" altLang="zh-CN" sz="2800">
                  <a:latin typeface="Times New Roman" panose="02020603050405020304" pitchFamily="18" charset="0"/>
                </a:rPr>
                <a:t>WE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有效(低)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59413" name="Line 20"/>
            <p:cNvSpPr>
              <a:spLocks noChangeShapeType="1"/>
            </p:cNvSpPr>
            <p:nvPr/>
          </p:nvSpPr>
          <p:spPr bwMode="auto">
            <a:xfrm>
              <a:off x="3984" y="2592"/>
              <a:ext cx="4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47829" name="Group 21"/>
          <p:cNvGrpSpPr/>
          <p:nvPr/>
        </p:nvGrpSpPr>
        <p:grpSpPr bwMode="auto">
          <a:xfrm>
            <a:off x="2362200" y="4638676"/>
            <a:ext cx="3200400" cy="519113"/>
            <a:chOff x="528" y="3018"/>
            <a:chExt cx="2016" cy="327"/>
          </a:xfrm>
        </p:grpSpPr>
        <p:sp>
          <p:nvSpPr>
            <p:cNvPr id="59410" name="Text Box 22"/>
            <p:cNvSpPr txBox="1">
              <a:spLocks noChangeArrowheads="1"/>
            </p:cNvSpPr>
            <p:nvPr/>
          </p:nvSpPr>
          <p:spPr bwMode="auto">
            <a:xfrm>
              <a:off x="528" y="3018"/>
              <a:ext cx="2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列地址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CAS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59411" name="Freeform 23"/>
            <p:cNvSpPr/>
            <p:nvPr/>
          </p:nvSpPr>
          <p:spPr bwMode="auto">
            <a:xfrm>
              <a:off x="1351" y="3049"/>
              <a:ext cx="501" cy="136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47832" name="Group 24"/>
          <p:cNvGrpSpPr/>
          <p:nvPr/>
        </p:nvGrpSpPr>
        <p:grpSpPr bwMode="auto">
          <a:xfrm>
            <a:off x="6553200" y="5424488"/>
            <a:ext cx="3200400" cy="519112"/>
            <a:chOff x="3168" y="3513"/>
            <a:chExt cx="2016" cy="327"/>
          </a:xfrm>
        </p:grpSpPr>
        <p:sp>
          <p:nvSpPr>
            <p:cNvPr id="59408" name="Text Box 25"/>
            <p:cNvSpPr txBox="1">
              <a:spLocks noChangeArrowheads="1"/>
            </p:cNvSpPr>
            <p:nvPr/>
          </p:nvSpPr>
          <p:spPr bwMode="auto">
            <a:xfrm>
              <a:off x="3168" y="3513"/>
              <a:ext cx="2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列地址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CAS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59409" name="Freeform 26"/>
            <p:cNvSpPr/>
            <p:nvPr/>
          </p:nvSpPr>
          <p:spPr bwMode="auto">
            <a:xfrm>
              <a:off x="3984" y="3551"/>
              <a:ext cx="501" cy="136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7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47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47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47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47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47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47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47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47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47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47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811" grpId="0" autoUpdateAnimBg="0"/>
      <p:bldP spid="247812" grpId="0" autoUpdateAnimBg="0"/>
      <p:bldP spid="247819" grpId="0" autoUpdateAnimBg="0"/>
      <p:bldP spid="247820" grpId="0" autoUpdateAnimBg="0"/>
      <p:bldP spid="247821" grpId="0" autoUpdateAnimBg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Text Box 2"/>
          <p:cNvSpPr txBox="1">
            <a:spLocks noChangeArrowheads="1"/>
          </p:cNvSpPr>
          <p:nvPr/>
        </p:nvSpPr>
        <p:spPr bwMode="auto">
          <a:xfrm>
            <a:off x="203579" y="79476"/>
            <a:ext cx="5410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 dirty="0">
                <a:latin typeface="Times New Roman" panose="02020603050405020304" pitchFamily="18" charset="0"/>
              </a:rPr>
              <a:t> (4)  动态 </a:t>
            </a:r>
            <a:r>
              <a:rPr lang="en-US" altLang="zh-CN" sz="3600" dirty="0">
                <a:latin typeface="Times New Roman" panose="02020603050405020304" pitchFamily="18" charset="0"/>
              </a:rPr>
              <a:t>RAM </a:t>
            </a:r>
            <a:r>
              <a:rPr lang="zh-CN" altLang="en-US" sz="3600" dirty="0">
                <a:latin typeface="Times New Roman" panose="02020603050405020304" pitchFamily="18" charset="0"/>
              </a:rPr>
              <a:t>刷新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48835" name="Text Box 3"/>
          <p:cNvSpPr txBox="1">
            <a:spLocks noChangeArrowheads="1"/>
          </p:cNvSpPr>
          <p:nvPr/>
        </p:nvSpPr>
        <p:spPr bwMode="auto">
          <a:xfrm>
            <a:off x="2895600" y="715964"/>
            <a:ext cx="54102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刷新与行地址有关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48836" name="Group 4"/>
          <p:cNvGrpSpPr/>
          <p:nvPr/>
        </p:nvGrpSpPr>
        <p:grpSpPr bwMode="auto">
          <a:xfrm>
            <a:off x="2438400" y="1309688"/>
            <a:ext cx="6172200" cy="457200"/>
            <a:chOff x="624" y="825"/>
            <a:chExt cx="3888" cy="288"/>
          </a:xfrm>
        </p:grpSpPr>
        <p:sp>
          <p:nvSpPr>
            <p:cNvPr id="60541" name="Text Box 5"/>
            <p:cNvSpPr txBox="1">
              <a:spLocks noChangeArrowheads="1"/>
            </p:cNvSpPr>
            <p:nvPr/>
          </p:nvSpPr>
          <p:spPr bwMode="auto">
            <a:xfrm>
              <a:off x="624" y="825"/>
              <a:ext cx="17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  <a:ea typeface="楷体_GB2312" pitchFamily="49" charset="-122"/>
                </a:rPr>
                <a:t>① </a:t>
              </a:r>
              <a:r>
                <a:rPr lang="zh-CN" altLang="en-US" sz="2400">
                  <a:latin typeface="Times New Roman" panose="02020603050405020304" pitchFamily="18" charset="0"/>
                </a:rPr>
                <a:t>集中刷新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542" name="Text Box 6"/>
            <p:cNvSpPr txBox="1">
              <a:spLocks noChangeArrowheads="1"/>
            </p:cNvSpPr>
            <p:nvPr/>
          </p:nvSpPr>
          <p:spPr bwMode="auto">
            <a:xfrm>
              <a:off x="1728" y="825"/>
              <a:ext cx="278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  <a:ea typeface="楷体_GB2312" pitchFamily="49" charset="-122"/>
                </a:rPr>
                <a:t>（</a:t>
              </a:r>
              <a:r>
                <a:rPr lang="zh-CN" altLang="en-US" sz="2400">
                  <a:latin typeface="Times New Roman" panose="02020603050405020304" pitchFamily="18" charset="0"/>
                </a:rPr>
                <a:t>存取周期为</a:t>
              </a:r>
              <a:r>
                <a:rPr lang="zh-CN" altLang="en-US" sz="2400">
                  <a:latin typeface="Times New Roman" panose="02020603050405020304" pitchFamily="18" charset="0"/>
                  <a:ea typeface="楷体_GB2312" pitchFamily="49" charset="-122"/>
                </a:rPr>
                <a:t>0.5 </a:t>
              </a:r>
              <a:r>
                <a:rPr lang="en-US" altLang="zh-CN" sz="2400">
                  <a:sym typeface="Symbol" panose="05050102010706020507" pitchFamily="18" charset="2"/>
                </a:rPr>
                <a:t></a:t>
              </a:r>
              <a:r>
                <a:rPr lang="en-US" altLang="zh-CN" sz="2400"/>
                <a:t>s</a:t>
              </a:r>
              <a:r>
                <a:rPr lang="en-US" altLang="zh-CN"/>
                <a:t> </a:t>
              </a:r>
              <a:r>
                <a:rPr lang="en-US" altLang="zh-CN" sz="2400">
                  <a:latin typeface="Times New Roman" panose="02020603050405020304" pitchFamily="18" charset="0"/>
                </a:rPr>
                <a:t>）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48839" name="Text Box 7"/>
          <p:cNvSpPr txBox="1">
            <a:spLocks noChangeArrowheads="1"/>
          </p:cNvSpPr>
          <p:nvPr/>
        </p:nvSpPr>
        <p:spPr bwMode="auto">
          <a:xfrm>
            <a:off x="2438400" y="6172201"/>
            <a:ext cx="7696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“死时间率”</a:t>
            </a:r>
            <a:r>
              <a:rPr lang="zh-CN" altLang="en-US" sz="2800">
                <a:latin typeface="Times New Roman" panose="02020603050405020304" pitchFamily="18" charset="0"/>
              </a:rPr>
              <a:t> 为     </a:t>
            </a:r>
            <a:r>
              <a:rPr lang="en-US" altLang="zh-CN" sz="2800">
                <a:latin typeface="Times New Roman" panose="02020603050405020304" pitchFamily="18" charset="0"/>
              </a:rPr>
              <a:t>128/4 000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 ×100% = 3.2%</a:t>
            </a:r>
            <a:endParaRPr lang="zh-CN" alt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840" name="Text Box 8"/>
          <p:cNvSpPr txBox="1">
            <a:spLocks noChangeArrowheads="1"/>
          </p:cNvSpPr>
          <p:nvPr/>
        </p:nvSpPr>
        <p:spPr bwMode="auto">
          <a:xfrm>
            <a:off x="3157538" y="5653088"/>
            <a:ext cx="72390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“死区”</a:t>
            </a:r>
            <a:r>
              <a:rPr lang="zh-CN" altLang="en-US" sz="2800">
                <a:latin typeface="Times New Roman" panose="02020603050405020304" pitchFamily="18" charset="0"/>
              </a:rPr>
              <a:t> 为     0.5 </a:t>
            </a:r>
            <a:r>
              <a:rPr lang="en-US" altLang="zh-CN" sz="2800">
                <a:sym typeface="Symbol" panose="05050102010706020507" pitchFamily="18" charset="2"/>
              </a:rPr>
              <a:t></a:t>
            </a:r>
            <a:r>
              <a:rPr lang="en-US" altLang="zh-CN" sz="2800"/>
              <a:t>s</a:t>
            </a:r>
            <a:r>
              <a:rPr lang="en-US" altLang="zh-CN"/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×128 = 64 </a:t>
            </a:r>
            <a:r>
              <a:rPr lang="en-US" altLang="zh-CN" sz="2800">
                <a:sym typeface="Symbol" panose="05050102010706020507" pitchFamily="18" charset="2"/>
              </a:rPr>
              <a:t></a:t>
            </a:r>
            <a:r>
              <a:rPr lang="en-US" altLang="zh-CN" sz="2800"/>
              <a:t>s</a:t>
            </a:r>
            <a:r>
              <a:rPr lang="en-US" altLang="zh-CN"/>
              <a:t> </a:t>
            </a:r>
            <a:endParaRPr lang="zh-CN" altLang="en-US"/>
          </a:p>
        </p:txBody>
      </p:sp>
      <p:grpSp>
        <p:nvGrpSpPr>
          <p:cNvPr id="248971" name="Group 139"/>
          <p:cNvGrpSpPr/>
          <p:nvPr/>
        </p:nvGrpSpPr>
        <p:grpSpPr bwMode="auto">
          <a:xfrm>
            <a:off x="2139950" y="1981200"/>
            <a:ext cx="7943850" cy="3619500"/>
            <a:chOff x="388" y="1248"/>
            <a:chExt cx="5004" cy="2280"/>
          </a:xfrm>
        </p:grpSpPr>
        <p:sp>
          <p:nvSpPr>
            <p:cNvPr id="60427" name="Line 10"/>
            <p:cNvSpPr>
              <a:spLocks noChangeShapeType="1"/>
            </p:cNvSpPr>
            <p:nvPr/>
          </p:nvSpPr>
          <p:spPr bwMode="auto">
            <a:xfrm flipV="1">
              <a:off x="3216" y="1271"/>
              <a:ext cx="1" cy="18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8" name="Rectangle 11"/>
            <p:cNvSpPr>
              <a:spLocks noChangeArrowheads="1"/>
            </p:cNvSpPr>
            <p:nvPr/>
          </p:nvSpPr>
          <p:spPr bwMode="auto">
            <a:xfrm>
              <a:off x="581" y="1662"/>
              <a:ext cx="532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29" name="Rectangle 12"/>
            <p:cNvSpPr>
              <a:spLocks noChangeArrowheads="1"/>
            </p:cNvSpPr>
            <p:nvPr/>
          </p:nvSpPr>
          <p:spPr bwMode="auto">
            <a:xfrm>
              <a:off x="388" y="1661"/>
              <a:ext cx="618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周期序号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30" name="Rectangle 13"/>
            <p:cNvSpPr>
              <a:spLocks noChangeArrowheads="1"/>
            </p:cNvSpPr>
            <p:nvPr/>
          </p:nvSpPr>
          <p:spPr bwMode="auto">
            <a:xfrm>
              <a:off x="527" y="2647"/>
              <a:ext cx="546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31" name="Rectangle 14"/>
            <p:cNvSpPr>
              <a:spLocks noChangeArrowheads="1"/>
            </p:cNvSpPr>
            <p:nvPr/>
          </p:nvSpPr>
          <p:spPr bwMode="auto">
            <a:xfrm>
              <a:off x="388" y="2478"/>
              <a:ext cx="618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地址序号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32" name="Line 15"/>
            <p:cNvSpPr>
              <a:spLocks noChangeShapeType="1"/>
            </p:cNvSpPr>
            <p:nvPr/>
          </p:nvSpPr>
          <p:spPr bwMode="auto">
            <a:xfrm>
              <a:off x="1164" y="1248"/>
              <a:ext cx="1" cy="2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33" name="Freeform 16"/>
            <p:cNvSpPr/>
            <p:nvPr/>
          </p:nvSpPr>
          <p:spPr bwMode="auto">
            <a:xfrm>
              <a:off x="1170" y="1821"/>
              <a:ext cx="1188" cy="1"/>
            </a:xfrm>
            <a:custGeom>
              <a:avLst/>
              <a:gdLst>
                <a:gd name="T0" fmla="*/ 0 w 1188"/>
                <a:gd name="T1" fmla="*/ 1 h 1"/>
                <a:gd name="T2" fmla="*/ 1188 w 118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8" h="1">
                  <a:moveTo>
                    <a:pt x="0" y="1"/>
                  </a:moveTo>
                  <a:lnTo>
                    <a:pt x="118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34" name="Rectangle 17"/>
            <p:cNvSpPr>
              <a:spLocks noChangeArrowheads="1"/>
            </p:cNvSpPr>
            <p:nvPr/>
          </p:nvSpPr>
          <p:spPr bwMode="auto">
            <a:xfrm>
              <a:off x="4087" y="2096"/>
              <a:ext cx="226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35" name="Rectangle 18"/>
            <p:cNvSpPr>
              <a:spLocks noChangeArrowheads="1"/>
            </p:cNvSpPr>
            <p:nvPr/>
          </p:nvSpPr>
          <p:spPr bwMode="auto">
            <a:xfrm>
              <a:off x="4167" y="2148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436" name="Rectangle 19"/>
            <p:cNvSpPr>
              <a:spLocks noChangeArrowheads="1"/>
            </p:cNvSpPr>
            <p:nvPr/>
          </p:nvSpPr>
          <p:spPr bwMode="auto">
            <a:xfrm>
              <a:off x="4213" y="2238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37" name="Rectangle 20"/>
            <p:cNvSpPr>
              <a:spLocks noChangeArrowheads="1"/>
            </p:cNvSpPr>
            <p:nvPr/>
          </p:nvSpPr>
          <p:spPr bwMode="auto">
            <a:xfrm>
              <a:off x="1301" y="1629"/>
              <a:ext cx="146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38" name="Rectangle 21"/>
            <p:cNvSpPr>
              <a:spLocks noChangeArrowheads="1"/>
            </p:cNvSpPr>
            <p:nvPr/>
          </p:nvSpPr>
          <p:spPr bwMode="auto">
            <a:xfrm>
              <a:off x="1219" y="1649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39" name="Rectangle 22"/>
            <p:cNvSpPr>
              <a:spLocks noChangeArrowheads="1"/>
            </p:cNvSpPr>
            <p:nvPr/>
          </p:nvSpPr>
          <p:spPr bwMode="auto">
            <a:xfrm>
              <a:off x="1473" y="1619"/>
              <a:ext cx="1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40" name="Rectangle 23"/>
            <p:cNvSpPr>
              <a:spLocks noChangeArrowheads="1"/>
            </p:cNvSpPr>
            <p:nvPr/>
          </p:nvSpPr>
          <p:spPr bwMode="auto">
            <a:xfrm>
              <a:off x="1390" y="1649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41" name="Rectangle 24"/>
            <p:cNvSpPr>
              <a:spLocks noChangeArrowheads="1"/>
            </p:cNvSpPr>
            <p:nvPr/>
          </p:nvSpPr>
          <p:spPr bwMode="auto">
            <a:xfrm>
              <a:off x="1659" y="1629"/>
              <a:ext cx="146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42" name="Rectangle 25"/>
            <p:cNvSpPr>
              <a:spLocks noChangeArrowheads="1"/>
            </p:cNvSpPr>
            <p:nvPr/>
          </p:nvSpPr>
          <p:spPr bwMode="auto">
            <a:xfrm>
              <a:off x="1577" y="1649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2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43" name="Rectangle 26"/>
            <p:cNvSpPr>
              <a:spLocks noChangeArrowheads="1"/>
            </p:cNvSpPr>
            <p:nvPr/>
          </p:nvSpPr>
          <p:spPr bwMode="auto">
            <a:xfrm>
              <a:off x="2429" y="1593"/>
              <a:ext cx="213" cy="3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44" name="Rectangle 27"/>
            <p:cNvSpPr>
              <a:spLocks noChangeArrowheads="1"/>
            </p:cNvSpPr>
            <p:nvPr/>
          </p:nvSpPr>
          <p:spPr bwMode="auto">
            <a:xfrm>
              <a:off x="2951" y="1644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3</a:t>
              </a:r>
              <a:r>
                <a:rPr lang="en-US" altLang="zh-CN" sz="1600">
                  <a:latin typeface="Times New Roman" panose="02020603050405020304" pitchFamily="18" charset="0"/>
                </a:rPr>
                <a:t>871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45" name="Rectangle 28"/>
            <p:cNvSpPr>
              <a:spLocks noChangeArrowheads="1"/>
            </p:cNvSpPr>
            <p:nvPr/>
          </p:nvSpPr>
          <p:spPr bwMode="auto">
            <a:xfrm>
              <a:off x="3216" y="1593"/>
              <a:ext cx="22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46" name="Rectangle 29"/>
            <p:cNvSpPr>
              <a:spLocks noChangeArrowheads="1"/>
            </p:cNvSpPr>
            <p:nvPr/>
          </p:nvSpPr>
          <p:spPr bwMode="auto">
            <a:xfrm>
              <a:off x="3259" y="1644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3</a:t>
              </a:r>
              <a:r>
                <a:rPr lang="en-US" altLang="zh-CN" sz="1600">
                  <a:latin typeface="Times New Roman" panose="02020603050405020304" pitchFamily="18" charset="0"/>
                </a:rPr>
                <a:t>872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47" name="Rectangle 30"/>
            <p:cNvSpPr>
              <a:spLocks noChangeArrowheads="1"/>
            </p:cNvSpPr>
            <p:nvPr/>
          </p:nvSpPr>
          <p:spPr bwMode="auto">
            <a:xfrm>
              <a:off x="4308" y="1556"/>
              <a:ext cx="148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48" name="Rectangle 31"/>
            <p:cNvSpPr>
              <a:spLocks noChangeArrowheads="1"/>
            </p:cNvSpPr>
            <p:nvPr/>
          </p:nvSpPr>
          <p:spPr bwMode="auto">
            <a:xfrm>
              <a:off x="4356" y="1651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49" name="Rectangle 32"/>
            <p:cNvSpPr>
              <a:spLocks noChangeArrowheads="1"/>
            </p:cNvSpPr>
            <p:nvPr/>
          </p:nvSpPr>
          <p:spPr bwMode="auto">
            <a:xfrm>
              <a:off x="4525" y="1556"/>
              <a:ext cx="146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50" name="Rectangle 33"/>
            <p:cNvSpPr>
              <a:spLocks noChangeArrowheads="1"/>
            </p:cNvSpPr>
            <p:nvPr/>
          </p:nvSpPr>
          <p:spPr bwMode="auto">
            <a:xfrm>
              <a:off x="4572" y="1651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51" name="Freeform 34"/>
            <p:cNvSpPr/>
            <p:nvPr/>
          </p:nvSpPr>
          <p:spPr bwMode="auto">
            <a:xfrm>
              <a:off x="2796" y="1991"/>
              <a:ext cx="1" cy="703"/>
            </a:xfrm>
            <a:custGeom>
              <a:avLst/>
              <a:gdLst>
                <a:gd name="T0" fmla="*/ 0 w 1"/>
                <a:gd name="T1" fmla="*/ 0 h 703"/>
                <a:gd name="T2" fmla="*/ 0 w 1"/>
                <a:gd name="T3" fmla="*/ 703 h 7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03">
                  <a:moveTo>
                    <a:pt x="0" y="0"/>
                  </a:moveTo>
                  <a:lnTo>
                    <a:pt x="0" y="703"/>
                  </a:lnTo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2" name="Rectangle 35"/>
            <p:cNvSpPr>
              <a:spLocks noChangeArrowheads="1"/>
            </p:cNvSpPr>
            <p:nvPr/>
          </p:nvSpPr>
          <p:spPr bwMode="auto">
            <a:xfrm>
              <a:off x="2855" y="2148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453" name="Rectangle 36"/>
            <p:cNvSpPr>
              <a:spLocks noChangeArrowheads="1"/>
            </p:cNvSpPr>
            <p:nvPr/>
          </p:nvSpPr>
          <p:spPr bwMode="auto">
            <a:xfrm>
              <a:off x="2914" y="2238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54" name="Rectangle 37"/>
            <p:cNvSpPr>
              <a:spLocks noChangeArrowheads="1"/>
            </p:cNvSpPr>
            <p:nvPr/>
          </p:nvSpPr>
          <p:spPr bwMode="auto">
            <a:xfrm>
              <a:off x="3070" y="2148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455" name="Rectangle 38"/>
            <p:cNvSpPr>
              <a:spLocks noChangeArrowheads="1"/>
            </p:cNvSpPr>
            <p:nvPr/>
          </p:nvSpPr>
          <p:spPr bwMode="auto">
            <a:xfrm>
              <a:off x="3129" y="2238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56" name="Rectangle 39"/>
            <p:cNvSpPr>
              <a:spLocks noChangeArrowheads="1"/>
            </p:cNvSpPr>
            <p:nvPr/>
          </p:nvSpPr>
          <p:spPr bwMode="auto">
            <a:xfrm>
              <a:off x="3213" y="2096"/>
              <a:ext cx="227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57" name="Rectangle 40"/>
            <p:cNvSpPr>
              <a:spLocks noChangeArrowheads="1"/>
            </p:cNvSpPr>
            <p:nvPr/>
          </p:nvSpPr>
          <p:spPr bwMode="auto">
            <a:xfrm>
              <a:off x="3282" y="2148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458" name="Rectangle 41"/>
            <p:cNvSpPr>
              <a:spLocks noChangeArrowheads="1"/>
            </p:cNvSpPr>
            <p:nvPr/>
          </p:nvSpPr>
          <p:spPr bwMode="auto">
            <a:xfrm>
              <a:off x="3335" y="2238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59" name="Rectangle 42"/>
            <p:cNvSpPr>
              <a:spLocks noChangeArrowheads="1"/>
            </p:cNvSpPr>
            <p:nvPr/>
          </p:nvSpPr>
          <p:spPr bwMode="auto">
            <a:xfrm>
              <a:off x="3418" y="2096"/>
              <a:ext cx="226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60" name="Rectangle 43"/>
            <p:cNvSpPr>
              <a:spLocks noChangeArrowheads="1"/>
            </p:cNvSpPr>
            <p:nvPr/>
          </p:nvSpPr>
          <p:spPr bwMode="auto">
            <a:xfrm>
              <a:off x="3484" y="2148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461" name="Rectangle 44"/>
            <p:cNvSpPr>
              <a:spLocks noChangeArrowheads="1"/>
            </p:cNvSpPr>
            <p:nvPr/>
          </p:nvSpPr>
          <p:spPr bwMode="auto">
            <a:xfrm>
              <a:off x="3544" y="2238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62" name="Line 45"/>
            <p:cNvSpPr>
              <a:spLocks noChangeShapeType="1"/>
            </p:cNvSpPr>
            <p:nvPr/>
          </p:nvSpPr>
          <p:spPr bwMode="auto">
            <a:xfrm flipH="1">
              <a:off x="4098" y="1988"/>
              <a:ext cx="0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3" name="Line 46"/>
            <p:cNvSpPr>
              <a:spLocks noChangeShapeType="1"/>
            </p:cNvSpPr>
            <p:nvPr/>
          </p:nvSpPr>
          <p:spPr bwMode="auto">
            <a:xfrm>
              <a:off x="2716" y="1822"/>
              <a:ext cx="999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4" name="Freeform 47"/>
            <p:cNvSpPr/>
            <p:nvPr/>
          </p:nvSpPr>
          <p:spPr bwMode="auto">
            <a:xfrm>
              <a:off x="3966" y="1821"/>
              <a:ext cx="816" cy="1"/>
            </a:xfrm>
            <a:custGeom>
              <a:avLst/>
              <a:gdLst>
                <a:gd name="T0" fmla="*/ 0 w 816"/>
                <a:gd name="T1" fmla="*/ 1 h 1"/>
                <a:gd name="T2" fmla="*/ 816 w 8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6" h="1">
                  <a:moveTo>
                    <a:pt x="0" y="1"/>
                  </a:moveTo>
                  <a:lnTo>
                    <a:pt x="816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5" name="Rectangle 48"/>
            <p:cNvSpPr>
              <a:spLocks noChangeArrowheads="1"/>
            </p:cNvSpPr>
            <p:nvPr/>
          </p:nvSpPr>
          <p:spPr bwMode="auto">
            <a:xfrm>
              <a:off x="4097" y="1556"/>
              <a:ext cx="227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66" name="Rectangle 49"/>
            <p:cNvSpPr>
              <a:spLocks noChangeArrowheads="1"/>
            </p:cNvSpPr>
            <p:nvPr/>
          </p:nvSpPr>
          <p:spPr bwMode="auto">
            <a:xfrm>
              <a:off x="4009" y="1649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3999</a:t>
              </a:r>
              <a:endParaRPr lang="zh-CN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60467" name="Rectangle 50"/>
            <p:cNvSpPr>
              <a:spLocks noChangeArrowheads="1"/>
            </p:cNvSpPr>
            <p:nvPr/>
          </p:nvSpPr>
          <p:spPr bwMode="auto">
            <a:xfrm>
              <a:off x="1212" y="2467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68" name="Rectangle 51"/>
            <p:cNvSpPr>
              <a:spLocks noChangeArrowheads="1"/>
            </p:cNvSpPr>
            <p:nvPr/>
          </p:nvSpPr>
          <p:spPr bwMode="auto">
            <a:xfrm>
              <a:off x="2429" y="2454"/>
              <a:ext cx="186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69" name="Rectangle 52"/>
            <p:cNvSpPr>
              <a:spLocks noChangeArrowheads="1"/>
            </p:cNvSpPr>
            <p:nvPr/>
          </p:nvSpPr>
          <p:spPr bwMode="auto">
            <a:xfrm>
              <a:off x="2867" y="2516"/>
              <a:ext cx="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>
                  <a:latin typeface="Times New Roman" panose="02020603050405020304" pitchFamily="18" charset="0"/>
                </a:rPr>
                <a:t>V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70" name="Rectangle 53"/>
            <p:cNvSpPr>
              <a:spLocks noChangeArrowheads="1"/>
            </p:cNvSpPr>
            <p:nvPr/>
          </p:nvSpPr>
          <p:spPr bwMode="auto">
            <a:xfrm>
              <a:off x="2945" y="2454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71" name="Rectangle 54"/>
            <p:cNvSpPr>
              <a:spLocks noChangeArrowheads="1"/>
            </p:cNvSpPr>
            <p:nvPr/>
          </p:nvSpPr>
          <p:spPr bwMode="auto">
            <a:xfrm>
              <a:off x="3051" y="2516"/>
              <a:ext cx="128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>
                  <a:latin typeface="Times New Roman" panose="02020603050405020304" pitchFamily="18" charset="0"/>
                </a:rPr>
                <a:t>W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72" name="Rectangle 55"/>
            <p:cNvSpPr>
              <a:spLocks noChangeArrowheads="1"/>
            </p:cNvSpPr>
            <p:nvPr/>
          </p:nvSpPr>
          <p:spPr bwMode="auto">
            <a:xfrm>
              <a:off x="3245" y="2454"/>
              <a:ext cx="186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73" name="Rectangle 56"/>
            <p:cNvSpPr>
              <a:spLocks noChangeArrowheads="1"/>
            </p:cNvSpPr>
            <p:nvPr/>
          </p:nvSpPr>
          <p:spPr bwMode="auto">
            <a:xfrm>
              <a:off x="3292" y="2516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74" name="Rectangle 57"/>
            <p:cNvSpPr>
              <a:spLocks noChangeArrowheads="1"/>
            </p:cNvSpPr>
            <p:nvPr/>
          </p:nvSpPr>
          <p:spPr bwMode="auto">
            <a:xfrm>
              <a:off x="3427" y="2454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75" name="Rectangle 58"/>
            <p:cNvSpPr>
              <a:spLocks noChangeArrowheads="1"/>
            </p:cNvSpPr>
            <p:nvPr/>
          </p:nvSpPr>
          <p:spPr bwMode="auto">
            <a:xfrm>
              <a:off x="3494" y="2516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76" name="Rectangle 59"/>
            <p:cNvSpPr>
              <a:spLocks noChangeArrowheads="1"/>
            </p:cNvSpPr>
            <p:nvPr/>
          </p:nvSpPr>
          <p:spPr bwMode="auto">
            <a:xfrm>
              <a:off x="4116" y="2454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77" name="Rectangle 60"/>
            <p:cNvSpPr>
              <a:spLocks noChangeArrowheads="1"/>
            </p:cNvSpPr>
            <p:nvPr/>
          </p:nvSpPr>
          <p:spPr bwMode="auto">
            <a:xfrm>
              <a:off x="4105" y="2516"/>
              <a:ext cx="1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>
                  <a:latin typeface="Times New Roman" panose="02020603050405020304" pitchFamily="18" charset="0"/>
                </a:rPr>
                <a:t>127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478" name="Rectangle 61"/>
            <p:cNvSpPr>
              <a:spLocks noChangeArrowheads="1"/>
            </p:cNvSpPr>
            <p:nvPr/>
          </p:nvSpPr>
          <p:spPr bwMode="auto">
            <a:xfrm>
              <a:off x="1791" y="1265"/>
              <a:ext cx="71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79" name="Rectangle 62"/>
            <p:cNvSpPr>
              <a:spLocks noChangeArrowheads="1"/>
            </p:cNvSpPr>
            <p:nvPr/>
          </p:nvSpPr>
          <p:spPr bwMode="auto">
            <a:xfrm>
              <a:off x="1781" y="1299"/>
              <a:ext cx="154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读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0" name="Rectangle 63"/>
            <p:cNvSpPr>
              <a:spLocks noChangeArrowheads="1"/>
            </p:cNvSpPr>
            <p:nvPr/>
          </p:nvSpPr>
          <p:spPr bwMode="auto">
            <a:xfrm>
              <a:off x="1940" y="1299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>
                  <a:latin typeface="Times New Roman" panose="02020603050405020304" pitchFamily="18" charset="0"/>
                </a:rPr>
                <a:t>/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1" name="Rectangle 64"/>
            <p:cNvSpPr>
              <a:spLocks noChangeArrowheads="1"/>
            </p:cNvSpPr>
            <p:nvPr/>
          </p:nvSpPr>
          <p:spPr bwMode="auto">
            <a:xfrm>
              <a:off x="1984" y="1299"/>
              <a:ext cx="618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写或维持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2" name="Rectangle 65"/>
            <p:cNvSpPr>
              <a:spLocks noChangeArrowheads="1"/>
            </p:cNvSpPr>
            <p:nvPr/>
          </p:nvSpPr>
          <p:spPr bwMode="auto">
            <a:xfrm>
              <a:off x="3357" y="1288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83" name="Rectangle 66"/>
            <p:cNvSpPr>
              <a:spLocks noChangeArrowheads="1"/>
            </p:cNvSpPr>
            <p:nvPr/>
          </p:nvSpPr>
          <p:spPr bwMode="auto">
            <a:xfrm>
              <a:off x="3606" y="1299"/>
              <a:ext cx="309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刷新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4" name="Rectangle 67"/>
            <p:cNvSpPr>
              <a:spLocks noChangeArrowheads="1"/>
            </p:cNvSpPr>
            <p:nvPr/>
          </p:nvSpPr>
          <p:spPr bwMode="auto">
            <a:xfrm>
              <a:off x="4528" y="1266"/>
              <a:ext cx="709" cy="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85" name="Rectangle 68"/>
            <p:cNvSpPr>
              <a:spLocks noChangeArrowheads="1"/>
            </p:cNvSpPr>
            <p:nvPr/>
          </p:nvSpPr>
          <p:spPr bwMode="auto">
            <a:xfrm>
              <a:off x="4581" y="1299"/>
              <a:ext cx="154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读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6" name="Rectangle 69"/>
            <p:cNvSpPr>
              <a:spLocks noChangeArrowheads="1"/>
            </p:cNvSpPr>
            <p:nvPr/>
          </p:nvSpPr>
          <p:spPr bwMode="auto">
            <a:xfrm>
              <a:off x="4732" y="1299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>
                  <a:latin typeface="Times New Roman" panose="02020603050405020304" pitchFamily="18" charset="0"/>
                </a:rPr>
                <a:t>/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7" name="Rectangle 70"/>
            <p:cNvSpPr>
              <a:spLocks noChangeArrowheads="1"/>
            </p:cNvSpPr>
            <p:nvPr/>
          </p:nvSpPr>
          <p:spPr bwMode="auto">
            <a:xfrm>
              <a:off x="4774" y="1299"/>
              <a:ext cx="618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/>
                <a:t>写或维持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488" name="Rectangle 71"/>
            <p:cNvSpPr>
              <a:spLocks noChangeArrowheads="1"/>
            </p:cNvSpPr>
            <p:nvPr/>
          </p:nvSpPr>
          <p:spPr bwMode="auto">
            <a:xfrm>
              <a:off x="1341" y="3003"/>
              <a:ext cx="1196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89" name="Rectangle 72"/>
            <p:cNvSpPr>
              <a:spLocks noChangeArrowheads="1"/>
            </p:cNvSpPr>
            <p:nvPr/>
          </p:nvSpPr>
          <p:spPr bwMode="auto">
            <a:xfrm>
              <a:off x="1505" y="2987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3</a:t>
              </a:r>
              <a:r>
                <a:rPr lang="en-US" altLang="zh-CN" sz="1600">
                  <a:latin typeface="Times New Roman" panose="02020603050405020304" pitchFamily="18" charset="0"/>
                </a:rPr>
                <a:t>872</a:t>
              </a:r>
              <a:endParaRPr lang="en-US" altLang="zh-CN" sz="1600">
                <a:latin typeface="Times New Roman" panose="02020603050405020304" pitchFamily="18" charset="0"/>
              </a:endParaRPr>
            </a:p>
          </p:txBody>
        </p:sp>
        <p:sp>
          <p:nvSpPr>
            <p:cNvPr id="60490" name="Rectangle 73"/>
            <p:cNvSpPr>
              <a:spLocks noChangeArrowheads="1"/>
            </p:cNvSpPr>
            <p:nvPr/>
          </p:nvSpPr>
          <p:spPr bwMode="auto">
            <a:xfrm>
              <a:off x="1795" y="2987"/>
              <a:ext cx="38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/>
                <a:t>个周期</a:t>
              </a:r>
              <a:endParaRPr lang="zh-CN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60491" name="Rectangle 75"/>
            <p:cNvSpPr>
              <a:spLocks noChangeArrowheads="1"/>
            </p:cNvSpPr>
            <p:nvPr/>
          </p:nvSpPr>
          <p:spPr bwMode="auto">
            <a:xfrm>
              <a:off x="2154" y="2987"/>
              <a:ext cx="7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（19</a:t>
              </a:r>
              <a:r>
                <a:rPr lang="en-US" altLang="zh-CN" sz="1600">
                  <a:latin typeface="Times New Roman" panose="02020603050405020304" pitchFamily="18" charset="0"/>
                </a:rPr>
                <a:t>36 </a:t>
              </a:r>
              <a:r>
                <a:rPr lang="en-US" altLang="zh-CN" sz="1600">
                  <a:sym typeface="Symbol" panose="05050102010706020507" pitchFamily="18" charset="2"/>
                </a:rPr>
                <a:t></a:t>
              </a:r>
              <a:r>
                <a:rPr lang="en-US" altLang="zh-CN" sz="1600"/>
                <a:t>s</a:t>
              </a:r>
              <a:r>
                <a:rPr lang="zh-CN" altLang="en-US" sz="1600"/>
                <a:t>）</a:t>
              </a:r>
              <a:r>
                <a:rPr lang="zh-CN" altLang="en-US"/>
                <a:t> </a:t>
              </a:r>
              <a:endParaRPr lang="zh-CN" altLang="en-US"/>
            </a:p>
          </p:txBody>
        </p:sp>
        <p:sp>
          <p:nvSpPr>
            <p:cNvPr id="60492" name="Rectangle 77"/>
            <p:cNvSpPr>
              <a:spLocks noChangeArrowheads="1"/>
            </p:cNvSpPr>
            <p:nvPr/>
          </p:nvSpPr>
          <p:spPr bwMode="auto">
            <a:xfrm>
              <a:off x="3250" y="2987"/>
              <a:ext cx="1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128</a:t>
              </a:r>
              <a:endParaRPr lang="en-US" altLang="zh-CN" sz="1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493" name="Rectangle 78"/>
            <p:cNvSpPr>
              <a:spLocks noChangeArrowheads="1"/>
            </p:cNvSpPr>
            <p:nvPr/>
          </p:nvSpPr>
          <p:spPr bwMode="auto">
            <a:xfrm>
              <a:off x="3467" y="2987"/>
              <a:ext cx="42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solidFill>
                    <a:schemeClr val="folHlink"/>
                  </a:solidFill>
                </a:rPr>
                <a:t>个周期</a:t>
              </a:r>
              <a:endParaRPr lang="zh-CN" altLang="en-US" sz="1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494" name="Rectangle 80"/>
            <p:cNvSpPr>
              <a:spLocks noChangeArrowheads="1"/>
            </p:cNvSpPr>
            <p:nvPr/>
          </p:nvSpPr>
          <p:spPr bwMode="auto">
            <a:xfrm>
              <a:off x="3815" y="2987"/>
              <a:ext cx="5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（</a:t>
              </a:r>
              <a:r>
                <a:rPr lang="en-US" altLang="zh-CN" sz="1600">
                  <a:latin typeface="Times New Roman" panose="02020603050405020304" pitchFamily="18" charset="0"/>
                </a:rPr>
                <a:t>64 </a:t>
              </a:r>
              <a:r>
                <a:rPr lang="en-US" altLang="zh-CN" sz="1600">
                  <a:sym typeface="Symbol" panose="05050102010706020507" pitchFamily="18" charset="2"/>
                </a:rPr>
                <a:t></a:t>
              </a:r>
              <a:r>
                <a:rPr lang="en-US" altLang="zh-CN" sz="1600"/>
                <a:t>s</a:t>
              </a:r>
              <a:r>
                <a:rPr lang="zh-CN" altLang="en-US" sz="1600"/>
                <a:t>）</a:t>
              </a:r>
              <a:r>
                <a:rPr lang="zh-CN" altLang="en-US"/>
                <a:t> </a:t>
              </a:r>
              <a:endParaRPr lang="zh-CN" altLang="en-US"/>
            </a:p>
          </p:txBody>
        </p:sp>
        <p:sp>
          <p:nvSpPr>
            <p:cNvPr id="60495" name="Rectangle 82"/>
            <p:cNvSpPr>
              <a:spLocks noChangeArrowheads="1"/>
            </p:cNvSpPr>
            <p:nvPr/>
          </p:nvSpPr>
          <p:spPr bwMode="auto">
            <a:xfrm>
              <a:off x="2403" y="3237"/>
              <a:ext cx="1247" cy="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496" name="Rectangle 83"/>
            <p:cNvSpPr>
              <a:spLocks noChangeArrowheads="1"/>
            </p:cNvSpPr>
            <p:nvPr/>
          </p:nvSpPr>
          <p:spPr bwMode="auto">
            <a:xfrm>
              <a:off x="2016" y="3290"/>
              <a:ext cx="92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>
                  <a:solidFill>
                    <a:schemeClr val="folHlink"/>
                  </a:solidFill>
                </a:rPr>
                <a:t>刷新时间间隔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497" name="Rectangle 84"/>
            <p:cNvSpPr>
              <a:spLocks noChangeArrowheads="1"/>
            </p:cNvSpPr>
            <p:nvPr/>
          </p:nvSpPr>
          <p:spPr bwMode="auto">
            <a:xfrm>
              <a:off x="2880" y="3290"/>
              <a:ext cx="154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>
                  <a:solidFill>
                    <a:schemeClr val="folHlink"/>
                  </a:solidFill>
                </a:rPr>
                <a:t>（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498" name="Rectangle 85"/>
            <p:cNvSpPr>
              <a:spLocks noChangeArrowheads="1"/>
            </p:cNvSpPr>
            <p:nvPr/>
          </p:nvSpPr>
          <p:spPr bwMode="auto">
            <a:xfrm>
              <a:off x="3042" y="3293"/>
              <a:ext cx="455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 </a:t>
              </a:r>
              <a:r>
                <a:rPr lang="en-US" altLang="zh-CN" sz="19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m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499" name="Rectangle 86"/>
            <p:cNvSpPr>
              <a:spLocks noChangeArrowheads="1"/>
            </p:cNvSpPr>
            <p:nvPr/>
          </p:nvSpPr>
          <p:spPr bwMode="auto">
            <a:xfrm>
              <a:off x="3303" y="3293"/>
              <a:ext cx="203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500" name="Rectangle 87"/>
            <p:cNvSpPr>
              <a:spLocks noChangeArrowheads="1"/>
            </p:cNvSpPr>
            <p:nvPr/>
          </p:nvSpPr>
          <p:spPr bwMode="auto">
            <a:xfrm>
              <a:off x="3351" y="3290"/>
              <a:ext cx="154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900">
                  <a:solidFill>
                    <a:schemeClr val="folHlink"/>
                  </a:solidFill>
                </a:rPr>
                <a:t>）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0501" name="Rectangle 88"/>
            <p:cNvSpPr>
              <a:spLocks noChangeArrowheads="1"/>
            </p:cNvSpPr>
            <p:nvPr/>
          </p:nvSpPr>
          <p:spPr bwMode="auto">
            <a:xfrm>
              <a:off x="4697" y="2915"/>
              <a:ext cx="399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502" name="Rectangle 89"/>
            <p:cNvSpPr>
              <a:spLocks noChangeArrowheads="1"/>
            </p:cNvSpPr>
            <p:nvPr/>
          </p:nvSpPr>
          <p:spPr bwMode="auto">
            <a:xfrm>
              <a:off x="4572" y="3076"/>
              <a:ext cx="5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800"/>
                <a:t>刷新序号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60503" name="Freeform 90"/>
            <p:cNvSpPr/>
            <p:nvPr/>
          </p:nvSpPr>
          <p:spPr bwMode="auto">
            <a:xfrm>
              <a:off x="4332" y="2621"/>
              <a:ext cx="421" cy="421"/>
            </a:xfrm>
            <a:custGeom>
              <a:avLst/>
              <a:gdLst>
                <a:gd name="T0" fmla="*/ 421 w 421"/>
                <a:gd name="T1" fmla="*/ 421 h 421"/>
                <a:gd name="T2" fmla="*/ 0 w 421"/>
                <a:gd name="T3" fmla="*/ 0 h 4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1" h="421">
                  <a:moveTo>
                    <a:pt x="421" y="421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  <a:headEnd type="none" w="med" len="med"/>
              <a:tailEnd type="stealth" w="med" len="med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04" name="Freeform 91"/>
            <p:cNvSpPr/>
            <p:nvPr/>
          </p:nvSpPr>
          <p:spPr bwMode="auto">
            <a:xfrm>
              <a:off x="1161" y="3402"/>
              <a:ext cx="750" cy="1"/>
            </a:xfrm>
            <a:custGeom>
              <a:avLst/>
              <a:gdLst>
                <a:gd name="T0" fmla="*/ 750 w 750"/>
                <a:gd name="T1" fmla="*/ 0 h 1"/>
                <a:gd name="T2" fmla="*/ 0 w 75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0" h="1">
                  <a:moveTo>
                    <a:pt x="75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05" name="Line 92"/>
            <p:cNvSpPr>
              <a:spLocks noChangeShapeType="1"/>
            </p:cNvSpPr>
            <p:nvPr/>
          </p:nvSpPr>
          <p:spPr bwMode="auto">
            <a:xfrm>
              <a:off x="3575" y="3391"/>
              <a:ext cx="75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06" name="Line 93"/>
            <p:cNvSpPr>
              <a:spLocks noChangeShapeType="1"/>
            </p:cNvSpPr>
            <p:nvPr/>
          </p:nvSpPr>
          <p:spPr bwMode="auto">
            <a:xfrm>
              <a:off x="1012" y="1759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07" name="Line 94"/>
            <p:cNvSpPr>
              <a:spLocks noChangeShapeType="1"/>
            </p:cNvSpPr>
            <p:nvPr/>
          </p:nvSpPr>
          <p:spPr bwMode="auto">
            <a:xfrm>
              <a:off x="1012" y="2568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08" name="Line 95"/>
            <p:cNvSpPr>
              <a:spLocks noChangeShapeType="1"/>
            </p:cNvSpPr>
            <p:nvPr/>
          </p:nvSpPr>
          <p:spPr bwMode="auto">
            <a:xfrm flipH="1">
              <a:off x="1156" y="1397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09" name="Line 96"/>
            <p:cNvSpPr>
              <a:spLocks noChangeShapeType="1"/>
            </p:cNvSpPr>
            <p:nvPr/>
          </p:nvSpPr>
          <p:spPr bwMode="auto">
            <a:xfrm>
              <a:off x="2712" y="1397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0" name="Line 97"/>
            <p:cNvSpPr>
              <a:spLocks noChangeShapeType="1"/>
            </p:cNvSpPr>
            <p:nvPr/>
          </p:nvSpPr>
          <p:spPr bwMode="auto">
            <a:xfrm flipH="1">
              <a:off x="3219" y="1395"/>
              <a:ext cx="31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1" name="Line 98"/>
            <p:cNvSpPr>
              <a:spLocks noChangeShapeType="1"/>
            </p:cNvSpPr>
            <p:nvPr/>
          </p:nvSpPr>
          <p:spPr bwMode="auto">
            <a:xfrm>
              <a:off x="3996" y="1407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2" name="Line 99"/>
            <p:cNvSpPr>
              <a:spLocks noChangeShapeType="1"/>
            </p:cNvSpPr>
            <p:nvPr/>
          </p:nvSpPr>
          <p:spPr bwMode="auto">
            <a:xfrm flipH="1">
              <a:off x="4339" y="1408"/>
              <a:ext cx="21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3" name="Text Box 100"/>
            <p:cNvSpPr txBox="1">
              <a:spLocks noChangeArrowheads="1"/>
            </p:cNvSpPr>
            <p:nvPr/>
          </p:nvSpPr>
          <p:spPr bwMode="auto">
            <a:xfrm>
              <a:off x="2422" y="1669"/>
              <a:ext cx="38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•••</a:t>
              </a:r>
              <a:endParaRPr lang="zh-CN" alt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14" name="Text Box 101"/>
            <p:cNvSpPr txBox="1">
              <a:spLocks noChangeArrowheads="1"/>
            </p:cNvSpPr>
            <p:nvPr/>
          </p:nvSpPr>
          <p:spPr bwMode="auto">
            <a:xfrm>
              <a:off x="3729" y="1665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•••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0515" name="Freeform 102"/>
            <p:cNvSpPr/>
            <p:nvPr/>
          </p:nvSpPr>
          <p:spPr bwMode="auto">
            <a:xfrm>
              <a:off x="1158" y="2958"/>
              <a:ext cx="2055" cy="2"/>
            </a:xfrm>
            <a:custGeom>
              <a:avLst/>
              <a:gdLst>
                <a:gd name="T0" fmla="*/ 0 w 2055"/>
                <a:gd name="T1" fmla="*/ 0 h 2"/>
                <a:gd name="T2" fmla="*/ 2055 w 2055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5" h="2">
                  <a:moveTo>
                    <a:pt x="0" y="0"/>
                  </a:moveTo>
                  <a:lnTo>
                    <a:pt x="2055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6" name="Line 103"/>
            <p:cNvSpPr>
              <a:spLocks noChangeShapeType="1"/>
            </p:cNvSpPr>
            <p:nvPr/>
          </p:nvSpPr>
          <p:spPr bwMode="auto">
            <a:xfrm>
              <a:off x="3211" y="2959"/>
              <a:ext cx="111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7" name="Line 104"/>
            <p:cNvSpPr>
              <a:spLocks noChangeShapeType="1"/>
            </p:cNvSpPr>
            <p:nvPr/>
          </p:nvSpPr>
          <p:spPr bwMode="auto">
            <a:xfrm>
              <a:off x="3011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18" name="Line 105"/>
            <p:cNvSpPr>
              <a:spLocks noChangeShapeType="1"/>
            </p:cNvSpPr>
            <p:nvPr/>
          </p:nvSpPr>
          <p:spPr bwMode="auto">
            <a:xfrm>
              <a:off x="3012" y="2434"/>
              <a:ext cx="204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19" name="Line 106"/>
            <p:cNvSpPr>
              <a:spLocks noChangeShapeType="1"/>
            </p:cNvSpPr>
            <p:nvPr/>
          </p:nvSpPr>
          <p:spPr bwMode="auto">
            <a:xfrm>
              <a:off x="3214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20" name="Line 107"/>
            <p:cNvSpPr>
              <a:spLocks noChangeShapeType="1"/>
            </p:cNvSpPr>
            <p:nvPr/>
          </p:nvSpPr>
          <p:spPr bwMode="auto">
            <a:xfrm>
              <a:off x="3411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21" name="Line 108"/>
            <p:cNvSpPr>
              <a:spLocks noChangeShapeType="1"/>
            </p:cNvSpPr>
            <p:nvPr/>
          </p:nvSpPr>
          <p:spPr bwMode="auto">
            <a:xfrm>
              <a:off x="4105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22" name="Line 113"/>
            <p:cNvSpPr>
              <a:spLocks noChangeShapeType="1"/>
            </p:cNvSpPr>
            <p:nvPr/>
          </p:nvSpPr>
          <p:spPr bwMode="auto">
            <a:xfrm>
              <a:off x="3617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23" name="Rectangle 114"/>
            <p:cNvSpPr>
              <a:spLocks noChangeArrowheads="1"/>
            </p:cNvSpPr>
            <p:nvPr/>
          </p:nvSpPr>
          <p:spPr bwMode="auto">
            <a:xfrm>
              <a:off x="1222" y="2127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524" name="Rectangle 115"/>
            <p:cNvSpPr>
              <a:spLocks noChangeArrowheads="1"/>
            </p:cNvSpPr>
            <p:nvPr/>
          </p:nvSpPr>
          <p:spPr bwMode="auto">
            <a:xfrm>
              <a:off x="1281" y="2216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525" name="Rectangle 116"/>
            <p:cNvSpPr>
              <a:spLocks noChangeArrowheads="1"/>
            </p:cNvSpPr>
            <p:nvPr/>
          </p:nvSpPr>
          <p:spPr bwMode="auto">
            <a:xfrm>
              <a:off x="1234" y="2495"/>
              <a:ext cx="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>
                  <a:latin typeface="Times New Roman" panose="02020603050405020304" pitchFamily="18" charset="0"/>
                </a:rPr>
                <a:t>X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526" name="Freeform 117"/>
            <p:cNvSpPr/>
            <p:nvPr/>
          </p:nvSpPr>
          <p:spPr bwMode="auto">
            <a:xfrm>
              <a:off x="1377" y="1991"/>
              <a:ext cx="1" cy="703"/>
            </a:xfrm>
            <a:custGeom>
              <a:avLst/>
              <a:gdLst>
                <a:gd name="T0" fmla="*/ 1 w 1"/>
                <a:gd name="T1" fmla="*/ 0 h 703"/>
                <a:gd name="T2" fmla="*/ 0 w 1"/>
                <a:gd name="T3" fmla="*/ 703 h 7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03">
                  <a:moveTo>
                    <a:pt x="1" y="0"/>
                  </a:moveTo>
                  <a:lnTo>
                    <a:pt x="0" y="703"/>
                  </a:lnTo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27" name="Rectangle 118"/>
            <p:cNvSpPr>
              <a:spLocks noChangeArrowheads="1"/>
            </p:cNvSpPr>
            <p:nvPr/>
          </p:nvSpPr>
          <p:spPr bwMode="auto">
            <a:xfrm>
              <a:off x="1425" y="2473"/>
              <a:ext cx="18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0528" name="Rectangle 119"/>
            <p:cNvSpPr>
              <a:spLocks noChangeArrowheads="1"/>
            </p:cNvSpPr>
            <p:nvPr/>
          </p:nvSpPr>
          <p:spPr bwMode="auto">
            <a:xfrm>
              <a:off x="1435" y="2131"/>
              <a:ext cx="42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60529" name="Rectangle 120"/>
            <p:cNvSpPr>
              <a:spLocks noChangeArrowheads="1"/>
            </p:cNvSpPr>
            <p:nvPr/>
          </p:nvSpPr>
          <p:spPr bwMode="auto">
            <a:xfrm>
              <a:off x="1494" y="2222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530" name="Rectangle 121"/>
            <p:cNvSpPr>
              <a:spLocks noChangeArrowheads="1"/>
            </p:cNvSpPr>
            <p:nvPr/>
          </p:nvSpPr>
          <p:spPr bwMode="auto">
            <a:xfrm>
              <a:off x="1447" y="2495"/>
              <a:ext cx="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>
                  <a:latin typeface="Times New Roman" panose="02020603050405020304" pitchFamily="18" charset="0"/>
                </a:rPr>
                <a:t>Y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0531" name="Line 122"/>
            <p:cNvSpPr>
              <a:spLocks noChangeShapeType="1"/>
            </p:cNvSpPr>
            <p:nvPr/>
          </p:nvSpPr>
          <p:spPr bwMode="auto">
            <a:xfrm>
              <a:off x="1591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32" name="Line 123"/>
            <p:cNvSpPr>
              <a:spLocks noChangeShapeType="1"/>
            </p:cNvSpPr>
            <p:nvPr/>
          </p:nvSpPr>
          <p:spPr bwMode="auto">
            <a:xfrm>
              <a:off x="1385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33" name="Line 124"/>
            <p:cNvSpPr>
              <a:spLocks noChangeShapeType="1"/>
            </p:cNvSpPr>
            <p:nvPr/>
          </p:nvSpPr>
          <p:spPr bwMode="auto">
            <a:xfrm>
              <a:off x="3427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34" name="Text Box 125"/>
            <p:cNvSpPr txBox="1">
              <a:spLocks noChangeArrowheads="1"/>
            </p:cNvSpPr>
            <p:nvPr/>
          </p:nvSpPr>
          <p:spPr bwMode="auto">
            <a:xfrm>
              <a:off x="1980" y="2311"/>
              <a:ext cx="38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 • •</a:t>
              </a:r>
              <a:endParaRPr lang="zh-CN" altLang="en-US" sz="1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35" name="Text Box 126"/>
            <p:cNvSpPr txBox="1">
              <a:spLocks noChangeArrowheads="1"/>
            </p:cNvSpPr>
            <p:nvPr/>
          </p:nvSpPr>
          <p:spPr bwMode="auto">
            <a:xfrm>
              <a:off x="3747" y="2321"/>
              <a:ext cx="38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 • •</a:t>
              </a:r>
              <a:endParaRPr lang="zh-CN" altLang="en-US" sz="1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36" name="Freeform 127"/>
            <p:cNvSpPr/>
            <p:nvPr/>
          </p:nvSpPr>
          <p:spPr bwMode="auto">
            <a:xfrm>
              <a:off x="4332" y="1253"/>
              <a:ext cx="3" cy="2275"/>
            </a:xfrm>
            <a:custGeom>
              <a:avLst/>
              <a:gdLst>
                <a:gd name="T0" fmla="*/ 3 w 3"/>
                <a:gd name="T1" fmla="*/ 0 h 2275"/>
                <a:gd name="T2" fmla="*/ 0 w 3"/>
                <a:gd name="T3" fmla="*/ 2275 h 22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75">
                  <a:moveTo>
                    <a:pt x="3" y="0"/>
                  </a:moveTo>
                  <a:lnTo>
                    <a:pt x="0" y="227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37" name="Line 128"/>
            <p:cNvSpPr>
              <a:spLocks noChangeShapeType="1"/>
            </p:cNvSpPr>
            <p:nvPr/>
          </p:nvSpPr>
          <p:spPr bwMode="auto">
            <a:xfrm flipH="1">
              <a:off x="4549" y="1988"/>
              <a:ext cx="0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38" name="Line 129"/>
            <p:cNvSpPr>
              <a:spLocks noChangeShapeType="1"/>
            </p:cNvSpPr>
            <p:nvPr/>
          </p:nvSpPr>
          <p:spPr bwMode="auto">
            <a:xfrm flipH="1">
              <a:off x="4756" y="1988"/>
              <a:ext cx="0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39" name="Freeform 130"/>
            <p:cNvSpPr/>
            <p:nvPr/>
          </p:nvSpPr>
          <p:spPr bwMode="auto">
            <a:xfrm>
              <a:off x="1156" y="2435"/>
              <a:ext cx="203" cy="1"/>
            </a:xfrm>
            <a:custGeom>
              <a:avLst/>
              <a:gdLst>
                <a:gd name="T0" fmla="*/ 0 w 203"/>
                <a:gd name="T1" fmla="*/ 1 h 1"/>
                <a:gd name="T2" fmla="*/ 203 w 20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3" h="1">
                  <a:moveTo>
                    <a:pt x="0" y="1"/>
                  </a:moveTo>
                  <a:lnTo>
                    <a:pt x="20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0540" name="Freeform 131"/>
            <p:cNvSpPr/>
            <p:nvPr/>
          </p:nvSpPr>
          <p:spPr bwMode="auto">
            <a:xfrm>
              <a:off x="2787" y="2432"/>
              <a:ext cx="211" cy="4"/>
            </a:xfrm>
            <a:custGeom>
              <a:avLst/>
              <a:gdLst>
                <a:gd name="T0" fmla="*/ 0 w 211"/>
                <a:gd name="T1" fmla="*/ 4 h 4"/>
                <a:gd name="T2" fmla="*/ 211 w 2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4">
                  <a:moveTo>
                    <a:pt x="0" y="4"/>
                  </a:moveTo>
                  <a:lnTo>
                    <a:pt x="21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48965" name="Text Box 133"/>
          <p:cNvSpPr txBox="1">
            <a:spLocks noChangeArrowheads="1"/>
          </p:cNvSpPr>
          <p:nvPr/>
        </p:nvSpPr>
        <p:spPr bwMode="auto">
          <a:xfrm>
            <a:off x="7032626" y="1309688"/>
            <a:ext cx="38211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以</a:t>
            </a:r>
            <a:r>
              <a:rPr lang="en-US" altLang="zh-CN" sz="2400">
                <a:latin typeface="Times New Roman" panose="02020603050405020304" pitchFamily="18" charset="0"/>
              </a:rPr>
              <a:t>128 </a:t>
            </a:r>
            <a:r>
              <a:rPr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× 128 </a:t>
            </a:r>
            <a:r>
              <a:rPr lang="zh-CN" altLang="en-US" sz="2400">
                <a:latin typeface="Times New Roman" panose="02020603050405020304" pitchFamily="18" charset="0"/>
              </a:rPr>
              <a:t>矩阵为例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8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48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48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248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48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48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835" grpId="0" autoUpdateAnimBg="0"/>
      <p:bldP spid="248839" grpId="0" autoUpdateAnimBg="0"/>
      <p:bldP spid="248840" grpId="0" autoUpdateAnimBg="0"/>
      <p:bldP spid="248965" grpId="0" autoUpdateAnimBg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338" name="Text Box 2"/>
          <p:cNvSpPr txBox="1">
            <a:spLocks noChangeArrowheads="1"/>
          </p:cNvSpPr>
          <p:nvPr/>
        </p:nvSpPr>
        <p:spPr bwMode="auto">
          <a:xfrm>
            <a:off x="2895600" y="4830764"/>
            <a:ext cx="28956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 i="1">
                <a:latin typeface="Times New Roman" panose="02020603050405020304" pitchFamily="18" charset="0"/>
              </a:rPr>
              <a:t>t</a:t>
            </a:r>
            <a:r>
              <a:rPr lang="en-US" altLang="zh-CN" sz="2800" baseline="-25000">
                <a:latin typeface="Times New Roman" panose="02020603050405020304" pitchFamily="18" charset="0"/>
              </a:rPr>
              <a:t>C</a:t>
            </a:r>
            <a:r>
              <a:rPr lang="en-US" altLang="zh-CN" sz="2800"/>
              <a:t> = </a:t>
            </a:r>
            <a:r>
              <a:rPr lang="en-US" altLang="zh-CN" sz="3200" i="1">
                <a:latin typeface="Times New Roman" panose="02020603050405020304" pitchFamily="18" charset="0"/>
              </a:rPr>
              <a:t>t</a:t>
            </a:r>
            <a:r>
              <a:rPr lang="en-US" altLang="zh-CN" sz="2800" baseline="-25000">
                <a:latin typeface="Times New Roman" panose="02020603050405020304" pitchFamily="18" charset="0"/>
              </a:rPr>
              <a:t>M</a:t>
            </a:r>
            <a:r>
              <a:rPr lang="en-US" altLang="zh-CN" sz="2800" baseline="-25000"/>
              <a:t> </a:t>
            </a:r>
            <a:r>
              <a:rPr lang="en-US" altLang="zh-CN" sz="2800"/>
              <a:t>+ </a:t>
            </a:r>
            <a:r>
              <a:rPr lang="en-US" altLang="zh-CN" sz="3200" i="1">
                <a:latin typeface="Times New Roman" panose="02020603050405020304" pitchFamily="18" charset="0"/>
              </a:rPr>
              <a:t>t</a:t>
            </a:r>
            <a:r>
              <a:rPr lang="en-US" altLang="zh-CN" sz="2800" baseline="-25000">
                <a:latin typeface="Times New Roman" panose="02020603050405020304" pitchFamily="18" charset="0"/>
              </a:rPr>
              <a:t>R</a:t>
            </a:r>
            <a:endParaRPr lang="zh-CN" altLang="en-US" sz="2800" baseline="-25000">
              <a:latin typeface="Times New Roman" panose="02020603050405020304" pitchFamily="18" charset="0"/>
            </a:endParaRPr>
          </a:p>
        </p:txBody>
      </p:sp>
      <p:grpSp>
        <p:nvGrpSpPr>
          <p:cNvPr id="782339" name="Group 3"/>
          <p:cNvGrpSpPr/>
          <p:nvPr/>
        </p:nvGrpSpPr>
        <p:grpSpPr bwMode="auto">
          <a:xfrm>
            <a:off x="3357563" y="5470526"/>
            <a:ext cx="2057400" cy="1082675"/>
            <a:chOff x="1200" y="3350"/>
            <a:chExt cx="1296" cy="682"/>
          </a:xfrm>
        </p:grpSpPr>
        <p:sp>
          <p:nvSpPr>
            <p:cNvPr id="61496" name="Line 4"/>
            <p:cNvSpPr>
              <a:spLocks noChangeShapeType="1"/>
            </p:cNvSpPr>
            <p:nvPr/>
          </p:nvSpPr>
          <p:spPr bwMode="auto">
            <a:xfrm>
              <a:off x="1536" y="3350"/>
              <a:ext cx="0" cy="336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1497" name="Line 5"/>
            <p:cNvSpPr>
              <a:spLocks noChangeShapeType="1"/>
            </p:cNvSpPr>
            <p:nvPr/>
          </p:nvSpPr>
          <p:spPr bwMode="auto">
            <a:xfrm>
              <a:off x="2064" y="3350"/>
              <a:ext cx="0" cy="336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1498" name="Text Box 6"/>
            <p:cNvSpPr txBox="1">
              <a:spLocks noChangeArrowheads="1"/>
            </p:cNvSpPr>
            <p:nvPr/>
          </p:nvSpPr>
          <p:spPr bwMode="auto">
            <a:xfrm>
              <a:off x="1200" y="3705"/>
              <a:ext cx="7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读写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61499" name="Text Box 7"/>
            <p:cNvSpPr txBox="1">
              <a:spLocks noChangeArrowheads="1"/>
            </p:cNvSpPr>
            <p:nvPr/>
          </p:nvSpPr>
          <p:spPr bwMode="auto">
            <a:xfrm>
              <a:off x="1776" y="3705"/>
              <a:ext cx="7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刷新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782344" name="Text Box 8"/>
          <p:cNvSpPr txBox="1">
            <a:spLocks noChangeArrowheads="1"/>
          </p:cNvSpPr>
          <p:nvPr/>
        </p:nvSpPr>
        <p:spPr bwMode="auto">
          <a:xfrm>
            <a:off x="5715000" y="4951413"/>
            <a:ext cx="28956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无 “死区”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61445" name="Text Box 9"/>
          <p:cNvSpPr txBox="1">
            <a:spLocks noChangeArrowheads="1"/>
          </p:cNvSpPr>
          <p:nvPr/>
        </p:nvSpPr>
        <p:spPr bwMode="auto">
          <a:xfrm>
            <a:off x="484187" y="104198"/>
            <a:ext cx="67056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仿宋_GB2312" pitchFamily="49" charset="-122"/>
              </a:rPr>
              <a:t>②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分散刷新</a:t>
            </a:r>
            <a:r>
              <a:rPr lang="en-US" altLang="zh-CN" sz="3200" dirty="0">
                <a:latin typeface="Times New Roman" panose="02020603050405020304" pitchFamily="18" charset="0"/>
                <a:ea typeface="楷体_GB2312" pitchFamily="49" charset="-122"/>
              </a:rPr>
              <a:t>（</a:t>
            </a:r>
            <a:r>
              <a:rPr lang="zh-CN" altLang="en-US" sz="3200" dirty="0">
                <a:latin typeface="Times New Roman" panose="02020603050405020304" pitchFamily="18" charset="0"/>
              </a:rPr>
              <a:t>存取周期为</a:t>
            </a: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lang="zh-CN" altLang="en-US" dirty="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  <a:sym typeface="Symbol" panose="05050102010706020507" pitchFamily="18" charset="2"/>
              </a:rPr>
              <a:t></a:t>
            </a:r>
            <a:r>
              <a:rPr lang="en-US" altLang="zh-CN" sz="3200" dirty="0">
                <a:latin typeface="Times New Roman" panose="02020603050405020304" pitchFamily="18" charset="0"/>
              </a:rPr>
              <a:t>s</a:t>
            </a:r>
            <a:r>
              <a:rPr lang="en-US" altLang="zh-CN" dirty="0"/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）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782346" name="Text Box 10"/>
          <p:cNvSpPr txBox="1">
            <a:spLocks noChangeArrowheads="1"/>
          </p:cNvSpPr>
          <p:nvPr/>
        </p:nvSpPr>
        <p:spPr bwMode="auto">
          <a:xfrm>
            <a:off x="5715000" y="6034088"/>
            <a:ext cx="49530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(存取周期为 0.5 </a:t>
            </a:r>
            <a:r>
              <a:rPr lang="en-US" altLang="zh-CN" sz="2800">
                <a:latin typeface="Times New Roman" panose="02020603050405020304" pitchFamily="18" charset="0"/>
                <a:sym typeface="Symbol" panose="05050102010706020507" pitchFamily="18" charset="2"/>
              </a:rPr>
              <a:t></a:t>
            </a:r>
            <a:r>
              <a:rPr lang="en-US" altLang="zh-CN" sz="2800">
                <a:latin typeface="Times New Roman" panose="02020603050405020304" pitchFamily="18" charset="0"/>
              </a:rPr>
              <a:t>s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+ </a:t>
            </a:r>
            <a:r>
              <a:rPr lang="zh-CN" altLang="en-US" sz="2800">
                <a:latin typeface="Times New Roman" panose="02020603050405020304" pitchFamily="18" charset="0"/>
              </a:rPr>
              <a:t>0.5 </a:t>
            </a:r>
            <a:r>
              <a:rPr lang="en-US" altLang="zh-CN" sz="2800">
                <a:latin typeface="Times New Roman" panose="02020603050405020304" pitchFamily="18" charset="0"/>
                <a:sym typeface="Symbol" panose="05050102010706020507" pitchFamily="18" charset="2"/>
              </a:rPr>
              <a:t></a:t>
            </a:r>
            <a:r>
              <a:rPr lang="en-US" altLang="zh-CN" sz="2800">
                <a:latin typeface="Times New Roman" panose="02020603050405020304" pitchFamily="18" charset="0"/>
              </a:rPr>
              <a:t>s</a:t>
            </a:r>
            <a:r>
              <a:rPr lang="en-US" altLang="zh-CN"/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)</a:t>
            </a:r>
            <a:endParaRPr lang="en-US" altLang="zh-CN" sz="2800">
              <a:latin typeface="Times New Roman" panose="02020603050405020304" pitchFamily="18" charset="0"/>
            </a:endParaRPr>
          </a:p>
        </p:txBody>
      </p:sp>
      <p:sp>
        <p:nvSpPr>
          <p:cNvPr id="782348" name="Text Box 12"/>
          <p:cNvSpPr txBox="1">
            <a:spLocks noChangeArrowheads="1"/>
          </p:cNvSpPr>
          <p:nvPr/>
        </p:nvSpPr>
        <p:spPr bwMode="auto">
          <a:xfrm>
            <a:off x="2286000" y="928688"/>
            <a:ext cx="48006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以 128</a:t>
            </a:r>
            <a:r>
              <a:rPr lang="zh-CN" altLang="en-US" sz="24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×128 </a:t>
            </a:r>
            <a:r>
              <a:rPr lang="zh-CN" altLang="en-US" sz="2800">
                <a:latin typeface="Times New Roman" panose="02020603050405020304" pitchFamily="18" charset="0"/>
              </a:rPr>
              <a:t>矩阵为例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782350" name="Group 14"/>
          <p:cNvGrpSpPr/>
          <p:nvPr/>
        </p:nvGrpSpPr>
        <p:grpSpPr bwMode="auto">
          <a:xfrm>
            <a:off x="1676400" y="1801814"/>
            <a:ext cx="8458200" cy="2922587"/>
            <a:chOff x="96" y="1135"/>
            <a:chExt cx="5328" cy="1841"/>
          </a:xfrm>
        </p:grpSpPr>
        <p:grpSp>
          <p:nvGrpSpPr>
            <p:cNvPr id="61451" name="Group 15"/>
            <p:cNvGrpSpPr/>
            <p:nvPr/>
          </p:nvGrpSpPr>
          <p:grpSpPr bwMode="auto">
            <a:xfrm>
              <a:off x="96" y="1135"/>
              <a:ext cx="5328" cy="1841"/>
              <a:chOff x="96" y="1135"/>
              <a:chExt cx="5328" cy="1841"/>
            </a:xfrm>
          </p:grpSpPr>
          <p:sp>
            <p:nvSpPr>
              <p:cNvPr id="61453" name="Line 16"/>
              <p:cNvSpPr>
                <a:spLocks noChangeShapeType="1"/>
              </p:cNvSpPr>
              <p:nvPr/>
            </p:nvSpPr>
            <p:spPr bwMode="auto">
              <a:xfrm>
                <a:off x="96" y="1716"/>
                <a:ext cx="159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54" name="Line 17"/>
              <p:cNvSpPr>
                <a:spLocks noChangeShapeType="1"/>
              </p:cNvSpPr>
              <p:nvPr/>
            </p:nvSpPr>
            <p:spPr bwMode="auto">
              <a:xfrm>
                <a:off x="416" y="1163"/>
                <a:ext cx="1" cy="18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55" name="Line 18"/>
              <p:cNvSpPr>
                <a:spLocks noChangeShapeType="1"/>
              </p:cNvSpPr>
              <p:nvPr/>
            </p:nvSpPr>
            <p:spPr bwMode="auto">
              <a:xfrm>
                <a:off x="794" y="1163"/>
                <a:ext cx="1" cy="104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56" name="Line 19"/>
              <p:cNvSpPr>
                <a:spLocks noChangeShapeType="1"/>
              </p:cNvSpPr>
              <p:nvPr/>
            </p:nvSpPr>
            <p:spPr bwMode="auto">
              <a:xfrm>
                <a:off x="1172" y="1163"/>
                <a:ext cx="1" cy="146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57" name="Rectangle 20"/>
              <p:cNvSpPr>
                <a:spLocks noChangeArrowheads="1"/>
              </p:cNvSpPr>
              <p:nvPr/>
            </p:nvSpPr>
            <p:spPr bwMode="auto">
              <a:xfrm>
                <a:off x="467" y="1135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17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58" name="Line 21"/>
              <p:cNvSpPr>
                <a:spLocks noChangeShapeType="1"/>
              </p:cNvSpPr>
              <p:nvPr/>
            </p:nvSpPr>
            <p:spPr bwMode="auto">
              <a:xfrm>
                <a:off x="1550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59" name="Rectangle 22"/>
              <p:cNvSpPr>
                <a:spLocks noChangeArrowheads="1"/>
              </p:cNvSpPr>
              <p:nvPr/>
            </p:nvSpPr>
            <p:spPr bwMode="auto">
              <a:xfrm>
                <a:off x="825" y="1227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17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0" name="Rectangle 23"/>
              <p:cNvSpPr>
                <a:spLocks noChangeArrowheads="1"/>
              </p:cNvSpPr>
              <p:nvPr/>
            </p:nvSpPr>
            <p:spPr bwMode="auto">
              <a:xfrm>
                <a:off x="920" y="1502"/>
                <a:ext cx="69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7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1" name="Rectangle 24"/>
              <p:cNvSpPr>
                <a:spLocks noChangeArrowheads="1"/>
              </p:cNvSpPr>
              <p:nvPr/>
            </p:nvSpPr>
            <p:spPr bwMode="auto">
              <a:xfrm>
                <a:off x="1221" y="1135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tx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2" name="Rectangle 25"/>
              <p:cNvSpPr>
                <a:spLocks noChangeArrowheads="1"/>
              </p:cNvSpPr>
              <p:nvPr/>
            </p:nvSpPr>
            <p:spPr bwMode="auto">
              <a:xfrm>
                <a:off x="874" y="1750"/>
                <a:ext cx="54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 i="1">
                    <a:latin typeface="Times New Roman" panose="02020603050405020304" pitchFamily="18" charset="0"/>
                  </a:rPr>
                  <a:t>t</a:t>
                </a:r>
                <a:endParaRPr lang="en-US" altLang="zh-CN" sz="2400" i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3" name="Rectangle 26"/>
              <p:cNvSpPr>
                <a:spLocks noChangeArrowheads="1"/>
              </p:cNvSpPr>
              <p:nvPr/>
            </p:nvSpPr>
            <p:spPr bwMode="auto">
              <a:xfrm>
                <a:off x="944" y="1853"/>
                <a:ext cx="87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500">
                    <a:latin typeface="Times New Roman" panose="02020603050405020304" pitchFamily="18" charset="0"/>
                  </a:rPr>
                  <a:t>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4" name="Rectangle 27"/>
              <p:cNvSpPr>
                <a:spLocks noChangeArrowheads="1"/>
              </p:cNvSpPr>
              <p:nvPr/>
            </p:nvSpPr>
            <p:spPr bwMode="auto">
              <a:xfrm>
                <a:off x="520" y="1750"/>
                <a:ext cx="54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 i="1">
                    <a:latin typeface="Times New Roman" panose="02020603050405020304" pitchFamily="18" charset="0"/>
                  </a:rPr>
                  <a:t>t</a:t>
                </a:r>
                <a:endParaRPr lang="en-US" altLang="zh-CN" sz="2400" i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5" name="Rectangle 28"/>
              <p:cNvSpPr>
                <a:spLocks noChangeArrowheads="1"/>
              </p:cNvSpPr>
              <p:nvPr/>
            </p:nvSpPr>
            <p:spPr bwMode="auto">
              <a:xfrm>
                <a:off x="604" y="1853"/>
                <a:ext cx="113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500">
                    <a:latin typeface="Times New Roman" panose="02020603050405020304" pitchFamily="18" charset="0"/>
                  </a:rPr>
                  <a:t>M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6" name="Rectangle 29"/>
              <p:cNvSpPr>
                <a:spLocks noChangeArrowheads="1"/>
              </p:cNvSpPr>
              <p:nvPr/>
            </p:nvSpPr>
            <p:spPr bwMode="auto">
              <a:xfrm>
                <a:off x="761" y="2239"/>
                <a:ext cx="54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 i="1">
                    <a:latin typeface="Times New Roman" panose="02020603050405020304" pitchFamily="18" charset="0"/>
                  </a:rPr>
                  <a:t>t</a:t>
                </a:r>
                <a:endParaRPr lang="en-US" altLang="zh-CN" sz="2400" i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7" name="Rectangle 30"/>
              <p:cNvSpPr>
                <a:spLocks noChangeArrowheads="1"/>
              </p:cNvSpPr>
              <p:nvPr/>
            </p:nvSpPr>
            <p:spPr bwMode="auto">
              <a:xfrm>
                <a:off x="830" y="2342"/>
                <a:ext cx="87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500">
                    <a:latin typeface="Times New Roman" panose="02020603050405020304" pitchFamily="18" charset="0"/>
                  </a:rPr>
                  <a:t>C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68" name="Line 31"/>
              <p:cNvSpPr>
                <a:spLocks noChangeShapeType="1"/>
              </p:cNvSpPr>
              <p:nvPr/>
            </p:nvSpPr>
            <p:spPr bwMode="auto">
              <a:xfrm>
                <a:off x="2180" y="1716"/>
                <a:ext cx="324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69" name="Line 32"/>
              <p:cNvSpPr>
                <a:spLocks noChangeShapeType="1"/>
              </p:cNvSpPr>
              <p:nvPr/>
            </p:nvSpPr>
            <p:spPr bwMode="auto">
              <a:xfrm>
                <a:off x="2273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70" name="Line 33"/>
              <p:cNvSpPr>
                <a:spLocks noChangeShapeType="1"/>
              </p:cNvSpPr>
              <p:nvPr/>
            </p:nvSpPr>
            <p:spPr bwMode="auto">
              <a:xfrm>
                <a:off x="2651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71" name="Line 34"/>
              <p:cNvSpPr>
                <a:spLocks noChangeShapeType="1"/>
              </p:cNvSpPr>
              <p:nvPr/>
            </p:nvSpPr>
            <p:spPr bwMode="auto">
              <a:xfrm>
                <a:off x="3025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72" name="Line 35"/>
              <p:cNvSpPr>
                <a:spLocks noChangeShapeType="1"/>
              </p:cNvSpPr>
              <p:nvPr/>
            </p:nvSpPr>
            <p:spPr bwMode="auto">
              <a:xfrm>
                <a:off x="3403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73" name="Freeform 36"/>
              <p:cNvSpPr/>
              <p:nvPr/>
            </p:nvSpPr>
            <p:spPr bwMode="auto">
              <a:xfrm>
                <a:off x="3778" y="1161"/>
                <a:ext cx="5" cy="1812"/>
              </a:xfrm>
              <a:custGeom>
                <a:avLst/>
                <a:gdLst>
                  <a:gd name="T0" fmla="*/ 0 w 5"/>
                  <a:gd name="T1" fmla="*/ 0 h 1812"/>
                  <a:gd name="T2" fmla="*/ 5 w 5"/>
                  <a:gd name="T3" fmla="*/ 1812 h 18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12">
                    <a:moveTo>
                      <a:pt x="0" y="0"/>
                    </a:moveTo>
                    <a:lnTo>
                      <a:pt x="5" y="1812"/>
                    </a:lnTo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74" name="Freeform 37"/>
              <p:cNvSpPr/>
              <p:nvPr/>
            </p:nvSpPr>
            <p:spPr bwMode="auto">
              <a:xfrm>
                <a:off x="4153" y="1163"/>
                <a:ext cx="6" cy="1111"/>
              </a:xfrm>
              <a:custGeom>
                <a:avLst/>
                <a:gdLst>
                  <a:gd name="T0" fmla="*/ 0 w 5"/>
                  <a:gd name="T1" fmla="*/ 0 h 1111"/>
                  <a:gd name="T2" fmla="*/ 7 w 5"/>
                  <a:gd name="T3" fmla="*/ 1111 h 1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11">
                    <a:moveTo>
                      <a:pt x="0" y="0"/>
                    </a:moveTo>
                    <a:lnTo>
                      <a:pt x="5" y="1111"/>
                    </a:lnTo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75" name="Rectangle 38"/>
              <p:cNvSpPr>
                <a:spLocks noChangeArrowheads="1"/>
              </p:cNvSpPr>
              <p:nvPr/>
            </p:nvSpPr>
            <p:spPr bwMode="auto">
              <a:xfrm>
                <a:off x="2705" y="1227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76" name="Rectangle 39"/>
              <p:cNvSpPr>
                <a:spLocks noChangeArrowheads="1"/>
              </p:cNvSpPr>
              <p:nvPr/>
            </p:nvSpPr>
            <p:spPr bwMode="auto">
              <a:xfrm>
                <a:off x="2729" y="1502"/>
                <a:ext cx="206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700">
                    <a:latin typeface="Times New Roman" panose="02020603050405020304" pitchFamily="18" charset="0"/>
                  </a:rPr>
                  <a:t>126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77" name="Rectangle 40"/>
              <p:cNvSpPr>
                <a:spLocks noChangeArrowheads="1"/>
              </p:cNvSpPr>
              <p:nvPr/>
            </p:nvSpPr>
            <p:spPr bwMode="auto">
              <a:xfrm>
                <a:off x="3443" y="1227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78" name="Rectangle 41"/>
              <p:cNvSpPr>
                <a:spLocks noChangeArrowheads="1"/>
              </p:cNvSpPr>
              <p:nvPr/>
            </p:nvSpPr>
            <p:spPr bwMode="auto">
              <a:xfrm>
                <a:off x="3466" y="1502"/>
                <a:ext cx="206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700">
                    <a:latin typeface="Times New Roman" panose="02020603050405020304" pitchFamily="18" charset="0"/>
                  </a:rPr>
                  <a:t>127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79" name="Line 42"/>
              <p:cNvSpPr>
                <a:spLocks noChangeShapeType="1"/>
              </p:cNvSpPr>
              <p:nvPr/>
            </p:nvSpPr>
            <p:spPr bwMode="auto">
              <a:xfrm>
                <a:off x="4531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80" name="Line 43"/>
              <p:cNvSpPr>
                <a:spLocks noChangeShapeType="1"/>
              </p:cNvSpPr>
              <p:nvPr/>
            </p:nvSpPr>
            <p:spPr bwMode="auto">
              <a:xfrm>
                <a:off x="4909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81" name="Line 44"/>
              <p:cNvSpPr>
                <a:spLocks noChangeShapeType="1"/>
              </p:cNvSpPr>
              <p:nvPr/>
            </p:nvSpPr>
            <p:spPr bwMode="auto">
              <a:xfrm>
                <a:off x="5283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82" name="Rectangle 45"/>
              <p:cNvSpPr>
                <a:spLocks noChangeArrowheads="1"/>
              </p:cNvSpPr>
              <p:nvPr/>
            </p:nvSpPr>
            <p:spPr bwMode="auto">
              <a:xfrm>
                <a:off x="4953" y="1227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3" name="Rectangle 46"/>
              <p:cNvSpPr>
                <a:spLocks noChangeArrowheads="1"/>
              </p:cNvSpPr>
              <p:nvPr/>
            </p:nvSpPr>
            <p:spPr bwMode="auto">
              <a:xfrm>
                <a:off x="2327" y="1135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4" name="Rectangle 47"/>
              <p:cNvSpPr>
                <a:spLocks noChangeArrowheads="1"/>
              </p:cNvSpPr>
              <p:nvPr/>
            </p:nvSpPr>
            <p:spPr bwMode="auto">
              <a:xfrm>
                <a:off x="3082" y="1135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5" name="Rectangle 48"/>
              <p:cNvSpPr>
                <a:spLocks noChangeArrowheads="1"/>
              </p:cNvSpPr>
              <p:nvPr/>
            </p:nvSpPr>
            <p:spPr bwMode="auto">
              <a:xfrm>
                <a:off x="3825" y="1135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6" name="Rectangle 49"/>
              <p:cNvSpPr>
                <a:spLocks noChangeArrowheads="1"/>
              </p:cNvSpPr>
              <p:nvPr/>
            </p:nvSpPr>
            <p:spPr bwMode="auto">
              <a:xfrm>
                <a:off x="4582" y="1135"/>
                <a:ext cx="275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7" name="Rectangle 50"/>
              <p:cNvSpPr>
                <a:spLocks noChangeArrowheads="1"/>
              </p:cNvSpPr>
              <p:nvPr/>
            </p:nvSpPr>
            <p:spPr bwMode="auto">
              <a:xfrm>
                <a:off x="1154" y="2753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刷新间隔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8" name="Rectangle 51"/>
              <p:cNvSpPr>
                <a:spLocks noChangeArrowheads="1"/>
              </p:cNvSpPr>
              <p:nvPr/>
            </p:nvSpPr>
            <p:spPr bwMode="auto">
              <a:xfrm>
                <a:off x="1882" y="2749"/>
                <a:ext cx="24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128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89" name="Rectangle 52"/>
              <p:cNvSpPr>
                <a:spLocks noChangeArrowheads="1"/>
              </p:cNvSpPr>
              <p:nvPr/>
            </p:nvSpPr>
            <p:spPr bwMode="auto">
              <a:xfrm>
                <a:off x="2178" y="2753"/>
                <a:ext cx="805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/>
                  <a:t>个存取周期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90" name="Line 53"/>
              <p:cNvSpPr>
                <a:spLocks noChangeShapeType="1"/>
              </p:cNvSpPr>
              <p:nvPr/>
            </p:nvSpPr>
            <p:spPr bwMode="auto">
              <a:xfrm flipH="1">
                <a:off x="416" y="2845"/>
                <a:ext cx="52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1491" name="Line 54"/>
              <p:cNvSpPr>
                <a:spLocks noChangeShapeType="1"/>
              </p:cNvSpPr>
              <p:nvPr/>
            </p:nvSpPr>
            <p:spPr bwMode="auto">
              <a:xfrm>
                <a:off x="3268" y="2845"/>
                <a:ext cx="5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1492" name="Text Box 55"/>
              <p:cNvSpPr txBox="1">
                <a:spLocks noChangeArrowheads="1"/>
              </p:cNvSpPr>
              <p:nvPr/>
            </p:nvSpPr>
            <p:spPr bwMode="auto">
              <a:xfrm>
                <a:off x="1708" y="1530"/>
                <a:ext cx="61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493" name="Line 56"/>
              <p:cNvSpPr>
                <a:spLocks noChangeShapeType="1"/>
              </p:cNvSpPr>
              <p:nvPr/>
            </p:nvSpPr>
            <p:spPr bwMode="auto">
              <a:xfrm>
                <a:off x="416" y="2464"/>
                <a:ext cx="75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1494" name="Line 57"/>
              <p:cNvSpPr>
                <a:spLocks noChangeShapeType="1"/>
              </p:cNvSpPr>
              <p:nvPr/>
            </p:nvSpPr>
            <p:spPr bwMode="auto">
              <a:xfrm>
                <a:off x="403" y="2030"/>
                <a:ext cx="3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1495" name="Line 58"/>
              <p:cNvSpPr>
                <a:spLocks noChangeShapeType="1"/>
              </p:cNvSpPr>
              <p:nvPr/>
            </p:nvSpPr>
            <p:spPr bwMode="auto">
              <a:xfrm>
                <a:off x="790" y="2029"/>
                <a:ext cx="3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61452" name="Text Box 59"/>
            <p:cNvSpPr txBox="1">
              <a:spLocks noChangeArrowheads="1"/>
            </p:cNvSpPr>
            <p:nvPr/>
          </p:nvSpPr>
          <p:spPr bwMode="auto">
            <a:xfrm>
              <a:off x="1754" y="1471"/>
              <a:ext cx="499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000">
                  <a:latin typeface="Times New Roman" panose="02020603050405020304" pitchFamily="18" charset="0"/>
                </a:rPr>
                <a:t>…</a:t>
              </a:r>
              <a:endParaRPr lang="zh-CN" altLang="en-US" sz="30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8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782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82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82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82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82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2338" grpId="0" autoUpdateAnimBg="0"/>
      <p:bldP spid="782344" grpId="0" autoUpdateAnimBg="0"/>
      <p:bldP spid="782346" grpId="0" autoUpdateAnimBg="0"/>
      <p:bldP spid="782348" grpId="0" autoUpdateAnimBg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Text Box 2"/>
          <p:cNvSpPr txBox="1">
            <a:spLocks noChangeArrowheads="1"/>
          </p:cNvSpPr>
          <p:nvPr/>
        </p:nvSpPr>
        <p:spPr bwMode="auto">
          <a:xfrm>
            <a:off x="574675" y="298376"/>
            <a:ext cx="82994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zh-CN" altLang="en-US" sz="3200" dirty="0">
                <a:latin typeface="Times New Roman" panose="02020603050405020304" pitchFamily="18" charset="0"/>
              </a:rPr>
              <a:t>分散刷新与集中刷新相结合（异步刷新）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sp>
        <p:nvSpPr>
          <p:cNvPr id="674819" name="Text Box 3"/>
          <p:cNvSpPr txBox="1">
            <a:spLocks noChangeArrowheads="1"/>
          </p:cNvSpPr>
          <p:nvPr/>
        </p:nvSpPr>
        <p:spPr bwMode="auto">
          <a:xfrm>
            <a:off x="2133600" y="1341438"/>
            <a:ext cx="8534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对于 128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×128 </a:t>
            </a:r>
            <a:r>
              <a:rPr lang="zh-CN" altLang="en-US" sz="2800">
                <a:latin typeface="Times New Roman" panose="02020603050405020304" pitchFamily="18" charset="0"/>
              </a:rPr>
              <a:t>的存储芯片</a:t>
            </a:r>
            <a:r>
              <a:rPr lang="en-US" altLang="zh-CN" sz="2800">
                <a:latin typeface="Times New Roman" panose="02020603050405020304" pitchFamily="18" charset="0"/>
                <a:ea typeface="楷体_GB2312" pitchFamily="49" charset="-122"/>
              </a:rPr>
              <a:t>（</a:t>
            </a:r>
            <a:r>
              <a:rPr lang="zh-CN" altLang="en-US" sz="2800">
                <a:latin typeface="Times New Roman" panose="02020603050405020304" pitchFamily="18" charset="0"/>
              </a:rPr>
              <a:t>存取周期为 </a:t>
            </a:r>
            <a:r>
              <a:rPr lang="zh-CN" altLang="en-US" sz="2800">
                <a:latin typeface="Times New Roman" panose="02020603050405020304" pitchFamily="18" charset="0"/>
                <a:ea typeface="楷体_GB2312" pitchFamily="49" charset="-122"/>
              </a:rPr>
              <a:t>0.5 </a:t>
            </a:r>
            <a:r>
              <a:rPr lang="en-US" altLang="zh-CN" sz="2800">
                <a:sym typeface="Symbol" panose="05050102010706020507" pitchFamily="18" charset="2"/>
              </a:rPr>
              <a:t></a:t>
            </a:r>
            <a:r>
              <a:rPr lang="en-US" altLang="zh-CN" sz="2800"/>
              <a:t>s</a:t>
            </a:r>
            <a:r>
              <a:rPr lang="en-US" altLang="zh-CN"/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）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674820" name="Text Box 4"/>
          <p:cNvSpPr txBox="1">
            <a:spLocks noChangeArrowheads="1"/>
          </p:cNvSpPr>
          <p:nvPr/>
        </p:nvSpPr>
        <p:spPr bwMode="auto">
          <a:xfrm>
            <a:off x="2133600" y="6021388"/>
            <a:ext cx="86868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将刷新安排在指令译码阶段，不会出现 “死区”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674821" name="Text Box 5"/>
          <p:cNvSpPr txBox="1">
            <a:spLocks noChangeArrowheads="1"/>
          </p:cNvSpPr>
          <p:nvPr/>
        </p:nvSpPr>
        <p:spPr bwMode="auto">
          <a:xfrm>
            <a:off x="6746875" y="5286376"/>
            <a:ext cx="3886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“死区” 为 0.5 </a:t>
            </a:r>
            <a:r>
              <a:rPr lang="en-US" altLang="zh-CN" sz="2800">
                <a:solidFill>
                  <a:schemeClr val="folHlink"/>
                </a:solidFill>
                <a:sym typeface="Symbol" panose="05050102010706020507" pitchFamily="18" charset="2"/>
              </a:rPr>
              <a:t></a:t>
            </a:r>
            <a:r>
              <a:rPr lang="en-US" altLang="zh-CN" sz="2800">
                <a:solidFill>
                  <a:schemeClr val="folHlink"/>
                </a:solidFill>
              </a:rPr>
              <a:t>s</a:t>
            </a:r>
            <a:r>
              <a:rPr lang="en-US" altLang="zh-CN"/>
              <a:t> </a:t>
            </a:r>
            <a:endParaRPr lang="zh-CN" altLang="en-US"/>
          </a:p>
        </p:txBody>
      </p:sp>
      <p:sp>
        <p:nvSpPr>
          <p:cNvPr id="674822" name="Text Box 6"/>
          <p:cNvSpPr txBox="1">
            <a:spLocks noChangeArrowheads="1"/>
          </p:cNvSpPr>
          <p:nvPr/>
        </p:nvSpPr>
        <p:spPr bwMode="auto">
          <a:xfrm>
            <a:off x="2133600" y="1989138"/>
            <a:ext cx="51816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若每隔 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15.6 </a:t>
            </a:r>
            <a:r>
              <a:rPr lang="en-US" altLang="zh-CN" sz="2800">
                <a:solidFill>
                  <a:schemeClr val="folHlink"/>
                </a:solidFill>
                <a:sym typeface="Symbol" panose="05050102010706020507" pitchFamily="18" charset="2"/>
              </a:rPr>
              <a:t></a:t>
            </a:r>
            <a:r>
              <a:rPr lang="en-US" altLang="zh-CN" sz="2800">
                <a:solidFill>
                  <a:schemeClr val="folHlink"/>
                </a:solidFill>
              </a:rPr>
              <a:t>s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刷新一行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674823" name="Text Box 7"/>
          <p:cNvSpPr txBox="1">
            <a:spLocks noChangeArrowheads="1"/>
          </p:cNvSpPr>
          <p:nvPr/>
        </p:nvSpPr>
        <p:spPr bwMode="auto">
          <a:xfrm>
            <a:off x="2133600" y="5286376"/>
            <a:ext cx="7010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每行每隔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2 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ms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刷新一次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62473" name="Rectangle 9"/>
          <p:cNvSpPr>
            <a:spLocks noChangeArrowheads="1"/>
          </p:cNvSpPr>
          <p:nvPr/>
        </p:nvSpPr>
        <p:spPr bwMode="auto">
          <a:xfrm>
            <a:off x="1524001" y="2830741"/>
            <a:ext cx="184731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1991544" y="2708920"/>
            <a:ext cx="7920805" cy="2448272"/>
            <a:chOff x="1991544" y="2708920"/>
            <a:chExt cx="7920805" cy="2448272"/>
          </a:xfrm>
        </p:grpSpPr>
        <p:sp>
          <p:nvSpPr>
            <p:cNvPr id="2" name="矩形 1"/>
            <p:cNvSpPr/>
            <p:nvPr/>
          </p:nvSpPr>
          <p:spPr>
            <a:xfrm>
              <a:off x="1991544" y="2708920"/>
              <a:ext cx="7920805" cy="2448272"/>
            </a:xfrm>
            <a:prstGeom prst="rect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aphicFrame>
          <p:nvGraphicFramePr>
            <p:cNvPr id="674826" name="Object 10"/>
            <p:cNvGraphicFramePr>
              <a:graphicFrameLocks noChangeAspect="1"/>
            </p:cNvGraphicFramePr>
            <p:nvPr/>
          </p:nvGraphicFramePr>
          <p:xfrm>
            <a:off x="2279651" y="2997201"/>
            <a:ext cx="7561263" cy="2016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" name="Visio" r:id="rId1" imgW="3943350" imgH="990600" progId="Visio.Drawing.11">
                    <p:embed/>
                  </p:oleObj>
                </mc:Choice>
                <mc:Fallback>
                  <p:oleObj name="Visio" r:id="rId1" imgW="3943350" imgH="990600" progId="Visio.Drawing.11">
                    <p:embed/>
                    <p:pic>
                      <p:nvPicPr>
                        <p:cNvPr id="0" name="Object 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79651" y="2997201"/>
                          <a:ext cx="7561263" cy="2016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2475" name="AutoShape 11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10113964" y="6575653"/>
            <a:ext cx="184731" cy="215444"/>
          </a:xfrm>
          <a:prstGeom prst="actionButtonEnd">
            <a:avLst/>
          </a:prstGeom>
          <a:solidFill>
            <a:srgbClr val="3366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74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74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674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674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67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4819" grpId="0" autoUpdateAnimBg="0"/>
      <p:bldP spid="674820" grpId="0" autoUpdateAnimBg="0"/>
      <p:bldP spid="674821" grpId="0" autoUpdateAnimBg="0"/>
      <p:bldP spid="674822" grpId="0"/>
      <p:bldP spid="674823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Text Box 2"/>
          <p:cNvSpPr txBox="1">
            <a:spLocks noChangeArrowheads="1"/>
          </p:cNvSpPr>
          <p:nvPr/>
        </p:nvSpPr>
        <p:spPr bwMode="auto">
          <a:xfrm>
            <a:off x="623392" y="281781"/>
            <a:ext cx="6858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 3. 动态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和静态 </a:t>
            </a:r>
            <a:r>
              <a:rPr lang="en-US" altLang="zh-CN" sz="3200" dirty="0">
                <a:latin typeface="Times New Roman" panose="02020603050405020304" pitchFamily="18" charset="0"/>
              </a:rPr>
              <a:t>RAM </a:t>
            </a:r>
            <a:r>
              <a:rPr lang="zh-CN" altLang="en-US" sz="3200" dirty="0">
                <a:latin typeface="Times New Roman" panose="02020603050405020304" pitchFamily="18" charset="0"/>
              </a:rPr>
              <a:t>的比较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grpSp>
        <p:nvGrpSpPr>
          <p:cNvPr id="791555" name="Group 3"/>
          <p:cNvGrpSpPr/>
          <p:nvPr/>
        </p:nvGrpSpPr>
        <p:grpSpPr bwMode="auto">
          <a:xfrm>
            <a:off x="4876800" y="1249363"/>
            <a:ext cx="4648200" cy="457200"/>
            <a:chOff x="2112" y="787"/>
            <a:chExt cx="2928" cy="288"/>
          </a:xfrm>
        </p:grpSpPr>
        <p:sp>
          <p:nvSpPr>
            <p:cNvPr id="63528" name="Text Box 4"/>
            <p:cNvSpPr txBox="1">
              <a:spLocks noChangeArrowheads="1"/>
            </p:cNvSpPr>
            <p:nvPr/>
          </p:nvSpPr>
          <p:spPr bwMode="auto">
            <a:xfrm>
              <a:off x="2112" y="787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DRAM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3529" name="Text Box 5"/>
            <p:cNvSpPr txBox="1">
              <a:spLocks noChangeArrowheads="1"/>
            </p:cNvSpPr>
            <p:nvPr/>
          </p:nvSpPr>
          <p:spPr bwMode="auto">
            <a:xfrm>
              <a:off x="3504" y="787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SRAM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791558" name="Text Box 6"/>
          <p:cNvSpPr txBox="1">
            <a:spLocks noChangeArrowheads="1"/>
          </p:cNvSpPr>
          <p:nvPr/>
        </p:nvSpPr>
        <p:spPr bwMode="auto">
          <a:xfrm>
            <a:off x="2743200" y="1858963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存储原理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1559" name="Text Box 7"/>
          <p:cNvSpPr txBox="1">
            <a:spLocks noChangeArrowheads="1"/>
          </p:cNvSpPr>
          <p:nvPr/>
        </p:nvSpPr>
        <p:spPr bwMode="auto">
          <a:xfrm>
            <a:off x="2743200" y="2538413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集成度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1560" name="Text Box 8"/>
          <p:cNvSpPr txBox="1">
            <a:spLocks noChangeArrowheads="1"/>
          </p:cNvSpPr>
          <p:nvPr/>
        </p:nvSpPr>
        <p:spPr bwMode="auto">
          <a:xfrm>
            <a:off x="2743200" y="3219450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芯片引脚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1561" name="Text Box 9"/>
          <p:cNvSpPr txBox="1">
            <a:spLocks noChangeArrowheads="1"/>
          </p:cNvSpPr>
          <p:nvPr/>
        </p:nvSpPr>
        <p:spPr bwMode="auto">
          <a:xfrm>
            <a:off x="2743200" y="3900488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功耗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1562" name="Text Box 10"/>
          <p:cNvSpPr txBox="1">
            <a:spLocks noChangeArrowheads="1"/>
          </p:cNvSpPr>
          <p:nvPr/>
        </p:nvSpPr>
        <p:spPr bwMode="auto">
          <a:xfrm>
            <a:off x="2743200" y="4581525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价格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1563" name="Text Box 11"/>
          <p:cNvSpPr txBox="1">
            <a:spLocks noChangeArrowheads="1"/>
          </p:cNvSpPr>
          <p:nvPr/>
        </p:nvSpPr>
        <p:spPr bwMode="auto">
          <a:xfrm>
            <a:off x="2743200" y="5262563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速度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1564" name="Text Box 12"/>
          <p:cNvSpPr txBox="1">
            <a:spLocks noChangeArrowheads="1"/>
          </p:cNvSpPr>
          <p:nvPr/>
        </p:nvSpPr>
        <p:spPr bwMode="auto">
          <a:xfrm>
            <a:off x="2743200" y="5943600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刷新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791565" name="Group 13"/>
          <p:cNvGrpSpPr/>
          <p:nvPr/>
        </p:nvGrpSpPr>
        <p:grpSpPr bwMode="auto">
          <a:xfrm>
            <a:off x="4953000" y="1858963"/>
            <a:ext cx="4648200" cy="457200"/>
            <a:chOff x="2160" y="1171"/>
            <a:chExt cx="2928" cy="288"/>
          </a:xfrm>
        </p:grpSpPr>
        <p:sp>
          <p:nvSpPr>
            <p:cNvPr id="63526" name="Text Box 14"/>
            <p:cNvSpPr txBox="1">
              <a:spLocks noChangeArrowheads="1"/>
            </p:cNvSpPr>
            <p:nvPr/>
          </p:nvSpPr>
          <p:spPr bwMode="auto">
            <a:xfrm>
              <a:off x="2160" y="1171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电容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27" name="Text Box 15"/>
            <p:cNvSpPr txBox="1">
              <a:spLocks noChangeArrowheads="1"/>
            </p:cNvSpPr>
            <p:nvPr/>
          </p:nvSpPr>
          <p:spPr bwMode="auto">
            <a:xfrm>
              <a:off x="3552" y="1171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触发器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68" name="Group 16"/>
          <p:cNvGrpSpPr/>
          <p:nvPr/>
        </p:nvGrpSpPr>
        <p:grpSpPr bwMode="auto">
          <a:xfrm>
            <a:off x="4953000" y="2538413"/>
            <a:ext cx="4648200" cy="457200"/>
            <a:chOff x="2160" y="1599"/>
            <a:chExt cx="2928" cy="288"/>
          </a:xfrm>
        </p:grpSpPr>
        <p:sp>
          <p:nvSpPr>
            <p:cNvPr id="63524" name="Text Box 17"/>
            <p:cNvSpPr txBox="1">
              <a:spLocks noChangeArrowheads="1"/>
            </p:cNvSpPr>
            <p:nvPr/>
          </p:nvSpPr>
          <p:spPr bwMode="auto">
            <a:xfrm>
              <a:off x="2160" y="1599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25" name="Text Box 18"/>
            <p:cNvSpPr txBox="1">
              <a:spLocks noChangeArrowheads="1"/>
            </p:cNvSpPr>
            <p:nvPr/>
          </p:nvSpPr>
          <p:spPr bwMode="auto">
            <a:xfrm>
              <a:off x="3552" y="1599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低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71" name="Group 19"/>
          <p:cNvGrpSpPr/>
          <p:nvPr/>
        </p:nvGrpSpPr>
        <p:grpSpPr bwMode="auto">
          <a:xfrm>
            <a:off x="4953000" y="3219450"/>
            <a:ext cx="4648200" cy="457200"/>
            <a:chOff x="2160" y="2028"/>
            <a:chExt cx="2928" cy="288"/>
          </a:xfrm>
        </p:grpSpPr>
        <p:sp>
          <p:nvSpPr>
            <p:cNvPr id="63522" name="Text Box 20"/>
            <p:cNvSpPr txBox="1">
              <a:spLocks noChangeArrowheads="1"/>
            </p:cNvSpPr>
            <p:nvPr/>
          </p:nvSpPr>
          <p:spPr bwMode="auto">
            <a:xfrm>
              <a:off x="2160" y="2028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少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23" name="Text Box 21"/>
            <p:cNvSpPr txBox="1">
              <a:spLocks noChangeArrowheads="1"/>
            </p:cNvSpPr>
            <p:nvPr/>
          </p:nvSpPr>
          <p:spPr bwMode="auto">
            <a:xfrm>
              <a:off x="3552" y="2028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多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74" name="Group 22"/>
          <p:cNvGrpSpPr/>
          <p:nvPr/>
        </p:nvGrpSpPr>
        <p:grpSpPr bwMode="auto">
          <a:xfrm>
            <a:off x="4953000" y="3900488"/>
            <a:ext cx="4648200" cy="457200"/>
            <a:chOff x="2160" y="2457"/>
            <a:chExt cx="2928" cy="288"/>
          </a:xfrm>
        </p:grpSpPr>
        <p:sp>
          <p:nvSpPr>
            <p:cNvPr id="63520" name="Text Box 23"/>
            <p:cNvSpPr txBox="1">
              <a:spLocks noChangeArrowheads="1"/>
            </p:cNvSpPr>
            <p:nvPr/>
          </p:nvSpPr>
          <p:spPr bwMode="auto">
            <a:xfrm>
              <a:off x="2160" y="2457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小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21" name="Text Box 24"/>
            <p:cNvSpPr txBox="1">
              <a:spLocks noChangeArrowheads="1"/>
            </p:cNvSpPr>
            <p:nvPr/>
          </p:nvSpPr>
          <p:spPr bwMode="auto">
            <a:xfrm>
              <a:off x="3552" y="2457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大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77" name="Group 25"/>
          <p:cNvGrpSpPr/>
          <p:nvPr/>
        </p:nvGrpSpPr>
        <p:grpSpPr bwMode="auto">
          <a:xfrm>
            <a:off x="4953000" y="4581525"/>
            <a:ext cx="4648200" cy="457200"/>
            <a:chOff x="2160" y="2886"/>
            <a:chExt cx="2928" cy="288"/>
          </a:xfrm>
        </p:grpSpPr>
        <p:sp>
          <p:nvSpPr>
            <p:cNvPr id="63518" name="Text Box 26"/>
            <p:cNvSpPr txBox="1">
              <a:spLocks noChangeArrowheads="1"/>
            </p:cNvSpPr>
            <p:nvPr/>
          </p:nvSpPr>
          <p:spPr bwMode="auto">
            <a:xfrm>
              <a:off x="2160" y="2886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低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19" name="Text Box 27"/>
            <p:cNvSpPr txBox="1">
              <a:spLocks noChangeArrowheads="1"/>
            </p:cNvSpPr>
            <p:nvPr/>
          </p:nvSpPr>
          <p:spPr bwMode="auto">
            <a:xfrm>
              <a:off x="3552" y="2886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高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80" name="Group 28"/>
          <p:cNvGrpSpPr/>
          <p:nvPr/>
        </p:nvGrpSpPr>
        <p:grpSpPr bwMode="auto">
          <a:xfrm>
            <a:off x="4953000" y="5262563"/>
            <a:ext cx="4648200" cy="457200"/>
            <a:chOff x="2160" y="3315"/>
            <a:chExt cx="2928" cy="288"/>
          </a:xfrm>
        </p:grpSpPr>
        <p:sp>
          <p:nvSpPr>
            <p:cNvPr id="63516" name="Text Box 29"/>
            <p:cNvSpPr txBox="1">
              <a:spLocks noChangeArrowheads="1"/>
            </p:cNvSpPr>
            <p:nvPr/>
          </p:nvSpPr>
          <p:spPr bwMode="auto">
            <a:xfrm>
              <a:off x="2160" y="3315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慢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17" name="Text Box 30"/>
            <p:cNvSpPr txBox="1">
              <a:spLocks noChangeArrowheads="1"/>
            </p:cNvSpPr>
            <p:nvPr/>
          </p:nvSpPr>
          <p:spPr bwMode="auto">
            <a:xfrm>
              <a:off x="3552" y="3315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快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83" name="Group 31"/>
          <p:cNvGrpSpPr/>
          <p:nvPr/>
        </p:nvGrpSpPr>
        <p:grpSpPr bwMode="auto">
          <a:xfrm>
            <a:off x="4953000" y="5943600"/>
            <a:ext cx="4648200" cy="457200"/>
            <a:chOff x="2160" y="3744"/>
            <a:chExt cx="2928" cy="288"/>
          </a:xfrm>
        </p:grpSpPr>
        <p:sp>
          <p:nvSpPr>
            <p:cNvPr id="63514" name="Text Box 32"/>
            <p:cNvSpPr txBox="1">
              <a:spLocks noChangeArrowheads="1"/>
            </p:cNvSpPr>
            <p:nvPr/>
          </p:nvSpPr>
          <p:spPr bwMode="auto">
            <a:xfrm>
              <a:off x="2160" y="3744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有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3515" name="Text Box 33"/>
            <p:cNvSpPr txBox="1">
              <a:spLocks noChangeArrowheads="1"/>
            </p:cNvSpPr>
            <p:nvPr/>
          </p:nvSpPr>
          <p:spPr bwMode="auto">
            <a:xfrm>
              <a:off x="3552" y="3744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无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86" name="Group 34"/>
          <p:cNvGrpSpPr/>
          <p:nvPr/>
        </p:nvGrpSpPr>
        <p:grpSpPr bwMode="auto">
          <a:xfrm>
            <a:off x="3886200" y="1201738"/>
            <a:ext cx="1066800" cy="550862"/>
            <a:chOff x="1488" y="757"/>
            <a:chExt cx="672" cy="347"/>
          </a:xfrm>
        </p:grpSpPr>
        <p:sp>
          <p:nvSpPr>
            <p:cNvPr id="63512" name="AutoShape 35"/>
            <p:cNvSpPr>
              <a:spLocks noChangeArrowheads="1"/>
            </p:cNvSpPr>
            <p:nvPr/>
          </p:nvSpPr>
          <p:spPr bwMode="auto">
            <a:xfrm>
              <a:off x="1488" y="768"/>
              <a:ext cx="672" cy="336"/>
            </a:xfrm>
            <a:prstGeom prst="wedgeRoundRectCallout">
              <a:avLst>
                <a:gd name="adj1" fmla="val 97306"/>
                <a:gd name="adj2" fmla="val -259"/>
                <a:gd name="adj3" fmla="val 16667"/>
              </a:avLst>
            </a:prstGeom>
            <a:noFill/>
            <a:ln w="381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63513" name="Text Box 36"/>
            <p:cNvSpPr txBox="1">
              <a:spLocks noChangeArrowheads="1"/>
            </p:cNvSpPr>
            <p:nvPr/>
          </p:nvSpPr>
          <p:spPr bwMode="auto">
            <a:xfrm>
              <a:off x="1528" y="757"/>
              <a:ext cx="59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1589" name="Group 37"/>
          <p:cNvGrpSpPr/>
          <p:nvPr/>
        </p:nvGrpSpPr>
        <p:grpSpPr bwMode="auto">
          <a:xfrm>
            <a:off x="9296400" y="1676401"/>
            <a:ext cx="1219200" cy="561975"/>
            <a:chOff x="4896" y="1104"/>
            <a:chExt cx="816" cy="384"/>
          </a:xfrm>
        </p:grpSpPr>
        <p:sp>
          <p:nvSpPr>
            <p:cNvPr id="63510" name="AutoShape 38"/>
            <p:cNvSpPr>
              <a:spLocks noChangeArrowheads="1"/>
            </p:cNvSpPr>
            <p:nvPr/>
          </p:nvSpPr>
          <p:spPr bwMode="auto">
            <a:xfrm>
              <a:off x="4896" y="1104"/>
              <a:ext cx="816" cy="384"/>
            </a:xfrm>
            <a:prstGeom prst="wedgeRoundRectCallout">
              <a:avLst>
                <a:gd name="adj1" fmla="val -106250"/>
                <a:gd name="adj2" fmla="val -56509"/>
                <a:gd name="adj3" fmla="val 16667"/>
              </a:avLst>
            </a:prstGeom>
            <a:noFill/>
            <a:ln w="381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63511" name="Text Box 39"/>
            <p:cNvSpPr txBox="1">
              <a:spLocks noChangeArrowheads="1"/>
            </p:cNvSpPr>
            <p:nvPr/>
          </p:nvSpPr>
          <p:spPr bwMode="auto">
            <a:xfrm>
              <a:off x="4992" y="1104"/>
              <a:ext cx="634" cy="3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缓存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1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1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1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1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1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91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91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91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91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91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791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791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791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791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791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791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1558" grpId="0" autoUpdateAnimBg="0"/>
      <p:bldP spid="791559" grpId="0" autoUpdateAnimBg="0"/>
      <p:bldP spid="791560" grpId="0" autoUpdateAnimBg="0"/>
      <p:bldP spid="791561" grpId="0" autoUpdateAnimBg="0"/>
      <p:bldP spid="791562" grpId="0" autoUpdateAnimBg="0"/>
      <p:bldP spid="791563" grpId="0" autoUpdateAnimBg="0"/>
      <p:bldP spid="791564" grpId="0" autoUpdateAnimBg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Text Box 2"/>
          <p:cNvSpPr txBox="1">
            <a:spLocks noChangeArrowheads="1"/>
          </p:cNvSpPr>
          <p:nvPr/>
        </p:nvSpPr>
        <p:spPr bwMode="auto">
          <a:xfrm>
            <a:off x="531812" y="346294"/>
            <a:ext cx="930860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 四、只读存储器（</a:t>
            </a:r>
            <a:r>
              <a:rPr lang="en-US" altLang="zh-CN" sz="3600" dirty="0">
                <a:latin typeface="Times New Roman" panose="02020603050405020304" pitchFamily="18" charset="0"/>
              </a:rPr>
              <a:t>ROM）</a:t>
            </a:r>
            <a:r>
              <a:rPr lang="zh-CN" altLang="en-US" sz="3600" dirty="0">
                <a:latin typeface="Times New Roman" panose="02020603050405020304" pitchFamily="18" charset="0"/>
              </a:rPr>
              <a:t>（自己读一下）</a:t>
            </a:r>
            <a:r>
              <a:rPr lang="en-US" altLang="zh-CN" sz="3600" dirty="0">
                <a:latin typeface="Times New Roman" panose="02020603050405020304" pitchFamily="18" charset="0"/>
              </a:rPr>
              <a:t> </a:t>
            </a:r>
            <a:endParaRPr lang="en-US" altLang="zh-CN" sz="3600" dirty="0">
              <a:latin typeface="Times New Roman" panose="02020603050405020304" pitchFamily="18" charset="0"/>
            </a:endParaRPr>
          </a:p>
        </p:txBody>
      </p:sp>
      <p:sp>
        <p:nvSpPr>
          <p:cNvPr id="792579" name="Text Box 3"/>
          <p:cNvSpPr txBox="1">
            <a:spLocks noChangeArrowheads="1"/>
          </p:cNvSpPr>
          <p:nvPr/>
        </p:nvSpPr>
        <p:spPr bwMode="auto">
          <a:xfrm>
            <a:off x="2279651" y="1219200"/>
            <a:ext cx="47593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1.  掩模 </a:t>
            </a:r>
            <a:r>
              <a:rPr lang="en-US" altLang="zh-CN" sz="3200">
                <a:latin typeface="Times New Roman" panose="02020603050405020304" pitchFamily="18" charset="0"/>
              </a:rPr>
              <a:t>ROM ( MROM )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792580" name="Text Box 4"/>
          <p:cNvSpPr txBox="1">
            <a:spLocks noChangeArrowheads="1"/>
          </p:cNvSpPr>
          <p:nvPr/>
        </p:nvSpPr>
        <p:spPr bwMode="auto">
          <a:xfrm>
            <a:off x="2895600" y="1854201"/>
            <a:ext cx="6858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行列选择线交叉处有 </a:t>
            </a:r>
            <a:r>
              <a:rPr lang="en-US" altLang="zh-CN" sz="2800">
                <a:latin typeface="Times New Roman" panose="02020603050405020304" pitchFamily="18" charset="0"/>
              </a:rPr>
              <a:t>MOS </a:t>
            </a:r>
            <a:r>
              <a:rPr lang="zh-CN" altLang="en-US" sz="2800">
                <a:latin typeface="Times New Roman" panose="02020603050405020304" pitchFamily="18" charset="0"/>
              </a:rPr>
              <a:t>管为“1”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2581" name="Text Box 5"/>
          <p:cNvSpPr txBox="1">
            <a:spLocks noChangeArrowheads="1"/>
          </p:cNvSpPr>
          <p:nvPr/>
        </p:nvSpPr>
        <p:spPr bwMode="auto">
          <a:xfrm>
            <a:off x="2895600" y="2489201"/>
            <a:ext cx="6858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行列选择线交叉处无 </a:t>
            </a:r>
            <a:r>
              <a:rPr lang="en-US" altLang="zh-CN" sz="2800">
                <a:latin typeface="Times New Roman" panose="02020603050405020304" pitchFamily="18" charset="0"/>
              </a:rPr>
              <a:t>MOS </a:t>
            </a:r>
            <a:r>
              <a:rPr lang="zh-CN" altLang="en-US" sz="2800">
                <a:latin typeface="Times New Roman" panose="02020603050405020304" pitchFamily="18" charset="0"/>
              </a:rPr>
              <a:t>管为“0”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2582" name="Text Box 6"/>
          <p:cNvSpPr txBox="1">
            <a:spLocks noChangeArrowheads="1"/>
          </p:cNvSpPr>
          <p:nvPr/>
        </p:nvSpPr>
        <p:spPr bwMode="auto">
          <a:xfrm>
            <a:off x="2286001" y="3124201"/>
            <a:ext cx="459132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2.  </a:t>
            </a:r>
            <a:r>
              <a:rPr lang="en-US" altLang="zh-CN" sz="3200">
                <a:latin typeface="Times New Roman" panose="02020603050405020304" pitchFamily="18" charset="0"/>
              </a:rPr>
              <a:t>PROM (</a:t>
            </a:r>
            <a:r>
              <a:rPr lang="zh-CN" altLang="en-US" sz="3200">
                <a:latin typeface="Times New Roman" panose="02020603050405020304" pitchFamily="18" charset="0"/>
              </a:rPr>
              <a:t>一次性编程)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2" name="Group 7"/>
          <p:cNvGrpSpPr/>
          <p:nvPr/>
        </p:nvGrpSpPr>
        <p:grpSpPr bwMode="auto">
          <a:xfrm>
            <a:off x="1979613" y="3775148"/>
            <a:ext cx="4268788" cy="2819400"/>
            <a:chOff x="672" y="2400"/>
            <a:chExt cx="2689" cy="1776"/>
          </a:xfrm>
        </p:grpSpPr>
        <p:grpSp>
          <p:nvGrpSpPr>
            <p:cNvPr id="3" name="Group 8"/>
            <p:cNvGrpSpPr/>
            <p:nvPr/>
          </p:nvGrpSpPr>
          <p:grpSpPr bwMode="auto">
            <a:xfrm>
              <a:off x="1344" y="2400"/>
              <a:ext cx="1968" cy="1680"/>
              <a:chOff x="1344" y="2544"/>
              <a:chExt cx="1968" cy="1680"/>
            </a:xfrm>
          </p:grpSpPr>
          <p:sp>
            <p:nvSpPr>
              <p:cNvPr id="8" name="Line 9"/>
              <p:cNvSpPr>
                <a:spLocks noChangeShapeType="1"/>
              </p:cNvSpPr>
              <p:nvPr/>
            </p:nvSpPr>
            <p:spPr bwMode="auto">
              <a:xfrm>
                <a:off x="1344" y="2784"/>
                <a:ext cx="1968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" name="Line 10"/>
              <p:cNvSpPr>
                <a:spLocks noChangeShapeType="1"/>
              </p:cNvSpPr>
              <p:nvPr/>
            </p:nvSpPr>
            <p:spPr bwMode="auto">
              <a:xfrm>
                <a:off x="2928" y="2544"/>
                <a:ext cx="0" cy="168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11"/>
              <p:cNvSpPr/>
              <p:nvPr/>
            </p:nvSpPr>
            <p:spPr bwMode="auto">
              <a:xfrm>
                <a:off x="1872" y="2784"/>
                <a:ext cx="288" cy="480"/>
              </a:xfrm>
              <a:custGeom>
                <a:avLst/>
                <a:gdLst>
                  <a:gd name="T0" fmla="*/ 0 w 288"/>
                  <a:gd name="T1" fmla="*/ 0 h 480"/>
                  <a:gd name="T2" fmla="*/ 0 w 288"/>
                  <a:gd name="T3" fmla="*/ 480 h 480"/>
                  <a:gd name="T4" fmla="*/ 288 w 288"/>
                  <a:gd name="T5" fmla="*/ 48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480">
                    <a:moveTo>
                      <a:pt x="0" y="0"/>
                    </a:moveTo>
                    <a:lnTo>
                      <a:pt x="0" y="480"/>
                    </a:lnTo>
                    <a:lnTo>
                      <a:pt x="288" y="48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12"/>
              <p:cNvSpPr/>
              <p:nvPr/>
            </p:nvSpPr>
            <p:spPr bwMode="auto">
              <a:xfrm>
                <a:off x="2160" y="3024"/>
                <a:ext cx="96" cy="240"/>
              </a:xfrm>
              <a:custGeom>
                <a:avLst/>
                <a:gdLst>
                  <a:gd name="T0" fmla="*/ 0 w 96"/>
                  <a:gd name="T1" fmla="*/ 240 h 240"/>
                  <a:gd name="T2" fmla="*/ 96 w 96"/>
                  <a:gd name="T3" fmla="*/ 144 h 240"/>
                  <a:gd name="T4" fmla="*/ 96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96" y="144"/>
                    </a:lnTo>
                    <a:lnTo>
                      <a:pt x="96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" name="Line 13"/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0" cy="192"/>
              </a:xfrm>
              <a:prstGeom prst="line">
                <a:avLst/>
              </a:prstGeom>
              <a:noFill/>
              <a:ln w="762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" name="Line 14"/>
              <p:cNvSpPr>
                <a:spLocks noChangeShapeType="1"/>
              </p:cNvSpPr>
              <p:nvPr/>
            </p:nvSpPr>
            <p:spPr bwMode="auto">
              <a:xfrm>
                <a:off x="2160" y="3264"/>
                <a:ext cx="144" cy="144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tailEnd type="triangl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15"/>
              <p:cNvSpPr/>
              <p:nvPr/>
            </p:nvSpPr>
            <p:spPr bwMode="auto">
              <a:xfrm>
                <a:off x="2208" y="3552"/>
                <a:ext cx="96" cy="288"/>
              </a:xfrm>
              <a:custGeom>
                <a:avLst/>
                <a:gdLst>
                  <a:gd name="T0" fmla="*/ 64 w 144"/>
                  <a:gd name="T1" fmla="*/ 0 h 336"/>
                  <a:gd name="T2" fmla="*/ 0 w 144"/>
                  <a:gd name="T3" fmla="*/ 70 h 336"/>
                  <a:gd name="T4" fmla="*/ 64 w 144"/>
                  <a:gd name="T5" fmla="*/ 177 h 336"/>
                  <a:gd name="T6" fmla="*/ 0 w 144"/>
                  <a:gd name="T7" fmla="*/ 247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72" y="28"/>
                      <a:pt x="0" y="56"/>
                      <a:pt x="0" y="96"/>
                    </a:cubicBezTo>
                    <a:cubicBezTo>
                      <a:pt x="0" y="136"/>
                      <a:pt x="144" y="200"/>
                      <a:pt x="144" y="240"/>
                    </a:cubicBezTo>
                    <a:cubicBezTo>
                      <a:pt x="144" y="280"/>
                      <a:pt x="72" y="308"/>
                      <a:pt x="0" y="336"/>
                    </a:cubicBez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6"/>
              <p:cNvSpPr/>
              <p:nvPr/>
            </p:nvSpPr>
            <p:spPr bwMode="auto">
              <a:xfrm>
                <a:off x="2208" y="3888"/>
                <a:ext cx="720" cy="144"/>
              </a:xfrm>
              <a:custGeom>
                <a:avLst/>
                <a:gdLst>
                  <a:gd name="T0" fmla="*/ 0 w 720"/>
                  <a:gd name="T1" fmla="*/ 0 h 144"/>
                  <a:gd name="T2" fmla="*/ 0 w 720"/>
                  <a:gd name="T3" fmla="*/ 144 h 144"/>
                  <a:gd name="T4" fmla="*/ 720 w 720"/>
                  <a:gd name="T5" fmla="*/ 144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0" h="144">
                    <a:moveTo>
                      <a:pt x="0" y="0"/>
                    </a:moveTo>
                    <a:lnTo>
                      <a:pt x="0" y="144"/>
                    </a:lnTo>
                    <a:lnTo>
                      <a:pt x="720" y="144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" name="Oval 17"/>
              <p:cNvSpPr>
                <a:spLocks noChangeArrowheads="1"/>
              </p:cNvSpPr>
              <p:nvPr/>
            </p:nvSpPr>
            <p:spPr bwMode="auto">
              <a:xfrm>
                <a:off x="2230" y="2976"/>
                <a:ext cx="48" cy="48"/>
              </a:xfrm>
              <a:prstGeom prst="ellips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7" name="Oval 18"/>
              <p:cNvSpPr>
                <a:spLocks noChangeArrowheads="1"/>
              </p:cNvSpPr>
              <p:nvPr/>
            </p:nvSpPr>
            <p:spPr bwMode="auto">
              <a:xfrm>
                <a:off x="2267" y="3504"/>
                <a:ext cx="48" cy="48"/>
              </a:xfrm>
              <a:prstGeom prst="ellips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8" name="Line 19"/>
              <p:cNvSpPr>
                <a:spLocks noChangeShapeType="1"/>
              </p:cNvSpPr>
              <p:nvPr/>
            </p:nvSpPr>
            <p:spPr bwMode="auto">
              <a:xfrm>
                <a:off x="2296" y="3408"/>
                <a:ext cx="0" cy="96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9" name="Oval 20"/>
              <p:cNvSpPr>
                <a:spLocks noChangeArrowheads="1"/>
              </p:cNvSpPr>
              <p:nvPr/>
            </p:nvSpPr>
            <p:spPr bwMode="auto">
              <a:xfrm>
                <a:off x="2180" y="3840"/>
                <a:ext cx="48" cy="48"/>
              </a:xfrm>
              <a:prstGeom prst="ellips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20" name="Text Box 21"/>
              <p:cNvSpPr txBox="1">
                <a:spLocks noChangeArrowheads="1"/>
              </p:cNvSpPr>
              <p:nvPr/>
            </p:nvSpPr>
            <p:spPr bwMode="auto">
              <a:xfrm>
                <a:off x="2160" y="2784"/>
                <a:ext cx="67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8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CC</a:t>
                </a:r>
                <a:endParaRPr lang="en-US" altLang="zh-CN" sz="24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4" name="Group 22"/>
            <p:cNvGrpSpPr/>
            <p:nvPr/>
          </p:nvGrpSpPr>
          <p:grpSpPr bwMode="auto">
            <a:xfrm>
              <a:off x="672" y="2448"/>
              <a:ext cx="2689" cy="1728"/>
              <a:chOff x="672" y="2448"/>
              <a:chExt cx="2689" cy="1728"/>
            </a:xfrm>
          </p:grpSpPr>
          <p:sp>
            <p:nvSpPr>
              <p:cNvPr id="5" name="Text Box 23"/>
              <p:cNvSpPr txBox="1">
                <a:spLocks noChangeArrowheads="1"/>
              </p:cNvSpPr>
              <p:nvPr/>
            </p:nvSpPr>
            <p:spPr bwMode="auto">
              <a:xfrm>
                <a:off x="672" y="2448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行线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" name="Text Box 24"/>
              <p:cNvSpPr txBox="1">
                <a:spLocks noChangeArrowheads="1"/>
              </p:cNvSpPr>
              <p:nvPr/>
            </p:nvSpPr>
            <p:spPr bwMode="auto">
              <a:xfrm>
                <a:off x="2976" y="3600"/>
                <a:ext cx="38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列线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" name="Text Box 25"/>
              <p:cNvSpPr txBox="1">
                <a:spLocks noChangeArrowheads="1"/>
              </p:cNvSpPr>
              <p:nvPr/>
            </p:nvSpPr>
            <p:spPr bwMode="auto">
              <a:xfrm>
                <a:off x="1584" y="3360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熔丝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" name="Group 26"/>
          <p:cNvGrpSpPr/>
          <p:nvPr/>
        </p:nvGrpSpPr>
        <p:grpSpPr bwMode="auto">
          <a:xfrm>
            <a:off x="6704013" y="4460948"/>
            <a:ext cx="3276600" cy="519113"/>
            <a:chOff x="3600" y="2832"/>
            <a:chExt cx="2064" cy="327"/>
          </a:xfrm>
        </p:grpSpPr>
        <p:sp>
          <p:nvSpPr>
            <p:cNvPr id="22" name="Text Box 27"/>
            <p:cNvSpPr txBox="1">
              <a:spLocks noChangeArrowheads="1"/>
            </p:cNvSpPr>
            <p:nvPr/>
          </p:nvSpPr>
          <p:spPr bwMode="auto">
            <a:xfrm>
              <a:off x="3600" y="2832"/>
              <a:ext cx="19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熔丝断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23" name="Text Box 28"/>
            <p:cNvSpPr txBox="1">
              <a:spLocks noChangeArrowheads="1"/>
            </p:cNvSpPr>
            <p:nvPr/>
          </p:nvSpPr>
          <p:spPr bwMode="auto">
            <a:xfrm>
              <a:off x="4752" y="2832"/>
              <a:ext cx="91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为 “0”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4" name="Group 29"/>
          <p:cNvGrpSpPr/>
          <p:nvPr/>
        </p:nvGrpSpPr>
        <p:grpSpPr bwMode="auto">
          <a:xfrm>
            <a:off x="6704013" y="5100711"/>
            <a:ext cx="3048000" cy="519112"/>
            <a:chOff x="3600" y="3235"/>
            <a:chExt cx="1920" cy="327"/>
          </a:xfrm>
        </p:grpSpPr>
        <p:sp>
          <p:nvSpPr>
            <p:cNvPr id="25" name="Text Box 30"/>
            <p:cNvSpPr txBox="1">
              <a:spLocks noChangeArrowheads="1"/>
            </p:cNvSpPr>
            <p:nvPr/>
          </p:nvSpPr>
          <p:spPr bwMode="auto">
            <a:xfrm>
              <a:off x="4752" y="3235"/>
              <a:ext cx="76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为 “1”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31"/>
            <p:cNvSpPr txBox="1">
              <a:spLocks noChangeArrowheads="1"/>
            </p:cNvSpPr>
            <p:nvPr/>
          </p:nvSpPr>
          <p:spPr bwMode="auto">
            <a:xfrm>
              <a:off x="3600" y="3235"/>
              <a:ext cx="139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熔丝未断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2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2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2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2579" grpId="0" autoUpdateAnimBg="0"/>
      <p:bldP spid="792580" grpId="0" autoUpdateAnimBg="0"/>
      <p:bldP spid="792581" grpId="0" autoUpdateAnimBg="0"/>
      <p:bldP spid="792582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Text Box 2"/>
          <p:cNvSpPr txBox="1">
            <a:spLocks noChangeArrowheads="1"/>
          </p:cNvSpPr>
          <p:nvPr/>
        </p:nvSpPr>
        <p:spPr bwMode="auto">
          <a:xfrm>
            <a:off x="430502" y="302419"/>
            <a:ext cx="6324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 3. </a:t>
            </a:r>
            <a:r>
              <a:rPr lang="en-US" altLang="zh-CN" sz="3200" dirty="0">
                <a:latin typeface="Times New Roman" panose="02020603050405020304" pitchFamily="18" charset="0"/>
              </a:rPr>
              <a:t>EPROM (</a:t>
            </a:r>
            <a:r>
              <a:rPr lang="zh-CN" altLang="en-US" sz="3200" dirty="0">
                <a:latin typeface="Times New Roman" panose="02020603050405020304" pitchFamily="18" charset="0"/>
              </a:rPr>
              <a:t>多次性编程 ) 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793603" name="Text Box 3"/>
          <p:cNvSpPr txBox="1">
            <a:spLocks noChangeArrowheads="1"/>
          </p:cNvSpPr>
          <p:nvPr/>
        </p:nvSpPr>
        <p:spPr bwMode="auto">
          <a:xfrm>
            <a:off x="2667000" y="1295401"/>
            <a:ext cx="5257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(1) N</a:t>
            </a:r>
            <a:r>
              <a:rPr lang="zh-CN" altLang="en-US" sz="2800">
                <a:latin typeface="Times New Roman" panose="02020603050405020304" pitchFamily="18" charset="0"/>
              </a:rPr>
              <a:t>型沟道浮动栅 </a:t>
            </a:r>
            <a:r>
              <a:rPr lang="en-US" altLang="zh-CN" sz="2800">
                <a:latin typeface="Times New Roman" panose="02020603050405020304" pitchFamily="18" charset="0"/>
              </a:rPr>
              <a:t>MOS </a:t>
            </a:r>
            <a:r>
              <a:rPr lang="zh-CN" altLang="en-US" sz="2800">
                <a:latin typeface="Times New Roman" panose="02020603050405020304" pitchFamily="18" charset="0"/>
              </a:rPr>
              <a:t>电路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793604" name="Group 4"/>
          <p:cNvGrpSpPr/>
          <p:nvPr/>
        </p:nvGrpSpPr>
        <p:grpSpPr bwMode="auto">
          <a:xfrm>
            <a:off x="7620000" y="2316163"/>
            <a:ext cx="2438400" cy="1778000"/>
            <a:chOff x="3600" y="1459"/>
            <a:chExt cx="1536" cy="1120"/>
          </a:xfrm>
        </p:grpSpPr>
        <p:sp>
          <p:nvSpPr>
            <p:cNvPr id="65610" name="Text Box 5"/>
            <p:cNvSpPr txBox="1">
              <a:spLocks noChangeArrowheads="1"/>
            </p:cNvSpPr>
            <p:nvPr/>
          </p:nvSpPr>
          <p:spPr bwMode="auto">
            <a:xfrm>
              <a:off x="3600" y="1459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G </a:t>
              </a:r>
              <a:r>
                <a:rPr lang="zh-CN" altLang="en-US" sz="2400">
                  <a:latin typeface="Times New Roman" panose="02020603050405020304" pitchFamily="18" charset="0"/>
                </a:rPr>
                <a:t>栅极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611" name="Text Box 6"/>
            <p:cNvSpPr txBox="1">
              <a:spLocks noChangeArrowheads="1"/>
            </p:cNvSpPr>
            <p:nvPr/>
          </p:nvSpPr>
          <p:spPr bwMode="auto">
            <a:xfrm>
              <a:off x="3600" y="1875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  </a:t>
              </a:r>
              <a:r>
                <a:rPr lang="zh-CN" altLang="en-US" sz="2400">
                  <a:latin typeface="Times New Roman" panose="02020603050405020304" pitchFamily="18" charset="0"/>
                </a:rPr>
                <a:t>源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612" name="Text Box 7"/>
            <p:cNvSpPr txBox="1">
              <a:spLocks noChangeArrowheads="1"/>
            </p:cNvSpPr>
            <p:nvPr/>
          </p:nvSpPr>
          <p:spPr bwMode="auto">
            <a:xfrm>
              <a:off x="3600" y="2291"/>
              <a:ext cx="15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漏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793608" name="Text Box 8"/>
          <p:cNvSpPr txBox="1">
            <a:spLocks noChangeArrowheads="1"/>
          </p:cNvSpPr>
          <p:nvPr/>
        </p:nvSpPr>
        <p:spPr bwMode="auto">
          <a:xfrm>
            <a:off x="7620000" y="4297363"/>
            <a:ext cx="34290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紫外线全部擦洗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93609" name="Group 9"/>
          <p:cNvGrpSpPr/>
          <p:nvPr/>
        </p:nvGrpSpPr>
        <p:grpSpPr bwMode="auto">
          <a:xfrm>
            <a:off x="2438400" y="5410200"/>
            <a:ext cx="9372600" cy="457200"/>
            <a:chOff x="336" y="3408"/>
            <a:chExt cx="5904" cy="288"/>
          </a:xfrm>
        </p:grpSpPr>
        <p:sp>
          <p:nvSpPr>
            <p:cNvPr id="65607" name="Text Box 10"/>
            <p:cNvSpPr txBox="1">
              <a:spLocks noChangeArrowheads="1"/>
            </p:cNvSpPr>
            <p:nvPr/>
          </p:nvSpPr>
          <p:spPr bwMode="auto">
            <a:xfrm>
              <a:off x="336" y="3408"/>
              <a:ext cx="182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端加正电压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608" name="Text Box 11"/>
            <p:cNvSpPr txBox="1">
              <a:spLocks noChangeArrowheads="1"/>
            </p:cNvSpPr>
            <p:nvPr/>
          </p:nvSpPr>
          <p:spPr bwMode="auto">
            <a:xfrm>
              <a:off x="2064" y="3408"/>
              <a:ext cx="182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形成浮动栅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609" name="Text Box 12"/>
            <p:cNvSpPr txBox="1">
              <a:spLocks noChangeArrowheads="1"/>
            </p:cNvSpPr>
            <p:nvPr/>
          </p:nvSpPr>
          <p:spPr bwMode="auto">
            <a:xfrm>
              <a:off x="3600" y="3408"/>
              <a:ext cx="264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 </a:t>
              </a:r>
              <a:r>
                <a:rPr lang="zh-CN" altLang="en-US" sz="2400">
                  <a:latin typeface="Times New Roman" panose="02020603050405020304" pitchFamily="18" charset="0"/>
                </a:rPr>
                <a:t>与 </a:t>
              </a: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不导通为 “0”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3613" name="Group 13"/>
          <p:cNvGrpSpPr/>
          <p:nvPr/>
        </p:nvGrpSpPr>
        <p:grpSpPr bwMode="auto">
          <a:xfrm>
            <a:off x="2438400" y="6019800"/>
            <a:ext cx="8229600" cy="457200"/>
            <a:chOff x="336" y="3792"/>
            <a:chExt cx="5184" cy="288"/>
          </a:xfrm>
        </p:grpSpPr>
        <p:sp>
          <p:nvSpPr>
            <p:cNvPr id="65604" name="Text Box 14"/>
            <p:cNvSpPr txBox="1">
              <a:spLocks noChangeArrowheads="1"/>
            </p:cNvSpPr>
            <p:nvPr/>
          </p:nvSpPr>
          <p:spPr bwMode="auto">
            <a:xfrm>
              <a:off x="336" y="3792"/>
              <a:ext cx="196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端不加正电压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605" name="Text Box 15"/>
            <p:cNvSpPr txBox="1">
              <a:spLocks noChangeArrowheads="1"/>
            </p:cNvSpPr>
            <p:nvPr/>
          </p:nvSpPr>
          <p:spPr bwMode="auto">
            <a:xfrm>
              <a:off x="2064" y="3792"/>
              <a:ext cx="182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不形成浮动栅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606" name="Text Box 16"/>
            <p:cNvSpPr txBox="1">
              <a:spLocks noChangeArrowheads="1"/>
            </p:cNvSpPr>
            <p:nvPr/>
          </p:nvSpPr>
          <p:spPr bwMode="auto">
            <a:xfrm>
              <a:off x="3600" y="3792"/>
              <a:ext cx="192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 </a:t>
              </a:r>
              <a:r>
                <a:rPr lang="zh-CN" altLang="en-US" sz="2400">
                  <a:latin typeface="Times New Roman" panose="02020603050405020304" pitchFamily="18" charset="0"/>
                </a:rPr>
                <a:t>与 </a:t>
              </a: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导通为 “1”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3617" name="Group 17"/>
          <p:cNvGrpSpPr/>
          <p:nvPr/>
        </p:nvGrpSpPr>
        <p:grpSpPr bwMode="auto">
          <a:xfrm>
            <a:off x="2230438" y="2193926"/>
            <a:ext cx="4932362" cy="2835275"/>
            <a:chOff x="445" y="1382"/>
            <a:chExt cx="3107" cy="1786"/>
          </a:xfrm>
        </p:grpSpPr>
        <p:grpSp>
          <p:nvGrpSpPr>
            <p:cNvPr id="65547" name="Group 18"/>
            <p:cNvGrpSpPr/>
            <p:nvPr/>
          </p:nvGrpSpPr>
          <p:grpSpPr bwMode="auto">
            <a:xfrm>
              <a:off x="852" y="1929"/>
              <a:ext cx="1901" cy="717"/>
              <a:chOff x="599" y="1833"/>
              <a:chExt cx="1901" cy="717"/>
            </a:xfrm>
          </p:grpSpPr>
          <p:sp>
            <p:nvSpPr>
              <p:cNvPr id="65602" name="Freeform 19"/>
              <p:cNvSpPr/>
              <p:nvPr/>
            </p:nvSpPr>
            <p:spPr bwMode="auto">
              <a:xfrm>
                <a:off x="599" y="1833"/>
                <a:ext cx="1901" cy="717"/>
              </a:xfrm>
              <a:custGeom>
                <a:avLst/>
                <a:gdLst>
                  <a:gd name="T0" fmla="*/ 0 w 1759"/>
                  <a:gd name="T1" fmla="*/ 734 h 695"/>
                  <a:gd name="T2" fmla="*/ 0 w 1759"/>
                  <a:gd name="T3" fmla="*/ 694 h 695"/>
                  <a:gd name="T4" fmla="*/ 0 w 1759"/>
                  <a:gd name="T5" fmla="*/ 661 h 695"/>
                  <a:gd name="T6" fmla="*/ 0 w 1759"/>
                  <a:gd name="T7" fmla="*/ 0 h 695"/>
                  <a:gd name="T8" fmla="*/ 98 w 1759"/>
                  <a:gd name="T9" fmla="*/ 0 h 695"/>
                  <a:gd name="T10" fmla="*/ 222 w 1759"/>
                  <a:gd name="T11" fmla="*/ 12 h 695"/>
                  <a:gd name="T12" fmla="*/ 293 w 1759"/>
                  <a:gd name="T13" fmla="*/ 98 h 695"/>
                  <a:gd name="T14" fmla="*/ 338 w 1759"/>
                  <a:gd name="T15" fmla="*/ 307 h 695"/>
                  <a:gd name="T16" fmla="*/ 495 w 1759"/>
                  <a:gd name="T17" fmla="*/ 307 h 695"/>
                  <a:gd name="T18" fmla="*/ 561 w 1759"/>
                  <a:gd name="T19" fmla="*/ 53 h 695"/>
                  <a:gd name="T20" fmla="*/ 613 w 1759"/>
                  <a:gd name="T21" fmla="*/ 12 h 695"/>
                  <a:gd name="T22" fmla="*/ 711 w 1759"/>
                  <a:gd name="T23" fmla="*/ 12 h 695"/>
                  <a:gd name="T24" fmla="*/ 1050 w 1759"/>
                  <a:gd name="T25" fmla="*/ 12 h 695"/>
                  <a:gd name="T26" fmla="*/ 1442 w 1759"/>
                  <a:gd name="T27" fmla="*/ 12 h 695"/>
                  <a:gd name="T28" fmla="*/ 1539 w 1759"/>
                  <a:gd name="T29" fmla="*/ 39 h 695"/>
                  <a:gd name="T30" fmla="*/ 1592 w 1759"/>
                  <a:gd name="T31" fmla="*/ 183 h 695"/>
                  <a:gd name="T32" fmla="*/ 1597 w 1759"/>
                  <a:gd name="T33" fmla="*/ 321 h 695"/>
                  <a:gd name="T34" fmla="*/ 1781 w 1759"/>
                  <a:gd name="T35" fmla="*/ 321 h 695"/>
                  <a:gd name="T36" fmla="*/ 1813 w 1759"/>
                  <a:gd name="T37" fmla="*/ 71 h 695"/>
                  <a:gd name="T38" fmla="*/ 1918 w 1759"/>
                  <a:gd name="T39" fmla="*/ 20 h 695"/>
                  <a:gd name="T40" fmla="*/ 2054 w 1759"/>
                  <a:gd name="T41" fmla="*/ 26 h 695"/>
                  <a:gd name="T42" fmla="*/ 2054 w 1759"/>
                  <a:gd name="T43" fmla="*/ 740 h 695"/>
                  <a:gd name="T44" fmla="*/ 0 w 1759"/>
                  <a:gd name="T45" fmla="*/ 734 h 69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59" h="695">
                    <a:moveTo>
                      <a:pt x="0" y="689"/>
                    </a:moveTo>
                    <a:lnTo>
                      <a:pt x="0" y="652"/>
                    </a:lnTo>
                    <a:lnTo>
                      <a:pt x="0" y="621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190" y="12"/>
                    </a:lnTo>
                    <a:lnTo>
                      <a:pt x="251" y="92"/>
                    </a:lnTo>
                    <a:lnTo>
                      <a:pt x="290" y="289"/>
                    </a:lnTo>
                    <a:lnTo>
                      <a:pt x="424" y="289"/>
                    </a:lnTo>
                    <a:lnTo>
                      <a:pt x="480" y="49"/>
                    </a:lnTo>
                    <a:lnTo>
                      <a:pt x="525" y="12"/>
                    </a:lnTo>
                    <a:lnTo>
                      <a:pt x="609" y="12"/>
                    </a:lnTo>
                    <a:lnTo>
                      <a:pt x="899" y="12"/>
                    </a:lnTo>
                    <a:lnTo>
                      <a:pt x="1234" y="12"/>
                    </a:lnTo>
                    <a:lnTo>
                      <a:pt x="1318" y="37"/>
                    </a:lnTo>
                    <a:lnTo>
                      <a:pt x="1363" y="172"/>
                    </a:lnTo>
                    <a:lnTo>
                      <a:pt x="1368" y="301"/>
                    </a:lnTo>
                    <a:lnTo>
                      <a:pt x="1525" y="301"/>
                    </a:lnTo>
                    <a:lnTo>
                      <a:pt x="1553" y="67"/>
                    </a:lnTo>
                    <a:lnTo>
                      <a:pt x="1642" y="18"/>
                    </a:lnTo>
                    <a:lnTo>
                      <a:pt x="1759" y="24"/>
                    </a:lnTo>
                    <a:lnTo>
                      <a:pt x="1759" y="695"/>
                    </a:lnTo>
                    <a:lnTo>
                      <a:pt x="0" y="689"/>
                    </a:lnTo>
                    <a:close/>
                  </a:path>
                </a:pathLst>
              </a:custGeom>
              <a:solidFill>
                <a:schemeClr val="folHlink">
                  <a:alpha val="50195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603" name="Freeform 20"/>
              <p:cNvSpPr/>
              <p:nvPr/>
            </p:nvSpPr>
            <p:spPr bwMode="auto">
              <a:xfrm>
                <a:off x="599" y="1833"/>
                <a:ext cx="1901" cy="717"/>
              </a:xfrm>
              <a:custGeom>
                <a:avLst/>
                <a:gdLst>
                  <a:gd name="T0" fmla="*/ 0 w 1759"/>
                  <a:gd name="T1" fmla="*/ 734 h 695"/>
                  <a:gd name="T2" fmla="*/ 0 w 1759"/>
                  <a:gd name="T3" fmla="*/ 694 h 695"/>
                  <a:gd name="T4" fmla="*/ 0 w 1759"/>
                  <a:gd name="T5" fmla="*/ 661 h 695"/>
                  <a:gd name="T6" fmla="*/ 0 w 1759"/>
                  <a:gd name="T7" fmla="*/ 0 h 695"/>
                  <a:gd name="T8" fmla="*/ 98 w 1759"/>
                  <a:gd name="T9" fmla="*/ 0 h 695"/>
                  <a:gd name="T10" fmla="*/ 222 w 1759"/>
                  <a:gd name="T11" fmla="*/ 12 h 695"/>
                  <a:gd name="T12" fmla="*/ 293 w 1759"/>
                  <a:gd name="T13" fmla="*/ 98 h 695"/>
                  <a:gd name="T14" fmla="*/ 338 w 1759"/>
                  <a:gd name="T15" fmla="*/ 307 h 695"/>
                  <a:gd name="T16" fmla="*/ 495 w 1759"/>
                  <a:gd name="T17" fmla="*/ 307 h 695"/>
                  <a:gd name="T18" fmla="*/ 561 w 1759"/>
                  <a:gd name="T19" fmla="*/ 53 h 695"/>
                  <a:gd name="T20" fmla="*/ 613 w 1759"/>
                  <a:gd name="T21" fmla="*/ 12 h 695"/>
                  <a:gd name="T22" fmla="*/ 711 w 1759"/>
                  <a:gd name="T23" fmla="*/ 12 h 695"/>
                  <a:gd name="T24" fmla="*/ 1050 w 1759"/>
                  <a:gd name="T25" fmla="*/ 12 h 695"/>
                  <a:gd name="T26" fmla="*/ 1442 w 1759"/>
                  <a:gd name="T27" fmla="*/ 12 h 695"/>
                  <a:gd name="T28" fmla="*/ 1539 w 1759"/>
                  <a:gd name="T29" fmla="*/ 39 h 695"/>
                  <a:gd name="T30" fmla="*/ 1592 w 1759"/>
                  <a:gd name="T31" fmla="*/ 183 h 695"/>
                  <a:gd name="T32" fmla="*/ 1597 w 1759"/>
                  <a:gd name="T33" fmla="*/ 321 h 695"/>
                  <a:gd name="T34" fmla="*/ 1781 w 1759"/>
                  <a:gd name="T35" fmla="*/ 321 h 695"/>
                  <a:gd name="T36" fmla="*/ 1813 w 1759"/>
                  <a:gd name="T37" fmla="*/ 71 h 695"/>
                  <a:gd name="T38" fmla="*/ 1918 w 1759"/>
                  <a:gd name="T39" fmla="*/ 20 h 695"/>
                  <a:gd name="T40" fmla="*/ 2054 w 1759"/>
                  <a:gd name="T41" fmla="*/ 26 h 695"/>
                  <a:gd name="T42" fmla="*/ 2054 w 1759"/>
                  <a:gd name="T43" fmla="*/ 740 h 695"/>
                  <a:gd name="T44" fmla="*/ 0 w 1759"/>
                  <a:gd name="T45" fmla="*/ 734 h 69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59" h="695">
                    <a:moveTo>
                      <a:pt x="0" y="689"/>
                    </a:moveTo>
                    <a:lnTo>
                      <a:pt x="0" y="652"/>
                    </a:lnTo>
                    <a:lnTo>
                      <a:pt x="0" y="621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190" y="12"/>
                    </a:lnTo>
                    <a:lnTo>
                      <a:pt x="251" y="92"/>
                    </a:lnTo>
                    <a:lnTo>
                      <a:pt x="290" y="289"/>
                    </a:lnTo>
                    <a:lnTo>
                      <a:pt x="424" y="289"/>
                    </a:lnTo>
                    <a:lnTo>
                      <a:pt x="480" y="49"/>
                    </a:lnTo>
                    <a:lnTo>
                      <a:pt x="525" y="12"/>
                    </a:lnTo>
                    <a:lnTo>
                      <a:pt x="609" y="12"/>
                    </a:lnTo>
                    <a:lnTo>
                      <a:pt x="899" y="12"/>
                    </a:lnTo>
                    <a:lnTo>
                      <a:pt x="1234" y="12"/>
                    </a:lnTo>
                    <a:lnTo>
                      <a:pt x="1318" y="37"/>
                    </a:lnTo>
                    <a:lnTo>
                      <a:pt x="1363" y="172"/>
                    </a:lnTo>
                    <a:lnTo>
                      <a:pt x="1368" y="301"/>
                    </a:lnTo>
                    <a:lnTo>
                      <a:pt x="1525" y="301"/>
                    </a:lnTo>
                    <a:lnTo>
                      <a:pt x="1553" y="67"/>
                    </a:lnTo>
                    <a:lnTo>
                      <a:pt x="1642" y="18"/>
                    </a:lnTo>
                    <a:lnTo>
                      <a:pt x="1759" y="24"/>
                    </a:lnTo>
                    <a:lnTo>
                      <a:pt x="1759" y="695"/>
                    </a:lnTo>
                    <a:lnTo>
                      <a:pt x="0" y="689"/>
                    </a:lnTo>
                    <a:close/>
                  </a:path>
                </a:pathLst>
              </a:custGeom>
              <a:solidFill>
                <a:schemeClr val="folHlink">
                  <a:alpha val="50195"/>
                </a:schemeClr>
              </a:solidFill>
              <a:ln w="17463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5548" name="Oval 21"/>
            <p:cNvSpPr>
              <a:spLocks noChangeArrowheads="1"/>
            </p:cNvSpPr>
            <p:nvPr/>
          </p:nvSpPr>
          <p:spPr bwMode="auto">
            <a:xfrm>
              <a:off x="1538" y="2377"/>
              <a:ext cx="693" cy="180"/>
            </a:xfrm>
            <a:prstGeom prst="ellipse">
              <a:avLst/>
            </a:prstGeom>
            <a:solidFill>
              <a:srgbClr val="FFFFFF"/>
            </a:solidFill>
            <a:ln w="17463">
              <a:solidFill>
                <a:srgbClr val="000000"/>
              </a:solidFill>
              <a:round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49" name="Rectangle 22"/>
            <p:cNvSpPr>
              <a:spLocks noChangeArrowheads="1"/>
            </p:cNvSpPr>
            <p:nvPr/>
          </p:nvSpPr>
          <p:spPr bwMode="auto">
            <a:xfrm>
              <a:off x="852" y="2639"/>
              <a:ext cx="1907" cy="529"/>
            </a:xfrm>
            <a:prstGeom prst="rect">
              <a:avLst/>
            </a:prstGeom>
            <a:solidFill>
              <a:srgbClr val="FFFFFF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50" name="Rectangle 23"/>
            <p:cNvSpPr>
              <a:spLocks noChangeArrowheads="1"/>
            </p:cNvSpPr>
            <p:nvPr/>
          </p:nvSpPr>
          <p:spPr bwMode="auto">
            <a:xfrm>
              <a:off x="1191" y="2107"/>
              <a:ext cx="129" cy="105"/>
            </a:xfrm>
            <a:prstGeom prst="rect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551" name="Rectangle 24"/>
            <p:cNvSpPr>
              <a:spLocks noChangeArrowheads="1"/>
            </p:cNvSpPr>
            <p:nvPr/>
          </p:nvSpPr>
          <p:spPr bwMode="auto">
            <a:xfrm>
              <a:off x="2371" y="2139"/>
              <a:ext cx="129" cy="104"/>
            </a:xfrm>
            <a:prstGeom prst="rect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552" name="Rectangle 25"/>
            <p:cNvSpPr>
              <a:spLocks noChangeArrowheads="1"/>
            </p:cNvSpPr>
            <p:nvPr/>
          </p:nvSpPr>
          <p:spPr bwMode="auto">
            <a:xfrm>
              <a:off x="1854" y="1947"/>
              <a:ext cx="134" cy="105"/>
            </a:xfrm>
            <a:prstGeom prst="rect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53" name="Freeform 26"/>
            <p:cNvSpPr/>
            <p:nvPr/>
          </p:nvSpPr>
          <p:spPr bwMode="auto">
            <a:xfrm>
              <a:off x="842" y="2606"/>
              <a:ext cx="542" cy="160"/>
            </a:xfrm>
            <a:custGeom>
              <a:avLst/>
              <a:gdLst>
                <a:gd name="T0" fmla="*/ 542 w 542"/>
                <a:gd name="T1" fmla="*/ 0 h 160"/>
                <a:gd name="T2" fmla="*/ 530 w 542"/>
                <a:gd name="T3" fmla="*/ 61 h 160"/>
                <a:gd name="T4" fmla="*/ 519 w 542"/>
                <a:gd name="T5" fmla="*/ 92 h 160"/>
                <a:gd name="T6" fmla="*/ 502 w 542"/>
                <a:gd name="T7" fmla="*/ 117 h 160"/>
                <a:gd name="T8" fmla="*/ 480 w 542"/>
                <a:gd name="T9" fmla="*/ 135 h 160"/>
                <a:gd name="T10" fmla="*/ 458 w 542"/>
                <a:gd name="T11" fmla="*/ 148 h 160"/>
                <a:gd name="T12" fmla="*/ 424 w 542"/>
                <a:gd name="T13" fmla="*/ 154 h 160"/>
                <a:gd name="T14" fmla="*/ 402 w 542"/>
                <a:gd name="T15" fmla="*/ 160 h 160"/>
                <a:gd name="T16" fmla="*/ 374 w 542"/>
                <a:gd name="T17" fmla="*/ 160 h 160"/>
                <a:gd name="T18" fmla="*/ 335 w 542"/>
                <a:gd name="T19" fmla="*/ 160 h 160"/>
                <a:gd name="T20" fmla="*/ 290 w 542"/>
                <a:gd name="T21" fmla="*/ 160 h 160"/>
                <a:gd name="T22" fmla="*/ 234 w 542"/>
                <a:gd name="T23" fmla="*/ 160 h 160"/>
                <a:gd name="T24" fmla="*/ 178 w 542"/>
                <a:gd name="T25" fmla="*/ 160 h 160"/>
                <a:gd name="T26" fmla="*/ 123 w 542"/>
                <a:gd name="T27" fmla="*/ 160 h 160"/>
                <a:gd name="T28" fmla="*/ 72 w 542"/>
                <a:gd name="T29" fmla="*/ 160 h 160"/>
                <a:gd name="T30" fmla="*/ 28 w 542"/>
                <a:gd name="T31" fmla="*/ 160 h 160"/>
                <a:gd name="T32" fmla="*/ 0 w 542"/>
                <a:gd name="T33" fmla="*/ 160 h 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2" h="160">
                  <a:moveTo>
                    <a:pt x="542" y="0"/>
                  </a:moveTo>
                  <a:lnTo>
                    <a:pt x="530" y="61"/>
                  </a:lnTo>
                  <a:lnTo>
                    <a:pt x="519" y="92"/>
                  </a:lnTo>
                  <a:lnTo>
                    <a:pt x="502" y="117"/>
                  </a:lnTo>
                  <a:lnTo>
                    <a:pt x="480" y="135"/>
                  </a:lnTo>
                  <a:lnTo>
                    <a:pt x="458" y="148"/>
                  </a:lnTo>
                  <a:lnTo>
                    <a:pt x="424" y="154"/>
                  </a:lnTo>
                  <a:lnTo>
                    <a:pt x="402" y="160"/>
                  </a:lnTo>
                  <a:lnTo>
                    <a:pt x="374" y="160"/>
                  </a:lnTo>
                  <a:lnTo>
                    <a:pt x="335" y="160"/>
                  </a:lnTo>
                  <a:lnTo>
                    <a:pt x="290" y="160"/>
                  </a:lnTo>
                  <a:lnTo>
                    <a:pt x="234" y="160"/>
                  </a:lnTo>
                  <a:lnTo>
                    <a:pt x="178" y="160"/>
                  </a:lnTo>
                  <a:lnTo>
                    <a:pt x="123" y="160"/>
                  </a:lnTo>
                  <a:lnTo>
                    <a:pt x="72" y="160"/>
                  </a:lnTo>
                  <a:lnTo>
                    <a:pt x="28" y="160"/>
                  </a:lnTo>
                  <a:lnTo>
                    <a:pt x="0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54" name="Freeform 27"/>
            <p:cNvSpPr/>
            <p:nvPr/>
          </p:nvSpPr>
          <p:spPr bwMode="auto">
            <a:xfrm>
              <a:off x="2273" y="2606"/>
              <a:ext cx="502" cy="154"/>
            </a:xfrm>
            <a:custGeom>
              <a:avLst/>
              <a:gdLst>
                <a:gd name="T0" fmla="*/ 0 w 502"/>
                <a:gd name="T1" fmla="*/ 0 h 154"/>
                <a:gd name="T2" fmla="*/ 11 w 502"/>
                <a:gd name="T3" fmla="*/ 61 h 154"/>
                <a:gd name="T4" fmla="*/ 22 w 502"/>
                <a:gd name="T5" fmla="*/ 92 h 154"/>
                <a:gd name="T6" fmla="*/ 39 w 502"/>
                <a:gd name="T7" fmla="*/ 111 h 154"/>
                <a:gd name="T8" fmla="*/ 55 w 502"/>
                <a:gd name="T9" fmla="*/ 129 h 154"/>
                <a:gd name="T10" fmla="*/ 78 w 502"/>
                <a:gd name="T11" fmla="*/ 141 h 154"/>
                <a:gd name="T12" fmla="*/ 111 w 502"/>
                <a:gd name="T13" fmla="*/ 148 h 154"/>
                <a:gd name="T14" fmla="*/ 128 w 502"/>
                <a:gd name="T15" fmla="*/ 154 h 154"/>
                <a:gd name="T16" fmla="*/ 156 w 502"/>
                <a:gd name="T17" fmla="*/ 154 h 154"/>
                <a:gd name="T18" fmla="*/ 189 w 502"/>
                <a:gd name="T19" fmla="*/ 154 h 154"/>
                <a:gd name="T20" fmla="*/ 234 w 502"/>
                <a:gd name="T21" fmla="*/ 154 h 154"/>
                <a:gd name="T22" fmla="*/ 284 w 502"/>
                <a:gd name="T23" fmla="*/ 154 h 154"/>
                <a:gd name="T24" fmla="*/ 340 w 502"/>
                <a:gd name="T25" fmla="*/ 154 h 154"/>
                <a:gd name="T26" fmla="*/ 390 w 502"/>
                <a:gd name="T27" fmla="*/ 154 h 154"/>
                <a:gd name="T28" fmla="*/ 435 w 502"/>
                <a:gd name="T29" fmla="*/ 154 h 154"/>
                <a:gd name="T30" fmla="*/ 474 w 502"/>
                <a:gd name="T31" fmla="*/ 154 h 154"/>
                <a:gd name="T32" fmla="*/ 502 w 502"/>
                <a:gd name="T33" fmla="*/ 154 h 1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2" h="154">
                  <a:moveTo>
                    <a:pt x="0" y="0"/>
                  </a:moveTo>
                  <a:lnTo>
                    <a:pt x="11" y="61"/>
                  </a:lnTo>
                  <a:lnTo>
                    <a:pt x="22" y="92"/>
                  </a:lnTo>
                  <a:lnTo>
                    <a:pt x="39" y="111"/>
                  </a:lnTo>
                  <a:lnTo>
                    <a:pt x="55" y="129"/>
                  </a:lnTo>
                  <a:lnTo>
                    <a:pt x="78" y="141"/>
                  </a:lnTo>
                  <a:lnTo>
                    <a:pt x="111" y="148"/>
                  </a:lnTo>
                  <a:lnTo>
                    <a:pt x="128" y="154"/>
                  </a:lnTo>
                  <a:lnTo>
                    <a:pt x="156" y="154"/>
                  </a:lnTo>
                  <a:lnTo>
                    <a:pt x="189" y="154"/>
                  </a:lnTo>
                  <a:lnTo>
                    <a:pt x="234" y="154"/>
                  </a:lnTo>
                  <a:lnTo>
                    <a:pt x="284" y="154"/>
                  </a:lnTo>
                  <a:lnTo>
                    <a:pt x="340" y="154"/>
                  </a:lnTo>
                  <a:lnTo>
                    <a:pt x="390" y="154"/>
                  </a:lnTo>
                  <a:lnTo>
                    <a:pt x="435" y="154"/>
                  </a:lnTo>
                  <a:lnTo>
                    <a:pt x="474" y="154"/>
                  </a:lnTo>
                  <a:lnTo>
                    <a:pt x="502" y="1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55" name="Oval 28"/>
            <p:cNvSpPr>
              <a:spLocks noChangeArrowheads="1"/>
            </p:cNvSpPr>
            <p:nvPr/>
          </p:nvSpPr>
          <p:spPr bwMode="auto">
            <a:xfrm>
              <a:off x="1259" y="2667"/>
              <a:ext cx="40" cy="43"/>
            </a:xfrm>
            <a:prstGeom prst="ellipse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round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56" name="Oval 29"/>
            <p:cNvSpPr>
              <a:spLocks noChangeArrowheads="1"/>
            </p:cNvSpPr>
            <p:nvPr/>
          </p:nvSpPr>
          <p:spPr bwMode="auto">
            <a:xfrm>
              <a:off x="2401" y="2686"/>
              <a:ext cx="33" cy="43"/>
            </a:xfrm>
            <a:prstGeom prst="ellipse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round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57" name="Line 30"/>
            <p:cNvSpPr>
              <a:spLocks noChangeShapeType="1"/>
            </p:cNvSpPr>
            <p:nvPr/>
          </p:nvSpPr>
          <p:spPr bwMode="auto">
            <a:xfrm flipH="1">
              <a:off x="1173" y="2706"/>
              <a:ext cx="86" cy="1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58" name="Line 31"/>
            <p:cNvSpPr>
              <a:spLocks noChangeShapeType="1"/>
            </p:cNvSpPr>
            <p:nvPr/>
          </p:nvSpPr>
          <p:spPr bwMode="auto">
            <a:xfrm>
              <a:off x="2423" y="2704"/>
              <a:ext cx="79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59" name="Rectangle 32"/>
            <p:cNvSpPr>
              <a:spLocks noChangeArrowheads="1"/>
            </p:cNvSpPr>
            <p:nvPr/>
          </p:nvSpPr>
          <p:spPr bwMode="auto">
            <a:xfrm>
              <a:off x="1284" y="1485"/>
              <a:ext cx="218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60" name="Rectangle 33"/>
            <p:cNvSpPr>
              <a:spLocks noChangeArrowheads="1"/>
            </p:cNvSpPr>
            <p:nvPr/>
          </p:nvSpPr>
          <p:spPr bwMode="auto">
            <a:xfrm>
              <a:off x="1213" y="1398"/>
              <a:ext cx="10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S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61" name="Rectangle 34"/>
            <p:cNvSpPr>
              <a:spLocks noChangeArrowheads="1"/>
            </p:cNvSpPr>
            <p:nvPr/>
          </p:nvSpPr>
          <p:spPr bwMode="auto">
            <a:xfrm>
              <a:off x="1831" y="1467"/>
              <a:ext cx="212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62" name="Rectangle 35"/>
            <p:cNvSpPr>
              <a:spLocks noChangeArrowheads="1"/>
            </p:cNvSpPr>
            <p:nvPr/>
          </p:nvSpPr>
          <p:spPr bwMode="auto">
            <a:xfrm>
              <a:off x="1843" y="1398"/>
              <a:ext cx="15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63" name="Rectangle 36"/>
            <p:cNvSpPr>
              <a:spLocks noChangeArrowheads="1"/>
            </p:cNvSpPr>
            <p:nvPr/>
          </p:nvSpPr>
          <p:spPr bwMode="auto">
            <a:xfrm>
              <a:off x="2395" y="1485"/>
              <a:ext cx="218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64" name="Rectangle 37"/>
            <p:cNvSpPr>
              <a:spLocks noChangeArrowheads="1"/>
            </p:cNvSpPr>
            <p:nvPr/>
          </p:nvSpPr>
          <p:spPr bwMode="auto">
            <a:xfrm>
              <a:off x="2384" y="1398"/>
              <a:ext cx="1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65" name="Rectangle 38"/>
            <p:cNvSpPr>
              <a:spLocks noChangeArrowheads="1"/>
            </p:cNvSpPr>
            <p:nvPr/>
          </p:nvSpPr>
          <p:spPr bwMode="auto">
            <a:xfrm>
              <a:off x="947" y="2784"/>
              <a:ext cx="212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66" name="Rectangle 39"/>
            <p:cNvSpPr>
              <a:spLocks noChangeArrowheads="1"/>
            </p:cNvSpPr>
            <p:nvPr/>
          </p:nvSpPr>
          <p:spPr bwMode="auto">
            <a:xfrm>
              <a:off x="985" y="2840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rgbClr val="000000"/>
                  </a:solidFill>
                  <a:latin typeface="Times New Roman" panose="02020603050405020304" pitchFamily="18" charset="0"/>
                </a:rPr>
                <a:t>N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5567" name="Rectangle 40"/>
            <p:cNvSpPr>
              <a:spLocks noChangeArrowheads="1"/>
            </p:cNvSpPr>
            <p:nvPr/>
          </p:nvSpPr>
          <p:spPr bwMode="auto">
            <a:xfrm>
              <a:off x="1096" y="2821"/>
              <a:ext cx="41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900">
                  <a:solidFill>
                    <a:srgbClr val="000000"/>
                  </a:solidFill>
                  <a:latin typeface="Times New Roman" panose="02020603050405020304" pitchFamily="18" charset="0"/>
                </a:rPr>
                <a:t>+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568" name="Rectangle 41"/>
            <p:cNvSpPr>
              <a:spLocks noChangeArrowheads="1"/>
            </p:cNvSpPr>
            <p:nvPr/>
          </p:nvSpPr>
          <p:spPr bwMode="auto">
            <a:xfrm>
              <a:off x="2502" y="2784"/>
              <a:ext cx="212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69" name="Rectangle 42"/>
            <p:cNvSpPr>
              <a:spLocks noChangeArrowheads="1"/>
            </p:cNvSpPr>
            <p:nvPr/>
          </p:nvSpPr>
          <p:spPr bwMode="auto">
            <a:xfrm>
              <a:off x="2530" y="2840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rgbClr val="000000"/>
                  </a:solidFill>
                  <a:latin typeface="Times New Roman" panose="02020603050405020304" pitchFamily="18" charset="0"/>
                </a:rPr>
                <a:t>N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5570" name="Rectangle 43"/>
            <p:cNvSpPr>
              <a:spLocks noChangeArrowheads="1"/>
            </p:cNvSpPr>
            <p:nvPr/>
          </p:nvSpPr>
          <p:spPr bwMode="auto">
            <a:xfrm>
              <a:off x="2637" y="2821"/>
              <a:ext cx="41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900">
                  <a:solidFill>
                    <a:srgbClr val="000000"/>
                  </a:solidFill>
                  <a:latin typeface="Times New Roman" panose="02020603050405020304" pitchFamily="18" charset="0"/>
                </a:rPr>
                <a:t>+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571" name="Rectangle 44"/>
            <p:cNvSpPr>
              <a:spLocks noChangeArrowheads="1"/>
            </p:cNvSpPr>
            <p:nvPr/>
          </p:nvSpPr>
          <p:spPr bwMode="auto">
            <a:xfrm>
              <a:off x="1703" y="2747"/>
              <a:ext cx="55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72" name="Rectangle 45"/>
            <p:cNvSpPr>
              <a:spLocks noChangeArrowheads="1"/>
            </p:cNvSpPr>
            <p:nvPr/>
          </p:nvSpPr>
          <p:spPr bwMode="auto">
            <a:xfrm>
              <a:off x="1683" y="2820"/>
              <a:ext cx="8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5573" name="Rectangle 46"/>
            <p:cNvSpPr>
              <a:spLocks noChangeArrowheads="1"/>
            </p:cNvSpPr>
            <p:nvPr/>
          </p:nvSpPr>
          <p:spPr bwMode="auto">
            <a:xfrm>
              <a:off x="1772" y="2820"/>
              <a:ext cx="29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800">
                  <a:solidFill>
                    <a:srgbClr val="000000"/>
                  </a:solidFill>
                </a:rPr>
                <a:t>基片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65574" name="Rectangle 47"/>
            <p:cNvSpPr>
              <a:spLocks noChangeArrowheads="1"/>
            </p:cNvSpPr>
            <p:nvPr/>
          </p:nvSpPr>
          <p:spPr bwMode="auto">
            <a:xfrm>
              <a:off x="2855" y="2210"/>
              <a:ext cx="15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75" name="Rectangle 48"/>
            <p:cNvSpPr>
              <a:spLocks noChangeArrowheads="1"/>
            </p:cNvSpPr>
            <p:nvPr/>
          </p:nvSpPr>
          <p:spPr bwMode="auto">
            <a:xfrm>
              <a:off x="3339" y="1787"/>
              <a:ext cx="21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76" name="Rectangle 49"/>
            <p:cNvSpPr>
              <a:spLocks noChangeArrowheads="1"/>
            </p:cNvSpPr>
            <p:nvPr/>
          </p:nvSpPr>
          <p:spPr bwMode="auto">
            <a:xfrm>
              <a:off x="3406" y="1743"/>
              <a:ext cx="1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77" name="Rectangle 50"/>
            <p:cNvSpPr>
              <a:spLocks noChangeArrowheads="1"/>
            </p:cNvSpPr>
            <p:nvPr/>
          </p:nvSpPr>
          <p:spPr bwMode="auto">
            <a:xfrm>
              <a:off x="3339" y="2649"/>
              <a:ext cx="21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78" name="Rectangle 51"/>
            <p:cNvSpPr>
              <a:spLocks noChangeArrowheads="1"/>
            </p:cNvSpPr>
            <p:nvPr/>
          </p:nvSpPr>
          <p:spPr bwMode="auto">
            <a:xfrm>
              <a:off x="3412" y="2737"/>
              <a:ext cx="10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S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79" name="Freeform 52"/>
            <p:cNvSpPr/>
            <p:nvPr/>
          </p:nvSpPr>
          <p:spPr bwMode="auto">
            <a:xfrm>
              <a:off x="2814" y="1641"/>
              <a:ext cx="222" cy="4"/>
            </a:xfrm>
            <a:custGeom>
              <a:avLst/>
              <a:gdLst>
                <a:gd name="T0" fmla="*/ 0 w 222"/>
                <a:gd name="T1" fmla="*/ 4 h 4"/>
                <a:gd name="T2" fmla="*/ 222 w 2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2" h="4">
                  <a:moveTo>
                    <a:pt x="0" y="4"/>
                  </a:moveTo>
                  <a:lnTo>
                    <a:pt x="22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80" name="Rectangle 53"/>
            <p:cNvSpPr>
              <a:spLocks noChangeArrowheads="1"/>
            </p:cNvSpPr>
            <p:nvPr/>
          </p:nvSpPr>
          <p:spPr bwMode="auto">
            <a:xfrm>
              <a:off x="2670" y="1396"/>
              <a:ext cx="48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/>
                <a:t>浮动栅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65581" name="Rectangle 54"/>
            <p:cNvSpPr>
              <a:spLocks noChangeArrowheads="1"/>
            </p:cNvSpPr>
            <p:nvPr/>
          </p:nvSpPr>
          <p:spPr bwMode="auto">
            <a:xfrm>
              <a:off x="781" y="1547"/>
              <a:ext cx="42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5582" name="Rectangle 55"/>
            <p:cNvSpPr>
              <a:spLocks noChangeArrowheads="1"/>
            </p:cNvSpPr>
            <p:nvPr/>
          </p:nvSpPr>
          <p:spPr bwMode="auto">
            <a:xfrm>
              <a:off x="781" y="1602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500">
                  <a:solidFill>
                    <a:srgbClr val="000000"/>
                  </a:solidFill>
                </a:rPr>
                <a:t>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65583" name="Rectangle 56"/>
            <p:cNvSpPr>
              <a:spLocks noChangeArrowheads="1"/>
            </p:cNvSpPr>
            <p:nvPr/>
          </p:nvSpPr>
          <p:spPr bwMode="auto">
            <a:xfrm>
              <a:off x="445" y="1382"/>
              <a:ext cx="31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SiO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5584" name="Rectangle 57"/>
            <p:cNvSpPr>
              <a:spLocks noChangeArrowheads="1"/>
            </p:cNvSpPr>
            <p:nvPr/>
          </p:nvSpPr>
          <p:spPr bwMode="auto">
            <a:xfrm>
              <a:off x="761" y="1460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>
                  <a:latin typeface="Times New Roman" panose="02020603050405020304" pitchFamily="18" charset="0"/>
                </a:rPr>
                <a:t>2</a:t>
              </a:r>
              <a:endParaRPr lang="zh-CN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65585" name="Text Box 58"/>
            <p:cNvSpPr txBox="1">
              <a:spLocks noChangeArrowheads="1"/>
            </p:cNvSpPr>
            <p:nvPr/>
          </p:nvSpPr>
          <p:spPr bwMode="auto">
            <a:xfrm>
              <a:off x="1479" y="2561"/>
              <a:ext cx="81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+ + + + +</a:t>
              </a:r>
              <a:endParaRPr lang="zh-CN" altLang="en-US" sz="24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5586" name="Text Box 59"/>
            <p:cNvSpPr txBox="1">
              <a:spLocks noChangeArrowheads="1"/>
            </p:cNvSpPr>
            <p:nvPr/>
          </p:nvSpPr>
          <p:spPr bwMode="auto">
            <a:xfrm>
              <a:off x="1686" y="2224"/>
              <a:ext cx="53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_ _ _</a:t>
              </a:r>
              <a:r>
                <a:rPr lang="zh-CN" altLang="en-US" sz="2400" b="0">
                  <a:solidFill>
                    <a:schemeClr val="bg2"/>
                  </a:solidFill>
                  <a:latin typeface="Times New Roman" panose="02020603050405020304" pitchFamily="18" charset="0"/>
                </a:rPr>
                <a:t> </a:t>
              </a:r>
              <a:endParaRPr lang="zh-CN" altLang="en-US" sz="2400" b="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5587" name="Line 60"/>
            <p:cNvSpPr>
              <a:spLocks noChangeShapeType="1"/>
            </p:cNvSpPr>
            <p:nvPr/>
          </p:nvSpPr>
          <p:spPr bwMode="auto">
            <a:xfrm>
              <a:off x="501" y="1703"/>
              <a:ext cx="29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88" name="Line 61"/>
            <p:cNvSpPr>
              <a:spLocks noChangeShapeType="1"/>
            </p:cNvSpPr>
            <p:nvPr/>
          </p:nvSpPr>
          <p:spPr bwMode="auto">
            <a:xfrm>
              <a:off x="782" y="1703"/>
              <a:ext cx="380" cy="7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89" name="Line 62"/>
            <p:cNvSpPr>
              <a:spLocks noChangeShapeType="1"/>
            </p:cNvSpPr>
            <p:nvPr/>
          </p:nvSpPr>
          <p:spPr bwMode="auto">
            <a:xfrm>
              <a:off x="1271" y="1660"/>
              <a:ext cx="0" cy="4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0" name="Line 63"/>
            <p:cNvSpPr>
              <a:spLocks noChangeShapeType="1"/>
            </p:cNvSpPr>
            <p:nvPr/>
          </p:nvSpPr>
          <p:spPr bwMode="auto">
            <a:xfrm>
              <a:off x="1925" y="1660"/>
              <a:ext cx="0" cy="2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1" name="Line 64"/>
            <p:cNvSpPr>
              <a:spLocks noChangeShapeType="1"/>
            </p:cNvSpPr>
            <p:nvPr/>
          </p:nvSpPr>
          <p:spPr bwMode="auto">
            <a:xfrm>
              <a:off x="2438" y="1660"/>
              <a:ext cx="0" cy="4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2" name="Freeform 65"/>
            <p:cNvSpPr/>
            <p:nvPr/>
          </p:nvSpPr>
          <p:spPr bwMode="auto">
            <a:xfrm>
              <a:off x="3032" y="1649"/>
              <a:ext cx="197" cy="391"/>
            </a:xfrm>
            <a:custGeom>
              <a:avLst/>
              <a:gdLst>
                <a:gd name="T0" fmla="*/ 0 w 197"/>
                <a:gd name="T1" fmla="*/ 0 h 391"/>
                <a:gd name="T2" fmla="*/ 197 w 197"/>
                <a:gd name="T3" fmla="*/ 391 h 3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391">
                  <a:moveTo>
                    <a:pt x="0" y="0"/>
                  </a:moveTo>
                  <a:lnTo>
                    <a:pt x="197" y="39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3" name="Line 66"/>
            <p:cNvSpPr>
              <a:spLocks noChangeShapeType="1"/>
            </p:cNvSpPr>
            <p:nvPr/>
          </p:nvSpPr>
          <p:spPr bwMode="auto">
            <a:xfrm flipH="1">
              <a:off x="2077" y="1638"/>
              <a:ext cx="739" cy="7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4" name="Line 67"/>
            <p:cNvSpPr>
              <a:spLocks noChangeShapeType="1"/>
            </p:cNvSpPr>
            <p:nvPr/>
          </p:nvSpPr>
          <p:spPr bwMode="auto">
            <a:xfrm>
              <a:off x="3066" y="2334"/>
              <a:ext cx="8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5" name="Line 68"/>
            <p:cNvSpPr>
              <a:spLocks noChangeShapeType="1"/>
            </p:cNvSpPr>
            <p:nvPr/>
          </p:nvSpPr>
          <p:spPr bwMode="auto">
            <a:xfrm flipH="1">
              <a:off x="3163" y="2235"/>
              <a:ext cx="1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6" name="Line 69"/>
            <p:cNvSpPr>
              <a:spLocks noChangeShapeType="1"/>
            </p:cNvSpPr>
            <p:nvPr/>
          </p:nvSpPr>
          <p:spPr bwMode="auto">
            <a:xfrm>
              <a:off x="3294" y="2149"/>
              <a:ext cx="0" cy="3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7" name="Line 70"/>
            <p:cNvSpPr>
              <a:spLocks noChangeShapeType="1"/>
            </p:cNvSpPr>
            <p:nvPr/>
          </p:nvSpPr>
          <p:spPr bwMode="auto">
            <a:xfrm>
              <a:off x="3294" y="2268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8" name="Line 71"/>
            <p:cNvSpPr>
              <a:spLocks noChangeShapeType="1"/>
            </p:cNvSpPr>
            <p:nvPr/>
          </p:nvSpPr>
          <p:spPr bwMode="auto">
            <a:xfrm flipH="1" flipV="1">
              <a:off x="3446" y="1996"/>
              <a:ext cx="0" cy="2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599" name="Line 72"/>
            <p:cNvSpPr>
              <a:spLocks noChangeShapeType="1"/>
            </p:cNvSpPr>
            <p:nvPr/>
          </p:nvSpPr>
          <p:spPr bwMode="auto">
            <a:xfrm>
              <a:off x="3294" y="2399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600" name="Line 73"/>
            <p:cNvSpPr>
              <a:spLocks noChangeShapeType="1"/>
            </p:cNvSpPr>
            <p:nvPr/>
          </p:nvSpPr>
          <p:spPr bwMode="auto">
            <a:xfrm>
              <a:off x="3446" y="2389"/>
              <a:ext cx="0" cy="3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5601" name="Line 74"/>
            <p:cNvSpPr>
              <a:spLocks noChangeShapeType="1"/>
            </p:cNvSpPr>
            <p:nvPr/>
          </p:nvSpPr>
          <p:spPr bwMode="auto">
            <a:xfrm>
              <a:off x="3229" y="2072"/>
              <a:ext cx="1" cy="5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3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793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3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3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3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3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3603" grpId="0" autoUpdateAnimBg="0"/>
      <p:bldP spid="793608" grpId="0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4765" name="Group 141"/>
          <p:cNvGrpSpPr/>
          <p:nvPr/>
        </p:nvGrpSpPr>
        <p:grpSpPr bwMode="auto">
          <a:xfrm>
            <a:off x="1524000" y="1081088"/>
            <a:ext cx="9525000" cy="4646612"/>
            <a:chOff x="0" y="681"/>
            <a:chExt cx="6000" cy="2927"/>
          </a:xfrm>
        </p:grpSpPr>
        <p:grpSp>
          <p:nvGrpSpPr>
            <p:cNvPr id="66574" name="Group 3"/>
            <p:cNvGrpSpPr/>
            <p:nvPr/>
          </p:nvGrpSpPr>
          <p:grpSpPr bwMode="auto">
            <a:xfrm>
              <a:off x="0" y="681"/>
              <a:ext cx="3552" cy="2927"/>
              <a:chOff x="0" y="681"/>
              <a:chExt cx="3552" cy="2927"/>
            </a:xfrm>
          </p:grpSpPr>
          <p:sp>
            <p:nvSpPr>
              <p:cNvPr id="66630" name="Text Box 4"/>
              <p:cNvSpPr txBox="1">
                <a:spLocks noChangeArrowheads="1"/>
              </p:cNvSpPr>
              <p:nvPr/>
            </p:nvSpPr>
            <p:spPr bwMode="auto">
              <a:xfrm>
                <a:off x="1581" y="2793"/>
                <a:ext cx="388" cy="62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31" name="Text Box 5"/>
              <p:cNvSpPr txBox="1">
                <a:spLocks noChangeArrowheads="1"/>
              </p:cNvSpPr>
              <p:nvPr/>
            </p:nvSpPr>
            <p:spPr bwMode="auto">
              <a:xfrm>
                <a:off x="912" y="1248"/>
                <a:ext cx="100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控制逻辑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32" name="Rectangle 6"/>
              <p:cNvSpPr>
                <a:spLocks noChangeArrowheads="1"/>
              </p:cNvSpPr>
              <p:nvPr/>
            </p:nvSpPr>
            <p:spPr bwMode="auto">
              <a:xfrm>
                <a:off x="912" y="1152"/>
                <a:ext cx="768" cy="4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grpSp>
            <p:nvGrpSpPr>
              <p:cNvPr id="66633" name="Group 7"/>
              <p:cNvGrpSpPr/>
              <p:nvPr/>
            </p:nvGrpSpPr>
            <p:grpSpPr bwMode="auto">
              <a:xfrm>
                <a:off x="1002" y="1776"/>
                <a:ext cx="678" cy="480"/>
                <a:chOff x="834" y="1776"/>
                <a:chExt cx="678" cy="480"/>
              </a:xfrm>
            </p:grpSpPr>
            <p:sp>
              <p:nvSpPr>
                <p:cNvPr id="66698" name="Rectangle 8"/>
                <p:cNvSpPr>
                  <a:spLocks noChangeArrowheads="1"/>
                </p:cNvSpPr>
                <p:nvPr/>
              </p:nvSpPr>
              <p:spPr bwMode="auto">
                <a:xfrm>
                  <a:off x="864" y="1776"/>
                  <a:ext cx="526" cy="48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66699" name="Text Box 9"/>
                <p:cNvSpPr txBox="1">
                  <a:spLocks noChangeArrowheads="1"/>
                </p:cNvSpPr>
                <p:nvPr/>
              </p:nvSpPr>
              <p:spPr bwMode="auto">
                <a:xfrm>
                  <a:off x="834" y="1904"/>
                  <a:ext cx="678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Y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译码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6634" name="Group 10"/>
              <p:cNvGrpSpPr/>
              <p:nvPr/>
            </p:nvGrpSpPr>
            <p:grpSpPr bwMode="auto">
              <a:xfrm>
                <a:off x="1032" y="2448"/>
                <a:ext cx="528" cy="912"/>
                <a:chOff x="864" y="2544"/>
                <a:chExt cx="528" cy="912"/>
              </a:xfrm>
            </p:grpSpPr>
            <p:sp>
              <p:nvSpPr>
                <p:cNvPr id="66696" name="Rectangle 11"/>
                <p:cNvSpPr>
                  <a:spLocks noChangeArrowheads="1"/>
                </p:cNvSpPr>
                <p:nvPr/>
              </p:nvSpPr>
              <p:spPr bwMode="auto">
                <a:xfrm>
                  <a:off x="864" y="2544"/>
                  <a:ext cx="528" cy="91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66697" name="Text Box 12"/>
                <p:cNvSpPr txBox="1">
                  <a:spLocks noChangeArrowheads="1"/>
                </p:cNvSpPr>
                <p:nvPr/>
              </p:nvSpPr>
              <p:spPr bwMode="auto">
                <a:xfrm>
                  <a:off x="1002" y="2582"/>
                  <a:ext cx="333" cy="82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X </a:t>
                  </a:r>
                  <a:endParaRPr lang="en-US" altLang="zh-CN" sz="2000">
                    <a:latin typeface="Times New Roman" panose="02020603050405020304" pitchFamily="18" charset="0"/>
                  </a:endParaRPr>
                </a:p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6635" name="Group 13"/>
              <p:cNvGrpSpPr/>
              <p:nvPr/>
            </p:nvGrpSpPr>
            <p:grpSpPr bwMode="auto">
              <a:xfrm>
                <a:off x="1872" y="1218"/>
                <a:ext cx="1440" cy="288"/>
                <a:chOff x="2112" y="1152"/>
                <a:chExt cx="1440" cy="288"/>
              </a:xfrm>
            </p:grpSpPr>
            <p:sp>
              <p:nvSpPr>
                <p:cNvPr id="66694" name="Rectangle 14"/>
                <p:cNvSpPr>
                  <a:spLocks noChangeArrowheads="1"/>
                </p:cNvSpPr>
                <p:nvPr/>
              </p:nvSpPr>
              <p:spPr bwMode="auto">
                <a:xfrm>
                  <a:off x="2112" y="1152"/>
                  <a:ext cx="1200" cy="28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66695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2256" y="1160"/>
                  <a:ext cx="12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数据缓冲区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6636" name="Group 16"/>
              <p:cNvGrpSpPr/>
              <p:nvPr/>
            </p:nvGrpSpPr>
            <p:grpSpPr bwMode="auto">
              <a:xfrm>
                <a:off x="1872" y="1824"/>
                <a:ext cx="1584" cy="432"/>
                <a:chOff x="1968" y="1872"/>
                <a:chExt cx="1584" cy="432"/>
              </a:xfrm>
            </p:grpSpPr>
            <p:sp>
              <p:nvSpPr>
                <p:cNvPr id="66692" name="Rectangle 17"/>
                <p:cNvSpPr>
                  <a:spLocks noChangeArrowheads="1"/>
                </p:cNvSpPr>
                <p:nvPr/>
              </p:nvSpPr>
              <p:spPr bwMode="auto">
                <a:xfrm>
                  <a:off x="1968" y="1872"/>
                  <a:ext cx="1200" cy="4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66693" name="Text Box 18"/>
                <p:cNvSpPr txBox="1">
                  <a:spLocks noChangeArrowheads="1"/>
                </p:cNvSpPr>
                <p:nvPr/>
              </p:nvSpPr>
              <p:spPr bwMode="auto">
                <a:xfrm>
                  <a:off x="2256" y="1957"/>
                  <a:ext cx="1296" cy="25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Y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控制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6637" name="Group 19"/>
              <p:cNvGrpSpPr/>
              <p:nvPr/>
            </p:nvGrpSpPr>
            <p:grpSpPr bwMode="auto">
              <a:xfrm>
                <a:off x="1872" y="2592"/>
                <a:ext cx="1488" cy="576"/>
                <a:chOff x="1968" y="2976"/>
                <a:chExt cx="1488" cy="576"/>
              </a:xfrm>
            </p:grpSpPr>
            <p:sp>
              <p:nvSpPr>
                <p:cNvPr id="66690" name="Rectangle 20"/>
                <p:cNvSpPr>
                  <a:spLocks noChangeArrowheads="1"/>
                </p:cNvSpPr>
                <p:nvPr/>
              </p:nvSpPr>
              <p:spPr bwMode="auto">
                <a:xfrm>
                  <a:off x="1968" y="2976"/>
                  <a:ext cx="1200" cy="57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66691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2160" y="2996"/>
                  <a:ext cx="1296" cy="50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80000"/>
                    </a:lnSpc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128 </a:t>
                  </a:r>
                  <a:r>
                    <a:rPr lang="en-US" altLang="zh-CN" sz="260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×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 128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  <a:p>
                  <a:pPr eaLnBrk="1" hangingPunct="1">
                    <a:lnSpc>
                      <a:spcPct val="80000"/>
                    </a:lnSpc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存储矩阵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66638" name="Line 22"/>
              <p:cNvSpPr>
                <a:spLocks noChangeShapeType="1"/>
              </p:cNvSpPr>
              <p:nvPr/>
            </p:nvSpPr>
            <p:spPr bwMode="auto">
              <a:xfrm flipH="1">
                <a:off x="720" y="124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39" name="Line 23"/>
              <p:cNvSpPr>
                <a:spLocks noChangeShapeType="1"/>
              </p:cNvSpPr>
              <p:nvPr/>
            </p:nvSpPr>
            <p:spPr bwMode="auto">
              <a:xfrm flipH="1">
                <a:off x="720" y="148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0" name="Line 24"/>
              <p:cNvSpPr>
                <a:spLocks noChangeShapeType="1"/>
              </p:cNvSpPr>
              <p:nvPr/>
            </p:nvSpPr>
            <p:spPr bwMode="auto">
              <a:xfrm flipH="1">
                <a:off x="850" y="182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1" name="Line 25"/>
              <p:cNvSpPr>
                <a:spLocks noChangeShapeType="1"/>
              </p:cNvSpPr>
              <p:nvPr/>
            </p:nvSpPr>
            <p:spPr bwMode="auto">
              <a:xfrm flipH="1">
                <a:off x="850" y="220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2" name="Line 26"/>
              <p:cNvSpPr>
                <a:spLocks noChangeShapeType="1"/>
              </p:cNvSpPr>
              <p:nvPr/>
            </p:nvSpPr>
            <p:spPr bwMode="auto">
              <a:xfrm flipH="1">
                <a:off x="850" y="195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3" name="Line 27"/>
              <p:cNvSpPr>
                <a:spLocks noChangeShapeType="1"/>
              </p:cNvSpPr>
              <p:nvPr/>
            </p:nvSpPr>
            <p:spPr bwMode="auto">
              <a:xfrm flipH="1">
                <a:off x="850" y="208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4" name="Line 28"/>
              <p:cNvSpPr>
                <a:spLocks noChangeShapeType="1"/>
              </p:cNvSpPr>
              <p:nvPr/>
            </p:nvSpPr>
            <p:spPr bwMode="auto">
              <a:xfrm flipH="1">
                <a:off x="850" y="263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5" name="Line 29"/>
              <p:cNvSpPr>
                <a:spLocks noChangeShapeType="1"/>
              </p:cNvSpPr>
              <p:nvPr/>
            </p:nvSpPr>
            <p:spPr bwMode="auto">
              <a:xfrm flipH="1">
                <a:off x="850" y="331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6" name="Line 30"/>
              <p:cNvSpPr>
                <a:spLocks noChangeShapeType="1"/>
              </p:cNvSpPr>
              <p:nvPr/>
            </p:nvSpPr>
            <p:spPr bwMode="auto">
              <a:xfrm flipH="1">
                <a:off x="850" y="317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7" name="Line 31"/>
              <p:cNvSpPr>
                <a:spLocks noChangeShapeType="1"/>
              </p:cNvSpPr>
              <p:nvPr/>
            </p:nvSpPr>
            <p:spPr bwMode="auto">
              <a:xfrm flipH="1">
                <a:off x="850" y="304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8" name="Line 32"/>
              <p:cNvSpPr>
                <a:spLocks noChangeShapeType="1"/>
              </p:cNvSpPr>
              <p:nvPr/>
            </p:nvSpPr>
            <p:spPr bwMode="auto">
              <a:xfrm flipH="1">
                <a:off x="850" y="290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49" name="Line 33"/>
              <p:cNvSpPr>
                <a:spLocks noChangeShapeType="1"/>
              </p:cNvSpPr>
              <p:nvPr/>
            </p:nvSpPr>
            <p:spPr bwMode="auto">
              <a:xfrm flipH="1">
                <a:off x="850" y="276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0" name="Line 34"/>
              <p:cNvSpPr>
                <a:spLocks noChangeShapeType="1"/>
              </p:cNvSpPr>
              <p:nvPr/>
            </p:nvSpPr>
            <p:spPr bwMode="auto">
              <a:xfrm>
                <a:off x="1555" y="2688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1" name="Line 35"/>
              <p:cNvSpPr>
                <a:spLocks noChangeShapeType="1"/>
              </p:cNvSpPr>
              <p:nvPr/>
            </p:nvSpPr>
            <p:spPr bwMode="auto">
              <a:xfrm>
                <a:off x="1555" y="2784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2" name="Line 36"/>
              <p:cNvSpPr>
                <a:spLocks noChangeShapeType="1"/>
              </p:cNvSpPr>
              <p:nvPr/>
            </p:nvSpPr>
            <p:spPr bwMode="auto">
              <a:xfrm>
                <a:off x="1555" y="3072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3" name="Line 37"/>
              <p:cNvSpPr>
                <a:spLocks noChangeShapeType="1"/>
              </p:cNvSpPr>
              <p:nvPr/>
            </p:nvSpPr>
            <p:spPr bwMode="auto">
              <a:xfrm>
                <a:off x="1555" y="2208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4" name="Line 38"/>
              <p:cNvSpPr>
                <a:spLocks noChangeShapeType="1"/>
              </p:cNvSpPr>
              <p:nvPr/>
            </p:nvSpPr>
            <p:spPr bwMode="auto">
              <a:xfrm>
                <a:off x="1555" y="1872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5" name="Line 39"/>
              <p:cNvSpPr>
                <a:spLocks noChangeShapeType="1"/>
              </p:cNvSpPr>
              <p:nvPr/>
            </p:nvSpPr>
            <p:spPr bwMode="auto">
              <a:xfrm>
                <a:off x="1555" y="1968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6" name="Line 40"/>
              <p:cNvSpPr>
                <a:spLocks noChangeShapeType="1"/>
              </p:cNvSpPr>
              <p:nvPr/>
            </p:nvSpPr>
            <p:spPr bwMode="auto">
              <a:xfrm>
                <a:off x="1680" y="136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7" name="Line 41"/>
              <p:cNvSpPr>
                <a:spLocks noChangeShapeType="1"/>
              </p:cNvSpPr>
              <p:nvPr/>
            </p:nvSpPr>
            <p:spPr bwMode="auto">
              <a:xfrm rot="5400000" flipH="1">
                <a:off x="1872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8" name="Line 42"/>
              <p:cNvSpPr>
                <a:spLocks noChangeShapeType="1"/>
              </p:cNvSpPr>
              <p:nvPr/>
            </p:nvSpPr>
            <p:spPr bwMode="auto">
              <a:xfrm rot="5400000" flipH="1">
                <a:off x="2880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59" name="Line 43"/>
              <p:cNvSpPr>
                <a:spLocks noChangeShapeType="1"/>
              </p:cNvSpPr>
              <p:nvPr/>
            </p:nvSpPr>
            <p:spPr bwMode="auto">
              <a:xfrm rot="5400000" flipH="1">
                <a:off x="2016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0" name="Line 44"/>
              <p:cNvSpPr>
                <a:spLocks noChangeShapeType="1"/>
              </p:cNvSpPr>
              <p:nvPr/>
            </p:nvSpPr>
            <p:spPr bwMode="auto">
              <a:xfrm rot="5400000" flipH="1">
                <a:off x="2160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1" name="Line 45"/>
              <p:cNvSpPr>
                <a:spLocks noChangeShapeType="1"/>
              </p:cNvSpPr>
              <p:nvPr/>
            </p:nvSpPr>
            <p:spPr bwMode="auto">
              <a:xfrm rot="5400000" flipH="1">
                <a:off x="2304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2" name="Line 46"/>
              <p:cNvSpPr>
                <a:spLocks noChangeShapeType="1"/>
              </p:cNvSpPr>
              <p:nvPr/>
            </p:nvSpPr>
            <p:spPr bwMode="auto">
              <a:xfrm rot="5400000" flipH="1">
                <a:off x="2448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3" name="Line 47"/>
              <p:cNvSpPr>
                <a:spLocks noChangeShapeType="1"/>
              </p:cNvSpPr>
              <p:nvPr/>
            </p:nvSpPr>
            <p:spPr bwMode="auto">
              <a:xfrm rot="5400000" flipH="1">
                <a:off x="2592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4" name="Line 48"/>
              <p:cNvSpPr>
                <a:spLocks noChangeShapeType="1"/>
              </p:cNvSpPr>
              <p:nvPr/>
            </p:nvSpPr>
            <p:spPr bwMode="auto">
              <a:xfrm rot="5400000" flipH="1">
                <a:off x="2736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5" name="Line 49"/>
              <p:cNvSpPr>
                <a:spLocks noChangeShapeType="1"/>
              </p:cNvSpPr>
              <p:nvPr/>
            </p:nvSpPr>
            <p:spPr bwMode="auto">
              <a:xfrm>
                <a:off x="1968" y="1516"/>
                <a:ext cx="0" cy="3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6" name="Line 50"/>
              <p:cNvSpPr>
                <a:spLocks noChangeShapeType="1"/>
              </p:cNvSpPr>
              <p:nvPr/>
            </p:nvSpPr>
            <p:spPr bwMode="auto">
              <a:xfrm>
                <a:off x="2112" y="1516"/>
                <a:ext cx="0" cy="3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7" name="Line 51"/>
              <p:cNvSpPr>
                <a:spLocks noChangeShapeType="1"/>
              </p:cNvSpPr>
              <p:nvPr/>
            </p:nvSpPr>
            <p:spPr bwMode="auto">
              <a:xfrm>
                <a:off x="2976" y="1516"/>
                <a:ext cx="0" cy="3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8" name="Line 52"/>
              <p:cNvSpPr>
                <a:spLocks noChangeShapeType="1"/>
              </p:cNvSpPr>
              <p:nvPr/>
            </p:nvSpPr>
            <p:spPr bwMode="auto">
              <a:xfrm>
                <a:off x="1968" y="2267"/>
                <a:ext cx="0" cy="3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69" name="Line 53"/>
              <p:cNvSpPr>
                <a:spLocks noChangeShapeType="1"/>
              </p:cNvSpPr>
              <p:nvPr/>
            </p:nvSpPr>
            <p:spPr bwMode="auto">
              <a:xfrm>
                <a:off x="2112" y="2267"/>
                <a:ext cx="0" cy="3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70" name="Line 54"/>
              <p:cNvSpPr>
                <a:spLocks noChangeShapeType="1"/>
              </p:cNvSpPr>
              <p:nvPr/>
            </p:nvSpPr>
            <p:spPr bwMode="auto">
              <a:xfrm>
                <a:off x="2976" y="2267"/>
                <a:ext cx="0" cy="3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71" name="Text Box 55"/>
              <p:cNvSpPr txBox="1">
                <a:spLocks noChangeArrowheads="1"/>
              </p:cNvSpPr>
              <p:nvPr/>
            </p:nvSpPr>
            <p:spPr bwMode="auto">
              <a:xfrm>
                <a:off x="2322" y="1449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72" name="Text Box 56"/>
              <p:cNvSpPr txBox="1">
                <a:spLocks noChangeArrowheads="1"/>
              </p:cNvSpPr>
              <p:nvPr/>
            </p:nvSpPr>
            <p:spPr bwMode="auto">
              <a:xfrm>
                <a:off x="2322" y="2208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6673" name="Group 57"/>
              <p:cNvGrpSpPr/>
              <p:nvPr/>
            </p:nvGrpSpPr>
            <p:grpSpPr bwMode="auto">
              <a:xfrm>
                <a:off x="0" y="1094"/>
                <a:ext cx="960" cy="250"/>
                <a:chOff x="96" y="998"/>
                <a:chExt cx="960" cy="250"/>
              </a:xfrm>
            </p:grpSpPr>
            <p:sp>
              <p:nvSpPr>
                <p:cNvPr id="66688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96" y="998"/>
                  <a:ext cx="960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PD/Progr</a:t>
                  </a:r>
                  <a:endParaRPr lang="en-US" altLang="zh-CN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66689" name="Line 59"/>
                <p:cNvSpPr>
                  <a:spLocks noChangeShapeType="1"/>
                </p:cNvSpPr>
                <p:nvPr/>
              </p:nvSpPr>
              <p:spPr bwMode="auto">
                <a:xfrm>
                  <a:off x="144" y="1031"/>
                  <a:ext cx="24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6674" name="Group 60"/>
              <p:cNvGrpSpPr/>
              <p:nvPr/>
            </p:nvGrpSpPr>
            <p:grpSpPr bwMode="auto">
              <a:xfrm>
                <a:off x="432" y="1382"/>
                <a:ext cx="480" cy="250"/>
                <a:chOff x="432" y="1382"/>
                <a:chExt cx="480" cy="250"/>
              </a:xfrm>
            </p:grpSpPr>
            <p:sp>
              <p:nvSpPr>
                <p:cNvPr id="66686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432" y="1382"/>
                  <a:ext cx="480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CS</a:t>
                  </a:r>
                  <a:endParaRPr lang="en-US" altLang="zh-CN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66687" name="Line 62"/>
                <p:cNvSpPr>
                  <a:spLocks noChangeShapeType="1"/>
                </p:cNvSpPr>
                <p:nvPr/>
              </p:nvSpPr>
              <p:spPr bwMode="auto">
                <a:xfrm>
                  <a:off x="498" y="1419"/>
                  <a:ext cx="20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66675" name="Text Box 63"/>
              <p:cNvSpPr txBox="1">
                <a:spLocks noChangeArrowheads="1"/>
              </p:cNvSpPr>
              <p:nvPr/>
            </p:nvSpPr>
            <p:spPr bwMode="auto">
              <a:xfrm>
                <a:off x="576" y="1584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76" name="Text Box 64"/>
              <p:cNvSpPr txBox="1">
                <a:spLocks noChangeArrowheads="1"/>
              </p:cNvSpPr>
              <p:nvPr/>
            </p:nvSpPr>
            <p:spPr bwMode="auto">
              <a:xfrm>
                <a:off x="576" y="2064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77" name="Text Box 65"/>
              <p:cNvSpPr txBox="1">
                <a:spLocks noChangeArrowheads="1"/>
              </p:cNvSpPr>
              <p:nvPr/>
            </p:nvSpPr>
            <p:spPr bwMode="auto">
              <a:xfrm>
                <a:off x="620" y="1872"/>
                <a:ext cx="388" cy="4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78" name="Text Box 66"/>
              <p:cNvSpPr txBox="1">
                <a:spLocks noChangeArrowheads="1"/>
              </p:cNvSpPr>
              <p:nvPr/>
            </p:nvSpPr>
            <p:spPr bwMode="auto">
              <a:xfrm>
                <a:off x="576" y="2304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79" name="Text Box 67"/>
              <p:cNvSpPr txBox="1">
                <a:spLocks noChangeArrowheads="1"/>
              </p:cNvSpPr>
              <p:nvPr/>
            </p:nvSpPr>
            <p:spPr bwMode="auto">
              <a:xfrm>
                <a:off x="576" y="3162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80" name="Line 68"/>
              <p:cNvSpPr>
                <a:spLocks noChangeShapeType="1"/>
              </p:cNvSpPr>
              <p:nvPr/>
            </p:nvSpPr>
            <p:spPr bwMode="auto">
              <a:xfrm flipH="1">
                <a:off x="850" y="2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81" name="Text Box 69"/>
              <p:cNvSpPr txBox="1">
                <a:spLocks noChangeArrowheads="1"/>
              </p:cNvSpPr>
              <p:nvPr/>
            </p:nvSpPr>
            <p:spPr bwMode="auto">
              <a:xfrm>
                <a:off x="1581" y="1959"/>
                <a:ext cx="388" cy="38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/>
              </a:p>
            </p:txBody>
          </p:sp>
          <p:sp>
            <p:nvSpPr>
              <p:cNvPr id="66682" name="Text Box 70"/>
              <p:cNvSpPr txBox="1">
                <a:spLocks noChangeArrowheads="1"/>
              </p:cNvSpPr>
              <p:nvPr/>
            </p:nvSpPr>
            <p:spPr bwMode="auto">
              <a:xfrm>
                <a:off x="620" y="2784"/>
                <a:ext cx="388" cy="62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83" name="Text Box 71"/>
              <p:cNvSpPr txBox="1">
                <a:spLocks noChangeArrowheads="1"/>
              </p:cNvSpPr>
              <p:nvPr/>
            </p:nvSpPr>
            <p:spPr bwMode="auto">
              <a:xfrm>
                <a:off x="1728" y="76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84" name="Text Box 72"/>
              <p:cNvSpPr txBox="1">
                <a:spLocks noChangeArrowheads="1"/>
              </p:cNvSpPr>
              <p:nvPr/>
            </p:nvSpPr>
            <p:spPr bwMode="auto">
              <a:xfrm>
                <a:off x="2322" y="681"/>
                <a:ext cx="72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85" name="Text Box 73"/>
              <p:cNvSpPr txBox="1">
                <a:spLocks noChangeArrowheads="1"/>
              </p:cNvSpPr>
              <p:nvPr/>
            </p:nvSpPr>
            <p:spPr bwMode="auto">
              <a:xfrm>
                <a:off x="2784" y="76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66575" name="Group 140"/>
            <p:cNvGrpSpPr/>
            <p:nvPr/>
          </p:nvGrpSpPr>
          <p:grpSpPr bwMode="auto">
            <a:xfrm>
              <a:off x="3504" y="954"/>
              <a:ext cx="2496" cy="2612"/>
              <a:chOff x="3504" y="954"/>
              <a:chExt cx="2496" cy="2612"/>
            </a:xfrm>
          </p:grpSpPr>
          <p:sp>
            <p:nvSpPr>
              <p:cNvPr id="66576" name="Rectangle 75"/>
              <p:cNvSpPr>
                <a:spLocks noChangeArrowheads="1"/>
              </p:cNvSpPr>
              <p:nvPr/>
            </p:nvSpPr>
            <p:spPr bwMode="auto">
              <a:xfrm>
                <a:off x="4032" y="960"/>
                <a:ext cx="816" cy="244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6577" name="Line 76"/>
              <p:cNvSpPr>
                <a:spLocks noChangeShapeType="1"/>
              </p:cNvSpPr>
              <p:nvPr/>
            </p:nvSpPr>
            <p:spPr bwMode="auto">
              <a:xfrm flipH="1">
                <a:off x="3840" y="110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78" name="Line 77"/>
              <p:cNvSpPr>
                <a:spLocks noChangeShapeType="1"/>
              </p:cNvSpPr>
              <p:nvPr/>
            </p:nvSpPr>
            <p:spPr bwMode="auto">
              <a:xfrm flipH="1">
                <a:off x="3840" y="130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79" name="Line 78"/>
              <p:cNvSpPr>
                <a:spLocks noChangeShapeType="1"/>
              </p:cNvSpPr>
              <p:nvPr/>
            </p:nvSpPr>
            <p:spPr bwMode="auto">
              <a:xfrm flipH="1">
                <a:off x="3840" y="1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0" name="Line 79"/>
              <p:cNvSpPr>
                <a:spLocks noChangeShapeType="1"/>
              </p:cNvSpPr>
              <p:nvPr/>
            </p:nvSpPr>
            <p:spPr bwMode="auto">
              <a:xfrm flipH="1">
                <a:off x="3840" y="169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1" name="Line 80"/>
              <p:cNvSpPr>
                <a:spLocks noChangeShapeType="1"/>
              </p:cNvSpPr>
              <p:nvPr/>
            </p:nvSpPr>
            <p:spPr bwMode="auto">
              <a:xfrm flipH="1">
                <a:off x="3840" y="32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2" name="Line 81"/>
              <p:cNvSpPr>
                <a:spLocks noChangeShapeType="1"/>
              </p:cNvSpPr>
              <p:nvPr/>
            </p:nvSpPr>
            <p:spPr bwMode="auto">
              <a:xfrm flipH="1">
                <a:off x="3840" y="1889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3" name="Line 82"/>
              <p:cNvSpPr>
                <a:spLocks noChangeShapeType="1"/>
              </p:cNvSpPr>
              <p:nvPr/>
            </p:nvSpPr>
            <p:spPr bwMode="auto">
              <a:xfrm flipH="1">
                <a:off x="3840" y="208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4" name="Line 83"/>
              <p:cNvSpPr>
                <a:spLocks noChangeShapeType="1"/>
              </p:cNvSpPr>
              <p:nvPr/>
            </p:nvSpPr>
            <p:spPr bwMode="auto">
              <a:xfrm flipH="1">
                <a:off x="3840" y="22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5" name="Line 84"/>
              <p:cNvSpPr>
                <a:spLocks noChangeShapeType="1"/>
              </p:cNvSpPr>
              <p:nvPr/>
            </p:nvSpPr>
            <p:spPr bwMode="auto">
              <a:xfrm flipH="1">
                <a:off x="3840" y="3067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6" name="Line 85"/>
              <p:cNvSpPr>
                <a:spLocks noChangeShapeType="1"/>
              </p:cNvSpPr>
              <p:nvPr/>
            </p:nvSpPr>
            <p:spPr bwMode="auto">
              <a:xfrm flipH="1">
                <a:off x="3840" y="247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7" name="Line 86"/>
              <p:cNvSpPr>
                <a:spLocks noChangeShapeType="1"/>
              </p:cNvSpPr>
              <p:nvPr/>
            </p:nvSpPr>
            <p:spPr bwMode="auto">
              <a:xfrm flipH="1">
                <a:off x="3840" y="267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8" name="Line 87"/>
              <p:cNvSpPr>
                <a:spLocks noChangeShapeType="1"/>
              </p:cNvSpPr>
              <p:nvPr/>
            </p:nvSpPr>
            <p:spPr bwMode="auto">
              <a:xfrm flipH="1">
                <a:off x="3840" y="287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589" name="Text Box 88"/>
              <p:cNvSpPr txBox="1">
                <a:spLocks noChangeArrowheads="1"/>
              </p:cNvSpPr>
              <p:nvPr/>
            </p:nvSpPr>
            <p:spPr bwMode="auto">
              <a:xfrm>
                <a:off x="4032" y="970"/>
                <a:ext cx="24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0" name="Text Box 89"/>
              <p:cNvSpPr txBox="1">
                <a:spLocks noChangeArrowheads="1"/>
              </p:cNvSpPr>
              <p:nvPr/>
            </p:nvSpPr>
            <p:spPr bwMode="auto">
              <a:xfrm>
                <a:off x="4032" y="3120"/>
                <a:ext cx="48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1" name="Text Box 90"/>
              <p:cNvSpPr txBox="1">
                <a:spLocks noChangeArrowheads="1"/>
              </p:cNvSpPr>
              <p:nvPr/>
            </p:nvSpPr>
            <p:spPr bwMode="auto">
              <a:xfrm>
                <a:off x="4029" y="1524"/>
                <a:ext cx="388" cy="8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2" name="Text Box 91"/>
              <p:cNvSpPr txBox="1">
                <a:spLocks noChangeArrowheads="1"/>
              </p:cNvSpPr>
              <p:nvPr/>
            </p:nvSpPr>
            <p:spPr bwMode="auto">
              <a:xfrm>
                <a:off x="3600" y="960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3" name="Text Box 92"/>
              <p:cNvSpPr txBox="1">
                <a:spLocks noChangeArrowheads="1"/>
              </p:cNvSpPr>
              <p:nvPr/>
            </p:nvSpPr>
            <p:spPr bwMode="auto">
              <a:xfrm>
                <a:off x="3600" y="2106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4" name="Text Box 93"/>
              <p:cNvSpPr txBox="1">
                <a:spLocks noChangeArrowheads="1"/>
              </p:cNvSpPr>
              <p:nvPr/>
            </p:nvSpPr>
            <p:spPr bwMode="auto">
              <a:xfrm>
                <a:off x="3600" y="2298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5" name="Text Box 94"/>
              <p:cNvSpPr txBox="1">
                <a:spLocks noChangeArrowheads="1"/>
              </p:cNvSpPr>
              <p:nvPr/>
            </p:nvSpPr>
            <p:spPr bwMode="auto">
              <a:xfrm>
                <a:off x="3504" y="3120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SS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6" name="Text Box 95"/>
              <p:cNvSpPr txBox="1">
                <a:spLocks noChangeArrowheads="1"/>
              </p:cNvSpPr>
              <p:nvPr/>
            </p:nvSpPr>
            <p:spPr bwMode="auto">
              <a:xfrm>
                <a:off x="3504" y="292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7" name="Text Box 96"/>
              <p:cNvSpPr txBox="1">
                <a:spLocks noChangeArrowheads="1"/>
              </p:cNvSpPr>
              <p:nvPr/>
            </p:nvSpPr>
            <p:spPr bwMode="auto">
              <a:xfrm>
                <a:off x="3504" y="2534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8" name="Text Box 97"/>
              <p:cNvSpPr txBox="1">
                <a:spLocks noChangeArrowheads="1"/>
              </p:cNvSpPr>
              <p:nvPr/>
            </p:nvSpPr>
            <p:spPr bwMode="auto">
              <a:xfrm>
                <a:off x="3504" y="2726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99" name="Text Box 98"/>
              <p:cNvSpPr txBox="1">
                <a:spLocks noChangeArrowheads="1"/>
              </p:cNvSpPr>
              <p:nvPr/>
            </p:nvSpPr>
            <p:spPr bwMode="auto">
              <a:xfrm>
                <a:off x="3597" y="1524"/>
                <a:ext cx="388" cy="1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00" name="Text Box 99"/>
              <p:cNvSpPr txBox="1">
                <a:spLocks noChangeArrowheads="1"/>
              </p:cNvSpPr>
              <p:nvPr/>
            </p:nvSpPr>
            <p:spPr bwMode="auto">
              <a:xfrm>
                <a:off x="4224" y="1958"/>
                <a:ext cx="67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2716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01" name="Text Box 100"/>
              <p:cNvSpPr txBox="1">
                <a:spLocks noChangeArrowheads="1"/>
              </p:cNvSpPr>
              <p:nvPr/>
            </p:nvSpPr>
            <p:spPr bwMode="auto">
              <a:xfrm>
                <a:off x="4560" y="970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24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02" name="Text Box 101"/>
              <p:cNvSpPr txBox="1">
                <a:spLocks noChangeArrowheads="1"/>
              </p:cNvSpPr>
              <p:nvPr/>
            </p:nvSpPr>
            <p:spPr bwMode="auto">
              <a:xfrm>
                <a:off x="4560" y="3120"/>
                <a:ext cx="48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13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03" name="Text Box 102"/>
              <p:cNvSpPr txBox="1">
                <a:spLocks noChangeArrowheads="1"/>
              </p:cNvSpPr>
              <p:nvPr/>
            </p:nvSpPr>
            <p:spPr bwMode="auto">
              <a:xfrm>
                <a:off x="4604" y="1524"/>
                <a:ext cx="388" cy="6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04" name="Line 103"/>
              <p:cNvSpPr>
                <a:spLocks noChangeShapeType="1"/>
              </p:cNvSpPr>
              <p:nvPr/>
            </p:nvSpPr>
            <p:spPr bwMode="auto">
              <a:xfrm flipH="1">
                <a:off x="4848" y="110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05" name="Line 104"/>
              <p:cNvSpPr>
                <a:spLocks noChangeShapeType="1"/>
              </p:cNvSpPr>
              <p:nvPr/>
            </p:nvSpPr>
            <p:spPr bwMode="auto">
              <a:xfrm flipH="1">
                <a:off x="4848" y="130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06" name="Line 105"/>
              <p:cNvSpPr>
                <a:spLocks noChangeShapeType="1"/>
              </p:cNvSpPr>
              <p:nvPr/>
            </p:nvSpPr>
            <p:spPr bwMode="auto">
              <a:xfrm flipH="1">
                <a:off x="4848" y="1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07" name="Line 106"/>
              <p:cNvSpPr>
                <a:spLocks noChangeShapeType="1"/>
              </p:cNvSpPr>
              <p:nvPr/>
            </p:nvSpPr>
            <p:spPr bwMode="auto">
              <a:xfrm flipH="1">
                <a:off x="4848" y="169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08" name="Line 107"/>
              <p:cNvSpPr>
                <a:spLocks noChangeShapeType="1"/>
              </p:cNvSpPr>
              <p:nvPr/>
            </p:nvSpPr>
            <p:spPr bwMode="auto">
              <a:xfrm flipH="1">
                <a:off x="4848" y="32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09" name="Line 108"/>
              <p:cNvSpPr>
                <a:spLocks noChangeShapeType="1"/>
              </p:cNvSpPr>
              <p:nvPr/>
            </p:nvSpPr>
            <p:spPr bwMode="auto">
              <a:xfrm flipH="1">
                <a:off x="4848" y="1889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0" name="Line 109"/>
              <p:cNvSpPr>
                <a:spLocks noChangeShapeType="1"/>
              </p:cNvSpPr>
              <p:nvPr/>
            </p:nvSpPr>
            <p:spPr bwMode="auto">
              <a:xfrm flipH="1">
                <a:off x="4848" y="208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1" name="Line 110"/>
              <p:cNvSpPr>
                <a:spLocks noChangeShapeType="1"/>
              </p:cNvSpPr>
              <p:nvPr/>
            </p:nvSpPr>
            <p:spPr bwMode="auto">
              <a:xfrm flipH="1">
                <a:off x="4848" y="22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2" name="Line 111"/>
              <p:cNvSpPr>
                <a:spLocks noChangeShapeType="1"/>
              </p:cNvSpPr>
              <p:nvPr/>
            </p:nvSpPr>
            <p:spPr bwMode="auto">
              <a:xfrm flipH="1">
                <a:off x="4848" y="3067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3" name="Line 112"/>
              <p:cNvSpPr>
                <a:spLocks noChangeShapeType="1"/>
              </p:cNvSpPr>
              <p:nvPr/>
            </p:nvSpPr>
            <p:spPr bwMode="auto">
              <a:xfrm flipH="1">
                <a:off x="4848" y="247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4" name="Line 113"/>
              <p:cNvSpPr>
                <a:spLocks noChangeShapeType="1"/>
              </p:cNvSpPr>
              <p:nvPr/>
            </p:nvSpPr>
            <p:spPr bwMode="auto">
              <a:xfrm flipH="1">
                <a:off x="4848" y="267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5" name="Line 114"/>
              <p:cNvSpPr>
                <a:spLocks noChangeShapeType="1"/>
              </p:cNvSpPr>
              <p:nvPr/>
            </p:nvSpPr>
            <p:spPr bwMode="auto">
              <a:xfrm flipH="1">
                <a:off x="4848" y="287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6" name="Text Box 115"/>
              <p:cNvSpPr txBox="1">
                <a:spLocks noChangeArrowheads="1"/>
              </p:cNvSpPr>
              <p:nvPr/>
            </p:nvSpPr>
            <p:spPr bwMode="auto">
              <a:xfrm>
                <a:off x="4992" y="954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CC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17" name="Text Box 116"/>
              <p:cNvSpPr txBox="1">
                <a:spLocks noChangeArrowheads="1"/>
              </p:cNvSpPr>
              <p:nvPr/>
            </p:nvSpPr>
            <p:spPr bwMode="auto">
              <a:xfrm>
                <a:off x="5040" y="1152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18" name="Text Box 117"/>
              <p:cNvSpPr txBox="1">
                <a:spLocks noChangeArrowheads="1"/>
              </p:cNvSpPr>
              <p:nvPr/>
            </p:nvSpPr>
            <p:spPr bwMode="auto">
              <a:xfrm>
                <a:off x="5040" y="1344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19" name="Text Box 118"/>
              <p:cNvSpPr txBox="1">
                <a:spLocks noChangeArrowheads="1"/>
              </p:cNvSpPr>
              <p:nvPr/>
            </p:nvSpPr>
            <p:spPr bwMode="auto">
              <a:xfrm>
                <a:off x="5040" y="1536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PP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6620" name="Group 119"/>
              <p:cNvGrpSpPr/>
              <p:nvPr/>
            </p:nvGrpSpPr>
            <p:grpSpPr bwMode="auto">
              <a:xfrm>
                <a:off x="5040" y="1776"/>
                <a:ext cx="480" cy="250"/>
                <a:chOff x="5040" y="1776"/>
                <a:chExt cx="480" cy="250"/>
              </a:xfrm>
            </p:grpSpPr>
            <p:sp>
              <p:nvSpPr>
                <p:cNvPr id="66628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5040" y="1776"/>
                  <a:ext cx="480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CS</a:t>
                  </a:r>
                  <a:endParaRPr lang="en-US" altLang="zh-CN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66629" name="Line 121"/>
                <p:cNvSpPr>
                  <a:spLocks noChangeShapeType="1"/>
                </p:cNvSpPr>
                <p:nvPr/>
              </p:nvSpPr>
              <p:spPr bwMode="auto">
                <a:xfrm>
                  <a:off x="5106" y="1813"/>
                  <a:ext cx="20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66621" name="Text Box 122"/>
              <p:cNvSpPr txBox="1">
                <a:spLocks noChangeArrowheads="1"/>
              </p:cNvSpPr>
              <p:nvPr/>
            </p:nvSpPr>
            <p:spPr bwMode="auto">
              <a:xfrm>
                <a:off x="5040" y="1920"/>
                <a:ext cx="816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10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6622" name="Group 123"/>
              <p:cNvGrpSpPr/>
              <p:nvPr/>
            </p:nvGrpSpPr>
            <p:grpSpPr bwMode="auto">
              <a:xfrm>
                <a:off x="5040" y="2160"/>
                <a:ext cx="960" cy="250"/>
                <a:chOff x="5040" y="2160"/>
                <a:chExt cx="960" cy="250"/>
              </a:xfrm>
            </p:grpSpPr>
            <p:sp>
              <p:nvSpPr>
                <p:cNvPr id="66626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040" y="2160"/>
                  <a:ext cx="960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PD/Progr</a:t>
                  </a:r>
                  <a:endParaRPr lang="en-US" altLang="zh-CN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66627" name="Line 125"/>
                <p:cNvSpPr>
                  <a:spLocks noChangeShapeType="1"/>
                </p:cNvSpPr>
                <p:nvPr/>
              </p:nvSpPr>
              <p:spPr bwMode="auto">
                <a:xfrm>
                  <a:off x="5088" y="2193"/>
                  <a:ext cx="24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66623" name="Text Box 126"/>
              <p:cNvSpPr txBox="1">
                <a:spLocks noChangeArrowheads="1"/>
              </p:cNvSpPr>
              <p:nvPr/>
            </p:nvSpPr>
            <p:spPr bwMode="auto">
              <a:xfrm>
                <a:off x="5040" y="315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24" name="Text Box 127"/>
              <p:cNvSpPr txBox="1">
                <a:spLocks noChangeArrowheads="1"/>
              </p:cNvSpPr>
              <p:nvPr/>
            </p:nvSpPr>
            <p:spPr bwMode="auto">
              <a:xfrm>
                <a:off x="5040" y="2352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625" name="Text Box 128"/>
              <p:cNvSpPr txBox="1">
                <a:spLocks noChangeArrowheads="1"/>
              </p:cNvSpPr>
              <p:nvPr/>
            </p:nvSpPr>
            <p:spPr bwMode="auto">
              <a:xfrm>
                <a:off x="5036" y="2736"/>
                <a:ext cx="388" cy="62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66563" name="Text Box 129"/>
          <p:cNvSpPr txBox="1">
            <a:spLocks noChangeArrowheads="1"/>
          </p:cNvSpPr>
          <p:nvPr/>
        </p:nvSpPr>
        <p:spPr bwMode="auto">
          <a:xfrm>
            <a:off x="1905000" y="381000"/>
            <a:ext cx="7010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>
                <a:latin typeface="Times New Roman" panose="02020603050405020304" pitchFamily="18" charset="0"/>
              </a:rPr>
              <a:t>(2) 2716 EPROM </a:t>
            </a:r>
            <a:r>
              <a:rPr lang="zh-CN" altLang="en-US" sz="3200">
                <a:latin typeface="Times New Roman" panose="02020603050405020304" pitchFamily="18" charset="0"/>
              </a:rPr>
              <a:t>的逻辑图和引脚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794755" name="Group 131"/>
          <p:cNvGrpSpPr/>
          <p:nvPr/>
        </p:nvGrpSpPr>
        <p:grpSpPr bwMode="auto">
          <a:xfrm>
            <a:off x="1524000" y="1736726"/>
            <a:ext cx="1524000" cy="396875"/>
            <a:chOff x="96" y="998"/>
            <a:chExt cx="960" cy="250"/>
          </a:xfrm>
        </p:grpSpPr>
        <p:sp>
          <p:nvSpPr>
            <p:cNvPr id="66572" name="Text Box 132"/>
            <p:cNvSpPr txBox="1">
              <a:spLocks noChangeArrowheads="1"/>
            </p:cNvSpPr>
            <p:nvPr/>
          </p:nvSpPr>
          <p:spPr bwMode="auto">
            <a:xfrm>
              <a:off x="96" y="998"/>
              <a:ext cx="9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PD/Progr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6573" name="Line 133"/>
            <p:cNvSpPr>
              <a:spLocks noChangeShapeType="1"/>
            </p:cNvSpPr>
            <p:nvPr/>
          </p:nvSpPr>
          <p:spPr bwMode="auto">
            <a:xfrm>
              <a:off x="144" y="1031"/>
              <a:ext cx="24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94758" name="Group 134"/>
          <p:cNvGrpSpPr/>
          <p:nvPr/>
        </p:nvGrpSpPr>
        <p:grpSpPr bwMode="auto">
          <a:xfrm>
            <a:off x="2057400" y="5729289"/>
            <a:ext cx="8915400" cy="581025"/>
            <a:chOff x="336" y="3609"/>
            <a:chExt cx="5616" cy="366"/>
          </a:xfrm>
        </p:grpSpPr>
        <p:grpSp>
          <p:nvGrpSpPr>
            <p:cNvPr id="66568" name="Group 135"/>
            <p:cNvGrpSpPr/>
            <p:nvPr/>
          </p:nvGrpSpPr>
          <p:grpSpPr bwMode="auto">
            <a:xfrm>
              <a:off x="336" y="3609"/>
              <a:ext cx="1248" cy="327"/>
              <a:chOff x="288" y="3744"/>
              <a:chExt cx="1248" cy="327"/>
            </a:xfrm>
          </p:grpSpPr>
          <p:sp>
            <p:nvSpPr>
              <p:cNvPr id="66570" name="Text Box 136"/>
              <p:cNvSpPr txBox="1">
                <a:spLocks noChangeArrowheads="1"/>
              </p:cNvSpPr>
              <p:nvPr/>
            </p:nvSpPr>
            <p:spPr bwMode="auto">
              <a:xfrm>
                <a:off x="288" y="3744"/>
                <a:ext cx="124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PD/Progr</a:t>
                </a:r>
                <a:endPara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71" name="Line 137"/>
              <p:cNvSpPr>
                <a:spLocks noChangeShapeType="1"/>
              </p:cNvSpPr>
              <p:nvPr/>
            </p:nvSpPr>
            <p:spPr bwMode="auto">
              <a:xfrm>
                <a:off x="336" y="3815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66569" name="Text Box 138"/>
            <p:cNvSpPr txBox="1">
              <a:spLocks noChangeArrowheads="1"/>
            </p:cNvSpPr>
            <p:nvPr/>
          </p:nvSpPr>
          <p:spPr bwMode="auto">
            <a:xfrm>
              <a:off x="1296" y="3648"/>
              <a:ext cx="46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功率下降 /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编程输入端</a:t>
              </a:r>
              <a:r>
                <a:rPr lang="zh-CN" altLang="en-US" sz="2800">
                  <a:latin typeface="Times New Roman" panose="02020603050405020304" pitchFamily="18" charset="0"/>
                </a:rPr>
                <a:t>   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读出时 </a:t>
              </a:r>
              <a:r>
                <a:rPr lang="zh-CN" altLang="en-US" sz="2800">
                  <a:latin typeface="Times New Roman" panose="02020603050405020304" pitchFamily="18" charset="0"/>
                </a:rPr>
                <a:t>为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低电平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4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4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4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Text Box 2"/>
          <p:cNvSpPr txBox="1">
            <a:spLocks noChangeArrowheads="1"/>
          </p:cNvSpPr>
          <p:nvPr/>
        </p:nvSpPr>
        <p:spPr bwMode="auto">
          <a:xfrm>
            <a:off x="1103784" y="407639"/>
            <a:ext cx="6324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4. </a:t>
            </a:r>
            <a:r>
              <a:rPr lang="en-US" altLang="zh-CN" sz="3200">
                <a:latin typeface="Times New Roman" panose="02020603050405020304" pitchFamily="18" charset="0"/>
              </a:rPr>
              <a:t>EEPROM (</a:t>
            </a:r>
            <a:r>
              <a:rPr lang="zh-CN" altLang="en-US" sz="3200">
                <a:latin typeface="Times New Roman" panose="02020603050405020304" pitchFamily="18" charset="0"/>
              </a:rPr>
              <a:t>多次性编程 )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795651" name="Text Box 3"/>
          <p:cNvSpPr txBox="1">
            <a:spLocks noChangeArrowheads="1"/>
          </p:cNvSpPr>
          <p:nvPr/>
        </p:nvSpPr>
        <p:spPr bwMode="auto">
          <a:xfrm>
            <a:off x="1560984" y="1169640"/>
            <a:ext cx="2514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电可擦写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52" name="Text Box 4"/>
          <p:cNvSpPr txBox="1">
            <a:spLocks noChangeArrowheads="1"/>
          </p:cNvSpPr>
          <p:nvPr/>
        </p:nvSpPr>
        <p:spPr bwMode="auto">
          <a:xfrm>
            <a:off x="1560984" y="1855440"/>
            <a:ext cx="2590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局部擦写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53" name="Text Box 5"/>
          <p:cNvSpPr txBox="1">
            <a:spLocks noChangeArrowheads="1"/>
          </p:cNvSpPr>
          <p:nvPr/>
        </p:nvSpPr>
        <p:spPr bwMode="auto">
          <a:xfrm>
            <a:off x="1560984" y="2541240"/>
            <a:ext cx="1905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全部擦写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54" name="Text Box 6"/>
          <p:cNvSpPr txBox="1">
            <a:spLocks noChangeArrowheads="1"/>
          </p:cNvSpPr>
          <p:nvPr/>
        </p:nvSpPr>
        <p:spPr bwMode="auto">
          <a:xfrm>
            <a:off x="1103784" y="3303239"/>
            <a:ext cx="7467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5. </a:t>
            </a:r>
            <a:r>
              <a:rPr lang="en-US" altLang="zh-CN" sz="3200">
                <a:latin typeface="Times New Roman" panose="02020603050405020304" pitchFamily="18" charset="0"/>
              </a:rPr>
              <a:t>Flash Memory (</a:t>
            </a:r>
            <a:r>
              <a:rPr lang="zh-CN" altLang="en-US" sz="3200">
                <a:latin typeface="Times New Roman" panose="02020603050405020304" pitchFamily="18" charset="0"/>
              </a:rPr>
              <a:t>闪速型存储器)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67591" name="Text Box 7"/>
          <p:cNvSpPr txBox="1">
            <a:spLocks noChangeArrowheads="1"/>
          </p:cNvSpPr>
          <p:nvPr/>
        </p:nvSpPr>
        <p:spPr bwMode="auto">
          <a:xfrm>
            <a:off x="4456584" y="3455640"/>
            <a:ext cx="3657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56" name="Text Box 8"/>
          <p:cNvSpPr txBox="1">
            <a:spLocks noChangeArrowheads="1"/>
          </p:cNvSpPr>
          <p:nvPr/>
        </p:nvSpPr>
        <p:spPr bwMode="auto">
          <a:xfrm>
            <a:off x="1560984" y="5589240"/>
            <a:ext cx="2971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比 </a:t>
            </a:r>
            <a:r>
              <a:rPr lang="en-US" altLang="zh-CN" sz="2800">
                <a:latin typeface="Times New Roman" panose="02020603050405020304" pitchFamily="18" charset="0"/>
              </a:rPr>
              <a:t>EEPROM</a:t>
            </a:r>
            <a:r>
              <a:rPr lang="zh-CN" altLang="en-US" sz="2800">
                <a:latin typeface="Times New Roman" panose="02020603050405020304" pitchFamily="18" charset="0"/>
              </a:rPr>
              <a:t>快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58" name="Text Box 10"/>
          <p:cNvSpPr txBox="1">
            <a:spLocks noChangeArrowheads="1"/>
          </p:cNvSpPr>
          <p:nvPr/>
        </p:nvSpPr>
        <p:spPr bwMode="auto">
          <a:xfrm>
            <a:off x="1560984" y="4065240"/>
            <a:ext cx="3962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EPROM</a:t>
            </a:r>
            <a:endParaRPr lang="en-US" altLang="zh-CN" sz="2800">
              <a:latin typeface="Times New Roman" panose="02020603050405020304" pitchFamily="18" charset="0"/>
            </a:endParaRPr>
          </a:p>
        </p:txBody>
      </p:sp>
      <p:sp>
        <p:nvSpPr>
          <p:cNvPr id="795659" name="Text Box 11"/>
          <p:cNvSpPr txBox="1">
            <a:spLocks noChangeArrowheads="1"/>
          </p:cNvSpPr>
          <p:nvPr/>
        </p:nvSpPr>
        <p:spPr bwMode="auto">
          <a:xfrm>
            <a:off x="4151784" y="4065240"/>
            <a:ext cx="4191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价格便宜  集成度高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60" name="Text Box 12"/>
          <p:cNvSpPr txBox="1">
            <a:spLocks noChangeArrowheads="1"/>
          </p:cNvSpPr>
          <p:nvPr/>
        </p:nvSpPr>
        <p:spPr bwMode="auto">
          <a:xfrm>
            <a:off x="1560984" y="4827240"/>
            <a:ext cx="434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EEPROM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61" name="Text Box 13"/>
          <p:cNvSpPr txBox="1">
            <a:spLocks noChangeArrowheads="1"/>
          </p:cNvSpPr>
          <p:nvPr/>
        </p:nvSpPr>
        <p:spPr bwMode="auto">
          <a:xfrm>
            <a:off x="4151784" y="4827240"/>
            <a:ext cx="4800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电可擦洗重写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62" name="Text Box 14"/>
          <p:cNvSpPr txBox="1">
            <a:spLocks noChangeArrowheads="1"/>
          </p:cNvSpPr>
          <p:nvPr/>
        </p:nvSpPr>
        <p:spPr bwMode="auto">
          <a:xfrm>
            <a:off x="4151784" y="5589240"/>
            <a:ext cx="3657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具备 </a:t>
            </a:r>
            <a:r>
              <a:rPr lang="en-US" altLang="zh-CN" sz="2800">
                <a:latin typeface="Times New Roman" panose="02020603050405020304" pitchFamily="18" charset="0"/>
              </a:rPr>
              <a:t>RAM </a:t>
            </a:r>
            <a:r>
              <a:rPr lang="zh-CN" altLang="en-US" sz="2800">
                <a:latin typeface="Times New Roman" panose="02020603050405020304" pitchFamily="18" charset="0"/>
              </a:rPr>
              <a:t>功能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5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5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5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5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5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5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95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95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95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95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5651" grpId="0" autoUpdateAnimBg="0"/>
      <p:bldP spid="795652" grpId="0" autoUpdateAnimBg="0"/>
      <p:bldP spid="795653" grpId="0" autoUpdateAnimBg="0"/>
      <p:bldP spid="795654" grpId="0" autoUpdateAnimBg="0"/>
      <p:bldP spid="795656" grpId="0" autoUpdateAnimBg="0"/>
      <p:bldP spid="795658" grpId="0" autoUpdateAnimBg="0"/>
      <p:bldP spid="795659" grpId="0" autoUpdateAnimBg="0"/>
      <p:bldP spid="795660" grpId="0" autoUpdateAnimBg="0"/>
      <p:bldP spid="795661" grpId="0" autoUpdateAnimBg="0"/>
      <p:bldP spid="795662" grpId="0" autoUpdateAnimBg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674" name="Text Box 2"/>
          <p:cNvSpPr txBox="1">
            <a:spLocks noChangeArrowheads="1"/>
          </p:cNvSpPr>
          <p:nvPr/>
        </p:nvSpPr>
        <p:spPr bwMode="auto">
          <a:xfrm>
            <a:off x="1599307" y="2310864"/>
            <a:ext cx="83058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latin typeface="Times New Roman" panose="02020603050405020304" pitchFamily="18" charset="0"/>
              </a:rPr>
              <a:t> 用        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600">
                <a:latin typeface="Times New Roman" panose="02020603050405020304" pitchFamily="18" charset="0"/>
              </a:rPr>
              <a:t>4位 存储芯片组成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</a:rPr>
              <a:t>8</a:t>
            </a:r>
            <a:r>
              <a:rPr lang="zh-CN" altLang="en-US" sz="2600">
                <a:latin typeface="Times New Roman" panose="02020603050405020304" pitchFamily="18" charset="0"/>
              </a:rPr>
              <a:t>位 的存储器</a:t>
            </a:r>
            <a:endParaRPr lang="zh-CN" altLang="en-US" sz="2600">
              <a:latin typeface="Times New Roman" panose="02020603050405020304" pitchFamily="18" charset="0"/>
            </a:endParaRPr>
          </a:p>
        </p:txBody>
      </p:sp>
      <p:sp>
        <p:nvSpPr>
          <p:cNvPr id="796675" name="Text Box 3"/>
          <p:cNvSpPr txBox="1">
            <a:spLocks noChangeArrowheads="1"/>
          </p:cNvSpPr>
          <p:nvPr/>
        </p:nvSpPr>
        <p:spPr bwMode="auto">
          <a:xfrm>
            <a:off x="2039045" y="2280702"/>
            <a:ext cx="12827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？片</a:t>
            </a:r>
            <a:endParaRPr lang="zh-CN" altLang="en-US" sz="2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96676" name="Group 4"/>
          <p:cNvGrpSpPr/>
          <p:nvPr/>
        </p:nvGrpSpPr>
        <p:grpSpPr bwMode="auto">
          <a:xfrm>
            <a:off x="3151882" y="4706402"/>
            <a:ext cx="852488" cy="665162"/>
            <a:chOff x="1458" y="2953"/>
            <a:chExt cx="537" cy="419"/>
          </a:xfrm>
        </p:grpSpPr>
        <p:sp>
          <p:nvSpPr>
            <p:cNvPr id="68742" name="Freeform 5"/>
            <p:cNvSpPr/>
            <p:nvPr/>
          </p:nvSpPr>
          <p:spPr bwMode="auto">
            <a:xfrm>
              <a:off x="1458" y="2954"/>
              <a:ext cx="1" cy="193"/>
            </a:xfrm>
            <a:custGeom>
              <a:avLst/>
              <a:gdLst>
                <a:gd name="T0" fmla="*/ 0 w 1"/>
                <a:gd name="T1" fmla="*/ 0 h 193"/>
                <a:gd name="T2" fmla="*/ 0 w 1"/>
                <a:gd name="T3" fmla="*/ 193 h 1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93">
                  <a:moveTo>
                    <a:pt x="0" y="0"/>
                  </a:moveTo>
                  <a:lnTo>
                    <a:pt x="0" y="19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3" name="Line 6"/>
            <p:cNvSpPr>
              <a:spLocks noChangeShapeType="1"/>
            </p:cNvSpPr>
            <p:nvPr/>
          </p:nvSpPr>
          <p:spPr bwMode="auto">
            <a:xfrm>
              <a:off x="1635" y="2953"/>
              <a:ext cx="1" cy="2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4" name="Line 7"/>
            <p:cNvSpPr>
              <a:spLocks noChangeShapeType="1"/>
            </p:cNvSpPr>
            <p:nvPr/>
          </p:nvSpPr>
          <p:spPr bwMode="auto">
            <a:xfrm>
              <a:off x="1813" y="2953"/>
              <a:ext cx="1" cy="3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5" name="Freeform 8"/>
            <p:cNvSpPr/>
            <p:nvPr/>
          </p:nvSpPr>
          <p:spPr bwMode="auto">
            <a:xfrm>
              <a:off x="1993" y="2960"/>
              <a:ext cx="2" cy="412"/>
            </a:xfrm>
            <a:custGeom>
              <a:avLst/>
              <a:gdLst>
                <a:gd name="T0" fmla="*/ 2 w 2"/>
                <a:gd name="T1" fmla="*/ 0 h 412"/>
                <a:gd name="T2" fmla="*/ 0 w 2"/>
                <a:gd name="T3" fmla="*/ 412 h 4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12">
                  <a:moveTo>
                    <a:pt x="2" y="0"/>
                  </a:moveTo>
                  <a:lnTo>
                    <a:pt x="0" y="412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8613" name="Text Box 9"/>
          <p:cNvSpPr txBox="1">
            <a:spLocks noChangeArrowheads="1"/>
          </p:cNvSpPr>
          <p:nvPr/>
        </p:nvSpPr>
        <p:spPr bwMode="auto">
          <a:xfrm>
            <a:off x="718443" y="160832"/>
            <a:ext cx="6324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 五、存储器与 </a:t>
            </a:r>
            <a:r>
              <a:rPr lang="en-US" altLang="zh-CN" sz="3600">
                <a:latin typeface="Times New Roman" panose="02020603050405020304" pitchFamily="18" charset="0"/>
              </a:rPr>
              <a:t>CPU </a:t>
            </a:r>
            <a:r>
              <a:rPr lang="zh-CN" altLang="en-US" sz="3600">
                <a:latin typeface="Times New Roman" panose="02020603050405020304" pitchFamily="18" charset="0"/>
              </a:rPr>
              <a:t>的连接 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796682" name="Text Box 10"/>
          <p:cNvSpPr txBox="1">
            <a:spLocks noChangeArrowheads="1"/>
          </p:cNvSpPr>
          <p:nvPr/>
        </p:nvSpPr>
        <p:spPr bwMode="auto">
          <a:xfrm>
            <a:off x="1675507" y="1009114"/>
            <a:ext cx="49037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1.  存储器容量的扩展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796683" name="Group 11"/>
          <p:cNvGrpSpPr/>
          <p:nvPr/>
        </p:nvGrpSpPr>
        <p:grpSpPr bwMode="auto">
          <a:xfrm>
            <a:off x="1599307" y="1647290"/>
            <a:ext cx="4953000" cy="519113"/>
            <a:chOff x="768" y="960"/>
            <a:chExt cx="3120" cy="327"/>
          </a:xfrm>
        </p:grpSpPr>
        <p:sp>
          <p:nvSpPr>
            <p:cNvPr id="68740" name="Text Box 12"/>
            <p:cNvSpPr txBox="1">
              <a:spLocks noChangeArrowheads="1"/>
            </p:cNvSpPr>
            <p:nvPr/>
          </p:nvSpPr>
          <p:spPr bwMode="auto">
            <a:xfrm>
              <a:off x="768" y="960"/>
              <a:ext cx="177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(1)  位扩展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68741" name="Text Box 13"/>
            <p:cNvSpPr txBox="1">
              <a:spLocks noChangeArrowheads="1"/>
            </p:cNvSpPr>
            <p:nvPr/>
          </p:nvSpPr>
          <p:spPr bwMode="auto">
            <a:xfrm>
              <a:off x="1872" y="960"/>
              <a:ext cx="2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（增加存储字长）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6686" name="Group 14"/>
          <p:cNvGrpSpPr/>
          <p:nvPr/>
        </p:nvGrpSpPr>
        <p:grpSpPr bwMode="auto">
          <a:xfrm>
            <a:off x="7785796" y="1618714"/>
            <a:ext cx="2016125" cy="533400"/>
            <a:chOff x="4176" y="1008"/>
            <a:chExt cx="1344" cy="336"/>
          </a:xfrm>
        </p:grpSpPr>
        <p:sp>
          <p:nvSpPr>
            <p:cNvPr id="68738" name="AutoShape 15"/>
            <p:cNvSpPr>
              <a:spLocks noChangeArrowheads="1"/>
            </p:cNvSpPr>
            <p:nvPr/>
          </p:nvSpPr>
          <p:spPr bwMode="auto">
            <a:xfrm>
              <a:off x="4176" y="1008"/>
              <a:ext cx="1344" cy="336"/>
            </a:xfrm>
            <a:prstGeom prst="wedgeRoundRectCallout">
              <a:avLst>
                <a:gd name="adj1" fmla="val -112204"/>
                <a:gd name="adj2" fmla="val 86903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Ins="0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68739" name="Text Box 16"/>
            <p:cNvSpPr txBox="1">
              <a:spLocks noChangeArrowheads="1"/>
            </p:cNvSpPr>
            <p:nvPr/>
          </p:nvSpPr>
          <p:spPr bwMode="auto">
            <a:xfrm>
              <a:off x="4224" y="1008"/>
              <a:ext cx="1296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10根地址线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6689" name="Group 17"/>
          <p:cNvGrpSpPr/>
          <p:nvPr/>
        </p:nvGrpSpPr>
        <p:grpSpPr bwMode="auto">
          <a:xfrm>
            <a:off x="8001695" y="3087152"/>
            <a:ext cx="1979612" cy="533400"/>
            <a:chOff x="4176" y="1872"/>
            <a:chExt cx="1344" cy="336"/>
          </a:xfrm>
        </p:grpSpPr>
        <p:sp>
          <p:nvSpPr>
            <p:cNvPr id="68736" name="AutoShape 18"/>
            <p:cNvSpPr>
              <a:spLocks noChangeArrowheads="1"/>
            </p:cNvSpPr>
            <p:nvPr/>
          </p:nvSpPr>
          <p:spPr bwMode="auto">
            <a:xfrm>
              <a:off x="4176" y="1872"/>
              <a:ext cx="1296" cy="336"/>
            </a:xfrm>
            <a:prstGeom prst="wedgeRoundRectCallout">
              <a:avLst>
                <a:gd name="adj1" fmla="val -82486"/>
                <a:gd name="adj2" fmla="val -112796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68737" name="Text Box 19"/>
            <p:cNvSpPr txBox="1">
              <a:spLocks noChangeArrowheads="1"/>
            </p:cNvSpPr>
            <p:nvPr/>
          </p:nvSpPr>
          <p:spPr bwMode="auto">
            <a:xfrm>
              <a:off x="4272" y="1872"/>
              <a:ext cx="1248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8根数据线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</p:grpSp>
      <p:sp>
        <p:nvSpPr>
          <p:cNvPr id="68618" name="Line 20"/>
          <p:cNvSpPr>
            <a:spLocks noChangeShapeType="1"/>
          </p:cNvSpPr>
          <p:nvPr/>
        </p:nvSpPr>
        <p:spPr bwMode="auto">
          <a:xfrm>
            <a:off x="1843782" y="6178014"/>
            <a:ext cx="255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619" name="Rectangle 21"/>
          <p:cNvSpPr>
            <a:spLocks noChangeArrowheads="1"/>
          </p:cNvSpPr>
          <p:nvPr/>
        </p:nvSpPr>
        <p:spPr bwMode="auto">
          <a:xfrm>
            <a:off x="1835845" y="3453865"/>
            <a:ext cx="296862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796694" name="Group 22"/>
          <p:cNvGrpSpPr/>
          <p:nvPr/>
        </p:nvGrpSpPr>
        <p:grpSpPr bwMode="auto">
          <a:xfrm>
            <a:off x="5114033" y="4719102"/>
            <a:ext cx="842963" cy="1168400"/>
            <a:chOff x="2694" y="2961"/>
            <a:chExt cx="531" cy="736"/>
          </a:xfrm>
        </p:grpSpPr>
        <p:grpSp>
          <p:nvGrpSpPr>
            <p:cNvPr id="68729" name="Group 23"/>
            <p:cNvGrpSpPr/>
            <p:nvPr/>
          </p:nvGrpSpPr>
          <p:grpSpPr bwMode="auto">
            <a:xfrm>
              <a:off x="2694" y="2971"/>
              <a:ext cx="36" cy="501"/>
              <a:chOff x="2499" y="2165"/>
              <a:chExt cx="36" cy="501"/>
            </a:xfrm>
          </p:grpSpPr>
          <p:sp>
            <p:nvSpPr>
              <p:cNvPr id="68734" name="Line 24"/>
              <p:cNvSpPr>
                <a:spLocks noChangeShapeType="1"/>
              </p:cNvSpPr>
              <p:nvPr/>
            </p:nvSpPr>
            <p:spPr bwMode="auto">
              <a:xfrm>
                <a:off x="2516" y="2165"/>
                <a:ext cx="7" cy="4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735" name="Oval 25"/>
              <p:cNvSpPr>
                <a:spLocks noChangeArrowheads="1"/>
              </p:cNvSpPr>
              <p:nvPr/>
            </p:nvSpPr>
            <p:spPr bwMode="auto">
              <a:xfrm>
                <a:off x="2499" y="2630"/>
                <a:ext cx="36" cy="36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sp>
          <p:nvSpPr>
            <p:cNvPr id="68730" name="Freeform 26"/>
            <p:cNvSpPr/>
            <p:nvPr/>
          </p:nvSpPr>
          <p:spPr bwMode="auto">
            <a:xfrm>
              <a:off x="2881" y="2966"/>
              <a:ext cx="2" cy="555"/>
            </a:xfrm>
            <a:custGeom>
              <a:avLst/>
              <a:gdLst>
                <a:gd name="T0" fmla="*/ 2 w 2"/>
                <a:gd name="T1" fmla="*/ 0 h 555"/>
                <a:gd name="T2" fmla="*/ 0 w 2"/>
                <a:gd name="T3" fmla="*/ 555 h 5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55">
                  <a:moveTo>
                    <a:pt x="2" y="0"/>
                  </a:moveTo>
                  <a:lnTo>
                    <a:pt x="0" y="55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1" name="Freeform 27"/>
            <p:cNvSpPr/>
            <p:nvPr/>
          </p:nvSpPr>
          <p:spPr bwMode="auto">
            <a:xfrm>
              <a:off x="3060" y="2961"/>
              <a:ext cx="1" cy="648"/>
            </a:xfrm>
            <a:custGeom>
              <a:avLst/>
              <a:gdLst>
                <a:gd name="T0" fmla="*/ 0 w 1"/>
                <a:gd name="T1" fmla="*/ 0 h 648"/>
                <a:gd name="T2" fmla="*/ 1 w 1"/>
                <a:gd name="T3" fmla="*/ 648 h 6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48">
                  <a:moveTo>
                    <a:pt x="0" y="0"/>
                  </a:moveTo>
                  <a:lnTo>
                    <a:pt x="1" y="648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2" name="Oval 28"/>
            <p:cNvSpPr>
              <a:spLocks noChangeArrowheads="1"/>
            </p:cNvSpPr>
            <p:nvPr/>
          </p:nvSpPr>
          <p:spPr bwMode="auto">
            <a:xfrm>
              <a:off x="3041" y="3593"/>
              <a:ext cx="32" cy="32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8733" name="Freeform 29"/>
            <p:cNvSpPr/>
            <p:nvPr/>
          </p:nvSpPr>
          <p:spPr bwMode="auto">
            <a:xfrm>
              <a:off x="3223" y="2966"/>
              <a:ext cx="2" cy="731"/>
            </a:xfrm>
            <a:custGeom>
              <a:avLst/>
              <a:gdLst>
                <a:gd name="T0" fmla="*/ 2 w 2"/>
                <a:gd name="T1" fmla="*/ 0 h 731"/>
                <a:gd name="T2" fmla="*/ 0 w 2"/>
                <a:gd name="T3" fmla="*/ 731 h 7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31">
                  <a:moveTo>
                    <a:pt x="2" y="0"/>
                  </a:moveTo>
                  <a:lnTo>
                    <a:pt x="0" y="73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8621" name="Rectangle 30"/>
          <p:cNvSpPr>
            <a:spLocks noChangeArrowheads="1"/>
          </p:cNvSpPr>
          <p:nvPr/>
        </p:nvSpPr>
        <p:spPr bwMode="auto">
          <a:xfrm>
            <a:off x="1791395" y="6125627"/>
            <a:ext cx="292100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22" name="Rectangle 31"/>
          <p:cNvSpPr>
            <a:spLocks noChangeArrowheads="1"/>
          </p:cNvSpPr>
          <p:nvPr/>
        </p:nvSpPr>
        <p:spPr bwMode="auto">
          <a:xfrm>
            <a:off x="1805682" y="5911314"/>
            <a:ext cx="298450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23" name="Oval 32"/>
          <p:cNvSpPr>
            <a:spLocks noChangeArrowheads="1"/>
          </p:cNvSpPr>
          <p:nvPr/>
        </p:nvSpPr>
        <p:spPr bwMode="auto">
          <a:xfrm>
            <a:off x="1934270" y="3169702"/>
            <a:ext cx="31750" cy="3651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24" name="Oval 33"/>
          <p:cNvSpPr>
            <a:spLocks noChangeArrowheads="1"/>
          </p:cNvSpPr>
          <p:nvPr/>
        </p:nvSpPr>
        <p:spPr bwMode="auto">
          <a:xfrm>
            <a:off x="1916808" y="3433227"/>
            <a:ext cx="36513" cy="3651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25" name="Oval 34"/>
          <p:cNvSpPr>
            <a:spLocks noChangeArrowheads="1"/>
          </p:cNvSpPr>
          <p:nvPr/>
        </p:nvSpPr>
        <p:spPr bwMode="auto">
          <a:xfrm>
            <a:off x="1934270" y="3361790"/>
            <a:ext cx="36512" cy="36513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796819" name="Group 147"/>
          <p:cNvGrpSpPr/>
          <p:nvPr/>
        </p:nvGrpSpPr>
        <p:grpSpPr bwMode="auto">
          <a:xfrm>
            <a:off x="1775520" y="4455578"/>
            <a:ext cx="5332412" cy="2376487"/>
            <a:chOff x="591" y="2795"/>
            <a:chExt cx="3359" cy="1497"/>
          </a:xfrm>
        </p:grpSpPr>
        <p:sp>
          <p:nvSpPr>
            <p:cNvPr id="68700" name="Line 36"/>
            <p:cNvSpPr>
              <a:spLocks noChangeShapeType="1"/>
            </p:cNvSpPr>
            <p:nvPr/>
          </p:nvSpPr>
          <p:spPr bwMode="auto">
            <a:xfrm>
              <a:off x="795" y="3146"/>
              <a:ext cx="315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8701" name="Group 146"/>
            <p:cNvGrpSpPr/>
            <p:nvPr/>
          </p:nvGrpSpPr>
          <p:grpSpPr bwMode="auto">
            <a:xfrm>
              <a:off x="591" y="2795"/>
              <a:ext cx="3349" cy="1497"/>
              <a:chOff x="591" y="2795"/>
              <a:chExt cx="3349" cy="1497"/>
            </a:xfrm>
          </p:grpSpPr>
          <p:sp>
            <p:nvSpPr>
              <p:cNvPr id="68702" name="Rectangle 38"/>
              <p:cNvSpPr>
                <a:spLocks noChangeArrowheads="1"/>
              </p:cNvSpPr>
              <p:nvPr/>
            </p:nvSpPr>
            <p:spPr bwMode="auto">
              <a:xfrm>
                <a:off x="617" y="3621"/>
                <a:ext cx="82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>
                    <a:latin typeface="Times New Roman" panose="02020603050405020304" pitchFamily="18" charset="0"/>
                  </a:rPr>
                  <a:t>D</a:t>
                </a:r>
                <a:endParaRPr lang="en-US" altLang="zh-CN" sz="1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68703" name="Group 145"/>
              <p:cNvGrpSpPr/>
              <p:nvPr/>
            </p:nvGrpSpPr>
            <p:grpSpPr bwMode="auto">
              <a:xfrm>
                <a:off x="591" y="2795"/>
                <a:ext cx="3349" cy="1497"/>
                <a:chOff x="591" y="2795"/>
                <a:chExt cx="3349" cy="1497"/>
              </a:xfrm>
            </p:grpSpPr>
            <p:sp>
              <p:nvSpPr>
                <p:cNvPr id="68704" name="Rectangle 40"/>
                <p:cNvSpPr>
                  <a:spLocks noChangeArrowheads="1"/>
                </p:cNvSpPr>
                <p:nvPr/>
              </p:nvSpPr>
              <p:spPr bwMode="auto">
                <a:xfrm>
                  <a:off x="617" y="3322"/>
                  <a:ext cx="82" cy="1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1400">
                      <a:latin typeface="Times New Roman" panose="02020603050405020304" pitchFamily="18" charset="0"/>
                    </a:rPr>
                    <a:t>D</a:t>
                  </a:r>
                  <a:endParaRPr lang="en-US" altLang="zh-CN" sz="1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68705" name="Group 144"/>
                <p:cNvGrpSpPr/>
                <p:nvPr/>
              </p:nvGrpSpPr>
              <p:grpSpPr bwMode="auto">
                <a:xfrm>
                  <a:off x="591" y="2795"/>
                  <a:ext cx="3349" cy="1497"/>
                  <a:chOff x="591" y="2795"/>
                  <a:chExt cx="3349" cy="1497"/>
                </a:xfrm>
              </p:grpSpPr>
              <p:sp>
                <p:nvSpPr>
                  <p:cNvPr id="68706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91" y="3145"/>
                    <a:ext cx="194" cy="206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lIns="0" rIns="0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0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000"/>
                  </a:p>
                </p:txBody>
              </p:sp>
              <p:grpSp>
                <p:nvGrpSpPr>
                  <p:cNvPr id="68707" name="Group 143"/>
                  <p:cNvGrpSpPr/>
                  <p:nvPr/>
                </p:nvGrpSpPr>
                <p:grpSpPr bwMode="auto">
                  <a:xfrm>
                    <a:off x="591" y="2795"/>
                    <a:ext cx="3349" cy="1497"/>
                    <a:chOff x="591" y="2795"/>
                    <a:chExt cx="3349" cy="1497"/>
                  </a:xfrm>
                </p:grpSpPr>
                <p:sp>
                  <p:nvSpPr>
                    <p:cNvPr id="68708" name="Text Box 4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91" y="3441"/>
                      <a:ext cx="194" cy="20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vert="eaVert" lIns="0" rIns="0">
                      <a:spAutoFit/>
                    </a:bodyPr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0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2000"/>
                    </a:p>
                  </p:txBody>
                </p:sp>
                <p:sp>
                  <p:nvSpPr>
                    <p:cNvPr id="68709" name="Rectangle 4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795"/>
                      <a:ext cx="187" cy="23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20000"/>
                        </a:spcBef>
                      </a:pPr>
                      <a:endParaRPr lang="zh-CN" altLang="en-US"/>
                    </a:p>
                  </p:txBody>
                </p:sp>
                <p:grpSp>
                  <p:nvGrpSpPr>
                    <p:cNvPr id="68710" name="Group 142"/>
                    <p:cNvGrpSpPr/>
                    <p:nvPr/>
                  </p:nvGrpSpPr>
                  <p:grpSpPr bwMode="auto">
                    <a:xfrm>
                      <a:off x="617" y="2795"/>
                      <a:ext cx="3323" cy="1497"/>
                      <a:chOff x="617" y="2795"/>
                      <a:chExt cx="3323" cy="1497"/>
                    </a:xfrm>
                  </p:grpSpPr>
                  <p:sp>
                    <p:nvSpPr>
                      <p:cNvPr id="68711" name="Rectangle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7" y="3038"/>
                        <a:ext cx="82" cy="13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lIns="0" tIns="0" rIns="0" bIns="0">
                        <a:spAutoFit/>
                      </a:bodyPr>
                      <a:lstStyle>
                        <a:lvl1pPr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1pPr>
                        <a:lvl2pPr marL="742950" indent="-28575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2pPr>
                        <a:lvl3pPr marL="11430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3pPr>
                        <a:lvl4pPr marL="16002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4pPr>
                        <a:lvl5pPr marL="20574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hangingPunct="1"/>
                        <a:r>
                          <a:rPr lang="en-US" altLang="zh-CN" sz="1400">
                            <a:latin typeface="Times New Roman" panose="02020603050405020304" pitchFamily="18" charset="0"/>
                          </a:rPr>
                          <a:t>D</a:t>
                        </a:r>
                        <a:endParaRPr lang="en-US" altLang="zh-CN" sz="1400">
                          <a:latin typeface="Times New Roman" panose="02020603050405020304" pitchFamily="18" charset="0"/>
                        </a:endParaRPr>
                      </a:p>
                    </p:txBody>
                  </p:sp>
                  <p:grpSp>
                    <p:nvGrpSpPr>
                      <p:cNvPr id="68712" name="Group 141"/>
                      <p:cNvGrpSpPr/>
                      <p:nvPr/>
                    </p:nvGrpSpPr>
                    <p:grpSpPr bwMode="auto">
                      <a:xfrm>
                        <a:off x="688" y="3097"/>
                        <a:ext cx="3252" cy="719"/>
                        <a:chOff x="688" y="3097"/>
                        <a:chExt cx="3252" cy="719"/>
                      </a:xfrm>
                    </p:grpSpPr>
                    <p:sp>
                      <p:nvSpPr>
                        <p:cNvPr id="68715" name="Rectangle 49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688" y="3680"/>
                          <a:ext cx="57" cy="1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1pPr>
                          <a:lvl2pPr marL="742950" indent="-28575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2pPr>
                          <a:lvl3pPr marL="1143000" indent="-22860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3pPr>
                          <a:lvl4pPr marL="1600200" indent="-22860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4pPr>
                          <a:lvl5pPr marL="2057400" indent="-22860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hangingPunct="1"/>
                          <a:r>
                            <a:rPr lang="zh-CN" altLang="en-US" sz="1400">
                              <a:latin typeface="Times New Roman" panose="02020603050405020304" pitchFamily="18" charset="0"/>
                            </a:rPr>
                            <a:t>0</a:t>
                          </a:r>
                          <a:endParaRPr lang="zh-CN" altLang="en-US" sz="1400">
                            <a:latin typeface="Times New Roman" panose="02020603050405020304" pitchFamily="18" charset="0"/>
                          </a:endParaRPr>
                        </a:p>
                      </p:txBody>
                    </p:sp>
                    <p:grpSp>
                      <p:nvGrpSpPr>
                        <p:cNvPr id="68716" name="Group 140"/>
                        <p:cNvGrpSpPr/>
                        <p:nvPr/>
                      </p:nvGrpSpPr>
                      <p:grpSpPr bwMode="auto">
                        <a:xfrm>
                          <a:off x="688" y="3097"/>
                          <a:ext cx="3252" cy="588"/>
                          <a:chOff x="688" y="3097"/>
                          <a:chExt cx="3252" cy="588"/>
                        </a:xfrm>
                      </p:grpSpPr>
                      <p:sp>
                        <p:nvSpPr>
                          <p:cNvPr id="68717" name="Rectangle 51"/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688" y="3381"/>
                            <a:ext cx="57" cy="1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wrap="none" lIns="0" tIns="0" rIns="0" bIns="0">
                            <a:spAutoFit/>
                          </a:bodyPr>
                          <a:lstStyle>
                            <a:lvl1pPr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1pPr>
                            <a:lvl2pPr marL="742950" indent="-28575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2pPr>
                            <a:lvl3pPr marL="1143000" indent="-22860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3pPr>
                            <a:lvl4pPr marL="1600200" indent="-22860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4pPr>
                            <a:lvl5pPr marL="2057400" indent="-22860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9pPr>
                          </a:lstStyle>
                          <a:p>
                            <a:pPr eaLnBrk="1" hangingPunct="1"/>
                            <a:r>
                              <a:rPr lang="zh-CN" altLang="en-US" sz="1400">
                                <a:latin typeface="Times New Roman" panose="02020603050405020304" pitchFamily="18" charset="0"/>
                              </a:rPr>
                              <a:t>4</a:t>
                            </a:r>
                            <a:endParaRPr lang="zh-CN" altLang="en-US" sz="1400">
                              <a:latin typeface="Times New Roman" panose="02020603050405020304" pitchFamily="18" charset="0"/>
                            </a:endParaRPr>
                          </a:p>
                        </p:txBody>
                      </p:sp>
                      <p:grpSp>
                        <p:nvGrpSpPr>
                          <p:cNvPr id="68718" name="Group 139"/>
                          <p:cNvGrpSpPr/>
                          <p:nvPr/>
                        </p:nvGrpSpPr>
                        <p:grpSpPr bwMode="auto">
                          <a:xfrm>
                            <a:off x="688" y="3097"/>
                            <a:ext cx="3252" cy="588"/>
                            <a:chOff x="688" y="3097"/>
                            <a:chExt cx="3252" cy="588"/>
                          </a:xfrm>
                        </p:grpSpPr>
                        <p:sp>
                          <p:nvSpPr>
                            <p:cNvPr id="68719" name="Rectangle 53"/>
                            <p:cNvSpPr>
                              <a:spLocks noChangeArrowheads="1"/>
                            </p:cNvSpPr>
                            <p:nvPr/>
                          </p:nvSpPr>
                          <p:spPr bwMode="auto">
                            <a:xfrm>
                              <a:off x="688" y="3097"/>
                              <a:ext cx="57" cy="1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none" lIns="0" tIns="0" rIns="0" bIns="0">
                              <a:spAutoFit/>
                            </a:bodyPr>
                            <a:lstStyle>
                              <a:lvl1pPr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1pPr>
                              <a:lvl2pPr marL="742950" indent="-28575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2pPr>
                              <a:lvl3pPr marL="1143000" indent="-22860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3pPr>
                              <a:lvl4pPr marL="1600200" indent="-22860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4pPr>
                              <a:lvl5pPr marL="2057400" indent="-22860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5pPr>
                              <a:lvl6pPr marL="2514600" indent="-228600" eaLnBrk="0" fontAlgn="base" hangingPunct="0">
                                <a:spcBef>
                                  <a:spcPct val="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6pPr>
                              <a:lvl7pPr marL="2971800" indent="-228600" eaLnBrk="0" fontAlgn="base" hangingPunct="0">
                                <a:spcBef>
                                  <a:spcPct val="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7pPr>
                              <a:lvl8pPr marL="3429000" indent="-228600" eaLnBrk="0" fontAlgn="base" hangingPunct="0">
                                <a:spcBef>
                                  <a:spcPct val="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8pPr>
                              <a:lvl9pPr marL="3886200" indent="-228600" eaLnBrk="0" fontAlgn="base" hangingPunct="0">
                                <a:spcBef>
                                  <a:spcPct val="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9pPr>
                            </a:lstStyle>
                            <a:p>
                              <a:pPr eaLnBrk="1" hangingPunct="1"/>
                              <a:r>
                                <a:rPr lang="zh-CN" altLang="en-US" sz="1400">
                                  <a:latin typeface="Times New Roman" panose="02020603050405020304" pitchFamily="18" charset="0"/>
                                </a:rPr>
                                <a:t>7</a:t>
                              </a:r>
                              <a:endParaRPr lang="zh-CN" altLang="en-US" sz="1400">
                                <a:latin typeface="Times New Roman" panose="02020603050405020304" pitchFamily="18" charset="0"/>
                              </a:endParaRPr>
                            </a:p>
                          </p:txBody>
                        </p:sp>
                        <p:grpSp>
                          <p:nvGrpSpPr>
                            <p:cNvPr id="68720" name="Group 138"/>
                            <p:cNvGrpSpPr/>
                            <p:nvPr/>
                          </p:nvGrpSpPr>
                          <p:grpSpPr bwMode="auto">
                            <a:xfrm>
                              <a:off x="782" y="3146"/>
                              <a:ext cx="3158" cy="539"/>
                              <a:chOff x="782" y="3146"/>
                              <a:chExt cx="3158" cy="539"/>
                            </a:xfrm>
                          </p:grpSpPr>
                          <p:sp>
                            <p:nvSpPr>
                              <p:cNvPr id="68721" name="Line 55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146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2" name="Line 56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5" y="3218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3" name="Line 57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299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4" name="Line 58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374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5" name="Line 59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453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6" name="Freeform 60"/>
                              <p:cNvSpPr/>
                              <p:nvPr/>
                            </p:nvSpPr>
                            <p:spPr bwMode="auto">
                              <a:xfrm>
                                <a:off x="782" y="3531"/>
                                <a:ext cx="3157" cy="1"/>
                              </a:xfrm>
                              <a:custGeom>
                                <a:avLst/>
                                <a:gdLst>
                                  <a:gd name="T0" fmla="*/ 0 w 3157"/>
                                  <a:gd name="T1" fmla="*/ 0 h 1"/>
                                  <a:gd name="T2" fmla="*/ 3157 w 3157"/>
                                  <a:gd name="T3" fmla="*/ 0 h 1"/>
                                  <a:gd name="T4" fmla="*/ 0 60000 65536"/>
                                  <a:gd name="T5" fmla="*/ 0 60000 65536"/>
                                </a:gdLst>
                                <a:ahLst/>
                                <a:cxnLst>
                                  <a:cxn ang="T4">
                                    <a:pos x="T0" y="T1"/>
                                  </a:cxn>
                                  <a:cxn ang="T5">
                                    <a:pos x="T2" y="T3"/>
                                  </a:cxn>
                                </a:cxnLst>
                                <a:rect l="0" t="0" r="r" b="b"/>
                                <a:pathLst>
                                  <a:path w="3157" h="1">
                                    <a:moveTo>
                                      <a:pt x="0" y="0"/>
                                    </a:moveTo>
                                    <a:lnTo>
                                      <a:pt x="3157" y="0"/>
                                    </a:lnTo>
                                  </a:path>
                                </a:pathLst>
                              </a:custGeom>
                              <a:solidFill>
                                <a:srgbClr val="FFFFFF"/>
                              </a:solidFill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7" name="Line 61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606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68728" name="Line 62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684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</p:grpSp>
                      </p:grpSp>
                    </p:grpSp>
                  </p:grpSp>
                  <p:sp>
                    <p:nvSpPr>
                      <p:cNvPr id="68713" name="Rectangle 63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30" y="2795"/>
                        <a:ext cx="145" cy="189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>
                        <a:lvl1pPr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1pPr>
                        <a:lvl2pPr marL="742950" indent="-28575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2pPr>
                        <a:lvl3pPr marL="11430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3pPr>
                        <a:lvl4pPr marL="16002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4pPr>
                        <a:lvl5pPr marL="20574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hangingPunct="1">
                          <a:spcBef>
                            <a:spcPct val="20000"/>
                          </a:spcBef>
                        </a:pPr>
                        <a:endParaRPr lang="zh-CN" altLang="en-US"/>
                      </a:p>
                    </p:txBody>
                  </p:sp>
                  <p:sp>
                    <p:nvSpPr>
                      <p:cNvPr id="68714" name="Rectangle 64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30" y="4103"/>
                        <a:ext cx="145" cy="189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>
                        <a:lvl1pPr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1pPr>
                        <a:lvl2pPr marL="742950" indent="-28575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2pPr>
                        <a:lvl3pPr marL="11430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3pPr>
                        <a:lvl4pPr marL="16002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4pPr>
                        <a:lvl5pPr marL="2057400" indent="-22860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hangingPunct="1">
                          <a:spcBef>
                            <a:spcPct val="20000"/>
                          </a:spcBef>
                        </a:pPr>
                        <a:endParaRPr lang="zh-CN" altLang="en-US"/>
                      </a:p>
                    </p:txBody>
                  </p:sp>
                </p:grpSp>
              </p:grpSp>
            </p:grpSp>
          </p:grpSp>
        </p:grpSp>
      </p:grpSp>
      <p:sp>
        <p:nvSpPr>
          <p:cNvPr id="68627" name="Oval 65"/>
          <p:cNvSpPr>
            <a:spLocks noChangeArrowheads="1"/>
          </p:cNvSpPr>
          <p:nvPr/>
        </p:nvSpPr>
        <p:spPr bwMode="auto">
          <a:xfrm>
            <a:off x="1934270" y="5079465"/>
            <a:ext cx="36512" cy="36513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28" name="Oval 66"/>
          <p:cNvSpPr>
            <a:spLocks noChangeArrowheads="1"/>
          </p:cNvSpPr>
          <p:nvPr/>
        </p:nvSpPr>
        <p:spPr bwMode="auto">
          <a:xfrm>
            <a:off x="1940621" y="5255677"/>
            <a:ext cx="34925" cy="3651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29" name="Oval 67"/>
          <p:cNvSpPr>
            <a:spLocks noChangeArrowheads="1"/>
          </p:cNvSpPr>
          <p:nvPr/>
        </p:nvSpPr>
        <p:spPr bwMode="auto">
          <a:xfrm>
            <a:off x="1934270" y="5566827"/>
            <a:ext cx="36512" cy="3175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sp>
        <p:nvSpPr>
          <p:cNvPr id="68630" name="Oval 68"/>
          <p:cNvSpPr>
            <a:spLocks noChangeArrowheads="1"/>
          </p:cNvSpPr>
          <p:nvPr/>
        </p:nvSpPr>
        <p:spPr bwMode="auto">
          <a:xfrm>
            <a:off x="1934270" y="5700178"/>
            <a:ext cx="36512" cy="34925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chemeClr val="tx1"/>
                </a:solidFill>
                <a:rou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796741" name="Group 69"/>
          <p:cNvGrpSpPr/>
          <p:nvPr/>
        </p:nvGrpSpPr>
        <p:grpSpPr bwMode="auto">
          <a:xfrm>
            <a:off x="1743770" y="2895064"/>
            <a:ext cx="5381626" cy="939800"/>
            <a:chOff x="571" y="1812"/>
            <a:chExt cx="3390" cy="592"/>
          </a:xfrm>
        </p:grpSpPr>
        <p:sp>
          <p:nvSpPr>
            <p:cNvPr id="68689" name="Rectangle 70"/>
            <p:cNvSpPr>
              <a:spLocks noChangeArrowheads="1"/>
            </p:cNvSpPr>
            <p:nvPr/>
          </p:nvSpPr>
          <p:spPr bwMode="auto">
            <a:xfrm>
              <a:off x="701" y="1871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>
                  <a:latin typeface="Times New Roman" panose="02020603050405020304" pitchFamily="18" charset="0"/>
                </a:rPr>
                <a:t>9</a:t>
              </a:r>
              <a:endParaRPr lang="zh-CN" altLang="en-US" sz="1400">
                <a:latin typeface="Times New Roman" panose="02020603050405020304" pitchFamily="18" charset="0"/>
              </a:endParaRPr>
            </a:p>
          </p:txBody>
        </p:sp>
        <p:sp>
          <p:nvSpPr>
            <p:cNvPr id="68690" name="Rectangle 71"/>
            <p:cNvSpPr>
              <a:spLocks noChangeArrowheads="1"/>
            </p:cNvSpPr>
            <p:nvPr/>
          </p:nvSpPr>
          <p:spPr bwMode="auto">
            <a:xfrm>
              <a:off x="629" y="2210"/>
              <a:ext cx="8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>
                  <a:latin typeface="Times New Roman" panose="02020603050405020304" pitchFamily="18" charset="0"/>
                </a:rPr>
                <a:t>A</a:t>
              </a:r>
              <a:endParaRPr lang="en-US" altLang="zh-CN" sz="1400">
                <a:latin typeface="Times New Roman" panose="02020603050405020304" pitchFamily="18" charset="0"/>
              </a:endParaRPr>
            </a:p>
          </p:txBody>
        </p:sp>
        <p:grpSp>
          <p:nvGrpSpPr>
            <p:cNvPr id="68691" name="Group 72"/>
            <p:cNvGrpSpPr/>
            <p:nvPr/>
          </p:nvGrpSpPr>
          <p:grpSpPr bwMode="auto">
            <a:xfrm>
              <a:off x="571" y="1812"/>
              <a:ext cx="3390" cy="592"/>
              <a:chOff x="571" y="1812"/>
              <a:chExt cx="3390" cy="592"/>
            </a:xfrm>
          </p:grpSpPr>
          <p:sp>
            <p:nvSpPr>
              <p:cNvPr id="68692" name="Line 73"/>
              <p:cNvSpPr>
                <a:spLocks noChangeShapeType="1"/>
              </p:cNvSpPr>
              <p:nvPr/>
            </p:nvSpPr>
            <p:spPr bwMode="auto">
              <a:xfrm>
                <a:off x="795" y="1913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93" name="Line 74"/>
              <p:cNvSpPr>
                <a:spLocks noChangeShapeType="1"/>
              </p:cNvSpPr>
              <p:nvPr/>
            </p:nvSpPr>
            <p:spPr bwMode="auto">
              <a:xfrm>
                <a:off x="795" y="1992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94" name="Line 75"/>
              <p:cNvSpPr>
                <a:spLocks noChangeShapeType="1"/>
              </p:cNvSpPr>
              <p:nvPr/>
            </p:nvSpPr>
            <p:spPr bwMode="auto">
              <a:xfrm>
                <a:off x="806" y="2233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95" name="Line 76"/>
              <p:cNvSpPr>
                <a:spLocks noChangeShapeType="1"/>
              </p:cNvSpPr>
              <p:nvPr/>
            </p:nvSpPr>
            <p:spPr bwMode="auto">
              <a:xfrm>
                <a:off x="795" y="2311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96" name="Line 77"/>
              <p:cNvSpPr>
                <a:spLocks noChangeShapeType="1"/>
              </p:cNvSpPr>
              <p:nvPr/>
            </p:nvSpPr>
            <p:spPr bwMode="auto">
              <a:xfrm>
                <a:off x="795" y="2067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97" name="Rectangle 78"/>
              <p:cNvSpPr>
                <a:spLocks noChangeArrowheads="1"/>
              </p:cNvSpPr>
              <p:nvPr/>
            </p:nvSpPr>
            <p:spPr bwMode="auto">
              <a:xfrm>
                <a:off x="630" y="1812"/>
                <a:ext cx="82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>
                    <a:latin typeface="Times New Roman" panose="02020603050405020304" pitchFamily="18" charset="0"/>
                  </a:rPr>
                  <a:t>A</a:t>
                </a:r>
                <a:endParaRPr lang="en-US" altLang="zh-CN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698" name="Rectangle 79"/>
              <p:cNvSpPr>
                <a:spLocks noChangeArrowheads="1"/>
              </p:cNvSpPr>
              <p:nvPr/>
            </p:nvSpPr>
            <p:spPr bwMode="auto">
              <a:xfrm>
                <a:off x="700" y="2268"/>
                <a:ext cx="57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400">
                    <a:latin typeface="Times New Roman" panose="02020603050405020304" pitchFamily="18" charset="0"/>
                  </a:rPr>
                  <a:t>0</a:t>
                </a:r>
                <a:endParaRPr lang="zh-CN" altLang="en-US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699" name="Text Box 80"/>
              <p:cNvSpPr txBox="1">
                <a:spLocks noChangeArrowheads="1"/>
              </p:cNvSpPr>
              <p:nvPr/>
            </p:nvSpPr>
            <p:spPr bwMode="auto">
              <a:xfrm>
                <a:off x="571" y="1969"/>
                <a:ext cx="233" cy="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lIns="0" r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6753" name="Group 81"/>
          <p:cNvGrpSpPr/>
          <p:nvPr/>
        </p:nvGrpSpPr>
        <p:grpSpPr bwMode="auto">
          <a:xfrm>
            <a:off x="3059807" y="4080927"/>
            <a:ext cx="3024188" cy="646112"/>
            <a:chOff x="1400" y="2559"/>
            <a:chExt cx="1905" cy="407"/>
          </a:xfrm>
        </p:grpSpPr>
        <p:sp>
          <p:nvSpPr>
            <p:cNvPr id="68684" name="Rectangle 82"/>
            <p:cNvSpPr>
              <a:spLocks noChangeArrowheads="1"/>
            </p:cNvSpPr>
            <p:nvPr/>
          </p:nvSpPr>
          <p:spPr bwMode="auto">
            <a:xfrm>
              <a:off x="1561" y="2659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2114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68685" name="Group 83"/>
            <p:cNvGrpSpPr/>
            <p:nvPr/>
          </p:nvGrpSpPr>
          <p:grpSpPr bwMode="auto">
            <a:xfrm>
              <a:off x="1400" y="2559"/>
              <a:ext cx="1905" cy="407"/>
              <a:chOff x="1400" y="2559"/>
              <a:chExt cx="1905" cy="407"/>
            </a:xfrm>
          </p:grpSpPr>
          <p:sp>
            <p:nvSpPr>
              <p:cNvPr id="68687" name="Rectangle 84"/>
              <p:cNvSpPr>
                <a:spLocks noChangeArrowheads="1"/>
              </p:cNvSpPr>
              <p:nvPr/>
            </p:nvSpPr>
            <p:spPr bwMode="auto">
              <a:xfrm>
                <a:off x="1400" y="2559"/>
                <a:ext cx="651" cy="401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8688" name="Rectangle 85"/>
              <p:cNvSpPr>
                <a:spLocks noChangeArrowheads="1"/>
              </p:cNvSpPr>
              <p:nvPr/>
            </p:nvSpPr>
            <p:spPr bwMode="auto">
              <a:xfrm>
                <a:off x="2654" y="2565"/>
                <a:ext cx="651" cy="401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  <p:sp>
          <p:nvSpPr>
            <p:cNvPr id="68686" name="Rectangle 86"/>
            <p:cNvSpPr>
              <a:spLocks noChangeArrowheads="1"/>
            </p:cNvSpPr>
            <p:nvPr/>
          </p:nvSpPr>
          <p:spPr bwMode="auto">
            <a:xfrm>
              <a:off x="2832" y="2659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2114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6759" name="Group 87"/>
          <p:cNvGrpSpPr/>
          <p:nvPr/>
        </p:nvGrpSpPr>
        <p:grpSpPr bwMode="auto">
          <a:xfrm>
            <a:off x="4113908" y="4512727"/>
            <a:ext cx="2276475" cy="11112"/>
            <a:chOff x="2064" y="2831"/>
            <a:chExt cx="1434" cy="7"/>
          </a:xfrm>
        </p:grpSpPr>
        <p:sp>
          <p:nvSpPr>
            <p:cNvPr id="68682" name="Freeform 88"/>
            <p:cNvSpPr/>
            <p:nvPr/>
          </p:nvSpPr>
          <p:spPr bwMode="auto">
            <a:xfrm>
              <a:off x="3309" y="2837"/>
              <a:ext cx="189" cy="1"/>
            </a:xfrm>
            <a:custGeom>
              <a:avLst/>
              <a:gdLst>
                <a:gd name="T0" fmla="*/ 0 w 189"/>
                <a:gd name="T1" fmla="*/ 0 h 1"/>
                <a:gd name="T2" fmla="*/ 189 w 189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1">
                  <a:moveTo>
                    <a:pt x="0" y="0"/>
                  </a:moveTo>
                  <a:lnTo>
                    <a:pt x="189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8683" name="Line 89"/>
            <p:cNvSpPr>
              <a:spLocks noChangeShapeType="1"/>
            </p:cNvSpPr>
            <p:nvPr/>
          </p:nvSpPr>
          <p:spPr bwMode="auto">
            <a:xfrm>
              <a:off x="2064" y="2831"/>
              <a:ext cx="15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96762" name="Group 90"/>
          <p:cNvGrpSpPr/>
          <p:nvPr/>
        </p:nvGrpSpPr>
        <p:grpSpPr bwMode="auto">
          <a:xfrm>
            <a:off x="4313932" y="4498439"/>
            <a:ext cx="2057400" cy="1638300"/>
            <a:chOff x="2190" y="2822"/>
            <a:chExt cx="1296" cy="1032"/>
          </a:xfrm>
        </p:grpSpPr>
        <p:grpSp>
          <p:nvGrpSpPr>
            <p:cNvPr id="68678" name="Group 91"/>
            <p:cNvGrpSpPr/>
            <p:nvPr/>
          </p:nvGrpSpPr>
          <p:grpSpPr bwMode="auto">
            <a:xfrm>
              <a:off x="2209" y="2822"/>
              <a:ext cx="1277" cy="1025"/>
              <a:chOff x="2209" y="2822"/>
              <a:chExt cx="1277" cy="1025"/>
            </a:xfrm>
          </p:grpSpPr>
          <p:sp>
            <p:nvSpPr>
              <p:cNvPr id="68680" name="Freeform 92"/>
              <p:cNvSpPr/>
              <p:nvPr/>
            </p:nvSpPr>
            <p:spPr bwMode="auto">
              <a:xfrm>
                <a:off x="3485" y="2837"/>
                <a:ext cx="1" cy="1003"/>
              </a:xfrm>
              <a:custGeom>
                <a:avLst/>
                <a:gdLst>
                  <a:gd name="T0" fmla="*/ 1 w 1"/>
                  <a:gd name="T1" fmla="*/ 0 h 1003"/>
                  <a:gd name="T2" fmla="*/ 0 w 1"/>
                  <a:gd name="T3" fmla="*/ 1003 h 10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03">
                    <a:moveTo>
                      <a:pt x="1" y="0"/>
                    </a:moveTo>
                    <a:lnTo>
                      <a:pt x="0" y="1003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81" name="Line 93"/>
              <p:cNvSpPr>
                <a:spLocks noChangeShapeType="1"/>
              </p:cNvSpPr>
              <p:nvPr/>
            </p:nvSpPr>
            <p:spPr bwMode="auto">
              <a:xfrm>
                <a:off x="2209" y="2822"/>
                <a:ext cx="1" cy="10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8679" name="Oval 94"/>
            <p:cNvSpPr>
              <a:spLocks noChangeArrowheads="1"/>
            </p:cNvSpPr>
            <p:nvPr/>
          </p:nvSpPr>
          <p:spPr bwMode="auto">
            <a:xfrm>
              <a:off x="2190" y="3821"/>
              <a:ext cx="35" cy="33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796767" name="Group 95"/>
          <p:cNvGrpSpPr/>
          <p:nvPr/>
        </p:nvGrpSpPr>
        <p:grpSpPr bwMode="auto">
          <a:xfrm>
            <a:off x="1804096" y="6020852"/>
            <a:ext cx="4573587" cy="215900"/>
            <a:chOff x="609" y="3781"/>
            <a:chExt cx="2881" cy="136"/>
          </a:xfrm>
        </p:grpSpPr>
        <p:sp>
          <p:nvSpPr>
            <p:cNvPr id="68674" name="Line 96"/>
            <p:cNvSpPr>
              <a:spLocks noChangeShapeType="1"/>
            </p:cNvSpPr>
            <p:nvPr/>
          </p:nvSpPr>
          <p:spPr bwMode="auto">
            <a:xfrm>
              <a:off x="795" y="3831"/>
              <a:ext cx="269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8675" name="Group 97"/>
            <p:cNvGrpSpPr/>
            <p:nvPr/>
          </p:nvGrpSpPr>
          <p:grpSpPr bwMode="auto">
            <a:xfrm>
              <a:off x="609" y="3781"/>
              <a:ext cx="156" cy="136"/>
              <a:chOff x="414" y="2975"/>
              <a:chExt cx="156" cy="136"/>
            </a:xfrm>
          </p:grpSpPr>
          <p:sp>
            <p:nvSpPr>
              <p:cNvPr id="68676" name="Rectangle 98"/>
              <p:cNvSpPr>
                <a:spLocks noChangeArrowheads="1"/>
              </p:cNvSpPr>
              <p:nvPr/>
            </p:nvSpPr>
            <p:spPr bwMode="auto">
              <a:xfrm>
                <a:off x="415" y="2975"/>
                <a:ext cx="144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>
                    <a:latin typeface="Times New Roman" panose="02020603050405020304" pitchFamily="18" charset="0"/>
                  </a:rPr>
                  <a:t>CS</a:t>
                </a:r>
                <a:endParaRPr lang="en-US" altLang="zh-CN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677" name="Line 99"/>
              <p:cNvSpPr>
                <a:spLocks noChangeShapeType="1"/>
              </p:cNvSpPr>
              <p:nvPr/>
            </p:nvSpPr>
            <p:spPr bwMode="auto">
              <a:xfrm>
                <a:off x="414" y="2991"/>
                <a:ext cx="15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796772" name="Group 100"/>
          <p:cNvGrpSpPr/>
          <p:nvPr/>
        </p:nvGrpSpPr>
        <p:grpSpPr bwMode="auto">
          <a:xfrm>
            <a:off x="4083746" y="4249203"/>
            <a:ext cx="2509837" cy="1587"/>
            <a:chOff x="2045" y="2665"/>
            <a:chExt cx="1581" cy="1"/>
          </a:xfrm>
        </p:grpSpPr>
        <p:sp>
          <p:nvSpPr>
            <p:cNvPr id="68672" name="Line 101"/>
            <p:cNvSpPr>
              <a:spLocks noChangeShapeType="1"/>
            </p:cNvSpPr>
            <p:nvPr/>
          </p:nvSpPr>
          <p:spPr bwMode="auto">
            <a:xfrm>
              <a:off x="3303" y="2665"/>
              <a:ext cx="32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3" name="Line 102"/>
            <p:cNvSpPr>
              <a:spLocks noChangeShapeType="1"/>
            </p:cNvSpPr>
            <p:nvPr/>
          </p:nvSpPr>
          <p:spPr bwMode="auto">
            <a:xfrm>
              <a:off x="2045" y="2665"/>
              <a:ext cx="30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6775" name="Group 103"/>
          <p:cNvGrpSpPr/>
          <p:nvPr/>
        </p:nvGrpSpPr>
        <p:grpSpPr bwMode="auto">
          <a:xfrm>
            <a:off x="4539358" y="4236502"/>
            <a:ext cx="2055813" cy="2055812"/>
            <a:chOff x="2332" y="2657"/>
            <a:chExt cx="1295" cy="1295"/>
          </a:xfrm>
        </p:grpSpPr>
        <p:grpSp>
          <p:nvGrpSpPr>
            <p:cNvPr id="68668" name="Group 104"/>
            <p:cNvGrpSpPr/>
            <p:nvPr/>
          </p:nvGrpSpPr>
          <p:grpSpPr bwMode="auto">
            <a:xfrm>
              <a:off x="2345" y="2657"/>
              <a:ext cx="1282" cy="1291"/>
              <a:chOff x="2345" y="2657"/>
              <a:chExt cx="1282" cy="1291"/>
            </a:xfrm>
          </p:grpSpPr>
          <p:sp>
            <p:nvSpPr>
              <p:cNvPr id="68670" name="Line 105"/>
              <p:cNvSpPr>
                <a:spLocks noChangeShapeType="1"/>
              </p:cNvSpPr>
              <p:nvPr/>
            </p:nvSpPr>
            <p:spPr bwMode="auto">
              <a:xfrm>
                <a:off x="3620" y="2657"/>
                <a:ext cx="7" cy="12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71" name="Line 106"/>
              <p:cNvSpPr>
                <a:spLocks noChangeShapeType="1"/>
              </p:cNvSpPr>
              <p:nvPr/>
            </p:nvSpPr>
            <p:spPr bwMode="auto">
              <a:xfrm>
                <a:off x="2345" y="2660"/>
                <a:ext cx="7" cy="127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8669" name="Oval 107"/>
            <p:cNvSpPr>
              <a:spLocks noChangeArrowheads="1"/>
            </p:cNvSpPr>
            <p:nvPr/>
          </p:nvSpPr>
          <p:spPr bwMode="auto">
            <a:xfrm>
              <a:off x="2332" y="3919"/>
              <a:ext cx="32" cy="33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796780" name="Group 108"/>
          <p:cNvGrpSpPr/>
          <p:nvPr/>
        </p:nvGrpSpPr>
        <p:grpSpPr bwMode="auto">
          <a:xfrm>
            <a:off x="1785046" y="6217702"/>
            <a:ext cx="4808537" cy="215900"/>
            <a:chOff x="597" y="3905"/>
            <a:chExt cx="3029" cy="136"/>
          </a:xfrm>
        </p:grpSpPr>
        <p:sp>
          <p:nvSpPr>
            <p:cNvPr id="68664" name="Line 109"/>
            <p:cNvSpPr>
              <a:spLocks noChangeShapeType="1"/>
            </p:cNvSpPr>
            <p:nvPr/>
          </p:nvSpPr>
          <p:spPr bwMode="auto">
            <a:xfrm>
              <a:off x="795" y="3935"/>
              <a:ext cx="2831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8665" name="Group 110"/>
            <p:cNvGrpSpPr/>
            <p:nvPr/>
          </p:nvGrpSpPr>
          <p:grpSpPr bwMode="auto">
            <a:xfrm>
              <a:off x="597" y="3905"/>
              <a:ext cx="195" cy="136"/>
              <a:chOff x="402" y="3099"/>
              <a:chExt cx="195" cy="136"/>
            </a:xfrm>
          </p:grpSpPr>
          <p:sp>
            <p:nvSpPr>
              <p:cNvPr id="68666" name="Rectangle 111"/>
              <p:cNvSpPr>
                <a:spLocks noChangeArrowheads="1"/>
              </p:cNvSpPr>
              <p:nvPr/>
            </p:nvSpPr>
            <p:spPr bwMode="auto">
              <a:xfrm>
                <a:off x="406" y="3099"/>
                <a:ext cx="189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>
                    <a:latin typeface="Times New Roman" panose="02020603050405020304" pitchFamily="18" charset="0"/>
                  </a:rPr>
                  <a:t>WE</a:t>
                </a:r>
                <a:endParaRPr lang="en-US" altLang="zh-CN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667" name="Freeform 112"/>
              <p:cNvSpPr/>
              <p:nvPr/>
            </p:nvSpPr>
            <p:spPr bwMode="auto">
              <a:xfrm>
                <a:off x="402" y="3099"/>
                <a:ext cx="195" cy="3"/>
              </a:xfrm>
              <a:custGeom>
                <a:avLst/>
                <a:gdLst>
                  <a:gd name="T0" fmla="*/ 0 w 195"/>
                  <a:gd name="T1" fmla="*/ 3 h 3"/>
                  <a:gd name="T2" fmla="*/ 195 w 19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3">
                    <a:moveTo>
                      <a:pt x="0" y="3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796785" name="Group 113"/>
          <p:cNvGrpSpPr/>
          <p:nvPr/>
        </p:nvGrpSpPr>
        <p:grpSpPr bwMode="auto">
          <a:xfrm>
            <a:off x="5141020" y="3050640"/>
            <a:ext cx="855662" cy="1039813"/>
            <a:chOff x="2711" y="1910"/>
            <a:chExt cx="539" cy="655"/>
          </a:xfrm>
        </p:grpSpPr>
        <p:grpSp>
          <p:nvGrpSpPr>
            <p:cNvPr id="68654" name="Group 114"/>
            <p:cNvGrpSpPr/>
            <p:nvPr/>
          </p:nvGrpSpPr>
          <p:grpSpPr bwMode="auto">
            <a:xfrm>
              <a:off x="2711" y="1910"/>
              <a:ext cx="539" cy="655"/>
              <a:chOff x="2711" y="1910"/>
              <a:chExt cx="539" cy="655"/>
            </a:xfrm>
          </p:grpSpPr>
          <p:sp>
            <p:nvSpPr>
              <p:cNvPr id="68659" name="Freeform 115"/>
              <p:cNvSpPr/>
              <p:nvPr/>
            </p:nvSpPr>
            <p:spPr bwMode="auto">
              <a:xfrm>
                <a:off x="3249" y="2295"/>
                <a:ext cx="1" cy="270"/>
              </a:xfrm>
              <a:custGeom>
                <a:avLst/>
                <a:gdLst>
                  <a:gd name="T0" fmla="*/ 1 w 1"/>
                  <a:gd name="T1" fmla="*/ 270 h 270"/>
                  <a:gd name="T2" fmla="*/ 0 w 1"/>
                  <a:gd name="T3" fmla="*/ 0 h 2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0">
                    <a:moveTo>
                      <a:pt x="1" y="27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60" name="Freeform 116"/>
              <p:cNvSpPr/>
              <p:nvPr/>
            </p:nvSpPr>
            <p:spPr bwMode="auto">
              <a:xfrm>
                <a:off x="3156" y="2225"/>
                <a:ext cx="1" cy="340"/>
              </a:xfrm>
              <a:custGeom>
                <a:avLst/>
                <a:gdLst>
                  <a:gd name="T0" fmla="*/ 1 w 1"/>
                  <a:gd name="T1" fmla="*/ 340 h 340"/>
                  <a:gd name="T2" fmla="*/ 0 w 1"/>
                  <a:gd name="T3" fmla="*/ 0 h 3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40">
                    <a:moveTo>
                      <a:pt x="1" y="34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61" name="Line 117"/>
              <p:cNvSpPr>
                <a:spLocks noChangeShapeType="1"/>
              </p:cNvSpPr>
              <p:nvPr/>
            </p:nvSpPr>
            <p:spPr bwMode="auto">
              <a:xfrm flipV="1">
                <a:off x="2891" y="2069"/>
                <a:ext cx="1" cy="4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62" name="Line 118"/>
              <p:cNvSpPr>
                <a:spLocks noChangeShapeType="1"/>
              </p:cNvSpPr>
              <p:nvPr/>
            </p:nvSpPr>
            <p:spPr bwMode="auto">
              <a:xfrm flipV="1">
                <a:off x="2801" y="1998"/>
                <a:ext cx="1" cy="56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63" name="Line 119"/>
              <p:cNvSpPr>
                <a:spLocks noChangeShapeType="1"/>
              </p:cNvSpPr>
              <p:nvPr/>
            </p:nvSpPr>
            <p:spPr bwMode="auto">
              <a:xfrm flipV="1">
                <a:off x="2711" y="1910"/>
                <a:ext cx="1" cy="65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8655" name="Group 120"/>
            <p:cNvGrpSpPr/>
            <p:nvPr/>
          </p:nvGrpSpPr>
          <p:grpSpPr bwMode="auto">
            <a:xfrm>
              <a:off x="2935" y="2464"/>
              <a:ext cx="169" cy="23"/>
              <a:chOff x="2935" y="2464"/>
              <a:chExt cx="169" cy="23"/>
            </a:xfrm>
          </p:grpSpPr>
          <p:sp>
            <p:nvSpPr>
              <p:cNvPr id="68656" name="Oval 121"/>
              <p:cNvSpPr>
                <a:spLocks noChangeArrowheads="1"/>
              </p:cNvSpPr>
              <p:nvPr/>
            </p:nvSpPr>
            <p:spPr bwMode="auto">
              <a:xfrm>
                <a:off x="3082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8657" name="Oval 122"/>
              <p:cNvSpPr>
                <a:spLocks noChangeArrowheads="1"/>
              </p:cNvSpPr>
              <p:nvPr/>
            </p:nvSpPr>
            <p:spPr bwMode="auto">
              <a:xfrm>
                <a:off x="2935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8658" name="Oval 123"/>
              <p:cNvSpPr>
                <a:spLocks noChangeArrowheads="1"/>
              </p:cNvSpPr>
              <p:nvPr/>
            </p:nvSpPr>
            <p:spPr bwMode="auto">
              <a:xfrm>
                <a:off x="3008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</p:grpSp>
      <p:grpSp>
        <p:nvGrpSpPr>
          <p:cNvPr id="796796" name="Group 124"/>
          <p:cNvGrpSpPr/>
          <p:nvPr/>
        </p:nvGrpSpPr>
        <p:grpSpPr bwMode="auto">
          <a:xfrm>
            <a:off x="3150295" y="3041115"/>
            <a:ext cx="857250" cy="1039813"/>
            <a:chOff x="1457" y="1904"/>
            <a:chExt cx="540" cy="655"/>
          </a:xfrm>
        </p:grpSpPr>
        <p:grpSp>
          <p:nvGrpSpPr>
            <p:cNvPr id="68644" name="Group 125"/>
            <p:cNvGrpSpPr/>
            <p:nvPr/>
          </p:nvGrpSpPr>
          <p:grpSpPr bwMode="auto">
            <a:xfrm>
              <a:off x="1457" y="1904"/>
              <a:ext cx="540" cy="655"/>
              <a:chOff x="1457" y="1904"/>
              <a:chExt cx="540" cy="655"/>
            </a:xfrm>
          </p:grpSpPr>
          <p:sp>
            <p:nvSpPr>
              <p:cNvPr id="68649" name="Line 126"/>
              <p:cNvSpPr>
                <a:spLocks noChangeShapeType="1"/>
              </p:cNvSpPr>
              <p:nvPr/>
            </p:nvSpPr>
            <p:spPr bwMode="auto">
              <a:xfrm flipV="1">
                <a:off x="1996" y="2301"/>
                <a:ext cx="1" cy="25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50" name="Line 127"/>
              <p:cNvSpPr>
                <a:spLocks noChangeShapeType="1"/>
              </p:cNvSpPr>
              <p:nvPr/>
            </p:nvSpPr>
            <p:spPr bwMode="auto">
              <a:xfrm flipV="1">
                <a:off x="1903" y="2223"/>
                <a:ext cx="1" cy="3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51" name="Line 128"/>
              <p:cNvSpPr>
                <a:spLocks noChangeShapeType="1"/>
              </p:cNvSpPr>
              <p:nvPr/>
            </p:nvSpPr>
            <p:spPr bwMode="auto">
              <a:xfrm flipV="1">
                <a:off x="1637" y="2063"/>
                <a:ext cx="1" cy="4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52" name="Line 129"/>
              <p:cNvSpPr>
                <a:spLocks noChangeShapeType="1"/>
              </p:cNvSpPr>
              <p:nvPr/>
            </p:nvSpPr>
            <p:spPr bwMode="auto">
              <a:xfrm flipV="1">
                <a:off x="1547" y="1992"/>
                <a:ext cx="1" cy="56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53" name="Line 130"/>
              <p:cNvSpPr>
                <a:spLocks noChangeShapeType="1"/>
              </p:cNvSpPr>
              <p:nvPr/>
            </p:nvSpPr>
            <p:spPr bwMode="auto">
              <a:xfrm flipV="1">
                <a:off x="1457" y="1904"/>
                <a:ext cx="1" cy="65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8645" name="Group 131"/>
            <p:cNvGrpSpPr/>
            <p:nvPr/>
          </p:nvGrpSpPr>
          <p:grpSpPr bwMode="auto">
            <a:xfrm>
              <a:off x="1684" y="2464"/>
              <a:ext cx="169" cy="23"/>
              <a:chOff x="1684" y="2464"/>
              <a:chExt cx="169" cy="23"/>
            </a:xfrm>
          </p:grpSpPr>
          <p:sp>
            <p:nvSpPr>
              <p:cNvPr id="68646" name="Oval 132"/>
              <p:cNvSpPr>
                <a:spLocks noChangeArrowheads="1"/>
              </p:cNvSpPr>
              <p:nvPr/>
            </p:nvSpPr>
            <p:spPr bwMode="auto">
              <a:xfrm>
                <a:off x="1831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8647" name="Oval 133"/>
              <p:cNvSpPr>
                <a:spLocks noChangeArrowheads="1"/>
              </p:cNvSpPr>
              <p:nvPr/>
            </p:nvSpPr>
            <p:spPr bwMode="auto">
              <a:xfrm>
                <a:off x="1684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68648" name="Oval 134"/>
              <p:cNvSpPr>
                <a:spLocks noChangeArrowheads="1"/>
              </p:cNvSpPr>
              <p:nvPr/>
            </p:nvSpPr>
            <p:spPr bwMode="auto">
              <a:xfrm>
                <a:off x="1757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</p:grpSp>
      </p:grpSp>
      <p:sp>
        <p:nvSpPr>
          <p:cNvPr id="796808" name="Text Box 136"/>
          <p:cNvSpPr txBox="1">
            <a:spLocks noChangeArrowheads="1"/>
          </p:cNvSpPr>
          <p:nvPr/>
        </p:nvSpPr>
        <p:spPr bwMode="auto">
          <a:xfrm>
            <a:off x="2169220" y="2294989"/>
            <a:ext cx="792162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片</a:t>
            </a:r>
            <a:endParaRPr lang="zh-CN" altLang="en-US" sz="2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6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6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6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66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9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6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6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96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796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796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796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796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500"/>
                                        <p:tgtEl>
                                          <p:spTgt spid="796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7" dur="500"/>
                                        <p:tgtEl>
                                          <p:spTgt spid="796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2" dur="500"/>
                                        <p:tgtEl>
                                          <p:spTgt spid="796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7" dur="500"/>
                                        <p:tgtEl>
                                          <p:spTgt spid="796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796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85" dur="500"/>
                                        <p:tgtEl>
                                          <p:spTgt spid="796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0" dur="500"/>
                                        <p:tgtEl>
                                          <p:spTgt spid="796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796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98" dur="500"/>
                                        <p:tgtEl>
                                          <p:spTgt spid="796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6674" grpId="0"/>
      <p:bldP spid="796675" grpId="0"/>
      <p:bldP spid="796682" grpId="0" autoUpdateAnimBg="0"/>
      <p:bldP spid="796808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Text Box 2"/>
          <p:cNvSpPr txBox="1">
            <a:spLocks noChangeArrowheads="1"/>
          </p:cNvSpPr>
          <p:nvPr/>
        </p:nvSpPr>
        <p:spPr bwMode="auto">
          <a:xfrm>
            <a:off x="1487488" y="260648"/>
            <a:ext cx="6858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(2) 字扩展（增加存储字的数量）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797699" name="Text Box 3"/>
          <p:cNvSpPr txBox="1">
            <a:spLocks noChangeArrowheads="1"/>
          </p:cNvSpPr>
          <p:nvPr/>
        </p:nvSpPr>
        <p:spPr bwMode="auto">
          <a:xfrm>
            <a:off x="1868488" y="1295698"/>
            <a:ext cx="77724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latin typeface="Times New Roman" panose="02020603050405020304" pitchFamily="18" charset="0"/>
              </a:rPr>
              <a:t> 用        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600">
                <a:latin typeface="Times New Roman" panose="02020603050405020304" pitchFamily="18" charset="0"/>
              </a:rPr>
              <a:t>8位 存储芯片组成 2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</a:rPr>
              <a:t>8</a:t>
            </a:r>
            <a:r>
              <a:rPr lang="zh-CN" altLang="en-US" sz="2600">
                <a:latin typeface="Times New Roman" panose="02020603050405020304" pitchFamily="18" charset="0"/>
              </a:rPr>
              <a:t>位 的存储器</a:t>
            </a:r>
            <a:endParaRPr lang="zh-CN" altLang="en-US" sz="2600">
              <a:latin typeface="Times New Roman" panose="02020603050405020304" pitchFamily="18" charset="0"/>
            </a:endParaRPr>
          </a:p>
        </p:txBody>
      </p:sp>
      <p:grpSp>
        <p:nvGrpSpPr>
          <p:cNvPr id="797700" name="Group 4"/>
          <p:cNvGrpSpPr/>
          <p:nvPr/>
        </p:nvGrpSpPr>
        <p:grpSpPr bwMode="auto">
          <a:xfrm>
            <a:off x="8004176" y="682923"/>
            <a:ext cx="1998662" cy="457200"/>
            <a:chOff x="4224" y="571"/>
            <a:chExt cx="1259" cy="288"/>
          </a:xfrm>
        </p:grpSpPr>
        <p:sp>
          <p:nvSpPr>
            <p:cNvPr id="69720" name="AutoShape 5"/>
            <p:cNvSpPr>
              <a:spLocks noChangeArrowheads="1"/>
            </p:cNvSpPr>
            <p:nvPr/>
          </p:nvSpPr>
          <p:spPr bwMode="auto">
            <a:xfrm>
              <a:off x="4224" y="576"/>
              <a:ext cx="1248" cy="270"/>
            </a:xfrm>
            <a:prstGeom prst="wedgeRoundRectCallout">
              <a:avLst>
                <a:gd name="adj1" fmla="val -110255"/>
                <a:gd name="adj2" fmla="val 109259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Ins="0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en-US" altLang="zh-CN" sz="2600">
                <a:latin typeface="Times New Roman" panose="02020603050405020304" pitchFamily="18" charset="0"/>
              </a:endParaRPr>
            </a:p>
          </p:txBody>
        </p:sp>
        <p:sp>
          <p:nvSpPr>
            <p:cNvPr id="69721" name="Text Box 6"/>
            <p:cNvSpPr txBox="1">
              <a:spLocks noChangeArrowheads="1"/>
            </p:cNvSpPr>
            <p:nvPr/>
          </p:nvSpPr>
          <p:spPr bwMode="auto">
            <a:xfrm>
              <a:off x="4280" y="571"/>
              <a:ext cx="120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11根地址线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7703" name="Group 7"/>
          <p:cNvGrpSpPr/>
          <p:nvPr/>
        </p:nvGrpSpPr>
        <p:grpSpPr bwMode="auto">
          <a:xfrm>
            <a:off x="8243889" y="2033886"/>
            <a:ext cx="2119313" cy="457200"/>
            <a:chOff x="4272" y="1396"/>
            <a:chExt cx="1335" cy="288"/>
          </a:xfrm>
        </p:grpSpPr>
        <p:sp>
          <p:nvSpPr>
            <p:cNvPr id="69718" name="AutoShape 8"/>
            <p:cNvSpPr>
              <a:spLocks noChangeArrowheads="1"/>
            </p:cNvSpPr>
            <p:nvPr/>
          </p:nvSpPr>
          <p:spPr bwMode="auto">
            <a:xfrm>
              <a:off x="4272" y="1410"/>
              <a:ext cx="1250" cy="270"/>
            </a:xfrm>
            <a:prstGeom prst="wedgeRoundRectCallout">
              <a:avLst>
                <a:gd name="adj1" fmla="val -80560"/>
                <a:gd name="adj2" fmla="val -121852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69719" name="Text Box 9"/>
            <p:cNvSpPr txBox="1">
              <a:spLocks noChangeArrowheads="1"/>
            </p:cNvSpPr>
            <p:nvPr/>
          </p:nvSpPr>
          <p:spPr bwMode="auto">
            <a:xfrm>
              <a:off x="4404" y="1396"/>
              <a:ext cx="120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8根数据线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797707" name="Text Box 11"/>
          <p:cNvSpPr txBox="1">
            <a:spLocks noChangeArrowheads="1"/>
          </p:cNvSpPr>
          <p:nvPr/>
        </p:nvSpPr>
        <p:spPr bwMode="auto">
          <a:xfrm>
            <a:off x="2327276" y="1273473"/>
            <a:ext cx="12827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？片</a:t>
            </a:r>
            <a:endParaRPr lang="zh-CN" altLang="en-US" sz="2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97708" name="Text Box 12"/>
          <p:cNvSpPr txBox="1">
            <a:spLocks noChangeArrowheads="1"/>
          </p:cNvSpPr>
          <p:nvPr/>
        </p:nvSpPr>
        <p:spPr bwMode="auto">
          <a:xfrm>
            <a:off x="2428876" y="1287761"/>
            <a:ext cx="792162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片</a:t>
            </a:r>
            <a:endParaRPr lang="zh-CN" altLang="en-US" sz="2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97709" name="Group 13"/>
          <p:cNvGrpSpPr/>
          <p:nvPr/>
        </p:nvGrpSpPr>
        <p:grpSpPr bwMode="auto">
          <a:xfrm>
            <a:off x="5026026" y="4589762"/>
            <a:ext cx="3173412" cy="1587"/>
            <a:chOff x="2421" y="3015"/>
            <a:chExt cx="1999" cy="1"/>
          </a:xfrm>
        </p:grpSpPr>
        <p:sp>
          <p:nvSpPr>
            <p:cNvPr id="69716" name="Freeform 14"/>
            <p:cNvSpPr/>
            <p:nvPr/>
          </p:nvSpPr>
          <p:spPr bwMode="auto">
            <a:xfrm>
              <a:off x="2421" y="3015"/>
              <a:ext cx="233" cy="1"/>
            </a:xfrm>
            <a:custGeom>
              <a:avLst/>
              <a:gdLst>
                <a:gd name="T0" fmla="*/ 0 w 233"/>
                <a:gd name="T1" fmla="*/ 0 h 1"/>
                <a:gd name="T2" fmla="*/ 233 w 23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3" h="1">
                  <a:moveTo>
                    <a:pt x="0" y="0"/>
                  </a:moveTo>
                  <a:lnTo>
                    <a:pt x="233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7" name="Freeform 15"/>
            <p:cNvSpPr/>
            <p:nvPr/>
          </p:nvSpPr>
          <p:spPr bwMode="auto">
            <a:xfrm>
              <a:off x="4194" y="3015"/>
              <a:ext cx="226" cy="1"/>
            </a:xfrm>
            <a:custGeom>
              <a:avLst/>
              <a:gdLst>
                <a:gd name="T0" fmla="*/ 0 w 226"/>
                <a:gd name="T1" fmla="*/ 0 h 1"/>
                <a:gd name="T2" fmla="*/ 226 w 22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1">
                  <a:moveTo>
                    <a:pt x="0" y="0"/>
                  </a:moveTo>
                  <a:lnTo>
                    <a:pt x="226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7712" name="Group 16"/>
          <p:cNvGrpSpPr/>
          <p:nvPr/>
        </p:nvGrpSpPr>
        <p:grpSpPr bwMode="auto">
          <a:xfrm>
            <a:off x="5400676" y="4577061"/>
            <a:ext cx="2805112" cy="1612900"/>
            <a:chOff x="2657" y="3007"/>
            <a:chExt cx="1767" cy="1016"/>
          </a:xfrm>
        </p:grpSpPr>
        <p:sp>
          <p:nvSpPr>
            <p:cNvPr id="69714" name="Line 17"/>
            <p:cNvSpPr>
              <a:spLocks noChangeShapeType="1"/>
            </p:cNvSpPr>
            <p:nvPr/>
          </p:nvSpPr>
          <p:spPr bwMode="auto">
            <a:xfrm>
              <a:off x="2657" y="3007"/>
              <a:ext cx="1" cy="10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5" name="Freeform 18"/>
            <p:cNvSpPr/>
            <p:nvPr/>
          </p:nvSpPr>
          <p:spPr bwMode="auto">
            <a:xfrm>
              <a:off x="4419" y="3009"/>
              <a:ext cx="5" cy="1014"/>
            </a:xfrm>
            <a:custGeom>
              <a:avLst/>
              <a:gdLst>
                <a:gd name="T0" fmla="*/ 0 w 5"/>
                <a:gd name="T1" fmla="*/ 0 h 1014"/>
                <a:gd name="T2" fmla="*/ 5 w 5"/>
                <a:gd name="T3" fmla="*/ 1014 h 10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14">
                  <a:moveTo>
                    <a:pt x="0" y="0"/>
                  </a:moveTo>
                  <a:lnTo>
                    <a:pt x="5" y="1014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7715" name="Group 19"/>
          <p:cNvGrpSpPr/>
          <p:nvPr/>
        </p:nvGrpSpPr>
        <p:grpSpPr bwMode="auto">
          <a:xfrm>
            <a:off x="3676652" y="4094461"/>
            <a:ext cx="4160837" cy="652462"/>
            <a:chOff x="1571" y="2703"/>
            <a:chExt cx="2621" cy="411"/>
          </a:xfrm>
        </p:grpSpPr>
        <p:sp>
          <p:nvSpPr>
            <p:cNvPr id="69710" name="Rectangle 20"/>
            <p:cNvSpPr>
              <a:spLocks noChangeArrowheads="1"/>
            </p:cNvSpPr>
            <p:nvPr/>
          </p:nvSpPr>
          <p:spPr bwMode="auto">
            <a:xfrm>
              <a:off x="1571" y="2703"/>
              <a:ext cx="857" cy="411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9711" name="Rectangle 21"/>
            <p:cNvSpPr>
              <a:spLocks noChangeArrowheads="1"/>
            </p:cNvSpPr>
            <p:nvPr/>
          </p:nvSpPr>
          <p:spPr bwMode="auto">
            <a:xfrm>
              <a:off x="1674" y="2792"/>
              <a:ext cx="65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K× </a:t>
              </a:r>
              <a:r>
                <a:rPr lang="zh-CN" altLang="en-US" sz="2000">
                  <a:solidFill>
                    <a:schemeClr val="folHlink"/>
                  </a:solidFill>
                </a:rPr>
                <a:t>8位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69712" name="Rectangle 22"/>
            <p:cNvSpPr>
              <a:spLocks noChangeArrowheads="1"/>
            </p:cNvSpPr>
            <p:nvPr/>
          </p:nvSpPr>
          <p:spPr bwMode="auto">
            <a:xfrm>
              <a:off x="3335" y="2703"/>
              <a:ext cx="857" cy="411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69713" name="Rectangle 23"/>
            <p:cNvSpPr>
              <a:spLocks noChangeArrowheads="1"/>
            </p:cNvSpPr>
            <p:nvPr/>
          </p:nvSpPr>
          <p:spPr bwMode="auto">
            <a:xfrm>
              <a:off x="3443" y="2805"/>
              <a:ext cx="65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K× </a:t>
              </a:r>
              <a:r>
                <a:rPr lang="zh-CN" altLang="en-US" sz="2000">
                  <a:solidFill>
                    <a:schemeClr val="folHlink"/>
                  </a:solidFill>
                </a:rPr>
                <a:t>8位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</p:grpSp>
      <p:grpSp>
        <p:nvGrpSpPr>
          <p:cNvPr id="797720" name="Group 24"/>
          <p:cNvGrpSpPr/>
          <p:nvPr/>
        </p:nvGrpSpPr>
        <p:grpSpPr bwMode="auto">
          <a:xfrm>
            <a:off x="1746252" y="5000923"/>
            <a:ext cx="7658101" cy="1271588"/>
            <a:chOff x="355" y="3274"/>
            <a:chExt cx="4824" cy="801"/>
          </a:xfrm>
        </p:grpSpPr>
        <p:sp>
          <p:nvSpPr>
            <p:cNvPr id="69702" name="Line 25"/>
            <p:cNvSpPr>
              <a:spLocks noChangeShapeType="1"/>
            </p:cNvSpPr>
            <p:nvPr/>
          </p:nvSpPr>
          <p:spPr bwMode="auto">
            <a:xfrm>
              <a:off x="735" y="3869"/>
              <a:ext cx="44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9703" name="Group 26"/>
            <p:cNvGrpSpPr/>
            <p:nvPr/>
          </p:nvGrpSpPr>
          <p:grpSpPr bwMode="auto">
            <a:xfrm>
              <a:off x="355" y="3274"/>
              <a:ext cx="4824" cy="801"/>
              <a:chOff x="355" y="3274"/>
              <a:chExt cx="4824" cy="801"/>
            </a:xfrm>
          </p:grpSpPr>
          <p:sp>
            <p:nvSpPr>
              <p:cNvPr id="69704" name="Freeform 27"/>
              <p:cNvSpPr/>
              <p:nvPr/>
            </p:nvSpPr>
            <p:spPr bwMode="auto">
              <a:xfrm>
                <a:off x="735" y="3404"/>
                <a:ext cx="4443" cy="1"/>
              </a:xfrm>
              <a:custGeom>
                <a:avLst/>
                <a:gdLst>
                  <a:gd name="T0" fmla="*/ 0 w 4447"/>
                  <a:gd name="T1" fmla="*/ 1 h 1"/>
                  <a:gd name="T2" fmla="*/ 4439 w 444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47" h="1">
                    <a:moveTo>
                      <a:pt x="0" y="1"/>
                    </a:moveTo>
                    <a:lnTo>
                      <a:pt x="4447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5" name="Freeform 28"/>
              <p:cNvSpPr/>
              <p:nvPr/>
            </p:nvSpPr>
            <p:spPr bwMode="auto">
              <a:xfrm>
                <a:off x="738" y="3490"/>
                <a:ext cx="4441" cy="5"/>
              </a:xfrm>
              <a:custGeom>
                <a:avLst/>
                <a:gdLst>
                  <a:gd name="T0" fmla="*/ 0 w 4441"/>
                  <a:gd name="T1" fmla="*/ 5 h 5"/>
                  <a:gd name="T2" fmla="*/ 4441 w 444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41" h="5">
                    <a:moveTo>
                      <a:pt x="0" y="5"/>
                    </a:moveTo>
                    <a:lnTo>
                      <a:pt x="4441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6" name="Freeform 29"/>
              <p:cNvSpPr/>
              <p:nvPr/>
            </p:nvSpPr>
            <p:spPr bwMode="auto">
              <a:xfrm>
                <a:off x="735" y="3575"/>
                <a:ext cx="4443" cy="4"/>
              </a:xfrm>
              <a:custGeom>
                <a:avLst/>
                <a:gdLst>
                  <a:gd name="T0" fmla="*/ 0 w 4435"/>
                  <a:gd name="T1" fmla="*/ 4 h 4"/>
                  <a:gd name="T2" fmla="*/ 4451 w 443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35" h="4">
                    <a:moveTo>
                      <a:pt x="0" y="4"/>
                    </a:moveTo>
                    <a:lnTo>
                      <a:pt x="4435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7" name="Rectangle 30"/>
              <p:cNvSpPr>
                <a:spLocks noChangeArrowheads="1"/>
              </p:cNvSpPr>
              <p:nvPr/>
            </p:nvSpPr>
            <p:spPr bwMode="auto">
              <a:xfrm>
                <a:off x="479" y="3274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708" name="Rectangle 31"/>
              <p:cNvSpPr>
                <a:spLocks noChangeArrowheads="1"/>
              </p:cNvSpPr>
              <p:nvPr/>
            </p:nvSpPr>
            <p:spPr bwMode="auto">
              <a:xfrm>
                <a:off x="479" y="3729"/>
                <a:ext cx="385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  <a:p>
                <a:pPr eaLnBrk="1" hangingPunct="1"/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709" name="Text Box 32"/>
              <p:cNvSpPr txBox="1">
                <a:spLocks noChangeArrowheads="1"/>
              </p:cNvSpPr>
              <p:nvPr/>
            </p:nvSpPr>
            <p:spPr bwMode="auto">
              <a:xfrm>
                <a:off x="355" y="3373"/>
                <a:ext cx="349" cy="4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7729" name="Group 33"/>
          <p:cNvGrpSpPr/>
          <p:nvPr/>
        </p:nvGrpSpPr>
        <p:grpSpPr bwMode="auto">
          <a:xfrm>
            <a:off x="3792538" y="2964162"/>
            <a:ext cx="1074738" cy="1196975"/>
            <a:chOff x="1644" y="1991"/>
            <a:chExt cx="677" cy="754"/>
          </a:xfrm>
        </p:grpSpPr>
        <p:sp>
          <p:nvSpPr>
            <p:cNvPr id="69696" name="Line 34"/>
            <p:cNvSpPr>
              <a:spLocks noChangeShapeType="1"/>
            </p:cNvSpPr>
            <p:nvPr/>
          </p:nvSpPr>
          <p:spPr bwMode="auto">
            <a:xfrm flipV="1">
              <a:off x="2319" y="2525"/>
              <a:ext cx="2" cy="1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97" name="Line 35"/>
            <p:cNvSpPr>
              <a:spLocks noChangeShapeType="1"/>
            </p:cNvSpPr>
            <p:nvPr/>
          </p:nvSpPr>
          <p:spPr bwMode="auto">
            <a:xfrm flipV="1">
              <a:off x="2198" y="2434"/>
              <a:ext cx="1" cy="2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9698" name="Group 36"/>
            <p:cNvGrpSpPr/>
            <p:nvPr/>
          </p:nvGrpSpPr>
          <p:grpSpPr bwMode="auto">
            <a:xfrm>
              <a:off x="1644" y="1991"/>
              <a:ext cx="578" cy="754"/>
              <a:chOff x="1644" y="1991"/>
              <a:chExt cx="578" cy="754"/>
            </a:xfrm>
          </p:grpSpPr>
          <p:sp>
            <p:nvSpPr>
              <p:cNvPr id="69699" name="Line 37"/>
              <p:cNvSpPr>
                <a:spLocks noChangeShapeType="1"/>
              </p:cNvSpPr>
              <p:nvPr/>
            </p:nvSpPr>
            <p:spPr bwMode="auto">
              <a:xfrm flipV="1">
                <a:off x="1777" y="2075"/>
                <a:ext cx="1" cy="6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0" name="Line 38"/>
              <p:cNvSpPr>
                <a:spLocks noChangeShapeType="1"/>
              </p:cNvSpPr>
              <p:nvPr/>
            </p:nvSpPr>
            <p:spPr bwMode="auto">
              <a:xfrm flipV="1">
                <a:off x="1644" y="1991"/>
                <a:ext cx="1" cy="7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1" name="Text Box 39"/>
              <p:cNvSpPr txBox="1">
                <a:spLocks noChangeArrowheads="1"/>
              </p:cNvSpPr>
              <p:nvPr/>
            </p:nvSpPr>
            <p:spPr bwMode="auto">
              <a:xfrm>
                <a:off x="1768" y="2457"/>
                <a:ext cx="45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7736" name="Group 40"/>
          <p:cNvGrpSpPr/>
          <p:nvPr/>
        </p:nvGrpSpPr>
        <p:grpSpPr bwMode="auto">
          <a:xfrm>
            <a:off x="3806826" y="4735812"/>
            <a:ext cx="1174750" cy="1209675"/>
            <a:chOff x="1653" y="3107"/>
            <a:chExt cx="740" cy="762"/>
          </a:xfrm>
        </p:grpSpPr>
        <p:sp>
          <p:nvSpPr>
            <p:cNvPr id="69692" name="Freeform 41"/>
            <p:cNvSpPr/>
            <p:nvPr/>
          </p:nvSpPr>
          <p:spPr bwMode="auto">
            <a:xfrm>
              <a:off x="1653" y="3114"/>
              <a:ext cx="3" cy="289"/>
            </a:xfrm>
            <a:custGeom>
              <a:avLst/>
              <a:gdLst>
                <a:gd name="T0" fmla="*/ 0 w 3"/>
                <a:gd name="T1" fmla="*/ 0 h 289"/>
                <a:gd name="T2" fmla="*/ 3 w 3"/>
                <a:gd name="T3" fmla="*/ 289 h 2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9">
                  <a:moveTo>
                    <a:pt x="0" y="0"/>
                  </a:moveTo>
                  <a:lnTo>
                    <a:pt x="3" y="28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93" name="Freeform 42"/>
            <p:cNvSpPr/>
            <p:nvPr/>
          </p:nvSpPr>
          <p:spPr bwMode="auto">
            <a:xfrm>
              <a:off x="1797" y="3120"/>
              <a:ext cx="1" cy="378"/>
            </a:xfrm>
            <a:custGeom>
              <a:avLst/>
              <a:gdLst>
                <a:gd name="T0" fmla="*/ 0 w 1"/>
                <a:gd name="T1" fmla="*/ 0 h 378"/>
                <a:gd name="T2" fmla="*/ 0 w 1"/>
                <a:gd name="T3" fmla="*/ 378 h 3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78">
                  <a:moveTo>
                    <a:pt x="0" y="0"/>
                  </a:moveTo>
                  <a:lnTo>
                    <a:pt x="0" y="378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94" name="Freeform 43"/>
            <p:cNvSpPr/>
            <p:nvPr/>
          </p:nvSpPr>
          <p:spPr bwMode="auto">
            <a:xfrm>
              <a:off x="2370" y="3114"/>
              <a:ext cx="1" cy="755"/>
            </a:xfrm>
            <a:custGeom>
              <a:avLst/>
              <a:gdLst>
                <a:gd name="T0" fmla="*/ 0 w 1"/>
                <a:gd name="T1" fmla="*/ 0 h 755"/>
                <a:gd name="T2" fmla="*/ 0 w 1"/>
                <a:gd name="T3" fmla="*/ 755 h 7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55">
                  <a:moveTo>
                    <a:pt x="0" y="0"/>
                  </a:move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95" name="Text Box 44"/>
            <p:cNvSpPr txBox="1">
              <a:spLocks noChangeArrowheads="1"/>
            </p:cNvSpPr>
            <p:nvPr/>
          </p:nvSpPr>
          <p:spPr bwMode="auto">
            <a:xfrm>
              <a:off x="1743" y="3107"/>
              <a:ext cx="65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 b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•••</a:t>
              </a:r>
              <a:endParaRPr lang="zh-CN" altLang="en-US" sz="2400" b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97741" name="Group 45"/>
          <p:cNvGrpSpPr/>
          <p:nvPr/>
        </p:nvGrpSpPr>
        <p:grpSpPr bwMode="auto">
          <a:xfrm>
            <a:off x="6578601" y="2964162"/>
            <a:ext cx="1096962" cy="1196975"/>
            <a:chOff x="3399" y="1991"/>
            <a:chExt cx="691" cy="754"/>
          </a:xfrm>
        </p:grpSpPr>
        <p:sp>
          <p:nvSpPr>
            <p:cNvPr id="69686" name="Line 46"/>
            <p:cNvSpPr>
              <a:spLocks noChangeShapeType="1"/>
            </p:cNvSpPr>
            <p:nvPr/>
          </p:nvSpPr>
          <p:spPr bwMode="auto">
            <a:xfrm flipV="1">
              <a:off x="4089" y="2525"/>
              <a:ext cx="1" cy="1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87" name="Line 47"/>
            <p:cNvSpPr>
              <a:spLocks noChangeShapeType="1"/>
            </p:cNvSpPr>
            <p:nvPr/>
          </p:nvSpPr>
          <p:spPr bwMode="auto">
            <a:xfrm flipV="1">
              <a:off x="3955" y="2434"/>
              <a:ext cx="1" cy="2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9688" name="Group 48"/>
            <p:cNvGrpSpPr/>
            <p:nvPr/>
          </p:nvGrpSpPr>
          <p:grpSpPr bwMode="auto">
            <a:xfrm>
              <a:off x="3399" y="1991"/>
              <a:ext cx="557" cy="754"/>
              <a:chOff x="3399" y="1991"/>
              <a:chExt cx="557" cy="754"/>
            </a:xfrm>
          </p:grpSpPr>
          <p:sp>
            <p:nvSpPr>
              <p:cNvPr id="69689" name="Line 49"/>
              <p:cNvSpPr>
                <a:spLocks noChangeShapeType="1"/>
              </p:cNvSpPr>
              <p:nvPr/>
            </p:nvSpPr>
            <p:spPr bwMode="auto">
              <a:xfrm flipV="1">
                <a:off x="3532" y="2075"/>
                <a:ext cx="1" cy="6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0" name="Line 50"/>
              <p:cNvSpPr>
                <a:spLocks noChangeShapeType="1"/>
              </p:cNvSpPr>
              <p:nvPr/>
            </p:nvSpPr>
            <p:spPr bwMode="auto">
              <a:xfrm flipV="1">
                <a:off x="3399" y="1991"/>
                <a:ext cx="1" cy="7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1" name="Text Box 51"/>
              <p:cNvSpPr txBox="1">
                <a:spLocks noChangeArrowheads="1"/>
              </p:cNvSpPr>
              <p:nvPr/>
            </p:nvSpPr>
            <p:spPr bwMode="auto">
              <a:xfrm>
                <a:off x="3557" y="2457"/>
                <a:ext cx="399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7748" name="Group 52"/>
          <p:cNvGrpSpPr/>
          <p:nvPr/>
        </p:nvGrpSpPr>
        <p:grpSpPr bwMode="auto">
          <a:xfrm>
            <a:off x="6616701" y="4735812"/>
            <a:ext cx="1219200" cy="1209675"/>
            <a:chOff x="3423" y="3107"/>
            <a:chExt cx="768" cy="762"/>
          </a:xfrm>
        </p:grpSpPr>
        <p:sp>
          <p:nvSpPr>
            <p:cNvPr id="69681" name="Line 53"/>
            <p:cNvSpPr>
              <a:spLocks noChangeShapeType="1"/>
            </p:cNvSpPr>
            <p:nvPr/>
          </p:nvSpPr>
          <p:spPr bwMode="auto">
            <a:xfrm>
              <a:off x="3565" y="3123"/>
              <a:ext cx="1" cy="3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9682" name="Group 54"/>
            <p:cNvGrpSpPr/>
            <p:nvPr/>
          </p:nvGrpSpPr>
          <p:grpSpPr bwMode="auto">
            <a:xfrm>
              <a:off x="3423" y="3107"/>
              <a:ext cx="768" cy="762"/>
              <a:chOff x="3423" y="3107"/>
              <a:chExt cx="768" cy="762"/>
            </a:xfrm>
          </p:grpSpPr>
          <p:sp>
            <p:nvSpPr>
              <p:cNvPr id="69683" name="Freeform 55"/>
              <p:cNvSpPr/>
              <p:nvPr/>
            </p:nvSpPr>
            <p:spPr bwMode="auto">
              <a:xfrm>
                <a:off x="3423" y="3111"/>
                <a:ext cx="1" cy="292"/>
              </a:xfrm>
              <a:custGeom>
                <a:avLst/>
                <a:gdLst>
                  <a:gd name="T0" fmla="*/ 0 w 1"/>
                  <a:gd name="T1" fmla="*/ 0 h 292"/>
                  <a:gd name="T2" fmla="*/ 0 w 1"/>
                  <a:gd name="T3" fmla="*/ 292 h 2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92">
                    <a:moveTo>
                      <a:pt x="0" y="0"/>
                    </a:moveTo>
                    <a:lnTo>
                      <a:pt x="0" y="292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4" name="Freeform 56"/>
              <p:cNvSpPr/>
              <p:nvPr/>
            </p:nvSpPr>
            <p:spPr bwMode="auto">
              <a:xfrm>
                <a:off x="4134" y="3114"/>
                <a:ext cx="2" cy="755"/>
              </a:xfrm>
              <a:custGeom>
                <a:avLst/>
                <a:gdLst>
                  <a:gd name="T0" fmla="*/ 0 w 2"/>
                  <a:gd name="T1" fmla="*/ 0 h 755"/>
                  <a:gd name="T2" fmla="*/ 2 w 2"/>
                  <a:gd name="T3" fmla="*/ 755 h 7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55">
                    <a:moveTo>
                      <a:pt x="0" y="0"/>
                    </a:moveTo>
                    <a:lnTo>
                      <a:pt x="2" y="75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5" name="Text Box 57"/>
              <p:cNvSpPr txBox="1">
                <a:spLocks noChangeArrowheads="1"/>
              </p:cNvSpPr>
              <p:nvPr/>
            </p:nvSpPr>
            <p:spPr bwMode="auto">
              <a:xfrm>
                <a:off x="3541" y="310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7754" name="Group 58"/>
          <p:cNvGrpSpPr/>
          <p:nvPr/>
        </p:nvGrpSpPr>
        <p:grpSpPr bwMode="auto">
          <a:xfrm>
            <a:off x="1865314" y="6051848"/>
            <a:ext cx="6334125" cy="280988"/>
            <a:chOff x="430" y="3936"/>
            <a:chExt cx="3990" cy="177"/>
          </a:xfrm>
        </p:grpSpPr>
        <p:sp>
          <p:nvSpPr>
            <p:cNvPr id="69678" name="Freeform 59"/>
            <p:cNvSpPr/>
            <p:nvPr/>
          </p:nvSpPr>
          <p:spPr bwMode="auto">
            <a:xfrm>
              <a:off x="735" y="4007"/>
              <a:ext cx="3685" cy="4"/>
            </a:xfrm>
            <a:custGeom>
              <a:avLst/>
              <a:gdLst>
                <a:gd name="T0" fmla="*/ 0 w 3685"/>
                <a:gd name="T1" fmla="*/ 4 h 4"/>
                <a:gd name="T2" fmla="*/ 3685 w 368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85" h="4">
                  <a:moveTo>
                    <a:pt x="0" y="4"/>
                  </a:moveTo>
                  <a:lnTo>
                    <a:pt x="3685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79" name="Rectangle 60"/>
            <p:cNvSpPr>
              <a:spLocks noChangeArrowheads="1"/>
            </p:cNvSpPr>
            <p:nvPr/>
          </p:nvSpPr>
          <p:spPr bwMode="auto">
            <a:xfrm>
              <a:off x="440" y="3940"/>
              <a:ext cx="2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9680" name="Line 61"/>
            <p:cNvSpPr>
              <a:spLocks noChangeShapeType="1"/>
            </p:cNvSpPr>
            <p:nvPr/>
          </p:nvSpPr>
          <p:spPr bwMode="auto">
            <a:xfrm>
              <a:off x="430" y="3936"/>
              <a:ext cx="242" cy="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7758" name="Group 62"/>
          <p:cNvGrpSpPr/>
          <p:nvPr/>
        </p:nvGrpSpPr>
        <p:grpSpPr bwMode="auto">
          <a:xfrm>
            <a:off x="1787526" y="2743499"/>
            <a:ext cx="7616826" cy="1495425"/>
            <a:chOff x="381" y="1852"/>
            <a:chExt cx="4798" cy="942"/>
          </a:xfrm>
        </p:grpSpPr>
        <p:sp>
          <p:nvSpPr>
            <p:cNvPr id="69668" name="Rectangle 63"/>
            <p:cNvSpPr>
              <a:spLocks noChangeArrowheads="1"/>
            </p:cNvSpPr>
            <p:nvPr/>
          </p:nvSpPr>
          <p:spPr bwMode="auto">
            <a:xfrm>
              <a:off x="499" y="2269"/>
              <a:ext cx="19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69669" name="Group 64"/>
            <p:cNvGrpSpPr/>
            <p:nvPr/>
          </p:nvGrpSpPr>
          <p:grpSpPr bwMode="auto">
            <a:xfrm>
              <a:off x="381" y="1852"/>
              <a:ext cx="4798" cy="942"/>
              <a:chOff x="381" y="1852"/>
              <a:chExt cx="4798" cy="942"/>
            </a:xfrm>
          </p:grpSpPr>
          <p:sp>
            <p:nvSpPr>
              <p:cNvPr id="69670" name="Line 65"/>
              <p:cNvSpPr>
                <a:spLocks noChangeShapeType="1"/>
              </p:cNvSpPr>
              <p:nvPr/>
            </p:nvSpPr>
            <p:spPr bwMode="auto">
              <a:xfrm>
                <a:off x="735" y="1991"/>
                <a:ext cx="444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71" name="Freeform 66"/>
              <p:cNvSpPr/>
              <p:nvPr/>
            </p:nvSpPr>
            <p:spPr bwMode="auto">
              <a:xfrm>
                <a:off x="738" y="2076"/>
                <a:ext cx="4440" cy="1"/>
              </a:xfrm>
              <a:custGeom>
                <a:avLst/>
                <a:gdLst>
                  <a:gd name="T0" fmla="*/ 0 w 4440"/>
                  <a:gd name="T1" fmla="*/ 0 h 1"/>
                  <a:gd name="T2" fmla="*/ 4440 w 444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40" h="1">
                    <a:moveTo>
                      <a:pt x="0" y="0"/>
                    </a:moveTo>
                    <a:lnTo>
                      <a:pt x="4440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72" name="Line 67"/>
              <p:cNvSpPr>
                <a:spLocks noChangeShapeType="1"/>
              </p:cNvSpPr>
              <p:nvPr/>
            </p:nvSpPr>
            <p:spPr bwMode="auto">
              <a:xfrm>
                <a:off x="735" y="2431"/>
                <a:ext cx="4444" cy="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73" name="Freeform 68"/>
              <p:cNvSpPr/>
              <p:nvPr/>
            </p:nvSpPr>
            <p:spPr bwMode="auto">
              <a:xfrm>
                <a:off x="738" y="2517"/>
                <a:ext cx="4441" cy="3"/>
              </a:xfrm>
              <a:custGeom>
                <a:avLst/>
                <a:gdLst>
                  <a:gd name="T0" fmla="*/ 0 w 4441"/>
                  <a:gd name="T1" fmla="*/ 3 h 3"/>
                  <a:gd name="T2" fmla="*/ 4441 w 44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41" h="3">
                    <a:moveTo>
                      <a:pt x="0" y="3"/>
                    </a:moveTo>
                    <a:lnTo>
                      <a:pt x="4441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74" name="Freeform 69"/>
              <p:cNvSpPr/>
              <p:nvPr/>
            </p:nvSpPr>
            <p:spPr bwMode="auto">
              <a:xfrm>
                <a:off x="741" y="2157"/>
                <a:ext cx="4437" cy="6"/>
              </a:xfrm>
              <a:custGeom>
                <a:avLst/>
                <a:gdLst>
                  <a:gd name="T0" fmla="*/ 0 w 4437"/>
                  <a:gd name="T1" fmla="*/ 0 h 6"/>
                  <a:gd name="T2" fmla="*/ 4437 w 4437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37" h="6">
                    <a:moveTo>
                      <a:pt x="0" y="0"/>
                    </a:moveTo>
                    <a:lnTo>
                      <a:pt x="4437" y="6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75" name="Rectangle 70"/>
              <p:cNvSpPr>
                <a:spLocks noChangeArrowheads="1"/>
              </p:cNvSpPr>
              <p:nvPr/>
            </p:nvSpPr>
            <p:spPr bwMode="auto">
              <a:xfrm>
                <a:off x="499" y="2448"/>
                <a:ext cx="317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  <a:p>
                <a:pPr eaLnBrk="1" hangingPunct="1"/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676" name="Text Box 71"/>
              <p:cNvSpPr txBox="1">
                <a:spLocks noChangeArrowheads="1"/>
              </p:cNvSpPr>
              <p:nvPr/>
            </p:nvSpPr>
            <p:spPr bwMode="auto">
              <a:xfrm>
                <a:off x="381" y="1956"/>
                <a:ext cx="349" cy="4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677" name="Rectangle 72"/>
              <p:cNvSpPr>
                <a:spLocks noChangeArrowheads="1"/>
              </p:cNvSpPr>
              <p:nvPr/>
            </p:nvSpPr>
            <p:spPr bwMode="auto">
              <a:xfrm>
                <a:off x="491" y="1852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7769" name="Group 73"/>
          <p:cNvGrpSpPr/>
          <p:nvPr/>
        </p:nvGrpSpPr>
        <p:grpSpPr bwMode="auto">
          <a:xfrm>
            <a:off x="1974851" y="2487911"/>
            <a:ext cx="4856162" cy="1854200"/>
            <a:chOff x="499" y="1691"/>
            <a:chExt cx="3059" cy="1168"/>
          </a:xfrm>
        </p:grpSpPr>
        <p:sp>
          <p:nvSpPr>
            <p:cNvPr id="69662" name="Line 74"/>
            <p:cNvSpPr>
              <a:spLocks noChangeShapeType="1"/>
            </p:cNvSpPr>
            <p:nvPr/>
          </p:nvSpPr>
          <p:spPr bwMode="auto">
            <a:xfrm flipV="1">
              <a:off x="2852" y="1835"/>
              <a:ext cx="1" cy="10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3" name="Freeform 75"/>
            <p:cNvSpPr/>
            <p:nvPr/>
          </p:nvSpPr>
          <p:spPr bwMode="auto">
            <a:xfrm>
              <a:off x="2424" y="2841"/>
              <a:ext cx="428" cy="1"/>
            </a:xfrm>
            <a:custGeom>
              <a:avLst/>
              <a:gdLst>
                <a:gd name="T0" fmla="*/ 0 w 428"/>
                <a:gd name="T1" fmla="*/ 0 h 1"/>
                <a:gd name="T2" fmla="*/ 428 w 42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8" h="1">
                  <a:moveTo>
                    <a:pt x="0" y="0"/>
                  </a:moveTo>
                  <a:lnTo>
                    <a:pt x="428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4" name="Rectangle 76"/>
            <p:cNvSpPr>
              <a:spLocks noChangeArrowheads="1"/>
            </p:cNvSpPr>
            <p:nvPr/>
          </p:nvSpPr>
          <p:spPr bwMode="auto">
            <a:xfrm>
              <a:off x="2515" y="2623"/>
              <a:ext cx="3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CS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0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9665" name="Line 77"/>
            <p:cNvSpPr>
              <a:spLocks noChangeShapeType="1"/>
            </p:cNvSpPr>
            <p:nvPr/>
          </p:nvSpPr>
          <p:spPr bwMode="auto">
            <a:xfrm>
              <a:off x="735" y="1830"/>
              <a:ext cx="2823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6" name="Rectangle 78"/>
            <p:cNvSpPr>
              <a:spLocks noChangeArrowheads="1"/>
            </p:cNvSpPr>
            <p:nvPr/>
          </p:nvSpPr>
          <p:spPr bwMode="auto">
            <a:xfrm>
              <a:off x="499" y="1691"/>
              <a:ext cx="20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10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9667" name="Freeform 79"/>
            <p:cNvSpPr/>
            <p:nvPr/>
          </p:nvSpPr>
          <p:spPr bwMode="auto">
            <a:xfrm>
              <a:off x="2511" y="2625"/>
              <a:ext cx="213" cy="1"/>
            </a:xfrm>
            <a:custGeom>
              <a:avLst/>
              <a:gdLst>
                <a:gd name="T0" fmla="*/ 0 w 213"/>
                <a:gd name="T1" fmla="*/ 0 h 1"/>
                <a:gd name="T2" fmla="*/ 213 w 2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213" y="0"/>
                  </a:ln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7776" name="Group 80"/>
          <p:cNvGrpSpPr/>
          <p:nvPr/>
        </p:nvGrpSpPr>
        <p:grpSpPr bwMode="auto">
          <a:xfrm>
            <a:off x="6837364" y="2540299"/>
            <a:ext cx="346075" cy="307975"/>
            <a:chOff x="3562" y="1724"/>
            <a:chExt cx="218" cy="194"/>
          </a:xfrm>
        </p:grpSpPr>
        <p:sp>
          <p:nvSpPr>
            <p:cNvPr id="69660" name="Rectangle 81"/>
            <p:cNvSpPr>
              <a:spLocks noChangeArrowheads="1"/>
            </p:cNvSpPr>
            <p:nvPr/>
          </p:nvSpPr>
          <p:spPr bwMode="auto">
            <a:xfrm>
              <a:off x="3562" y="1724"/>
              <a:ext cx="146" cy="194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9661" name="Oval 82"/>
            <p:cNvSpPr>
              <a:spLocks noChangeArrowheads="1"/>
            </p:cNvSpPr>
            <p:nvPr/>
          </p:nvSpPr>
          <p:spPr bwMode="auto">
            <a:xfrm>
              <a:off x="3724" y="1797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797779" name="Group 83"/>
          <p:cNvGrpSpPr/>
          <p:nvPr/>
        </p:nvGrpSpPr>
        <p:grpSpPr bwMode="auto">
          <a:xfrm>
            <a:off x="7178677" y="2679999"/>
            <a:ext cx="1360487" cy="1655763"/>
            <a:chOff x="3777" y="1812"/>
            <a:chExt cx="857" cy="1043"/>
          </a:xfrm>
        </p:grpSpPr>
        <p:sp>
          <p:nvSpPr>
            <p:cNvPr id="69655" name="Freeform 84"/>
            <p:cNvSpPr/>
            <p:nvPr/>
          </p:nvSpPr>
          <p:spPr bwMode="auto">
            <a:xfrm>
              <a:off x="4623" y="1812"/>
              <a:ext cx="2" cy="1043"/>
            </a:xfrm>
            <a:custGeom>
              <a:avLst/>
              <a:gdLst>
                <a:gd name="T0" fmla="*/ 2 w 2"/>
                <a:gd name="T1" fmla="*/ 1043 h 1043"/>
                <a:gd name="T2" fmla="*/ 0 w 2"/>
                <a:gd name="T3" fmla="*/ 0 h 10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43">
                  <a:moveTo>
                    <a:pt x="2" y="1043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none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6" name="Freeform 85"/>
            <p:cNvSpPr/>
            <p:nvPr/>
          </p:nvSpPr>
          <p:spPr bwMode="auto">
            <a:xfrm>
              <a:off x="4191" y="2841"/>
              <a:ext cx="428" cy="1"/>
            </a:xfrm>
            <a:custGeom>
              <a:avLst/>
              <a:gdLst>
                <a:gd name="T0" fmla="*/ 0 w 428"/>
                <a:gd name="T1" fmla="*/ 0 h 1"/>
                <a:gd name="T2" fmla="*/ 428 w 42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8" h="1">
                  <a:moveTo>
                    <a:pt x="0" y="0"/>
                  </a:moveTo>
                  <a:lnTo>
                    <a:pt x="428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7" name="Rectangle 86"/>
            <p:cNvSpPr>
              <a:spLocks noChangeArrowheads="1"/>
            </p:cNvSpPr>
            <p:nvPr/>
          </p:nvSpPr>
          <p:spPr bwMode="auto">
            <a:xfrm>
              <a:off x="4271" y="2623"/>
              <a:ext cx="2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CS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69658" name="Line 87"/>
            <p:cNvSpPr>
              <a:spLocks noChangeShapeType="1"/>
            </p:cNvSpPr>
            <p:nvPr/>
          </p:nvSpPr>
          <p:spPr bwMode="auto">
            <a:xfrm>
              <a:off x="3777" y="1822"/>
              <a:ext cx="8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9" name="Freeform 88"/>
            <p:cNvSpPr/>
            <p:nvPr/>
          </p:nvSpPr>
          <p:spPr bwMode="auto">
            <a:xfrm>
              <a:off x="4263" y="2625"/>
              <a:ext cx="213" cy="1"/>
            </a:xfrm>
            <a:custGeom>
              <a:avLst/>
              <a:gdLst>
                <a:gd name="T0" fmla="*/ 0 w 213"/>
                <a:gd name="T1" fmla="*/ 0 h 1"/>
                <a:gd name="T2" fmla="*/ 213 w 2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213" y="0"/>
                  </a:ln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7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770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97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7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7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7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797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797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797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797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797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7" dur="500"/>
                                        <p:tgtEl>
                                          <p:spTgt spid="797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2" dur="500"/>
                                        <p:tgtEl>
                                          <p:spTgt spid="797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7" dur="500"/>
                                        <p:tgtEl>
                                          <p:spTgt spid="797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797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5" dur="500"/>
                                        <p:tgtEl>
                                          <p:spTgt spid="797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0" dur="500"/>
                                        <p:tgtEl>
                                          <p:spTgt spid="797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5" dur="500"/>
                                        <p:tgtEl>
                                          <p:spTgt spid="797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0" dur="500"/>
                                        <p:tgtEl>
                                          <p:spTgt spid="797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7699" grpId="0" autoUpdateAnimBg="0"/>
      <p:bldP spid="797707" grpId="0"/>
      <p:bldP spid="797708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722" name="Group 2"/>
          <p:cNvGrpSpPr/>
          <p:nvPr/>
        </p:nvGrpSpPr>
        <p:grpSpPr bwMode="auto">
          <a:xfrm>
            <a:off x="3076576" y="4492155"/>
            <a:ext cx="6505575" cy="1662113"/>
            <a:chOff x="1218" y="2948"/>
            <a:chExt cx="4098" cy="1047"/>
          </a:xfrm>
        </p:grpSpPr>
        <p:sp>
          <p:nvSpPr>
            <p:cNvPr id="70860" name="Line 3"/>
            <p:cNvSpPr>
              <a:spLocks noChangeShapeType="1"/>
            </p:cNvSpPr>
            <p:nvPr/>
          </p:nvSpPr>
          <p:spPr bwMode="auto">
            <a:xfrm>
              <a:off x="1218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1" name="Line 4"/>
            <p:cNvSpPr>
              <a:spLocks noChangeShapeType="1"/>
            </p:cNvSpPr>
            <p:nvPr/>
          </p:nvSpPr>
          <p:spPr bwMode="auto">
            <a:xfrm>
              <a:off x="1798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2" name="Line 5"/>
            <p:cNvSpPr>
              <a:spLocks noChangeShapeType="1"/>
            </p:cNvSpPr>
            <p:nvPr/>
          </p:nvSpPr>
          <p:spPr bwMode="auto">
            <a:xfrm>
              <a:off x="2368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3" name="Line 6"/>
            <p:cNvSpPr>
              <a:spLocks noChangeShapeType="1"/>
            </p:cNvSpPr>
            <p:nvPr/>
          </p:nvSpPr>
          <p:spPr bwMode="auto">
            <a:xfrm>
              <a:off x="2951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4" name="Line 7"/>
            <p:cNvSpPr>
              <a:spLocks noChangeShapeType="1"/>
            </p:cNvSpPr>
            <p:nvPr/>
          </p:nvSpPr>
          <p:spPr bwMode="auto">
            <a:xfrm>
              <a:off x="3567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5" name="Line 8"/>
            <p:cNvSpPr>
              <a:spLocks noChangeShapeType="1"/>
            </p:cNvSpPr>
            <p:nvPr/>
          </p:nvSpPr>
          <p:spPr bwMode="auto">
            <a:xfrm>
              <a:off x="4162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6" name="Line 9"/>
            <p:cNvSpPr>
              <a:spLocks noChangeShapeType="1"/>
            </p:cNvSpPr>
            <p:nvPr/>
          </p:nvSpPr>
          <p:spPr bwMode="auto">
            <a:xfrm>
              <a:off x="4732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67" name="Line 10"/>
            <p:cNvSpPr>
              <a:spLocks noChangeShapeType="1"/>
            </p:cNvSpPr>
            <p:nvPr/>
          </p:nvSpPr>
          <p:spPr bwMode="auto">
            <a:xfrm>
              <a:off x="5315" y="2948"/>
              <a:ext cx="1" cy="10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0659" name="Text Box 11"/>
          <p:cNvSpPr txBox="1">
            <a:spLocks noChangeArrowheads="1"/>
          </p:cNvSpPr>
          <p:nvPr/>
        </p:nvSpPr>
        <p:spPr bwMode="auto">
          <a:xfrm>
            <a:off x="1295400" y="147168"/>
            <a:ext cx="68580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(3) 字、位扩展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798732" name="Text Box 12"/>
          <p:cNvSpPr txBox="1">
            <a:spLocks noChangeArrowheads="1"/>
          </p:cNvSpPr>
          <p:nvPr/>
        </p:nvSpPr>
        <p:spPr bwMode="auto">
          <a:xfrm>
            <a:off x="1981200" y="764704"/>
            <a:ext cx="8229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用        1</a:t>
            </a:r>
            <a:r>
              <a:rPr lang="en-US" altLang="zh-CN" sz="28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4位 存储芯片组成 4</a:t>
            </a:r>
            <a:r>
              <a:rPr lang="en-US" altLang="zh-CN" sz="28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8</a:t>
            </a:r>
            <a:r>
              <a:rPr lang="zh-CN" altLang="en-US" sz="2800">
                <a:latin typeface="Times New Roman" panose="02020603050405020304" pitchFamily="18" charset="0"/>
              </a:rPr>
              <a:t>位 的存储器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798733" name="Group 13"/>
          <p:cNvGrpSpPr/>
          <p:nvPr/>
        </p:nvGrpSpPr>
        <p:grpSpPr bwMode="auto">
          <a:xfrm>
            <a:off x="8140701" y="1564804"/>
            <a:ext cx="2182813" cy="533400"/>
            <a:chOff x="4176" y="1067"/>
            <a:chExt cx="1375" cy="336"/>
          </a:xfrm>
        </p:grpSpPr>
        <p:sp>
          <p:nvSpPr>
            <p:cNvPr id="70858" name="AutoShape 14"/>
            <p:cNvSpPr>
              <a:spLocks noChangeArrowheads="1"/>
            </p:cNvSpPr>
            <p:nvPr/>
          </p:nvSpPr>
          <p:spPr bwMode="auto">
            <a:xfrm>
              <a:off x="4176" y="1067"/>
              <a:ext cx="1296" cy="336"/>
            </a:xfrm>
            <a:prstGeom prst="wedgeRoundRectCallout">
              <a:avLst>
                <a:gd name="adj1" fmla="val -51468"/>
                <a:gd name="adj2" fmla="val -97319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70859" name="Text Box 15"/>
            <p:cNvSpPr txBox="1">
              <a:spLocks noChangeArrowheads="1"/>
            </p:cNvSpPr>
            <p:nvPr/>
          </p:nvSpPr>
          <p:spPr bwMode="auto">
            <a:xfrm>
              <a:off x="4303" y="1073"/>
              <a:ext cx="1248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8根数据线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8736" name="Group 16"/>
          <p:cNvGrpSpPr/>
          <p:nvPr/>
        </p:nvGrpSpPr>
        <p:grpSpPr bwMode="auto">
          <a:xfrm>
            <a:off x="5343525" y="1488604"/>
            <a:ext cx="2243138" cy="533400"/>
            <a:chOff x="2427" y="1064"/>
            <a:chExt cx="1413" cy="336"/>
          </a:xfrm>
        </p:grpSpPr>
        <p:sp>
          <p:nvSpPr>
            <p:cNvPr id="70856" name="AutoShape 17"/>
            <p:cNvSpPr>
              <a:spLocks noChangeArrowheads="1"/>
            </p:cNvSpPr>
            <p:nvPr/>
          </p:nvSpPr>
          <p:spPr bwMode="auto">
            <a:xfrm>
              <a:off x="2427" y="1064"/>
              <a:ext cx="1342" cy="336"/>
            </a:xfrm>
            <a:prstGeom prst="wedgeRoundRectCallout">
              <a:avLst>
                <a:gd name="adj1" fmla="val 34722"/>
                <a:gd name="adj2" fmla="val -87500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Ins="0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70857" name="Text Box 18"/>
            <p:cNvSpPr txBox="1">
              <a:spLocks noChangeArrowheads="1"/>
            </p:cNvSpPr>
            <p:nvPr/>
          </p:nvSpPr>
          <p:spPr bwMode="auto">
            <a:xfrm>
              <a:off x="2496" y="1073"/>
              <a:ext cx="1344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12根地址线</a:t>
              </a:r>
              <a:endParaRPr lang="zh-CN" altLang="en-US" sz="2600">
                <a:latin typeface="Times New Roman" panose="02020603050405020304" pitchFamily="18" charset="0"/>
              </a:endParaRPr>
            </a:p>
          </p:txBody>
        </p:sp>
      </p:grpSp>
      <p:sp>
        <p:nvSpPr>
          <p:cNvPr id="70663" name="Rectangle 19"/>
          <p:cNvSpPr>
            <a:spLocks noChangeArrowheads="1"/>
          </p:cNvSpPr>
          <p:nvPr/>
        </p:nvSpPr>
        <p:spPr bwMode="auto">
          <a:xfrm>
            <a:off x="9567864" y="2509368"/>
            <a:ext cx="3206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798740" name="Group 20"/>
          <p:cNvGrpSpPr/>
          <p:nvPr/>
        </p:nvGrpSpPr>
        <p:grpSpPr bwMode="auto">
          <a:xfrm>
            <a:off x="1731963" y="6149504"/>
            <a:ext cx="8115300" cy="274638"/>
            <a:chOff x="371" y="3992"/>
            <a:chExt cx="5112" cy="173"/>
          </a:xfrm>
        </p:grpSpPr>
        <p:sp>
          <p:nvSpPr>
            <p:cNvPr id="70853" name="Rectangle 21"/>
            <p:cNvSpPr>
              <a:spLocks noChangeArrowheads="1"/>
            </p:cNvSpPr>
            <p:nvPr/>
          </p:nvSpPr>
          <p:spPr bwMode="auto">
            <a:xfrm>
              <a:off x="395" y="3992"/>
              <a:ext cx="2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0854" name="Line 22"/>
            <p:cNvSpPr>
              <a:spLocks noChangeShapeType="1"/>
            </p:cNvSpPr>
            <p:nvPr/>
          </p:nvSpPr>
          <p:spPr bwMode="auto">
            <a:xfrm>
              <a:off x="677" y="3998"/>
              <a:ext cx="480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55" name="Line 23"/>
            <p:cNvSpPr>
              <a:spLocks noChangeShapeType="1"/>
            </p:cNvSpPr>
            <p:nvPr/>
          </p:nvSpPr>
          <p:spPr bwMode="auto">
            <a:xfrm>
              <a:off x="371" y="3996"/>
              <a:ext cx="24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8744" name="Group 24"/>
          <p:cNvGrpSpPr/>
          <p:nvPr/>
        </p:nvGrpSpPr>
        <p:grpSpPr bwMode="auto">
          <a:xfrm>
            <a:off x="1746251" y="3025305"/>
            <a:ext cx="8101013" cy="1236663"/>
            <a:chOff x="380" y="2024"/>
            <a:chExt cx="5103" cy="779"/>
          </a:xfrm>
        </p:grpSpPr>
        <p:sp>
          <p:nvSpPr>
            <p:cNvPr id="70845" name="Rectangle 25"/>
            <p:cNvSpPr>
              <a:spLocks noChangeArrowheads="1"/>
            </p:cNvSpPr>
            <p:nvPr/>
          </p:nvSpPr>
          <p:spPr bwMode="auto">
            <a:xfrm>
              <a:off x="395" y="2146"/>
              <a:ext cx="15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8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70846" name="Group 26"/>
            <p:cNvGrpSpPr/>
            <p:nvPr/>
          </p:nvGrpSpPr>
          <p:grpSpPr bwMode="auto">
            <a:xfrm>
              <a:off x="380" y="2024"/>
              <a:ext cx="5103" cy="779"/>
              <a:chOff x="380" y="2024"/>
              <a:chExt cx="5103" cy="779"/>
            </a:xfrm>
          </p:grpSpPr>
          <p:sp>
            <p:nvSpPr>
              <p:cNvPr id="70847" name="Line 27"/>
              <p:cNvSpPr>
                <a:spLocks noChangeShapeType="1"/>
              </p:cNvSpPr>
              <p:nvPr/>
            </p:nvSpPr>
            <p:spPr bwMode="auto">
              <a:xfrm>
                <a:off x="677" y="2174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8" name="Line 28"/>
              <p:cNvSpPr>
                <a:spLocks noChangeShapeType="1"/>
              </p:cNvSpPr>
              <p:nvPr/>
            </p:nvSpPr>
            <p:spPr bwMode="auto">
              <a:xfrm>
                <a:off x="677" y="2268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9" name="Freeform 29"/>
              <p:cNvSpPr/>
              <p:nvPr/>
            </p:nvSpPr>
            <p:spPr bwMode="auto">
              <a:xfrm>
                <a:off x="677" y="2553"/>
                <a:ext cx="4806" cy="1"/>
              </a:xfrm>
              <a:custGeom>
                <a:avLst/>
                <a:gdLst>
                  <a:gd name="T0" fmla="*/ 0 w 4649"/>
                  <a:gd name="T1" fmla="*/ 0 h 1"/>
                  <a:gd name="T2" fmla="*/ 4968 w 464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49" h="1">
                    <a:moveTo>
                      <a:pt x="0" y="0"/>
                    </a:moveTo>
                    <a:lnTo>
                      <a:pt x="4649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50" name="Rectangle 30"/>
              <p:cNvSpPr>
                <a:spLocks noChangeArrowheads="1"/>
              </p:cNvSpPr>
              <p:nvPr/>
            </p:nvSpPr>
            <p:spPr bwMode="auto">
              <a:xfrm>
                <a:off x="395" y="2024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851" name="Rectangle 31"/>
              <p:cNvSpPr>
                <a:spLocks noChangeArrowheads="1"/>
              </p:cNvSpPr>
              <p:nvPr/>
            </p:nvSpPr>
            <p:spPr bwMode="auto">
              <a:xfrm>
                <a:off x="395" y="2457"/>
                <a:ext cx="152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  <a:p>
                <a:pPr algn="ctr" eaLnBrk="1" hangingPunct="1"/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852" name="Text Box 32"/>
              <p:cNvSpPr txBox="1">
                <a:spLocks noChangeArrowheads="1"/>
              </p:cNvSpPr>
              <p:nvPr/>
            </p:nvSpPr>
            <p:spPr bwMode="auto">
              <a:xfrm>
                <a:off x="380" y="2286"/>
                <a:ext cx="256" cy="23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vert="eaVert" lIns="18000" rIns="1800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...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8753" name="Group 33"/>
          <p:cNvGrpSpPr/>
          <p:nvPr/>
        </p:nvGrpSpPr>
        <p:grpSpPr bwMode="auto">
          <a:xfrm>
            <a:off x="1733551" y="4860455"/>
            <a:ext cx="8120063" cy="1533525"/>
            <a:chOff x="372" y="3180"/>
            <a:chExt cx="5115" cy="966"/>
          </a:xfrm>
        </p:grpSpPr>
        <p:grpSp>
          <p:nvGrpSpPr>
            <p:cNvPr id="70832" name="Group 34"/>
            <p:cNvGrpSpPr/>
            <p:nvPr/>
          </p:nvGrpSpPr>
          <p:grpSpPr bwMode="auto">
            <a:xfrm>
              <a:off x="672" y="3335"/>
              <a:ext cx="4815" cy="567"/>
              <a:chOff x="672" y="3335"/>
              <a:chExt cx="4815" cy="567"/>
            </a:xfrm>
          </p:grpSpPr>
          <p:sp>
            <p:nvSpPr>
              <p:cNvPr id="70837" name="Freeform 35"/>
              <p:cNvSpPr/>
              <p:nvPr/>
            </p:nvSpPr>
            <p:spPr bwMode="auto">
              <a:xfrm>
                <a:off x="677" y="3335"/>
                <a:ext cx="4806" cy="1"/>
              </a:xfrm>
              <a:custGeom>
                <a:avLst/>
                <a:gdLst>
                  <a:gd name="T0" fmla="*/ 0 w 4659"/>
                  <a:gd name="T1" fmla="*/ 1 h 1"/>
                  <a:gd name="T2" fmla="*/ 4958 w 465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59" h="1">
                    <a:moveTo>
                      <a:pt x="0" y="1"/>
                    </a:moveTo>
                    <a:lnTo>
                      <a:pt x="4659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38" name="Freeform 36"/>
              <p:cNvSpPr/>
              <p:nvPr/>
            </p:nvSpPr>
            <p:spPr bwMode="auto">
              <a:xfrm>
                <a:off x="672" y="3411"/>
                <a:ext cx="4815" cy="3"/>
              </a:xfrm>
              <a:custGeom>
                <a:avLst/>
                <a:gdLst>
                  <a:gd name="T0" fmla="*/ 0 w 4815"/>
                  <a:gd name="T1" fmla="*/ 3 h 3"/>
                  <a:gd name="T2" fmla="*/ 4815 w 48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15" h="3">
                    <a:moveTo>
                      <a:pt x="0" y="3"/>
                    </a:moveTo>
                    <a:lnTo>
                      <a:pt x="4815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39" name="Line 37"/>
              <p:cNvSpPr>
                <a:spLocks noChangeShapeType="1"/>
              </p:cNvSpPr>
              <p:nvPr/>
            </p:nvSpPr>
            <p:spPr bwMode="auto">
              <a:xfrm>
                <a:off x="677" y="3492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0" name="Line 38"/>
              <p:cNvSpPr>
                <a:spLocks noChangeShapeType="1"/>
              </p:cNvSpPr>
              <p:nvPr/>
            </p:nvSpPr>
            <p:spPr bwMode="auto">
              <a:xfrm>
                <a:off x="677" y="3575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1" name="Line 39"/>
              <p:cNvSpPr>
                <a:spLocks noChangeShapeType="1"/>
              </p:cNvSpPr>
              <p:nvPr/>
            </p:nvSpPr>
            <p:spPr bwMode="auto">
              <a:xfrm>
                <a:off x="677" y="3655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2" name="Freeform 40"/>
              <p:cNvSpPr/>
              <p:nvPr/>
            </p:nvSpPr>
            <p:spPr bwMode="auto">
              <a:xfrm>
                <a:off x="672" y="3735"/>
                <a:ext cx="4811" cy="4"/>
              </a:xfrm>
              <a:custGeom>
                <a:avLst/>
                <a:gdLst>
                  <a:gd name="T0" fmla="*/ 0 w 4811"/>
                  <a:gd name="T1" fmla="*/ 0 h 4"/>
                  <a:gd name="T2" fmla="*/ 4811 w 481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11" h="4">
                    <a:moveTo>
                      <a:pt x="0" y="0"/>
                    </a:moveTo>
                    <a:lnTo>
                      <a:pt x="4811" y="4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3" name="Line 41"/>
              <p:cNvSpPr>
                <a:spLocks noChangeShapeType="1"/>
              </p:cNvSpPr>
              <p:nvPr/>
            </p:nvSpPr>
            <p:spPr bwMode="auto">
              <a:xfrm>
                <a:off x="677" y="3818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44" name="Line 42"/>
              <p:cNvSpPr>
                <a:spLocks noChangeShapeType="1"/>
              </p:cNvSpPr>
              <p:nvPr/>
            </p:nvSpPr>
            <p:spPr bwMode="auto">
              <a:xfrm>
                <a:off x="677" y="3901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70833" name="Group 43"/>
            <p:cNvGrpSpPr/>
            <p:nvPr/>
          </p:nvGrpSpPr>
          <p:grpSpPr bwMode="auto">
            <a:xfrm>
              <a:off x="372" y="3180"/>
              <a:ext cx="252" cy="966"/>
              <a:chOff x="372" y="3180"/>
              <a:chExt cx="252" cy="966"/>
            </a:xfrm>
          </p:grpSpPr>
          <p:sp>
            <p:nvSpPr>
              <p:cNvPr id="70834" name="Rectangle 44"/>
              <p:cNvSpPr>
                <a:spLocks noChangeArrowheads="1"/>
              </p:cNvSpPr>
              <p:nvPr/>
            </p:nvSpPr>
            <p:spPr bwMode="auto">
              <a:xfrm>
                <a:off x="395" y="3180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835" name="Rectangle 45"/>
              <p:cNvSpPr>
                <a:spLocks noChangeArrowheads="1"/>
              </p:cNvSpPr>
              <p:nvPr/>
            </p:nvSpPr>
            <p:spPr bwMode="auto">
              <a:xfrm>
                <a:off x="395" y="3800"/>
                <a:ext cx="152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  <a:p>
                <a:pPr algn="ctr" eaLnBrk="1" hangingPunct="1"/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836" name="Text Box 46"/>
              <p:cNvSpPr txBox="1">
                <a:spLocks noChangeArrowheads="1"/>
              </p:cNvSpPr>
              <p:nvPr/>
            </p:nvSpPr>
            <p:spPr bwMode="auto">
              <a:xfrm>
                <a:off x="372" y="3359"/>
                <a:ext cx="252" cy="48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vert="eaVert" lIns="18000" rIns="1800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8767" name="Group 47"/>
          <p:cNvGrpSpPr/>
          <p:nvPr/>
        </p:nvGrpSpPr>
        <p:grpSpPr bwMode="auto">
          <a:xfrm>
            <a:off x="2303463" y="4569943"/>
            <a:ext cx="6991350" cy="1457325"/>
            <a:chOff x="731" y="2997"/>
            <a:chExt cx="4404" cy="918"/>
          </a:xfrm>
        </p:grpSpPr>
        <p:sp>
          <p:nvSpPr>
            <p:cNvPr id="70800" name="Line 48"/>
            <p:cNvSpPr>
              <a:spLocks noChangeShapeType="1"/>
            </p:cNvSpPr>
            <p:nvPr/>
          </p:nvSpPr>
          <p:spPr bwMode="auto">
            <a:xfrm>
              <a:off x="859" y="3006"/>
              <a:ext cx="1" cy="4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1" name="Line 49"/>
            <p:cNvSpPr>
              <a:spLocks noChangeShapeType="1"/>
            </p:cNvSpPr>
            <p:nvPr/>
          </p:nvSpPr>
          <p:spPr bwMode="auto">
            <a:xfrm>
              <a:off x="951" y="3006"/>
              <a:ext cx="1" cy="4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2" name="Freeform 50"/>
            <p:cNvSpPr/>
            <p:nvPr/>
          </p:nvSpPr>
          <p:spPr bwMode="auto">
            <a:xfrm>
              <a:off x="1041" y="3000"/>
              <a:ext cx="6" cy="582"/>
            </a:xfrm>
            <a:custGeom>
              <a:avLst/>
              <a:gdLst>
                <a:gd name="T0" fmla="*/ 6 w 6"/>
                <a:gd name="T1" fmla="*/ 0 h 582"/>
                <a:gd name="T2" fmla="*/ 0 w 6"/>
                <a:gd name="T3" fmla="*/ 582 h 5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2">
                  <a:moveTo>
                    <a:pt x="6" y="0"/>
                  </a:moveTo>
                  <a:lnTo>
                    <a:pt x="0" y="582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3" name="Line 51"/>
            <p:cNvSpPr>
              <a:spLocks noChangeShapeType="1"/>
            </p:cNvSpPr>
            <p:nvPr/>
          </p:nvSpPr>
          <p:spPr bwMode="auto">
            <a:xfrm>
              <a:off x="1344" y="3003"/>
              <a:ext cx="1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4" name="Freeform 52"/>
            <p:cNvSpPr/>
            <p:nvPr/>
          </p:nvSpPr>
          <p:spPr bwMode="auto">
            <a:xfrm>
              <a:off x="1437" y="2997"/>
              <a:ext cx="1" cy="745"/>
            </a:xfrm>
            <a:custGeom>
              <a:avLst/>
              <a:gdLst>
                <a:gd name="T0" fmla="*/ 0 w 1"/>
                <a:gd name="T1" fmla="*/ 0 h 745"/>
                <a:gd name="T2" fmla="*/ 0 w 1"/>
                <a:gd name="T3" fmla="*/ 745 h 7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45">
                  <a:moveTo>
                    <a:pt x="0" y="0"/>
                  </a:moveTo>
                  <a:lnTo>
                    <a:pt x="0" y="74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5" name="Line 53"/>
            <p:cNvSpPr>
              <a:spLocks noChangeShapeType="1"/>
            </p:cNvSpPr>
            <p:nvPr/>
          </p:nvSpPr>
          <p:spPr bwMode="auto">
            <a:xfrm>
              <a:off x="1528" y="3003"/>
              <a:ext cx="1" cy="8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6" name="Line 54"/>
            <p:cNvSpPr>
              <a:spLocks noChangeShapeType="1"/>
            </p:cNvSpPr>
            <p:nvPr/>
          </p:nvSpPr>
          <p:spPr bwMode="auto">
            <a:xfrm>
              <a:off x="1620" y="3003"/>
              <a:ext cx="1" cy="9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7" name="Line 55"/>
            <p:cNvSpPr>
              <a:spLocks noChangeShapeType="1"/>
            </p:cNvSpPr>
            <p:nvPr/>
          </p:nvSpPr>
          <p:spPr bwMode="auto">
            <a:xfrm>
              <a:off x="1917" y="3004"/>
              <a:ext cx="1" cy="3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8" name="Line 56"/>
            <p:cNvSpPr>
              <a:spLocks noChangeShapeType="1"/>
            </p:cNvSpPr>
            <p:nvPr/>
          </p:nvSpPr>
          <p:spPr bwMode="auto">
            <a:xfrm>
              <a:off x="2009" y="3006"/>
              <a:ext cx="1" cy="4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09" name="Line 57"/>
            <p:cNvSpPr>
              <a:spLocks noChangeShapeType="1"/>
            </p:cNvSpPr>
            <p:nvPr/>
          </p:nvSpPr>
          <p:spPr bwMode="auto">
            <a:xfrm flipH="1">
              <a:off x="2101" y="3006"/>
              <a:ext cx="4" cy="4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0" name="Line 58"/>
            <p:cNvSpPr>
              <a:spLocks noChangeShapeType="1"/>
            </p:cNvSpPr>
            <p:nvPr/>
          </p:nvSpPr>
          <p:spPr bwMode="auto">
            <a:xfrm>
              <a:off x="2197" y="3006"/>
              <a:ext cx="1" cy="5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1" name="Line 59"/>
            <p:cNvSpPr>
              <a:spLocks noChangeShapeType="1"/>
            </p:cNvSpPr>
            <p:nvPr/>
          </p:nvSpPr>
          <p:spPr bwMode="auto">
            <a:xfrm>
              <a:off x="2494" y="3003"/>
              <a:ext cx="1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2" name="Line 60"/>
            <p:cNvSpPr>
              <a:spLocks noChangeShapeType="1"/>
            </p:cNvSpPr>
            <p:nvPr/>
          </p:nvSpPr>
          <p:spPr bwMode="auto">
            <a:xfrm>
              <a:off x="2586" y="3003"/>
              <a:ext cx="1" cy="7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3" name="Line 61"/>
            <p:cNvSpPr>
              <a:spLocks noChangeShapeType="1"/>
            </p:cNvSpPr>
            <p:nvPr/>
          </p:nvSpPr>
          <p:spPr bwMode="auto">
            <a:xfrm>
              <a:off x="2678" y="3003"/>
              <a:ext cx="1" cy="8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4" name="Freeform 62"/>
            <p:cNvSpPr/>
            <p:nvPr/>
          </p:nvSpPr>
          <p:spPr bwMode="auto">
            <a:xfrm>
              <a:off x="2771" y="3000"/>
              <a:ext cx="3" cy="915"/>
            </a:xfrm>
            <a:custGeom>
              <a:avLst/>
              <a:gdLst>
                <a:gd name="T0" fmla="*/ 3 w 3"/>
                <a:gd name="T1" fmla="*/ 0 h 915"/>
                <a:gd name="T2" fmla="*/ 0 w 3"/>
                <a:gd name="T3" fmla="*/ 915 h 9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15">
                  <a:moveTo>
                    <a:pt x="3" y="0"/>
                  </a:moveTo>
                  <a:lnTo>
                    <a:pt x="0" y="915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5" name="Freeform 63"/>
            <p:cNvSpPr/>
            <p:nvPr/>
          </p:nvSpPr>
          <p:spPr bwMode="auto">
            <a:xfrm>
              <a:off x="3131" y="3006"/>
              <a:ext cx="1" cy="318"/>
            </a:xfrm>
            <a:custGeom>
              <a:avLst/>
              <a:gdLst>
                <a:gd name="T0" fmla="*/ 0 w 1"/>
                <a:gd name="T1" fmla="*/ 0 h 318"/>
                <a:gd name="T2" fmla="*/ 1 w 1"/>
                <a:gd name="T3" fmla="*/ 318 h 3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1" y="318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6" name="Line 64"/>
            <p:cNvSpPr>
              <a:spLocks noChangeShapeType="1"/>
            </p:cNvSpPr>
            <p:nvPr/>
          </p:nvSpPr>
          <p:spPr bwMode="auto">
            <a:xfrm>
              <a:off x="3223" y="3003"/>
              <a:ext cx="1" cy="4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7" name="Freeform 65"/>
            <p:cNvSpPr/>
            <p:nvPr/>
          </p:nvSpPr>
          <p:spPr bwMode="auto">
            <a:xfrm>
              <a:off x="3309" y="2997"/>
              <a:ext cx="6" cy="504"/>
            </a:xfrm>
            <a:custGeom>
              <a:avLst/>
              <a:gdLst>
                <a:gd name="T0" fmla="*/ 6 w 6"/>
                <a:gd name="T1" fmla="*/ 0 h 504"/>
                <a:gd name="T2" fmla="*/ 0 w 6"/>
                <a:gd name="T3" fmla="*/ 504 h 5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04">
                  <a:moveTo>
                    <a:pt x="6" y="0"/>
                  </a:moveTo>
                  <a:lnTo>
                    <a:pt x="0" y="50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8" name="Line 66"/>
            <p:cNvSpPr>
              <a:spLocks noChangeShapeType="1"/>
            </p:cNvSpPr>
            <p:nvPr/>
          </p:nvSpPr>
          <p:spPr bwMode="auto">
            <a:xfrm>
              <a:off x="3407" y="3003"/>
              <a:ext cx="1" cy="5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19" name="Line 67"/>
            <p:cNvSpPr>
              <a:spLocks noChangeShapeType="1"/>
            </p:cNvSpPr>
            <p:nvPr/>
          </p:nvSpPr>
          <p:spPr bwMode="auto">
            <a:xfrm>
              <a:off x="3704" y="3000"/>
              <a:ext cx="1" cy="6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0" name="Line 68"/>
            <p:cNvSpPr>
              <a:spLocks noChangeShapeType="1"/>
            </p:cNvSpPr>
            <p:nvPr/>
          </p:nvSpPr>
          <p:spPr bwMode="auto">
            <a:xfrm>
              <a:off x="3796" y="3004"/>
              <a:ext cx="1" cy="7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1" name="Line 69"/>
            <p:cNvSpPr>
              <a:spLocks noChangeShapeType="1"/>
            </p:cNvSpPr>
            <p:nvPr/>
          </p:nvSpPr>
          <p:spPr bwMode="auto">
            <a:xfrm flipH="1">
              <a:off x="3888" y="3004"/>
              <a:ext cx="4" cy="8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2" name="Line 70"/>
            <p:cNvSpPr>
              <a:spLocks noChangeShapeType="1"/>
            </p:cNvSpPr>
            <p:nvPr/>
          </p:nvSpPr>
          <p:spPr bwMode="auto">
            <a:xfrm>
              <a:off x="3984" y="3000"/>
              <a:ext cx="1" cy="9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3" name="Freeform 71"/>
            <p:cNvSpPr/>
            <p:nvPr/>
          </p:nvSpPr>
          <p:spPr bwMode="auto">
            <a:xfrm>
              <a:off x="4281" y="3009"/>
              <a:ext cx="1" cy="324"/>
            </a:xfrm>
            <a:custGeom>
              <a:avLst/>
              <a:gdLst>
                <a:gd name="T0" fmla="*/ 0 w 1"/>
                <a:gd name="T1" fmla="*/ 0 h 324"/>
                <a:gd name="T2" fmla="*/ 0 w 1"/>
                <a:gd name="T3" fmla="*/ 324 h 3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24">
                  <a:moveTo>
                    <a:pt x="0" y="0"/>
                  </a:moveTo>
                  <a:lnTo>
                    <a:pt x="0" y="32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4" name="Line 72"/>
            <p:cNvSpPr>
              <a:spLocks noChangeShapeType="1"/>
            </p:cNvSpPr>
            <p:nvPr/>
          </p:nvSpPr>
          <p:spPr bwMode="auto">
            <a:xfrm>
              <a:off x="4373" y="3003"/>
              <a:ext cx="1" cy="4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5" name="Line 73"/>
            <p:cNvSpPr>
              <a:spLocks noChangeShapeType="1"/>
            </p:cNvSpPr>
            <p:nvPr/>
          </p:nvSpPr>
          <p:spPr bwMode="auto">
            <a:xfrm>
              <a:off x="4465" y="3003"/>
              <a:ext cx="1" cy="4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6" name="Line 74"/>
            <p:cNvSpPr>
              <a:spLocks noChangeShapeType="1"/>
            </p:cNvSpPr>
            <p:nvPr/>
          </p:nvSpPr>
          <p:spPr bwMode="auto">
            <a:xfrm>
              <a:off x="4557" y="3003"/>
              <a:ext cx="1" cy="5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7" name="Line 75"/>
            <p:cNvSpPr>
              <a:spLocks noChangeShapeType="1"/>
            </p:cNvSpPr>
            <p:nvPr/>
          </p:nvSpPr>
          <p:spPr bwMode="auto">
            <a:xfrm>
              <a:off x="4854" y="3000"/>
              <a:ext cx="1" cy="6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8" name="Line 76"/>
            <p:cNvSpPr>
              <a:spLocks noChangeShapeType="1"/>
            </p:cNvSpPr>
            <p:nvPr/>
          </p:nvSpPr>
          <p:spPr bwMode="auto">
            <a:xfrm>
              <a:off x="4946" y="3004"/>
              <a:ext cx="1" cy="7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29" name="Line 77"/>
            <p:cNvSpPr>
              <a:spLocks noChangeShapeType="1"/>
            </p:cNvSpPr>
            <p:nvPr/>
          </p:nvSpPr>
          <p:spPr bwMode="auto">
            <a:xfrm flipH="1">
              <a:off x="5038" y="3004"/>
              <a:ext cx="4" cy="8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30" name="Line 78"/>
            <p:cNvSpPr>
              <a:spLocks noChangeShapeType="1"/>
            </p:cNvSpPr>
            <p:nvPr/>
          </p:nvSpPr>
          <p:spPr bwMode="auto">
            <a:xfrm>
              <a:off x="5134" y="3000"/>
              <a:ext cx="1" cy="9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831" name="Line 79"/>
            <p:cNvSpPr>
              <a:spLocks noChangeShapeType="1"/>
            </p:cNvSpPr>
            <p:nvPr/>
          </p:nvSpPr>
          <p:spPr bwMode="auto">
            <a:xfrm>
              <a:off x="731" y="3004"/>
              <a:ext cx="1" cy="3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8800" name="Group 80"/>
          <p:cNvGrpSpPr/>
          <p:nvPr/>
        </p:nvGrpSpPr>
        <p:grpSpPr bwMode="auto">
          <a:xfrm>
            <a:off x="1770064" y="2420467"/>
            <a:ext cx="1119187" cy="817562"/>
            <a:chOff x="395" y="1643"/>
            <a:chExt cx="705" cy="515"/>
          </a:xfrm>
        </p:grpSpPr>
        <p:sp>
          <p:nvSpPr>
            <p:cNvPr id="70796" name="Rectangle 81"/>
            <p:cNvSpPr>
              <a:spLocks noChangeArrowheads="1"/>
            </p:cNvSpPr>
            <p:nvPr/>
          </p:nvSpPr>
          <p:spPr bwMode="auto">
            <a:xfrm>
              <a:off x="395" y="1643"/>
              <a:ext cx="20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11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0797" name="Rectangle 82"/>
            <p:cNvSpPr>
              <a:spLocks noChangeArrowheads="1"/>
            </p:cNvSpPr>
            <p:nvPr/>
          </p:nvSpPr>
          <p:spPr bwMode="auto">
            <a:xfrm>
              <a:off x="395" y="1812"/>
              <a:ext cx="325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10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  <a:p>
              <a:pPr eaLnBrk="1" hangingPunct="1"/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0798" name="Freeform 83"/>
            <p:cNvSpPr/>
            <p:nvPr/>
          </p:nvSpPr>
          <p:spPr bwMode="auto">
            <a:xfrm>
              <a:off x="679" y="1742"/>
              <a:ext cx="421" cy="1"/>
            </a:xfrm>
            <a:custGeom>
              <a:avLst/>
              <a:gdLst>
                <a:gd name="T0" fmla="*/ 421 w 421"/>
                <a:gd name="T1" fmla="*/ 0 h 1"/>
                <a:gd name="T2" fmla="*/ 0 w 42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1" h="1">
                  <a:moveTo>
                    <a:pt x="421" y="0"/>
                  </a:moveTo>
                  <a:lnTo>
                    <a:pt x="0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99" name="Freeform 84"/>
            <p:cNvSpPr/>
            <p:nvPr/>
          </p:nvSpPr>
          <p:spPr bwMode="auto">
            <a:xfrm>
              <a:off x="681" y="1899"/>
              <a:ext cx="411" cy="4"/>
            </a:xfrm>
            <a:custGeom>
              <a:avLst/>
              <a:gdLst>
                <a:gd name="T0" fmla="*/ 411 w 411"/>
                <a:gd name="T1" fmla="*/ 4 h 4"/>
                <a:gd name="T2" fmla="*/ 0 w 4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1" h="4">
                  <a:moveTo>
                    <a:pt x="411" y="4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8805" name="Group 85"/>
          <p:cNvGrpSpPr/>
          <p:nvPr/>
        </p:nvGrpSpPr>
        <p:grpSpPr bwMode="auto">
          <a:xfrm>
            <a:off x="2933701" y="2907829"/>
            <a:ext cx="1497013" cy="1403350"/>
            <a:chOff x="1128" y="1950"/>
            <a:chExt cx="943" cy="884"/>
          </a:xfrm>
        </p:grpSpPr>
        <p:sp>
          <p:nvSpPr>
            <p:cNvPr id="70787" name="Line 86"/>
            <p:cNvSpPr>
              <a:spLocks noChangeShapeType="1"/>
            </p:cNvSpPr>
            <p:nvPr/>
          </p:nvSpPr>
          <p:spPr bwMode="auto">
            <a:xfrm flipV="1">
              <a:off x="1705" y="2821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0788" name="Group 87"/>
            <p:cNvGrpSpPr/>
            <p:nvPr/>
          </p:nvGrpSpPr>
          <p:grpSpPr bwMode="auto">
            <a:xfrm>
              <a:off x="1128" y="1950"/>
              <a:ext cx="943" cy="884"/>
              <a:chOff x="1128" y="1950"/>
              <a:chExt cx="943" cy="884"/>
            </a:xfrm>
          </p:grpSpPr>
          <p:sp>
            <p:nvSpPr>
              <p:cNvPr id="70789" name="Freeform 88"/>
              <p:cNvSpPr/>
              <p:nvPr/>
            </p:nvSpPr>
            <p:spPr bwMode="auto">
              <a:xfrm>
                <a:off x="1467" y="1950"/>
                <a:ext cx="339" cy="6"/>
              </a:xfrm>
              <a:custGeom>
                <a:avLst/>
                <a:gdLst>
                  <a:gd name="T0" fmla="*/ 0 w 339"/>
                  <a:gd name="T1" fmla="*/ 6 h 6"/>
                  <a:gd name="T2" fmla="*/ 0 w 339"/>
                  <a:gd name="T3" fmla="*/ 0 h 6"/>
                  <a:gd name="T4" fmla="*/ 339 w 33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9" h="6">
                    <a:moveTo>
                      <a:pt x="0" y="6"/>
                    </a:moveTo>
                    <a:lnTo>
                      <a:pt x="0" y="0"/>
                    </a:lnTo>
                    <a:lnTo>
                      <a:pt x="339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0" name="Freeform 89"/>
              <p:cNvSpPr/>
              <p:nvPr/>
            </p:nvSpPr>
            <p:spPr bwMode="auto">
              <a:xfrm>
                <a:off x="1795" y="1950"/>
                <a:ext cx="1" cy="884"/>
              </a:xfrm>
              <a:custGeom>
                <a:avLst/>
                <a:gdLst>
                  <a:gd name="T0" fmla="*/ 1 w 1"/>
                  <a:gd name="T1" fmla="*/ 0 h 861"/>
                  <a:gd name="T2" fmla="*/ 0 w 1"/>
                  <a:gd name="T3" fmla="*/ 908 h 8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61">
                    <a:moveTo>
                      <a:pt x="1" y="0"/>
                    </a:moveTo>
                    <a:lnTo>
                      <a:pt x="0" y="861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1" name="Line 90"/>
              <p:cNvSpPr>
                <a:spLocks noChangeShapeType="1"/>
              </p:cNvSpPr>
              <p:nvPr/>
            </p:nvSpPr>
            <p:spPr bwMode="auto">
              <a:xfrm>
                <a:off x="1128" y="2823"/>
                <a:ext cx="10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2" name="Line 91"/>
              <p:cNvSpPr>
                <a:spLocks noChangeShapeType="1"/>
              </p:cNvSpPr>
              <p:nvPr/>
            </p:nvSpPr>
            <p:spPr bwMode="auto">
              <a:xfrm flipV="1">
                <a:off x="1218" y="2639"/>
                <a:ext cx="1" cy="1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3" name="Line 92"/>
              <p:cNvSpPr>
                <a:spLocks noChangeShapeType="1"/>
              </p:cNvSpPr>
              <p:nvPr/>
            </p:nvSpPr>
            <p:spPr bwMode="auto">
              <a:xfrm>
                <a:off x="1209" y="2639"/>
                <a:ext cx="577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4" name="Rectangle 93"/>
              <p:cNvSpPr>
                <a:spLocks noChangeArrowheads="1"/>
              </p:cNvSpPr>
              <p:nvPr/>
            </p:nvSpPr>
            <p:spPr bwMode="auto">
              <a:xfrm>
                <a:off x="1839" y="1954"/>
                <a:ext cx="23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CS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795" name="Freeform 94"/>
              <p:cNvSpPr/>
              <p:nvPr/>
            </p:nvSpPr>
            <p:spPr bwMode="auto">
              <a:xfrm>
                <a:off x="1842" y="1962"/>
                <a:ext cx="195" cy="1"/>
              </a:xfrm>
              <a:custGeom>
                <a:avLst/>
                <a:gdLst>
                  <a:gd name="T0" fmla="*/ 0 w 195"/>
                  <a:gd name="T1" fmla="*/ 0 h 1"/>
                  <a:gd name="T2" fmla="*/ 195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798815" name="Group 95"/>
          <p:cNvGrpSpPr/>
          <p:nvPr/>
        </p:nvGrpSpPr>
        <p:grpSpPr bwMode="auto">
          <a:xfrm>
            <a:off x="3471863" y="2784005"/>
            <a:ext cx="2787650" cy="1509713"/>
            <a:chOff x="1467" y="1872"/>
            <a:chExt cx="1756" cy="951"/>
          </a:xfrm>
        </p:grpSpPr>
        <p:sp>
          <p:nvSpPr>
            <p:cNvPr id="70777" name="Line 96"/>
            <p:cNvSpPr>
              <a:spLocks noChangeShapeType="1"/>
            </p:cNvSpPr>
            <p:nvPr/>
          </p:nvSpPr>
          <p:spPr bwMode="auto">
            <a:xfrm flipV="1">
              <a:off x="2855" y="2821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0778" name="Group 97"/>
            <p:cNvGrpSpPr/>
            <p:nvPr/>
          </p:nvGrpSpPr>
          <p:grpSpPr bwMode="auto">
            <a:xfrm>
              <a:off x="1467" y="1872"/>
              <a:ext cx="1756" cy="951"/>
              <a:chOff x="1467" y="1872"/>
              <a:chExt cx="1756" cy="951"/>
            </a:xfrm>
          </p:grpSpPr>
          <p:sp>
            <p:nvSpPr>
              <p:cNvPr id="70779" name="Freeform 98"/>
              <p:cNvSpPr/>
              <p:nvPr/>
            </p:nvSpPr>
            <p:spPr bwMode="auto">
              <a:xfrm>
                <a:off x="2948" y="1872"/>
                <a:ext cx="1" cy="948"/>
              </a:xfrm>
              <a:custGeom>
                <a:avLst/>
                <a:gdLst>
                  <a:gd name="T0" fmla="*/ 0 w 1"/>
                  <a:gd name="T1" fmla="*/ 948 h 948"/>
                  <a:gd name="T2" fmla="*/ 0 w 1"/>
                  <a:gd name="T3" fmla="*/ 0 h 9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48">
                    <a:moveTo>
                      <a:pt x="0" y="948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0" name="Line 99"/>
              <p:cNvSpPr>
                <a:spLocks noChangeShapeType="1"/>
              </p:cNvSpPr>
              <p:nvPr/>
            </p:nvSpPr>
            <p:spPr bwMode="auto">
              <a:xfrm flipV="1">
                <a:off x="2278" y="2820"/>
                <a:ext cx="104" cy="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1" name="Line 100"/>
              <p:cNvSpPr>
                <a:spLocks noChangeShapeType="1"/>
              </p:cNvSpPr>
              <p:nvPr/>
            </p:nvSpPr>
            <p:spPr bwMode="auto">
              <a:xfrm flipV="1">
                <a:off x="2371" y="2639"/>
                <a:ext cx="1" cy="1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2" name="Line 101"/>
              <p:cNvSpPr>
                <a:spLocks noChangeShapeType="1"/>
              </p:cNvSpPr>
              <p:nvPr/>
            </p:nvSpPr>
            <p:spPr bwMode="auto">
              <a:xfrm>
                <a:off x="2365" y="2639"/>
                <a:ext cx="578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70783" name="Group 102"/>
              <p:cNvGrpSpPr/>
              <p:nvPr/>
            </p:nvGrpSpPr>
            <p:grpSpPr bwMode="auto">
              <a:xfrm>
                <a:off x="1467" y="1878"/>
                <a:ext cx="1756" cy="249"/>
                <a:chOff x="1467" y="1878"/>
                <a:chExt cx="1756" cy="249"/>
              </a:xfrm>
            </p:grpSpPr>
            <p:sp>
              <p:nvSpPr>
                <p:cNvPr id="70784" name="Rectangle 103"/>
                <p:cNvSpPr>
                  <a:spLocks noChangeArrowheads="1"/>
                </p:cNvSpPr>
                <p:nvPr/>
              </p:nvSpPr>
              <p:spPr bwMode="auto">
                <a:xfrm>
                  <a:off x="2991" y="1954"/>
                  <a:ext cx="232" cy="1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1800">
                      <a:latin typeface="Times New Roman" panose="02020603050405020304" pitchFamily="18" charset="0"/>
                    </a:rPr>
                    <a:t>CS</a:t>
                  </a:r>
                  <a:r>
                    <a:rPr lang="en-US" altLang="zh-CN" sz="18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70785" name="Freeform 104"/>
                <p:cNvSpPr/>
                <p:nvPr/>
              </p:nvSpPr>
              <p:spPr bwMode="auto">
                <a:xfrm>
                  <a:off x="1467" y="1878"/>
                  <a:ext cx="1485" cy="1"/>
                </a:xfrm>
                <a:custGeom>
                  <a:avLst/>
                  <a:gdLst>
                    <a:gd name="T0" fmla="*/ 0 w 1485"/>
                    <a:gd name="T1" fmla="*/ 0 h 1"/>
                    <a:gd name="T2" fmla="*/ 1485 w 1485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85" h="1">
                      <a:moveTo>
                        <a:pt x="0" y="0"/>
                      </a:moveTo>
                      <a:lnTo>
                        <a:pt x="1485" y="0"/>
                      </a:lnTo>
                    </a:path>
                  </a:pathLst>
                </a:custGeom>
                <a:solidFill>
                  <a:srgbClr val="FFFFFF"/>
                </a:solidFill>
                <a:ln w="38100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786" name="Freeform 105"/>
                <p:cNvSpPr/>
                <p:nvPr/>
              </p:nvSpPr>
              <p:spPr bwMode="auto">
                <a:xfrm flipV="1">
                  <a:off x="2994" y="1936"/>
                  <a:ext cx="195" cy="27"/>
                </a:xfrm>
                <a:custGeom>
                  <a:avLst/>
                  <a:gdLst>
                    <a:gd name="T0" fmla="*/ 0 w 195"/>
                    <a:gd name="T1" fmla="*/ 0 h 1"/>
                    <a:gd name="T2" fmla="*/ 195 w 195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5" h="1">
                      <a:moveTo>
                        <a:pt x="0" y="0"/>
                      </a:moveTo>
                      <a:lnTo>
                        <a:pt x="195" y="0"/>
                      </a:ln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798826" name="Group 106"/>
          <p:cNvGrpSpPr/>
          <p:nvPr/>
        </p:nvGrpSpPr>
        <p:grpSpPr bwMode="auto">
          <a:xfrm>
            <a:off x="3452814" y="2631605"/>
            <a:ext cx="4725987" cy="1662113"/>
            <a:chOff x="1455" y="1776"/>
            <a:chExt cx="2977" cy="1047"/>
          </a:xfrm>
        </p:grpSpPr>
        <p:sp>
          <p:nvSpPr>
            <p:cNvPr id="70768" name="Freeform 107"/>
            <p:cNvSpPr/>
            <p:nvPr/>
          </p:nvSpPr>
          <p:spPr bwMode="auto">
            <a:xfrm>
              <a:off x="4154" y="1776"/>
              <a:ext cx="6" cy="1044"/>
            </a:xfrm>
            <a:custGeom>
              <a:avLst/>
              <a:gdLst>
                <a:gd name="T0" fmla="*/ 6 w 6"/>
                <a:gd name="T1" fmla="*/ 1044 h 1044"/>
                <a:gd name="T2" fmla="*/ 0 w 6"/>
                <a:gd name="T3" fmla="*/ 0 h 10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44">
                  <a:moveTo>
                    <a:pt x="6" y="1044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9" name="Line 108"/>
            <p:cNvSpPr>
              <a:spLocks noChangeShapeType="1"/>
            </p:cNvSpPr>
            <p:nvPr/>
          </p:nvSpPr>
          <p:spPr bwMode="auto">
            <a:xfrm flipV="1">
              <a:off x="3474" y="2814"/>
              <a:ext cx="110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70" name="Line 109"/>
            <p:cNvSpPr>
              <a:spLocks noChangeShapeType="1"/>
            </p:cNvSpPr>
            <p:nvPr/>
          </p:nvSpPr>
          <p:spPr bwMode="auto">
            <a:xfrm flipV="1">
              <a:off x="4069" y="2814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71" name="Freeform 110"/>
            <p:cNvSpPr/>
            <p:nvPr/>
          </p:nvSpPr>
          <p:spPr bwMode="auto">
            <a:xfrm>
              <a:off x="3573" y="2641"/>
              <a:ext cx="1" cy="182"/>
            </a:xfrm>
            <a:custGeom>
              <a:avLst/>
              <a:gdLst>
                <a:gd name="T0" fmla="*/ 0 w 1"/>
                <a:gd name="T1" fmla="*/ 182 h 182"/>
                <a:gd name="T2" fmla="*/ 1 w 1"/>
                <a:gd name="T3" fmla="*/ 0 h 1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2">
                  <a:moveTo>
                    <a:pt x="0" y="182"/>
                  </a:moveTo>
                  <a:lnTo>
                    <a:pt x="1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72" name="Line 111"/>
            <p:cNvSpPr>
              <a:spLocks noChangeShapeType="1"/>
            </p:cNvSpPr>
            <p:nvPr/>
          </p:nvSpPr>
          <p:spPr bwMode="auto">
            <a:xfrm>
              <a:off x="3564" y="2628"/>
              <a:ext cx="58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0773" name="Group 112"/>
            <p:cNvGrpSpPr/>
            <p:nvPr/>
          </p:nvGrpSpPr>
          <p:grpSpPr bwMode="auto">
            <a:xfrm>
              <a:off x="1455" y="1779"/>
              <a:ext cx="2977" cy="348"/>
              <a:chOff x="1455" y="1779"/>
              <a:chExt cx="2977" cy="348"/>
            </a:xfrm>
          </p:grpSpPr>
          <p:sp>
            <p:nvSpPr>
              <p:cNvPr id="70774" name="Freeform 113"/>
              <p:cNvSpPr/>
              <p:nvPr/>
            </p:nvSpPr>
            <p:spPr bwMode="auto">
              <a:xfrm>
                <a:off x="1455" y="1779"/>
                <a:ext cx="2712" cy="3"/>
              </a:xfrm>
              <a:custGeom>
                <a:avLst/>
                <a:gdLst>
                  <a:gd name="T0" fmla="*/ 0 w 2712"/>
                  <a:gd name="T1" fmla="*/ 0 h 3"/>
                  <a:gd name="T2" fmla="*/ 2712 w 271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12" h="3">
                    <a:moveTo>
                      <a:pt x="0" y="0"/>
                    </a:moveTo>
                    <a:lnTo>
                      <a:pt x="2712" y="3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5" name="Rectangle 114"/>
              <p:cNvSpPr>
                <a:spLocks noChangeArrowheads="1"/>
              </p:cNvSpPr>
              <p:nvPr/>
            </p:nvSpPr>
            <p:spPr bwMode="auto">
              <a:xfrm>
                <a:off x="4200" y="1954"/>
                <a:ext cx="23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CS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776" name="Freeform 115"/>
              <p:cNvSpPr/>
              <p:nvPr/>
            </p:nvSpPr>
            <p:spPr bwMode="auto">
              <a:xfrm flipV="1">
                <a:off x="4200" y="1936"/>
                <a:ext cx="195" cy="27"/>
              </a:xfrm>
              <a:custGeom>
                <a:avLst/>
                <a:gdLst>
                  <a:gd name="T0" fmla="*/ 0 w 195"/>
                  <a:gd name="T1" fmla="*/ 0 h 1"/>
                  <a:gd name="T2" fmla="*/ 195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798836" name="Group 116"/>
          <p:cNvGrpSpPr/>
          <p:nvPr/>
        </p:nvGrpSpPr>
        <p:grpSpPr bwMode="auto">
          <a:xfrm>
            <a:off x="3448050" y="2504604"/>
            <a:ext cx="6554788" cy="1778000"/>
            <a:chOff x="1452" y="1696"/>
            <a:chExt cx="4129" cy="1120"/>
          </a:xfrm>
        </p:grpSpPr>
        <p:sp>
          <p:nvSpPr>
            <p:cNvPr id="70759" name="Line 117"/>
            <p:cNvSpPr>
              <a:spLocks noChangeShapeType="1"/>
            </p:cNvSpPr>
            <p:nvPr/>
          </p:nvSpPr>
          <p:spPr bwMode="auto">
            <a:xfrm flipV="1">
              <a:off x="4642" y="2814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0" name="Line 118"/>
            <p:cNvSpPr>
              <a:spLocks noChangeShapeType="1"/>
            </p:cNvSpPr>
            <p:nvPr/>
          </p:nvSpPr>
          <p:spPr bwMode="auto">
            <a:xfrm flipV="1">
              <a:off x="5219" y="2814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1" name="Line 119"/>
            <p:cNvSpPr>
              <a:spLocks noChangeShapeType="1"/>
            </p:cNvSpPr>
            <p:nvPr/>
          </p:nvSpPr>
          <p:spPr bwMode="auto">
            <a:xfrm flipV="1">
              <a:off x="4732" y="2628"/>
              <a:ext cx="1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2" name="Line 120"/>
            <p:cNvSpPr>
              <a:spLocks noChangeShapeType="1"/>
            </p:cNvSpPr>
            <p:nvPr/>
          </p:nvSpPr>
          <p:spPr bwMode="auto">
            <a:xfrm>
              <a:off x="4726" y="2628"/>
              <a:ext cx="57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3" name="Line 121"/>
            <p:cNvSpPr>
              <a:spLocks noChangeShapeType="1"/>
            </p:cNvSpPr>
            <p:nvPr/>
          </p:nvSpPr>
          <p:spPr bwMode="auto">
            <a:xfrm flipH="1" flipV="1">
              <a:off x="5308" y="1696"/>
              <a:ext cx="4" cy="1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0764" name="Group 122"/>
            <p:cNvGrpSpPr/>
            <p:nvPr/>
          </p:nvGrpSpPr>
          <p:grpSpPr bwMode="auto">
            <a:xfrm>
              <a:off x="1452" y="1698"/>
              <a:ext cx="4129" cy="429"/>
              <a:chOff x="1452" y="1698"/>
              <a:chExt cx="4129" cy="429"/>
            </a:xfrm>
          </p:grpSpPr>
          <p:sp>
            <p:nvSpPr>
              <p:cNvPr id="70765" name="Freeform 123"/>
              <p:cNvSpPr/>
              <p:nvPr/>
            </p:nvSpPr>
            <p:spPr bwMode="auto">
              <a:xfrm>
                <a:off x="1452" y="1698"/>
                <a:ext cx="3870" cy="1"/>
              </a:xfrm>
              <a:custGeom>
                <a:avLst/>
                <a:gdLst>
                  <a:gd name="T0" fmla="*/ 0 w 3870"/>
                  <a:gd name="T1" fmla="*/ 0 h 1"/>
                  <a:gd name="T2" fmla="*/ 3870 w 387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70" h="1">
                    <a:moveTo>
                      <a:pt x="0" y="0"/>
                    </a:moveTo>
                    <a:lnTo>
                      <a:pt x="387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66" name="Rectangle 124"/>
              <p:cNvSpPr>
                <a:spLocks noChangeArrowheads="1"/>
              </p:cNvSpPr>
              <p:nvPr/>
            </p:nvSpPr>
            <p:spPr bwMode="auto">
              <a:xfrm>
                <a:off x="5349" y="1954"/>
                <a:ext cx="23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CS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767" name="Freeform 125"/>
              <p:cNvSpPr/>
              <p:nvPr/>
            </p:nvSpPr>
            <p:spPr bwMode="auto">
              <a:xfrm flipV="1">
                <a:off x="5343" y="1936"/>
                <a:ext cx="195" cy="27"/>
              </a:xfrm>
              <a:custGeom>
                <a:avLst/>
                <a:gdLst>
                  <a:gd name="T0" fmla="*/ 0 w 195"/>
                  <a:gd name="T1" fmla="*/ 0 h 1"/>
                  <a:gd name="T2" fmla="*/ 195 w 19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798846" name="Group 126"/>
          <p:cNvGrpSpPr/>
          <p:nvPr/>
        </p:nvGrpSpPr>
        <p:grpSpPr bwMode="auto">
          <a:xfrm>
            <a:off x="2889251" y="2426817"/>
            <a:ext cx="574675" cy="622300"/>
            <a:chOff x="1100" y="1647"/>
            <a:chExt cx="362" cy="392"/>
          </a:xfrm>
        </p:grpSpPr>
        <p:sp>
          <p:nvSpPr>
            <p:cNvPr id="70752" name="Rectangle 127"/>
            <p:cNvSpPr>
              <a:spLocks noChangeArrowheads="1"/>
            </p:cNvSpPr>
            <p:nvPr/>
          </p:nvSpPr>
          <p:spPr bwMode="auto">
            <a:xfrm>
              <a:off x="1100" y="1651"/>
              <a:ext cx="298" cy="388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0753" name="Rectangle 128"/>
            <p:cNvSpPr>
              <a:spLocks noChangeArrowheads="1"/>
            </p:cNvSpPr>
            <p:nvPr/>
          </p:nvSpPr>
          <p:spPr bwMode="auto">
            <a:xfrm>
              <a:off x="1103" y="1647"/>
              <a:ext cx="2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800"/>
                <a:t>片选</a:t>
              </a:r>
              <a:endParaRPr lang="zh-CN" altLang="en-US" sz="1800"/>
            </a:p>
          </p:txBody>
        </p:sp>
        <p:sp>
          <p:nvSpPr>
            <p:cNvPr id="70754" name="Rectangle 129"/>
            <p:cNvSpPr>
              <a:spLocks noChangeArrowheads="1"/>
            </p:cNvSpPr>
            <p:nvPr/>
          </p:nvSpPr>
          <p:spPr bwMode="auto">
            <a:xfrm>
              <a:off x="1103" y="1835"/>
              <a:ext cx="2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800"/>
                <a:t>译码</a:t>
              </a:r>
              <a:endParaRPr lang="zh-CN" altLang="en-US" sz="1800"/>
            </a:p>
          </p:txBody>
        </p:sp>
        <p:sp>
          <p:nvSpPr>
            <p:cNvPr id="70755" name="Oval 130"/>
            <p:cNvSpPr>
              <a:spLocks noChangeArrowheads="1"/>
            </p:cNvSpPr>
            <p:nvPr/>
          </p:nvSpPr>
          <p:spPr bwMode="auto">
            <a:xfrm>
              <a:off x="1397" y="1673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0756" name="Oval 131"/>
            <p:cNvSpPr>
              <a:spLocks noChangeArrowheads="1"/>
            </p:cNvSpPr>
            <p:nvPr/>
          </p:nvSpPr>
          <p:spPr bwMode="auto">
            <a:xfrm>
              <a:off x="1403" y="1754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0757" name="Oval 132"/>
            <p:cNvSpPr>
              <a:spLocks noChangeArrowheads="1"/>
            </p:cNvSpPr>
            <p:nvPr/>
          </p:nvSpPr>
          <p:spPr bwMode="auto">
            <a:xfrm>
              <a:off x="1403" y="1847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0758" name="Oval 133"/>
            <p:cNvSpPr>
              <a:spLocks noChangeArrowheads="1"/>
            </p:cNvSpPr>
            <p:nvPr/>
          </p:nvSpPr>
          <p:spPr bwMode="auto">
            <a:xfrm>
              <a:off x="1406" y="1931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798940" name="Group 220"/>
          <p:cNvGrpSpPr/>
          <p:nvPr/>
        </p:nvGrpSpPr>
        <p:grpSpPr bwMode="auto">
          <a:xfrm>
            <a:off x="2333625" y="3245968"/>
            <a:ext cx="7061200" cy="985837"/>
            <a:chOff x="750" y="2163"/>
            <a:chExt cx="4448" cy="621"/>
          </a:xfrm>
        </p:grpSpPr>
        <p:grpSp>
          <p:nvGrpSpPr>
            <p:cNvPr id="70712" name="Group 219"/>
            <p:cNvGrpSpPr/>
            <p:nvPr/>
          </p:nvGrpSpPr>
          <p:grpSpPr bwMode="auto">
            <a:xfrm>
              <a:off x="750" y="2169"/>
              <a:ext cx="354" cy="615"/>
              <a:chOff x="750" y="2169"/>
              <a:chExt cx="354" cy="615"/>
            </a:xfrm>
          </p:grpSpPr>
          <p:sp>
            <p:nvSpPr>
              <p:cNvPr id="70748" name="Line 136"/>
              <p:cNvSpPr>
                <a:spLocks noChangeShapeType="1"/>
              </p:cNvSpPr>
              <p:nvPr/>
            </p:nvSpPr>
            <p:spPr bwMode="auto">
              <a:xfrm flipV="1">
                <a:off x="834" y="2254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9" name="Line 137"/>
              <p:cNvSpPr>
                <a:spLocks noChangeShapeType="1"/>
              </p:cNvSpPr>
              <p:nvPr/>
            </p:nvSpPr>
            <p:spPr bwMode="auto">
              <a:xfrm flipV="1">
                <a:off x="750" y="2169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50" name="Line 138"/>
              <p:cNvSpPr>
                <a:spLocks noChangeShapeType="1"/>
              </p:cNvSpPr>
              <p:nvPr/>
            </p:nvSpPr>
            <p:spPr bwMode="auto">
              <a:xfrm flipV="1">
                <a:off x="1056" y="2546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51" name="Text Box 139"/>
              <p:cNvSpPr txBox="1">
                <a:spLocks noChangeArrowheads="1"/>
              </p:cNvSpPr>
              <p:nvPr/>
            </p:nvSpPr>
            <p:spPr bwMode="auto">
              <a:xfrm>
                <a:off x="796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/>
              </a:p>
            </p:txBody>
          </p:sp>
        </p:grpSp>
        <p:grpSp>
          <p:nvGrpSpPr>
            <p:cNvPr id="70713" name="Group 218"/>
            <p:cNvGrpSpPr/>
            <p:nvPr/>
          </p:nvGrpSpPr>
          <p:grpSpPr bwMode="auto">
            <a:xfrm>
              <a:off x="1340" y="2174"/>
              <a:ext cx="352" cy="610"/>
              <a:chOff x="1340" y="2174"/>
              <a:chExt cx="352" cy="610"/>
            </a:xfrm>
          </p:grpSpPr>
          <p:sp>
            <p:nvSpPr>
              <p:cNvPr id="70744" name="Line 141"/>
              <p:cNvSpPr>
                <a:spLocks noChangeShapeType="1"/>
              </p:cNvSpPr>
              <p:nvPr/>
            </p:nvSpPr>
            <p:spPr bwMode="auto">
              <a:xfrm flipV="1">
                <a:off x="1424" y="2259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5" name="Line 142"/>
              <p:cNvSpPr>
                <a:spLocks noChangeShapeType="1"/>
              </p:cNvSpPr>
              <p:nvPr/>
            </p:nvSpPr>
            <p:spPr bwMode="auto">
              <a:xfrm flipV="1">
                <a:off x="1340" y="2174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6" name="Line 143"/>
              <p:cNvSpPr>
                <a:spLocks noChangeShapeType="1"/>
              </p:cNvSpPr>
              <p:nvPr/>
            </p:nvSpPr>
            <p:spPr bwMode="auto">
              <a:xfrm flipV="1">
                <a:off x="1646" y="2551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7" name="Text Box 144"/>
              <p:cNvSpPr txBox="1">
                <a:spLocks noChangeArrowheads="1"/>
              </p:cNvSpPr>
              <p:nvPr/>
            </p:nvSpPr>
            <p:spPr bwMode="auto">
              <a:xfrm>
                <a:off x="1384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/>
              </a:p>
            </p:txBody>
          </p:sp>
        </p:grpSp>
        <p:grpSp>
          <p:nvGrpSpPr>
            <p:cNvPr id="70714" name="Group 217"/>
            <p:cNvGrpSpPr/>
            <p:nvPr/>
          </p:nvGrpSpPr>
          <p:grpSpPr bwMode="auto">
            <a:xfrm>
              <a:off x="1917" y="2166"/>
              <a:ext cx="337" cy="611"/>
              <a:chOff x="1917" y="2166"/>
              <a:chExt cx="337" cy="611"/>
            </a:xfrm>
          </p:grpSpPr>
          <p:sp>
            <p:nvSpPr>
              <p:cNvPr id="70740" name="Line 146"/>
              <p:cNvSpPr>
                <a:spLocks noChangeShapeType="1"/>
              </p:cNvSpPr>
              <p:nvPr/>
            </p:nvSpPr>
            <p:spPr bwMode="auto">
              <a:xfrm flipV="1">
                <a:off x="2001" y="2251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1" name="Line 147"/>
              <p:cNvSpPr>
                <a:spLocks noChangeShapeType="1"/>
              </p:cNvSpPr>
              <p:nvPr/>
            </p:nvSpPr>
            <p:spPr bwMode="auto">
              <a:xfrm flipV="1">
                <a:off x="1917" y="2166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2" name="Line 148"/>
              <p:cNvSpPr>
                <a:spLocks noChangeShapeType="1"/>
              </p:cNvSpPr>
              <p:nvPr/>
            </p:nvSpPr>
            <p:spPr bwMode="auto">
              <a:xfrm flipV="1">
                <a:off x="2223" y="2543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43" name="Text Box 149"/>
              <p:cNvSpPr txBox="1">
                <a:spLocks noChangeArrowheads="1"/>
              </p:cNvSpPr>
              <p:nvPr/>
            </p:nvSpPr>
            <p:spPr bwMode="auto">
              <a:xfrm>
                <a:off x="1978" y="252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/>
              </a:p>
            </p:txBody>
          </p:sp>
        </p:grpSp>
        <p:grpSp>
          <p:nvGrpSpPr>
            <p:cNvPr id="70715" name="Group 216"/>
            <p:cNvGrpSpPr/>
            <p:nvPr/>
          </p:nvGrpSpPr>
          <p:grpSpPr bwMode="auto">
            <a:xfrm>
              <a:off x="2481" y="2171"/>
              <a:ext cx="359" cy="613"/>
              <a:chOff x="2481" y="2171"/>
              <a:chExt cx="359" cy="613"/>
            </a:xfrm>
          </p:grpSpPr>
          <p:sp>
            <p:nvSpPr>
              <p:cNvPr id="70736" name="Line 151"/>
              <p:cNvSpPr>
                <a:spLocks noChangeShapeType="1"/>
              </p:cNvSpPr>
              <p:nvPr/>
            </p:nvSpPr>
            <p:spPr bwMode="auto">
              <a:xfrm flipV="1">
                <a:off x="2565" y="2256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7" name="Line 152"/>
              <p:cNvSpPr>
                <a:spLocks noChangeShapeType="1"/>
              </p:cNvSpPr>
              <p:nvPr/>
            </p:nvSpPr>
            <p:spPr bwMode="auto">
              <a:xfrm flipV="1">
                <a:off x="2481" y="2171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8" name="Line 153"/>
              <p:cNvSpPr>
                <a:spLocks noChangeShapeType="1"/>
              </p:cNvSpPr>
              <p:nvPr/>
            </p:nvSpPr>
            <p:spPr bwMode="auto">
              <a:xfrm flipV="1">
                <a:off x="2787" y="2548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9" name="Text Box 154"/>
              <p:cNvSpPr txBox="1">
                <a:spLocks noChangeArrowheads="1"/>
              </p:cNvSpPr>
              <p:nvPr/>
            </p:nvSpPr>
            <p:spPr bwMode="auto">
              <a:xfrm>
                <a:off x="2532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/>
              </a:p>
            </p:txBody>
          </p:sp>
        </p:grpSp>
        <p:grpSp>
          <p:nvGrpSpPr>
            <p:cNvPr id="70716" name="Group 215"/>
            <p:cNvGrpSpPr/>
            <p:nvPr/>
          </p:nvGrpSpPr>
          <p:grpSpPr bwMode="auto">
            <a:xfrm>
              <a:off x="3093" y="2178"/>
              <a:ext cx="347" cy="606"/>
              <a:chOff x="3093" y="2178"/>
              <a:chExt cx="347" cy="606"/>
            </a:xfrm>
          </p:grpSpPr>
          <p:sp>
            <p:nvSpPr>
              <p:cNvPr id="70732" name="Line 156"/>
              <p:cNvSpPr>
                <a:spLocks noChangeShapeType="1"/>
              </p:cNvSpPr>
              <p:nvPr/>
            </p:nvSpPr>
            <p:spPr bwMode="auto">
              <a:xfrm flipV="1">
                <a:off x="3176" y="2256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3" name="Freeform 157"/>
              <p:cNvSpPr/>
              <p:nvPr/>
            </p:nvSpPr>
            <p:spPr bwMode="auto">
              <a:xfrm>
                <a:off x="3093" y="2178"/>
                <a:ext cx="1" cy="561"/>
              </a:xfrm>
              <a:custGeom>
                <a:avLst/>
                <a:gdLst>
                  <a:gd name="T0" fmla="*/ 0 w 1"/>
                  <a:gd name="T1" fmla="*/ 561 h 561"/>
                  <a:gd name="T2" fmla="*/ 0 w 1"/>
                  <a:gd name="T3" fmla="*/ 0 h 5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61">
                    <a:moveTo>
                      <a:pt x="0" y="561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4" name="Line 158"/>
              <p:cNvSpPr>
                <a:spLocks noChangeShapeType="1"/>
              </p:cNvSpPr>
              <p:nvPr/>
            </p:nvSpPr>
            <p:spPr bwMode="auto">
              <a:xfrm flipV="1">
                <a:off x="3398" y="2548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5" name="Text Box 159"/>
              <p:cNvSpPr txBox="1">
                <a:spLocks noChangeArrowheads="1"/>
              </p:cNvSpPr>
              <p:nvPr/>
            </p:nvSpPr>
            <p:spPr bwMode="auto">
              <a:xfrm>
                <a:off x="3132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0717" name="Group 214"/>
            <p:cNvGrpSpPr/>
            <p:nvPr/>
          </p:nvGrpSpPr>
          <p:grpSpPr bwMode="auto">
            <a:xfrm>
              <a:off x="3695" y="2163"/>
              <a:ext cx="349" cy="621"/>
              <a:chOff x="3695" y="2163"/>
              <a:chExt cx="349" cy="621"/>
            </a:xfrm>
          </p:grpSpPr>
          <p:sp>
            <p:nvSpPr>
              <p:cNvPr id="70728" name="Line 161"/>
              <p:cNvSpPr>
                <a:spLocks noChangeShapeType="1"/>
              </p:cNvSpPr>
              <p:nvPr/>
            </p:nvSpPr>
            <p:spPr bwMode="auto">
              <a:xfrm flipV="1">
                <a:off x="3779" y="2248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9" name="Line 162"/>
              <p:cNvSpPr>
                <a:spLocks noChangeShapeType="1"/>
              </p:cNvSpPr>
              <p:nvPr/>
            </p:nvSpPr>
            <p:spPr bwMode="auto">
              <a:xfrm flipV="1">
                <a:off x="3695" y="2163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0" name="Line 163"/>
              <p:cNvSpPr>
                <a:spLocks noChangeShapeType="1"/>
              </p:cNvSpPr>
              <p:nvPr/>
            </p:nvSpPr>
            <p:spPr bwMode="auto">
              <a:xfrm flipV="1">
                <a:off x="4001" y="2540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31" name="Text Box 164"/>
              <p:cNvSpPr txBox="1">
                <a:spLocks noChangeArrowheads="1"/>
              </p:cNvSpPr>
              <p:nvPr/>
            </p:nvSpPr>
            <p:spPr bwMode="auto">
              <a:xfrm>
                <a:off x="3736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0718" name="Group 213"/>
            <p:cNvGrpSpPr/>
            <p:nvPr/>
          </p:nvGrpSpPr>
          <p:grpSpPr bwMode="auto">
            <a:xfrm>
              <a:off x="4246" y="2168"/>
              <a:ext cx="346" cy="616"/>
              <a:chOff x="4246" y="2168"/>
              <a:chExt cx="346" cy="616"/>
            </a:xfrm>
          </p:grpSpPr>
          <p:sp>
            <p:nvSpPr>
              <p:cNvPr id="70724" name="Freeform 166"/>
              <p:cNvSpPr/>
              <p:nvPr/>
            </p:nvSpPr>
            <p:spPr bwMode="auto">
              <a:xfrm>
                <a:off x="4326" y="2250"/>
                <a:ext cx="4" cy="497"/>
              </a:xfrm>
              <a:custGeom>
                <a:avLst/>
                <a:gdLst>
                  <a:gd name="T0" fmla="*/ 4 w 4"/>
                  <a:gd name="T1" fmla="*/ 497 h 497"/>
                  <a:gd name="T2" fmla="*/ 0 w 4"/>
                  <a:gd name="T3" fmla="*/ 0 h 4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97">
                    <a:moveTo>
                      <a:pt x="4" y="497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5" name="Line 167"/>
              <p:cNvSpPr>
                <a:spLocks noChangeShapeType="1"/>
              </p:cNvSpPr>
              <p:nvPr/>
            </p:nvSpPr>
            <p:spPr bwMode="auto">
              <a:xfrm flipV="1">
                <a:off x="4246" y="2168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6" name="Line 168"/>
              <p:cNvSpPr>
                <a:spLocks noChangeShapeType="1"/>
              </p:cNvSpPr>
              <p:nvPr/>
            </p:nvSpPr>
            <p:spPr bwMode="auto">
              <a:xfrm flipV="1">
                <a:off x="4552" y="2545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7" name="Text Box 169"/>
              <p:cNvSpPr txBox="1">
                <a:spLocks noChangeArrowheads="1"/>
              </p:cNvSpPr>
              <p:nvPr/>
            </p:nvSpPr>
            <p:spPr bwMode="auto">
              <a:xfrm>
                <a:off x="4284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0719" name="Group 212"/>
            <p:cNvGrpSpPr/>
            <p:nvPr/>
          </p:nvGrpSpPr>
          <p:grpSpPr bwMode="auto">
            <a:xfrm>
              <a:off x="4845" y="2175"/>
              <a:ext cx="353" cy="609"/>
              <a:chOff x="4845" y="2175"/>
              <a:chExt cx="353" cy="609"/>
            </a:xfrm>
          </p:grpSpPr>
          <p:sp>
            <p:nvSpPr>
              <p:cNvPr id="70720" name="Line 171"/>
              <p:cNvSpPr>
                <a:spLocks noChangeShapeType="1"/>
              </p:cNvSpPr>
              <p:nvPr/>
            </p:nvSpPr>
            <p:spPr bwMode="auto">
              <a:xfrm flipV="1">
                <a:off x="4933" y="2258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1" name="Freeform 172"/>
              <p:cNvSpPr/>
              <p:nvPr/>
            </p:nvSpPr>
            <p:spPr bwMode="auto">
              <a:xfrm>
                <a:off x="4845" y="2175"/>
                <a:ext cx="4" cy="570"/>
              </a:xfrm>
              <a:custGeom>
                <a:avLst/>
                <a:gdLst>
                  <a:gd name="T0" fmla="*/ 4 w 4"/>
                  <a:gd name="T1" fmla="*/ 570 h 570"/>
                  <a:gd name="T2" fmla="*/ 0 w 4"/>
                  <a:gd name="T3" fmla="*/ 0 h 5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0">
                    <a:moveTo>
                      <a:pt x="4" y="57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2" name="Line 173"/>
              <p:cNvSpPr>
                <a:spLocks noChangeShapeType="1"/>
              </p:cNvSpPr>
              <p:nvPr/>
            </p:nvSpPr>
            <p:spPr bwMode="auto">
              <a:xfrm flipV="1">
                <a:off x="5155" y="2550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23" name="Text Box 174"/>
              <p:cNvSpPr txBox="1">
                <a:spLocks noChangeArrowheads="1"/>
              </p:cNvSpPr>
              <p:nvPr/>
            </p:nvSpPr>
            <p:spPr bwMode="auto">
              <a:xfrm>
                <a:off x="4890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98896" name="Group 176"/>
          <p:cNvGrpSpPr/>
          <p:nvPr/>
        </p:nvGrpSpPr>
        <p:grpSpPr bwMode="auto">
          <a:xfrm>
            <a:off x="2933701" y="4490567"/>
            <a:ext cx="6664325" cy="19050"/>
            <a:chOff x="1128" y="2947"/>
            <a:chExt cx="4198" cy="12"/>
          </a:xfrm>
        </p:grpSpPr>
        <p:grpSp>
          <p:nvGrpSpPr>
            <p:cNvPr id="70699" name="Group 177"/>
            <p:cNvGrpSpPr/>
            <p:nvPr/>
          </p:nvGrpSpPr>
          <p:grpSpPr bwMode="auto">
            <a:xfrm>
              <a:off x="1128" y="2947"/>
              <a:ext cx="4198" cy="12"/>
              <a:chOff x="1128" y="2947"/>
              <a:chExt cx="4198" cy="12"/>
            </a:xfrm>
          </p:grpSpPr>
          <p:grpSp>
            <p:nvGrpSpPr>
              <p:cNvPr id="70701" name="Group 178"/>
              <p:cNvGrpSpPr/>
              <p:nvPr/>
            </p:nvGrpSpPr>
            <p:grpSpPr bwMode="auto">
              <a:xfrm>
                <a:off x="2858" y="2947"/>
                <a:ext cx="1318" cy="12"/>
                <a:chOff x="2858" y="2947"/>
                <a:chExt cx="1318" cy="12"/>
              </a:xfrm>
            </p:grpSpPr>
            <p:sp>
              <p:nvSpPr>
                <p:cNvPr id="70709" name="Line 179"/>
                <p:cNvSpPr>
                  <a:spLocks noChangeShapeType="1"/>
                </p:cNvSpPr>
                <p:nvPr/>
              </p:nvSpPr>
              <p:spPr bwMode="auto">
                <a:xfrm>
                  <a:off x="2858" y="2958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710" name="Line 180"/>
                <p:cNvSpPr>
                  <a:spLocks noChangeShapeType="1"/>
                </p:cNvSpPr>
                <p:nvPr/>
              </p:nvSpPr>
              <p:spPr bwMode="auto">
                <a:xfrm>
                  <a:off x="3477" y="2947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711" name="Line 181"/>
                <p:cNvSpPr>
                  <a:spLocks noChangeShapeType="1"/>
                </p:cNvSpPr>
                <p:nvPr/>
              </p:nvSpPr>
              <p:spPr bwMode="auto">
                <a:xfrm>
                  <a:off x="4072" y="2947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0702" name="Group 182"/>
              <p:cNvGrpSpPr/>
              <p:nvPr/>
            </p:nvGrpSpPr>
            <p:grpSpPr bwMode="auto">
              <a:xfrm>
                <a:off x="1128" y="2947"/>
                <a:ext cx="4198" cy="12"/>
                <a:chOff x="1128" y="2947"/>
                <a:chExt cx="4198" cy="12"/>
              </a:xfrm>
            </p:grpSpPr>
            <p:sp>
              <p:nvSpPr>
                <p:cNvPr id="70703" name="Line 183"/>
                <p:cNvSpPr>
                  <a:spLocks noChangeShapeType="1"/>
                </p:cNvSpPr>
                <p:nvPr/>
              </p:nvSpPr>
              <p:spPr bwMode="auto">
                <a:xfrm>
                  <a:off x="2278" y="2958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70704" name="Group 184"/>
                <p:cNvGrpSpPr/>
                <p:nvPr/>
              </p:nvGrpSpPr>
              <p:grpSpPr bwMode="auto">
                <a:xfrm>
                  <a:off x="1128" y="2947"/>
                  <a:ext cx="4198" cy="12"/>
                  <a:chOff x="1128" y="2947"/>
                  <a:chExt cx="4198" cy="12"/>
                </a:xfrm>
              </p:grpSpPr>
              <p:sp>
                <p:nvSpPr>
                  <p:cNvPr id="70705" name="Line 185"/>
                  <p:cNvSpPr>
                    <a:spLocks noChangeShapeType="1"/>
                  </p:cNvSpPr>
                  <p:nvPr/>
                </p:nvSpPr>
                <p:spPr bwMode="auto">
                  <a:xfrm>
                    <a:off x="1708" y="2958"/>
                    <a:ext cx="104" cy="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70706" name="Group 186"/>
                  <p:cNvGrpSpPr/>
                  <p:nvPr/>
                </p:nvGrpSpPr>
                <p:grpSpPr bwMode="auto">
                  <a:xfrm>
                    <a:off x="1128" y="2947"/>
                    <a:ext cx="4198" cy="12"/>
                    <a:chOff x="1128" y="2947"/>
                    <a:chExt cx="4198" cy="12"/>
                  </a:xfrm>
                </p:grpSpPr>
                <p:sp>
                  <p:nvSpPr>
                    <p:cNvPr id="70707" name="Line 1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28" y="2958"/>
                      <a:ext cx="104" cy="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70708" name="Line 1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22" y="2947"/>
                      <a:ext cx="104" cy="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  <p:sp>
          <p:nvSpPr>
            <p:cNvPr id="70700" name="Line 189"/>
            <p:cNvSpPr>
              <a:spLocks noChangeShapeType="1"/>
            </p:cNvSpPr>
            <p:nvPr/>
          </p:nvSpPr>
          <p:spPr bwMode="auto">
            <a:xfrm>
              <a:off x="4642" y="2947"/>
              <a:ext cx="10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98910" name="Group 190"/>
          <p:cNvGrpSpPr/>
          <p:nvPr/>
        </p:nvGrpSpPr>
        <p:grpSpPr bwMode="auto">
          <a:xfrm>
            <a:off x="2192338" y="4171479"/>
            <a:ext cx="7224712" cy="407988"/>
            <a:chOff x="661" y="2746"/>
            <a:chExt cx="4551" cy="257"/>
          </a:xfrm>
        </p:grpSpPr>
        <p:grpSp>
          <p:nvGrpSpPr>
            <p:cNvPr id="70681" name="Group 191"/>
            <p:cNvGrpSpPr/>
            <p:nvPr/>
          </p:nvGrpSpPr>
          <p:grpSpPr bwMode="auto">
            <a:xfrm>
              <a:off x="661" y="2746"/>
              <a:ext cx="4551" cy="257"/>
              <a:chOff x="661" y="2746"/>
              <a:chExt cx="4551" cy="257"/>
            </a:xfrm>
          </p:grpSpPr>
          <p:sp>
            <p:nvSpPr>
              <p:cNvPr id="70683" name="Rectangle 192"/>
              <p:cNvSpPr>
                <a:spLocks noChangeArrowheads="1"/>
              </p:cNvSpPr>
              <p:nvPr/>
            </p:nvSpPr>
            <p:spPr bwMode="auto">
              <a:xfrm>
                <a:off x="690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70684" name="Group 193"/>
              <p:cNvGrpSpPr/>
              <p:nvPr/>
            </p:nvGrpSpPr>
            <p:grpSpPr bwMode="auto">
              <a:xfrm>
                <a:off x="661" y="2746"/>
                <a:ext cx="4551" cy="257"/>
                <a:chOff x="661" y="2746"/>
                <a:chExt cx="4551" cy="257"/>
              </a:xfrm>
            </p:grpSpPr>
            <p:sp>
              <p:nvSpPr>
                <p:cNvPr id="70691" name="Rectangle 194"/>
                <p:cNvSpPr>
                  <a:spLocks noChangeArrowheads="1"/>
                </p:cNvSpPr>
                <p:nvPr/>
              </p:nvSpPr>
              <p:spPr bwMode="auto">
                <a:xfrm>
                  <a:off x="661" y="2746"/>
                  <a:ext cx="463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2" name="Rectangle 195"/>
                <p:cNvSpPr>
                  <a:spLocks noChangeArrowheads="1"/>
                </p:cNvSpPr>
                <p:nvPr/>
              </p:nvSpPr>
              <p:spPr bwMode="auto">
                <a:xfrm>
                  <a:off x="1853" y="2746"/>
                  <a:ext cx="421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3" name="Rectangle 196"/>
                <p:cNvSpPr>
                  <a:spLocks noChangeArrowheads="1"/>
                </p:cNvSpPr>
                <p:nvPr/>
              </p:nvSpPr>
              <p:spPr bwMode="auto">
                <a:xfrm>
                  <a:off x="2427" y="2746"/>
                  <a:ext cx="421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4" name="Rectangle 197"/>
                <p:cNvSpPr>
                  <a:spLocks noChangeArrowheads="1"/>
                </p:cNvSpPr>
                <p:nvPr/>
              </p:nvSpPr>
              <p:spPr bwMode="auto">
                <a:xfrm>
                  <a:off x="3043" y="2746"/>
                  <a:ext cx="421" cy="257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5" name="Rectangle 198"/>
                <p:cNvSpPr>
                  <a:spLocks noChangeArrowheads="1"/>
                </p:cNvSpPr>
                <p:nvPr/>
              </p:nvSpPr>
              <p:spPr bwMode="auto">
                <a:xfrm>
                  <a:off x="3640" y="2746"/>
                  <a:ext cx="422" cy="254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6" name="Rectangle 199"/>
                <p:cNvSpPr>
                  <a:spLocks noChangeArrowheads="1"/>
                </p:cNvSpPr>
                <p:nvPr/>
              </p:nvSpPr>
              <p:spPr bwMode="auto">
                <a:xfrm>
                  <a:off x="4214" y="2746"/>
                  <a:ext cx="421" cy="257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7" name="Rectangle 200"/>
                <p:cNvSpPr>
                  <a:spLocks noChangeArrowheads="1"/>
                </p:cNvSpPr>
                <p:nvPr/>
              </p:nvSpPr>
              <p:spPr bwMode="auto">
                <a:xfrm>
                  <a:off x="4791" y="2746"/>
                  <a:ext cx="421" cy="254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  <p:sp>
              <p:nvSpPr>
                <p:cNvPr id="70698" name="Rectangle 201"/>
                <p:cNvSpPr>
                  <a:spLocks noChangeArrowheads="1"/>
                </p:cNvSpPr>
                <p:nvPr/>
              </p:nvSpPr>
              <p:spPr bwMode="auto">
                <a:xfrm>
                  <a:off x="1277" y="2746"/>
                  <a:ext cx="421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tx1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</a:pPr>
                  <a:endParaRPr lang="zh-CN" altLang="en-US"/>
                </a:p>
              </p:txBody>
            </p:sp>
          </p:grpSp>
          <p:sp>
            <p:nvSpPr>
              <p:cNvPr id="70685" name="Rectangle 202"/>
              <p:cNvSpPr>
                <a:spLocks noChangeArrowheads="1"/>
              </p:cNvSpPr>
              <p:nvPr/>
            </p:nvSpPr>
            <p:spPr bwMode="auto">
              <a:xfrm>
                <a:off x="1858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686" name="Rectangle 203"/>
              <p:cNvSpPr>
                <a:spLocks noChangeArrowheads="1"/>
              </p:cNvSpPr>
              <p:nvPr/>
            </p:nvSpPr>
            <p:spPr bwMode="auto">
              <a:xfrm>
                <a:off x="2432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687" name="Rectangle 204"/>
              <p:cNvSpPr>
                <a:spLocks noChangeArrowheads="1"/>
              </p:cNvSpPr>
              <p:nvPr/>
            </p:nvSpPr>
            <p:spPr bwMode="auto">
              <a:xfrm>
                <a:off x="3051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688" name="Rectangle 205"/>
              <p:cNvSpPr>
                <a:spLocks noChangeArrowheads="1"/>
              </p:cNvSpPr>
              <p:nvPr/>
            </p:nvSpPr>
            <p:spPr bwMode="auto">
              <a:xfrm>
                <a:off x="3645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689" name="Rectangle 206"/>
              <p:cNvSpPr>
                <a:spLocks noChangeArrowheads="1"/>
              </p:cNvSpPr>
              <p:nvPr/>
            </p:nvSpPr>
            <p:spPr bwMode="auto">
              <a:xfrm>
                <a:off x="4221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690" name="Rectangle 207"/>
              <p:cNvSpPr>
                <a:spLocks noChangeArrowheads="1"/>
              </p:cNvSpPr>
              <p:nvPr/>
            </p:nvSpPr>
            <p:spPr bwMode="auto">
              <a:xfrm>
                <a:off x="4797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  <a:endPara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70682" name="Rectangle 208"/>
            <p:cNvSpPr>
              <a:spLocks noChangeArrowheads="1"/>
            </p:cNvSpPr>
            <p:nvPr/>
          </p:nvSpPr>
          <p:spPr bwMode="auto">
            <a:xfrm>
              <a:off x="1278" y="2794"/>
              <a:ext cx="4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K</a:t>
              </a: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×</a:t>
              </a: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  <a:endParaRPr lang="en-US" altLang="zh-CN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798929" name="Text Box 209"/>
          <p:cNvSpPr txBox="1">
            <a:spLocks noChangeArrowheads="1"/>
          </p:cNvSpPr>
          <p:nvPr/>
        </p:nvSpPr>
        <p:spPr bwMode="auto">
          <a:xfrm>
            <a:off x="2344738" y="807567"/>
            <a:ext cx="12827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？片</a:t>
            </a:r>
            <a:endParaRPr lang="zh-CN" altLang="en-US" sz="2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98930" name="Text Box 210"/>
          <p:cNvSpPr txBox="1">
            <a:spLocks noChangeArrowheads="1"/>
          </p:cNvSpPr>
          <p:nvPr/>
        </p:nvSpPr>
        <p:spPr bwMode="auto">
          <a:xfrm>
            <a:off x="2474913" y="821854"/>
            <a:ext cx="792162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solidFill>
                  <a:schemeClr val="folHlink"/>
                </a:solidFill>
                <a:latin typeface="Times New Roman" panose="02020603050405020304" pitchFamily="18" charset="0"/>
              </a:rPr>
              <a:t>8</a:t>
            </a: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片</a:t>
            </a:r>
            <a:endParaRPr lang="zh-CN" altLang="en-US" sz="2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8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892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9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8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8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8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798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798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798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798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2" dur="500"/>
                                        <p:tgtEl>
                                          <p:spTgt spid="798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7" dur="500"/>
                                        <p:tgtEl>
                                          <p:spTgt spid="798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798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5" dur="500"/>
                                        <p:tgtEl>
                                          <p:spTgt spid="798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" dur="500"/>
                                        <p:tgtEl>
                                          <p:spTgt spid="798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4" dur="500"/>
                                        <p:tgtEl>
                                          <p:spTgt spid="798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9" dur="500"/>
                                        <p:tgtEl>
                                          <p:spTgt spid="798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4" dur="500"/>
                                        <p:tgtEl>
                                          <p:spTgt spid="798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798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4" dur="500"/>
                                        <p:tgtEl>
                                          <p:spTgt spid="798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8732" grpId="0" autoUpdateAnimBg="0"/>
      <p:bldP spid="798929" grpId="0"/>
      <p:bldP spid="798930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ext Box 2"/>
          <p:cNvSpPr txBox="1">
            <a:spLocks noChangeArrowheads="1"/>
          </p:cNvSpPr>
          <p:nvPr/>
        </p:nvSpPr>
        <p:spPr bwMode="auto">
          <a:xfrm>
            <a:off x="1350443" y="320650"/>
            <a:ext cx="52244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600">
                <a:latin typeface="Times New Roman" panose="02020603050405020304" pitchFamily="18" charset="0"/>
              </a:rPr>
              <a:t>2. 存储器与 </a:t>
            </a:r>
            <a:r>
              <a:rPr lang="en-US" altLang="zh-CN" sz="3600">
                <a:latin typeface="Times New Roman" panose="02020603050405020304" pitchFamily="18" charset="0"/>
              </a:rPr>
              <a:t>CPU </a:t>
            </a:r>
            <a:r>
              <a:rPr lang="zh-CN" altLang="en-US" sz="3600">
                <a:latin typeface="Times New Roman" panose="02020603050405020304" pitchFamily="18" charset="0"/>
              </a:rPr>
              <a:t>的连接</a:t>
            </a:r>
            <a:r>
              <a:rPr lang="en-US" altLang="zh-CN" sz="3200">
                <a:latin typeface="Times New Roman" panose="02020603050405020304" pitchFamily="18" charset="0"/>
              </a:rPr>
              <a:t>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60099" name="Text Box 3"/>
          <p:cNvSpPr txBox="1">
            <a:spLocks noChangeArrowheads="1"/>
          </p:cNvSpPr>
          <p:nvPr/>
        </p:nvSpPr>
        <p:spPr bwMode="auto">
          <a:xfrm>
            <a:off x="2423592" y="1144564"/>
            <a:ext cx="5867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地址线的连接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60100" name="Text Box 4"/>
          <p:cNvSpPr txBox="1">
            <a:spLocks noChangeArrowheads="1"/>
          </p:cNvSpPr>
          <p:nvPr/>
        </p:nvSpPr>
        <p:spPr bwMode="auto">
          <a:xfrm>
            <a:off x="2423592" y="1960539"/>
            <a:ext cx="5867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(2) 数据线的连接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60101" name="Text Box 5"/>
          <p:cNvSpPr txBox="1">
            <a:spLocks noChangeArrowheads="1"/>
          </p:cNvSpPr>
          <p:nvPr/>
        </p:nvSpPr>
        <p:spPr bwMode="auto">
          <a:xfrm>
            <a:off x="2423592" y="2778100"/>
            <a:ext cx="5867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(3) 读/写命令线的连接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60102" name="Text Box 6"/>
          <p:cNvSpPr txBox="1">
            <a:spLocks noChangeArrowheads="1"/>
          </p:cNvSpPr>
          <p:nvPr/>
        </p:nvSpPr>
        <p:spPr bwMode="auto">
          <a:xfrm>
            <a:off x="2423592" y="3594075"/>
            <a:ext cx="5867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(4) 片选线的连接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60103" name="Text Box 7"/>
          <p:cNvSpPr txBox="1">
            <a:spLocks noChangeArrowheads="1"/>
          </p:cNvSpPr>
          <p:nvPr/>
        </p:nvSpPr>
        <p:spPr bwMode="auto">
          <a:xfrm>
            <a:off x="2423592" y="4411639"/>
            <a:ext cx="5867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(5) 合理选择存储芯片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60104" name="Text Box 8"/>
          <p:cNvSpPr txBox="1">
            <a:spLocks noChangeArrowheads="1"/>
          </p:cNvSpPr>
          <p:nvPr/>
        </p:nvSpPr>
        <p:spPr bwMode="auto">
          <a:xfrm>
            <a:off x="2423592" y="5229200"/>
            <a:ext cx="5867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(6) 其他       时序、负载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0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0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0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0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0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0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099" grpId="0" autoUpdateAnimBg="0"/>
      <p:bldP spid="260100" grpId="0" autoUpdateAnimBg="0"/>
      <p:bldP spid="260101" grpId="0" autoUpdateAnimBg="0"/>
      <p:bldP spid="260102" grpId="0" autoUpdateAnimBg="0"/>
      <p:bldP spid="260103" grpId="0" autoUpdateAnimBg="0"/>
      <p:bldP spid="260104" grpId="0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204664" y="132510"/>
            <a:ext cx="4343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 dirty="0"/>
              <a:t>例</a:t>
            </a:r>
            <a:r>
              <a:rPr lang="zh-CN" altLang="en-US" sz="3600" dirty="0">
                <a:latin typeface="Times New Roman" panose="02020603050405020304" pitchFamily="18" charset="0"/>
              </a:rPr>
              <a:t>4.1</a:t>
            </a:r>
            <a:r>
              <a:rPr lang="zh-CN" altLang="en-US" sz="3200" dirty="0">
                <a:latin typeface="Times New Roman" panose="02020603050405020304" pitchFamily="18" charset="0"/>
              </a:rPr>
              <a:t>   </a:t>
            </a:r>
            <a:r>
              <a:rPr lang="zh-CN" altLang="en-US" sz="3200" dirty="0"/>
              <a:t>解: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271464" y="1000210"/>
            <a:ext cx="7924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写出对应的二进制地址码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1271464" y="5800810"/>
            <a:ext cx="7924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(2) 确定芯片的数量及类型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5" name="Group 5"/>
          <p:cNvGrpSpPr/>
          <p:nvPr/>
        </p:nvGrpSpPr>
        <p:grpSpPr bwMode="auto">
          <a:xfrm>
            <a:off x="1195264" y="2067010"/>
            <a:ext cx="6858000" cy="579438"/>
            <a:chOff x="384" y="1296"/>
            <a:chExt cx="4320" cy="365"/>
          </a:xfrm>
        </p:grpSpPr>
        <p:sp>
          <p:nvSpPr>
            <p:cNvPr id="6" name="Text Box 6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0  1  1  0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" name="Text Box 8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119064" y="1686010"/>
            <a:ext cx="784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15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14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13    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11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10</a:t>
            </a:r>
            <a:r>
              <a:rPr lang="en-US" altLang="zh-CN" sz="2400">
                <a:latin typeface="Times New Roman" panose="02020603050405020304" pitchFamily="18" charset="0"/>
              </a:rPr>
              <a:t>    …    A</a:t>
            </a:r>
            <a:r>
              <a:rPr lang="en-US" altLang="zh-CN" sz="2400" baseline="-25000">
                <a:latin typeface="Times New Roman" panose="02020603050405020304" pitchFamily="18" charset="0"/>
              </a:rPr>
              <a:t>7     </a:t>
            </a:r>
            <a:r>
              <a:rPr lang="en-US" altLang="zh-CN" sz="2400">
                <a:latin typeface="Times New Roman" panose="02020603050405020304" pitchFamily="18" charset="0"/>
              </a:rPr>
              <a:t>…  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4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3      </a:t>
            </a:r>
            <a:r>
              <a:rPr lang="en-US" altLang="zh-CN" sz="2400">
                <a:latin typeface="Times New Roman" panose="02020603050405020304" pitchFamily="18" charset="0"/>
              </a:rPr>
              <a:t>…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 </a:t>
            </a:r>
            <a:r>
              <a:rPr lang="en-US" altLang="zh-CN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0</a:t>
            </a:r>
            <a:endParaRPr lang="en-US" altLang="zh-CN" sz="2400" baseline="-25000">
              <a:latin typeface="Times New Roman" panose="02020603050405020304" pitchFamily="18" charset="0"/>
            </a:endParaRPr>
          </a:p>
        </p:txBody>
      </p:sp>
      <p:grpSp>
        <p:nvGrpSpPr>
          <p:cNvPr id="11" name="Group 11"/>
          <p:cNvGrpSpPr/>
          <p:nvPr/>
        </p:nvGrpSpPr>
        <p:grpSpPr bwMode="auto">
          <a:xfrm>
            <a:off x="1195264" y="2600410"/>
            <a:ext cx="6858000" cy="1112838"/>
            <a:chOff x="288" y="1632"/>
            <a:chExt cx="4320" cy="701"/>
          </a:xfrm>
        </p:grpSpPr>
        <p:sp>
          <p:nvSpPr>
            <p:cNvPr id="12" name="Text Box 12"/>
            <p:cNvSpPr txBox="1">
              <a:spLocks noChangeArrowheads="1"/>
            </p:cNvSpPr>
            <p:nvPr/>
          </p:nvSpPr>
          <p:spPr bwMode="auto">
            <a:xfrm>
              <a:off x="297" y="1632"/>
              <a:ext cx="423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13" name="Group 13"/>
            <p:cNvGrpSpPr/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14" name="Text Box 14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Text Box 15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Text Box 16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Text Box 17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8" name="Group 18"/>
          <p:cNvGrpSpPr/>
          <p:nvPr/>
        </p:nvGrpSpPr>
        <p:grpSpPr bwMode="auto">
          <a:xfrm>
            <a:off x="1195264" y="3773573"/>
            <a:ext cx="6858000" cy="579437"/>
            <a:chOff x="384" y="1296"/>
            <a:chExt cx="4320" cy="365"/>
          </a:xfrm>
        </p:grpSpPr>
        <p:sp>
          <p:nvSpPr>
            <p:cNvPr id="19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0  1  1  0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0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1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22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" name="Group 23"/>
          <p:cNvGrpSpPr/>
          <p:nvPr/>
        </p:nvGrpSpPr>
        <p:grpSpPr bwMode="auto">
          <a:xfrm>
            <a:off x="1195264" y="4276810"/>
            <a:ext cx="6858000" cy="1189038"/>
            <a:chOff x="288" y="2688"/>
            <a:chExt cx="4320" cy="749"/>
          </a:xfrm>
        </p:grpSpPr>
        <p:sp>
          <p:nvSpPr>
            <p:cNvPr id="24" name="Text Box 24"/>
            <p:cNvSpPr txBox="1">
              <a:spLocks noChangeArrowheads="1"/>
            </p:cNvSpPr>
            <p:nvPr/>
          </p:nvSpPr>
          <p:spPr bwMode="auto">
            <a:xfrm>
              <a:off x="288" y="2688"/>
              <a:ext cx="423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25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26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1  0  1  1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0" name="Group 30"/>
          <p:cNvGrpSpPr/>
          <p:nvPr/>
        </p:nvGrpSpPr>
        <p:grpSpPr bwMode="auto">
          <a:xfrm>
            <a:off x="7900864" y="2295610"/>
            <a:ext cx="2514600" cy="1219200"/>
            <a:chOff x="4512" y="1440"/>
            <a:chExt cx="1584" cy="768"/>
          </a:xfrm>
        </p:grpSpPr>
        <p:sp>
          <p:nvSpPr>
            <p:cNvPr id="31" name="AutoShape 31"/>
            <p:cNvSpPr/>
            <p:nvPr/>
          </p:nvSpPr>
          <p:spPr bwMode="auto">
            <a:xfrm>
              <a:off x="4512" y="1440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32" name="Text Box 32"/>
            <p:cNvSpPr txBox="1">
              <a:spLocks noChangeArrowheads="1"/>
            </p:cNvSpPr>
            <p:nvPr/>
          </p:nvSpPr>
          <p:spPr bwMode="auto">
            <a:xfrm>
              <a:off x="4752" y="1795"/>
              <a:ext cx="13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2</a:t>
              </a:r>
              <a:r>
                <a:rPr lang="en-US" altLang="zh-CN" sz="2800">
                  <a:latin typeface="Times New Roman" panose="02020603050405020304" pitchFamily="18" charset="0"/>
                </a:rPr>
                <a:t>K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3" name="Group 33"/>
          <p:cNvGrpSpPr/>
          <p:nvPr/>
        </p:nvGrpSpPr>
        <p:grpSpPr bwMode="auto">
          <a:xfrm>
            <a:off x="7900864" y="4048210"/>
            <a:ext cx="2514600" cy="1219200"/>
            <a:chOff x="4512" y="2544"/>
            <a:chExt cx="1584" cy="768"/>
          </a:xfrm>
        </p:grpSpPr>
        <p:sp>
          <p:nvSpPr>
            <p:cNvPr id="34" name="Text Box 34"/>
            <p:cNvSpPr txBox="1">
              <a:spLocks noChangeArrowheads="1"/>
            </p:cNvSpPr>
            <p:nvPr/>
          </p:nvSpPr>
          <p:spPr bwMode="auto">
            <a:xfrm>
              <a:off x="4752" y="2544"/>
              <a:ext cx="13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1K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35" name="AutoShape 35"/>
            <p:cNvSpPr/>
            <p:nvPr/>
          </p:nvSpPr>
          <p:spPr bwMode="auto">
            <a:xfrm>
              <a:off x="4512" y="2544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36" name="Text Box 36"/>
          <p:cNvSpPr txBox="1">
            <a:spLocks noChangeArrowheads="1"/>
          </p:cNvSpPr>
          <p:nvPr/>
        </p:nvSpPr>
        <p:spPr bwMode="auto">
          <a:xfrm>
            <a:off x="8342189" y="6021473"/>
            <a:ext cx="15398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37" name="Group 37"/>
          <p:cNvGrpSpPr/>
          <p:nvPr/>
        </p:nvGrpSpPr>
        <p:grpSpPr bwMode="auto">
          <a:xfrm>
            <a:off x="7283327" y="4640348"/>
            <a:ext cx="2497137" cy="1541462"/>
            <a:chOff x="4123" y="2917"/>
            <a:chExt cx="1573" cy="971"/>
          </a:xfrm>
        </p:grpSpPr>
        <p:sp>
          <p:nvSpPr>
            <p:cNvPr id="38" name="AutoShape 38"/>
            <p:cNvSpPr>
              <a:spLocks noChangeArrowheads="1"/>
            </p:cNvSpPr>
            <p:nvPr/>
          </p:nvSpPr>
          <p:spPr bwMode="auto">
            <a:xfrm>
              <a:off x="4720" y="2917"/>
              <a:ext cx="976" cy="349"/>
            </a:xfrm>
            <a:prstGeom prst="wedgeRoundRectCallout">
              <a:avLst>
                <a:gd name="adj1" fmla="val -43750"/>
                <a:gd name="adj2" fmla="val 70000"/>
                <a:gd name="adj3" fmla="val 16667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RAM</a:t>
              </a:r>
              <a:endPara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9" name="Group 39"/>
            <p:cNvGrpSpPr/>
            <p:nvPr/>
          </p:nvGrpSpPr>
          <p:grpSpPr bwMode="auto">
            <a:xfrm>
              <a:off x="4123" y="3511"/>
              <a:ext cx="1546" cy="377"/>
              <a:chOff x="4123" y="3511"/>
              <a:chExt cx="1546" cy="377"/>
            </a:xfrm>
          </p:grpSpPr>
          <p:sp>
            <p:nvSpPr>
              <p:cNvPr id="40" name="AutoShape 40"/>
              <p:cNvSpPr>
                <a:spLocks noChangeArrowheads="1"/>
              </p:cNvSpPr>
              <p:nvPr/>
            </p:nvSpPr>
            <p:spPr bwMode="auto">
              <a:xfrm>
                <a:off x="4176" y="3552"/>
                <a:ext cx="1392" cy="336"/>
              </a:xfrm>
              <a:prstGeom prst="wedgeRoundRectCallout">
                <a:avLst>
                  <a:gd name="adj1" fmla="val -505"/>
                  <a:gd name="adj2" fmla="val -157144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" name="AutoShape 41"/>
              <p:cNvSpPr>
                <a:spLocks noChangeArrowheads="1"/>
              </p:cNvSpPr>
              <p:nvPr/>
            </p:nvSpPr>
            <p:spPr bwMode="auto">
              <a:xfrm>
                <a:off x="4123" y="3511"/>
                <a:ext cx="1546" cy="328"/>
              </a:xfrm>
              <a:prstGeom prst="wedgeRoundRectCallout">
                <a:avLst>
                  <a:gd name="adj1" fmla="val -43750"/>
                  <a:gd name="adj2" fmla="val 70000"/>
                  <a:gd name="adj3" fmla="val 16667"/>
                </a:avLst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2片</a:t>
                </a:r>
                <a:r>
                  <a:rPr lang="en-US" altLang="zh-CN" sz="2600">
                    <a:latin typeface="Times New Roman" panose="02020603050405020304" pitchFamily="18" charset="0"/>
                  </a:rPr>
                  <a:t>1K</a:t>
                </a:r>
                <a:r>
                  <a:rPr lang="en-US" altLang="zh-CN" sz="2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×4</a:t>
                </a:r>
                <a:r>
                  <a:rPr lang="zh-CN" altLang="en-US" sz="2600">
                    <a:latin typeface="Times New Roman" panose="02020603050405020304" pitchFamily="18" charset="0"/>
                  </a:rPr>
                  <a:t>位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42" name="Group 42"/>
          <p:cNvGrpSpPr/>
          <p:nvPr/>
        </p:nvGrpSpPr>
        <p:grpSpPr bwMode="auto">
          <a:xfrm>
            <a:off x="7748464" y="1305010"/>
            <a:ext cx="2057400" cy="1585913"/>
            <a:chOff x="4416" y="816"/>
            <a:chExt cx="1296" cy="999"/>
          </a:xfrm>
        </p:grpSpPr>
        <p:sp>
          <p:nvSpPr>
            <p:cNvPr id="43" name="Text Box 43"/>
            <p:cNvSpPr txBox="1">
              <a:spLocks noChangeArrowheads="1"/>
            </p:cNvSpPr>
            <p:nvPr/>
          </p:nvSpPr>
          <p:spPr bwMode="auto">
            <a:xfrm>
              <a:off x="4752" y="1488"/>
              <a:ext cx="91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ROM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4" name="Group 44"/>
            <p:cNvGrpSpPr/>
            <p:nvPr/>
          </p:nvGrpSpPr>
          <p:grpSpPr bwMode="auto">
            <a:xfrm>
              <a:off x="4416" y="816"/>
              <a:ext cx="1296" cy="384"/>
              <a:chOff x="4416" y="816"/>
              <a:chExt cx="1296" cy="384"/>
            </a:xfrm>
          </p:grpSpPr>
          <p:sp>
            <p:nvSpPr>
              <p:cNvPr id="45" name="AutoShape 45"/>
              <p:cNvSpPr>
                <a:spLocks noChangeArrowheads="1"/>
              </p:cNvSpPr>
              <p:nvPr/>
            </p:nvSpPr>
            <p:spPr bwMode="auto">
              <a:xfrm>
                <a:off x="4416" y="816"/>
                <a:ext cx="1296" cy="384"/>
              </a:xfrm>
              <a:prstGeom prst="wedgeRoundRectCallout">
                <a:avLst>
                  <a:gd name="adj1" fmla="val -3319"/>
                  <a:gd name="adj2" fmla="val 141926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Text Box 46"/>
              <p:cNvSpPr txBox="1">
                <a:spLocks noChangeArrowheads="1"/>
              </p:cNvSpPr>
              <p:nvPr/>
            </p:nvSpPr>
            <p:spPr bwMode="auto">
              <a:xfrm>
                <a:off x="4416" y="816"/>
                <a:ext cx="1296" cy="3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1片 2</a:t>
                </a:r>
                <a:r>
                  <a:rPr lang="en-US" altLang="zh-CN" sz="2600"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2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×8</a:t>
                </a:r>
                <a:r>
                  <a:rPr lang="zh-CN" altLang="en-US" sz="2600">
                    <a:latin typeface="Times New Roman" panose="02020603050405020304" pitchFamily="18" charset="0"/>
                  </a:rPr>
                  <a:t>位</a:t>
                </a:r>
                <a:endParaRPr lang="zh-CN" altLang="en-US" sz="2600">
                  <a:latin typeface="Times New Roman" panose="02020603050405020304" pitchFamily="18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utoUpdateAnimBg="0"/>
      <p:bldP spid="4" grpId="0" autoUpdateAnimBg="0"/>
      <p:bldP spid="10" grpId="0" autoUpdateAnimBg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28056" y="222920"/>
            <a:ext cx="79248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(3) 分配地址线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656656" y="4871120"/>
            <a:ext cx="61722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latin typeface="Times New Roman" panose="02020603050405020304" pitchFamily="18" charset="0"/>
              </a:rPr>
              <a:t>A</a:t>
            </a:r>
            <a:r>
              <a:rPr lang="en-US" altLang="zh-CN" sz="2600" baseline="-25000">
                <a:latin typeface="Times New Roman" panose="02020603050405020304" pitchFamily="18" charset="0"/>
              </a:rPr>
              <a:t>10</a:t>
            </a:r>
            <a:r>
              <a:rPr lang="en-US" altLang="zh-CN" sz="2600">
                <a:latin typeface="Times New Roman" panose="02020603050405020304" pitchFamily="18" charset="0"/>
              </a:rPr>
              <a:t>~ A</a:t>
            </a:r>
            <a:r>
              <a:rPr lang="en-US" altLang="zh-CN" sz="2600" baseline="-25000">
                <a:latin typeface="Times New Roman" panose="02020603050405020304" pitchFamily="18" charset="0"/>
              </a:rPr>
              <a:t>0    </a:t>
            </a:r>
            <a:r>
              <a:rPr lang="zh-CN" altLang="en-US" sz="2600">
                <a:latin typeface="Times New Roman" panose="02020603050405020304" pitchFamily="18" charset="0"/>
              </a:rPr>
              <a:t>接 2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r>
              <a:rPr lang="zh-CN" altLang="en-US" sz="2600">
                <a:latin typeface="Times New Roman" panose="02020603050405020304" pitchFamily="18" charset="0"/>
              </a:rPr>
              <a:t>位 </a:t>
            </a:r>
            <a:r>
              <a:rPr lang="en-US" altLang="zh-CN" sz="2600">
                <a:latin typeface="Times New Roman" panose="02020603050405020304" pitchFamily="18" charset="0"/>
              </a:rPr>
              <a:t>ROM </a:t>
            </a:r>
            <a:r>
              <a:rPr lang="zh-CN" altLang="en-US" sz="2600">
                <a:latin typeface="Times New Roman" panose="02020603050405020304" pitchFamily="18" charset="0"/>
              </a:rPr>
              <a:t>的地址线</a:t>
            </a:r>
            <a:endParaRPr lang="zh-CN" altLang="en-US" sz="2600">
              <a:latin typeface="Times New Roman" panose="02020603050405020304" pitchFamily="18" charset="0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1656656" y="5404520"/>
            <a:ext cx="62484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latin typeface="Times New Roman" panose="02020603050405020304" pitchFamily="18" charset="0"/>
              </a:rPr>
              <a:t>A</a:t>
            </a:r>
            <a:r>
              <a:rPr lang="en-US" altLang="zh-CN" sz="2600" baseline="-25000">
                <a:latin typeface="Times New Roman" panose="02020603050405020304" pitchFamily="18" charset="0"/>
              </a:rPr>
              <a:t>9  </a:t>
            </a:r>
            <a:r>
              <a:rPr lang="en-US" altLang="zh-CN" sz="2600">
                <a:latin typeface="Times New Roman" panose="02020603050405020304" pitchFamily="18" charset="0"/>
              </a:rPr>
              <a:t>~ A</a:t>
            </a:r>
            <a:r>
              <a:rPr lang="en-US" altLang="zh-CN" sz="2600" baseline="-25000">
                <a:latin typeface="Times New Roman" panose="02020603050405020304" pitchFamily="18" charset="0"/>
              </a:rPr>
              <a:t>0    </a:t>
            </a:r>
            <a:r>
              <a:rPr lang="zh-CN" altLang="en-US" sz="2600">
                <a:latin typeface="Times New Roman" panose="02020603050405020304" pitchFamily="18" charset="0"/>
              </a:rPr>
              <a:t>接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600">
                <a:latin typeface="Times New Roman" panose="02020603050405020304" pitchFamily="18" charset="0"/>
              </a:rPr>
              <a:t>位 </a:t>
            </a:r>
            <a:r>
              <a:rPr lang="en-US" altLang="zh-CN" sz="2600">
                <a:latin typeface="Times New Roman" panose="02020603050405020304" pitchFamily="18" charset="0"/>
              </a:rPr>
              <a:t>RAM </a:t>
            </a:r>
            <a:r>
              <a:rPr lang="zh-CN" altLang="en-US" sz="2600">
                <a:latin typeface="Times New Roman" panose="02020603050405020304" pitchFamily="18" charset="0"/>
              </a:rPr>
              <a:t>的地址线</a:t>
            </a:r>
            <a:endParaRPr lang="en-US" altLang="zh-CN" sz="2600">
              <a:latin typeface="Times New Roman" panose="02020603050405020304" pitchFamily="18" charset="0"/>
            </a:endParaRP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1428056" y="5968083"/>
            <a:ext cx="4089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(4) 确定片选信号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6" name="Line 6"/>
          <p:cNvSpPr>
            <a:spLocks noChangeShapeType="1"/>
          </p:cNvSpPr>
          <p:nvPr/>
        </p:nvSpPr>
        <p:spPr bwMode="auto">
          <a:xfrm>
            <a:off x="3333056" y="136592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7" name="Line 7"/>
          <p:cNvSpPr>
            <a:spLocks noChangeShapeType="1"/>
          </p:cNvSpPr>
          <p:nvPr/>
        </p:nvSpPr>
        <p:spPr bwMode="auto">
          <a:xfrm>
            <a:off x="3790256" y="136592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8" name="Line 8"/>
          <p:cNvSpPr>
            <a:spLocks noChangeShapeType="1"/>
          </p:cNvSpPr>
          <p:nvPr/>
        </p:nvSpPr>
        <p:spPr bwMode="auto">
          <a:xfrm>
            <a:off x="2037656" y="136592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9" name="Group 9"/>
          <p:cNvGrpSpPr/>
          <p:nvPr/>
        </p:nvGrpSpPr>
        <p:grpSpPr bwMode="auto">
          <a:xfrm>
            <a:off x="2037656" y="4490120"/>
            <a:ext cx="1371600" cy="519113"/>
            <a:chOff x="720" y="2880"/>
            <a:chExt cx="864" cy="327"/>
          </a:xfrm>
        </p:grpSpPr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720" y="2880"/>
              <a:ext cx="33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960" y="2880"/>
              <a:ext cx="33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B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" name="Text Box 12"/>
            <p:cNvSpPr txBox="1">
              <a:spLocks noChangeArrowheads="1"/>
            </p:cNvSpPr>
            <p:nvPr/>
          </p:nvSpPr>
          <p:spPr bwMode="auto">
            <a:xfrm>
              <a:off x="1248" y="2880"/>
              <a:ext cx="33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3" name="Group 13"/>
          <p:cNvGrpSpPr/>
          <p:nvPr/>
        </p:nvGrpSpPr>
        <p:grpSpPr bwMode="auto">
          <a:xfrm>
            <a:off x="1199456" y="908720"/>
            <a:ext cx="9296400" cy="3779838"/>
            <a:chOff x="192" y="624"/>
            <a:chExt cx="5856" cy="2381"/>
          </a:xfrm>
        </p:grpSpPr>
        <p:grpSp>
          <p:nvGrpSpPr>
            <p:cNvPr id="14" name="Group 14"/>
            <p:cNvGrpSpPr/>
            <p:nvPr/>
          </p:nvGrpSpPr>
          <p:grpSpPr bwMode="auto">
            <a:xfrm>
              <a:off x="240" y="864"/>
              <a:ext cx="4320" cy="365"/>
              <a:chOff x="384" y="1296"/>
              <a:chExt cx="4320" cy="365"/>
            </a:xfrm>
          </p:grpSpPr>
          <p:sp>
            <p:nvSpPr>
              <p:cNvPr id="41" name="Text Box 15"/>
              <p:cNvSpPr txBox="1">
                <a:spLocks noChangeArrowheads="1"/>
              </p:cNvSpPr>
              <p:nvPr/>
            </p:nvSpPr>
            <p:spPr bwMode="auto">
              <a:xfrm>
                <a:off x="384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" name="Text Box 16"/>
              <p:cNvSpPr txBox="1">
                <a:spLocks noChangeArrowheads="1"/>
              </p:cNvSpPr>
              <p:nvPr/>
            </p:nvSpPr>
            <p:spPr bwMode="auto">
              <a:xfrm>
                <a:off x="1440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Text Box 17"/>
              <p:cNvSpPr txBox="1">
                <a:spLocks noChangeArrowheads="1"/>
              </p:cNvSpPr>
              <p:nvPr/>
            </p:nvSpPr>
            <p:spPr bwMode="auto">
              <a:xfrm>
                <a:off x="2496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Text Box 18"/>
              <p:cNvSpPr txBox="1">
                <a:spLocks noChangeArrowheads="1"/>
              </p:cNvSpPr>
              <p:nvPr/>
            </p:nvSpPr>
            <p:spPr bwMode="auto">
              <a:xfrm>
                <a:off x="3552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5" name="Text Box 19"/>
            <p:cNvSpPr txBox="1">
              <a:spLocks noChangeArrowheads="1"/>
            </p:cNvSpPr>
            <p:nvPr/>
          </p:nvSpPr>
          <p:spPr bwMode="auto">
            <a:xfrm>
              <a:off x="192" y="624"/>
              <a:ext cx="49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15     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13    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11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10</a:t>
              </a:r>
              <a:r>
                <a:rPr lang="en-US" altLang="zh-CN" sz="2400">
                  <a:latin typeface="Times New Roman" panose="02020603050405020304" pitchFamily="18" charset="0"/>
                </a:rPr>
                <a:t>    …    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     </a:t>
              </a:r>
              <a:r>
                <a:rPr lang="en-US" altLang="zh-CN" sz="2400">
                  <a:latin typeface="Times New Roman" panose="02020603050405020304" pitchFamily="18" charset="0"/>
                </a:rPr>
                <a:t>…    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3      </a:t>
              </a:r>
              <a:r>
                <a:rPr lang="en-US" altLang="zh-CN" sz="2400">
                  <a:latin typeface="Times New Roman" panose="02020603050405020304" pitchFamily="18" charset="0"/>
                </a:rPr>
                <a:t>…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  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0</a:t>
              </a:r>
              <a:endParaRPr lang="en-US" altLang="zh-CN" sz="2400" baseline="-25000">
                <a:latin typeface="Times New Roman" panose="02020603050405020304" pitchFamily="18" charset="0"/>
              </a:endParaRPr>
            </a:p>
          </p:txBody>
        </p:sp>
        <p:grpSp>
          <p:nvGrpSpPr>
            <p:cNvPr id="16" name="Group 20"/>
            <p:cNvGrpSpPr/>
            <p:nvPr/>
          </p:nvGrpSpPr>
          <p:grpSpPr bwMode="auto">
            <a:xfrm>
              <a:off x="240" y="1200"/>
              <a:ext cx="4320" cy="701"/>
              <a:chOff x="288" y="1632"/>
              <a:chExt cx="4320" cy="701"/>
            </a:xfrm>
          </p:grpSpPr>
          <p:sp>
            <p:nvSpPr>
              <p:cNvPr id="35" name="Text Box 21"/>
              <p:cNvSpPr txBox="1">
                <a:spLocks noChangeArrowheads="1"/>
              </p:cNvSpPr>
              <p:nvPr/>
            </p:nvSpPr>
            <p:spPr bwMode="auto">
              <a:xfrm>
                <a:off x="297" y="1632"/>
                <a:ext cx="423" cy="4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" name="Group 22"/>
              <p:cNvGrpSpPr/>
              <p:nvPr/>
            </p:nvGrpSpPr>
            <p:grpSpPr bwMode="auto">
              <a:xfrm>
                <a:off x="288" y="1968"/>
                <a:ext cx="4320" cy="365"/>
                <a:chOff x="384" y="1968"/>
                <a:chExt cx="4320" cy="365"/>
              </a:xfrm>
            </p:grpSpPr>
            <p:sp>
              <p:nvSpPr>
                <p:cNvPr id="37" name="Text Box 23"/>
                <p:cNvSpPr txBox="1">
                  <a:spLocks noChangeArrowheads="1"/>
                </p:cNvSpPr>
                <p:nvPr/>
              </p:nvSpPr>
              <p:spPr bwMode="auto">
                <a:xfrm>
                  <a:off x="384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0  1  1  0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8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1440" y="1968"/>
                  <a:ext cx="1440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0  1  1  1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9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496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3552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7" name="Group 27"/>
            <p:cNvGrpSpPr/>
            <p:nvPr/>
          </p:nvGrpSpPr>
          <p:grpSpPr bwMode="auto">
            <a:xfrm>
              <a:off x="240" y="1939"/>
              <a:ext cx="4320" cy="365"/>
              <a:chOff x="384" y="1296"/>
              <a:chExt cx="4320" cy="365"/>
            </a:xfrm>
          </p:grpSpPr>
          <p:sp>
            <p:nvSpPr>
              <p:cNvPr id="31" name="Text Box 28"/>
              <p:cNvSpPr txBox="1">
                <a:spLocks noChangeArrowheads="1"/>
              </p:cNvSpPr>
              <p:nvPr/>
            </p:nvSpPr>
            <p:spPr bwMode="auto">
              <a:xfrm>
                <a:off x="384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Text Box 29"/>
              <p:cNvSpPr txBox="1">
                <a:spLocks noChangeArrowheads="1"/>
              </p:cNvSpPr>
              <p:nvPr/>
            </p:nvSpPr>
            <p:spPr bwMode="auto">
              <a:xfrm>
                <a:off x="1440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1  0  0  0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Text Box 30"/>
              <p:cNvSpPr txBox="1">
                <a:spLocks noChangeArrowheads="1"/>
              </p:cNvSpPr>
              <p:nvPr/>
            </p:nvSpPr>
            <p:spPr bwMode="auto">
              <a:xfrm>
                <a:off x="2496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Text Box 31"/>
              <p:cNvSpPr txBox="1">
                <a:spLocks noChangeArrowheads="1"/>
              </p:cNvSpPr>
              <p:nvPr/>
            </p:nvSpPr>
            <p:spPr bwMode="auto">
              <a:xfrm>
                <a:off x="3552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8" name="Group 32"/>
            <p:cNvGrpSpPr/>
            <p:nvPr/>
          </p:nvGrpSpPr>
          <p:grpSpPr bwMode="auto">
            <a:xfrm>
              <a:off x="240" y="2256"/>
              <a:ext cx="4320" cy="749"/>
              <a:chOff x="288" y="2688"/>
              <a:chExt cx="4320" cy="749"/>
            </a:xfrm>
          </p:grpSpPr>
          <p:sp>
            <p:nvSpPr>
              <p:cNvPr id="25" name="Text Box 33"/>
              <p:cNvSpPr txBox="1">
                <a:spLocks noChangeArrowheads="1"/>
              </p:cNvSpPr>
              <p:nvPr/>
            </p:nvSpPr>
            <p:spPr bwMode="auto">
              <a:xfrm>
                <a:off x="288" y="2688"/>
                <a:ext cx="423" cy="4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" name="Group 34"/>
              <p:cNvGrpSpPr/>
              <p:nvPr/>
            </p:nvGrpSpPr>
            <p:grpSpPr bwMode="auto">
              <a:xfrm>
                <a:off x="288" y="3072"/>
                <a:ext cx="4320" cy="365"/>
                <a:chOff x="384" y="1968"/>
                <a:chExt cx="4320" cy="365"/>
              </a:xfrm>
            </p:grpSpPr>
            <p:sp>
              <p:nvSpPr>
                <p:cNvPr id="27" name="Text Box 35"/>
                <p:cNvSpPr txBox="1">
                  <a:spLocks noChangeArrowheads="1"/>
                </p:cNvSpPr>
                <p:nvPr/>
              </p:nvSpPr>
              <p:spPr bwMode="auto">
                <a:xfrm>
                  <a:off x="384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0  1  1  0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8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1440" y="1968"/>
                  <a:ext cx="1440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1  0  1  1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9" name="Text Box 37"/>
                <p:cNvSpPr txBox="1">
                  <a:spLocks noChangeArrowheads="1"/>
                </p:cNvSpPr>
                <p:nvPr/>
              </p:nvSpPr>
              <p:spPr bwMode="auto">
                <a:xfrm>
                  <a:off x="2496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30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3552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  <a:endParaRPr lang="zh-CN" altLang="en-US" sz="3200">
                    <a:latin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9" name="AutoShape 39"/>
            <p:cNvSpPr/>
            <p:nvPr/>
          </p:nvSpPr>
          <p:spPr bwMode="auto">
            <a:xfrm>
              <a:off x="4464" y="1008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0" name="Text Box 40"/>
            <p:cNvSpPr txBox="1">
              <a:spLocks noChangeArrowheads="1"/>
            </p:cNvSpPr>
            <p:nvPr/>
          </p:nvSpPr>
          <p:spPr bwMode="auto">
            <a:xfrm>
              <a:off x="4704" y="1363"/>
              <a:ext cx="13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2K</a:t>
              </a:r>
              <a:r>
                <a:rPr lang="en-US" altLang="zh-CN" sz="9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90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21" name="Text Box 41"/>
            <p:cNvSpPr txBox="1">
              <a:spLocks noChangeArrowheads="1"/>
            </p:cNvSpPr>
            <p:nvPr/>
          </p:nvSpPr>
          <p:spPr bwMode="auto">
            <a:xfrm>
              <a:off x="4704" y="1056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zh-CN" altLang="en-US" sz="2800">
                  <a:latin typeface="Times New Roman" panose="02020603050405020304" pitchFamily="18" charset="0"/>
                </a:rPr>
                <a:t>片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ROM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AutoShape 42"/>
            <p:cNvSpPr/>
            <p:nvPr/>
          </p:nvSpPr>
          <p:spPr bwMode="auto">
            <a:xfrm>
              <a:off x="4464" y="2112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23" name="Text Box 43"/>
            <p:cNvSpPr txBox="1">
              <a:spLocks noChangeArrowheads="1"/>
            </p:cNvSpPr>
            <p:nvPr/>
          </p:nvSpPr>
          <p:spPr bwMode="auto">
            <a:xfrm>
              <a:off x="4704" y="2448"/>
              <a:ext cx="13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1K</a:t>
              </a:r>
              <a:r>
                <a:rPr lang="en-US" altLang="zh-CN" sz="9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90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24" name="Text Box 44"/>
            <p:cNvSpPr txBox="1">
              <a:spLocks noChangeArrowheads="1"/>
            </p:cNvSpPr>
            <p:nvPr/>
          </p:nvSpPr>
          <p:spPr bwMode="auto">
            <a:xfrm>
              <a:off x="4704" y="2121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zh-CN" altLang="en-US" sz="2800">
                  <a:latin typeface="Times New Roman" panose="02020603050405020304" pitchFamily="18" charset="0"/>
                </a:rPr>
                <a:t>片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RAM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utoUpdateAnimBg="0"/>
      <p:bldP spid="4" grpId="0" autoUpdateAnimBg="0"/>
      <p:bldP spid="5" grpId="0" autoUpdateAnimBg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Freeform 2"/>
          <p:cNvSpPr/>
          <p:nvPr/>
        </p:nvSpPr>
        <p:spPr bwMode="auto">
          <a:xfrm>
            <a:off x="3733800" y="1809750"/>
            <a:ext cx="1062038" cy="1588"/>
          </a:xfrm>
          <a:custGeom>
            <a:avLst/>
            <a:gdLst>
              <a:gd name="T0" fmla="*/ 1685986119 w 669"/>
              <a:gd name="T1" fmla="*/ 0 h 1"/>
              <a:gd name="T2" fmla="*/ 0 w 669"/>
              <a:gd name="T3" fmla="*/ 0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69" h="1">
                <a:moveTo>
                  <a:pt x="669" y="0"/>
                </a:moveTo>
                <a:lnTo>
                  <a:pt x="0" y="0"/>
                </a:lnTo>
              </a:path>
            </a:pathLst>
          </a:custGeom>
          <a:solidFill>
            <a:srgbClr val="FFFFFF"/>
          </a:solidFill>
          <a:ln w="381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3171" name="Line 3"/>
          <p:cNvSpPr>
            <a:spLocks noChangeShapeType="1"/>
          </p:cNvSpPr>
          <p:nvPr/>
        </p:nvSpPr>
        <p:spPr bwMode="auto">
          <a:xfrm flipH="1">
            <a:off x="3733801" y="1524000"/>
            <a:ext cx="1198563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172" name="Group 4"/>
          <p:cNvGrpSpPr/>
          <p:nvPr/>
        </p:nvGrpSpPr>
        <p:grpSpPr bwMode="auto">
          <a:xfrm>
            <a:off x="1771650" y="1104901"/>
            <a:ext cx="298450" cy="1247775"/>
            <a:chOff x="156" y="696"/>
            <a:chExt cx="188" cy="786"/>
          </a:xfrm>
        </p:grpSpPr>
        <p:sp>
          <p:nvSpPr>
            <p:cNvPr id="74901" name="Line 5"/>
            <p:cNvSpPr>
              <a:spLocks noChangeShapeType="1"/>
            </p:cNvSpPr>
            <p:nvPr/>
          </p:nvSpPr>
          <p:spPr bwMode="auto">
            <a:xfrm flipH="1">
              <a:off x="157" y="1467"/>
              <a:ext cx="18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902" name="Freeform 6"/>
            <p:cNvSpPr/>
            <p:nvPr/>
          </p:nvSpPr>
          <p:spPr bwMode="auto">
            <a:xfrm>
              <a:off x="156" y="696"/>
              <a:ext cx="1" cy="786"/>
            </a:xfrm>
            <a:custGeom>
              <a:avLst/>
              <a:gdLst>
                <a:gd name="T0" fmla="*/ 0 w 1"/>
                <a:gd name="T1" fmla="*/ 786 h 786"/>
                <a:gd name="T2" fmla="*/ 0 w 1"/>
                <a:gd name="T3" fmla="*/ 0 h 7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86">
                  <a:moveTo>
                    <a:pt x="0" y="786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175" name="Group 7"/>
          <p:cNvGrpSpPr/>
          <p:nvPr/>
        </p:nvGrpSpPr>
        <p:grpSpPr bwMode="auto">
          <a:xfrm>
            <a:off x="1760538" y="1108075"/>
            <a:ext cx="3040062" cy="990600"/>
            <a:chOff x="149" y="698"/>
            <a:chExt cx="1915" cy="624"/>
          </a:xfrm>
        </p:grpSpPr>
        <p:sp>
          <p:nvSpPr>
            <p:cNvPr id="74898" name="Freeform 8"/>
            <p:cNvSpPr/>
            <p:nvPr/>
          </p:nvSpPr>
          <p:spPr bwMode="auto">
            <a:xfrm>
              <a:off x="1727" y="1321"/>
              <a:ext cx="337" cy="1"/>
            </a:xfrm>
            <a:custGeom>
              <a:avLst/>
              <a:gdLst>
                <a:gd name="T0" fmla="*/ 338 w 336"/>
                <a:gd name="T1" fmla="*/ 0 h 1"/>
                <a:gd name="T2" fmla="*/ 0 w 33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6" h="1">
                  <a:moveTo>
                    <a:pt x="33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99" name="Line 9"/>
            <p:cNvSpPr>
              <a:spLocks noChangeShapeType="1"/>
            </p:cNvSpPr>
            <p:nvPr/>
          </p:nvSpPr>
          <p:spPr bwMode="auto">
            <a:xfrm>
              <a:off x="149" y="698"/>
              <a:ext cx="158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900" name="Line 10"/>
            <p:cNvSpPr>
              <a:spLocks noChangeShapeType="1"/>
            </p:cNvSpPr>
            <p:nvPr/>
          </p:nvSpPr>
          <p:spPr bwMode="auto">
            <a:xfrm>
              <a:off x="1733" y="698"/>
              <a:ext cx="1" cy="6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179" name="Line 11"/>
          <p:cNvSpPr>
            <a:spLocks noChangeShapeType="1"/>
          </p:cNvSpPr>
          <p:nvPr/>
        </p:nvSpPr>
        <p:spPr bwMode="auto">
          <a:xfrm flipH="1">
            <a:off x="3733800" y="2414589"/>
            <a:ext cx="1193800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180" name="Line 12"/>
          <p:cNvSpPr>
            <a:spLocks noChangeShapeType="1"/>
          </p:cNvSpPr>
          <p:nvPr/>
        </p:nvSpPr>
        <p:spPr bwMode="auto">
          <a:xfrm flipH="1">
            <a:off x="3733801" y="2706689"/>
            <a:ext cx="119062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181" name="Line 13"/>
          <p:cNvSpPr>
            <a:spLocks noChangeShapeType="1"/>
          </p:cNvSpPr>
          <p:nvPr/>
        </p:nvSpPr>
        <p:spPr bwMode="auto">
          <a:xfrm flipH="1">
            <a:off x="3733801" y="2970214"/>
            <a:ext cx="119062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182" name="Group 14"/>
          <p:cNvGrpSpPr/>
          <p:nvPr/>
        </p:nvGrpSpPr>
        <p:grpSpPr bwMode="auto">
          <a:xfrm>
            <a:off x="7315200" y="2133601"/>
            <a:ext cx="361950" cy="1190625"/>
            <a:chOff x="3648" y="1344"/>
            <a:chExt cx="228" cy="750"/>
          </a:xfrm>
        </p:grpSpPr>
        <p:sp>
          <p:nvSpPr>
            <p:cNvPr id="74896" name="Freeform 15"/>
            <p:cNvSpPr/>
            <p:nvPr/>
          </p:nvSpPr>
          <p:spPr bwMode="auto">
            <a:xfrm>
              <a:off x="3651" y="1344"/>
              <a:ext cx="225" cy="1"/>
            </a:xfrm>
            <a:custGeom>
              <a:avLst/>
              <a:gdLst>
                <a:gd name="T0" fmla="*/ 0 w 225"/>
                <a:gd name="T1" fmla="*/ 0 h 1"/>
                <a:gd name="T2" fmla="*/ 225 w 22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97" name="Line 16"/>
            <p:cNvSpPr>
              <a:spLocks noChangeShapeType="1"/>
            </p:cNvSpPr>
            <p:nvPr/>
          </p:nvSpPr>
          <p:spPr bwMode="auto">
            <a:xfrm>
              <a:off x="3648" y="1344"/>
              <a:ext cx="1" cy="75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185" name="Group 17"/>
          <p:cNvGrpSpPr/>
          <p:nvPr/>
        </p:nvGrpSpPr>
        <p:grpSpPr bwMode="auto">
          <a:xfrm>
            <a:off x="4330700" y="4527550"/>
            <a:ext cx="723900" cy="355600"/>
            <a:chOff x="1768" y="2852"/>
            <a:chExt cx="456" cy="224"/>
          </a:xfrm>
        </p:grpSpPr>
        <p:sp>
          <p:nvSpPr>
            <p:cNvPr id="74893" name="Line 18"/>
            <p:cNvSpPr>
              <a:spLocks noChangeShapeType="1"/>
            </p:cNvSpPr>
            <p:nvPr/>
          </p:nvSpPr>
          <p:spPr bwMode="auto">
            <a:xfrm flipH="1">
              <a:off x="1876" y="2852"/>
              <a:ext cx="34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94" name="Line 19"/>
            <p:cNvSpPr>
              <a:spLocks noChangeShapeType="1"/>
            </p:cNvSpPr>
            <p:nvPr/>
          </p:nvSpPr>
          <p:spPr bwMode="auto">
            <a:xfrm>
              <a:off x="1876" y="2852"/>
              <a:ext cx="1" cy="2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95" name="Rectangle 20"/>
            <p:cNvSpPr>
              <a:spLocks noChangeArrowheads="1"/>
            </p:cNvSpPr>
            <p:nvPr/>
          </p:nvSpPr>
          <p:spPr bwMode="auto">
            <a:xfrm>
              <a:off x="1768" y="3057"/>
              <a:ext cx="187" cy="19"/>
            </a:xfrm>
            <a:prstGeom prst="rect">
              <a:avLst/>
            </a:prstGeom>
            <a:solidFill>
              <a:srgbClr val="000000"/>
            </a:solidFill>
            <a:ln w="38100">
              <a:solidFill>
                <a:schemeClr val="tx1"/>
              </a:solidFill>
              <a:miter lim="800000"/>
            </a:ln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263189" name="Group 21"/>
          <p:cNvGrpSpPr/>
          <p:nvPr/>
        </p:nvGrpSpPr>
        <p:grpSpPr bwMode="auto">
          <a:xfrm>
            <a:off x="8296276" y="1952625"/>
            <a:ext cx="314325" cy="2395538"/>
            <a:chOff x="4266" y="1230"/>
            <a:chExt cx="198" cy="1509"/>
          </a:xfrm>
        </p:grpSpPr>
        <p:sp>
          <p:nvSpPr>
            <p:cNvPr id="74891" name="Freeform 22"/>
            <p:cNvSpPr/>
            <p:nvPr/>
          </p:nvSpPr>
          <p:spPr bwMode="auto">
            <a:xfrm>
              <a:off x="4266" y="1236"/>
              <a:ext cx="195" cy="1"/>
            </a:xfrm>
            <a:custGeom>
              <a:avLst/>
              <a:gdLst>
                <a:gd name="T0" fmla="*/ 0 w 195"/>
                <a:gd name="T1" fmla="*/ 0 h 1"/>
                <a:gd name="T2" fmla="*/ 195 w 19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1">
                  <a:moveTo>
                    <a:pt x="0" y="0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92" name="Freeform 23"/>
            <p:cNvSpPr/>
            <p:nvPr/>
          </p:nvSpPr>
          <p:spPr bwMode="auto">
            <a:xfrm>
              <a:off x="4462" y="1230"/>
              <a:ext cx="2" cy="1509"/>
            </a:xfrm>
            <a:custGeom>
              <a:avLst/>
              <a:gdLst>
                <a:gd name="T0" fmla="*/ 1 w 3"/>
                <a:gd name="T1" fmla="*/ 0 h 1509"/>
                <a:gd name="T2" fmla="*/ 0 w 3"/>
                <a:gd name="T3" fmla="*/ 1509 h 15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09">
                  <a:moveTo>
                    <a:pt x="3" y="0"/>
                  </a:moveTo>
                  <a:lnTo>
                    <a:pt x="0" y="150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192" name="Freeform 24"/>
          <p:cNvSpPr/>
          <p:nvPr/>
        </p:nvSpPr>
        <p:spPr bwMode="auto">
          <a:xfrm>
            <a:off x="6162676" y="4343400"/>
            <a:ext cx="657225" cy="1588"/>
          </a:xfrm>
          <a:custGeom>
            <a:avLst/>
            <a:gdLst>
              <a:gd name="T0" fmla="*/ 1043344688 w 414"/>
              <a:gd name="T1" fmla="*/ 0 h 1"/>
              <a:gd name="T2" fmla="*/ 0 w 414"/>
              <a:gd name="T3" fmla="*/ 2521744 h 1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14" h="1">
                <a:moveTo>
                  <a:pt x="414" y="0"/>
                </a:moveTo>
                <a:lnTo>
                  <a:pt x="0" y="1"/>
                </a:lnTo>
              </a:path>
            </a:pathLst>
          </a:custGeom>
          <a:solidFill>
            <a:srgbClr val="FFFFFF"/>
          </a:solidFill>
          <a:ln w="381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3193" name="Group 25"/>
          <p:cNvGrpSpPr/>
          <p:nvPr/>
        </p:nvGrpSpPr>
        <p:grpSpPr bwMode="auto">
          <a:xfrm>
            <a:off x="5054601" y="4191001"/>
            <a:ext cx="1120775" cy="595313"/>
            <a:chOff x="2224" y="2640"/>
            <a:chExt cx="706" cy="375"/>
          </a:xfrm>
        </p:grpSpPr>
        <p:sp>
          <p:nvSpPr>
            <p:cNvPr id="74888" name="Rectangle 26"/>
            <p:cNvSpPr>
              <a:spLocks noChangeArrowheads="1"/>
            </p:cNvSpPr>
            <p:nvPr/>
          </p:nvSpPr>
          <p:spPr bwMode="auto">
            <a:xfrm>
              <a:off x="2224" y="2671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89" name="Text Box 27"/>
            <p:cNvSpPr txBox="1">
              <a:spLocks noChangeArrowheads="1"/>
            </p:cNvSpPr>
            <p:nvPr/>
          </p:nvSpPr>
          <p:spPr bwMode="auto">
            <a:xfrm>
              <a:off x="2232" y="2640"/>
              <a:ext cx="69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800">
                  <a:latin typeface="Times New Roman" panose="02020603050405020304" pitchFamily="18" charset="0"/>
                </a:rPr>
                <a:t> 2</a:t>
              </a:r>
              <a:r>
                <a:rPr lang="en-US" altLang="zh-CN" sz="1800">
                  <a:latin typeface="Times New Roman" panose="02020603050405020304" pitchFamily="18" charset="0"/>
                </a:rPr>
                <a:t>K</a:t>
              </a: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600"/>
                <a:t>×</a:t>
              </a:r>
              <a:r>
                <a:rPr lang="en-US" altLang="zh-CN" sz="1800">
                  <a:latin typeface="Times New Roman" panose="02020603050405020304" pitchFamily="18" charset="0"/>
                </a:rPr>
                <a:t>8</a:t>
              </a:r>
              <a:r>
                <a:rPr lang="zh-CN" altLang="en-US" sz="1800">
                  <a:latin typeface="Times New Roman" panose="02020603050405020304" pitchFamily="18" charset="0"/>
                </a:rPr>
                <a:t>位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74890" name="Text Box 28"/>
            <p:cNvSpPr txBox="1">
              <a:spLocks noChangeArrowheads="1"/>
            </p:cNvSpPr>
            <p:nvPr/>
          </p:nvSpPr>
          <p:spPr bwMode="auto">
            <a:xfrm>
              <a:off x="2304" y="2784"/>
              <a:ext cx="5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 ROM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</p:grpSp>
      <p:sp>
        <p:nvSpPr>
          <p:cNvPr id="263197" name="Line 29"/>
          <p:cNvSpPr>
            <a:spLocks noChangeShapeType="1"/>
          </p:cNvSpPr>
          <p:nvPr/>
        </p:nvSpPr>
        <p:spPr bwMode="auto">
          <a:xfrm>
            <a:off x="8169275" y="4343400"/>
            <a:ext cx="8524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198" name="Group 30"/>
          <p:cNvGrpSpPr/>
          <p:nvPr/>
        </p:nvGrpSpPr>
        <p:grpSpPr bwMode="auto">
          <a:xfrm>
            <a:off x="3733801" y="4527551"/>
            <a:ext cx="5287963" cy="1649413"/>
            <a:chOff x="1392" y="2852"/>
            <a:chExt cx="3331" cy="1039"/>
          </a:xfrm>
        </p:grpSpPr>
        <p:sp>
          <p:nvSpPr>
            <p:cNvPr id="74883" name="Line 31"/>
            <p:cNvSpPr>
              <a:spLocks noChangeShapeType="1"/>
            </p:cNvSpPr>
            <p:nvPr/>
          </p:nvSpPr>
          <p:spPr bwMode="auto">
            <a:xfrm flipH="1">
              <a:off x="3137" y="2852"/>
              <a:ext cx="35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84" name="Line 32"/>
            <p:cNvSpPr>
              <a:spLocks noChangeShapeType="1"/>
            </p:cNvSpPr>
            <p:nvPr/>
          </p:nvSpPr>
          <p:spPr bwMode="auto">
            <a:xfrm rot="10800000">
              <a:off x="3137" y="2852"/>
              <a:ext cx="1" cy="10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85" name="Line 33"/>
            <p:cNvSpPr>
              <a:spLocks noChangeShapeType="1"/>
            </p:cNvSpPr>
            <p:nvPr/>
          </p:nvSpPr>
          <p:spPr bwMode="auto">
            <a:xfrm>
              <a:off x="4373" y="2852"/>
              <a:ext cx="1" cy="10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86" name="Freeform 34"/>
            <p:cNvSpPr/>
            <p:nvPr/>
          </p:nvSpPr>
          <p:spPr bwMode="auto">
            <a:xfrm>
              <a:off x="1392" y="3885"/>
              <a:ext cx="2994" cy="6"/>
            </a:xfrm>
            <a:custGeom>
              <a:avLst/>
              <a:gdLst>
                <a:gd name="T0" fmla="*/ 0 w 2994"/>
                <a:gd name="T1" fmla="*/ 6 h 6"/>
                <a:gd name="T2" fmla="*/ 2994 w 299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4" h="6">
                  <a:moveTo>
                    <a:pt x="0" y="6"/>
                  </a:moveTo>
                  <a:lnTo>
                    <a:pt x="2994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87" name="Line 35"/>
            <p:cNvSpPr>
              <a:spLocks noChangeShapeType="1"/>
            </p:cNvSpPr>
            <p:nvPr/>
          </p:nvSpPr>
          <p:spPr bwMode="auto">
            <a:xfrm flipH="1">
              <a:off x="4373" y="2852"/>
              <a:ext cx="35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204" name="Group 36"/>
          <p:cNvGrpSpPr/>
          <p:nvPr/>
        </p:nvGrpSpPr>
        <p:grpSpPr bwMode="auto">
          <a:xfrm>
            <a:off x="7042150" y="4205288"/>
            <a:ext cx="3092450" cy="614362"/>
            <a:chOff x="3476" y="2649"/>
            <a:chExt cx="1948" cy="387"/>
          </a:xfrm>
        </p:grpSpPr>
        <p:sp>
          <p:nvSpPr>
            <p:cNvPr id="74877" name="Text Box 37"/>
            <p:cNvSpPr txBox="1">
              <a:spLocks noChangeArrowheads="1"/>
            </p:cNvSpPr>
            <p:nvPr/>
          </p:nvSpPr>
          <p:spPr bwMode="auto">
            <a:xfrm>
              <a:off x="3504" y="2649"/>
              <a:ext cx="67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800">
                  <a:latin typeface="Times New Roman" panose="02020603050405020304" pitchFamily="18" charset="0"/>
                </a:rPr>
                <a:t>1K</a:t>
              </a: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600"/>
                <a:t>×</a:t>
              </a:r>
              <a:r>
                <a:rPr lang="en-US" altLang="zh-CN" sz="1800">
                  <a:latin typeface="Times New Roman" panose="02020603050405020304" pitchFamily="18" charset="0"/>
                </a:rPr>
                <a:t>4</a:t>
              </a:r>
              <a:r>
                <a:rPr lang="zh-CN" altLang="en-US" sz="1800">
                  <a:latin typeface="Times New Roman" panose="02020603050405020304" pitchFamily="18" charset="0"/>
                </a:rPr>
                <a:t>位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74878" name="Rectangle 38"/>
            <p:cNvSpPr>
              <a:spLocks noChangeArrowheads="1"/>
            </p:cNvSpPr>
            <p:nvPr/>
          </p:nvSpPr>
          <p:spPr bwMode="auto">
            <a:xfrm>
              <a:off x="3476" y="2688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79" name="Text Box 39"/>
            <p:cNvSpPr txBox="1">
              <a:spLocks noChangeArrowheads="1"/>
            </p:cNvSpPr>
            <p:nvPr/>
          </p:nvSpPr>
          <p:spPr bwMode="auto">
            <a:xfrm>
              <a:off x="3600" y="2784"/>
              <a:ext cx="4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800">
                  <a:latin typeface="Times New Roman" panose="02020603050405020304" pitchFamily="18" charset="0"/>
                </a:rPr>
                <a:t>RAM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80" name="Rectangle 40"/>
            <p:cNvSpPr>
              <a:spLocks noChangeArrowheads="1"/>
            </p:cNvSpPr>
            <p:nvPr/>
          </p:nvSpPr>
          <p:spPr bwMode="auto">
            <a:xfrm>
              <a:off x="4724" y="2697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81" name="Text Box 41"/>
            <p:cNvSpPr txBox="1">
              <a:spLocks noChangeArrowheads="1"/>
            </p:cNvSpPr>
            <p:nvPr/>
          </p:nvSpPr>
          <p:spPr bwMode="auto">
            <a:xfrm>
              <a:off x="4752" y="2670"/>
              <a:ext cx="66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1K</a:t>
              </a: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600"/>
                <a:t>×</a:t>
              </a:r>
              <a:r>
                <a:rPr lang="en-US" altLang="zh-CN" sz="1800">
                  <a:latin typeface="Times New Roman" panose="02020603050405020304" pitchFamily="18" charset="0"/>
                </a:rPr>
                <a:t>4</a:t>
              </a:r>
              <a:r>
                <a:rPr lang="zh-CN" altLang="en-US" sz="1800">
                  <a:latin typeface="Times New Roman" panose="02020603050405020304" pitchFamily="18" charset="0"/>
                </a:rPr>
                <a:t>位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74882" name="Text Box 42"/>
            <p:cNvSpPr txBox="1">
              <a:spLocks noChangeArrowheads="1"/>
            </p:cNvSpPr>
            <p:nvPr/>
          </p:nvSpPr>
          <p:spPr bwMode="auto">
            <a:xfrm>
              <a:off x="4848" y="2805"/>
              <a:ext cx="4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800">
                  <a:latin typeface="Times New Roman" panose="02020603050405020304" pitchFamily="18" charset="0"/>
                </a:rPr>
                <a:t>RAM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211" name="Group 43"/>
          <p:cNvGrpSpPr/>
          <p:nvPr/>
        </p:nvGrpSpPr>
        <p:grpSpPr bwMode="auto">
          <a:xfrm>
            <a:off x="9196388" y="3530600"/>
            <a:ext cx="711200" cy="750888"/>
            <a:chOff x="4833" y="2224"/>
            <a:chExt cx="448" cy="473"/>
          </a:xfrm>
        </p:grpSpPr>
        <p:sp>
          <p:nvSpPr>
            <p:cNvPr id="74874" name="Freeform 44"/>
            <p:cNvSpPr/>
            <p:nvPr/>
          </p:nvSpPr>
          <p:spPr bwMode="auto">
            <a:xfrm>
              <a:off x="4833" y="2224"/>
              <a:ext cx="1" cy="473"/>
            </a:xfrm>
            <a:custGeom>
              <a:avLst/>
              <a:gdLst>
                <a:gd name="T0" fmla="*/ 0 w 1"/>
                <a:gd name="T1" fmla="*/ 0 h 473"/>
                <a:gd name="T2" fmla="*/ 0 w 1"/>
                <a:gd name="T3" fmla="*/ 473 h 4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3">
                  <a:moveTo>
                    <a:pt x="0" y="0"/>
                  </a:moveTo>
                  <a:lnTo>
                    <a:pt x="0" y="47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75" name="Freeform 45"/>
            <p:cNvSpPr/>
            <p:nvPr/>
          </p:nvSpPr>
          <p:spPr bwMode="auto">
            <a:xfrm>
              <a:off x="5280" y="2496"/>
              <a:ext cx="1" cy="198"/>
            </a:xfrm>
            <a:custGeom>
              <a:avLst/>
              <a:gdLst>
                <a:gd name="T0" fmla="*/ 0 w 1"/>
                <a:gd name="T1" fmla="*/ 0 h 198"/>
                <a:gd name="T2" fmla="*/ 0 w 1"/>
                <a:gd name="T3" fmla="*/ 198 h 1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98">
                  <a:moveTo>
                    <a:pt x="0" y="0"/>
                  </a:moveTo>
                  <a:lnTo>
                    <a:pt x="0" y="19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76" name="Text Box 46"/>
            <p:cNvSpPr txBox="1">
              <a:spLocks noChangeArrowheads="1"/>
            </p:cNvSpPr>
            <p:nvPr/>
          </p:nvSpPr>
          <p:spPr bwMode="auto">
            <a:xfrm>
              <a:off x="4876" y="2416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215" name="Group 47"/>
          <p:cNvGrpSpPr/>
          <p:nvPr/>
        </p:nvGrpSpPr>
        <p:grpSpPr bwMode="auto">
          <a:xfrm>
            <a:off x="5181600" y="3314700"/>
            <a:ext cx="844550" cy="927100"/>
            <a:chOff x="2304" y="2088"/>
            <a:chExt cx="532" cy="584"/>
          </a:xfrm>
        </p:grpSpPr>
        <p:sp>
          <p:nvSpPr>
            <p:cNvPr id="74871" name="Freeform 48"/>
            <p:cNvSpPr/>
            <p:nvPr/>
          </p:nvSpPr>
          <p:spPr bwMode="auto">
            <a:xfrm>
              <a:off x="2304" y="2088"/>
              <a:ext cx="2" cy="584"/>
            </a:xfrm>
            <a:custGeom>
              <a:avLst/>
              <a:gdLst>
                <a:gd name="T0" fmla="*/ 2 w 2"/>
                <a:gd name="T1" fmla="*/ 0 h 584"/>
                <a:gd name="T2" fmla="*/ 0 w 2"/>
                <a:gd name="T3" fmla="*/ 584 h 5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84">
                  <a:moveTo>
                    <a:pt x="2" y="0"/>
                  </a:moveTo>
                  <a:lnTo>
                    <a:pt x="0" y="5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72" name="Freeform 49"/>
            <p:cNvSpPr/>
            <p:nvPr/>
          </p:nvSpPr>
          <p:spPr bwMode="auto">
            <a:xfrm>
              <a:off x="2835" y="2496"/>
              <a:ext cx="1" cy="171"/>
            </a:xfrm>
            <a:custGeom>
              <a:avLst/>
              <a:gdLst>
                <a:gd name="T0" fmla="*/ 0 w 1"/>
                <a:gd name="T1" fmla="*/ 0 h 171"/>
                <a:gd name="T2" fmla="*/ 0 w 1"/>
                <a:gd name="T3" fmla="*/ 171 h 1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1">
                  <a:moveTo>
                    <a:pt x="0" y="0"/>
                  </a:moveTo>
                  <a:lnTo>
                    <a:pt x="0" y="17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73" name="Text Box 50"/>
            <p:cNvSpPr txBox="1">
              <a:spLocks noChangeArrowheads="1"/>
            </p:cNvSpPr>
            <p:nvPr/>
          </p:nvSpPr>
          <p:spPr bwMode="auto">
            <a:xfrm>
              <a:off x="2400" y="2416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219" name="Group 51"/>
          <p:cNvGrpSpPr/>
          <p:nvPr/>
        </p:nvGrpSpPr>
        <p:grpSpPr bwMode="auto">
          <a:xfrm>
            <a:off x="7213600" y="3529014"/>
            <a:ext cx="787400" cy="738187"/>
            <a:chOff x="3584" y="2223"/>
            <a:chExt cx="496" cy="465"/>
          </a:xfrm>
        </p:grpSpPr>
        <p:sp>
          <p:nvSpPr>
            <p:cNvPr id="74868" name="Freeform 52"/>
            <p:cNvSpPr/>
            <p:nvPr/>
          </p:nvSpPr>
          <p:spPr bwMode="auto">
            <a:xfrm>
              <a:off x="3584" y="2223"/>
              <a:ext cx="1" cy="459"/>
            </a:xfrm>
            <a:custGeom>
              <a:avLst/>
              <a:gdLst>
                <a:gd name="T0" fmla="*/ 0 w 1"/>
                <a:gd name="T1" fmla="*/ 0 h 459"/>
                <a:gd name="T2" fmla="*/ 0 w 1"/>
                <a:gd name="T3" fmla="*/ 459 h 4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59">
                  <a:moveTo>
                    <a:pt x="0" y="0"/>
                  </a:moveTo>
                  <a:lnTo>
                    <a:pt x="0" y="45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69" name="Line 53"/>
            <p:cNvSpPr>
              <a:spLocks noChangeShapeType="1"/>
            </p:cNvSpPr>
            <p:nvPr/>
          </p:nvSpPr>
          <p:spPr bwMode="auto">
            <a:xfrm>
              <a:off x="4080" y="2496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70" name="Text Box 54"/>
            <p:cNvSpPr txBox="1">
              <a:spLocks noChangeArrowheads="1"/>
            </p:cNvSpPr>
            <p:nvPr/>
          </p:nvSpPr>
          <p:spPr bwMode="auto">
            <a:xfrm>
              <a:off x="3648" y="2416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223" name="Group 55"/>
          <p:cNvGrpSpPr/>
          <p:nvPr/>
        </p:nvGrpSpPr>
        <p:grpSpPr bwMode="auto">
          <a:xfrm>
            <a:off x="7664450" y="1600200"/>
            <a:ext cx="641350" cy="762000"/>
            <a:chOff x="3868" y="1008"/>
            <a:chExt cx="472" cy="480"/>
          </a:xfrm>
        </p:grpSpPr>
        <p:sp>
          <p:nvSpPr>
            <p:cNvPr id="74863" name="Text Box 56"/>
            <p:cNvSpPr txBox="1">
              <a:spLocks noChangeArrowheads="1"/>
            </p:cNvSpPr>
            <p:nvPr/>
          </p:nvSpPr>
          <p:spPr bwMode="auto">
            <a:xfrm>
              <a:off x="3936" y="1065"/>
              <a:ext cx="35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&amp;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74864" name="Rectangle 57"/>
            <p:cNvSpPr>
              <a:spLocks noChangeArrowheads="1"/>
            </p:cNvSpPr>
            <p:nvPr/>
          </p:nvSpPr>
          <p:spPr bwMode="auto">
            <a:xfrm>
              <a:off x="3936" y="1008"/>
              <a:ext cx="336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65" name="Oval 58"/>
            <p:cNvSpPr>
              <a:spLocks noChangeArrowheads="1"/>
            </p:cNvSpPr>
            <p:nvPr/>
          </p:nvSpPr>
          <p:spPr bwMode="auto">
            <a:xfrm>
              <a:off x="3868" y="1178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66" name="Oval 59"/>
            <p:cNvSpPr>
              <a:spLocks noChangeArrowheads="1"/>
            </p:cNvSpPr>
            <p:nvPr/>
          </p:nvSpPr>
          <p:spPr bwMode="auto">
            <a:xfrm>
              <a:off x="3868" y="1310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67" name="Oval 60"/>
            <p:cNvSpPr>
              <a:spLocks noChangeArrowheads="1"/>
            </p:cNvSpPr>
            <p:nvPr/>
          </p:nvSpPr>
          <p:spPr bwMode="auto">
            <a:xfrm>
              <a:off x="4272" y="1200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263229" name="Group 61"/>
          <p:cNvGrpSpPr/>
          <p:nvPr/>
        </p:nvGrpSpPr>
        <p:grpSpPr bwMode="auto">
          <a:xfrm>
            <a:off x="3886200" y="4205288"/>
            <a:ext cx="1219200" cy="366712"/>
            <a:chOff x="1488" y="2649"/>
            <a:chExt cx="768" cy="231"/>
          </a:xfrm>
        </p:grpSpPr>
        <p:sp>
          <p:nvSpPr>
            <p:cNvPr id="74861" name="Text Box 62"/>
            <p:cNvSpPr txBox="1">
              <a:spLocks noChangeArrowheads="1"/>
            </p:cNvSpPr>
            <p:nvPr/>
          </p:nvSpPr>
          <p:spPr bwMode="auto">
            <a:xfrm>
              <a:off x="1488" y="2649"/>
              <a:ext cx="7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PD/Progr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62" name="Line 63"/>
            <p:cNvSpPr>
              <a:spLocks noChangeShapeType="1"/>
            </p:cNvSpPr>
            <p:nvPr/>
          </p:nvSpPr>
          <p:spPr bwMode="auto">
            <a:xfrm>
              <a:off x="1539" y="2685"/>
              <a:ext cx="19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63232" name="Group 64"/>
          <p:cNvGrpSpPr/>
          <p:nvPr/>
        </p:nvGrpSpPr>
        <p:grpSpPr bwMode="auto">
          <a:xfrm>
            <a:off x="5911850" y="1557338"/>
            <a:ext cx="1746250" cy="381000"/>
            <a:chOff x="2764" y="981"/>
            <a:chExt cx="1100" cy="240"/>
          </a:xfrm>
        </p:grpSpPr>
        <p:grpSp>
          <p:nvGrpSpPr>
            <p:cNvPr id="74856" name="Group 65"/>
            <p:cNvGrpSpPr/>
            <p:nvPr/>
          </p:nvGrpSpPr>
          <p:grpSpPr bwMode="auto">
            <a:xfrm>
              <a:off x="2826" y="981"/>
              <a:ext cx="1038" cy="231"/>
              <a:chOff x="2826" y="981"/>
              <a:chExt cx="1038" cy="231"/>
            </a:xfrm>
          </p:grpSpPr>
          <p:sp>
            <p:nvSpPr>
              <p:cNvPr id="74858" name="Freeform 66"/>
              <p:cNvSpPr/>
              <p:nvPr/>
            </p:nvSpPr>
            <p:spPr bwMode="auto">
              <a:xfrm>
                <a:off x="2826" y="1206"/>
                <a:ext cx="1038" cy="1"/>
              </a:xfrm>
              <a:custGeom>
                <a:avLst/>
                <a:gdLst>
                  <a:gd name="T0" fmla="*/ 1038 w 1038"/>
                  <a:gd name="T1" fmla="*/ 0 h 1"/>
                  <a:gd name="T2" fmla="*/ 0 w 103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8" h="1">
                    <a:moveTo>
                      <a:pt x="1038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59" name="Text Box 67"/>
              <p:cNvSpPr txBox="1">
                <a:spLocks noChangeArrowheads="1"/>
              </p:cNvSpPr>
              <p:nvPr/>
            </p:nvSpPr>
            <p:spPr bwMode="auto">
              <a:xfrm>
                <a:off x="2844" y="981"/>
                <a:ext cx="26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Y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5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4860" name="Line 68"/>
              <p:cNvSpPr>
                <a:spLocks noChangeShapeType="1"/>
              </p:cNvSpPr>
              <p:nvPr/>
            </p:nvSpPr>
            <p:spPr bwMode="auto">
              <a:xfrm>
                <a:off x="2876" y="1019"/>
                <a:ext cx="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74857" name="Oval 69"/>
            <p:cNvSpPr>
              <a:spLocks noChangeArrowheads="1"/>
            </p:cNvSpPr>
            <p:nvPr/>
          </p:nvSpPr>
          <p:spPr bwMode="auto">
            <a:xfrm>
              <a:off x="2764" y="1153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263238" name="Group 70"/>
          <p:cNvGrpSpPr/>
          <p:nvPr/>
        </p:nvGrpSpPr>
        <p:grpSpPr bwMode="auto">
          <a:xfrm>
            <a:off x="5911850" y="2178051"/>
            <a:ext cx="903288" cy="2170113"/>
            <a:chOff x="2764" y="1372"/>
            <a:chExt cx="569" cy="1367"/>
          </a:xfrm>
        </p:grpSpPr>
        <p:grpSp>
          <p:nvGrpSpPr>
            <p:cNvPr id="74849" name="Group 71"/>
            <p:cNvGrpSpPr/>
            <p:nvPr/>
          </p:nvGrpSpPr>
          <p:grpSpPr bwMode="auto">
            <a:xfrm>
              <a:off x="2814" y="1401"/>
              <a:ext cx="519" cy="1338"/>
              <a:chOff x="2814" y="1401"/>
              <a:chExt cx="519" cy="1338"/>
            </a:xfrm>
          </p:grpSpPr>
          <p:grpSp>
            <p:nvGrpSpPr>
              <p:cNvPr id="74851" name="Group 72"/>
              <p:cNvGrpSpPr/>
              <p:nvPr/>
            </p:nvGrpSpPr>
            <p:grpSpPr bwMode="auto">
              <a:xfrm>
                <a:off x="2814" y="1401"/>
                <a:ext cx="519" cy="1338"/>
                <a:chOff x="2814" y="1401"/>
                <a:chExt cx="519" cy="1338"/>
              </a:xfrm>
            </p:grpSpPr>
            <p:sp>
              <p:nvSpPr>
                <p:cNvPr id="74854" name="Freeform 73"/>
                <p:cNvSpPr/>
                <p:nvPr/>
              </p:nvSpPr>
              <p:spPr bwMode="auto">
                <a:xfrm>
                  <a:off x="2814" y="1401"/>
                  <a:ext cx="519" cy="3"/>
                </a:xfrm>
                <a:custGeom>
                  <a:avLst/>
                  <a:gdLst>
                    <a:gd name="T0" fmla="*/ 0 w 519"/>
                    <a:gd name="T1" fmla="*/ 3 h 3"/>
                    <a:gd name="T2" fmla="*/ 519 w 519"/>
                    <a:gd name="T3" fmla="*/ 0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19" h="3">
                      <a:moveTo>
                        <a:pt x="0" y="3"/>
                      </a:moveTo>
                      <a:lnTo>
                        <a:pt x="519" y="0"/>
                      </a:lnTo>
                    </a:path>
                  </a:pathLst>
                </a:custGeom>
                <a:solidFill>
                  <a:srgbClr val="FFFFFF"/>
                </a:solidFill>
                <a:ln w="38100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4855" name="Freeform 74"/>
                <p:cNvSpPr/>
                <p:nvPr/>
              </p:nvSpPr>
              <p:spPr bwMode="auto">
                <a:xfrm>
                  <a:off x="3324" y="1402"/>
                  <a:ext cx="2" cy="1337"/>
                </a:xfrm>
                <a:custGeom>
                  <a:avLst/>
                  <a:gdLst>
                    <a:gd name="T0" fmla="*/ 2 w 2"/>
                    <a:gd name="T1" fmla="*/ 0 h 1337"/>
                    <a:gd name="T2" fmla="*/ 0 w 2"/>
                    <a:gd name="T3" fmla="*/ 1337 h 133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337">
                      <a:moveTo>
                        <a:pt x="2" y="0"/>
                      </a:moveTo>
                      <a:lnTo>
                        <a:pt x="0" y="1337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74852" name="Text Box 75"/>
              <p:cNvSpPr txBox="1">
                <a:spLocks noChangeArrowheads="1"/>
              </p:cNvSpPr>
              <p:nvPr/>
            </p:nvSpPr>
            <p:spPr bwMode="auto">
              <a:xfrm>
                <a:off x="2844" y="1464"/>
                <a:ext cx="26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Y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4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4853" name="Line 76"/>
              <p:cNvSpPr>
                <a:spLocks noChangeShapeType="1"/>
              </p:cNvSpPr>
              <p:nvPr/>
            </p:nvSpPr>
            <p:spPr bwMode="auto">
              <a:xfrm>
                <a:off x="2876" y="1490"/>
                <a:ext cx="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74850" name="Oval 77"/>
            <p:cNvSpPr>
              <a:spLocks noChangeArrowheads="1"/>
            </p:cNvSpPr>
            <p:nvPr/>
          </p:nvSpPr>
          <p:spPr bwMode="auto">
            <a:xfrm>
              <a:off x="2764" y="1372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263325" name="Group 157"/>
          <p:cNvGrpSpPr/>
          <p:nvPr/>
        </p:nvGrpSpPr>
        <p:grpSpPr bwMode="auto">
          <a:xfrm>
            <a:off x="4800601" y="1295401"/>
            <a:ext cx="1109663" cy="1890713"/>
            <a:chOff x="2064" y="816"/>
            <a:chExt cx="699" cy="1191"/>
          </a:xfrm>
        </p:grpSpPr>
        <p:sp>
          <p:nvSpPr>
            <p:cNvPr id="74836" name="Rectangle 79"/>
            <p:cNvSpPr>
              <a:spLocks noChangeArrowheads="1"/>
            </p:cNvSpPr>
            <p:nvPr/>
          </p:nvSpPr>
          <p:spPr bwMode="auto">
            <a:xfrm>
              <a:off x="2144" y="816"/>
              <a:ext cx="619" cy="11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37" name="Text Box 80"/>
            <p:cNvSpPr txBox="1">
              <a:spLocks noChangeArrowheads="1"/>
            </p:cNvSpPr>
            <p:nvPr/>
          </p:nvSpPr>
          <p:spPr bwMode="auto">
            <a:xfrm>
              <a:off x="2120" y="816"/>
              <a:ext cx="2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G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38" name="Text Box 81"/>
            <p:cNvSpPr txBox="1">
              <a:spLocks noChangeArrowheads="1"/>
            </p:cNvSpPr>
            <p:nvPr/>
          </p:nvSpPr>
          <p:spPr bwMode="auto">
            <a:xfrm>
              <a:off x="2120" y="1409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C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39" name="Text Box 82"/>
            <p:cNvSpPr txBox="1">
              <a:spLocks noChangeArrowheads="1"/>
            </p:cNvSpPr>
            <p:nvPr/>
          </p:nvSpPr>
          <p:spPr bwMode="auto">
            <a:xfrm>
              <a:off x="2120" y="1593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B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40" name="Text Box 83"/>
            <p:cNvSpPr txBox="1">
              <a:spLocks noChangeArrowheads="1"/>
            </p:cNvSpPr>
            <p:nvPr/>
          </p:nvSpPr>
          <p:spPr bwMode="auto">
            <a:xfrm>
              <a:off x="2120" y="1776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41" name="Oval 84"/>
            <p:cNvSpPr>
              <a:spLocks noChangeArrowheads="1"/>
            </p:cNvSpPr>
            <p:nvPr/>
          </p:nvSpPr>
          <p:spPr bwMode="auto">
            <a:xfrm>
              <a:off x="2064" y="1099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42" name="Oval 85"/>
            <p:cNvSpPr>
              <a:spLocks noChangeArrowheads="1"/>
            </p:cNvSpPr>
            <p:nvPr/>
          </p:nvSpPr>
          <p:spPr bwMode="auto">
            <a:xfrm>
              <a:off x="2064" y="1296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grpSp>
          <p:nvGrpSpPr>
            <p:cNvPr id="74843" name="Group 156"/>
            <p:cNvGrpSpPr/>
            <p:nvPr/>
          </p:nvGrpSpPr>
          <p:grpSpPr bwMode="auto">
            <a:xfrm>
              <a:off x="2137" y="1205"/>
              <a:ext cx="340" cy="231"/>
              <a:chOff x="2137" y="1205"/>
              <a:chExt cx="340" cy="231"/>
            </a:xfrm>
          </p:grpSpPr>
          <p:sp>
            <p:nvSpPr>
              <p:cNvPr id="74847" name="Text Box 87"/>
              <p:cNvSpPr txBox="1">
                <a:spLocks noChangeArrowheads="1"/>
              </p:cNvSpPr>
              <p:nvPr/>
            </p:nvSpPr>
            <p:spPr bwMode="auto">
              <a:xfrm>
                <a:off x="2137" y="1205"/>
                <a:ext cx="34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G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2B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4848" name="Freeform 88"/>
              <p:cNvSpPr/>
              <p:nvPr/>
            </p:nvSpPr>
            <p:spPr bwMode="auto">
              <a:xfrm>
                <a:off x="2184" y="1255"/>
                <a:ext cx="120" cy="1"/>
              </a:xfrm>
              <a:custGeom>
                <a:avLst/>
                <a:gdLst>
                  <a:gd name="T0" fmla="*/ 0 w 207"/>
                  <a:gd name="T1" fmla="*/ 0 h 1"/>
                  <a:gd name="T2" fmla="*/ 70 w 20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7" h="1">
                    <a:moveTo>
                      <a:pt x="0" y="0"/>
                    </a:moveTo>
                    <a:lnTo>
                      <a:pt x="207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74844" name="Group 155"/>
            <p:cNvGrpSpPr/>
            <p:nvPr/>
          </p:nvGrpSpPr>
          <p:grpSpPr bwMode="auto">
            <a:xfrm>
              <a:off x="2132" y="1004"/>
              <a:ext cx="345" cy="231"/>
              <a:chOff x="2132" y="1004"/>
              <a:chExt cx="345" cy="231"/>
            </a:xfrm>
          </p:grpSpPr>
          <p:sp>
            <p:nvSpPr>
              <p:cNvPr id="74845" name="Text Box 90"/>
              <p:cNvSpPr txBox="1">
                <a:spLocks noChangeArrowheads="1"/>
              </p:cNvSpPr>
              <p:nvPr/>
            </p:nvSpPr>
            <p:spPr bwMode="auto">
              <a:xfrm>
                <a:off x="2132" y="1004"/>
                <a:ext cx="345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800">
                    <a:latin typeface="Times New Roman" panose="02020603050405020304" pitchFamily="18" charset="0"/>
                  </a:rPr>
                  <a:t>G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2A</a:t>
                </a:r>
                <a:endParaRPr lang="en-US" altLang="zh-CN" sz="18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4846" name="Freeform 91"/>
              <p:cNvSpPr/>
              <p:nvPr/>
            </p:nvSpPr>
            <p:spPr bwMode="auto">
              <a:xfrm>
                <a:off x="2184" y="1051"/>
                <a:ext cx="120" cy="1"/>
              </a:xfrm>
              <a:custGeom>
                <a:avLst/>
                <a:gdLst>
                  <a:gd name="T0" fmla="*/ 0 w 204"/>
                  <a:gd name="T1" fmla="*/ 0 h 1"/>
                  <a:gd name="T2" fmla="*/ 71 w 20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4" h="1">
                    <a:moveTo>
                      <a:pt x="0" y="0"/>
                    </a:moveTo>
                    <a:lnTo>
                      <a:pt x="20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63260" name="Group 92"/>
          <p:cNvGrpSpPr/>
          <p:nvPr/>
        </p:nvGrpSpPr>
        <p:grpSpPr bwMode="auto">
          <a:xfrm>
            <a:off x="3733800" y="4999038"/>
            <a:ext cx="6737350" cy="919162"/>
            <a:chOff x="1392" y="3149"/>
            <a:chExt cx="4244" cy="579"/>
          </a:xfrm>
        </p:grpSpPr>
        <p:sp>
          <p:nvSpPr>
            <p:cNvPr id="74830" name="Line 93"/>
            <p:cNvSpPr>
              <a:spLocks noChangeShapeType="1"/>
            </p:cNvSpPr>
            <p:nvPr/>
          </p:nvSpPr>
          <p:spPr bwMode="auto">
            <a:xfrm>
              <a:off x="1392" y="3149"/>
              <a:ext cx="287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1" name="Line 94"/>
            <p:cNvSpPr>
              <a:spLocks noChangeShapeType="1"/>
            </p:cNvSpPr>
            <p:nvPr/>
          </p:nvSpPr>
          <p:spPr bwMode="auto">
            <a:xfrm>
              <a:off x="1392" y="3725"/>
              <a:ext cx="42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2" name="Line 95"/>
            <p:cNvSpPr>
              <a:spLocks noChangeShapeType="1"/>
            </p:cNvSpPr>
            <p:nvPr/>
          </p:nvSpPr>
          <p:spPr bwMode="auto">
            <a:xfrm>
              <a:off x="1392" y="3363"/>
              <a:ext cx="287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3" name="Line 96"/>
            <p:cNvSpPr>
              <a:spLocks noChangeShapeType="1"/>
            </p:cNvSpPr>
            <p:nvPr/>
          </p:nvSpPr>
          <p:spPr bwMode="auto">
            <a:xfrm>
              <a:off x="1392" y="3528"/>
              <a:ext cx="42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4" name="Text Box 97"/>
            <p:cNvSpPr txBox="1">
              <a:spLocks noChangeArrowheads="1"/>
            </p:cNvSpPr>
            <p:nvPr/>
          </p:nvSpPr>
          <p:spPr bwMode="auto">
            <a:xfrm>
              <a:off x="1514" y="3168"/>
              <a:ext cx="31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74835" name="Text Box 98"/>
            <p:cNvSpPr txBox="1">
              <a:spLocks noChangeArrowheads="1"/>
            </p:cNvSpPr>
            <p:nvPr/>
          </p:nvSpPr>
          <p:spPr bwMode="auto">
            <a:xfrm>
              <a:off x="1514" y="3536"/>
              <a:ext cx="31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319" name="Group 151"/>
          <p:cNvGrpSpPr/>
          <p:nvPr/>
        </p:nvGrpSpPr>
        <p:grpSpPr bwMode="auto">
          <a:xfrm>
            <a:off x="2057401" y="1295400"/>
            <a:ext cx="1681163" cy="5257800"/>
            <a:chOff x="336" y="816"/>
            <a:chExt cx="1059" cy="3312"/>
          </a:xfrm>
        </p:grpSpPr>
        <p:sp>
          <p:nvSpPr>
            <p:cNvPr id="74812" name="Rectangle 100"/>
            <p:cNvSpPr>
              <a:spLocks noChangeArrowheads="1"/>
            </p:cNvSpPr>
            <p:nvPr/>
          </p:nvSpPr>
          <p:spPr bwMode="auto">
            <a:xfrm>
              <a:off x="344" y="816"/>
              <a:ext cx="1051" cy="331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74813" name="Freeform 101"/>
            <p:cNvSpPr/>
            <p:nvPr/>
          </p:nvSpPr>
          <p:spPr bwMode="auto">
            <a:xfrm>
              <a:off x="368" y="1425"/>
              <a:ext cx="474" cy="1"/>
            </a:xfrm>
            <a:custGeom>
              <a:avLst/>
              <a:gdLst>
                <a:gd name="T0" fmla="*/ 0 w 474"/>
                <a:gd name="T1" fmla="*/ 0 h 1"/>
                <a:gd name="T2" fmla="*/ 474 w 47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4" h="1">
                  <a:moveTo>
                    <a:pt x="0" y="0"/>
                  </a:moveTo>
                  <a:lnTo>
                    <a:pt x="474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4" name="Text Box 102"/>
            <p:cNvSpPr txBox="1">
              <a:spLocks noChangeArrowheads="1"/>
            </p:cNvSpPr>
            <p:nvPr/>
          </p:nvSpPr>
          <p:spPr bwMode="auto">
            <a:xfrm>
              <a:off x="336" y="1392"/>
              <a:ext cx="56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MREQ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15" name="Text Box 103"/>
            <p:cNvSpPr txBox="1">
              <a:spLocks noChangeArrowheads="1"/>
            </p:cNvSpPr>
            <p:nvPr/>
          </p:nvSpPr>
          <p:spPr bwMode="auto">
            <a:xfrm>
              <a:off x="1008" y="816"/>
              <a:ext cx="3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14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16" name="Text Box 104"/>
            <p:cNvSpPr txBox="1">
              <a:spLocks noChangeArrowheads="1"/>
            </p:cNvSpPr>
            <p:nvPr/>
          </p:nvSpPr>
          <p:spPr bwMode="auto">
            <a:xfrm>
              <a:off x="1008" y="1008"/>
              <a:ext cx="3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15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17" name="Text Box 105"/>
            <p:cNvSpPr txBox="1">
              <a:spLocks noChangeArrowheads="1"/>
            </p:cNvSpPr>
            <p:nvPr/>
          </p:nvSpPr>
          <p:spPr bwMode="auto">
            <a:xfrm>
              <a:off x="1008" y="1342"/>
              <a:ext cx="3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13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18" name="Text Box 106"/>
            <p:cNvSpPr txBox="1">
              <a:spLocks noChangeArrowheads="1"/>
            </p:cNvSpPr>
            <p:nvPr/>
          </p:nvSpPr>
          <p:spPr bwMode="auto">
            <a:xfrm>
              <a:off x="1008" y="1534"/>
              <a:ext cx="3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12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19" name="Text Box 107"/>
            <p:cNvSpPr txBox="1">
              <a:spLocks noChangeArrowheads="1"/>
            </p:cNvSpPr>
            <p:nvPr/>
          </p:nvSpPr>
          <p:spPr bwMode="auto">
            <a:xfrm>
              <a:off x="1008" y="1726"/>
              <a:ext cx="3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11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0" name="Text Box 108"/>
            <p:cNvSpPr txBox="1">
              <a:spLocks noChangeArrowheads="1"/>
            </p:cNvSpPr>
            <p:nvPr/>
          </p:nvSpPr>
          <p:spPr bwMode="auto">
            <a:xfrm>
              <a:off x="1008" y="1918"/>
              <a:ext cx="3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10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1" name="Text Box 109"/>
            <p:cNvSpPr txBox="1">
              <a:spLocks noChangeArrowheads="1"/>
            </p:cNvSpPr>
            <p:nvPr/>
          </p:nvSpPr>
          <p:spPr bwMode="auto">
            <a:xfrm>
              <a:off x="1008" y="2088"/>
              <a:ext cx="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9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2" name="Text Box 110"/>
            <p:cNvSpPr txBox="1">
              <a:spLocks noChangeArrowheads="1"/>
            </p:cNvSpPr>
            <p:nvPr/>
          </p:nvSpPr>
          <p:spPr bwMode="auto">
            <a:xfrm>
              <a:off x="1008" y="2361"/>
              <a:ext cx="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0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3" name="Text Box 111"/>
            <p:cNvSpPr txBox="1">
              <a:spLocks noChangeArrowheads="1"/>
            </p:cNvSpPr>
            <p:nvPr/>
          </p:nvSpPr>
          <p:spPr bwMode="auto">
            <a:xfrm>
              <a:off x="1028" y="2251"/>
              <a:ext cx="310" cy="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74824" name="Text Box 112"/>
            <p:cNvSpPr txBox="1">
              <a:spLocks noChangeArrowheads="1"/>
            </p:cNvSpPr>
            <p:nvPr/>
          </p:nvSpPr>
          <p:spPr bwMode="auto">
            <a:xfrm>
              <a:off x="1056" y="3000"/>
              <a:ext cx="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7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5" name="Text Box 113"/>
            <p:cNvSpPr txBox="1">
              <a:spLocks noChangeArrowheads="1"/>
            </p:cNvSpPr>
            <p:nvPr/>
          </p:nvSpPr>
          <p:spPr bwMode="auto">
            <a:xfrm>
              <a:off x="1056" y="3192"/>
              <a:ext cx="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4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6" name="Text Box 114"/>
            <p:cNvSpPr txBox="1">
              <a:spLocks noChangeArrowheads="1"/>
            </p:cNvSpPr>
            <p:nvPr/>
          </p:nvSpPr>
          <p:spPr bwMode="auto">
            <a:xfrm>
              <a:off x="1056" y="3384"/>
              <a:ext cx="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3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7" name="Text Box 115"/>
            <p:cNvSpPr txBox="1">
              <a:spLocks noChangeArrowheads="1"/>
            </p:cNvSpPr>
            <p:nvPr/>
          </p:nvSpPr>
          <p:spPr bwMode="auto">
            <a:xfrm>
              <a:off x="1056" y="3576"/>
              <a:ext cx="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0</a:t>
              </a:r>
              <a:endParaRPr lang="en-US" altLang="zh-CN" sz="18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4828" name="Text Box 116"/>
            <p:cNvSpPr txBox="1">
              <a:spLocks noChangeArrowheads="1"/>
            </p:cNvSpPr>
            <p:nvPr/>
          </p:nvSpPr>
          <p:spPr bwMode="auto">
            <a:xfrm>
              <a:off x="1008" y="3792"/>
              <a:ext cx="36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800">
                  <a:latin typeface="Times New Roman" panose="02020603050405020304" pitchFamily="18" charset="0"/>
                </a:rPr>
                <a:t>WR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74829" name="Freeform 117"/>
            <p:cNvSpPr/>
            <p:nvPr/>
          </p:nvSpPr>
          <p:spPr bwMode="auto">
            <a:xfrm>
              <a:off x="1056" y="3834"/>
              <a:ext cx="243" cy="1"/>
            </a:xfrm>
            <a:custGeom>
              <a:avLst/>
              <a:gdLst>
                <a:gd name="T0" fmla="*/ 0 w 243"/>
                <a:gd name="T1" fmla="*/ 1 h 1"/>
                <a:gd name="T2" fmla="*/ 243 w 24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1">
                  <a:moveTo>
                    <a:pt x="0" y="1"/>
                  </a:moveTo>
                  <a:lnTo>
                    <a:pt x="24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63286" name="Group 118"/>
          <p:cNvGrpSpPr/>
          <p:nvPr/>
        </p:nvGrpSpPr>
        <p:grpSpPr bwMode="auto">
          <a:xfrm>
            <a:off x="9196388" y="4752975"/>
            <a:ext cx="711200" cy="1162050"/>
            <a:chOff x="4833" y="2994"/>
            <a:chExt cx="448" cy="732"/>
          </a:xfrm>
        </p:grpSpPr>
        <p:sp>
          <p:nvSpPr>
            <p:cNvPr id="74809" name="Freeform 119"/>
            <p:cNvSpPr/>
            <p:nvPr/>
          </p:nvSpPr>
          <p:spPr bwMode="auto">
            <a:xfrm>
              <a:off x="4833" y="2994"/>
              <a:ext cx="1" cy="510"/>
            </a:xfrm>
            <a:custGeom>
              <a:avLst/>
              <a:gdLst>
                <a:gd name="T0" fmla="*/ 0 w 1"/>
                <a:gd name="T1" fmla="*/ 0 h 510"/>
                <a:gd name="T2" fmla="*/ 1 w 1"/>
                <a:gd name="T3" fmla="*/ 510 h 5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10">
                  <a:moveTo>
                    <a:pt x="0" y="0"/>
                  </a:moveTo>
                  <a:lnTo>
                    <a:pt x="1" y="51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10" name="Freeform 120"/>
            <p:cNvSpPr/>
            <p:nvPr/>
          </p:nvSpPr>
          <p:spPr bwMode="auto">
            <a:xfrm>
              <a:off x="5280" y="3000"/>
              <a:ext cx="1" cy="726"/>
            </a:xfrm>
            <a:custGeom>
              <a:avLst/>
              <a:gdLst>
                <a:gd name="T0" fmla="*/ 0 w 1"/>
                <a:gd name="T1" fmla="*/ 0 h 726"/>
                <a:gd name="T2" fmla="*/ 0 w 1"/>
                <a:gd name="T3" fmla="*/ 726 h 7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26">
                  <a:moveTo>
                    <a:pt x="0" y="0"/>
                  </a:moveTo>
                  <a:lnTo>
                    <a:pt x="0" y="72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11" name="Text Box 121"/>
            <p:cNvSpPr txBox="1">
              <a:spLocks noChangeArrowheads="1"/>
            </p:cNvSpPr>
            <p:nvPr/>
          </p:nvSpPr>
          <p:spPr bwMode="auto">
            <a:xfrm>
              <a:off x="4876" y="3069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290" name="Group 122"/>
          <p:cNvGrpSpPr/>
          <p:nvPr/>
        </p:nvGrpSpPr>
        <p:grpSpPr bwMode="auto">
          <a:xfrm>
            <a:off x="7213600" y="4616450"/>
            <a:ext cx="788988" cy="717550"/>
            <a:chOff x="3584" y="2908"/>
            <a:chExt cx="497" cy="452"/>
          </a:xfrm>
        </p:grpSpPr>
        <p:sp>
          <p:nvSpPr>
            <p:cNvPr id="74806" name="Freeform 123"/>
            <p:cNvSpPr/>
            <p:nvPr/>
          </p:nvSpPr>
          <p:spPr bwMode="auto">
            <a:xfrm>
              <a:off x="3584" y="2994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1 w 1"/>
                <a:gd name="T3" fmla="*/ 15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0">
                  <a:moveTo>
                    <a:pt x="0" y="0"/>
                  </a:moveTo>
                  <a:lnTo>
                    <a:pt x="1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07" name="Freeform 124"/>
            <p:cNvSpPr/>
            <p:nvPr/>
          </p:nvSpPr>
          <p:spPr bwMode="auto">
            <a:xfrm>
              <a:off x="4080" y="2994"/>
              <a:ext cx="1" cy="366"/>
            </a:xfrm>
            <a:custGeom>
              <a:avLst/>
              <a:gdLst>
                <a:gd name="T0" fmla="*/ 0 w 1"/>
                <a:gd name="T1" fmla="*/ 0 h 366"/>
                <a:gd name="T2" fmla="*/ 0 w 1"/>
                <a:gd name="T3" fmla="*/ 366 h 3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08" name="Text Box 125"/>
            <p:cNvSpPr txBox="1">
              <a:spLocks noChangeArrowheads="1"/>
            </p:cNvSpPr>
            <p:nvPr/>
          </p:nvSpPr>
          <p:spPr bwMode="auto">
            <a:xfrm>
              <a:off x="3648" y="2908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3294" name="Group 126"/>
          <p:cNvGrpSpPr/>
          <p:nvPr/>
        </p:nvGrpSpPr>
        <p:grpSpPr bwMode="auto">
          <a:xfrm>
            <a:off x="5181600" y="4616450"/>
            <a:ext cx="844550" cy="1270000"/>
            <a:chOff x="2304" y="2908"/>
            <a:chExt cx="532" cy="800"/>
          </a:xfrm>
        </p:grpSpPr>
        <p:sp>
          <p:nvSpPr>
            <p:cNvPr id="74803" name="Line 127"/>
            <p:cNvSpPr>
              <a:spLocks noChangeShapeType="1"/>
            </p:cNvSpPr>
            <p:nvPr/>
          </p:nvSpPr>
          <p:spPr bwMode="auto">
            <a:xfrm>
              <a:off x="2304" y="2976"/>
              <a:ext cx="0" cy="16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804" name="Text Box 128"/>
            <p:cNvSpPr txBox="1">
              <a:spLocks noChangeArrowheads="1"/>
            </p:cNvSpPr>
            <p:nvPr/>
          </p:nvSpPr>
          <p:spPr bwMode="auto">
            <a:xfrm>
              <a:off x="2400" y="2908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74805" name="Freeform 129"/>
            <p:cNvSpPr/>
            <p:nvPr/>
          </p:nvSpPr>
          <p:spPr bwMode="auto">
            <a:xfrm>
              <a:off x="2835" y="2976"/>
              <a:ext cx="1" cy="732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63298" name="Group 130"/>
          <p:cNvGrpSpPr/>
          <p:nvPr/>
        </p:nvGrpSpPr>
        <p:grpSpPr bwMode="auto">
          <a:xfrm>
            <a:off x="3733800" y="3324226"/>
            <a:ext cx="6396038" cy="627063"/>
            <a:chOff x="1392" y="2094"/>
            <a:chExt cx="4029" cy="395"/>
          </a:xfrm>
        </p:grpSpPr>
        <p:sp>
          <p:nvSpPr>
            <p:cNvPr id="74798" name="Freeform 131"/>
            <p:cNvSpPr/>
            <p:nvPr/>
          </p:nvSpPr>
          <p:spPr bwMode="auto">
            <a:xfrm>
              <a:off x="1392" y="2094"/>
              <a:ext cx="2265" cy="1"/>
            </a:xfrm>
            <a:custGeom>
              <a:avLst/>
              <a:gdLst>
                <a:gd name="T0" fmla="*/ 0 w 2265"/>
                <a:gd name="T1" fmla="*/ 0 h 1"/>
                <a:gd name="T2" fmla="*/ 2265 w 226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5" h="1">
                  <a:moveTo>
                    <a:pt x="0" y="0"/>
                  </a:moveTo>
                  <a:lnTo>
                    <a:pt x="226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4799" name="Group 132"/>
            <p:cNvGrpSpPr/>
            <p:nvPr/>
          </p:nvGrpSpPr>
          <p:grpSpPr bwMode="auto">
            <a:xfrm>
              <a:off x="1392" y="2229"/>
              <a:ext cx="4029" cy="260"/>
              <a:chOff x="1392" y="2229"/>
              <a:chExt cx="4029" cy="260"/>
            </a:xfrm>
          </p:grpSpPr>
          <p:sp>
            <p:nvSpPr>
              <p:cNvPr id="74800" name="Freeform 133"/>
              <p:cNvSpPr/>
              <p:nvPr/>
            </p:nvSpPr>
            <p:spPr bwMode="auto">
              <a:xfrm>
                <a:off x="1395" y="2229"/>
                <a:ext cx="4026" cy="5"/>
              </a:xfrm>
              <a:custGeom>
                <a:avLst/>
                <a:gdLst>
                  <a:gd name="T0" fmla="*/ 0 w 4026"/>
                  <a:gd name="T1" fmla="*/ 0 h 5"/>
                  <a:gd name="T2" fmla="*/ 4026 w 4026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26" h="5">
                    <a:moveTo>
                      <a:pt x="0" y="0"/>
                    </a:moveTo>
                    <a:lnTo>
                      <a:pt x="4026" y="5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1" name="Line 134"/>
              <p:cNvSpPr>
                <a:spLocks noChangeShapeType="1"/>
              </p:cNvSpPr>
              <p:nvPr/>
            </p:nvSpPr>
            <p:spPr bwMode="auto">
              <a:xfrm>
                <a:off x="1392" y="2488"/>
                <a:ext cx="40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2" name="Text Box 135"/>
              <p:cNvSpPr txBox="1">
                <a:spLocks noChangeArrowheads="1"/>
              </p:cNvSpPr>
              <p:nvPr/>
            </p:nvSpPr>
            <p:spPr bwMode="auto">
              <a:xfrm>
                <a:off x="1514" y="2276"/>
                <a:ext cx="310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…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74783" name="Text Box 136"/>
          <p:cNvSpPr txBox="1">
            <a:spLocks noChangeArrowheads="1"/>
          </p:cNvSpPr>
          <p:nvPr/>
        </p:nvSpPr>
        <p:spPr bwMode="auto">
          <a:xfrm>
            <a:off x="833438" y="174625"/>
            <a:ext cx="7924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 dirty="0">
                <a:latin typeface="Times New Roman" panose="02020603050405020304" pitchFamily="18" charset="0"/>
              </a:rPr>
              <a:t>例 4.1 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r>
              <a:rPr lang="en-US" altLang="zh-CN" sz="3200" dirty="0">
                <a:latin typeface="Times New Roman" panose="02020603050405020304" pitchFamily="18" charset="0"/>
              </a:rPr>
              <a:t>CPU </a:t>
            </a:r>
            <a:r>
              <a:rPr lang="zh-CN" altLang="en-US" sz="3200" dirty="0">
                <a:latin typeface="Times New Roman" panose="02020603050405020304" pitchFamily="18" charset="0"/>
              </a:rPr>
              <a:t>与存储器的连接图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263306" name="Group 138"/>
          <p:cNvGrpSpPr/>
          <p:nvPr/>
        </p:nvGrpSpPr>
        <p:grpSpPr bwMode="auto">
          <a:xfrm>
            <a:off x="5181601" y="4616450"/>
            <a:ext cx="854075" cy="1308100"/>
            <a:chOff x="2304" y="2908"/>
            <a:chExt cx="538" cy="824"/>
          </a:xfrm>
        </p:grpSpPr>
        <p:sp>
          <p:nvSpPr>
            <p:cNvPr id="74795" name="Freeform 139"/>
            <p:cNvSpPr/>
            <p:nvPr/>
          </p:nvSpPr>
          <p:spPr bwMode="auto">
            <a:xfrm>
              <a:off x="2304" y="2979"/>
              <a:ext cx="3" cy="195"/>
            </a:xfrm>
            <a:custGeom>
              <a:avLst/>
              <a:gdLst>
                <a:gd name="T0" fmla="*/ 3 w 3"/>
                <a:gd name="T1" fmla="*/ 0 h 195"/>
                <a:gd name="T2" fmla="*/ 0 w 3"/>
                <a:gd name="T3" fmla="*/ 195 h 1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5">
                  <a:moveTo>
                    <a:pt x="3" y="0"/>
                  </a:moveTo>
                  <a:lnTo>
                    <a:pt x="0" y="1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796" name="Text Box 140"/>
            <p:cNvSpPr txBox="1">
              <a:spLocks noChangeArrowheads="1"/>
            </p:cNvSpPr>
            <p:nvPr/>
          </p:nvSpPr>
          <p:spPr bwMode="auto">
            <a:xfrm>
              <a:off x="2400" y="2908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4797" name="Freeform 141"/>
            <p:cNvSpPr/>
            <p:nvPr/>
          </p:nvSpPr>
          <p:spPr bwMode="auto">
            <a:xfrm>
              <a:off x="2841" y="2979"/>
              <a:ext cx="1" cy="753"/>
            </a:xfrm>
            <a:custGeom>
              <a:avLst/>
              <a:gdLst>
                <a:gd name="T0" fmla="*/ 0 w 1"/>
                <a:gd name="T1" fmla="*/ 0 h 753"/>
                <a:gd name="T2" fmla="*/ 0 w 1"/>
                <a:gd name="T3" fmla="*/ 753 h 7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53">
                  <a:moveTo>
                    <a:pt x="0" y="0"/>
                  </a:moveTo>
                  <a:lnTo>
                    <a:pt x="0" y="753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63310" name="Group 142"/>
          <p:cNvGrpSpPr/>
          <p:nvPr/>
        </p:nvGrpSpPr>
        <p:grpSpPr bwMode="auto">
          <a:xfrm>
            <a:off x="7213600" y="4616451"/>
            <a:ext cx="782638" cy="765175"/>
            <a:chOff x="3584" y="2908"/>
            <a:chExt cx="493" cy="482"/>
          </a:xfrm>
        </p:grpSpPr>
        <p:sp>
          <p:nvSpPr>
            <p:cNvPr id="74792" name="Freeform 143"/>
            <p:cNvSpPr/>
            <p:nvPr/>
          </p:nvSpPr>
          <p:spPr bwMode="auto">
            <a:xfrm>
              <a:off x="3584" y="2988"/>
              <a:ext cx="1" cy="198"/>
            </a:xfrm>
            <a:custGeom>
              <a:avLst/>
              <a:gdLst>
                <a:gd name="T0" fmla="*/ 0 w 1"/>
                <a:gd name="T1" fmla="*/ 0 h 198"/>
                <a:gd name="T2" fmla="*/ 0 w 1"/>
                <a:gd name="T3" fmla="*/ 198 h 1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98">
                  <a:moveTo>
                    <a:pt x="0" y="0"/>
                  </a:moveTo>
                  <a:lnTo>
                    <a:pt x="0" y="198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793" name="Text Box 144"/>
            <p:cNvSpPr txBox="1">
              <a:spLocks noChangeArrowheads="1"/>
            </p:cNvSpPr>
            <p:nvPr/>
          </p:nvSpPr>
          <p:spPr bwMode="auto">
            <a:xfrm>
              <a:off x="3648" y="2908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4794" name="Freeform 145"/>
            <p:cNvSpPr/>
            <p:nvPr/>
          </p:nvSpPr>
          <p:spPr bwMode="auto">
            <a:xfrm>
              <a:off x="4074" y="2991"/>
              <a:ext cx="3" cy="399"/>
            </a:xfrm>
            <a:custGeom>
              <a:avLst/>
              <a:gdLst>
                <a:gd name="T0" fmla="*/ 3 w 3"/>
                <a:gd name="T1" fmla="*/ 0 h 375"/>
                <a:gd name="T2" fmla="*/ 0 w 3"/>
                <a:gd name="T3" fmla="*/ 425 h 3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5">
                  <a:moveTo>
                    <a:pt x="3" y="0"/>
                  </a:moveTo>
                  <a:lnTo>
                    <a:pt x="0" y="37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63314" name="Group 146"/>
          <p:cNvGrpSpPr/>
          <p:nvPr/>
        </p:nvGrpSpPr>
        <p:grpSpPr bwMode="auto">
          <a:xfrm>
            <a:off x="9196388" y="4762500"/>
            <a:ext cx="711200" cy="1162050"/>
            <a:chOff x="4833" y="3000"/>
            <a:chExt cx="448" cy="732"/>
          </a:xfrm>
        </p:grpSpPr>
        <p:sp>
          <p:nvSpPr>
            <p:cNvPr id="74789" name="Freeform 147"/>
            <p:cNvSpPr/>
            <p:nvPr/>
          </p:nvSpPr>
          <p:spPr bwMode="auto">
            <a:xfrm>
              <a:off x="4833" y="3006"/>
              <a:ext cx="1" cy="519"/>
            </a:xfrm>
            <a:custGeom>
              <a:avLst/>
              <a:gdLst>
                <a:gd name="T0" fmla="*/ 0 w 1"/>
                <a:gd name="T1" fmla="*/ 0 h 519"/>
                <a:gd name="T2" fmla="*/ 0 w 1"/>
                <a:gd name="T3" fmla="*/ 519 h 5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19">
                  <a:moveTo>
                    <a:pt x="0" y="0"/>
                  </a:moveTo>
                  <a:lnTo>
                    <a:pt x="0" y="519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4790" name="Text Box 148"/>
            <p:cNvSpPr txBox="1">
              <a:spLocks noChangeArrowheads="1"/>
            </p:cNvSpPr>
            <p:nvPr/>
          </p:nvSpPr>
          <p:spPr bwMode="auto">
            <a:xfrm>
              <a:off x="4876" y="3069"/>
              <a:ext cx="27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4791" name="Freeform 149"/>
            <p:cNvSpPr/>
            <p:nvPr/>
          </p:nvSpPr>
          <p:spPr bwMode="auto">
            <a:xfrm>
              <a:off x="5280" y="3000"/>
              <a:ext cx="1" cy="732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3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63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63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263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63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263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263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63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263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263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263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500"/>
                                        <p:tgtEl>
                                          <p:spTgt spid="263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263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2" dur="500"/>
                                        <p:tgtEl>
                                          <p:spTgt spid="263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6" dur="500"/>
                                        <p:tgtEl>
                                          <p:spTgt spid="263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263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5" dur="500"/>
                                        <p:tgtEl>
                                          <p:spTgt spid="263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0" dur="500"/>
                                        <p:tgtEl>
                                          <p:spTgt spid="263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4" dur="500"/>
                                        <p:tgtEl>
                                          <p:spTgt spid="263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99" dur="500"/>
                                        <p:tgtEl>
                                          <p:spTgt spid="263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4" dur="500"/>
                                        <p:tgtEl>
                                          <p:spTgt spid="263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00"/>
                            </p:stCondLst>
                            <p:childTnLst>
                              <p:par>
                                <p:cTn id="106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8" dur="500"/>
                                        <p:tgtEl>
                                          <p:spTgt spid="263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13" dur="500"/>
                                        <p:tgtEl>
                                          <p:spTgt spid="263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500"/>
                            </p:stCondLst>
                            <p:childTnLst>
                              <p:par>
                                <p:cTn id="11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26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2" dur="500"/>
                                        <p:tgtEl>
                                          <p:spTgt spid="263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7" dur="500"/>
                                        <p:tgtEl>
                                          <p:spTgt spid="26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2" dur="500"/>
                                        <p:tgtEl>
                                          <p:spTgt spid="263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263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2" dur="500"/>
                                        <p:tgtEl>
                                          <p:spTgt spid="263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7" dur="500"/>
                                        <p:tgtEl>
                                          <p:spTgt spid="263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2" dur="500"/>
                                        <p:tgtEl>
                                          <p:spTgt spid="263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7" dur="500"/>
                                        <p:tgtEl>
                                          <p:spTgt spid="26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Text Box 2"/>
          <p:cNvSpPr txBox="1">
            <a:spLocks noChangeArrowheads="1"/>
          </p:cNvSpPr>
          <p:nvPr/>
        </p:nvSpPr>
        <p:spPr bwMode="auto">
          <a:xfrm>
            <a:off x="2260526" y="2844775"/>
            <a:ext cx="79248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写出对应的二进制地址码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75779" name="Group 3"/>
          <p:cNvGrpSpPr/>
          <p:nvPr/>
        </p:nvGrpSpPr>
        <p:grpSpPr bwMode="auto">
          <a:xfrm>
            <a:off x="1185788" y="477812"/>
            <a:ext cx="8097838" cy="2090738"/>
            <a:chOff x="269" y="1101"/>
            <a:chExt cx="4447" cy="1243"/>
          </a:xfrm>
        </p:grpSpPr>
        <p:sp>
          <p:nvSpPr>
            <p:cNvPr id="75785" name="Text Box 4"/>
            <p:cNvSpPr txBox="1">
              <a:spLocks noChangeArrowheads="1"/>
            </p:cNvSpPr>
            <p:nvPr/>
          </p:nvSpPr>
          <p:spPr bwMode="auto">
            <a:xfrm>
              <a:off x="330" y="1101"/>
              <a:ext cx="4386" cy="3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/>
                <a:t>例</a:t>
              </a:r>
              <a:r>
                <a:rPr lang="zh-CN" altLang="en-US" sz="3600">
                  <a:latin typeface="Times New Roman" panose="02020603050405020304" pitchFamily="18" charset="0"/>
                </a:rPr>
                <a:t>4.2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zh-CN" altLang="en-US" sz="1000">
                  <a:latin typeface="Times New Roman" panose="02020603050405020304" pitchFamily="18" charset="0"/>
                </a:rPr>
                <a:t> </a:t>
              </a:r>
              <a:r>
                <a:rPr lang="zh-CN" altLang="en-US" sz="3200">
                  <a:latin typeface="Times New Roman" panose="02020603050405020304" pitchFamily="18" charset="0"/>
                </a:rPr>
                <a:t>假设同前，要求最小 </a:t>
              </a:r>
              <a:r>
                <a:rPr lang="en-US" altLang="zh-CN" sz="3200">
                  <a:latin typeface="Times New Roman" panose="02020603050405020304" pitchFamily="18" charset="0"/>
                </a:rPr>
                <a:t>8K</a:t>
              </a:r>
              <a:r>
                <a:rPr lang="zh-CN" altLang="en-US" sz="3200">
                  <a:latin typeface="Times New Roman" panose="02020603050405020304" pitchFamily="18" charset="0"/>
                </a:rPr>
                <a:t>为系统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5786" name="Text Box 5"/>
            <p:cNvSpPr txBox="1">
              <a:spLocks noChangeArrowheads="1"/>
            </p:cNvSpPr>
            <p:nvPr/>
          </p:nvSpPr>
          <p:spPr bwMode="auto">
            <a:xfrm>
              <a:off x="269" y="1558"/>
              <a:ext cx="4386" cy="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             程序区，相邻 </a:t>
              </a:r>
              <a:r>
                <a:rPr lang="en-US" altLang="zh-CN" sz="3200">
                  <a:latin typeface="Times New Roman" panose="02020603050405020304" pitchFamily="18" charset="0"/>
                </a:rPr>
                <a:t>16K</a:t>
              </a:r>
              <a:r>
                <a:rPr lang="zh-CN" altLang="en-US" sz="3200">
                  <a:latin typeface="Times New Roman" panose="02020603050405020304" pitchFamily="18" charset="0"/>
                </a:rPr>
                <a:t>为用户程序区。</a:t>
              </a:r>
              <a:endParaRPr lang="en-US" altLang="zh-CN" sz="3200">
                <a:latin typeface="Times New Roman" panose="02020603050405020304" pitchFamily="18" charset="0"/>
              </a:endParaRPr>
            </a:p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              最大</a:t>
              </a:r>
              <a:r>
                <a:rPr lang="en-US" altLang="zh-CN" sz="3200">
                  <a:latin typeface="Times New Roman" panose="02020603050405020304" pitchFamily="18" charset="0"/>
                </a:rPr>
                <a:t>4K</a:t>
              </a:r>
              <a:r>
                <a:rPr lang="zh-CN" altLang="en-US" sz="3200">
                  <a:latin typeface="Times New Roman" panose="02020603050405020304" pitchFamily="18" charset="0"/>
                </a:rPr>
                <a:t>为系统程序工作区。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64198" name="Text Box 6"/>
          <p:cNvSpPr txBox="1">
            <a:spLocks noChangeArrowheads="1"/>
          </p:cNvSpPr>
          <p:nvPr/>
        </p:nvSpPr>
        <p:spPr bwMode="auto">
          <a:xfrm>
            <a:off x="2279576" y="3640113"/>
            <a:ext cx="7924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(2) 确定芯片的数量及类型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4199" name="Text Box 7"/>
          <p:cNvSpPr txBox="1">
            <a:spLocks noChangeArrowheads="1"/>
          </p:cNvSpPr>
          <p:nvPr/>
        </p:nvSpPr>
        <p:spPr bwMode="auto">
          <a:xfrm>
            <a:off x="2260526" y="4433863"/>
            <a:ext cx="7924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(3) 分配地址线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4200" name="Rectangle 8"/>
          <p:cNvSpPr>
            <a:spLocks noChangeArrowheads="1"/>
          </p:cNvSpPr>
          <p:nvPr/>
        </p:nvSpPr>
        <p:spPr bwMode="auto">
          <a:xfrm>
            <a:off x="2279576" y="5229200"/>
            <a:ext cx="4089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(4) 确定片选信号</a:t>
            </a:r>
            <a:endParaRPr lang="en-US" altLang="zh-CN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4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4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4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4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194" grpId="0" autoUpdateAnimBg="0"/>
      <p:bldP spid="264198" grpId="0" autoUpdateAnimBg="0"/>
      <p:bldP spid="264199" grpId="0" autoUpdateAnimBg="0"/>
      <p:bldP spid="264200" grpId="0" autoUpdateAnimBg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Text Box 2"/>
          <p:cNvSpPr txBox="1">
            <a:spLocks noChangeArrowheads="1"/>
          </p:cNvSpPr>
          <p:nvPr/>
        </p:nvSpPr>
        <p:spPr bwMode="auto">
          <a:xfrm>
            <a:off x="1676400" y="-11113"/>
            <a:ext cx="4343400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 dirty="0"/>
              <a:t>例</a:t>
            </a:r>
            <a:r>
              <a:rPr lang="zh-CN" altLang="en-US" sz="3600" dirty="0">
                <a:latin typeface="Times New Roman" panose="02020603050405020304" pitchFamily="18" charset="0"/>
              </a:rPr>
              <a:t>4.</a:t>
            </a:r>
            <a:r>
              <a:rPr lang="en-US" altLang="zh-CN" sz="3600" dirty="0">
                <a:latin typeface="Times New Roman" panose="02020603050405020304" pitchFamily="18" charset="0"/>
              </a:rPr>
              <a:t>2</a:t>
            </a:r>
            <a:r>
              <a:rPr lang="zh-CN" altLang="en-US" sz="3200" dirty="0">
                <a:latin typeface="Times New Roman" panose="02020603050405020304" pitchFamily="18" charset="0"/>
              </a:rPr>
              <a:t>   </a:t>
            </a:r>
            <a:r>
              <a:rPr lang="zh-CN" altLang="en-US" sz="3200" dirty="0"/>
              <a:t>解:</a:t>
            </a:r>
            <a:r>
              <a:rPr lang="zh-CN" altLang="en-US" sz="3200" dirty="0">
                <a:latin typeface="Times New Roman" panose="02020603050405020304" pitchFamily="18" charset="0"/>
              </a:rPr>
              <a:t> 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sp>
        <p:nvSpPr>
          <p:cNvPr id="261123" name="Text Box 3"/>
          <p:cNvSpPr txBox="1">
            <a:spLocks noChangeArrowheads="1"/>
          </p:cNvSpPr>
          <p:nvPr/>
        </p:nvSpPr>
        <p:spPr bwMode="auto">
          <a:xfrm>
            <a:off x="3821113" y="80963"/>
            <a:ext cx="79248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(1) 写出对应的二进制地址码</a:t>
            </a:r>
            <a:endParaRPr lang="zh-CN" altLang="en-US" sz="2800" dirty="0">
              <a:latin typeface="Times New Roman" panose="02020603050405020304" pitchFamily="18" charset="0"/>
            </a:endParaRPr>
          </a:p>
        </p:txBody>
      </p:sp>
      <p:grpSp>
        <p:nvGrpSpPr>
          <p:cNvPr id="261125" name="Group 5"/>
          <p:cNvGrpSpPr/>
          <p:nvPr/>
        </p:nvGrpSpPr>
        <p:grpSpPr bwMode="auto">
          <a:xfrm>
            <a:off x="1905000" y="941389"/>
            <a:ext cx="6858000" cy="579437"/>
            <a:chOff x="384" y="1296"/>
            <a:chExt cx="4320" cy="365"/>
          </a:xfrm>
        </p:grpSpPr>
        <p:sp>
          <p:nvSpPr>
            <p:cNvPr id="76852" name="Text Box 6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53" name="Text Box 7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54" name="Text Box 8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55" name="Text Box 9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61130" name="Text Box 10"/>
          <p:cNvSpPr txBox="1">
            <a:spLocks noChangeArrowheads="1"/>
          </p:cNvSpPr>
          <p:nvPr/>
        </p:nvSpPr>
        <p:spPr bwMode="auto">
          <a:xfrm>
            <a:off x="1828800" y="560388"/>
            <a:ext cx="784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15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14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13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12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11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10</a:t>
            </a:r>
            <a:r>
              <a:rPr lang="en-US" altLang="zh-CN" sz="2400">
                <a:latin typeface="Times New Roman" panose="02020603050405020304" pitchFamily="18" charset="0"/>
              </a:rPr>
              <a:t>    …    A</a:t>
            </a:r>
            <a:r>
              <a:rPr lang="en-US" altLang="zh-CN" sz="2400" baseline="-25000">
                <a:latin typeface="Times New Roman" panose="02020603050405020304" pitchFamily="18" charset="0"/>
              </a:rPr>
              <a:t>7     </a:t>
            </a:r>
            <a:r>
              <a:rPr lang="en-US" altLang="zh-CN" sz="2400">
                <a:latin typeface="Times New Roman" panose="02020603050405020304" pitchFamily="18" charset="0"/>
              </a:rPr>
              <a:t>…  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4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3      </a:t>
            </a:r>
            <a:r>
              <a:rPr lang="en-US" altLang="zh-CN" sz="2400">
                <a:latin typeface="Times New Roman" panose="02020603050405020304" pitchFamily="18" charset="0"/>
              </a:rPr>
              <a:t>…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 </a:t>
            </a:r>
            <a:r>
              <a:rPr lang="en-US" altLang="zh-CN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0</a:t>
            </a:r>
            <a:endParaRPr lang="en-US" altLang="zh-CN" sz="2400" baseline="-25000">
              <a:latin typeface="Times New Roman" panose="02020603050405020304" pitchFamily="18" charset="0"/>
            </a:endParaRPr>
          </a:p>
        </p:txBody>
      </p:sp>
      <p:grpSp>
        <p:nvGrpSpPr>
          <p:cNvPr id="261131" name="Group 11"/>
          <p:cNvGrpSpPr/>
          <p:nvPr/>
        </p:nvGrpSpPr>
        <p:grpSpPr bwMode="auto">
          <a:xfrm>
            <a:off x="1863726" y="1333500"/>
            <a:ext cx="6899275" cy="1060450"/>
            <a:chOff x="262" y="1665"/>
            <a:chExt cx="4346" cy="668"/>
          </a:xfrm>
        </p:grpSpPr>
        <p:sp>
          <p:nvSpPr>
            <p:cNvPr id="76846" name="Text Box 12"/>
            <p:cNvSpPr txBox="1">
              <a:spLocks noChangeArrowheads="1"/>
            </p:cNvSpPr>
            <p:nvPr/>
          </p:nvSpPr>
          <p:spPr bwMode="auto">
            <a:xfrm>
              <a:off x="262" y="1665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6847" name="Group 13"/>
            <p:cNvGrpSpPr/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76848" name="Text Box 14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49" name="Text Box 15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50" name="Text Box 16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51" name="Text Box 17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61138" name="Group 18"/>
          <p:cNvGrpSpPr/>
          <p:nvPr/>
        </p:nvGrpSpPr>
        <p:grpSpPr bwMode="auto">
          <a:xfrm>
            <a:off x="1905000" y="2195514"/>
            <a:ext cx="6858000" cy="579437"/>
            <a:chOff x="384" y="1296"/>
            <a:chExt cx="4320" cy="365"/>
          </a:xfrm>
        </p:grpSpPr>
        <p:sp>
          <p:nvSpPr>
            <p:cNvPr id="76842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43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44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45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1143" name="Group 23"/>
          <p:cNvGrpSpPr/>
          <p:nvPr/>
        </p:nvGrpSpPr>
        <p:grpSpPr bwMode="auto">
          <a:xfrm>
            <a:off x="1857376" y="2647951"/>
            <a:ext cx="6886575" cy="1116013"/>
            <a:chOff x="270" y="2734"/>
            <a:chExt cx="4338" cy="703"/>
          </a:xfrm>
        </p:grpSpPr>
        <p:sp>
          <p:nvSpPr>
            <p:cNvPr id="76836" name="Text Box 24"/>
            <p:cNvSpPr txBox="1">
              <a:spLocks noChangeArrowheads="1"/>
            </p:cNvSpPr>
            <p:nvPr/>
          </p:nvSpPr>
          <p:spPr bwMode="auto">
            <a:xfrm>
              <a:off x="270" y="2734"/>
              <a:ext cx="427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6837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6838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39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40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41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76809" name="Text Box 36"/>
          <p:cNvSpPr txBox="1">
            <a:spLocks noChangeArrowheads="1"/>
          </p:cNvSpPr>
          <p:nvPr/>
        </p:nvSpPr>
        <p:spPr bwMode="auto">
          <a:xfrm>
            <a:off x="9128126" y="6011864"/>
            <a:ext cx="15398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7" name="Group 18"/>
          <p:cNvGrpSpPr/>
          <p:nvPr/>
        </p:nvGrpSpPr>
        <p:grpSpPr bwMode="auto">
          <a:xfrm>
            <a:off x="1881188" y="3592514"/>
            <a:ext cx="6858000" cy="579437"/>
            <a:chOff x="384" y="1296"/>
            <a:chExt cx="4320" cy="365"/>
          </a:xfrm>
        </p:grpSpPr>
        <p:sp>
          <p:nvSpPr>
            <p:cNvPr id="76832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33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34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35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2" name="Group 23"/>
          <p:cNvGrpSpPr/>
          <p:nvPr/>
        </p:nvGrpSpPr>
        <p:grpSpPr bwMode="auto">
          <a:xfrm>
            <a:off x="1855788" y="4062414"/>
            <a:ext cx="6883400" cy="1222375"/>
            <a:chOff x="272" y="2667"/>
            <a:chExt cx="4336" cy="770"/>
          </a:xfrm>
        </p:grpSpPr>
        <p:sp>
          <p:nvSpPr>
            <p:cNvPr id="76826" name="Text Box 24"/>
            <p:cNvSpPr txBox="1">
              <a:spLocks noChangeArrowheads="1"/>
            </p:cNvSpPr>
            <p:nvPr/>
          </p:nvSpPr>
          <p:spPr bwMode="auto">
            <a:xfrm>
              <a:off x="272" y="2667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6827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6828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29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30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31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 bwMode="auto">
          <a:xfrm>
            <a:off x="1893888" y="5111750"/>
            <a:ext cx="6858000" cy="579438"/>
            <a:chOff x="384" y="1296"/>
            <a:chExt cx="4320" cy="365"/>
          </a:xfrm>
        </p:grpSpPr>
        <p:sp>
          <p:nvSpPr>
            <p:cNvPr id="76822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23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24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6825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 bwMode="auto">
          <a:xfrm>
            <a:off x="1854200" y="5637213"/>
            <a:ext cx="6897688" cy="1166812"/>
            <a:chOff x="263" y="2702"/>
            <a:chExt cx="4345" cy="735"/>
          </a:xfrm>
        </p:grpSpPr>
        <p:sp>
          <p:nvSpPr>
            <p:cNvPr id="76816" name="Text Box 24"/>
            <p:cNvSpPr txBox="1">
              <a:spLocks noChangeArrowheads="1"/>
            </p:cNvSpPr>
            <p:nvPr/>
          </p:nvSpPr>
          <p:spPr bwMode="auto">
            <a:xfrm>
              <a:off x="263" y="2702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6817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6818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19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20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821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1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1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1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1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123" grpId="0" autoUpdateAnimBg="0"/>
      <p:bldP spid="261130" grpId="0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3154363" y="5229225"/>
            <a:ext cx="298450" cy="1562100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77827" name="Text Box 2"/>
          <p:cNvSpPr txBox="1">
            <a:spLocks noChangeArrowheads="1"/>
          </p:cNvSpPr>
          <p:nvPr/>
        </p:nvSpPr>
        <p:spPr bwMode="auto">
          <a:xfrm>
            <a:off x="1676400" y="-11113"/>
            <a:ext cx="4343400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/>
              <a:t>例</a:t>
            </a:r>
            <a:r>
              <a:rPr lang="zh-CN" altLang="en-US" sz="3600">
                <a:latin typeface="Times New Roman" panose="02020603050405020304" pitchFamily="18" charset="0"/>
              </a:rPr>
              <a:t>4.</a:t>
            </a:r>
            <a:r>
              <a:rPr lang="en-US" altLang="zh-CN" sz="3600">
                <a:latin typeface="Times New Roman" panose="02020603050405020304" pitchFamily="18" charset="0"/>
              </a:rPr>
              <a:t>2</a:t>
            </a:r>
            <a:r>
              <a:rPr lang="zh-CN" altLang="en-US" sz="3200">
                <a:latin typeface="Times New Roman" panose="02020603050405020304" pitchFamily="18" charset="0"/>
              </a:rPr>
              <a:t>   </a:t>
            </a:r>
            <a:r>
              <a:rPr lang="zh-CN" altLang="en-US" sz="3200"/>
              <a:t>解: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261125" name="Group 5"/>
          <p:cNvGrpSpPr/>
          <p:nvPr/>
        </p:nvGrpSpPr>
        <p:grpSpPr bwMode="auto">
          <a:xfrm>
            <a:off x="1905000" y="941389"/>
            <a:ext cx="6858000" cy="579437"/>
            <a:chOff x="384" y="1296"/>
            <a:chExt cx="4320" cy="365"/>
          </a:xfrm>
        </p:grpSpPr>
        <p:sp>
          <p:nvSpPr>
            <p:cNvPr id="77880" name="Text Box 6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81" name="Text Box 7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82" name="Text Box 8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83" name="Text Box 9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61130" name="Text Box 10"/>
          <p:cNvSpPr txBox="1">
            <a:spLocks noChangeArrowheads="1"/>
          </p:cNvSpPr>
          <p:nvPr/>
        </p:nvSpPr>
        <p:spPr bwMode="auto">
          <a:xfrm>
            <a:off x="1828800" y="560388"/>
            <a:ext cx="784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15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14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13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12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11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10</a:t>
            </a:r>
            <a:r>
              <a:rPr lang="en-US" altLang="zh-CN" sz="2400">
                <a:latin typeface="Times New Roman" panose="02020603050405020304" pitchFamily="18" charset="0"/>
              </a:rPr>
              <a:t>    …    A</a:t>
            </a:r>
            <a:r>
              <a:rPr lang="en-US" altLang="zh-CN" sz="2400" baseline="-25000">
                <a:latin typeface="Times New Roman" panose="02020603050405020304" pitchFamily="18" charset="0"/>
              </a:rPr>
              <a:t>7     </a:t>
            </a:r>
            <a:r>
              <a:rPr lang="en-US" altLang="zh-CN" sz="2400">
                <a:latin typeface="Times New Roman" panose="02020603050405020304" pitchFamily="18" charset="0"/>
              </a:rPr>
              <a:t>…  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4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3      </a:t>
            </a:r>
            <a:r>
              <a:rPr lang="en-US" altLang="zh-CN" sz="2400">
                <a:latin typeface="Times New Roman" panose="02020603050405020304" pitchFamily="18" charset="0"/>
              </a:rPr>
              <a:t>…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 </a:t>
            </a:r>
            <a:r>
              <a:rPr lang="en-US" altLang="zh-CN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0</a:t>
            </a:r>
            <a:endParaRPr lang="en-US" altLang="zh-CN" sz="2400" baseline="-25000">
              <a:latin typeface="Times New Roman" panose="02020603050405020304" pitchFamily="18" charset="0"/>
            </a:endParaRPr>
          </a:p>
        </p:txBody>
      </p:sp>
      <p:grpSp>
        <p:nvGrpSpPr>
          <p:cNvPr id="261131" name="Group 11"/>
          <p:cNvGrpSpPr/>
          <p:nvPr/>
        </p:nvGrpSpPr>
        <p:grpSpPr bwMode="auto">
          <a:xfrm>
            <a:off x="1863726" y="1333500"/>
            <a:ext cx="6899275" cy="1060450"/>
            <a:chOff x="262" y="1665"/>
            <a:chExt cx="4346" cy="668"/>
          </a:xfrm>
        </p:grpSpPr>
        <p:sp>
          <p:nvSpPr>
            <p:cNvPr id="77874" name="Text Box 12"/>
            <p:cNvSpPr txBox="1">
              <a:spLocks noChangeArrowheads="1"/>
            </p:cNvSpPr>
            <p:nvPr/>
          </p:nvSpPr>
          <p:spPr bwMode="auto">
            <a:xfrm>
              <a:off x="262" y="1665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7875" name="Group 13"/>
            <p:cNvGrpSpPr/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77876" name="Text Box 14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77" name="Text Box 15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78" name="Text Box 16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79" name="Text Box 17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61138" name="Group 18"/>
          <p:cNvGrpSpPr/>
          <p:nvPr/>
        </p:nvGrpSpPr>
        <p:grpSpPr bwMode="auto">
          <a:xfrm>
            <a:off x="1905000" y="2195514"/>
            <a:ext cx="6858000" cy="579437"/>
            <a:chOff x="384" y="1296"/>
            <a:chExt cx="4320" cy="365"/>
          </a:xfrm>
        </p:grpSpPr>
        <p:sp>
          <p:nvSpPr>
            <p:cNvPr id="77870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71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72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73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1143" name="Group 23"/>
          <p:cNvGrpSpPr/>
          <p:nvPr/>
        </p:nvGrpSpPr>
        <p:grpSpPr bwMode="auto">
          <a:xfrm>
            <a:off x="1857376" y="2647951"/>
            <a:ext cx="6886575" cy="1116013"/>
            <a:chOff x="270" y="2734"/>
            <a:chExt cx="4338" cy="703"/>
          </a:xfrm>
        </p:grpSpPr>
        <p:sp>
          <p:nvSpPr>
            <p:cNvPr id="77864" name="Text Box 24"/>
            <p:cNvSpPr txBox="1">
              <a:spLocks noChangeArrowheads="1"/>
            </p:cNvSpPr>
            <p:nvPr/>
          </p:nvSpPr>
          <p:spPr bwMode="auto">
            <a:xfrm>
              <a:off x="270" y="2734"/>
              <a:ext cx="427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7865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7866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67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68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69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77833" name="Text Box 36"/>
          <p:cNvSpPr txBox="1">
            <a:spLocks noChangeArrowheads="1"/>
          </p:cNvSpPr>
          <p:nvPr/>
        </p:nvSpPr>
        <p:spPr bwMode="auto">
          <a:xfrm>
            <a:off x="9128126" y="6011864"/>
            <a:ext cx="15398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7" name="Group 18"/>
          <p:cNvGrpSpPr/>
          <p:nvPr/>
        </p:nvGrpSpPr>
        <p:grpSpPr bwMode="auto">
          <a:xfrm>
            <a:off x="1881188" y="3592514"/>
            <a:ext cx="6858000" cy="579437"/>
            <a:chOff x="384" y="1296"/>
            <a:chExt cx="4320" cy="365"/>
          </a:xfrm>
        </p:grpSpPr>
        <p:sp>
          <p:nvSpPr>
            <p:cNvPr id="77860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61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62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63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2" name="Group 23"/>
          <p:cNvGrpSpPr/>
          <p:nvPr/>
        </p:nvGrpSpPr>
        <p:grpSpPr bwMode="auto">
          <a:xfrm>
            <a:off x="1855788" y="4062414"/>
            <a:ext cx="6883400" cy="1222375"/>
            <a:chOff x="272" y="2667"/>
            <a:chExt cx="4336" cy="770"/>
          </a:xfrm>
        </p:grpSpPr>
        <p:sp>
          <p:nvSpPr>
            <p:cNvPr id="77854" name="Text Box 24"/>
            <p:cNvSpPr txBox="1">
              <a:spLocks noChangeArrowheads="1"/>
            </p:cNvSpPr>
            <p:nvPr/>
          </p:nvSpPr>
          <p:spPr bwMode="auto">
            <a:xfrm>
              <a:off x="272" y="2667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7855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7856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57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58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59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 bwMode="auto">
          <a:xfrm>
            <a:off x="1893888" y="5111750"/>
            <a:ext cx="6858000" cy="579438"/>
            <a:chOff x="384" y="1296"/>
            <a:chExt cx="4320" cy="365"/>
          </a:xfrm>
        </p:grpSpPr>
        <p:sp>
          <p:nvSpPr>
            <p:cNvPr id="77850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51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r>
                <a:rPr lang="zh-CN" altLang="en-US" sz="3200">
                  <a:latin typeface="Times New Roman" panose="02020603050405020304" pitchFamily="18" charset="0"/>
                </a:rPr>
                <a:t>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52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77853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 bwMode="auto">
          <a:xfrm>
            <a:off x="1854200" y="5637213"/>
            <a:ext cx="6897688" cy="1166812"/>
            <a:chOff x="263" y="2702"/>
            <a:chExt cx="4345" cy="735"/>
          </a:xfrm>
        </p:grpSpPr>
        <p:sp>
          <p:nvSpPr>
            <p:cNvPr id="77844" name="Text Box 24"/>
            <p:cNvSpPr txBox="1">
              <a:spLocks noChangeArrowheads="1"/>
            </p:cNvSpPr>
            <p:nvPr/>
          </p:nvSpPr>
          <p:spPr bwMode="auto">
            <a:xfrm>
              <a:off x="263" y="2702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77845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77846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47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48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849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" name="Line 8"/>
          <p:cNvSpPr>
            <a:spLocks noChangeShapeType="1"/>
          </p:cNvSpPr>
          <p:nvPr/>
        </p:nvSpPr>
        <p:spPr bwMode="auto">
          <a:xfrm flipH="1">
            <a:off x="3124200" y="1047750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" name="Line 8"/>
          <p:cNvSpPr>
            <a:spLocks noChangeShapeType="1"/>
          </p:cNvSpPr>
          <p:nvPr/>
        </p:nvSpPr>
        <p:spPr bwMode="auto">
          <a:xfrm flipH="1">
            <a:off x="3124200" y="2439988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" name="Line 8"/>
          <p:cNvSpPr>
            <a:spLocks noChangeShapeType="1"/>
          </p:cNvSpPr>
          <p:nvPr/>
        </p:nvSpPr>
        <p:spPr bwMode="auto">
          <a:xfrm flipH="1">
            <a:off x="3105150" y="3798888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 flipH="1">
            <a:off x="3095625" y="5329238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1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1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1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1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61130" grpId="0" autoUpdateAnimBg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图片 4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115889"/>
            <a:ext cx="9144000" cy="662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 Box 4"/>
          <p:cNvSpPr txBox="1">
            <a:spLocks noChangeArrowheads="1"/>
          </p:cNvSpPr>
          <p:nvPr/>
        </p:nvSpPr>
        <p:spPr bwMode="auto">
          <a:xfrm>
            <a:off x="1703388" y="274638"/>
            <a:ext cx="7986712" cy="5816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/>
              <a:t>例</a:t>
            </a:r>
            <a:r>
              <a:rPr lang="zh-CN" altLang="en-US" sz="2400">
                <a:latin typeface="Times New Roman" panose="02020603050405020304" pitchFamily="18" charset="0"/>
              </a:rPr>
              <a:t>4.</a:t>
            </a:r>
            <a:r>
              <a:rPr lang="en-US" altLang="zh-CN" sz="2400">
                <a:latin typeface="Times New Roman" panose="02020603050405020304" pitchFamily="18" charset="0"/>
              </a:rPr>
              <a:t>3</a:t>
            </a:r>
            <a:r>
              <a:rPr lang="zh-CN" altLang="en-US" sz="2400">
                <a:latin typeface="Times New Roman" panose="02020603050405020304" pitchFamily="18" charset="0"/>
              </a:rPr>
              <a:t>   </a:t>
            </a:r>
            <a:r>
              <a:rPr lang="zh-CN" altLang="en-US" sz="2400" b="0">
                <a:latin typeface="Times New Roman" panose="02020603050405020304" pitchFamily="18" charset="0"/>
              </a:rPr>
              <a:t>设</a:t>
            </a:r>
            <a:r>
              <a:rPr lang="en-US" altLang="zh-CN" sz="2400" b="0">
                <a:latin typeface="Times New Roman" panose="02020603050405020304" pitchFamily="18" charset="0"/>
              </a:rPr>
              <a:t>CPU</a:t>
            </a:r>
            <a:r>
              <a:rPr lang="zh-CN" altLang="en-US" sz="2400" b="0">
                <a:latin typeface="Times New Roman" panose="02020603050405020304" pitchFamily="18" charset="0"/>
              </a:rPr>
              <a:t>有</a:t>
            </a:r>
            <a:r>
              <a:rPr lang="en-US" altLang="zh-CN" sz="2400" b="0">
                <a:latin typeface="Times New Roman" panose="02020603050405020304" pitchFamily="18" charset="0"/>
              </a:rPr>
              <a:t>20</a:t>
            </a:r>
            <a:r>
              <a:rPr lang="zh-CN" altLang="en-US" sz="2400" b="0">
                <a:latin typeface="Times New Roman" panose="02020603050405020304" pitchFamily="18" charset="0"/>
              </a:rPr>
              <a:t>根地址线和</a:t>
            </a:r>
            <a:r>
              <a:rPr lang="en-US" altLang="zh-CN" sz="2400" b="0">
                <a:latin typeface="Times New Roman" panose="02020603050405020304" pitchFamily="18" charset="0"/>
              </a:rPr>
              <a:t>16</a:t>
            </a:r>
            <a:r>
              <a:rPr lang="zh-CN" altLang="en-US" sz="2400" b="0">
                <a:latin typeface="Times New Roman" panose="02020603050405020304" pitchFamily="18" charset="0"/>
              </a:rPr>
              <a:t>根数据线，并用</a:t>
            </a:r>
            <a:r>
              <a:rPr lang="en-US" altLang="zh-CN" sz="2400" b="0">
                <a:latin typeface="Times New Roman" panose="02020603050405020304" pitchFamily="18" charset="0"/>
              </a:rPr>
              <a:t>IO/M</a:t>
            </a:r>
            <a:r>
              <a:rPr lang="zh-CN" altLang="en-US" sz="2400" b="0">
                <a:latin typeface="Times New Roman" panose="02020603050405020304" pitchFamily="18" charset="0"/>
              </a:rPr>
              <a:t>作为访存控制信号，</a:t>
            </a:r>
            <a:r>
              <a:rPr lang="en-US" altLang="zh-CN" sz="2400" b="0">
                <a:latin typeface="Times New Roman" panose="02020603050405020304" pitchFamily="18" charset="0"/>
              </a:rPr>
              <a:t>RD</a:t>
            </a:r>
            <a:r>
              <a:rPr lang="zh-CN" altLang="en-US" sz="2400" b="0">
                <a:latin typeface="Times New Roman" panose="02020603050405020304" pitchFamily="18" charset="0"/>
              </a:rPr>
              <a:t>为读命令，</a:t>
            </a:r>
            <a:r>
              <a:rPr lang="en-US" altLang="zh-CN" sz="2400" b="0">
                <a:latin typeface="Times New Roman" panose="02020603050405020304" pitchFamily="18" charset="0"/>
              </a:rPr>
              <a:t>WR</a:t>
            </a:r>
            <a:r>
              <a:rPr lang="zh-CN" altLang="en-US" sz="2400" b="0">
                <a:latin typeface="Times New Roman" panose="02020603050405020304" pitchFamily="18" charset="0"/>
              </a:rPr>
              <a:t>为写命令。</a:t>
            </a:r>
            <a:r>
              <a:rPr lang="en-US" altLang="zh-CN" sz="2400" b="0">
                <a:latin typeface="Times New Roman" panose="02020603050405020304" pitchFamily="18" charset="0"/>
              </a:rPr>
              <a:t>CPU</a:t>
            </a:r>
            <a:r>
              <a:rPr lang="zh-CN" altLang="en-US" sz="2400" b="0">
                <a:latin typeface="Times New Roman" panose="02020603050405020304" pitchFamily="18" charset="0"/>
              </a:rPr>
              <a:t>可通过</a:t>
            </a:r>
            <a:r>
              <a:rPr lang="en-US" altLang="zh-CN" sz="2400" b="0">
                <a:latin typeface="Times New Roman" panose="02020603050405020304" pitchFamily="18" charset="0"/>
              </a:rPr>
              <a:t>BHE</a:t>
            </a:r>
            <a:r>
              <a:rPr lang="zh-CN" altLang="en-US" sz="2400" b="0">
                <a:latin typeface="Times New Roman" panose="02020603050405020304" pitchFamily="18" charset="0"/>
              </a:rPr>
              <a:t>和</a:t>
            </a:r>
            <a:r>
              <a:rPr lang="en-US" altLang="zh-CN" sz="2400" b="0">
                <a:latin typeface="Times New Roman" panose="02020603050405020304" pitchFamily="18" charset="0"/>
              </a:rPr>
              <a:t>A0 </a:t>
            </a:r>
            <a:r>
              <a:rPr lang="zh-CN" altLang="en-US" sz="2400" b="0">
                <a:latin typeface="Times New Roman" panose="02020603050405020304" pitchFamily="18" charset="0"/>
              </a:rPr>
              <a:t>来控制按字节或者按字两种形式访存。问：</a:t>
            </a: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r>
              <a:rPr lang="zh-CN" altLang="en-US" sz="2400" b="0">
                <a:latin typeface="Times New Roman" panose="02020603050405020304" pitchFamily="18" charset="0"/>
              </a:rPr>
              <a:t>（</a:t>
            </a:r>
            <a:r>
              <a:rPr lang="en-US" altLang="zh-CN" sz="2400" b="0">
                <a:latin typeface="Times New Roman" panose="02020603050405020304" pitchFamily="18" charset="0"/>
              </a:rPr>
              <a:t>1</a:t>
            </a:r>
            <a:r>
              <a:rPr lang="zh-CN" altLang="en-US" sz="2400" b="0">
                <a:latin typeface="Times New Roman" panose="02020603050405020304" pitchFamily="18" charset="0"/>
              </a:rPr>
              <a:t>）</a:t>
            </a:r>
            <a:r>
              <a:rPr lang="en-US" altLang="zh-CN" sz="2400" b="0">
                <a:latin typeface="Times New Roman" panose="02020603050405020304" pitchFamily="18" charset="0"/>
              </a:rPr>
              <a:t>CPU</a:t>
            </a:r>
            <a:r>
              <a:rPr lang="zh-CN" altLang="en-US" sz="2400" b="0">
                <a:latin typeface="Times New Roman" panose="02020603050405020304" pitchFamily="18" charset="0"/>
              </a:rPr>
              <a:t>按字节访问和按字访问的地址范围各是多少？</a:t>
            </a: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r>
              <a:rPr lang="zh-CN" altLang="en-US" sz="2400" b="0">
                <a:latin typeface="Times New Roman" panose="02020603050405020304" pitchFamily="18" charset="0"/>
              </a:rPr>
              <a:t>（</a:t>
            </a:r>
            <a:r>
              <a:rPr lang="en-US" altLang="zh-CN" sz="2400" b="0">
                <a:latin typeface="Times New Roman" panose="02020603050405020304" pitchFamily="18" charset="0"/>
              </a:rPr>
              <a:t>2</a:t>
            </a:r>
            <a:r>
              <a:rPr lang="zh-CN" altLang="en-US" sz="2400" b="0">
                <a:latin typeface="Times New Roman" panose="02020603050405020304" pitchFamily="18" charset="0"/>
              </a:rPr>
              <a:t>）</a:t>
            </a:r>
            <a:r>
              <a:rPr lang="en-US" altLang="zh-CN" sz="2400" b="0">
                <a:latin typeface="Times New Roman" panose="02020603050405020304" pitchFamily="18" charset="0"/>
              </a:rPr>
              <a:t>CPU</a:t>
            </a:r>
            <a:r>
              <a:rPr lang="zh-CN" altLang="en-US" sz="2400" b="0">
                <a:latin typeface="Times New Roman" panose="02020603050405020304" pitchFamily="18" charset="0"/>
              </a:rPr>
              <a:t>按字节访问时需要分奇偶体，且最大</a:t>
            </a:r>
            <a:r>
              <a:rPr lang="en-US" altLang="zh-CN" sz="2400" b="0">
                <a:latin typeface="Times New Roman" panose="02020603050405020304" pitchFamily="18" charset="0"/>
              </a:rPr>
              <a:t>64K</a:t>
            </a:r>
            <a:r>
              <a:rPr lang="zh-CN" altLang="en-US" sz="2400" b="0">
                <a:latin typeface="Times New Roman" panose="02020603050405020304" pitchFamily="18" charset="0"/>
              </a:rPr>
              <a:t>为系统程序区，与其相邻的</a:t>
            </a:r>
            <a:r>
              <a:rPr lang="en-US" altLang="zh-CN" sz="2400" b="0">
                <a:latin typeface="Times New Roman" panose="02020603050405020304" pitchFamily="18" charset="0"/>
              </a:rPr>
              <a:t>64K</a:t>
            </a:r>
            <a:r>
              <a:rPr lang="zh-CN" altLang="en-US" sz="2400" b="0">
                <a:latin typeface="Times New Roman" panose="02020603050405020304" pitchFamily="18" charset="0"/>
              </a:rPr>
              <a:t>为用户程序区。写出每片芯片对应的二进制地址码。</a:t>
            </a:r>
            <a:endParaRPr lang="en-US" altLang="zh-CN" sz="2400" b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r>
              <a:rPr lang="zh-CN" altLang="en-US" sz="2400" b="0">
                <a:latin typeface="Times New Roman" panose="02020603050405020304" pitchFamily="18" charset="0"/>
              </a:rPr>
              <a:t>（</a:t>
            </a:r>
            <a:r>
              <a:rPr lang="en-US" altLang="zh-CN" sz="2400" b="0">
                <a:latin typeface="Times New Roman" panose="02020603050405020304" pitchFamily="18" charset="0"/>
              </a:rPr>
              <a:t>3</a:t>
            </a:r>
            <a:r>
              <a:rPr lang="zh-CN" altLang="en-US" sz="2400" b="0">
                <a:latin typeface="Times New Roman" panose="02020603050405020304" pitchFamily="18" charset="0"/>
              </a:rPr>
              <a:t>）画出存储器和</a:t>
            </a:r>
            <a:r>
              <a:rPr lang="en-US" altLang="zh-CN" sz="2400" b="0">
                <a:latin typeface="Times New Roman" panose="02020603050405020304" pitchFamily="18" charset="0"/>
              </a:rPr>
              <a:t>CPU</a:t>
            </a:r>
            <a:r>
              <a:rPr lang="zh-CN" altLang="en-US" sz="2400" b="0">
                <a:latin typeface="Times New Roman" panose="02020603050405020304" pitchFamily="18" charset="0"/>
              </a:rPr>
              <a:t>连接。</a:t>
            </a:r>
            <a:endParaRPr lang="en-US" altLang="zh-CN" sz="2400" b="0">
              <a:latin typeface="Times New Roman" panose="02020603050405020304" pitchFamily="18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8543926" y="333375"/>
            <a:ext cx="288925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>
            <a:off x="5880100" y="692150"/>
            <a:ext cx="431800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>
            <a:off x="3935413" y="692150"/>
            <a:ext cx="36036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表格 3"/>
          <p:cNvGraphicFramePr>
            <a:graphicFrameLocks noGrp="1"/>
          </p:cNvGraphicFramePr>
          <p:nvPr/>
        </p:nvGraphicFramePr>
        <p:xfrm>
          <a:off x="2592388" y="1700213"/>
          <a:ext cx="6096000" cy="1854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32000"/>
                <a:gridCol w="2032000"/>
                <a:gridCol w="2032000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BHE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A0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dirty="0"/>
                        <a:t>访问形式</a:t>
                      </a:r>
                      <a:endParaRPr lang="zh-CN" altLang="en-US" sz="18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dirty="0"/>
                        <a:t>字</a:t>
                      </a:r>
                      <a:endParaRPr lang="zh-CN" altLang="en-US" sz="18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dirty="0"/>
                        <a:t>奇字节</a:t>
                      </a:r>
                      <a:endParaRPr lang="zh-CN" altLang="en-US" sz="18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dirty="0"/>
                        <a:t>偶字节</a:t>
                      </a:r>
                      <a:endParaRPr lang="zh-CN" altLang="en-US" sz="18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dirty="0"/>
                        <a:t>不访问</a:t>
                      </a:r>
                      <a:endParaRPr lang="zh-CN" altLang="en-US" sz="1800" dirty="0"/>
                    </a:p>
                  </a:txBody>
                  <a:tcPr/>
                </a:tc>
              </a:tr>
            </a:tbl>
          </a:graphicData>
        </a:graphic>
      </p:graphicFrame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矩形 44"/>
          <p:cNvSpPr/>
          <p:nvPr/>
        </p:nvSpPr>
        <p:spPr>
          <a:xfrm>
            <a:off x="1828800" y="877888"/>
            <a:ext cx="1295400" cy="2894012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80899" name="Text Box 2"/>
          <p:cNvSpPr txBox="1">
            <a:spLocks noChangeArrowheads="1"/>
          </p:cNvSpPr>
          <p:nvPr/>
        </p:nvSpPr>
        <p:spPr bwMode="auto">
          <a:xfrm>
            <a:off x="1676400" y="-11113"/>
            <a:ext cx="4343400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/>
              <a:t>例</a:t>
            </a:r>
            <a:r>
              <a:rPr lang="zh-CN" altLang="en-US" sz="3600">
                <a:latin typeface="Times New Roman" panose="02020603050405020304" pitchFamily="18" charset="0"/>
              </a:rPr>
              <a:t>4.</a:t>
            </a:r>
            <a:r>
              <a:rPr lang="en-US" altLang="zh-CN" sz="3600">
                <a:latin typeface="Times New Roman" panose="02020603050405020304" pitchFamily="18" charset="0"/>
              </a:rPr>
              <a:t>3</a:t>
            </a:r>
            <a:r>
              <a:rPr lang="zh-CN" altLang="en-US" sz="3200">
                <a:latin typeface="Times New Roman" panose="02020603050405020304" pitchFamily="18" charset="0"/>
              </a:rPr>
              <a:t>   </a:t>
            </a:r>
            <a:r>
              <a:rPr lang="zh-CN" altLang="en-US" sz="3200"/>
              <a:t>解: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261125" name="Group 5"/>
          <p:cNvGrpSpPr/>
          <p:nvPr/>
        </p:nvGrpSpPr>
        <p:grpSpPr bwMode="auto">
          <a:xfrm>
            <a:off x="1905000" y="857250"/>
            <a:ext cx="6858000" cy="579438"/>
            <a:chOff x="384" y="1296"/>
            <a:chExt cx="4320" cy="365"/>
          </a:xfrm>
        </p:grpSpPr>
        <p:sp>
          <p:nvSpPr>
            <p:cNvPr id="80970" name="Text Box 6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0971" name="Text Box 7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0972" name="Text Box 8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0973" name="Text Box 9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61130" name="Text Box 10"/>
          <p:cNvSpPr txBox="1">
            <a:spLocks noChangeArrowheads="1"/>
          </p:cNvSpPr>
          <p:nvPr/>
        </p:nvSpPr>
        <p:spPr bwMode="auto">
          <a:xfrm>
            <a:off x="1828800" y="476250"/>
            <a:ext cx="784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19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18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17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16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15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14</a:t>
            </a:r>
            <a:r>
              <a:rPr lang="en-US" altLang="zh-CN" sz="2400">
                <a:latin typeface="Times New Roman" panose="02020603050405020304" pitchFamily="18" charset="0"/>
              </a:rPr>
              <a:t>    …    A</a:t>
            </a:r>
            <a:r>
              <a:rPr lang="en-US" altLang="zh-CN" sz="2400" baseline="-25000">
                <a:latin typeface="Times New Roman" panose="02020603050405020304" pitchFamily="18" charset="0"/>
              </a:rPr>
              <a:t>7     </a:t>
            </a:r>
            <a:r>
              <a:rPr lang="en-US" altLang="zh-CN" sz="2400">
                <a:latin typeface="Times New Roman" panose="02020603050405020304" pitchFamily="18" charset="0"/>
              </a:rPr>
              <a:t>…  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4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3      </a:t>
            </a:r>
            <a:r>
              <a:rPr lang="en-US" altLang="zh-CN" sz="2400">
                <a:latin typeface="Times New Roman" panose="02020603050405020304" pitchFamily="18" charset="0"/>
              </a:rPr>
              <a:t>…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 </a:t>
            </a:r>
            <a:r>
              <a:rPr lang="en-US" altLang="zh-CN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0</a:t>
            </a:r>
            <a:endParaRPr lang="en-US" altLang="zh-CN" sz="2400" baseline="-25000">
              <a:latin typeface="Times New Roman" panose="02020603050405020304" pitchFamily="18" charset="0"/>
            </a:endParaRPr>
          </a:p>
        </p:txBody>
      </p:sp>
      <p:grpSp>
        <p:nvGrpSpPr>
          <p:cNvPr id="261131" name="Group 11"/>
          <p:cNvGrpSpPr/>
          <p:nvPr/>
        </p:nvGrpSpPr>
        <p:grpSpPr bwMode="auto">
          <a:xfrm>
            <a:off x="1863726" y="1249363"/>
            <a:ext cx="6899275" cy="1060450"/>
            <a:chOff x="262" y="1665"/>
            <a:chExt cx="4346" cy="668"/>
          </a:xfrm>
        </p:grpSpPr>
        <p:sp>
          <p:nvSpPr>
            <p:cNvPr id="80964" name="Text Box 12"/>
            <p:cNvSpPr txBox="1">
              <a:spLocks noChangeArrowheads="1"/>
            </p:cNvSpPr>
            <p:nvPr/>
          </p:nvSpPr>
          <p:spPr bwMode="auto">
            <a:xfrm>
              <a:off x="262" y="1665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80965" name="Group 13"/>
            <p:cNvGrpSpPr/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80966" name="Text Box 14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7" name="Text Box 15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8" name="Text Box 16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9" name="Text Box 17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80903" name="Text Box 36"/>
          <p:cNvSpPr txBox="1">
            <a:spLocks noChangeArrowheads="1"/>
          </p:cNvSpPr>
          <p:nvPr/>
        </p:nvSpPr>
        <p:spPr bwMode="auto">
          <a:xfrm>
            <a:off x="9128126" y="6011864"/>
            <a:ext cx="15398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31" name="Group 5"/>
          <p:cNvGrpSpPr/>
          <p:nvPr/>
        </p:nvGrpSpPr>
        <p:grpSpPr bwMode="auto">
          <a:xfrm>
            <a:off x="1892300" y="2319339"/>
            <a:ext cx="6858000" cy="579437"/>
            <a:chOff x="384" y="1296"/>
            <a:chExt cx="4320" cy="365"/>
          </a:xfrm>
        </p:grpSpPr>
        <p:sp>
          <p:nvSpPr>
            <p:cNvPr id="80960" name="Text Box 6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0961" name="Text Box 7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0962" name="Text Box 8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0963" name="Text Box 9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en-US" altLang="zh-CN" sz="3200">
                  <a:latin typeface="Times New Roman" panose="02020603050405020304" pitchFamily="18" charset="0"/>
                </a:rPr>
                <a:t>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6" name="Group 11"/>
          <p:cNvGrpSpPr/>
          <p:nvPr/>
        </p:nvGrpSpPr>
        <p:grpSpPr bwMode="auto">
          <a:xfrm>
            <a:off x="1851026" y="2711450"/>
            <a:ext cx="6899275" cy="1060450"/>
            <a:chOff x="262" y="1665"/>
            <a:chExt cx="4346" cy="668"/>
          </a:xfrm>
        </p:grpSpPr>
        <p:sp>
          <p:nvSpPr>
            <p:cNvPr id="80954" name="Text Box 12"/>
            <p:cNvSpPr txBox="1">
              <a:spLocks noChangeArrowheads="1"/>
            </p:cNvSpPr>
            <p:nvPr/>
          </p:nvSpPr>
          <p:spPr bwMode="auto">
            <a:xfrm>
              <a:off x="262" y="1665"/>
              <a:ext cx="427" cy="4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grpSp>
          <p:nvGrpSpPr>
            <p:cNvPr id="80955" name="Group 13"/>
            <p:cNvGrpSpPr/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80956" name="Text Box 14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1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57" name="Text Box 15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58" name="Text Box 16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59" name="Text Box 17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r>
                  <a:rPr lang="zh-CN" altLang="en-US" sz="32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200">
                    <a:latin typeface="Times New Roman" panose="02020603050405020304" pitchFamily="18" charset="0"/>
                  </a:rPr>
                  <a:t>0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43" name="Line 8"/>
          <p:cNvSpPr>
            <a:spLocks noChangeShapeType="1"/>
          </p:cNvSpPr>
          <p:nvPr/>
        </p:nvSpPr>
        <p:spPr bwMode="auto">
          <a:xfrm flipH="1">
            <a:off x="3541713" y="1008063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4" name="Line 8"/>
          <p:cNvSpPr>
            <a:spLocks noChangeShapeType="1"/>
          </p:cNvSpPr>
          <p:nvPr/>
        </p:nvSpPr>
        <p:spPr bwMode="auto">
          <a:xfrm flipH="1">
            <a:off x="3540125" y="2470150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46" name="表格 3"/>
          <p:cNvGraphicFramePr>
            <a:graphicFrameLocks noGrp="1"/>
          </p:cNvGraphicFramePr>
          <p:nvPr/>
        </p:nvGraphicFramePr>
        <p:xfrm>
          <a:off x="1863726" y="4003675"/>
          <a:ext cx="6562725" cy="25971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2102"/>
                <a:gridCol w="1144001"/>
                <a:gridCol w="963369"/>
                <a:gridCol w="3423253"/>
              </a:tblGrid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A16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BHE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A0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800" dirty="0"/>
                        <a:t>访问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ROM</a:t>
                      </a:r>
                      <a:r>
                        <a:rPr lang="zh-CN" altLang="en-US" sz="1800" dirty="0"/>
                        <a:t>，字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ROM</a:t>
                      </a:r>
                      <a:r>
                        <a:rPr lang="zh-CN" altLang="en-US" sz="1800" dirty="0"/>
                        <a:t>，奇字节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ROM</a:t>
                      </a:r>
                      <a:r>
                        <a:rPr lang="zh-CN" altLang="en-US" sz="1800" dirty="0"/>
                        <a:t>，偶字节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RAM</a:t>
                      </a:r>
                      <a:r>
                        <a:rPr lang="zh-CN" altLang="en-US" sz="1800" dirty="0"/>
                        <a:t>，字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RAM</a:t>
                      </a:r>
                      <a:r>
                        <a:rPr lang="zh-CN" altLang="en-US" sz="1800" dirty="0"/>
                        <a:t>，奇字节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  <a:tr h="37102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1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0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RAM</a:t>
                      </a:r>
                      <a:r>
                        <a:rPr lang="zh-CN" altLang="en-US" sz="1800" dirty="0"/>
                        <a:t>，偶字节</a:t>
                      </a:r>
                      <a:endParaRPr lang="zh-CN" altLang="en-US" sz="1800" dirty="0"/>
                    </a:p>
                  </a:txBody>
                  <a:tcPr marL="91437" marR="91437" marT="45742" marB="45742"/>
                </a:tc>
              </a:tr>
            </a:tbl>
          </a:graphicData>
        </a:graphic>
      </p:graphicFrame>
      <p:sp>
        <p:nvSpPr>
          <p:cNvPr id="47" name="Line 8"/>
          <p:cNvSpPr>
            <a:spLocks noChangeShapeType="1"/>
          </p:cNvSpPr>
          <p:nvPr/>
        </p:nvSpPr>
        <p:spPr bwMode="auto">
          <a:xfrm flipH="1">
            <a:off x="8121650" y="1022350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8" name="Line 8"/>
          <p:cNvSpPr>
            <a:spLocks noChangeShapeType="1"/>
          </p:cNvSpPr>
          <p:nvPr/>
        </p:nvSpPr>
        <p:spPr bwMode="auto">
          <a:xfrm flipH="1">
            <a:off x="8102600" y="2427288"/>
            <a:ext cx="19050" cy="130175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1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1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261130" grpId="0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图片 4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33376"/>
            <a:ext cx="9144000" cy="5929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Text Box 2"/>
          <p:cNvSpPr txBox="1">
            <a:spLocks noChangeArrowheads="1"/>
          </p:cNvSpPr>
          <p:nvPr/>
        </p:nvSpPr>
        <p:spPr bwMode="auto">
          <a:xfrm>
            <a:off x="1199456" y="194936"/>
            <a:ext cx="44354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六、存储器的校验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66243" name="Text Box 3"/>
          <p:cNvSpPr txBox="1">
            <a:spLocks noChangeArrowheads="1"/>
          </p:cNvSpPr>
          <p:nvPr/>
        </p:nvSpPr>
        <p:spPr bwMode="auto">
          <a:xfrm>
            <a:off x="2565400" y="2286001"/>
            <a:ext cx="8102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编码的纠错 </a:t>
            </a:r>
            <a:r>
              <a:rPr lang="zh-CN" altLang="en-US" sz="2800">
                <a:latin typeface="Times New Roman" panose="02020603050405020304" pitchFamily="18" charset="0"/>
              </a:rPr>
              <a:t>、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检错能力与编码的最小距离有关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66244" name="Text Box 4"/>
          <p:cNvSpPr txBox="1">
            <a:spLocks noChangeArrowheads="1"/>
          </p:cNvSpPr>
          <p:nvPr/>
        </p:nvSpPr>
        <p:spPr bwMode="auto">
          <a:xfrm>
            <a:off x="3213100" y="3810001"/>
            <a:ext cx="54737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latin typeface="Times New Roman" panose="02020603050405020304" pitchFamily="18" charset="0"/>
              </a:rPr>
              <a:t>L</a:t>
            </a:r>
            <a:r>
              <a:rPr lang="en-US" altLang="zh-CN" sz="2800">
                <a:latin typeface="Times New Roman" panose="02020603050405020304" pitchFamily="18" charset="0"/>
              </a:rPr>
              <a:t> ——   </a:t>
            </a:r>
            <a:r>
              <a:rPr lang="zh-CN" altLang="en-US" sz="2800">
                <a:latin typeface="Times New Roman" panose="02020603050405020304" pitchFamily="18" charset="0"/>
              </a:rPr>
              <a:t>编码的最小距离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6245" name="Text Box 5"/>
          <p:cNvSpPr txBox="1">
            <a:spLocks noChangeArrowheads="1"/>
          </p:cNvSpPr>
          <p:nvPr/>
        </p:nvSpPr>
        <p:spPr bwMode="auto">
          <a:xfrm>
            <a:off x="3213100" y="4572001"/>
            <a:ext cx="400843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latin typeface="Times New Roman" panose="02020603050405020304" pitchFamily="18" charset="0"/>
              </a:rPr>
              <a:t>D</a:t>
            </a:r>
            <a:r>
              <a:rPr lang="en-US" altLang="zh-CN" sz="2800">
                <a:latin typeface="Times New Roman" panose="02020603050405020304" pitchFamily="18" charset="0"/>
              </a:rPr>
              <a:t> ——   </a:t>
            </a:r>
            <a:r>
              <a:rPr lang="zh-CN" altLang="en-US" sz="2800">
                <a:latin typeface="Times New Roman" panose="02020603050405020304" pitchFamily="18" charset="0"/>
              </a:rPr>
              <a:t>检测错误的位数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6246" name="Text Box 6"/>
          <p:cNvSpPr txBox="1">
            <a:spLocks noChangeArrowheads="1"/>
          </p:cNvSpPr>
          <p:nvPr/>
        </p:nvSpPr>
        <p:spPr bwMode="auto">
          <a:xfrm>
            <a:off x="3213100" y="5334001"/>
            <a:ext cx="41783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latin typeface="Times New Roman" panose="02020603050405020304" pitchFamily="18" charset="0"/>
              </a:rPr>
              <a:t>C</a:t>
            </a:r>
            <a:r>
              <a:rPr lang="en-US" altLang="zh-CN" sz="2800">
                <a:latin typeface="Times New Roman" panose="02020603050405020304" pitchFamily="18" charset="0"/>
              </a:rPr>
              <a:t> ——   </a:t>
            </a:r>
            <a:r>
              <a:rPr lang="zh-CN" altLang="en-US" sz="2800">
                <a:latin typeface="Times New Roman" panose="02020603050405020304" pitchFamily="18" charset="0"/>
              </a:rPr>
              <a:t>纠正错误的位数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6247" name="Text Box 7"/>
          <p:cNvSpPr txBox="1">
            <a:spLocks noChangeArrowheads="1"/>
          </p:cNvSpPr>
          <p:nvPr/>
        </p:nvSpPr>
        <p:spPr bwMode="auto">
          <a:xfrm>
            <a:off x="2565400" y="5957888"/>
            <a:ext cx="6502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汉明码是具有一位纠错能力的编码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66249" name="Group 9"/>
          <p:cNvGrpSpPr/>
          <p:nvPr/>
        </p:nvGrpSpPr>
        <p:grpSpPr bwMode="auto">
          <a:xfrm>
            <a:off x="3213100" y="3048001"/>
            <a:ext cx="4559300" cy="519113"/>
            <a:chOff x="1256" y="1578"/>
            <a:chExt cx="2872" cy="327"/>
          </a:xfrm>
        </p:grpSpPr>
        <p:sp>
          <p:nvSpPr>
            <p:cNvPr id="82960" name="Text Box 10"/>
            <p:cNvSpPr txBox="1">
              <a:spLocks noChangeArrowheads="1"/>
            </p:cNvSpPr>
            <p:nvPr/>
          </p:nvSpPr>
          <p:spPr bwMode="auto">
            <a:xfrm>
              <a:off x="1256" y="1578"/>
              <a:ext cx="287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i="1">
                  <a:latin typeface="Times New Roman" panose="02020603050405020304" pitchFamily="18" charset="0"/>
                </a:rPr>
                <a:t>L</a:t>
              </a:r>
              <a:r>
                <a:rPr lang="en-US" altLang="zh-CN" sz="2800">
                  <a:latin typeface="Times New Roman" panose="02020603050405020304" pitchFamily="18" charset="0"/>
                </a:rPr>
                <a:t>    1 = </a:t>
              </a:r>
              <a:r>
                <a:rPr lang="en-US" altLang="zh-CN" sz="2800" i="1">
                  <a:latin typeface="Times New Roman" panose="02020603050405020304" pitchFamily="18" charset="0"/>
                </a:rPr>
                <a:t>D</a:t>
              </a:r>
              <a:r>
                <a:rPr lang="en-US" altLang="zh-CN" sz="2800">
                  <a:latin typeface="Times New Roman" panose="02020603050405020304" pitchFamily="18" charset="0"/>
                </a:rPr>
                <a:t> + </a:t>
              </a:r>
              <a:r>
                <a:rPr lang="en-US" altLang="zh-CN" sz="2800" i="1">
                  <a:latin typeface="Times New Roman" panose="02020603050405020304" pitchFamily="18" charset="0"/>
                </a:rPr>
                <a:t>C</a:t>
              </a:r>
              <a:r>
                <a:rPr lang="en-US" altLang="zh-CN" sz="2800">
                  <a:latin typeface="Times New Roman" panose="02020603050405020304" pitchFamily="18" charset="0"/>
                </a:rPr>
                <a:t> ( </a:t>
              </a:r>
              <a:r>
                <a:rPr lang="en-US" altLang="zh-CN" sz="2800" i="1">
                  <a:latin typeface="Times New Roman" panose="02020603050405020304" pitchFamily="18" charset="0"/>
                </a:rPr>
                <a:t>D</a:t>
              </a:r>
              <a:r>
                <a:rPr lang="en-US" altLang="zh-CN" sz="2800">
                  <a:latin typeface="Times New Roman" panose="02020603050405020304" pitchFamily="18" charset="0"/>
                </a:rPr>
                <a:t>≥</a:t>
              </a:r>
              <a:r>
                <a:rPr lang="en-US" altLang="zh-CN" sz="2800" i="1">
                  <a:latin typeface="Times New Roman" panose="02020603050405020304" pitchFamily="18" charset="0"/>
                </a:rPr>
                <a:t>C</a:t>
              </a:r>
              <a:r>
                <a:rPr lang="en-US" altLang="zh-CN" sz="2800">
                  <a:latin typeface="Times New Roman" panose="02020603050405020304" pitchFamily="18" charset="0"/>
                </a:rPr>
                <a:t> )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82961" name="Line 11"/>
            <p:cNvSpPr>
              <a:spLocks noChangeShapeType="1"/>
            </p:cNvSpPr>
            <p:nvPr/>
          </p:nvSpPr>
          <p:spPr bwMode="auto">
            <a:xfrm>
              <a:off x="1507" y="1759"/>
              <a:ext cx="12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66252" name="Text Box 12"/>
          <p:cNvSpPr txBox="1">
            <a:spLocks noChangeArrowheads="1"/>
          </p:cNvSpPr>
          <p:nvPr/>
        </p:nvSpPr>
        <p:spPr bwMode="auto">
          <a:xfrm>
            <a:off x="2149475" y="838200"/>
            <a:ext cx="6477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 . 编码的最小距离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66253" name="Text Box 13"/>
          <p:cNvSpPr txBox="1">
            <a:spLocks noChangeArrowheads="1"/>
          </p:cNvSpPr>
          <p:nvPr/>
        </p:nvSpPr>
        <p:spPr bwMode="auto">
          <a:xfrm>
            <a:off x="2565400" y="1614488"/>
            <a:ext cx="83820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任意两组合法代码之间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二进制位数 </a:t>
            </a:r>
            <a:r>
              <a:rPr lang="zh-CN" altLang="en-US" sz="2800">
                <a:latin typeface="Times New Roman" panose="02020603050405020304" pitchFamily="18" charset="0"/>
              </a:rPr>
              <a:t>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最少差异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66254" name="Group 14"/>
          <p:cNvGrpSpPr/>
          <p:nvPr/>
        </p:nvGrpSpPr>
        <p:grpSpPr bwMode="auto">
          <a:xfrm>
            <a:off x="7315200" y="3810001"/>
            <a:ext cx="3657600" cy="1281113"/>
            <a:chOff x="3648" y="2400"/>
            <a:chExt cx="2304" cy="807"/>
          </a:xfrm>
        </p:grpSpPr>
        <p:sp>
          <p:nvSpPr>
            <p:cNvPr id="82958" name="Text Box 15"/>
            <p:cNvSpPr txBox="1">
              <a:spLocks noChangeArrowheads="1"/>
            </p:cNvSpPr>
            <p:nvPr/>
          </p:nvSpPr>
          <p:spPr bwMode="auto">
            <a:xfrm>
              <a:off x="3648" y="2400"/>
              <a:ext cx="230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i="1">
                  <a:latin typeface="Times New Roman" panose="02020603050405020304" pitchFamily="18" charset="0"/>
                </a:rPr>
                <a:t>L</a:t>
              </a:r>
              <a:r>
                <a:rPr lang="en-US" altLang="zh-CN" sz="2800">
                  <a:latin typeface="Times New Roman" panose="02020603050405020304" pitchFamily="18" charset="0"/>
                </a:rPr>
                <a:t> = 3   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82959" name="Text Box 16"/>
            <p:cNvSpPr txBox="1">
              <a:spLocks noChangeArrowheads="1"/>
            </p:cNvSpPr>
            <p:nvPr/>
          </p:nvSpPr>
          <p:spPr bwMode="auto">
            <a:xfrm>
              <a:off x="3648" y="2880"/>
              <a:ext cx="22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具有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一位 </a:t>
              </a:r>
              <a:r>
                <a:rPr lang="zh-CN" altLang="en-US" sz="2800">
                  <a:latin typeface="Times New Roman" panose="02020603050405020304" pitchFamily="18" charset="0"/>
                </a:rPr>
                <a:t>纠错能力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6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6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6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6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6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6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6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66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6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266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43" grpId="0" autoUpdateAnimBg="0"/>
      <p:bldP spid="266244" grpId="0" autoUpdateAnimBg="0"/>
      <p:bldP spid="266245" grpId="0" autoUpdateAnimBg="0"/>
      <p:bldP spid="266246" grpId="0" autoUpdateAnimBg="0"/>
      <p:bldP spid="266247" grpId="0" autoUpdateAnimBg="0"/>
      <p:bldP spid="266252" grpId="0" autoUpdateAnimBg="0"/>
      <p:bldP spid="266253" grpId="0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Text Box 2"/>
          <p:cNvSpPr txBox="1">
            <a:spLocks noChangeArrowheads="1"/>
          </p:cNvSpPr>
          <p:nvPr/>
        </p:nvSpPr>
        <p:spPr bwMode="auto">
          <a:xfrm>
            <a:off x="2519364" y="1828801"/>
            <a:ext cx="68087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汉明码的组成需增添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  <a:r>
              <a:rPr lang="zh-CN" altLang="en-US" sz="2800">
                <a:latin typeface="Times New Roman" panose="02020603050405020304" pitchFamily="18" charset="0"/>
              </a:rPr>
              <a:t>位检测位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7267" name="Text Box 3"/>
          <p:cNvSpPr txBox="1">
            <a:spLocks noChangeArrowheads="1"/>
          </p:cNvSpPr>
          <p:nvPr/>
        </p:nvSpPr>
        <p:spPr bwMode="auto">
          <a:xfrm>
            <a:off x="2519364" y="3238501"/>
            <a:ext cx="68087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检测位的位置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7268" name="Text Box 4"/>
          <p:cNvSpPr txBox="1">
            <a:spLocks noChangeArrowheads="1"/>
          </p:cNvSpPr>
          <p:nvPr/>
        </p:nvSpPr>
        <p:spPr bwMode="auto">
          <a:xfrm>
            <a:off x="2519364" y="4648201"/>
            <a:ext cx="68087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检测位的取值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7269" name="Text Box 5"/>
          <p:cNvSpPr txBox="1">
            <a:spLocks noChangeArrowheads="1"/>
          </p:cNvSpPr>
          <p:nvPr/>
        </p:nvSpPr>
        <p:spPr bwMode="auto">
          <a:xfrm>
            <a:off x="3359150" y="2438400"/>
            <a:ext cx="5797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k</a:t>
            </a:r>
            <a:r>
              <a:rPr lang="en-US" altLang="zh-CN" sz="32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solidFill>
                  <a:schemeClr val="folHlink"/>
                </a:solidFill>
              </a:rPr>
              <a:t>≥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3200" i="1">
                <a:solidFill>
                  <a:schemeClr val="folHlink"/>
                </a:solidFill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+ </a:t>
            </a:r>
            <a:r>
              <a:rPr lang="en-US" altLang="zh-CN" sz="3200" i="1">
                <a:solidFill>
                  <a:schemeClr val="folHlink"/>
                </a:solidFill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+ 1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67271" name="Text Box 7"/>
          <p:cNvSpPr txBox="1">
            <a:spLocks noChangeArrowheads="1"/>
          </p:cNvSpPr>
          <p:nvPr/>
        </p:nvSpPr>
        <p:spPr bwMode="auto">
          <a:xfrm>
            <a:off x="3276600" y="5337175"/>
            <a:ext cx="7308850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检测位的取值与该位所在的检测“小组” 中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承担的奇偶校验任务有关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67272" name="Text Box 8"/>
          <p:cNvSpPr txBox="1">
            <a:spLocks noChangeArrowheads="1"/>
          </p:cNvSpPr>
          <p:nvPr/>
        </p:nvSpPr>
        <p:spPr bwMode="auto">
          <a:xfrm>
            <a:off x="2519363" y="990601"/>
            <a:ext cx="5308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组成汉明码的三要素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7273" name="Rectangle 9"/>
          <p:cNvSpPr>
            <a:spLocks noChangeArrowheads="1"/>
          </p:cNvSpPr>
          <p:nvPr/>
        </p:nvSpPr>
        <p:spPr bwMode="auto">
          <a:xfrm>
            <a:off x="9220200" y="152400"/>
            <a:ext cx="1143000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 anchor="ctr"/>
          <a:lstStyle>
            <a:lvl1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  <a:endParaRPr lang="zh-CN" altLang="en-US" sz="44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anose="020B0604020202020204" pitchFamily="34" charset="0"/>
            </a:endParaRPr>
          </a:p>
        </p:txBody>
      </p:sp>
      <p:sp>
        <p:nvSpPr>
          <p:cNvPr id="83977" name="Text Box 10"/>
          <p:cNvSpPr txBox="1">
            <a:spLocks noChangeArrowheads="1"/>
          </p:cNvSpPr>
          <p:nvPr/>
        </p:nvSpPr>
        <p:spPr bwMode="auto">
          <a:xfrm>
            <a:off x="1981200" y="304800"/>
            <a:ext cx="5410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2 . 汉明码的组成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83978" name="AutoShape 11">
            <a:hlinkClick r:id="rId1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10113964" y="6575653"/>
            <a:ext cx="184731" cy="215444"/>
          </a:xfrm>
          <a:prstGeom prst="actionButtonEnd">
            <a:avLst/>
          </a:prstGeom>
          <a:solidFill>
            <a:srgbClr val="3366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pSp>
        <p:nvGrpSpPr>
          <p:cNvPr id="267278" name="Group 14"/>
          <p:cNvGrpSpPr/>
          <p:nvPr/>
        </p:nvGrpSpPr>
        <p:grpSpPr bwMode="auto">
          <a:xfrm>
            <a:off x="3359150" y="3786189"/>
            <a:ext cx="5797550" cy="681037"/>
            <a:chOff x="1156" y="2385"/>
            <a:chExt cx="3652" cy="429"/>
          </a:xfrm>
        </p:grpSpPr>
        <p:sp>
          <p:nvSpPr>
            <p:cNvPr id="83980" name="Text Box 6"/>
            <p:cNvSpPr txBox="1">
              <a:spLocks noChangeArrowheads="1"/>
            </p:cNvSpPr>
            <p:nvPr/>
          </p:nvSpPr>
          <p:spPr bwMode="auto">
            <a:xfrm>
              <a:off x="1156" y="2449"/>
              <a:ext cx="36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fontAlgn="ctr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zh-CN" sz="3200" i="1" baseline="30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</a:t>
              </a:r>
              <a:r>
                <a:rPr lang="en-US" altLang="zh-CN" sz="3200" baseline="30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( </a:t>
              </a:r>
              <a:r>
                <a: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 0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 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3 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    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)</a:t>
              </a:r>
              <a:endPara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3981" name="Text Box 13"/>
            <p:cNvSpPr txBox="1">
              <a:spLocks noChangeArrowheads="1"/>
            </p:cNvSpPr>
            <p:nvPr/>
          </p:nvSpPr>
          <p:spPr bwMode="auto">
            <a:xfrm>
              <a:off x="3515" y="2385"/>
              <a:ext cx="635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7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7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7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7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67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9" dur="500"/>
                                        <p:tgtEl>
                                          <p:spTgt spid="267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266" grpId="0" autoUpdateAnimBg="0"/>
      <p:bldP spid="267267" grpId="0" autoUpdateAnimBg="0"/>
      <p:bldP spid="267268" grpId="0" autoUpdateAnimBg="0"/>
      <p:bldP spid="267269" grpId="0" autoUpdateAnimBg="0"/>
      <p:bldP spid="267271" grpId="0" autoUpdateAnimBg="0"/>
      <p:bldP spid="267272" grpId="0" autoUpdateAnimBg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Text Box 2"/>
          <p:cNvSpPr txBox="1">
            <a:spLocks noChangeArrowheads="1"/>
          </p:cNvSpPr>
          <p:nvPr/>
        </p:nvSpPr>
        <p:spPr bwMode="auto">
          <a:xfrm>
            <a:off x="1981200" y="381000"/>
            <a:ext cx="7391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各检测位 </a:t>
            </a:r>
            <a:r>
              <a:rPr lang="en-US" altLang="zh-CN" sz="3200">
                <a:latin typeface="Times New Roman" panose="02020603050405020304" pitchFamily="18" charset="0"/>
              </a:rPr>
              <a:t>C</a:t>
            </a:r>
            <a:r>
              <a:rPr lang="en-US" altLang="zh-CN" sz="3200" i="1" baseline="-25000">
                <a:latin typeface="Times New Roman" panose="02020603050405020304" pitchFamily="18" charset="0"/>
              </a:rPr>
              <a:t>i</a:t>
            </a:r>
            <a:r>
              <a:rPr lang="en-US" altLang="zh-CN" sz="3200" baseline="-250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所承担的检测小组为</a:t>
            </a:r>
            <a:endParaRPr lang="zh-CN" altLang="en-US" sz="3200" baseline="-25000">
              <a:latin typeface="Times New Roman" panose="02020603050405020304" pitchFamily="18" charset="0"/>
            </a:endParaRPr>
          </a:p>
        </p:txBody>
      </p:sp>
      <p:sp>
        <p:nvSpPr>
          <p:cNvPr id="268291" name="Text Box 3"/>
          <p:cNvSpPr txBox="1">
            <a:spLocks noChangeArrowheads="1"/>
          </p:cNvSpPr>
          <p:nvPr/>
        </p:nvSpPr>
        <p:spPr bwMode="auto">
          <a:xfrm>
            <a:off x="2279651" y="4378325"/>
            <a:ext cx="29257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小组独占第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</a:t>
            </a:r>
            <a:r>
              <a:rPr lang="en-US" altLang="zh-CN" sz="2400" baseline="30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68292" name="Text Box 4"/>
          <p:cNvSpPr txBox="1">
            <a:spLocks noChangeArrowheads="1"/>
          </p:cNvSpPr>
          <p:nvPr/>
        </p:nvSpPr>
        <p:spPr bwMode="auto">
          <a:xfrm>
            <a:off x="2279651" y="5086350"/>
            <a:ext cx="47418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和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小组共同占第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+ 2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</a:t>
            </a:r>
            <a:r>
              <a:rPr lang="en-US" altLang="zh-CN" sz="2400" baseline="30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68293" name="Text Box 5"/>
          <p:cNvSpPr txBox="1">
            <a:spLocks noChangeArrowheads="1"/>
          </p:cNvSpPr>
          <p:nvPr/>
        </p:nvSpPr>
        <p:spPr bwMode="auto">
          <a:xfrm>
            <a:off x="2279651" y="5795963"/>
            <a:ext cx="60229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、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和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l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小组共同占第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+ 2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+ 2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l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</a:t>
            </a:r>
            <a:r>
              <a:rPr lang="en-US" altLang="zh-CN" sz="2400" baseline="30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位 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68294" name="Group 6"/>
          <p:cNvGrpSpPr/>
          <p:nvPr/>
        </p:nvGrpSpPr>
        <p:grpSpPr bwMode="auto">
          <a:xfrm>
            <a:off x="1752600" y="1157287"/>
            <a:ext cx="6788150" cy="587374"/>
            <a:chOff x="240" y="729"/>
            <a:chExt cx="4276" cy="370"/>
          </a:xfrm>
        </p:grpSpPr>
        <p:sp>
          <p:nvSpPr>
            <p:cNvPr id="85010" name="Text Box 7"/>
            <p:cNvSpPr txBox="1">
              <a:spLocks noChangeArrowheads="1"/>
            </p:cNvSpPr>
            <p:nvPr/>
          </p:nvSpPr>
          <p:spPr bwMode="auto">
            <a:xfrm>
              <a:off x="240" y="808"/>
              <a:ext cx="4057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1，3，5，7，9，11，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85011" name="Text Box 8"/>
            <p:cNvSpPr txBox="1">
              <a:spLocks noChangeArrowheads="1"/>
            </p:cNvSpPr>
            <p:nvPr/>
          </p:nvSpPr>
          <p:spPr bwMode="auto">
            <a:xfrm>
              <a:off x="4176" y="729"/>
              <a:ext cx="34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8297" name="Group 9"/>
          <p:cNvGrpSpPr/>
          <p:nvPr/>
        </p:nvGrpSpPr>
        <p:grpSpPr bwMode="auto">
          <a:xfrm>
            <a:off x="1752600" y="1873252"/>
            <a:ext cx="6788150" cy="581026"/>
            <a:chOff x="240" y="1152"/>
            <a:chExt cx="4276" cy="366"/>
          </a:xfrm>
        </p:grpSpPr>
        <p:sp>
          <p:nvSpPr>
            <p:cNvPr id="85008" name="Text Box 10"/>
            <p:cNvSpPr txBox="1">
              <a:spLocks noChangeArrowheads="1"/>
            </p:cNvSpPr>
            <p:nvPr/>
          </p:nvSpPr>
          <p:spPr bwMode="auto">
            <a:xfrm>
              <a:off x="240" y="1227"/>
              <a:ext cx="417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2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2，3，6，7，10，11，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85009" name="Text Box 11"/>
            <p:cNvSpPr txBox="1">
              <a:spLocks noChangeArrowheads="1"/>
            </p:cNvSpPr>
            <p:nvPr/>
          </p:nvSpPr>
          <p:spPr bwMode="auto">
            <a:xfrm>
              <a:off x="4176" y="1152"/>
              <a:ext cx="34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8300" name="Group 12"/>
          <p:cNvGrpSpPr/>
          <p:nvPr/>
        </p:nvGrpSpPr>
        <p:grpSpPr bwMode="auto">
          <a:xfrm>
            <a:off x="1752600" y="2584453"/>
            <a:ext cx="6788150" cy="614363"/>
            <a:chOff x="240" y="1536"/>
            <a:chExt cx="4276" cy="387"/>
          </a:xfrm>
        </p:grpSpPr>
        <p:sp>
          <p:nvSpPr>
            <p:cNvPr id="85006" name="Text Box 13"/>
            <p:cNvSpPr txBox="1">
              <a:spLocks noChangeArrowheads="1"/>
            </p:cNvSpPr>
            <p:nvPr/>
          </p:nvSpPr>
          <p:spPr bwMode="auto">
            <a:xfrm>
              <a:off x="240" y="1632"/>
              <a:ext cx="418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3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4，5，6，7，12，13，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85007" name="Text Box 14"/>
            <p:cNvSpPr txBox="1">
              <a:spLocks noChangeArrowheads="1"/>
            </p:cNvSpPr>
            <p:nvPr/>
          </p:nvSpPr>
          <p:spPr bwMode="auto">
            <a:xfrm>
              <a:off x="4176" y="1536"/>
              <a:ext cx="34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68303" name="Group 15"/>
          <p:cNvGrpSpPr/>
          <p:nvPr/>
        </p:nvGrpSpPr>
        <p:grpSpPr bwMode="auto">
          <a:xfrm>
            <a:off x="1752600" y="3328992"/>
            <a:ext cx="8915400" cy="595313"/>
            <a:chOff x="144" y="2097"/>
            <a:chExt cx="5616" cy="375"/>
          </a:xfrm>
        </p:grpSpPr>
        <p:sp>
          <p:nvSpPr>
            <p:cNvPr id="85004" name="Text Box 16"/>
            <p:cNvSpPr txBox="1">
              <a:spLocks noChangeArrowheads="1"/>
            </p:cNvSpPr>
            <p:nvPr/>
          </p:nvSpPr>
          <p:spPr bwMode="auto">
            <a:xfrm>
              <a:off x="144" y="2181"/>
              <a:ext cx="553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8，9，10，11，12，13，14，15，24，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85005" name="Text Box 17"/>
            <p:cNvSpPr txBox="1">
              <a:spLocks noChangeArrowheads="1"/>
            </p:cNvSpPr>
            <p:nvPr/>
          </p:nvSpPr>
          <p:spPr bwMode="auto">
            <a:xfrm>
              <a:off x="5420" y="2097"/>
              <a:ext cx="34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268306" name="Rectangle 18"/>
          <p:cNvSpPr>
            <a:spLocks noChangeArrowheads="1"/>
          </p:cNvSpPr>
          <p:nvPr/>
        </p:nvSpPr>
        <p:spPr bwMode="auto">
          <a:xfrm>
            <a:off x="9220200" y="152400"/>
            <a:ext cx="1143000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 anchor="ctr"/>
          <a:lstStyle>
            <a:lvl1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  <a:endParaRPr lang="zh-CN" altLang="en-US" sz="44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anose="020B0604020202020204" pitchFamily="34" charset="0"/>
            </a:endParaRPr>
          </a:p>
        </p:txBody>
      </p:sp>
      <p:sp>
        <p:nvSpPr>
          <p:cNvPr id="85003" name="AutoShape 19">
            <a:hlinkClick r:id="rId1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10113964" y="6575653"/>
            <a:ext cx="184731" cy="215444"/>
          </a:xfrm>
          <a:prstGeom prst="actionButtonEnd">
            <a:avLst/>
          </a:prstGeom>
          <a:solidFill>
            <a:srgbClr val="3366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8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8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8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8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8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8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68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291" grpId="0" autoUpdateAnimBg="0"/>
      <p:bldP spid="268292" grpId="0" autoUpdateAnimBg="0"/>
      <p:bldP spid="268293" grpId="0" autoUpdateAnimBg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2"/>
          <p:cNvSpPr txBox="1">
            <a:spLocks noChangeArrowheads="1"/>
          </p:cNvSpPr>
          <p:nvPr/>
        </p:nvSpPr>
        <p:spPr bwMode="auto">
          <a:xfrm>
            <a:off x="1779589" y="533400"/>
            <a:ext cx="13287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例4.4 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800771" name="Text Box 3"/>
          <p:cNvSpPr txBox="1">
            <a:spLocks noChangeArrowheads="1"/>
          </p:cNvSpPr>
          <p:nvPr/>
        </p:nvSpPr>
        <p:spPr bwMode="auto">
          <a:xfrm>
            <a:off x="2998789" y="595314"/>
            <a:ext cx="677140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求 0101 按 “偶校验” 配置的汉明码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0772" name="Text Box 4"/>
          <p:cNvSpPr txBox="1">
            <a:spLocks noChangeArrowheads="1"/>
          </p:cNvSpPr>
          <p:nvPr/>
        </p:nvSpPr>
        <p:spPr bwMode="auto">
          <a:xfrm>
            <a:off x="2574926" y="1295400"/>
            <a:ext cx="10001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解：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0773" name="Text Box 5"/>
          <p:cNvSpPr txBox="1">
            <a:spLocks noChangeArrowheads="1"/>
          </p:cNvSpPr>
          <p:nvPr/>
        </p:nvSpPr>
        <p:spPr bwMode="auto">
          <a:xfrm>
            <a:off x="3352800" y="1295401"/>
            <a:ext cx="167385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∵ 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= 4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800774" name="Text Box 6"/>
          <p:cNvSpPr txBox="1">
            <a:spLocks noChangeArrowheads="1"/>
          </p:cNvSpPr>
          <p:nvPr/>
        </p:nvSpPr>
        <p:spPr bwMode="auto">
          <a:xfrm>
            <a:off x="3946526" y="1981201"/>
            <a:ext cx="3366627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根据 2</a:t>
            </a:r>
            <a:r>
              <a:rPr lang="en-US" altLang="zh-CN" sz="3200" i="1" baseline="30000">
                <a:latin typeface="Times New Roman" panose="02020603050405020304" pitchFamily="18" charset="0"/>
              </a:rPr>
              <a:t>k</a:t>
            </a:r>
            <a:r>
              <a:rPr lang="en-US" altLang="zh-CN" sz="3200" baseline="300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≥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+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+ 1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800775" name="Text Box 7"/>
          <p:cNvSpPr txBox="1">
            <a:spLocks noChangeArrowheads="1"/>
          </p:cNvSpPr>
          <p:nvPr/>
        </p:nvSpPr>
        <p:spPr bwMode="auto">
          <a:xfrm>
            <a:off x="3946526" y="2590800"/>
            <a:ext cx="19970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得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800776" name="Text Box 8"/>
          <p:cNvSpPr txBox="1">
            <a:spLocks noChangeArrowheads="1"/>
          </p:cNvSpPr>
          <p:nvPr/>
        </p:nvSpPr>
        <p:spPr bwMode="auto">
          <a:xfrm>
            <a:off x="2217738" y="3276600"/>
            <a:ext cx="3175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汉明码排序如下: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800777" name="Group 9"/>
          <p:cNvGrpSpPr/>
          <p:nvPr/>
        </p:nvGrpSpPr>
        <p:grpSpPr bwMode="auto">
          <a:xfrm>
            <a:off x="2133600" y="3962401"/>
            <a:ext cx="8153400" cy="1908175"/>
            <a:chOff x="384" y="2496"/>
            <a:chExt cx="5136" cy="1202"/>
          </a:xfrm>
        </p:grpSpPr>
        <p:sp>
          <p:nvSpPr>
            <p:cNvPr id="86036" name="Line 10"/>
            <p:cNvSpPr>
              <a:spLocks noChangeShapeType="1"/>
            </p:cNvSpPr>
            <p:nvPr/>
          </p:nvSpPr>
          <p:spPr bwMode="auto">
            <a:xfrm>
              <a:off x="384" y="2976"/>
              <a:ext cx="51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6037" name="Line 11"/>
            <p:cNvSpPr>
              <a:spLocks noChangeShapeType="1"/>
            </p:cNvSpPr>
            <p:nvPr/>
          </p:nvSpPr>
          <p:spPr bwMode="auto">
            <a:xfrm>
              <a:off x="1920" y="2496"/>
              <a:ext cx="0" cy="12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6038" name="Text Box 12"/>
            <p:cNvSpPr txBox="1">
              <a:spLocks noChangeArrowheads="1"/>
            </p:cNvSpPr>
            <p:nvPr/>
          </p:nvSpPr>
          <p:spPr bwMode="auto">
            <a:xfrm>
              <a:off x="535" y="2556"/>
              <a:ext cx="124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二进制序号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86039" name="Text Box 13"/>
            <p:cNvSpPr txBox="1">
              <a:spLocks noChangeArrowheads="1"/>
            </p:cNvSpPr>
            <p:nvPr/>
          </p:nvSpPr>
          <p:spPr bwMode="auto">
            <a:xfrm>
              <a:off x="960" y="3024"/>
              <a:ext cx="56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名称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86040" name="Text Box 14"/>
            <p:cNvSpPr txBox="1">
              <a:spLocks noChangeArrowheads="1"/>
            </p:cNvSpPr>
            <p:nvPr/>
          </p:nvSpPr>
          <p:spPr bwMode="auto">
            <a:xfrm>
              <a:off x="2101" y="2556"/>
              <a:ext cx="33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1      2      3      4      5      6      7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0783" name="Text Box 15"/>
          <p:cNvSpPr txBox="1">
            <a:spLocks noChangeArrowheads="1"/>
          </p:cNvSpPr>
          <p:nvPr/>
        </p:nvSpPr>
        <p:spPr bwMode="auto">
          <a:xfrm>
            <a:off x="4859339" y="4800601"/>
            <a:ext cx="2919389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     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00784" name="Text Box 16"/>
          <p:cNvSpPr txBox="1">
            <a:spLocks noChangeArrowheads="1"/>
          </p:cNvSpPr>
          <p:nvPr/>
        </p:nvSpPr>
        <p:spPr bwMode="auto">
          <a:xfrm>
            <a:off x="4935538" y="5353050"/>
            <a:ext cx="3873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0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0785" name="Text Box 17"/>
          <p:cNvSpPr txBox="1">
            <a:spLocks noChangeArrowheads="1"/>
          </p:cNvSpPr>
          <p:nvPr/>
        </p:nvSpPr>
        <p:spPr bwMode="auto">
          <a:xfrm>
            <a:off x="3184526" y="5892800"/>
            <a:ext cx="54514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∴ 0101 的汉明码为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0100101</a:t>
            </a:r>
            <a:endParaRPr lang="zh-CN" altLang="en-US" sz="36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800786" name="Group 18"/>
          <p:cNvGrpSpPr/>
          <p:nvPr/>
        </p:nvGrpSpPr>
        <p:grpSpPr bwMode="auto">
          <a:xfrm>
            <a:off x="6470650" y="4819650"/>
            <a:ext cx="3587750" cy="579438"/>
            <a:chOff x="3116" y="3036"/>
            <a:chExt cx="2260" cy="365"/>
          </a:xfrm>
        </p:grpSpPr>
        <p:sp>
          <p:nvSpPr>
            <p:cNvPr id="86034" name="Text Box 19"/>
            <p:cNvSpPr txBox="1">
              <a:spLocks noChangeArrowheads="1"/>
            </p:cNvSpPr>
            <p:nvPr/>
          </p:nvSpPr>
          <p:spPr bwMode="auto">
            <a:xfrm>
              <a:off x="3116" y="3036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6035" name="Text Box 20"/>
            <p:cNvSpPr txBox="1">
              <a:spLocks noChangeArrowheads="1"/>
            </p:cNvSpPr>
            <p:nvPr/>
          </p:nvSpPr>
          <p:spPr bwMode="auto">
            <a:xfrm>
              <a:off x="4172" y="3036"/>
              <a:ext cx="120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1     0      1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0790" name="Text Box 22"/>
          <p:cNvSpPr txBox="1">
            <a:spLocks noChangeArrowheads="1"/>
          </p:cNvSpPr>
          <p:nvPr/>
        </p:nvSpPr>
        <p:spPr bwMode="auto">
          <a:xfrm>
            <a:off x="5638800" y="5353050"/>
            <a:ext cx="838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0791" name="Text Box 23"/>
          <p:cNvSpPr txBox="1">
            <a:spLocks noChangeArrowheads="1"/>
          </p:cNvSpPr>
          <p:nvPr/>
        </p:nvSpPr>
        <p:spPr bwMode="auto">
          <a:xfrm>
            <a:off x="7239000" y="5353050"/>
            <a:ext cx="838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0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00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00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00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00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00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0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800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00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800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00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00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800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00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0771" grpId="0" autoUpdateAnimBg="0"/>
      <p:bldP spid="800772" grpId="0" autoUpdateAnimBg="0"/>
      <p:bldP spid="800773" grpId="0" autoUpdateAnimBg="0"/>
      <p:bldP spid="800774" grpId="0" autoUpdateAnimBg="0"/>
      <p:bldP spid="800775" grpId="0" autoUpdateAnimBg="0"/>
      <p:bldP spid="800776" grpId="0" autoUpdateAnimBg="0"/>
      <p:bldP spid="800783" grpId="0" autoUpdateAnimBg="0"/>
      <p:bldP spid="800784" grpId="0" autoUpdateAnimBg="0"/>
      <p:bldP spid="800785" grpId="0" autoUpdateAnimBg="0"/>
      <p:bldP spid="800790" grpId="0" autoUpdateAnimBg="0"/>
      <p:bldP spid="800791" grpId="0" autoUpdateAnimBg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794" name="Text Box 2"/>
          <p:cNvSpPr txBox="1">
            <a:spLocks noChangeArrowheads="1"/>
          </p:cNvSpPr>
          <p:nvPr/>
        </p:nvSpPr>
        <p:spPr bwMode="auto">
          <a:xfrm>
            <a:off x="3581400" y="290514"/>
            <a:ext cx="57912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按配偶原则配置 0011 的汉明码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801795" name="Group 3"/>
          <p:cNvGrpSpPr/>
          <p:nvPr/>
        </p:nvGrpSpPr>
        <p:grpSpPr bwMode="auto">
          <a:xfrm>
            <a:off x="2119314" y="2286000"/>
            <a:ext cx="8167687" cy="1733550"/>
            <a:chOff x="375" y="1440"/>
            <a:chExt cx="5145" cy="1092"/>
          </a:xfrm>
        </p:grpSpPr>
        <p:sp>
          <p:nvSpPr>
            <p:cNvPr id="87068" name="Line 4"/>
            <p:cNvSpPr>
              <a:spLocks noChangeShapeType="1"/>
            </p:cNvSpPr>
            <p:nvPr/>
          </p:nvSpPr>
          <p:spPr bwMode="auto">
            <a:xfrm>
              <a:off x="384" y="1860"/>
              <a:ext cx="51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7069" name="Freeform 5"/>
            <p:cNvSpPr/>
            <p:nvPr/>
          </p:nvSpPr>
          <p:spPr bwMode="auto">
            <a:xfrm>
              <a:off x="1920" y="1476"/>
              <a:ext cx="1" cy="1056"/>
            </a:xfrm>
            <a:custGeom>
              <a:avLst/>
              <a:gdLst>
                <a:gd name="T0" fmla="*/ 0 w 1"/>
                <a:gd name="T1" fmla="*/ 0 h 1056"/>
                <a:gd name="T2" fmla="*/ 0 w 1"/>
                <a:gd name="T3" fmla="*/ 1056 h 10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56">
                  <a:moveTo>
                    <a:pt x="0" y="0"/>
                  </a:moveTo>
                  <a:lnTo>
                    <a:pt x="0" y="1056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7070" name="Text Box 6"/>
            <p:cNvSpPr txBox="1">
              <a:spLocks noChangeArrowheads="1"/>
            </p:cNvSpPr>
            <p:nvPr/>
          </p:nvSpPr>
          <p:spPr bwMode="auto">
            <a:xfrm>
              <a:off x="375" y="1449"/>
              <a:ext cx="1409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   二进制序号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87071" name="Text Box 7"/>
            <p:cNvSpPr txBox="1">
              <a:spLocks noChangeArrowheads="1"/>
            </p:cNvSpPr>
            <p:nvPr/>
          </p:nvSpPr>
          <p:spPr bwMode="auto">
            <a:xfrm>
              <a:off x="714" y="1929"/>
              <a:ext cx="73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   名称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87072" name="Text Box 8"/>
            <p:cNvSpPr txBox="1">
              <a:spLocks noChangeArrowheads="1"/>
            </p:cNvSpPr>
            <p:nvPr/>
          </p:nvSpPr>
          <p:spPr bwMode="auto">
            <a:xfrm>
              <a:off x="2101" y="1440"/>
              <a:ext cx="33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1      2      3      4      5      6      7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1801" name="Text Box 9"/>
          <p:cNvSpPr txBox="1">
            <a:spLocks noChangeArrowheads="1"/>
          </p:cNvSpPr>
          <p:nvPr/>
        </p:nvSpPr>
        <p:spPr bwMode="auto">
          <a:xfrm>
            <a:off x="4859338" y="3048000"/>
            <a:ext cx="32178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      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01802" name="Text Box 10"/>
          <p:cNvSpPr txBox="1">
            <a:spLocks noChangeArrowheads="1"/>
          </p:cNvSpPr>
          <p:nvPr/>
        </p:nvSpPr>
        <p:spPr bwMode="auto">
          <a:xfrm>
            <a:off x="4935538" y="3581400"/>
            <a:ext cx="30654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1     0              0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801803" name="Group 11"/>
          <p:cNvGrpSpPr/>
          <p:nvPr/>
        </p:nvGrpSpPr>
        <p:grpSpPr bwMode="auto">
          <a:xfrm>
            <a:off x="6400800" y="3048000"/>
            <a:ext cx="3657600" cy="579438"/>
            <a:chOff x="3072" y="2947"/>
            <a:chExt cx="2304" cy="365"/>
          </a:xfrm>
        </p:grpSpPr>
        <p:sp>
          <p:nvSpPr>
            <p:cNvPr id="87066" name="Text Box 12"/>
            <p:cNvSpPr txBox="1">
              <a:spLocks noChangeArrowheads="1"/>
            </p:cNvSpPr>
            <p:nvPr/>
          </p:nvSpPr>
          <p:spPr bwMode="auto">
            <a:xfrm>
              <a:off x="3072" y="2947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7067" name="Text Box 13"/>
            <p:cNvSpPr txBox="1">
              <a:spLocks noChangeArrowheads="1"/>
            </p:cNvSpPr>
            <p:nvPr/>
          </p:nvSpPr>
          <p:spPr bwMode="auto">
            <a:xfrm>
              <a:off x="4172" y="2947"/>
              <a:ext cx="120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0     1      1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1806" name="Text Box 14"/>
          <p:cNvSpPr txBox="1">
            <a:spLocks noChangeArrowheads="1"/>
          </p:cNvSpPr>
          <p:nvPr/>
        </p:nvSpPr>
        <p:spPr bwMode="auto">
          <a:xfrm>
            <a:off x="2803526" y="990600"/>
            <a:ext cx="10001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解：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1807" name="Text Box 15"/>
          <p:cNvSpPr txBox="1">
            <a:spLocks noChangeArrowheads="1"/>
          </p:cNvSpPr>
          <p:nvPr/>
        </p:nvSpPr>
        <p:spPr bwMode="auto">
          <a:xfrm>
            <a:off x="3962400" y="990600"/>
            <a:ext cx="54927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∵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= 4      </a:t>
            </a:r>
            <a:r>
              <a:rPr lang="zh-CN" altLang="en-US" sz="3200">
                <a:latin typeface="Times New Roman" panose="02020603050405020304" pitchFamily="18" charset="0"/>
              </a:rPr>
              <a:t>根据 2</a:t>
            </a:r>
            <a:r>
              <a:rPr lang="en-US" altLang="zh-CN" sz="3200" i="1" baseline="30000">
                <a:latin typeface="Times New Roman" panose="02020603050405020304" pitchFamily="18" charset="0"/>
              </a:rPr>
              <a:t>k</a:t>
            </a:r>
            <a:r>
              <a:rPr lang="en-US" altLang="zh-CN" sz="3200" baseline="300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≥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+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+ 1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1808" name="Text Box 16"/>
          <p:cNvSpPr txBox="1">
            <a:spLocks noChangeArrowheads="1"/>
          </p:cNvSpPr>
          <p:nvPr/>
        </p:nvSpPr>
        <p:spPr bwMode="auto">
          <a:xfrm>
            <a:off x="4462463" y="1600201"/>
            <a:ext cx="1548822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取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801809" name="Group 17"/>
          <p:cNvGrpSpPr/>
          <p:nvPr/>
        </p:nvGrpSpPr>
        <p:grpSpPr bwMode="auto">
          <a:xfrm>
            <a:off x="2895600" y="4068760"/>
            <a:ext cx="3240088" cy="584199"/>
            <a:chOff x="864" y="2784"/>
            <a:chExt cx="2041" cy="368"/>
          </a:xfrm>
        </p:grpSpPr>
        <p:sp>
          <p:nvSpPr>
            <p:cNvPr id="87063" name="Text Box 18"/>
            <p:cNvSpPr txBox="1">
              <a:spLocks noChangeArrowheads="1"/>
            </p:cNvSpPr>
            <p:nvPr/>
          </p:nvSpPr>
          <p:spPr bwMode="auto">
            <a:xfrm>
              <a:off x="864" y="2784"/>
              <a:ext cx="204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C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3200">
                  <a:latin typeface="Times New Roman" panose="02020603050405020304" pitchFamily="18" charset="0"/>
                </a:rPr>
                <a:t>= 3     5     7 = 1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7064" name="AutoShape 19"/>
            <p:cNvSpPr>
              <a:spLocks noChangeArrowheads="1"/>
            </p:cNvSpPr>
            <p:nvPr/>
          </p:nvSpPr>
          <p:spPr bwMode="auto">
            <a:xfrm>
              <a:off x="1584" y="286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7065" name="AutoShape 20"/>
            <p:cNvSpPr>
              <a:spLocks noChangeArrowheads="1"/>
            </p:cNvSpPr>
            <p:nvPr/>
          </p:nvSpPr>
          <p:spPr bwMode="auto">
            <a:xfrm>
              <a:off x="2064" y="286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801813" name="Group 21"/>
          <p:cNvGrpSpPr/>
          <p:nvPr/>
        </p:nvGrpSpPr>
        <p:grpSpPr bwMode="auto">
          <a:xfrm>
            <a:off x="2895600" y="4738685"/>
            <a:ext cx="3240088" cy="584199"/>
            <a:chOff x="864" y="3216"/>
            <a:chExt cx="2041" cy="368"/>
          </a:xfrm>
        </p:grpSpPr>
        <p:sp>
          <p:nvSpPr>
            <p:cNvPr id="87060" name="Text Box 22"/>
            <p:cNvSpPr txBox="1">
              <a:spLocks noChangeArrowheads="1"/>
            </p:cNvSpPr>
            <p:nvPr/>
          </p:nvSpPr>
          <p:spPr bwMode="auto">
            <a:xfrm>
              <a:off x="864" y="3216"/>
              <a:ext cx="204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C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</a:t>
              </a:r>
              <a:r>
                <a:rPr lang="en-US" altLang="zh-CN" sz="3200">
                  <a:latin typeface="Times New Roman" panose="02020603050405020304" pitchFamily="18" charset="0"/>
                </a:rPr>
                <a:t>= 3     6     7 = 0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7061" name="AutoShape 23"/>
            <p:cNvSpPr>
              <a:spLocks noChangeArrowheads="1"/>
            </p:cNvSpPr>
            <p:nvPr/>
          </p:nvSpPr>
          <p:spPr bwMode="auto">
            <a:xfrm>
              <a:off x="1584" y="33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7062" name="AutoShape 24"/>
            <p:cNvSpPr>
              <a:spLocks noChangeArrowheads="1"/>
            </p:cNvSpPr>
            <p:nvPr/>
          </p:nvSpPr>
          <p:spPr bwMode="auto">
            <a:xfrm>
              <a:off x="2064" y="33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801817" name="Group 25"/>
          <p:cNvGrpSpPr/>
          <p:nvPr/>
        </p:nvGrpSpPr>
        <p:grpSpPr bwMode="auto">
          <a:xfrm>
            <a:off x="2895600" y="5364159"/>
            <a:ext cx="3240088" cy="584199"/>
            <a:chOff x="864" y="3648"/>
            <a:chExt cx="2041" cy="368"/>
          </a:xfrm>
        </p:grpSpPr>
        <p:sp>
          <p:nvSpPr>
            <p:cNvPr id="87057" name="Text Box 26"/>
            <p:cNvSpPr txBox="1">
              <a:spLocks noChangeArrowheads="1"/>
            </p:cNvSpPr>
            <p:nvPr/>
          </p:nvSpPr>
          <p:spPr bwMode="auto">
            <a:xfrm>
              <a:off x="864" y="3648"/>
              <a:ext cx="204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C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</a:t>
              </a:r>
              <a:r>
                <a:rPr lang="en-US" altLang="zh-CN" sz="3200">
                  <a:latin typeface="Times New Roman" panose="02020603050405020304" pitchFamily="18" charset="0"/>
                </a:rPr>
                <a:t>= 5     6     7 = 0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7058" name="AutoShape 27"/>
            <p:cNvSpPr>
              <a:spLocks noChangeArrowheads="1"/>
            </p:cNvSpPr>
            <p:nvPr/>
          </p:nvSpPr>
          <p:spPr bwMode="auto">
            <a:xfrm>
              <a:off x="1584" y="373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7059" name="AutoShape 28"/>
            <p:cNvSpPr>
              <a:spLocks noChangeArrowheads="1"/>
            </p:cNvSpPr>
            <p:nvPr/>
          </p:nvSpPr>
          <p:spPr bwMode="auto">
            <a:xfrm>
              <a:off x="2064" y="373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801821" name="Text Box 29"/>
          <p:cNvSpPr txBox="1">
            <a:spLocks noChangeArrowheads="1"/>
          </p:cNvSpPr>
          <p:nvPr/>
        </p:nvSpPr>
        <p:spPr bwMode="auto">
          <a:xfrm>
            <a:off x="2286001" y="6019800"/>
            <a:ext cx="55530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∴  0011 的汉明码为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1000011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7054" name="Text Box 30"/>
          <p:cNvSpPr txBox="1">
            <a:spLocks noChangeArrowheads="1"/>
          </p:cNvSpPr>
          <p:nvPr/>
        </p:nvSpPr>
        <p:spPr bwMode="auto">
          <a:xfrm>
            <a:off x="2057401" y="228600"/>
            <a:ext cx="13303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练习1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0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0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01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01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801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1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0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0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801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01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01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80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794" grpId="0" autoUpdateAnimBg="0"/>
      <p:bldP spid="801801" grpId="0" autoUpdateAnimBg="0"/>
      <p:bldP spid="801802" grpId="0" autoUpdateAnimBg="0"/>
      <p:bldP spid="801806" grpId="0" autoUpdateAnimBg="0"/>
      <p:bldP spid="801807" grpId="0" autoUpdateAnimBg="0"/>
      <p:bldP spid="801808" grpId="0" autoUpdateAnimBg="0"/>
      <p:bldP spid="801821" grpId="0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Text Box 2"/>
          <p:cNvSpPr txBox="1">
            <a:spLocks noChangeArrowheads="1"/>
          </p:cNvSpPr>
          <p:nvPr/>
        </p:nvSpPr>
        <p:spPr bwMode="auto">
          <a:xfrm>
            <a:off x="2057400" y="304800"/>
            <a:ext cx="6096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3. 汉明码的纠错过程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71363" name="Text Box 3"/>
          <p:cNvSpPr txBox="1">
            <a:spLocks noChangeArrowheads="1"/>
          </p:cNvSpPr>
          <p:nvPr/>
        </p:nvSpPr>
        <p:spPr bwMode="auto">
          <a:xfrm>
            <a:off x="1820863" y="1143000"/>
            <a:ext cx="453231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形成新的检测位 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10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     </a:t>
            </a:r>
            <a:r>
              <a:rPr lang="zh-CN" altLang="en-US" sz="3200">
                <a:latin typeface="Times New Roman" panose="02020603050405020304" pitchFamily="18" charset="0"/>
              </a:rPr>
              <a:t>，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71364" name="Text Box 4"/>
          <p:cNvSpPr txBox="1">
            <a:spLocks noChangeArrowheads="1"/>
          </p:cNvSpPr>
          <p:nvPr/>
        </p:nvSpPr>
        <p:spPr bwMode="auto">
          <a:xfrm>
            <a:off x="1828801" y="1790700"/>
            <a:ext cx="49879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如增添 3 位 （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3）</a:t>
            </a:r>
            <a:r>
              <a:rPr lang="zh-CN" altLang="en-US" sz="3200">
                <a:latin typeface="Times New Roman" panose="02020603050405020304" pitchFamily="18" charset="0"/>
              </a:rPr>
              <a:t>，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71365" name="Text Box 5"/>
          <p:cNvSpPr txBox="1">
            <a:spLocks noChangeArrowheads="1"/>
          </p:cNvSpPr>
          <p:nvPr/>
        </p:nvSpPr>
        <p:spPr bwMode="auto">
          <a:xfrm>
            <a:off x="5883276" y="1790700"/>
            <a:ext cx="47847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新的检测位为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4</a:t>
            </a:r>
            <a:r>
              <a:rPr lang="en-US" altLang="zh-CN" sz="3200">
                <a:latin typeface="Times New Roman" panose="02020603050405020304" pitchFamily="18" charset="0"/>
              </a:rPr>
              <a:t> P</a:t>
            </a:r>
            <a:r>
              <a:rPr lang="en-US" altLang="zh-CN" sz="3200" baseline="-25000">
                <a:latin typeface="Times New Roman" panose="02020603050405020304" pitchFamily="18" charset="0"/>
              </a:rPr>
              <a:t>2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1</a:t>
            </a:r>
            <a:r>
              <a:rPr lang="en-US" altLang="zh-CN" sz="1000" baseline="-25000">
                <a:latin typeface="Times New Roman" panose="02020603050405020304" pitchFamily="18" charset="0"/>
              </a:rPr>
              <a:t>  </a:t>
            </a:r>
            <a:r>
              <a:rPr lang="zh-CN" altLang="en-US" sz="3200" baseline="-25000">
                <a:latin typeface="Times New Roman" panose="02020603050405020304" pitchFamily="18" charset="0"/>
              </a:rPr>
              <a:t>。</a:t>
            </a:r>
            <a:endParaRPr lang="zh-CN" altLang="en-US" sz="3200" baseline="-25000">
              <a:latin typeface="Times New Roman" panose="02020603050405020304" pitchFamily="18" charset="0"/>
            </a:endParaRPr>
          </a:p>
        </p:txBody>
      </p:sp>
      <p:sp>
        <p:nvSpPr>
          <p:cNvPr id="271366" name="Text Box 6"/>
          <p:cNvSpPr txBox="1">
            <a:spLocks noChangeArrowheads="1"/>
          </p:cNvSpPr>
          <p:nvPr/>
        </p:nvSpPr>
        <p:spPr bwMode="auto">
          <a:xfrm>
            <a:off x="1828800" y="2438400"/>
            <a:ext cx="541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以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 </a:t>
            </a:r>
            <a:r>
              <a:rPr lang="zh-CN" altLang="en-US" sz="3200">
                <a:latin typeface="Times New Roman" panose="02020603050405020304" pitchFamily="18" charset="0"/>
              </a:rPr>
              <a:t>为例，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i="1" baseline="-25000">
                <a:latin typeface="Times New Roman" panose="02020603050405020304" pitchFamily="18" charset="0"/>
              </a:rPr>
              <a:t>i</a:t>
            </a:r>
            <a:r>
              <a:rPr lang="en-US" altLang="zh-CN" sz="3200" baseline="-250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的取值为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271367" name="Group 7"/>
          <p:cNvGrpSpPr/>
          <p:nvPr/>
        </p:nvGrpSpPr>
        <p:grpSpPr bwMode="auto">
          <a:xfrm>
            <a:off x="3048000" y="3200400"/>
            <a:ext cx="5638800" cy="628650"/>
            <a:chOff x="960" y="2016"/>
            <a:chExt cx="3552" cy="396"/>
          </a:xfrm>
        </p:grpSpPr>
        <p:sp>
          <p:nvSpPr>
            <p:cNvPr id="88092" name="Text Box 8"/>
            <p:cNvSpPr txBox="1">
              <a:spLocks noChangeArrowheads="1"/>
            </p:cNvSpPr>
            <p:nvPr/>
          </p:nvSpPr>
          <p:spPr bwMode="auto">
            <a:xfrm>
              <a:off x="960" y="2016"/>
              <a:ext cx="355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 </a:t>
              </a:r>
              <a:r>
                <a:rPr lang="en-US" altLang="zh-CN" sz="3200">
                  <a:latin typeface="Times New Roman" panose="02020603050405020304" pitchFamily="18" charset="0"/>
                </a:rPr>
                <a:t>= 1      3     </a:t>
              </a:r>
              <a:r>
                <a:rPr lang="en-US" altLang="zh-CN" sz="16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</a:rPr>
                <a:t>5      7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8093" name="AutoShape 9"/>
            <p:cNvSpPr>
              <a:spLocks noChangeArrowheads="1"/>
            </p:cNvSpPr>
            <p:nvPr/>
          </p:nvSpPr>
          <p:spPr bwMode="auto">
            <a:xfrm>
              <a:off x="1728" y="21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94" name="AutoShape 10"/>
            <p:cNvSpPr>
              <a:spLocks noChangeArrowheads="1"/>
            </p:cNvSpPr>
            <p:nvPr/>
          </p:nvSpPr>
          <p:spPr bwMode="auto">
            <a:xfrm>
              <a:off x="2208" y="21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95" name="AutoShape 11"/>
            <p:cNvSpPr>
              <a:spLocks noChangeArrowheads="1"/>
            </p:cNvSpPr>
            <p:nvPr/>
          </p:nvSpPr>
          <p:spPr bwMode="auto">
            <a:xfrm>
              <a:off x="2736" y="21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96" name="Text Box 12"/>
            <p:cNvSpPr txBox="1">
              <a:spLocks noChangeArrowheads="1"/>
            </p:cNvSpPr>
            <p:nvPr/>
          </p:nvSpPr>
          <p:spPr bwMode="auto">
            <a:xfrm>
              <a:off x="3504" y="2047"/>
              <a:ext cx="1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1373" name="Group 13"/>
          <p:cNvGrpSpPr/>
          <p:nvPr/>
        </p:nvGrpSpPr>
        <p:grpSpPr bwMode="auto">
          <a:xfrm>
            <a:off x="3063876" y="3944939"/>
            <a:ext cx="4708525" cy="617537"/>
            <a:chOff x="970" y="2485"/>
            <a:chExt cx="2966" cy="389"/>
          </a:xfrm>
        </p:grpSpPr>
        <p:sp>
          <p:nvSpPr>
            <p:cNvPr id="88087" name="Text Box 14"/>
            <p:cNvSpPr txBox="1">
              <a:spLocks noChangeArrowheads="1"/>
            </p:cNvSpPr>
            <p:nvPr/>
          </p:nvSpPr>
          <p:spPr bwMode="auto">
            <a:xfrm>
              <a:off x="970" y="2509"/>
              <a:ext cx="296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 </a:t>
              </a:r>
              <a:r>
                <a:rPr lang="en-US" altLang="zh-CN" sz="3200">
                  <a:latin typeface="Times New Roman" panose="02020603050405020304" pitchFamily="18" charset="0"/>
                </a:rPr>
                <a:t>= 2      3     </a:t>
              </a:r>
              <a:r>
                <a:rPr lang="en-US" altLang="zh-CN" sz="16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</a:rPr>
                <a:t>6      7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8088" name="AutoShape 15"/>
            <p:cNvSpPr>
              <a:spLocks noChangeArrowheads="1"/>
            </p:cNvSpPr>
            <p:nvPr/>
          </p:nvSpPr>
          <p:spPr bwMode="auto">
            <a:xfrm>
              <a:off x="1728" y="2593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89" name="AutoShape 16"/>
            <p:cNvSpPr>
              <a:spLocks noChangeArrowheads="1"/>
            </p:cNvSpPr>
            <p:nvPr/>
          </p:nvSpPr>
          <p:spPr bwMode="auto">
            <a:xfrm>
              <a:off x="2208" y="2593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90" name="AutoShape 17"/>
            <p:cNvSpPr>
              <a:spLocks noChangeArrowheads="1"/>
            </p:cNvSpPr>
            <p:nvPr/>
          </p:nvSpPr>
          <p:spPr bwMode="auto">
            <a:xfrm>
              <a:off x="2736" y="2593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91" name="Text Box 18"/>
            <p:cNvSpPr txBox="1">
              <a:spLocks noChangeArrowheads="1"/>
            </p:cNvSpPr>
            <p:nvPr/>
          </p:nvSpPr>
          <p:spPr bwMode="auto">
            <a:xfrm>
              <a:off x="3504" y="2485"/>
              <a:ext cx="1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1379" name="Group 19"/>
          <p:cNvGrpSpPr/>
          <p:nvPr/>
        </p:nvGrpSpPr>
        <p:grpSpPr bwMode="auto">
          <a:xfrm>
            <a:off x="3063876" y="4678364"/>
            <a:ext cx="4251325" cy="655637"/>
            <a:chOff x="970" y="2947"/>
            <a:chExt cx="2678" cy="413"/>
          </a:xfrm>
        </p:grpSpPr>
        <p:sp>
          <p:nvSpPr>
            <p:cNvPr id="88082" name="Text Box 20"/>
            <p:cNvSpPr txBox="1">
              <a:spLocks noChangeArrowheads="1"/>
            </p:cNvSpPr>
            <p:nvPr/>
          </p:nvSpPr>
          <p:spPr bwMode="auto">
            <a:xfrm>
              <a:off x="970" y="2995"/>
              <a:ext cx="267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 </a:t>
              </a:r>
              <a:r>
                <a:rPr lang="en-US" altLang="zh-CN" sz="3200">
                  <a:latin typeface="Times New Roman" panose="02020603050405020304" pitchFamily="18" charset="0"/>
                </a:rPr>
                <a:t>= 4      5     </a:t>
              </a:r>
              <a:r>
                <a:rPr lang="en-US" altLang="zh-CN" sz="16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</a:rPr>
                <a:t>6      7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8083" name="AutoShape 21"/>
            <p:cNvSpPr>
              <a:spLocks noChangeArrowheads="1"/>
            </p:cNvSpPr>
            <p:nvPr/>
          </p:nvSpPr>
          <p:spPr bwMode="auto">
            <a:xfrm>
              <a:off x="1728" y="3079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84" name="AutoShape 22"/>
            <p:cNvSpPr>
              <a:spLocks noChangeArrowheads="1"/>
            </p:cNvSpPr>
            <p:nvPr/>
          </p:nvSpPr>
          <p:spPr bwMode="auto">
            <a:xfrm>
              <a:off x="2208" y="3079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85" name="AutoShape 23"/>
            <p:cNvSpPr>
              <a:spLocks noChangeArrowheads="1"/>
            </p:cNvSpPr>
            <p:nvPr/>
          </p:nvSpPr>
          <p:spPr bwMode="auto">
            <a:xfrm>
              <a:off x="2736" y="3079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8086" name="Text Box 24"/>
            <p:cNvSpPr txBox="1">
              <a:spLocks noChangeArrowheads="1"/>
            </p:cNvSpPr>
            <p:nvPr/>
          </p:nvSpPr>
          <p:spPr bwMode="auto">
            <a:xfrm>
              <a:off x="3504" y="2947"/>
              <a:ext cx="1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71385" name="Text Box 25"/>
          <p:cNvSpPr txBox="1">
            <a:spLocks noChangeArrowheads="1"/>
          </p:cNvSpPr>
          <p:nvPr/>
        </p:nvSpPr>
        <p:spPr bwMode="auto">
          <a:xfrm>
            <a:off x="2422525" y="5429251"/>
            <a:ext cx="677300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对于按 “偶校验” 配置的汉明码     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71386" name="Text Box 26"/>
          <p:cNvSpPr txBox="1">
            <a:spLocks noChangeArrowheads="1"/>
          </p:cNvSpPr>
          <p:nvPr/>
        </p:nvSpPr>
        <p:spPr bwMode="auto">
          <a:xfrm>
            <a:off x="2422525" y="5962651"/>
            <a:ext cx="5953874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不出错时   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= 0，P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= 0，P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= 0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1387" name="Text Box 27"/>
          <p:cNvSpPr txBox="1">
            <a:spLocks noChangeArrowheads="1"/>
          </p:cNvSpPr>
          <p:nvPr/>
        </p:nvSpPr>
        <p:spPr bwMode="auto">
          <a:xfrm>
            <a:off x="3790950" y="2895601"/>
            <a:ext cx="7302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endParaRPr lang="en-US" altLang="zh-CN" sz="2800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1388" name="Text Box 28"/>
          <p:cNvSpPr txBox="1">
            <a:spLocks noChangeArrowheads="1"/>
          </p:cNvSpPr>
          <p:nvPr/>
        </p:nvSpPr>
        <p:spPr bwMode="auto">
          <a:xfrm>
            <a:off x="3790951" y="3657601"/>
            <a:ext cx="5619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endParaRPr lang="en-US" altLang="zh-CN" sz="2800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1389" name="Text Box 29"/>
          <p:cNvSpPr txBox="1">
            <a:spLocks noChangeArrowheads="1"/>
          </p:cNvSpPr>
          <p:nvPr/>
        </p:nvSpPr>
        <p:spPr bwMode="auto">
          <a:xfrm>
            <a:off x="3790951" y="4495801"/>
            <a:ext cx="5619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en-US" altLang="zh-CN" sz="2800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1390" name="Text Box 30"/>
          <p:cNvSpPr txBox="1">
            <a:spLocks noChangeArrowheads="1"/>
          </p:cNvSpPr>
          <p:nvPr/>
        </p:nvSpPr>
        <p:spPr bwMode="auto">
          <a:xfrm>
            <a:off x="5457825" y="1143000"/>
            <a:ext cx="59372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其位数与增添的检测位有关，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1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1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1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71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1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7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1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1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71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71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71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71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5" dur="500"/>
                                        <p:tgtEl>
                                          <p:spTgt spid="271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271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363" grpId="0" autoUpdateAnimBg="0"/>
      <p:bldP spid="271364" grpId="0" autoUpdateAnimBg="0"/>
      <p:bldP spid="271365" grpId="0" autoUpdateAnimBg="0"/>
      <p:bldP spid="271366" grpId="0" autoUpdateAnimBg="0"/>
      <p:bldP spid="271385" grpId="0" autoUpdateAnimBg="0"/>
      <p:bldP spid="271386" grpId="0" autoUpdateAnimBg="0"/>
      <p:bldP spid="271387" grpId="0" autoUpdateAnimBg="0"/>
      <p:bldP spid="271388" grpId="0" autoUpdateAnimBg="0"/>
      <p:bldP spid="271389" grpId="0" autoUpdateAnimBg="0"/>
      <p:bldP spid="271390" grpId="0" autoUpdateAnimBg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386" name="Group 2"/>
          <p:cNvGrpSpPr/>
          <p:nvPr/>
        </p:nvGrpSpPr>
        <p:grpSpPr bwMode="auto">
          <a:xfrm>
            <a:off x="2809876" y="2476500"/>
            <a:ext cx="5953125" cy="579438"/>
            <a:chOff x="810" y="1560"/>
            <a:chExt cx="3750" cy="365"/>
          </a:xfrm>
        </p:grpSpPr>
        <p:sp>
          <p:nvSpPr>
            <p:cNvPr id="89123" name="Text Box 3"/>
            <p:cNvSpPr txBox="1">
              <a:spLocks noChangeArrowheads="1"/>
            </p:cNvSpPr>
            <p:nvPr/>
          </p:nvSpPr>
          <p:spPr bwMode="auto">
            <a:xfrm>
              <a:off x="810" y="1560"/>
              <a:ext cx="375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3200">
                  <a:latin typeface="Times New Roman" panose="02020603050405020304" pitchFamily="18" charset="0"/>
                </a:rPr>
                <a:t>= 1      3       5      7 = 0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9124" name="AutoShape 4"/>
            <p:cNvSpPr>
              <a:spLocks noChangeArrowheads="1"/>
            </p:cNvSpPr>
            <p:nvPr/>
          </p:nvSpPr>
          <p:spPr bwMode="auto">
            <a:xfrm>
              <a:off x="1536" y="1644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25" name="AutoShape 5"/>
            <p:cNvSpPr>
              <a:spLocks noChangeArrowheads="1"/>
            </p:cNvSpPr>
            <p:nvPr/>
          </p:nvSpPr>
          <p:spPr bwMode="auto">
            <a:xfrm>
              <a:off x="2064" y="1644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26" name="AutoShape 6"/>
            <p:cNvSpPr>
              <a:spLocks noChangeArrowheads="1"/>
            </p:cNvSpPr>
            <p:nvPr/>
          </p:nvSpPr>
          <p:spPr bwMode="auto">
            <a:xfrm>
              <a:off x="2640" y="1644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272391" name="Text Box 7"/>
          <p:cNvSpPr txBox="1">
            <a:spLocks noChangeArrowheads="1"/>
          </p:cNvSpPr>
          <p:nvPr/>
        </p:nvSpPr>
        <p:spPr bwMode="auto">
          <a:xfrm>
            <a:off x="7226300" y="2476500"/>
            <a:ext cx="10033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无错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72392" name="Group 8"/>
          <p:cNvGrpSpPr/>
          <p:nvPr/>
        </p:nvGrpSpPr>
        <p:grpSpPr bwMode="auto">
          <a:xfrm>
            <a:off x="2825750" y="3249614"/>
            <a:ext cx="5556250" cy="579437"/>
            <a:chOff x="820" y="2047"/>
            <a:chExt cx="3500" cy="365"/>
          </a:xfrm>
        </p:grpSpPr>
        <p:sp>
          <p:nvSpPr>
            <p:cNvPr id="89119" name="Text Box 9"/>
            <p:cNvSpPr txBox="1">
              <a:spLocks noChangeArrowheads="1"/>
            </p:cNvSpPr>
            <p:nvPr/>
          </p:nvSpPr>
          <p:spPr bwMode="auto">
            <a:xfrm>
              <a:off x="820" y="2047"/>
              <a:ext cx="350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</a:t>
              </a:r>
              <a:r>
                <a:rPr lang="en-US" altLang="zh-CN" sz="3200">
                  <a:latin typeface="Times New Roman" panose="02020603050405020304" pitchFamily="18" charset="0"/>
                </a:rPr>
                <a:t>= 2      3       6      7 = 1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9120" name="AutoShape 10"/>
            <p:cNvSpPr>
              <a:spLocks noChangeArrowheads="1"/>
            </p:cNvSpPr>
            <p:nvPr/>
          </p:nvSpPr>
          <p:spPr bwMode="auto">
            <a:xfrm>
              <a:off x="1536" y="2131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21" name="AutoShape 11"/>
            <p:cNvSpPr>
              <a:spLocks noChangeArrowheads="1"/>
            </p:cNvSpPr>
            <p:nvPr/>
          </p:nvSpPr>
          <p:spPr bwMode="auto">
            <a:xfrm>
              <a:off x="2064" y="2131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22" name="AutoShape 12"/>
            <p:cNvSpPr>
              <a:spLocks noChangeArrowheads="1"/>
            </p:cNvSpPr>
            <p:nvPr/>
          </p:nvSpPr>
          <p:spPr bwMode="auto">
            <a:xfrm>
              <a:off x="2640" y="2131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272397" name="Text Box 13"/>
          <p:cNvSpPr txBox="1">
            <a:spLocks noChangeArrowheads="1"/>
          </p:cNvSpPr>
          <p:nvPr/>
        </p:nvSpPr>
        <p:spPr bwMode="auto">
          <a:xfrm>
            <a:off x="7226300" y="3249614"/>
            <a:ext cx="10033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有错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72398" name="Group 14"/>
          <p:cNvGrpSpPr/>
          <p:nvPr/>
        </p:nvGrpSpPr>
        <p:grpSpPr bwMode="auto">
          <a:xfrm>
            <a:off x="2825750" y="4076700"/>
            <a:ext cx="5403850" cy="579438"/>
            <a:chOff x="820" y="2568"/>
            <a:chExt cx="3404" cy="365"/>
          </a:xfrm>
        </p:grpSpPr>
        <p:sp>
          <p:nvSpPr>
            <p:cNvPr id="89115" name="Text Box 15"/>
            <p:cNvSpPr txBox="1">
              <a:spLocks noChangeArrowheads="1"/>
            </p:cNvSpPr>
            <p:nvPr/>
          </p:nvSpPr>
          <p:spPr bwMode="auto">
            <a:xfrm>
              <a:off x="820" y="2568"/>
              <a:ext cx="340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</a:t>
              </a:r>
              <a:r>
                <a:rPr lang="en-US" altLang="zh-CN" sz="3200">
                  <a:latin typeface="Times New Roman" panose="02020603050405020304" pitchFamily="18" charset="0"/>
                </a:rPr>
                <a:t>= 4      5       6      7 = 1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89116" name="AutoShape 16"/>
            <p:cNvSpPr>
              <a:spLocks noChangeArrowheads="1"/>
            </p:cNvSpPr>
            <p:nvPr/>
          </p:nvSpPr>
          <p:spPr bwMode="auto">
            <a:xfrm>
              <a:off x="1536" y="26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17" name="AutoShape 17"/>
            <p:cNvSpPr>
              <a:spLocks noChangeArrowheads="1"/>
            </p:cNvSpPr>
            <p:nvPr/>
          </p:nvSpPr>
          <p:spPr bwMode="auto">
            <a:xfrm>
              <a:off x="2064" y="26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18" name="AutoShape 18"/>
            <p:cNvSpPr>
              <a:spLocks noChangeArrowheads="1"/>
            </p:cNvSpPr>
            <p:nvPr/>
          </p:nvSpPr>
          <p:spPr bwMode="auto">
            <a:xfrm>
              <a:off x="2640" y="26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272403" name="Text Box 19"/>
          <p:cNvSpPr txBox="1">
            <a:spLocks noChangeArrowheads="1"/>
          </p:cNvSpPr>
          <p:nvPr/>
        </p:nvSpPr>
        <p:spPr bwMode="auto">
          <a:xfrm>
            <a:off x="7226300" y="4076700"/>
            <a:ext cx="10033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有错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2404" name="Text Box 20"/>
          <p:cNvSpPr txBox="1">
            <a:spLocks noChangeArrowheads="1"/>
          </p:cNvSpPr>
          <p:nvPr/>
        </p:nvSpPr>
        <p:spPr bwMode="auto">
          <a:xfrm>
            <a:off x="2819400" y="4953000"/>
            <a:ext cx="4343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∴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　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 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= 110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2405" name="Text Box 21"/>
          <p:cNvSpPr txBox="1">
            <a:spLocks noChangeArrowheads="1"/>
          </p:cNvSpPr>
          <p:nvPr/>
        </p:nvSpPr>
        <p:spPr bwMode="auto">
          <a:xfrm>
            <a:off x="2590801" y="5638801"/>
            <a:ext cx="6194425" cy="1128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第 6 位出错，可纠正为 01001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r>
              <a:rPr lang="zh-CN" altLang="en-US" sz="3200">
                <a:latin typeface="Times New Roman" panose="02020603050405020304" pitchFamily="18" charset="0"/>
              </a:rPr>
              <a:t>1，</a:t>
            </a:r>
            <a:endParaRPr lang="zh-CN" altLang="en-US" sz="3200">
              <a:latin typeface="Times New Roman" panose="02020603050405020304" pitchFamily="18" charset="0"/>
            </a:endParaRPr>
          </a:p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故要求传送的信息为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0101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。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2406" name="Text Box 22"/>
          <p:cNvSpPr txBox="1">
            <a:spLocks noChangeArrowheads="1"/>
          </p:cNvSpPr>
          <p:nvPr/>
        </p:nvSpPr>
        <p:spPr bwMode="auto">
          <a:xfrm>
            <a:off x="2751138" y="1828800"/>
            <a:ext cx="31924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纠错过程如下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9099" name="Text Box 23"/>
          <p:cNvSpPr txBox="1">
            <a:spLocks noChangeArrowheads="1"/>
          </p:cNvSpPr>
          <p:nvPr/>
        </p:nvSpPr>
        <p:spPr bwMode="auto">
          <a:xfrm>
            <a:off x="1676400" y="457200"/>
            <a:ext cx="12144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例4.5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72408" name="Text Box 24"/>
          <p:cNvSpPr txBox="1">
            <a:spLocks noChangeArrowheads="1"/>
          </p:cNvSpPr>
          <p:nvPr/>
        </p:nvSpPr>
        <p:spPr bwMode="auto">
          <a:xfrm>
            <a:off x="1965326" y="1828800"/>
            <a:ext cx="10001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解：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272409" name="Group 25"/>
          <p:cNvGrpSpPr/>
          <p:nvPr/>
        </p:nvGrpSpPr>
        <p:grpSpPr bwMode="auto">
          <a:xfrm>
            <a:off x="1447800" y="457200"/>
            <a:ext cx="8955088" cy="1284288"/>
            <a:chOff x="-48" y="288"/>
            <a:chExt cx="5641" cy="809"/>
          </a:xfrm>
        </p:grpSpPr>
        <p:sp>
          <p:nvSpPr>
            <p:cNvPr id="89113" name="Text Box 26"/>
            <p:cNvSpPr txBox="1">
              <a:spLocks noChangeArrowheads="1"/>
            </p:cNvSpPr>
            <p:nvPr/>
          </p:nvSpPr>
          <p:spPr bwMode="auto">
            <a:xfrm>
              <a:off x="0" y="288"/>
              <a:ext cx="458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600">
                  <a:latin typeface="Times New Roman" panose="02020603050405020304" pitchFamily="18" charset="0"/>
                </a:rPr>
                <a:t>             </a:t>
              </a:r>
              <a:r>
                <a:rPr lang="zh-CN" altLang="en-US" sz="3200">
                  <a:latin typeface="Times New Roman" panose="02020603050405020304" pitchFamily="18" charset="0"/>
                </a:rPr>
                <a:t>已知接收到的汉明码为 0100111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89114" name="Text Box 27"/>
            <p:cNvSpPr txBox="1">
              <a:spLocks noChangeArrowheads="1"/>
            </p:cNvSpPr>
            <p:nvPr/>
          </p:nvSpPr>
          <p:spPr bwMode="auto">
            <a:xfrm>
              <a:off x="-48" y="732"/>
              <a:ext cx="5641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（按配偶原则配置）试问要求传送的信息是什么?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2413" name="Group 29"/>
          <p:cNvGrpSpPr/>
          <p:nvPr/>
        </p:nvGrpSpPr>
        <p:grpSpPr bwMode="auto">
          <a:xfrm>
            <a:off x="4324350" y="3657601"/>
            <a:ext cx="2305050" cy="519113"/>
            <a:chOff x="1764" y="2304"/>
            <a:chExt cx="1452" cy="327"/>
          </a:xfrm>
        </p:grpSpPr>
        <p:sp>
          <p:nvSpPr>
            <p:cNvPr id="89111" name="Text Box 30"/>
            <p:cNvSpPr txBox="1">
              <a:spLocks noChangeArrowheads="1"/>
            </p:cNvSpPr>
            <p:nvPr/>
          </p:nvSpPr>
          <p:spPr bwMode="auto">
            <a:xfrm>
              <a:off x="1764" y="2304"/>
              <a:ext cx="34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9112" name="Text Box 31"/>
            <p:cNvSpPr txBox="1">
              <a:spLocks noChangeArrowheads="1"/>
            </p:cNvSpPr>
            <p:nvPr/>
          </p:nvSpPr>
          <p:spPr bwMode="auto">
            <a:xfrm>
              <a:off x="2868" y="2304"/>
              <a:ext cx="34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2416" name="Group 32"/>
          <p:cNvGrpSpPr/>
          <p:nvPr/>
        </p:nvGrpSpPr>
        <p:grpSpPr bwMode="auto">
          <a:xfrm>
            <a:off x="4324350" y="4495801"/>
            <a:ext cx="2305050" cy="519113"/>
            <a:chOff x="1764" y="2832"/>
            <a:chExt cx="1452" cy="327"/>
          </a:xfrm>
        </p:grpSpPr>
        <p:sp>
          <p:nvSpPr>
            <p:cNvPr id="89109" name="Text Box 33"/>
            <p:cNvSpPr txBox="1">
              <a:spLocks noChangeArrowheads="1"/>
            </p:cNvSpPr>
            <p:nvPr/>
          </p:nvSpPr>
          <p:spPr bwMode="auto">
            <a:xfrm>
              <a:off x="1764" y="2832"/>
              <a:ext cx="34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9110" name="Text Box 34"/>
            <p:cNvSpPr txBox="1">
              <a:spLocks noChangeArrowheads="1"/>
            </p:cNvSpPr>
            <p:nvPr/>
          </p:nvSpPr>
          <p:spPr bwMode="auto">
            <a:xfrm>
              <a:off x="2868" y="2832"/>
              <a:ext cx="34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2419" name="Group 35"/>
          <p:cNvGrpSpPr/>
          <p:nvPr/>
        </p:nvGrpSpPr>
        <p:grpSpPr bwMode="auto">
          <a:xfrm>
            <a:off x="5305425" y="3338513"/>
            <a:ext cx="304800" cy="1263650"/>
            <a:chOff x="2256" y="2103"/>
            <a:chExt cx="192" cy="796"/>
          </a:xfrm>
        </p:grpSpPr>
        <p:sp>
          <p:nvSpPr>
            <p:cNvPr id="89107" name="AutoShape 36"/>
            <p:cNvSpPr>
              <a:spLocks noChangeArrowheads="1"/>
            </p:cNvSpPr>
            <p:nvPr/>
          </p:nvSpPr>
          <p:spPr bwMode="auto">
            <a:xfrm>
              <a:off x="2256" y="2103"/>
              <a:ext cx="192" cy="288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89108" name="AutoShape 37"/>
            <p:cNvSpPr>
              <a:spLocks noChangeArrowheads="1"/>
            </p:cNvSpPr>
            <p:nvPr/>
          </p:nvSpPr>
          <p:spPr bwMode="auto">
            <a:xfrm>
              <a:off x="2256" y="2611"/>
              <a:ext cx="192" cy="288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2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2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2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2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2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72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2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72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72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72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72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7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72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72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391" grpId="0" autoUpdateAnimBg="0"/>
      <p:bldP spid="272397" grpId="0" autoUpdateAnimBg="0"/>
      <p:bldP spid="272403" grpId="0" autoUpdateAnimBg="0"/>
      <p:bldP spid="272404" grpId="0" autoUpdateAnimBg="0"/>
      <p:bldP spid="272405" grpId="0" autoUpdateAnimBg="0"/>
      <p:bldP spid="272406" grpId="0" autoUpdateAnimBg="0"/>
      <p:bldP spid="272408" grpId="0" autoUpdateAnimBg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Text Box 2"/>
          <p:cNvSpPr txBox="1">
            <a:spLocks noChangeArrowheads="1"/>
          </p:cNvSpPr>
          <p:nvPr/>
        </p:nvSpPr>
        <p:spPr bwMode="auto">
          <a:xfrm>
            <a:off x="2057400" y="454026"/>
            <a:ext cx="1342034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练习2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grpSp>
        <p:nvGrpSpPr>
          <p:cNvPr id="802819" name="Group 3"/>
          <p:cNvGrpSpPr/>
          <p:nvPr/>
        </p:nvGrpSpPr>
        <p:grpSpPr bwMode="auto">
          <a:xfrm>
            <a:off x="3048000" y="1858963"/>
            <a:ext cx="4083050" cy="584199"/>
            <a:chOff x="960" y="1104"/>
            <a:chExt cx="2572" cy="368"/>
          </a:xfrm>
        </p:grpSpPr>
        <p:sp>
          <p:nvSpPr>
            <p:cNvPr id="90137" name="Text Box 4"/>
            <p:cNvSpPr txBox="1">
              <a:spLocks noChangeArrowheads="1"/>
            </p:cNvSpPr>
            <p:nvPr/>
          </p:nvSpPr>
          <p:spPr bwMode="auto">
            <a:xfrm>
              <a:off x="960" y="1104"/>
              <a:ext cx="2572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 </a:t>
              </a:r>
              <a:r>
                <a:rPr lang="en-US" altLang="zh-CN" sz="3200">
                  <a:latin typeface="Times New Roman" panose="02020603050405020304" pitchFamily="18" charset="0"/>
                </a:rPr>
                <a:t>= 4     5      6     7 = 1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90138" name="AutoShape 5"/>
            <p:cNvSpPr>
              <a:spLocks noChangeArrowheads="1"/>
            </p:cNvSpPr>
            <p:nvPr/>
          </p:nvSpPr>
          <p:spPr bwMode="auto">
            <a:xfrm>
              <a:off x="1680" y="118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0139" name="AutoShape 6"/>
            <p:cNvSpPr>
              <a:spLocks noChangeArrowheads="1"/>
            </p:cNvSpPr>
            <p:nvPr/>
          </p:nvSpPr>
          <p:spPr bwMode="auto">
            <a:xfrm>
              <a:off x="2160" y="118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0140" name="AutoShape 7"/>
            <p:cNvSpPr>
              <a:spLocks noChangeArrowheads="1"/>
            </p:cNvSpPr>
            <p:nvPr/>
          </p:nvSpPr>
          <p:spPr bwMode="auto">
            <a:xfrm>
              <a:off x="2640" y="118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802824" name="Group 8"/>
          <p:cNvGrpSpPr/>
          <p:nvPr/>
        </p:nvGrpSpPr>
        <p:grpSpPr bwMode="auto">
          <a:xfrm>
            <a:off x="3048000" y="2544762"/>
            <a:ext cx="4083050" cy="584199"/>
            <a:chOff x="960" y="1536"/>
            <a:chExt cx="2572" cy="368"/>
          </a:xfrm>
        </p:grpSpPr>
        <p:sp>
          <p:nvSpPr>
            <p:cNvPr id="90133" name="Text Box 9"/>
            <p:cNvSpPr txBox="1">
              <a:spLocks noChangeArrowheads="1"/>
            </p:cNvSpPr>
            <p:nvPr/>
          </p:nvSpPr>
          <p:spPr bwMode="auto">
            <a:xfrm>
              <a:off x="960" y="1536"/>
              <a:ext cx="2572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 </a:t>
              </a:r>
              <a:r>
                <a:rPr lang="en-US" altLang="zh-CN" sz="3200">
                  <a:latin typeface="Times New Roman" panose="02020603050405020304" pitchFamily="18" charset="0"/>
                </a:rPr>
                <a:t>= 2     3      6     7 = 0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90134" name="AutoShape 10"/>
            <p:cNvSpPr>
              <a:spLocks noChangeArrowheads="1"/>
            </p:cNvSpPr>
            <p:nvPr/>
          </p:nvSpPr>
          <p:spPr bwMode="auto">
            <a:xfrm>
              <a:off x="1680" y="162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0135" name="AutoShape 11"/>
            <p:cNvSpPr>
              <a:spLocks noChangeArrowheads="1"/>
            </p:cNvSpPr>
            <p:nvPr/>
          </p:nvSpPr>
          <p:spPr bwMode="auto">
            <a:xfrm>
              <a:off x="2160" y="162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0136" name="AutoShape 12"/>
            <p:cNvSpPr>
              <a:spLocks noChangeArrowheads="1"/>
            </p:cNvSpPr>
            <p:nvPr/>
          </p:nvSpPr>
          <p:spPr bwMode="auto">
            <a:xfrm>
              <a:off x="2640" y="162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grpSp>
        <p:nvGrpSpPr>
          <p:cNvPr id="802829" name="Group 13"/>
          <p:cNvGrpSpPr/>
          <p:nvPr/>
        </p:nvGrpSpPr>
        <p:grpSpPr bwMode="auto">
          <a:xfrm>
            <a:off x="3048000" y="3230561"/>
            <a:ext cx="4083050" cy="584199"/>
            <a:chOff x="960" y="1968"/>
            <a:chExt cx="2572" cy="368"/>
          </a:xfrm>
        </p:grpSpPr>
        <p:sp>
          <p:nvSpPr>
            <p:cNvPr id="90129" name="Text Box 14"/>
            <p:cNvSpPr txBox="1">
              <a:spLocks noChangeArrowheads="1"/>
            </p:cNvSpPr>
            <p:nvPr/>
          </p:nvSpPr>
          <p:spPr bwMode="auto">
            <a:xfrm>
              <a:off x="960" y="1968"/>
              <a:ext cx="2572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 </a:t>
              </a:r>
              <a:r>
                <a:rPr lang="en-US" altLang="zh-CN" sz="3200">
                  <a:latin typeface="Times New Roman" panose="02020603050405020304" pitchFamily="18" charset="0"/>
                </a:rPr>
                <a:t>= 1     3      5     7 = 0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90130" name="AutoShape 15"/>
            <p:cNvSpPr>
              <a:spLocks noChangeArrowheads="1"/>
            </p:cNvSpPr>
            <p:nvPr/>
          </p:nvSpPr>
          <p:spPr bwMode="auto">
            <a:xfrm>
              <a:off x="1680" y="20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0131" name="AutoShape 16"/>
            <p:cNvSpPr>
              <a:spLocks noChangeArrowheads="1"/>
            </p:cNvSpPr>
            <p:nvPr/>
          </p:nvSpPr>
          <p:spPr bwMode="auto">
            <a:xfrm>
              <a:off x="2160" y="20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0132" name="AutoShape 17"/>
            <p:cNvSpPr>
              <a:spLocks noChangeArrowheads="1"/>
            </p:cNvSpPr>
            <p:nvPr/>
          </p:nvSpPr>
          <p:spPr bwMode="auto">
            <a:xfrm>
              <a:off x="2640" y="20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</p:grpSp>
      <p:sp>
        <p:nvSpPr>
          <p:cNvPr id="802834" name="Text Box 18"/>
          <p:cNvSpPr txBox="1">
            <a:spLocks noChangeArrowheads="1"/>
          </p:cNvSpPr>
          <p:nvPr/>
        </p:nvSpPr>
        <p:spPr bwMode="auto">
          <a:xfrm>
            <a:off x="2438401" y="3886201"/>
            <a:ext cx="3153427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∴ 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4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2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latin typeface="Times New Roman" panose="02020603050405020304" pitchFamily="18" charset="0"/>
              </a:rPr>
              <a:t> = 100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802835" name="Text Box 19"/>
          <p:cNvSpPr txBox="1">
            <a:spLocks noChangeArrowheads="1"/>
          </p:cNvSpPr>
          <p:nvPr/>
        </p:nvSpPr>
        <p:spPr bwMode="auto">
          <a:xfrm>
            <a:off x="6019801" y="3835400"/>
            <a:ext cx="34718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第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位错，可不纠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802836" name="Group 20"/>
          <p:cNvGrpSpPr/>
          <p:nvPr/>
        </p:nvGrpSpPr>
        <p:grpSpPr bwMode="auto">
          <a:xfrm>
            <a:off x="3429000" y="509588"/>
            <a:ext cx="5080000" cy="1289050"/>
            <a:chOff x="1200" y="321"/>
            <a:chExt cx="3200" cy="812"/>
          </a:xfrm>
        </p:grpSpPr>
        <p:sp>
          <p:nvSpPr>
            <p:cNvPr id="90127" name="Text Box 21"/>
            <p:cNvSpPr txBox="1">
              <a:spLocks noChangeArrowheads="1"/>
            </p:cNvSpPr>
            <p:nvPr/>
          </p:nvSpPr>
          <p:spPr bwMode="auto">
            <a:xfrm>
              <a:off x="1200" y="321"/>
              <a:ext cx="320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写出按偶校验配置的汉明码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0128" name="Text Box 22"/>
            <p:cNvSpPr txBox="1">
              <a:spLocks noChangeArrowheads="1"/>
            </p:cNvSpPr>
            <p:nvPr/>
          </p:nvSpPr>
          <p:spPr bwMode="auto">
            <a:xfrm>
              <a:off x="1287" y="768"/>
              <a:ext cx="2361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0101101 的纠错过程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802839" name="Group 23"/>
          <p:cNvGrpSpPr/>
          <p:nvPr/>
        </p:nvGrpSpPr>
        <p:grpSpPr bwMode="auto">
          <a:xfrm>
            <a:off x="2057401" y="4900614"/>
            <a:ext cx="7059613" cy="661987"/>
            <a:chOff x="432" y="2895"/>
            <a:chExt cx="4447" cy="417"/>
          </a:xfrm>
        </p:grpSpPr>
        <p:sp>
          <p:nvSpPr>
            <p:cNvPr id="90125" name="Text Box 24"/>
            <p:cNvSpPr txBox="1">
              <a:spLocks noChangeArrowheads="1"/>
            </p:cNvSpPr>
            <p:nvPr/>
          </p:nvSpPr>
          <p:spPr bwMode="auto">
            <a:xfrm>
              <a:off x="432" y="2895"/>
              <a:ext cx="84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600">
                  <a:latin typeface="Times New Roman" panose="02020603050405020304" pitchFamily="18" charset="0"/>
                </a:rPr>
                <a:t>练习3</a:t>
              </a:r>
              <a:endParaRPr lang="zh-CN" altLang="en-US" sz="3600">
                <a:latin typeface="Times New Roman" panose="02020603050405020304" pitchFamily="18" charset="0"/>
              </a:endParaRPr>
            </a:p>
          </p:txBody>
        </p:sp>
        <p:sp>
          <p:nvSpPr>
            <p:cNvPr id="90126" name="Text Box 25"/>
            <p:cNvSpPr txBox="1">
              <a:spLocks noChangeArrowheads="1"/>
            </p:cNvSpPr>
            <p:nvPr/>
          </p:nvSpPr>
          <p:spPr bwMode="auto">
            <a:xfrm>
              <a:off x="1296" y="2947"/>
              <a:ext cx="358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按配奇原则配置 0011 的汉明码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2842" name="Text Box 26"/>
          <p:cNvSpPr txBox="1">
            <a:spLocks noChangeArrowheads="1"/>
          </p:cNvSpPr>
          <p:nvPr/>
        </p:nvSpPr>
        <p:spPr bwMode="auto">
          <a:xfrm>
            <a:off x="3429001" y="5683250"/>
            <a:ext cx="47418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配奇的汉明码为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01</a:t>
            </a:r>
            <a:r>
              <a:rPr lang="zh-CN" altLang="en-US" sz="3600">
                <a:latin typeface="Times New Roman" panose="02020603050405020304" pitchFamily="18" charset="0"/>
              </a:rPr>
              <a:t>0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zh-CN" altLang="en-US" sz="3600">
                <a:latin typeface="Times New Roman" panose="02020603050405020304" pitchFamily="18" charset="0"/>
              </a:rPr>
              <a:t>011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802843" name="Rectangle 27"/>
          <p:cNvSpPr>
            <a:spLocks noChangeArrowheads="1"/>
          </p:cNvSpPr>
          <p:nvPr/>
        </p:nvSpPr>
        <p:spPr bwMode="auto">
          <a:xfrm>
            <a:off x="9220200" y="152400"/>
            <a:ext cx="1143000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 anchor="ctr"/>
          <a:lstStyle>
            <a:lvl1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  <a:endParaRPr lang="zh-CN" altLang="en-US" sz="44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anose="020B0604020202020204" pitchFamily="34" charset="0"/>
            </a:endParaRPr>
          </a:p>
        </p:txBody>
      </p:sp>
      <p:sp>
        <p:nvSpPr>
          <p:cNvPr id="90124" name="AutoShape 28">
            <a:hlinkClick r:id="rId1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10113964" y="6575653"/>
            <a:ext cx="184731" cy="215444"/>
          </a:xfrm>
          <a:prstGeom prst="actionButtonEnd">
            <a:avLst/>
          </a:prstGeom>
          <a:solidFill>
            <a:srgbClr val="3366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02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02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02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02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02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2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02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02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2834" grpId="0" autoUpdateAnimBg="0"/>
      <p:bldP spid="802835" grpId="0" autoUpdateAnimBg="0"/>
      <p:bldP spid="802842" grpId="0" autoUpdateAnimBg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Text Box 2"/>
          <p:cNvSpPr txBox="1">
            <a:spLocks noChangeArrowheads="1"/>
          </p:cNvSpPr>
          <p:nvPr/>
        </p:nvSpPr>
        <p:spPr bwMode="auto">
          <a:xfrm>
            <a:off x="2057400" y="244475"/>
            <a:ext cx="5410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七、提高访存速度的措施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2817814" y="927101"/>
            <a:ext cx="30495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采用高速器件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74436" name="Text Box 4"/>
          <p:cNvSpPr txBox="1">
            <a:spLocks noChangeArrowheads="1"/>
          </p:cNvSpPr>
          <p:nvPr/>
        </p:nvSpPr>
        <p:spPr bwMode="auto">
          <a:xfrm>
            <a:off x="2817814" y="2071688"/>
            <a:ext cx="2897187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调整主存结构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74437" name="Text Box 5"/>
          <p:cNvSpPr txBox="1">
            <a:spLocks noChangeArrowheads="1"/>
          </p:cNvSpPr>
          <p:nvPr/>
        </p:nvSpPr>
        <p:spPr bwMode="auto">
          <a:xfrm>
            <a:off x="2590800" y="2743200"/>
            <a:ext cx="3200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1. 单体多字系统 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274485" name="Group 53"/>
          <p:cNvGrpSpPr/>
          <p:nvPr/>
        </p:nvGrpSpPr>
        <p:grpSpPr bwMode="auto">
          <a:xfrm>
            <a:off x="2790825" y="3365500"/>
            <a:ext cx="7115174" cy="3302000"/>
            <a:chOff x="798" y="2120"/>
            <a:chExt cx="4482" cy="2080"/>
          </a:xfrm>
        </p:grpSpPr>
        <p:sp>
          <p:nvSpPr>
            <p:cNvPr id="91147" name="Rectangle 7"/>
            <p:cNvSpPr>
              <a:spLocks noChangeArrowheads="1"/>
            </p:cNvSpPr>
            <p:nvPr/>
          </p:nvSpPr>
          <p:spPr bwMode="auto">
            <a:xfrm>
              <a:off x="822" y="2491"/>
              <a:ext cx="290" cy="1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48" name="Rectangle 8"/>
            <p:cNvSpPr>
              <a:spLocks noChangeArrowheads="1"/>
            </p:cNvSpPr>
            <p:nvPr/>
          </p:nvSpPr>
          <p:spPr bwMode="auto">
            <a:xfrm>
              <a:off x="1546" y="278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49" name="Text Box 9"/>
            <p:cNvSpPr txBox="1">
              <a:spLocks noChangeArrowheads="1"/>
            </p:cNvSpPr>
            <p:nvPr/>
          </p:nvSpPr>
          <p:spPr bwMode="auto">
            <a:xfrm>
              <a:off x="1594" y="2774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91150" name="Rectangle 10"/>
            <p:cNvSpPr>
              <a:spLocks noChangeArrowheads="1"/>
            </p:cNvSpPr>
            <p:nvPr/>
          </p:nvSpPr>
          <p:spPr bwMode="auto">
            <a:xfrm>
              <a:off x="2173" y="2780"/>
              <a:ext cx="628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51" name="Text Box 11"/>
            <p:cNvSpPr txBox="1">
              <a:spLocks noChangeArrowheads="1"/>
            </p:cNvSpPr>
            <p:nvPr/>
          </p:nvSpPr>
          <p:spPr bwMode="auto">
            <a:xfrm>
              <a:off x="2221" y="2774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91152" name="Rectangle 12"/>
            <p:cNvSpPr>
              <a:spLocks noChangeArrowheads="1"/>
            </p:cNvSpPr>
            <p:nvPr/>
          </p:nvSpPr>
          <p:spPr bwMode="auto">
            <a:xfrm>
              <a:off x="2801" y="278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53" name="Text Box 13"/>
            <p:cNvSpPr txBox="1">
              <a:spLocks noChangeArrowheads="1"/>
            </p:cNvSpPr>
            <p:nvPr/>
          </p:nvSpPr>
          <p:spPr bwMode="auto">
            <a:xfrm>
              <a:off x="2849" y="2774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91154" name="Rectangle 14"/>
            <p:cNvSpPr>
              <a:spLocks noChangeArrowheads="1"/>
            </p:cNvSpPr>
            <p:nvPr/>
          </p:nvSpPr>
          <p:spPr bwMode="auto">
            <a:xfrm>
              <a:off x="3428" y="278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55" name="Text Box 15"/>
            <p:cNvSpPr txBox="1">
              <a:spLocks noChangeArrowheads="1"/>
            </p:cNvSpPr>
            <p:nvPr/>
          </p:nvSpPr>
          <p:spPr bwMode="auto">
            <a:xfrm>
              <a:off x="3476" y="2774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1156" name="Rectangle 16"/>
            <p:cNvSpPr>
              <a:spLocks noChangeArrowheads="1"/>
            </p:cNvSpPr>
            <p:nvPr/>
          </p:nvSpPr>
          <p:spPr bwMode="auto">
            <a:xfrm>
              <a:off x="2511" y="212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57" name="Text Box 17"/>
            <p:cNvSpPr txBox="1">
              <a:spLocks noChangeArrowheads="1"/>
            </p:cNvSpPr>
            <p:nvPr/>
          </p:nvSpPr>
          <p:spPr bwMode="auto">
            <a:xfrm>
              <a:off x="2559" y="2137"/>
              <a:ext cx="4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grpSp>
          <p:nvGrpSpPr>
            <p:cNvPr id="91158" name="Group 52"/>
            <p:cNvGrpSpPr/>
            <p:nvPr/>
          </p:nvGrpSpPr>
          <p:grpSpPr bwMode="auto">
            <a:xfrm>
              <a:off x="1546" y="3358"/>
              <a:ext cx="2509" cy="289"/>
              <a:chOff x="1546" y="3358"/>
              <a:chExt cx="2509" cy="289"/>
            </a:xfrm>
          </p:grpSpPr>
          <p:sp>
            <p:nvSpPr>
              <p:cNvPr id="91181" name="Rectangle 19"/>
              <p:cNvSpPr>
                <a:spLocks noChangeArrowheads="1"/>
              </p:cNvSpPr>
              <p:nvPr/>
            </p:nvSpPr>
            <p:spPr bwMode="auto">
              <a:xfrm>
                <a:off x="1546" y="3358"/>
                <a:ext cx="2509" cy="28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1182" name="Line 20"/>
              <p:cNvSpPr>
                <a:spLocks noChangeShapeType="1"/>
              </p:cNvSpPr>
              <p:nvPr/>
            </p:nvSpPr>
            <p:spPr bwMode="auto">
              <a:xfrm>
                <a:off x="2173" y="3358"/>
                <a:ext cx="0" cy="28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1183" name="Line 21"/>
              <p:cNvSpPr>
                <a:spLocks noChangeShapeType="1"/>
              </p:cNvSpPr>
              <p:nvPr/>
            </p:nvSpPr>
            <p:spPr bwMode="auto">
              <a:xfrm>
                <a:off x="2801" y="3358"/>
                <a:ext cx="0" cy="28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1184" name="Line 22"/>
              <p:cNvSpPr>
                <a:spLocks noChangeShapeType="1"/>
              </p:cNvSpPr>
              <p:nvPr/>
            </p:nvSpPr>
            <p:spPr bwMode="auto">
              <a:xfrm>
                <a:off x="3428" y="3358"/>
                <a:ext cx="0" cy="28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91159" name="AutoShape 23"/>
            <p:cNvSpPr/>
            <p:nvPr/>
          </p:nvSpPr>
          <p:spPr bwMode="auto">
            <a:xfrm rot="5400000">
              <a:off x="1777" y="2385"/>
              <a:ext cx="166" cy="626"/>
            </a:xfrm>
            <a:prstGeom prst="leftBrace">
              <a:avLst>
                <a:gd name="adj1" fmla="val 3142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60" name="AutoShape 24"/>
            <p:cNvSpPr/>
            <p:nvPr/>
          </p:nvSpPr>
          <p:spPr bwMode="auto">
            <a:xfrm rot="5400000">
              <a:off x="2404" y="2385"/>
              <a:ext cx="166" cy="626"/>
            </a:xfrm>
            <a:prstGeom prst="leftBrace">
              <a:avLst>
                <a:gd name="adj1" fmla="val 3142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61" name="AutoShape 25"/>
            <p:cNvSpPr/>
            <p:nvPr/>
          </p:nvSpPr>
          <p:spPr bwMode="auto">
            <a:xfrm rot="5400000">
              <a:off x="3032" y="2384"/>
              <a:ext cx="166" cy="627"/>
            </a:xfrm>
            <a:prstGeom prst="leftBrace">
              <a:avLst>
                <a:gd name="adj1" fmla="val 3147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62" name="AutoShape 26"/>
            <p:cNvSpPr/>
            <p:nvPr/>
          </p:nvSpPr>
          <p:spPr bwMode="auto">
            <a:xfrm rot="5400000">
              <a:off x="3659" y="2384"/>
              <a:ext cx="166" cy="626"/>
            </a:xfrm>
            <a:prstGeom prst="leftBrace">
              <a:avLst>
                <a:gd name="adj1" fmla="val 3142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63" name="Line 27"/>
            <p:cNvSpPr>
              <a:spLocks noChangeShapeType="1"/>
            </p:cNvSpPr>
            <p:nvPr/>
          </p:nvSpPr>
          <p:spPr bwMode="auto">
            <a:xfrm flipV="1">
              <a:off x="1835" y="2409"/>
              <a:ext cx="676" cy="2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64" name="Line 28"/>
            <p:cNvSpPr>
              <a:spLocks noChangeShapeType="1"/>
            </p:cNvSpPr>
            <p:nvPr/>
          </p:nvSpPr>
          <p:spPr bwMode="auto">
            <a:xfrm flipH="1" flipV="1">
              <a:off x="3138" y="2409"/>
              <a:ext cx="627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65" name="Line 29"/>
            <p:cNvSpPr>
              <a:spLocks noChangeShapeType="1"/>
            </p:cNvSpPr>
            <p:nvPr/>
          </p:nvSpPr>
          <p:spPr bwMode="auto">
            <a:xfrm flipV="1">
              <a:off x="2463" y="2409"/>
              <a:ext cx="289" cy="2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66" name="Line 30"/>
            <p:cNvSpPr>
              <a:spLocks noChangeShapeType="1"/>
            </p:cNvSpPr>
            <p:nvPr/>
          </p:nvSpPr>
          <p:spPr bwMode="auto">
            <a:xfrm flipH="1" flipV="1">
              <a:off x="2897" y="2409"/>
              <a:ext cx="193" cy="2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67" name="Rectangle 31"/>
            <p:cNvSpPr>
              <a:spLocks noChangeArrowheads="1"/>
            </p:cNvSpPr>
            <p:nvPr/>
          </p:nvSpPr>
          <p:spPr bwMode="auto">
            <a:xfrm>
              <a:off x="2028" y="3936"/>
              <a:ext cx="1593" cy="24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1168" name="Text Box 32"/>
            <p:cNvSpPr txBox="1">
              <a:spLocks noChangeArrowheads="1"/>
            </p:cNvSpPr>
            <p:nvPr/>
          </p:nvSpPr>
          <p:spPr bwMode="auto">
            <a:xfrm>
              <a:off x="2268" y="3912"/>
              <a:ext cx="11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地址寄存器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1169" name="Text Box 33"/>
            <p:cNvSpPr txBox="1">
              <a:spLocks noChangeArrowheads="1"/>
            </p:cNvSpPr>
            <p:nvPr/>
          </p:nvSpPr>
          <p:spPr bwMode="auto">
            <a:xfrm>
              <a:off x="798" y="2544"/>
              <a:ext cx="349" cy="1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</a:t>
              </a:r>
              <a:r>
                <a:rPr lang="zh-CN" altLang="en-US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主存控制器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1170" name="Line 34"/>
            <p:cNvSpPr>
              <a:spLocks noChangeShapeType="1"/>
            </p:cNvSpPr>
            <p:nvPr/>
          </p:nvSpPr>
          <p:spPr bwMode="auto">
            <a:xfrm>
              <a:off x="1112" y="2904"/>
              <a:ext cx="4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71" name="Line 35"/>
            <p:cNvSpPr>
              <a:spLocks noChangeShapeType="1"/>
            </p:cNvSpPr>
            <p:nvPr/>
          </p:nvSpPr>
          <p:spPr bwMode="auto">
            <a:xfrm flipV="1">
              <a:off x="2270" y="3647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72" name="Line 36"/>
            <p:cNvSpPr>
              <a:spLocks noChangeShapeType="1"/>
            </p:cNvSpPr>
            <p:nvPr/>
          </p:nvSpPr>
          <p:spPr bwMode="auto">
            <a:xfrm flipV="1">
              <a:off x="1787" y="3069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73" name="Line 37"/>
            <p:cNvSpPr>
              <a:spLocks noChangeShapeType="1"/>
            </p:cNvSpPr>
            <p:nvPr/>
          </p:nvSpPr>
          <p:spPr bwMode="auto">
            <a:xfrm flipV="1">
              <a:off x="3717" y="3069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74" name="Line 38"/>
            <p:cNvSpPr>
              <a:spLocks noChangeShapeType="1"/>
            </p:cNvSpPr>
            <p:nvPr/>
          </p:nvSpPr>
          <p:spPr bwMode="auto">
            <a:xfrm flipV="1">
              <a:off x="3283" y="3647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75" name="Text Box 39"/>
            <p:cNvSpPr txBox="1">
              <a:spLocks noChangeArrowheads="1"/>
            </p:cNvSpPr>
            <p:nvPr/>
          </p:nvSpPr>
          <p:spPr bwMode="auto">
            <a:xfrm>
              <a:off x="2582" y="3554"/>
              <a:ext cx="50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. . . 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1176" name="Text Box 40"/>
            <p:cNvSpPr txBox="1">
              <a:spLocks noChangeArrowheads="1"/>
            </p:cNvSpPr>
            <p:nvPr/>
          </p:nvSpPr>
          <p:spPr bwMode="auto">
            <a:xfrm>
              <a:off x="2582" y="2976"/>
              <a:ext cx="50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. . . 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91177" name="Freeform 41"/>
            <p:cNvSpPr/>
            <p:nvPr/>
          </p:nvSpPr>
          <p:spPr bwMode="auto">
            <a:xfrm>
              <a:off x="967" y="3853"/>
              <a:ext cx="1061" cy="207"/>
            </a:xfrm>
            <a:custGeom>
              <a:avLst/>
              <a:gdLst>
                <a:gd name="T0" fmla="*/ 0 w 1056"/>
                <a:gd name="T1" fmla="*/ 0 h 240"/>
                <a:gd name="T2" fmla="*/ 0 w 1056"/>
                <a:gd name="T3" fmla="*/ 179 h 240"/>
                <a:gd name="T4" fmla="*/ 1066 w 1056"/>
                <a:gd name="T5" fmla="*/ 179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6" h="240">
                  <a:moveTo>
                    <a:pt x="0" y="0"/>
                  </a:moveTo>
                  <a:lnTo>
                    <a:pt x="0" y="240"/>
                  </a:lnTo>
                  <a:lnTo>
                    <a:pt x="1056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78" name="Text Box 42"/>
            <p:cNvSpPr txBox="1">
              <a:spLocks noChangeArrowheads="1"/>
            </p:cNvSpPr>
            <p:nvPr/>
          </p:nvSpPr>
          <p:spPr bwMode="auto">
            <a:xfrm>
              <a:off x="3504" y="2173"/>
              <a:ext cx="132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单字长寄存器 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1179" name="Text Box 43"/>
            <p:cNvSpPr txBox="1">
              <a:spLocks noChangeArrowheads="1"/>
            </p:cNvSpPr>
            <p:nvPr/>
          </p:nvSpPr>
          <p:spPr bwMode="auto">
            <a:xfrm>
              <a:off x="4151" y="2792"/>
              <a:ext cx="112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数据寄存器 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1180" name="Text Box 44"/>
            <p:cNvSpPr txBox="1">
              <a:spLocks noChangeArrowheads="1"/>
            </p:cNvSpPr>
            <p:nvPr/>
          </p:nvSpPr>
          <p:spPr bwMode="auto">
            <a:xfrm>
              <a:off x="4151" y="3412"/>
              <a:ext cx="74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存储体 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74478" name="Text Box 46"/>
          <p:cNvSpPr txBox="1">
            <a:spLocks noChangeArrowheads="1"/>
          </p:cNvSpPr>
          <p:nvPr/>
        </p:nvSpPr>
        <p:spPr bwMode="auto">
          <a:xfrm>
            <a:off x="2817813" y="1524001"/>
            <a:ext cx="491331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采用层次结构  </a:t>
            </a: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en-US" altLang="en-US" sz="2800">
                <a:latin typeface="Times New Roman" panose="02020603050405020304" pitchFamily="18" charset="0"/>
              </a:rPr>
              <a:t>–</a:t>
            </a:r>
            <a:r>
              <a:rPr lang="zh-CN" altLang="en-US" sz="2800">
                <a:latin typeface="Times New Roman" panose="02020603050405020304" pitchFamily="18" charset="0"/>
              </a:rPr>
              <a:t>主存  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74480" name="AutoShape 48"/>
          <p:cNvSpPr>
            <a:spLocks noChangeArrowheads="1"/>
          </p:cNvSpPr>
          <p:nvPr/>
        </p:nvSpPr>
        <p:spPr bwMode="auto">
          <a:xfrm>
            <a:off x="6934201" y="2790825"/>
            <a:ext cx="3281035" cy="578882"/>
          </a:xfrm>
          <a:prstGeom prst="wedgeRoundRectCallout">
            <a:avLst>
              <a:gd name="adj1" fmla="val -89352"/>
              <a:gd name="adj2" fmla="val 33097"/>
              <a:gd name="adj3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增加存储器的带宽  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4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4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4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4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74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4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74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5" grpId="0" autoUpdateAnimBg="0"/>
      <p:bldP spid="274436" grpId="0" autoUpdateAnimBg="0"/>
      <p:bldP spid="274437" grpId="0" autoUpdateAnimBg="0"/>
      <p:bldP spid="274478" grpId="0"/>
      <p:bldP spid="274480" grpId="0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Text Box 2"/>
          <p:cNvSpPr txBox="1">
            <a:spLocks noChangeArrowheads="1"/>
          </p:cNvSpPr>
          <p:nvPr/>
        </p:nvSpPr>
        <p:spPr bwMode="auto">
          <a:xfrm>
            <a:off x="877024" y="133352"/>
            <a:ext cx="3657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2. 多体并行系统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75459" name="Text Box 3"/>
          <p:cNvSpPr txBox="1">
            <a:spLocks noChangeArrowheads="1"/>
          </p:cNvSpPr>
          <p:nvPr/>
        </p:nvSpPr>
        <p:spPr bwMode="auto">
          <a:xfrm>
            <a:off x="2422526" y="836614"/>
            <a:ext cx="54022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(1) 高位交叉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275460" name="Group 4"/>
          <p:cNvGrpSpPr/>
          <p:nvPr/>
        </p:nvGrpSpPr>
        <p:grpSpPr bwMode="auto">
          <a:xfrm>
            <a:off x="2971800" y="1603375"/>
            <a:ext cx="7227888" cy="3195638"/>
            <a:chOff x="912" y="1010"/>
            <a:chExt cx="4553" cy="2013"/>
          </a:xfrm>
        </p:grpSpPr>
        <p:sp>
          <p:nvSpPr>
            <p:cNvPr id="92207" name="Text Box 5"/>
            <p:cNvSpPr txBox="1">
              <a:spLocks noChangeArrowheads="1"/>
            </p:cNvSpPr>
            <p:nvPr/>
          </p:nvSpPr>
          <p:spPr bwMode="auto">
            <a:xfrm>
              <a:off x="1008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grpSp>
          <p:nvGrpSpPr>
            <p:cNvPr id="92208" name="Group 6"/>
            <p:cNvGrpSpPr/>
            <p:nvPr/>
          </p:nvGrpSpPr>
          <p:grpSpPr bwMode="auto">
            <a:xfrm>
              <a:off x="912" y="1387"/>
              <a:ext cx="567" cy="1636"/>
              <a:chOff x="624" y="1104"/>
              <a:chExt cx="567" cy="1636"/>
            </a:xfrm>
          </p:grpSpPr>
          <p:sp>
            <p:nvSpPr>
              <p:cNvPr id="92266" name="Rectangle 7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67" name="Rectangle 8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68" name="Rectangle 9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69" name="Rectangle 10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70" name="Rectangle 11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71" name="Rectangle 12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72" name="Line 13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3" name="Line 14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4" name="Line 15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5" name="Line 16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6" name="Line 17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7" name="Line 18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8" name="Line 19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79" name="Line 20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80" name="Line 21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81" name="Text Box 22"/>
              <p:cNvSpPr txBox="1">
                <a:spLocks noChangeArrowheads="1"/>
              </p:cNvSpPr>
              <p:nvPr/>
            </p:nvSpPr>
            <p:spPr bwMode="auto">
              <a:xfrm>
                <a:off x="764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82" name="Text Box 23"/>
              <p:cNvSpPr txBox="1">
                <a:spLocks noChangeArrowheads="1"/>
              </p:cNvSpPr>
              <p:nvPr/>
            </p:nvSpPr>
            <p:spPr bwMode="auto">
              <a:xfrm>
                <a:off x="7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2209" name="Text Box 24"/>
            <p:cNvSpPr txBox="1">
              <a:spLocks noChangeArrowheads="1"/>
            </p:cNvSpPr>
            <p:nvPr/>
          </p:nvSpPr>
          <p:spPr bwMode="auto">
            <a:xfrm>
              <a:off x="2296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grpSp>
          <p:nvGrpSpPr>
            <p:cNvPr id="92210" name="Group 25"/>
            <p:cNvGrpSpPr/>
            <p:nvPr/>
          </p:nvGrpSpPr>
          <p:grpSpPr bwMode="auto">
            <a:xfrm>
              <a:off x="2222" y="1387"/>
              <a:ext cx="567" cy="1636"/>
              <a:chOff x="1807" y="1104"/>
              <a:chExt cx="567" cy="1636"/>
            </a:xfrm>
          </p:grpSpPr>
          <p:sp>
            <p:nvSpPr>
              <p:cNvPr id="92249" name="Rectangle 26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50" name="Rectangle 27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51" name="Rectangle 28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52" name="Rectangle 29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53" name="Rectangle 30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54" name="Rectangle 31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55" name="Line 32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56" name="Line 33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57" name="Line 34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58" name="Line 35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59" name="Line 36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60" name="Line 37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61" name="Line 38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62" name="Line 39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63" name="Line 40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64" name="Text Box 41"/>
              <p:cNvSpPr txBox="1">
                <a:spLocks noChangeArrowheads="1"/>
              </p:cNvSpPr>
              <p:nvPr/>
            </p:nvSpPr>
            <p:spPr bwMode="auto">
              <a:xfrm>
                <a:off x="1947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65" name="Text Box 42"/>
              <p:cNvSpPr txBox="1">
                <a:spLocks noChangeArrowheads="1"/>
              </p:cNvSpPr>
              <p:nvPr/>
            </p:nvSpPr>
            <p:spPr bwMode="auto">
              <a:xfrm>
                <a:off x="1916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2211" name="Text Box 43"/>
            <p:cNvSpPr txBox="1">
              <a:spLocks noChangeArrowheads="1"/>
            </p:cNvSpPr>
            <p:nvPr/>
          </p:nvSpPr>
          <p:spPr bwMode="auto">
            <a:xfrm>
              <a:off x="3634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2212" name="Text Box 44"/>
            <p:cNvSpPr txBox="1">
              <a:spLocks noChangeArrowheads="1"/>
            </p:cNvSpPr>
            <p:nvPr/>
          </p:nvSpPr>
          <p:spPr bwMode="auto">
            <a:xfrm>
              <a:off x="4984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grpSp>
          <p:nvGrpSpPr>
            <p:cNvPr id="92213" name="Group 45"/>
            <p:cNvGrpSpPr/>
            <p:nvPr/>
          </p:nvGrpSpPr>
          <p:grpSpPr bwMode="auto">
            <a:xfrm>
              <a:off x="4888" y="1387"/>
              <a:ext cx="577" cy="1636"/>
              <a:chOff x="4271" y="1104"/>
              <a:chExt cx="577" cy="1636"/>
            </a:xfrm>
          </p:grpSpPr>
          <p:sp>
            <p:nvSpPr>
              <p:cNvPr id="92232" name="Rectangle 46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3" name="Rectangle 47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4" name="Rectangle 48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5" name="Rectangle 49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6" name="Rectangle 50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7" name="Rectangle 51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8" name="Line 52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39" name="Line 53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0" name="Line 54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1" name="Line 55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2" name="Line 56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3" name="Line 57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4" name="Line 58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5" name="Line 59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6" name="Line 60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47" name="Text Box 61"/>
              <p:cNvSpPr txBox="1">
                <a:spLocks noChangeArrowheads="1"/>
              </p:cNvSpPr>
              <p:nvPr/>
            </p:nvSpPr>
            <p:spPr bwMode="auto">
              <a:xfrm>
                <a:off x="4421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48" name="Text Box 62"/>
              <p:cNvSpPr txBox="1">
                <a:spLocks noChangeArrowheads="1"/>
              </p:cNvSpPr>
              <p:nvPr/>
            </p:nvSpPr>
            <p:spPr bwMode="auto">
              <a:xfrm>
                <a:off x="4421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92214" name="Group 63"/>
            <p:cNvGrpSpPr/>
            <p:nvPr/>
          </p:nvGrpSpPr>
          <p:grpSpPr bwMode="auto">
            <a:xfrm>
              <a:off x="3563" y="1387"/>
              <a:ext cx="542" cy="1636"/>
              <a:chOff x="3049" y="1104"/>
              <a:chExt cx="542" cy="1636"/>
            </a:xfrm>
          </p:grpSpPr>
          <p:sp>
            <p:nvSpPr>
              <p:cNvPr id="92215" name="Rectangle 64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16" name="Rectangle 65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17" name="Rectangle 66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18" name="Rectangle 67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19" name="Rectangle 68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20" name="Rectangle 69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21" name="Line 70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2" name="Line 71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3" name="Line 72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4" name="Line 73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5" name="Line 74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6" name="Line 75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7" name="Line 76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8" name="Line 77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9" name="Line 78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30" name="Text Box 79"/>
              <p:cNvSpPr txBox="1">
                <a:spLocks noChangeArrowheads="1"/>
              </p:cNvSpPr>
              <p:nvPr/>
            </p:nvSpPr>
            <p:spPr bwMode="auto">
              <a:xfrm>
                <a:off x="3150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31" name="Text Box 80"/>
              <p:cNvSpPr txBox="1">
                <a:spLocks noChangeArrowheads="1"/>
              </p:cNvSpPr>
              <p:nvPr/>
            </p:nvSpPr>
            <p:spPr bwMode="auto">
              <a:xfrm>
                <a:off x="31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75538" name="Group 82"/>
          <p:cNvGrpSpPr/>
          <p:nvPr/>
        </p:nvGrpSpPr>
        <p:grpSpPr bwMode="auto">
          <a:xfrm>
            <a:off x="4551364" y="6096001"/>
            <a:ext cx="3273425" cy="454025"/>
            <a:chOff x="1907" y="3840"/>
            <a:chExt cx="2062" cy="286"/>
          </a:xfrm>
        </p:grpSpPr>
        <p:grpSp>
          <p:nvGrpSpPr>
            <p:cNvPr id="92201" name="Group 83"/>
            <p:cNvGrpSpPr/>
            <p:nvPr/>
          </p:nvGrpSpPr>
          <p:grpSpPr bwMode="auto">
            <a:xfrm>
              <a:off x="1907" y="3840"/>
              <a:ext cx="2062" cy="286"/>
              <a:chOff x="1488" y="3840"/>
              <a:chExt cx="2062" cy="286"/>
            </a:xfrm>
          </p:grpSpPr>
          <p:sp>
            <p:nvSpPr>
              <p:cNvPr id="92203" name="Rectangle 84"/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2204" name="Text Box 85"/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体内地址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05" name="Rectangle 86"/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2206" name="Text Box 87"/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441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体号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2202" name="Text Box 88"/>
            <p:cNvSpPr txBox="1">
              <a:spLocks noChangeArrowheads="1"/>
            </p:cNvSpPr>
            <p:nvPr/>
          </p:nvSpPr>
          <p:spPr bwMode="auto">
            <a:xfrm>
              <a:off x="2189" y="3851"/>
              <a:ext cx="44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体号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5545" name="Group 89"/>
          <p:cNvGrpSpPr/>
          <p:nvPr/>
        </p:nvGrpSpPr>
        <p:grpSpPr bwMode="auto">
          <a:xfrm>
            <a:off x="1774826" y="1603375"/>
            <a:ext cx="1127125" cy="3265488"/>
            <a:chOff x="158" y="1010"/>
            <a:chExt cx="710" cy="2057"/>
          </a:xfrm>
        </p:grpSpPr>
        <p:sp>
          <p:nvSpPr>
            <p:cNvPr id="92196" name="Text Box 90"/>
            <p:cNvSpPr txBox="1">
              <a:spLocks noChangeArrowheads="1"/>
            </p:cNvSpPr>
            <p:nvPr/>
          </p:nvSpPr>
          <p:spPr bwMode="auto">
            <a:xfrm>
              <a:off x="295" y="1010"/>
              <a:ext cx="50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92197" name="Group 91"/>
            <p:cNvGrpSpPr/>
            <p:nvPr/>
          </p:nvGrpSpPr>
          <p:grpSpPr bwMode="auto">
            <a:xfrm>
              <a:off x="158" y="1339"/>
              <a:ext cx="710" cy="1728"/>
              <a:chOff x="158" y="1339"/>
              <a:chExt cx="710" cy="1728"/>
            </a:xfrm>
          </p:grpSpPr>
          <p:sp>
            <p:nvSpPr>
              <p:cNvPr id="92198" name="Text Box 92"/>
              <p:cNvSpPr txBox="1">
                <a:spLocks noChangeArrowheads="1"/>
              </p:cNvSpPr>
              <p:nvPr/>
            </p:nvSpPr>
            <p:spPr bwMode="auto">
              <a:xfrm>
                <a:off x="204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0000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199" name="Text Box 93"/>
              <p:cNvSpPr txBox="1">
                <a:spLocks noChangeArrowheads="1"/>
              </p:cNvSpPr>
              <p:nvPr/>
            </p:nvSpPr>
            <p:spPr bwMode="auto">
              <a:xfrm>
                <a:off x="204" y="1548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0001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00" name="Text Box 94"/>
              <p:cNvSpPr txBox="1">
                <a:spLocks noChangeArrowheads="1"/>
              </p:cNvSpPr>
              <p:nvPr/>
            </p:nvSpPr>
            <p:spPr bwMode="auto">
              <a:xfrm>
                <a:off x="158" y="2817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1111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75551" name="Group 95"/>
          <p:cNvGrpSpPr/>
          <p:nvPr/>
        </p:nvGrpSpPr>
        <p:grpSpPr bwMode="auto">
          <a:xfrm>
            <a:off x="4033838" y="2125663"/>
            <a:ext cx="1054100" cy="2743200"/>
            <a:chOff x="1581" y="1339"/>
            <a:chExt cx="664" cy="1728"/>
          </a:xfrm>
        </p:grpSpPr>
        <p:sp>
          <p:nvSpPr>
            <p:cNvPr id="92193" name="Text Box 96"/>
            <p:cNvSpPr txBox="1">
              <a:spLocks noChangeArrowheads="1"/>
            </p:cNvSpPr>
            <p:nvPr/>
          </p:nvSpPr>
          <p:spPr bwMode="auto">
            <a:xfrm>
              <a:off x="1581" y="1339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000">
                  <a:latin typeface="Times New Roman" panose="02020603050405020304" pitchFamily="18" charset="0"/>
                </a:rPr>
                <a:t> 0000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2194" name="Text Box 97"/>
            <p:cNvSpPr txBox="1">
              <a:spLocks noChangeArrowheads="1"/>
            </p:cNvSpPr>
            <p:nvPr/>
          </p:nvSpPr>
          <p:spPr bwMode="auto">
            <a:xfrm>
              <a:off x="1581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  <a:r>
                <a:rPr lang="en-US" altLang="zh-CN" sz="2000">
                  <a:latin typeface="Times New Roman" panose="02020603050405020304" pitchFamily="18" charset="0"/>
                </a:rPr>
                <a:t> 0001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2195" name="Text Box 98"/>
            <p:cNvSpPr txBox="1">
              <a:spLocks noChangeArrowheads="1"/>
            </p:cNvSpPr>
            <p:nvPr/>
          </p:nvSpPr>
          <p:spPr bwMode="auto">
            <a:xfrm>
              <a:off x="1581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  <a:r>
                <a:rPr lang="en-US" altLang="zh-CN" sz="2000">
                  <a:latin typeface="Times New Roman" panose="02020603050405020304" pitchFamily="18" charset="0"/>
                </a:rPr>
                <a:t> 1111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5555" name="Group 99"/>
          <p:cNvGrpSpPr/>
          <p:nvPr/>
        </p:nvGrpSpPr>
        <p:grpSpPr bwMode="auto">
          <a:xfrm>
            <a:off x="6121400" y="2125663"/>
            <a:ext cx="1054100" cy="2743200"/>
            <a:chOff x="2896" y="1339"/>
            <a:chExt cx="664" cy="1728"/>
          </a:xfrm>
        </p:grpSpPr>
        <p:sp>
          <p:nvSpPr>
            <p:cNvPr id="92190" name="Text Box 100"/>
            <p:cNvSpPr txBox="1">
              <a:spLocks noChangeArrowheads="1"/>
            </p:cNvSpPr>
            <p:nvPr/>
          </p:nvSpPr>
          <p:spPr bwMode="auto">
            <a:xfrm>
              <a:off x="2896" y="1339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zh-CN" sz="2000">
                  <a:latin typeface="Times New Roman" panose="02020603050405020304" pitchFamily="18" charset="0"/>
                </a:rPr>
                <a:t> 0000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2191" name="Text Box 101"/>
            <p:cNvSpPr txBox="1">
              <a:spLocks noChangeArrowheads="1"/>
            </p:cNvSpPr>
            <p:nvPr/>
          </p:nvSpPr>
          <p:spPr bwMode="auto">
            <a:xfrm>
              <a:off x="2896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zh-CN" sz="2000">
                  <a:latin typeface="Times New Roman" panose="02020603050405020304" pitchFamily="18" charset="0"/>
                </a:rPr>
                <a:t> 0001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2192" name="Text Box 102"/>
            <p:cNvSpPr txBox="1">
              <a:spLocks noChangeArrowheads="1"/>
            </p:cNvSpPr>
            <p:nvPr/>
          </p:nvSpPr>
          <p:spPr bwMode="auto">
            <a:xfrm>
              <a:off x="2896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zh-CN" sz="2000">
                  <a:latin typeface="Times New Roman" panose="02020603050405020304" pitchFamily="18" charset="0"/>
                </a:rPr>
                <a:t> 1111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5559" name="Group 103"/>
          <p:cNvGrpSpPr/>
          <p:nvPr/>
        </p:nvGrpSpPr>
        <p:grpSpPr bwMode="auto">
          <a:xfrm>
            <a:off x="8183563" y="2125663"/>
            <a:ext cx="1054100" cy="2743200"/>
            <a:chOff x="4195" y="1339"/>
            <a:chExt cx="664" cy="1728"/>
          </a:xfrm>
        </p:grpSpPr>
        <p:sp>
          <p:nvSpPr>
            <p:cNvPr id="92187" name="Text Box 104"/>
            <p:cNvSpPr txBox="1">
              <a:spLocks noChangeArrowheads="1"/>
            </p:cNvSpPr>
            <p:nvPr/>
          </p:nvSpPr>
          <p:spPr bwMode="auto">
            <a:xfrm>
              <a:off x="4195" y="1339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zh-CN" sz="2000">
                  <a:latin typeface="Times New Roman" panose="02020603050405020304" pitchFamily="18" charset="0"/>
                </a:rPr>
                <a:t> 0000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2188" name="Text Box 105"/>
            <p:cNvSpPr txBox="1">
              <a:spLocks noChangeArrowheads="1"/>
            </p:cNvSpPr>
            <p:nvPr/>
          </p:nvSpPr>
          <p:spPr bwMode="auto">
            <a:xfrm>
              <a:off x="4195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zh-CN" sz="2000">
                  <a:latin typeface="Times New Roman" panose="02020603050405020304" pitchFamily="18" charset="0"/>
                </a:rPr>
                <a:t> 0001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2189" name="Text Box 106"/>
            <p:cNvSpPr txBox="1">
              <a:spLocks noChangeArrowheads="1"/>
            </p:cNvSpPr>
            <p:nvPr/>
          </p:nvSpPr>
          <p:spPr bwMode="auto">
            <a:xfrm>
              <a:off x="4195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zh-CN" sz="2000">
                  <a:latin typeface="Times New Roman" panose="02020603050405020304" pitchFamily="18" charset="0"/>
                </a:rPr>
                <a:t> 1111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5563" name="Group 107"/>
          <p:cNvGrpSpPr/>
          <p:nvPr/>
        </p:nvGrpSpPr>
        <p:grpSpPr bwMode="auto">
          <a:xfrm>
            <a:off x="1973264" y="4926014"/>
            <a:ext cx="6408737" cy="447675"/>
            <a:chOff x="283" y="3103"/>
            <a:chExt cx="4037" cy="282"/>
          </a:xfrm>
        </p:grpSpPr>
        <p:sp>
          <p:nvSpPr>
            <p:cNvPr id="92182" name="Line 108"/>
            <p:cNvSpPr>
              <a:spLocks noChangeShapeType="1"/>
            </p:cNvSpPr>
            <p:nvPr/>
          </p:nvSpPr>
          <p:spPr bwMode="auto">
            <a:xfrm>
              <a:off x="283" y="3385"/>
              <a:ext cx="4037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83" name="Line 109"/>
            <p:cNvSpPr>
              <a:spLocks noChangeShapeType="1"/>
            </p:cNvSpPr>
            <p:nvPr/>
          </p:nvSpPr>
          <p:spPr bwMode="auto">
            <a:xfrm>
              <a:off x="295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84" name="Line 110"/>
            <p:cNvSpPr>
              <a:spLocks noChangeShapeType="1"/>
            </p:cNvSpPr>
            <p:nvPr/>
          </p:nvSpPr>
          <p:spPr bwMode="auto">
            <a:xfrm>
              <a:off x="1701" y="310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85" name="Line 111"/>
            <p:cNvSpPr>
              <a:spLocks noChangeShapeType="1"/>
            </p:cNvSpPr>
            <p:nvPr/>
          </p:nvSpPr>
          <p:spPr bwMode="auto">
            <a:xfrm>
              <a:off x="3016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86" name="Line 112"/>
            <p:cNvSpPr>
              <a:spLocks noChangeShapeType="1"/>
            </p:cNvSpPr>
            <p:nvPr/>
          </p:nvSpPr>
          <p:spPr bwMode="auto">
            <a:xfrm>
              <a:off x="4298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5569" name="Line 113"/>
          <p:cNvSpPr>
            <a:spLocks noChangeShapeType="1"/>
          </p:cNvSpPr>
          <p:nvPr/>
        </p:nvSpPr>
        <p:spPr bwMode="auto">
          <a:xfrm>
            <a:off x="5321300" y="5373689"/>
            <a:ext cx="0" cy="719137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75570" name="Group 114"/>
          <p:cNvGrpSpPr/>
          <p:nvPr/>
        </p:nvGrpSpPr>
        <p:grpSpPr bwMode="auto">
          <a:xfrm>
            <a:off x="2400301" y="4941889"/>
            <a:ext cx="6424613" cy="719137"/>
            <a:chOff x="552" y="3113"/>
            <a:chExt cx="4047" cy="453"/>
          </a:xfrm>
        </p:grpSpPr>
        <p:sp>
          <p:nvSpPr>
            <p:cNvPr id="92177" name="Line 115"/>
            <p:cNvSpPr>
              <a:spLocks noChangeShapeType="1"/>
            </p:cNvSpPr>
            <p:nvPr/>
          </p:nvSpPr>
          <p:spPr bwMode="auto">
            <a:xfrm>
              <a:off x="552" y="3566"/>
              <a:ext cx="404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78" name="Line 116"/>
            <p:cNvSpPr>
              <a:spLocks noChangeShapeType="1"/>
            </p:cNvSpPr>
            <p:nvPr/>
          </p:nvSpPr>
          <p:spPr bwMode="auto">
            <a:xfrm>
              <a:off x="567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79" name="Line 117"/>
            <p:cNvSpPr>
              <a:spLocks noChangeShapeType="1"/>
            </p:cNvSpPr>
            <p:nvPr/>
          </p:nvSpPr>
          <p:spPr bwMode="auto">
            <a:xfrm>
              <a:off x="1973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80" name="Line 118"/>
            <p:cNvSpPr>
              <a:spLocks noChangeShapeType="1"/>
            </p:cNvSpPr>
            <p:nvPr/>
          </p:nvSpPr>
          <p:spPr bwMode="auto">
            <a:xfrm>
              <a:off x="3288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81" name="Line 119"/>
            <p:cNvSpPr>
              <a:spLocks noChangeShapeType="1"/>
            </p:cNvSpPr>
            <p:nvPr/>
          </p:nvSpPr>
          <p:spPr bwMode="auto">
            <a:xfrm>
              <a:off x="4582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5576" name="Line 120"/>
          <p:cNvSpPr>
            <a:spLocks noChangeShapeType="1"/>
          </p:cNvSpPr>
          <p:nvPr/>
        </p:nvSpPr>
        <p:spPr bwMode="auto">
          <a:xfrm>
            <a:off x="6959600" y="5661025"/>
            <a:ext cx="0" cy="431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5577" name="Text Box 121"/>
          <p:cNvSpPr txBox="1">
            <a:spLocks noChangeArrowheads="1"/>
          </p:cNvSpPr>
          <p:nvPr/>
        </p:nvSpPr>
        <p:spPr bwMode="auto">
          <a:xfrm>
            <a:off x="5448301" y="836614"/>
            <a:ext cx="54022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顺序编址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5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5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75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5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5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75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5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75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7" dur="500"/>
                                        <p:tgtEl>
                                          <p:spTgt spid="275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1" dur="500"/>
                                        <p:tgtEl>
                                          <p:spTgt spid="275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6" dur="500"/>
                                        <p:tgtEl>
                                          <p:spTgt spid="275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0" dur="500"/>
                                        <p:tgtEl>
                                          <p:spTgt spid="275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459" grpId="0" autoUpdateAnimBg="0"/>
      <p:bldP spid="275577" grpId="0" autoUpdateAnimBg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Text Box 2"/>
          <p:cNvSpPr txBox="1">
            <a:spLocks noChangeArrowheads="1"/>
          </p:cNvSpPr>
          <p:nvPr/>
        </p:nvSpPr>
        <p:spPr bwMode="auto">
          <a:xfrm>
            <a:off x="3765550" y="103188"/>
            <a:ext cx="32908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各个体并行工作</a:t>
            </a:r>
            <a:endParaRPr lang="zh-CN" altLang="en-US" sz="32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76484" name="Group 4"/>
          <p:cNvGrpSpPr/>
          <p:nvPr/>
        </p:nvGrpSpPr>
        <p:grpSpPr bwMode="auto">
          <a:xfrm>
            <a:off x="2133600" y="1274764"/>
            <a:ext cx="7543800" cy="5178425"/>
            <a:chOff x="384" y="864"/>
            <a:chExt cx="4752" cy="3262"/>
          </a:xfrm>
        </p:grpSpPr>
        <p:sp>
          <p:nvSpPr>
            <p:cNvPr id="93199" name="Text Box 5"/>
            <p:cNvSpPr txBox="1">
              <a:spLocks noChangeArrowheads="1"/>
            </p:cNvSpPr>
            <p:nvPr/>
          </p:nvSpPr>
          <p:spPr bwMode="auto">
            <a:xfrm>
              <a:off x="1008" y="864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3200" name="Text Box 6"/>
            <p:cNvSpPr txBox="1">
              <a:spLocks noChangeArrowheads="1"/>
            </p:cNvSpPr>
            <p:nvPr/>
          </p:nvSpPr>
          <p:spPr bwMode="auto">
            <a:xfrm>
              <a:off x="432" y="864"/>
              <a:ext cx="50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3201" name="Text Box 7"/>
            <p:cNvSpPr txBox="1">
              <a:spLocks noChangeArrowheads="1"/>
            </p:cNvSpPr>
            <p:nvPr/>
          </p:nvSpPr>
          <p:spPr bwMode="auto">
            <a:xfrm>
              <a:off x="672" y="1135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3202" name="Text Box 8"/>
            <p:cNvSpPr txBox="1">
              <a:spLocks noChangeArrowheads="1"/>
            </p:cNvSpPr>
            <p:nvPr/>
          </p:nvSpPr>
          <p:spPr bwMode="auto">
            <a:xfrm>
              <a:off x="672" y="1382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93203" name="Group 9"/>
            <p:cNvGrpSpPr/>
            <p:nvPr/>
          </p:nvGrpSpPr>
          <p:grpSpPr bwMode="auto">
            <a:xfrm>
              <a:off x="912" y="1152"/>
              <a:ext cx="567" cy="1636"/>
              <a:chOff x="624" y="1104"/>
              <a:chExt cx="567" cy="1636"/>
            </a:xfrm>
          </p:grpSpPr>
          <p:sp>
            <p:nvSpPr>
              <p:cNvPr id="93291" name="Rectangle 10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2" name="Rectangle 11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3" name="Rectangle 12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4" name="Rectangle 13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5" name="Rectangle 14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6" name="Rectangle 15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7" name="Line 16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98" name="Line 17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99" name="Line 18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0" name="Line 19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1" name="Line 20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2" name="Line 21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3" name="Line 22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4" name="Line 23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5" name="Line 24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306" name="Text Box 25"/>
              <p:cNvSpPr txBox="1">
                <a:spLocks noChangeArrowheads="1"/>
              </p:cNvSpPr>
              <p:nvPr/>
            </p:nvSpPr>
            <p:spPr bwMode="auto">
              <a:xfrm>
                <a:off x="764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307" name="Text Box 26"/>
              <p:cNvSpPr txBox="1">
                <a:spLocks noChangeArrowheads="1"/>
              </p:cNvSpPr>
              <p:nvPr/>
            </p:nvSpPr>
            <p:spPr bwMode="auto">
              <a:xfrm>
                <a:off x="7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3204" name="Text Box 27"/>
            <p:cNvSpPr txBox="1">
              <a:spLocks noChangeArrowheads="1"/>
            </p:cNvSpPr>
            <p:nvPr/>
          </p:nvSpPr>
          <p:spPr bwMode="auto">
            <a:xfrm>
              <a:off x="432" y="2544"/>
              <a:ext cx="44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3205" name="Text Box 28"/>
            <p:cNvSpPr txBox="1">
              <a:spLocks noChangeArrowheads="1"/>
            </p:cNvSpPr>
            <p:nvPr/>
          </p:nvSpPr>
          <p:spPr bwMode="auto">
            <a:xfrm>
              <a:off x="2169" y="864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3206" name="Text Box 29"/>
            <p:cNvSpPr txBox="1">
              <a:spLocks noChangeArrowheads="1"/>
            </p:cNvSpPr>
            <p:nvPr/>
          </p:nvSpPr>
          <p:spPr bwMode="auto">
            <a:xfrm>
              <a:off x="1728" y="1104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93207" name="Text Box 30"/>
            <p:cNvSpPr txBox="1">
              <a:spLocks noChangeArrowheads="1"/>
            </p:cNvSpPr>
            <p:nvPr/>
          </p:nvSpPr>
          <p:spPr bwMode="auto">
            <a:xfrm>
              <a:off x="1728" y="1313"/>
              <a:ext cx="39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93208" name="Group 31"/>
            <p:cNvGrpSpPr/>
            <p:nvPr/>
          </p:nvGrpSpPr>
          <p:grpSpPr bwMode="auto">
            <a:xfrm>
              <a:off x="2095" y="1152"/>
              <a:ext cx="567" cy="1636"/>
              <a:chOff x="1807" y="1104"/>
              <a:chExt cx="567" cy="1636"/>
            </a:xfrm>
          </p:grpSpPr>
          <p:sp>
            <p:nvSpPr>
              <p:cNvPr id="93274" name="Rectangle 32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75" name="Rectangle 33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76" name="Rectangle 34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77" name="Rectangle 35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78" name="Rectangle 36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79" name="Rectangle 37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80" name="Line 38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1" name="Line 39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2" name="Line 40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3" name="Line 41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4" name="Line 42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5" name="Line 43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6" name="Line 44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7" name="Line 45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8" name="Line 46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89" name="Text Box 47"/>
              <p:cNvSpPr txBox="1">
                <a:spLocks noChangeArrowheads="1"/>
              </p:cNvSpPr>
              <p:nvPr/>
            </p:nvSpPr>
            <p:spPr bwMode="auto">
              <a:xfrm>
                <a:off x="1947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90" name="Text Box 48"/>
              <p:cNvSpPr txBox="1">
                <a:spLocks noChangeArrowheads="1"/>
              </p:cNvSpPr>
              <p:nvPr/>
            </p:nvSpPr>
            <p:spPr bwMode="auto">
              <a:xfrm>
                <a:off x="1916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3209" name="Text Box 49"/>
            <p:cNvSpPr txBox="1">
              <a:spLocks noChangeArrowheads="1"/>
            </p:cNvSpPr>
            <p:nvPr/>
          </p:nvSpPr>
          <p:spPr bwMode="auto">
            <a:xfrm>
              <a:off x="1594" y="2544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3210" name="Text Box 50"/>
            <p:cNvSpPr txBox="1">
              <a:spLocks noChangeArrowheads="1"/>
            </p:cNvSpPr>
            <p:nvPr/>
          </p:nvSpPr>
          <p:spPr bwMode="auto">
            <a:xfrm>
              <a:off x="3408" y="864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3211" name="Text Box 51"/>
            <p:cNvSpPr txBox="1">
              <a:spLocks noChangeArrowheads="1"/>
            </p:cNvSpPr>
            <p:nvPr/>
          </p:nvSpPr>
          <p:spPr bwMode="auto">
            <a:xfrm>
              <a:off x="2886" y="1104"/>
              <a:ext cx="30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93212" name="Text Box 52"/>
            <p:cNvSpPr txBox="1">
              <a:spLocks noChangeArrowheads="1"/>
            </p:cNvSpPr>
            <p:nvPr/>
          </p:nvSpPr>
          <p:spPr bwMode="auto">
            <a:xfrm>
              <a:off x="2886" y="1313"/>
              <a:ext cx="47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3213" name="Text Box 53"/>
            <p:cNvSpPr txBox="1">
              <a:spLocks noChangeArrowheads="1"/>
            </p:cNvSpPr>
            <p:nvPr/>
          </p:nvSpPr>
          <p:spPr bwMode="auto">
            <a:xfrm>
              <a:off x="2833" y="2544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3214" name="Text Box 54"/>
            <p:cNvSpPr txBox="1">
              <a:spLocks noChangeArrowheads="1"/>
            </p:cNvSpPr>
            <p:nvPr/>
          </p:nvSpPr>
          <p:spPr bwMode="auto">
            <a:xfrm>
              <a:off x="4655" y="864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3215" name="Text Box 55"/>
            <p:cNvSpPr txBox="1">
              <a:spLocks noChangeArrowheads="1"/>
            </p:cNvSpPr>
            <p:nvPr/>
          </p:nvSpPr>
          <p:spPr bwMode="auto">
            <a:xfrm>
              <a:off x="4086" y="1104"/>
              <a:ext cx="30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93216" name="Text Box 56"/>
            <p:cNvSpPr txBox="1">
              <a:spLocks noChangeArrowheads="1"/>
            </p:cNvSpPr>
            <p:nvPr/>
          </p:nvSpPr>
          <p:spPr bwMode="auto">
            <a:xfrm>
              <a:off x="4086" y="1313"/>
              <a:ext cx="47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3217" name="Text Box 57"/>
            <p:cNvSpPr txBox="1">
              <a:spLocks noChangeArrowheads="1"/>
            </p:cNvSpPr>
            <p:nvPr/>
          </p:nvSpPr>
          <p:spPr bwMode="auto">
            <a:xfrm>
              <a:off x="4032" y="2544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93218" name="Group 58"/>
            <p:cNvGrpSpPr/>
            <p:nvPr/>
          </p:nvGrpSpPr>
          <p:grpSpPr bwMode="auto">
            <a:xfrm>
              <a:off x="4559" y="1152"/>
              <a:ext cx="577" cy="1636"/>
              <a:chOff x="4271" y="1104"/>
              <a:chExt cx="577" cy="1636"/>
            </a:xfrm>
          </p:grpSpPr>
          <p:sp>
            <p:nvSpPr>
              <p:cNvPr id="93257" name="Rectangle 59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58" name="Rectangle 60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59" name="Rectangle 61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60" name="Rectangle 62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61" name="Rectangle 63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62" name="Rectangle 64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63" name="Line 65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64" name="Line 66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65" name="Line 67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66" name="Line 68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67" name="Line 69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68" name="Line 70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69" name="Line 71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70" name="Line 72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71" name="Line 73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72" name="Text Box 74"/>
              <p:cNvSpPr txBox="1">
                <a:spLocks noChangeArrowheads="1"/>
              </p:cNvSpPr>
              <p:nvPr/>
            </p:nvSpPr>
            <p:spPr bwMode="auto">
              <a:xfrm>
                <a:off x="4421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73" name="Text Box 75"/>
              <p:cNvSpPr txBox="1">
                <a:spLocks noChangeArrowheads="1"/>
              </p:cNvSpPr>
              <p:nvPr/>
            </p:nvSpPr>
            <p:spPr bwMode="auto">
              <a:xfrm>
                <a:off x="4421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93219" name="Group 76"/>
            <p:cNvGrpSpPr/>
            <p:nvPr/>
          </p:nvGrpSpPr>
          <p:grpSpPr bwMode="auto">
            <a:xfrm>
              <a:off x="3337" y="1152"/>
              <a:ext cx="542" cy="1636"/>
              <a:chOff x="3049" y="1104"/>
              <a:chExt cx="542" cy="1636"/>
            </a:xfrm>
          </p:grpSpPr>
          <p:sp>
            <p:nvSpPr>
              <p:cNvPr id="93240" name="Rectangle 77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41" name="Rectangle 78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42" name="Rectangle 79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43" name="Rectangle 80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44" name="Rectangle 81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45" name="Rectangle 82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46" name="Line 83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47" name="Line 84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48" name="Line 85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49" name="Line 86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50" name="Line 87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51" name="Line 88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52" name="Line 89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53" name="Line 90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54" name="Line 91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55" name="Text Box 92"/>
              <p:cNvSpPr txBox="1">
                <a:spLocks noChangeArrowheads="1"/>
              </p:cNvSpPr>
              <p:nvPr/>
            </p:nvSpPr>
            <p:spPr bwMode="auto">
              <a:xfrm>
                <a:off x="3150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56" name="Text Box 93"/>
              <p:cNvSpPr txBox="1">
                <a:spLocks noChangeArrowheads="1"/>
              </p:cNvSpPr>
              <p:nvPr/>
            </p:nvSpPr>
            <p:spPr bwMode="auto">
              <a:xfrm>
                <a:off x="31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3220" name="Freeform 94"/>
            <p:cNvSpPr/>
            <p:nvPr/>
          </p:nvSpPr>
          <p:spPr bwMode="auto">
            <a:xfrm>
              <a:off x="384" y="2064"/>
              <a:ext cx="4176" cy="960"/>
            </a:xfrm>
            <a:custGeom>
              <a:avLst/>
              <a:gdLst>
                <a:gd name="T0" fmla="*/ 528 w 4176"/>
                <a:gd name="T1" fmla="*/ 0 h 960"/>
                <a:gd name="T2" fmla="*/ 0 w 4176"/>
                <a:gd name="T3" fmla="*/ 0 h 960"/>
                <a:gd name="T4" fmla="*/ 0 w 4176"/>
                <a:gd name="T5" fmla="*/ 960 h 960"/>
                <a:gd name="T6" fmla="*/ 3648 w 4176"/>
                <a:gd name="T7" fmla="*/ 960 h 960"/>
                <a:gd name="T8" fmla="*/ 3648 w 4176"/>
                <a:gd name="T9" fmla="*/ 0 h 960"/>
                <a:gd name="T10" fmla="*/ 4176 w 4176"/>
                <a:gd name="T11" fmla="*/ 0 h 9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76" h="960">
                  <a:moveTo>
                    <a:pt x="528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3648" y="960"/>
                  </a:lnTo>
                  <a:lnTo>
                    <a:pt x="3648" y="0"/>
                  </a:lnTo>
                  <a:lnTo>
                    <a:pt x="4176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221" name="Freeform 95"/>
            <p:cNvSpPr/>
            <p:nvPr/>
          </p:nvSpPr>
          <p:spPr bwMode="auto">
            <a:xfrm>
              <a:off x="1557" y="2064"/>
              <a:ext cx="528" cy="954"/>
            </a:xfrm>
            <a:custGeom>
              <a:avLst/>
              <a:gdLst>
                <a:gd name="T0" fmla="*/ 0 w 528"/>
                <a:gd name="T1" fmla="*/ 948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222" name="Freeform 96"/>
            <p:cNvSpPr/>
            <p:nvPr/>
          </p:nvSpPr>
          <p:spPr bwMode="auto">
            <a:xfrm>
              <a:off x="2808" y="2064"/>
              <a:ext cx="528" cy="954"/>
            </a:xfrm>
            <a:custGeom>
              <a:avLst/>
              <a:gdLst>
                <a:gd name="T0" fmla="*/ 0 w 528"/>
                <a:gd name="T1" fmla="*/ 948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93223" name="Group 97"/>
            <p:cNvGrpSpPr/>
            <p:nvPr/>
          </p:nvGrpSpPr>
          <p:grpSpPr bwMode="auto">
            <a:xfrm>
              <a:off x="2519" y="3360"/>
              <a:ext cx="1031" cy="286"/>
              <a:chOff x="2519" y="3360"/>
              <a:chExt cx="1031" cy="286"/>
            </a:xfrm>
          </p:grpSpPr>
          <p:sp>
            <p:nvSpPr>
              <p:cNvPr id="93238" name="Rectangle 98"/>
              <p:cNvSpPr>
                <a:spLocks noChangeArrowheads="1"/>
              </p:cNvSpPr>
              <p:nvPr/>
            </p:nvSpPr>
            <p:spPr bwMode="auto">
              <a:xfrm>
                <a:off x="2519" y="336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3239" name="Text Box 99"/>
              <p:cNvSpPr txBox="1">
                <a:spLocks noChangeArrowheads="1"/>
              </p:cNvSpPr>
              <p:nvPr/>
            </p:nvSpPr>
            <p:spPr bwMode="auto">
              <a:xfrm>
                <a:off x="2648" y="3371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地址译码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93224" name="Group 100"/>
            <p:cNvGrpSpPr/>
            <p:nvPr/>
          </p:nvGrpSpPr>
          <p:grpSpPr bwMode="auto">
            <a:xfrm>
              <a:off x="1488" y="3840"/>
              <a:ext cx="2062" cy="286"/>
              <a:chOff x="1488" y="3840"/>
              <a:chExt cx="2062" cy="286"/>
            </a:xfrm>
          </p:grpSpPr>
          <p:sp>
            <p:nvSpPr>
              <p:cNvPr id="93234" name="Rectangle 101"/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3235" name="Text Box 102"/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体内地址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236" name="Rectangle 103"/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3237" name="Text Box 104"/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441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体号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3225" name="Line 105"/>
            <p:cNvSpPr>
              <a:spLocks noChangeShapeType="1"/>
            </p:cNvSpPr>
            <p:nvPr/>
          </p:nvSpPr>
          <p:spPr bwMode="auto">
            <a:xfrm flipV="1">
              <a:off x="1975" y="3204"/>
              <a:ext cx="0" cy="6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226" name="Line 106"/>
            <p:cNvSpPr>
              <a:spLocks noChangeShapeType="1"/>
            </p:cNvSpPr>
            <p:nvPr/>
          </p:nvSpPr>
          <p:spPr bwMode="auto">
            <a:xfrm flipV="1">
              <a:off x="3024" y="364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93227" name="Group 107"/>
            <p:cNvGrpSpPr/>
            <p:nvPr/>
          </p:nvGrpSpPr>
          <p:grpSpPr bwMode="auto">
            <a:xfrm>
              <a:off x="1190" y="2784"/>
              <a:ext cx="3640" cy="442"/>
              <a:chOff x="1190" y="2784"/>
              <a:chExt cx="3640" cy="442"/>
            </a:xfrm>
          </p:grpSpPr>
          <p:sp>
            <p:nvSpPr>
              <p:cNvPr id="93229" name="Freeform 108"/>
              <p:cNvSpPr/>
              <p:nvPr/>
            </p:nvSpPr>
            <p:spPr bwMode="auto">
              <a:xfrm>
                <a:off x="1200" y="2784"/>
                <a:ext cx="1" cy="442"/>
              </a:xfrm>
              <a:custGeom>
                <a:avLst/>
                <a:gdLst>
                  <a:gd name="T0" fmla="*/ 0 w 1"/>
                  <a:gd name="T1" fmla="*/ 442 h 442"/>
                  <a:gd name="T2" fmla="*/ 0 w 1"/>
                  <a:gd name="T3" fmla="*/ 0 h 4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30" name="Line 109"/>
              <p:cNvSpPr>
                <a:spLocks noChangeShapeType="1"/>
              </p:cNvSpPr>
              <p:nvPr/>
            </p:nvSpPr>
            <p:spPr bwMode="auto">
              <a:xfrm>
                <a:off x="1190" y="3213"/>
                <a:ext cx="36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31" name="Freeform 110"/>
              <p:cNvSpPr/>
              <p:nvPr/>
            </p:nvSpPr>
            <p:spPr bwMode="auto">
              <a:xfrm>
                <a:off x="4829" y="2784"/>
                <a:ext cx="1" cy="442"/>
              </a:xfrm>
              <a:custGeom>
                <a:avLst/>
                <a:gdLst>
                  <a:gd name="T0" fmla="*/ 0 w 1"/>
                  <a:gd name="T1" fmla="*/ 442 h 442"/>
                  <a:gd name="T2" fmla="*/ 0 w 1"/>
                  <a:gd name="T3" fmla="*/ 0 h 4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32" name="Freeform 111"/>
              <p:cNvSpPr/>
              <p:nvPr/>
            </p:nvSpPr>
            <p:spPr bwMode="auto">
              <a:xfrm>
                <a:off x="2381" y="2784"/>
                <a:ext cx="1" cy="438"/>
              </a:xfrm>
              <a:custGeom>
                <a:avLst/>
                <a:gdLst>
                  <a:gd name="T0" fmla="*/ 0 w 1"/>
                  <a:gd name="T1" fmla="*/ 434 h 442"/>
                  <a:gd name="T2" fmla="*/ 0 w 1"/>
                  <a:gd name="T3" fmla="*/ 0 h 4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3233" name="Freeform 112"/>
              <p:cNvSpPr/>
              <p:nvPr/>
            </p:nvSpPr>
            <p:spPr bwMode="auto">
              <a:xfrm>
                <a:off x="3606" y="2784"/>
                <a:ext cx="1" cy="438"/>
              </a:xfrm>
              <a:custGeom>
                <a:avLst/>
                <a:gdLst>
                  <a:gd name="T0" fmla="*/ 0 w 1"/>
                  <a:gd name="T1" fmla="*/ 434 h 442"/>
                  <a:gd name="T2" fmla="*/ 0 w 1"/>
                  <a:gd name="T3" fmla="*/ 0 h 4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93228" name="Freeform 113"/>
            <p:cNvSpPr/>
            <p:nvPr/>
          </p:nvSpPr>
          <p:spPr bwMode="auto">
            <a:xfrm>
              <a:off x="3023" y="3022"/>
              <a:ext cx="1" cy="329"/>
            </a:xfrm>
            <a:custGeom>
              <a:avLst/>
              <a:gdLst>
                <a:gd name="T0" fmla="*/ 0 w 1"/>
                <a:gd name="T1" fmla="*/ 245 h 442"/>
                <a:gd name="T2" fmla="*/ 0 w 1"/>
                <a:gd name="T3" fmla="*/ 0 h 4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6594" name="Text Box 114"/>
          <p:cNvSpPr txBox="1">
            <a:spLocks noChangeArrowheads="1"/>
          </p:cNvSpPr>
          <p:nvPr/>
        </p:nvSpPr>
        <p:spPr bwMode="auto">
          <a:xfrm>
            <a:off x="4333876" y="6016625"/>
            <a:ext cx="7008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体号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6595" name="Line 115"/>
          <p:cNvSpPr>
            <a:spLocks noChangeShapeType="1"/>
          </p:cNvSpPr>
          <p:nvPr/>
        </p:nvSpPr>
        <p:spPr bwMode="auto">
          <a:xfrm flipV="1">
            <a:off x="4659313" y="4989513"/>
            <a:ext cx="0" cy="1008062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76596" name="Group 116"/>
          <p:cNvGrpSpPr/>
          <p:nvPr/>
        </p:nvGrpSpPr>
        <p:grpSpPr bwMode="auto">
          <a:xfrm>
            <a:off x="3413125" y="4322764"/>
            <a:ext cx="5778500" cy="701675"/>
            <a:chOff x="1190" y="2784"/>
            <a:chExt cx="3640" cy="442"/>
          </a:xfrm>
        </p:grpSpPr>
        <p:sp>
          <p:nvSpPr>
            <p:cNvPr id="93194" name="Freeform 117"/>
            <p:cNvSpPr/>
            <p:nvPr/>
          </p:nvSpPr>
          <p:spPr bwMode="auto">
            <a:xfrm>
              <a:off x="1200" y="2784"/>
              <a:ext cx="1" cy="442"/>
            </a:xfrm>
            <a:custGeom>
              <a:avLst/>
              <a:gdLst>
                <a:gd name="T0" fmla="*/ 0 w 1"/>
                <a:gd name="T1" fmla="*/ 442 h 442"/>
                <a:gd name="T2" fmla="*/ 0 w 1"/>
                <a:gd name="T3" fmla="*/ 0 h 4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195" name="Line 118"/>
            <p:cNvSpPr>
              <a:spLocks noChangeShapeType="1"/>
            </p:cNvSpPr>
            <p:nvPr/>
          </p:nvSpPr>
          <p:spPr bwMode="auto">
            <a:xfrm>
              <a:off x="1190" y="3213"/>
              <a:ext cx="36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196" name="Freeform 119"/>
            <p:cNvSpPr/>
            <p:nvPr/>
          </p:nvSpPr>
          <p:spPr bwMode="auto">
            <a:xfrm>
              <a:off x="4829" y="2784"/>
              <a:ext cx="1" cy="442"/>
            </a:xfrm>
            <a:custGeom>
              <a:avLst/>
              <a:gdLst>
                <a:gd name="T0" fmla="*/ 0 w 1"/>
                <a:gd name="T1" fmla="*/ 442 h 442"/>
                <a:gd name="T2" fmla="*/ 0 w 1"/>
                <a:gd name="T3" fmla="*/ 0 h 4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197" name="Freeform 120"/>
            <p:cNvSpPr/>
            <p:nvPr/>
          </p:nvSpPr>
          <p:spPr bwMode="auto">
            <a:xfrm>
              <a:off x="2381" y="2784"/>
              <a:ext cx="1" cy="438"/>
            </a:xfrm>
            <a:custGeom>
              <a:avLst/>
              <a:gdLst>
                <a:gd name="T0" fmla="*/ 0 w 1"/>
                <a:gd name="T1" fmla="*/ 434 h 442"/>
                <a:gd name="T2" fmla="*/ 0 w 1"/>
                <a:gd name="T3" fmla="*/ 0 h 4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3198" name="Freeform 121"/>
            <p:cNvSpPr/>
            <p:nvPr/>
          </p:nvSpPr>
          <p:spPr bwMode="auto">
            <a:xfrm>
              <a:off x="3606" y="2784"/>
              <a:ext cx="1" cy="438"/>
            </a:xfrm>
            <a:custGeom>
              <a:avLst/>
              <a:gdLst>
                <a:gd name="T0" fmla="*/ 0 w 1"/>
                <a:gd name="T1" fmla="*/ 434 h 442"/>
                <a:gd name="T2" fmla="*/ 0 w 1"/>
                <a:gd name="T3" fmla="*/ 0 h 4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93192" name="Text Box 122"/>
          <p:cNvSpPr txBox="1">
            <a:spLocks noChangeArrowheads="1"/>
          </p:cNvSpPr>
          <p:nvPr/>
        </p:nvSpPr>
        <p:spPr bwMode="auto">
          <a:xfrm>
            <a:off x="932657" y="121444"/>
            <a:ext cx="43211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(1) 高位交叉 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6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6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276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76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276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94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506" name="Group 2"/>
          <p:cNvGrpSpPr/>
          <p:nvPr/>
        </p:nvGrpSpPr>
        <p:grpSpPr bwMode="auto">
          <a:xfrm>
            <a:off x="2971800" y="1268414"/>
            <a:ext cx="7227888" cy="3195637"/>
            <a:chOff x="912" y="1010"/>
            <a:chExt cx="4553" cy="2013"/>
          </a:xfrm>
        </p:grpSpPr>
        <p:sp>
          <p:nvSpPr>
            <p:cNvPr id="94253" name="Text Box 3"/>
            <p:cNvSpPr txBox="1">
              <a:spLocks noChangeArrowheads="1"/>
            </p:cNvSpPr>
            <p:nvPr/>
          </p:nvSpPr>
          <p:spPr bwMode="auto">
            <a:xfrm>
              <a:off x="1008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grpSp>
          <p:nvGrpSpPr>
            <p:cNvPr id="94254" name="Group 4"/>
            <p:cNvGrpSpPr/>
            <p:nvPr/>
          </p:nvGrpSpPr>
          <p:grpSpPr bwMode="auto">
            <a:xfrm>
              <a:off x="912" y="1387"/>
              <a:ext cx="567" cy="1636"/>
              <a:chOff x="624" y="1104"/>
              <a:chExt cx="567" cy="1636"/>
            </a:xfrm>
          </p:grpSpPr>
          <p:sp>
            <p:nvSpPr>
              <p:cNvPr id="94312" name="Rectangle 5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3" name="Rectangle 6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4" name="Rectangle 7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5" name="Rectangle 8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6" name="Rectangle 9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7" name="Rectangle 10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8" name="Line 11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19" name="Line 12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0" name="Line 13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1" name="Line 14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2" name="Line 15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3" name="Line 16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4" name="Line 17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5" name="Line 18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6" name="Line 19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27" name="Text Box 20"/>
              <p:cNvSpPr txBox="1">
                <a:spLocks noChangeArrowheads="1"/>
              </p:cNvSpPr>
              <p:nvPr/>
            </p:nvSpPr>
            <p:spPr bwMode="auto">
              <a:xfrm>
                <a:off x="764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28" name="Text Box 21"/>
              <p:cNvSpPr txBox="1">
                <a:spLocks noChangeArrowheads="1"/>
              </p:cNvSpPr>
              <p:nvPr/>
            </p:nvSpPr>
            <p:spPr bwMode="auto">
              <a:xfrm>
                <a:off x="7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4255" name="Text Box 22"/>
            <p:cNvSpPr txBox="1">
              <a:spLocks noChangeArrowheads="1"/>
            </p:cNvSpPr>
            <p:nvPr/>
          </p:nvSpPr>
          <p:spPr bwMode="auto">
            <a:xfrm>
              <a:off x="2296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grpSp>
          <p:nvGrpSpPr>
            <p:cNvPr id="94256" name="Group 23"/>
            <p:cNvGrpSpPr/>
            <p:nvPr/>
          </p:nvGrpSpPr>
          <p:grpSpPr bwMode="auto">
            <a:xfrm>
              <a:off x="2222" y="1387"/>
              <a:ext cx="567" cy="1636"/>
              <a:chOff x="1807" y="1104"/>
              <a:chExt cx="567" cy="1636"/>
            </a:xfrm>
          </p:grpSpPr>
          <p:sp>
            <p:nvSpPr>
              <p:cNvPr id="94295" name="Rectangle 24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96" name="Rectangle 25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97" name="Rectangle 26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98" name="Rectangle 27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99" name="Rectangle 28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00" name="Rectangle 29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01" name="Line 30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2" name="Line 31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3" name="Line 32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4" name="Line 33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5" name="Line 34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6" name="Line 35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7" name="Line 36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8" name="Line 37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09" name="Line 38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310" name="Text Box 39"/>
              <p:cNvSpPr txBox="1">
                <a:spLocks noChangeArrowheads="1"/>
              </p:cNvSpPr>
              <p:nvPr/>
            </p:nvSpPr>
            <p:spPr bwMode="auto">
              <a:xfrm>
                <a:off x="1947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311" name="Text Box 40"/>
              <p:cNvSpPr txBox="1">
                <a:spLocks noChangeArrowheads="1"/>
              </p:cNvSpPr>
              <p:nvPr/>
            </p:nvSpPr>
            <p:spPr bwMode="auto">
              <a:xfrm>
                <a:off x="1916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4257" name="Text Box 41"/>
            <p:cNvSpPr txBox="1">
              <a:spLocks noChangeArrowheads="1"/>
            </p:cNvSpPr>
            <p:nvPr/>
          </p:nvSpPr>
          <p:spPr bwMode="auto">
            <a:xfrm>
              <a:off x="3634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4258" name="Text Box 42"/>
            <p:cNvSpPr txBox="1">
              <a:spLocks noChangeArrowheads="1"/>
            </p:cNvSpPr>
            <p:nvPr/>
          </p:nvSpPr>
          <p:spPr bwMode="auto">
            <a:xfrm>
              <a:off x="4984" y="1010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grpSp>
          <p:nvGrpSpPr>
            <p:cNvPr id="94259" name="Group 43"/>
            <p:cNvGrpSpPr/>
            <p:nvPr/>
          </p:nvGrpSpPr>
          <p:grpSpPr bwMode="auto">
            <a:xfrm>
              <a:off x="4888" y="1387"/>
              <a:ext cx="577" cy="1636"/>
              <a:chOff x="4271" y="1104"/>
              <a:chExt cx="577" cy="1636"/>
            </a:xfrm>
          </p:grpSpPr>
          <p:sp>
            <p:nvSpPr>
              <p:cNvPr id="94278" name="Rectangle 44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79" name="Rectangle 45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80" name="Rectangle 46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81" name="Rectangle 47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82" name="Rectangle 48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83" name="Rectangle 49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84" name="Line 50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85" name="Line 51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86" name="Line 52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87" name="Line 53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88" name="Line 54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89" name="Line 55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90" name="Line 56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91" name="Line 57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92" name="Line 58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93" name="Text Box 59"/>
              <p:cNvSpPr txBox="1">
                <a:spLocks noChangeArrowheads="1"/>
              </p:cNvSpPr>
              <p:nvPr/>
            </p:nvSpPr>
            <p:spPr bwMode="auto">
              <a:xfrm>
                <a:off x="4421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94" name="Text Box 60"/>
              <p:cNvSpPr txBox="1">
                <a:spLocks noChangeArrowheads="1"/>
              </p:cNvSpPr>
              <p:nvPr/>
            </p:nvSpPr>
            <p:spPr bwMode="auto">
              <a:xfrm>
                <a:off x="4421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94260" name="Group 61"/>
            <p:cNvGrpSpPr/>
            <p:nvPr/>
          </p:nvGrpSpPr>
          <p:grpSpPr bwMode="auto">
            <a:xfrm>
              <a:off x="3563" y="1387"/>
              <a:ext cx="542" cy="1636"/>
              <a:chOff x="3049" y="1104"/>
              <a:chExt cx="542" cy="1636"/>
            </a:xfrm>
          </p:grpSpPr>
          <p:sp>
            <p:nvSpPr>
              <p:cNvPr id="94261" name="Rectangle 62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62" name="Rectangle 63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63" name="Rectangle 64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64" name="Rectangle 65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65" name="Rectangle 66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66" name="Rectangle 67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67" name="Line 68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68" name="Line 69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69" name="Line 70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0" name="Line 71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1" name="Line 72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2" name="Line 73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3" name="Line 74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4" name="Line 75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5" name="Line 76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76" name="Text Box 77"/>
              <p:cNvSpPr txBox="1">
                <a:spLocks noChangeArrowheads="1"/>
              </p:cNvSpPr>
              <p:nvPr/>
            </p:nvSpPr>
            <p:spPr bwMode="auto">
              <a:xfrm>
                <a:off x="3150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77" name="Text Box 78"/>
              <p:cNvSpPr txBox="1">
                <a:spLocks noChangeArrowheads="1"/>
              </p:cNvSpPr>
              <p:nvPr/>
            </p:nvSpPr>
            <p:spPr bwMode="auto">
              <a:xfrm>
                <a:off x="31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77584" name="Group 80"/>
          <p:cNvGrpSpPr/>
          <p:nvPr/>
        </p:nvGrpSpPr>
        <p:grpSpPr bwMode="auto">
          <a:xfrm>
            <a:off x="4551364" y="5761039"/>
            <a:ext cx="3273425" cy="454025"/>
            <a:chOff x="1907" y="3840"/>
            <a:chExt cx="2062" cy="286"/>
          </a:xfrm>
        </p:grpSpPr>
        <p:grpSp>
          <p:nvGrpSpPr>
            <p:cNvPr id="94247" name="Group 81"/>
            <p:cNvGrpSpPr/>
            <p:nvPr/>
          </p:nvGrpSpPr>
          <p:grpSpPr bwMode="auto">
            <a:xfrm>
              <a:off x="1907" y="3840"/>
              <a:ext cx="2062" cy="286"/>
              <a:chOff x="1488" y="3840"/>
              <a:chExt cx="2062" cy="286"/>
            </a:xfrm>
          </p:grpSpPr>
          <p:sp>
            <p:nvSpPr>
              <p:cNvPr id="94249" name="Rectangle 82"/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4250" name="Text Box 83"/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604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　</a:t>
                </a: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体号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51" name="Rectangle 84"/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4252" name="Text Box 85"/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11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4248" name="Text Box 86"/>
            <p:cNvSpPr txBox="1">
              <a:spLocks noChangeArrowheads="1"/>
            </p:cNvSpPr>
            <p:nvPr/>
          </p:nvSpPr>
          <p:spPr bwMode="auto">
            <a:xfrm>
              <a:off x="2033" y="3851"/>
              <a:ext cx="76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体内地址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7591" name="Group 87"/>
          <p:cNvGrpSpPr/>
          <p:nvPr/>
        </p:nvGrpSpPr>
        <p:grpSpPr bwMode="auto">
          <a:xfrm>
            <a:off x="1847851" y="1268413"/>
            <a:ext cx="7389813" cy="919162"/>
            <a:chOff x="204" y="1010"/>
            <a:chExt cx="4655" cy="579"/>
          </a:xfrm>
        </p:grpSpPr>
        <p:sp>
          <p:nvSpPr>
            <p:cNvPr id="94241" name="Text Box 88"/>
            <p:cNvSpPr txBox="1">
              <a:spLocks noChangeArrowheads="1"/>
            </p:cNvSpPr>
            <p:nvPr/>
          </p:nvSpPr>
          <p:spPr bwMode="auto">
            <a:xfrm>
              <a:off x="295" y="1010"/>
              <a:ext cx="50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94242" name="Group 89"/>
            <p:cNvGrpSpPr/>
            <p:nvPr/>
          </p:nvGrpSpPr>
          <p:grpSpPr bwMode="auto">
            <a:xfrm>
              <a:off x="204" y="1339"/>
              <a:ext cx="4655" cy="250"/>
              <a:chOff x="204" y="1339"/>
              <a:chExt cx="4655" cy="250"/>
            </a:xfrm>
          </p:grpSpPr>
          <p:sp>
            <p:nvSpPr>
              <p:cNvPr id="94243" name="Text Box 90"/>
              <p:cNvSpPr txBox="1">
                <a:spLocks noChangeArrowheads="1"/>
              </p:cNvSpPr>
              <p:nvPr/>
            </p:nvSpPr>
            <p:spPr bwMode="auto">
              <a:xfrm>
                <a:off x="204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00</a:t>
                </a:r>
                <a:endPara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44" name="Text Box 91"/>
              <p:cNvSpPr txBox="1">
                <a:spLocks noChangeArrowheads="1"/>
              </p:cNvSpPr>
              <p:nvPr/>
            </p:nvSpPr>
            <p:spPr bwMode="auto">
              <a:xfrm>
                <a:off x="1581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01</a:t>
                </a:r>
                <a:endPara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45" name="Text Box 92"/>
              <p:cNvSpPr txBox="1">
                <a:spLocks noChangeArrowheads="1"/>
              </p:cNvSpPr>
              <p:nvPr/>
            </p:nvSpPr>
            <p:spPr bwMode="auto">
              <a:xfrm>
                <a:off x="2896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10</a:t>
                </a:r>
                <a:endPara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246" name="Text Box 93"/>
              <p:cNvSpPr txBox="1">
                <a:spLocks noChangeArrowheads="1"/>
              </p:cNvSpPr>
              <p:nvPr/>
            </p:nvSpPr>
            <p:spPr bwMode="auto">
              <a:xfrm>
                <a:off x="4195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11</a:t>
                </a:r>
                <a:endPara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77598" name="Group 94"/>
          <p:cNvGrpSpPr/>
          <p:nvPr/>
        </p:nvGrpSpPr>
        <p:grpSpPr bwMode="auto">
          <a:xfrm>
            <a:off x="1847851" y="2122489"/>
            <a:ext cx="7389813" cy="396875"/>
            <a:chOff x="204" y="1548"/>
            <a:chExt cx="4655" cy="250"/>
          </a:xfrm>
        </p:grpSpPr>
        <p:sp>
          <p:nvSpPr>
            <p:cNvPr id="94237" name="Text Box 95"/>
            <p:cNvSpPr txBox="1">
              <a:spLocks noChangeArrowheads="1"/>
            </p:cNvSpPr>
            <p:nvPr/>
          </p:nvSpPr>
          <p:spPr bwMode="auto">
            <a:xfrm>
              <a:off x="204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00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4238" name="Text Box 96"/>
            <p:cNvSpPr txBox="1">
              <a:spLocks noChangeArrowheads="1"/>
            </p:cNvSpPr>
            <p:nvPr/>
          </p:nvSpPr>
          <p:spPr bwMode="auto">
            <a:xfrm>
              <a:off x="1581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4239" name="Text Box 97"/>
            <p:cNvSpPr txBox="1">
              <a:spLocks noChangeArrowheads="1"/>
            </p:cNvSpPr>
            <p:nvPr/>
          </p:nvSpPr>
          <p:spPr bwMode="auto">
            <a:xfrm>
              <a:off x="2896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4240" name="Text Box 98"/>
            <p:cNvSpPr txBox="1">
              <a:spLocks noChangeArrowheads="1"/>
            </p:cNvSpPr>
            <p:nvPr/>
          </p:nvSpPr>
          <p:spPr bwMode="auto">
            <a:xfrm>
              <a:off x="4195" y="1548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7603" name="Group 99"/>
          <p:cNvGrpSpPr/>
          <p:nvPr/>
        </p:nvGrpSpPr>
        <p:grpSpPr bwMode="auto">
          <a:xfrm>
            <a:off x="1774825" y="4137026"/>
            <a:ext cx="7462838" cy="396875"/>
            <a:chOff x="158" y="2817"/>
            <a:chExt cx="4701" cy="250"/>
          </a:xfrm>
        </p:grpSpPr>
        <p:sp>
          <p:nvSpPr>
            <p:cNvPr id="94233" name="Text Box 100"/>
            <p:cNvSpPr txBox="1">
              <a:spLocks noChangeArrowheads="1"/>
            </p:cNvSpPr>
            <p:nvPr/>
          </p:nvSpPr>
          <p:spPr bwMode="auto">
            <a:xfrm>
              <a:off x="158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00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4234" name="Text Box 101"/>
            <p:cNvSpPr txBox="1">
              <a:spLocks noChangeArrowheads="1"/>
            </p:cNvSpPr>
            <p:nvPr/>
          </p:nvSpPr>
          <p:spPr bwMode="auto">
            <a:xfrm>
              <a:off x="1581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4235" name="Text Box 102"/>
            <p:cNvSpPr txBox="1">
              <a:spLocks noChangeArrowheads="1"/>
            </p:cNvSpPr>
            <p:nvPr/>
          </p:nvSpPr>
          <p:spPr bwMode="auto">
            <a:xfrm>
              <a:off x="2896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4236" name="Text Box 103"/>
            <p:cNvSpPr txBox="1">
              <a:spLocks noChangeArrowheads="1"/>
            </p:cNvSpPr>
            <p:nvPr/>
          </p:nvSpPr>
          <p:spPr bwMode="auto">
            <a:xfrm>
              <a:off x="4195" y="2817"/>
              <a:ext cx="6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endPara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7608" name="Group 104"/>
          <p:cNvGrpSpPr/>
          <p:nvPr/>
        </p:nvGrpSpPr>
        <p:grpSpPr bwMode="auto">
          <a:xfrm>
            <a:off x="2566989" y="4591051"/>
            <a:ext cx="6408737" cy="447675"/>
            <a:chOff x="283" y="3103"/>
            <a:chExt cx="4037" cy="282"/>
          </a:xfrm>
        </p:grpSpPr>
        <p:sp>
          <p:nvSpPr>
            <p:cNvPr id="94228" name="Line 105"/>
            <p:cNvSpPr>
              <a:spLocks noChangeShapeType="1"/>
            </p:cNvSpPr>
            <p:nvPr/>
          </p:nvSpPr>
          <p:spPr bwMode="auto">
            <a:xfrm>
              <a:off x="283" y="3385"/>
              <a:ext cx="4037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29" name="Line 106"/>
            <p:cNvSpPr>
              <a:spLocks noChangeShapeType="1"/>
            </p:cNvSpPr>
            <p:nvPr/>
          </p:nvSpPr>
          <p:spPr bwMode="auto">
            <a:xfrm>
              <a:off x="295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30" name="Line 107"/>
            <p:cNvSpPr>
              <a:spLocks noChangeShapeType="1"/>
            </p:cNvSpPr>
            <p:nvPr/>
          </p:nvSpPr>
          <p:spPr bwMode="auto">
            <a:xfrm>
              <a:off x="1701" y="310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31" name="Line 108"/>
            <p:cNvSpPr>
              <a:spLocks noChangeShapeType="1"/>
            </p:cNvSpPr>
            <p:nvPr/>
          </p:nvSpPr>
          <p:spPr bwMode="auto">
            <a:xfrm>
              <a:off x="3016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32" name="Line 109"/>
            <p:cNvSpPr>
              <a:spLocks noChangeShapeType="1"/>
            </p:cNvSpPr>
            <p:nvPr/>
          </p:nvSpPr>
          <p:spPr bwMode="auto">
            <a:xfrm>
              <a:off x="4298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7614" name="Line 110"/>
          <p:cNvSpPr>
            <a:spLocks noChangeShapeType="1"/>
          </p:cNvSpPr>
          <p:nvPr/>
        </p:nvSpPr>
        <p:spPr bwMode="auto">
          <a:xfrm>
            <a:off x="6983413" y="5038725"/>
            <a:ext cx="0" cy="719138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77615" name="Group 111"/>
          <p:cNvGrpSpPr/>
          <p:nvPr/>
        </p:nvGrpSpPr>
        <p:grpSpPr bwMode="auto">
          <a:xfrm>
            <a:off x="2135188" y="4606925"/>
            <a:ext cx="6424612" cy="719138"/>
            <a:chOff x="552" y="3113"/>
            <a:chExt cx="4047" cy="453"/>
          </a:xfrm>
        </p:grpSpPr>
        <p:sp>
          <p:nvSpPr>
            <p:cNvPr id="94223" name="Line 112"/>
            <p:cNvSpPr>
              <a:spLocks noChangeShapeType="1"/>
            </p:cNvSpPr>
            <p:nvPr/>
          </p:nvSpPr>
          <p:spPr bwMode="auto">
            <a:xfrm>
              <a:off x="552" y="3566"/>
              <a:ext cx="404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24" name="Line 113"/>
            <p:cNvSpPr>
              <a:spLocks noChangeShapeType="1"/>
            </p:cNvSpPr>
            <p:nvPr/>
          </p:nvSpPr>
          <p:spPr bwMode="auto">
            <a:xfrm>
              <a:off x="567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25" name="Line 114"/>
            <p:cNvSpPr>
              <a:spLocks noChangeShapeType="1"/>
            </p:cNvSpPr>
            <p:nvPr/>
          </p:nvSpPr>
          <p:spPr bwMode="auto">
            <a:xfrm>
              <a:off x="1973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26" name="Line 115"/>
            <p:cNvSpPr>
              <a:spLocks noChangeShapeType="1"/>
            </p:cNvSpPr>
            <p:nvPr/>
          </p:nvSpPr>
          <p:spPr bwMode="auto">
            <a:xfrm>
              <a:off x="3288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27" name="Line 116"/>
            <p:cNvSpPr>
              <a:spLocks noChangeShapeType="1"/>
            </p:cNvSpPr>
            <p:nvPr/>
          </p:nvSpPr>
          <p:spPr bwMode="auto">
            <a:xfrm>
              <a:off x="4582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7621" name="Line 117"/>
          <p:cNvSpPr>
            <a:spLocks noChangeShapeType="1"/>
          </p:cNvSpPr>
          <p:nvPr/>
        </p:nvSpPr>
        <p:spPr bwMode="auto">
          <a:xfrm>
            <a:off x="5375275" y="5326063"/>
            <a:ext cx="0" cy="431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4220" name="Text Box 118"/>
          <p:cNvSpPr txBox="1">
            <a:spLocks noChangeArrowheads="1"/>
          </p:cNvSpPr>
          <p:nvPr/>
        </p:nvSpPr>
        <p:spPr bwMode="auto">
          <a:xfrm>
            <a:off x="919163" y="177081"/>
            <a:ext cx="59055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(</a:t>
            </a:r>
            <a:r>
              <a:rPr lang="en-US" altLang="zh-CN" sz="3200" dirty="0">
                <a:latin typeface="Times New Roman" panose="02020603050405020304" pitchFamily="18" charset="0"/>
              </a:rPr>
              <a:t>2) </a:t>
            </a:r>
            <a:r>
              <a:rPr lang="zh-CN" altLang="en-US" sz="3200" dirty="0">
                <a:latin typeface="Times New Roman" panose="02020603050405020304" pitchFamily="18" charset="0"/>
              </a:rPr>
              <a:t>低位交叉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sp>
        <p:nvSpPr>
          <p:cNvPr id="277623" name="Text Box 119"/>
          <p:cNvSpPr txBox="1">
            <a:spLocks noChangeArrowheads="1"/>
          </p:cNvSpPr>
          <p:nvPr/>
        </p:nvSpPr>
        <p:spPr bwMode="auto">
          <a:xfrm>
            <a:off x="3525838" y="177081"/>
            <a:ext cx="59055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各个体轮流编址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7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77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7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7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7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77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7" dur="500"/>
                                        <p:tgtEl>
                                          <p:spTgt spid="277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1" dur="500"/>
                                        <p:tgtEl>
                                          <p:spTgt spid="277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6" dur="500"/>
                                        <p:tgtEl>
                                          <p:spTgt spid="277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500"/>
                                        <p:tgtEl>
                                          <p:spTgt spid="277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623" grpId="0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531" name="Group 3"/>
          <p:cNvGrpSpPr/>
          <p:nvPr/>
        </p:nvGrpSpPr>
        <p:grpSpPr bwMode="auto">
          <a:xfrm>
            <a:off x="2057400" y="1411289"/>
            <a:ext cx="7543800" cy="5330825"/>
            <a:chOff x="336" y="816"/>
            <a:chExt cx="4752" cy="3358"/>
          </a:xfrm>
        </p:grpSpPr>
        <p:sp>
          <p:nvSpPr>
            <p:cNvPr id="95246" name="Text Box 4"/>
            <p:cNvSpPr txBox="1">
              <a:spLocks noChangeArrowheads="1"/>
            </p:cNvSpPr>
            <p:nvPr/>
          </p:nvSpPr>
          <p:spPr bwMode="auto">
            <a:xfrm>
              <a:off x="960" y="816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5247" name="Text Box 5"/>
            <p:cNvSpPr txBox="1">
              <a:spLocks noChangeArrowheads="1"/>
            </p:cNvSpPr>
            <p:nvPr/>
          </p:nvSpPr>
          <p:spPr bwMode="auto">
            <a:xfrm>
              <a:off x="384" y="816"/>
              <a:ext cx="50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5248" name="Text Box 6"/>
            <p:cNvSpPr txBox="1">
              <a:spLocks noChangeArrowheads="1"/>
            </p:cNvSpPr>
            <p:nvPr/>
          </p:nvSpPr>
          <p:spPr bwMode="auto">
            <a:xfrm>
              <a:off x="624" y="108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5249" name="Text Box 7"/>
            <p:cNvSpPr txBox="1">
              <a:spLocks noChangeArrowheads="1"/>
            </p:cNvSpPr>
            <p:nvPr/>
          </p:nvSpPr>
          <p:spPr bwMode="auto">
            <a:xfrm>
              <a:off x="624" y="1334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4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95250" name="Group 8"/>
            <p:cNvGrpSpPr/>
            <p:nvPr/>
          </p:nvGrpSpPr>
          <p:grpSpPr bwMode="auto">
            <a:xfrm>
              <a:off x="864" y="1104"/>
              <a:ext cx="567" cy="1636"/>
              <a:chOff x="624" y="1104"/>
              <a:chExt cx="567" cy="1636"/>
            </a:xfrm>
          </p:grpSpPr>
          <p:sp>
            <p:nvSpPr>
              <p:cNvPr id="95337" name="Rectangle 9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38" name="Rectangle 10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39" name="Rectangle 11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40" name="Rectangle 12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41" name="Rectangle 13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42" name="Rectangle 14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43" name="Line 15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44" name="Line 16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45" name="Line 17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46" name="Line 18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47" name="Line 19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48" name="Line 20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49" name="Line 21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50" name="Line 22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51" name="Line 23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52" name="Text Box 24"/>
              <p:cNvSpPr txBox="1">
                <a:spLocks noChangeArrowheads="1"/>
              </p:cNvSpPr>
              <p:nvPr/>
            </p:nvSpPr>
            <p:spPr bwMode="auto">
              <a:xfrm>
                <a:off x="764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53" name="Text Box 25"/>
              <p:cNvSpPr txBox="1">
                <a:spLocks noChangeArrowheads="1"/>
              </p:cNvSpPr>
              <p:nvPr/>
            </p:nvSpPr>
            <p:spPr bwMode="auto">
              <a:xfrm>
                <a:off x="7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5251" name="Text Box 26"/>
            <p:cNvSpPr txBox="1">
              <a:spLocks noChangeArrowheads="1"/>
            </p:cNvSpPr>
            <p:nvPr/>
          </p:nvSpPr>
          <p:spPr bwMode="auto">
            <a:xfrm>
              <a:off x="372" y="2496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5252" name="Text Box 27"/>
            <p:cNvSpPr txBox="1">
              <a:spLocks noChangeArrowheads="1"/>
            </p:cNvSpPr>
            <p:nvPr/>
          </p:nvSpPr>
          <p:spPr bwMode="auto">
            <a:xfrm>
              <a:off x="2121" y="816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5253" name="Text Box 28"/>
            <p:cNvSpPr txBox="1">
              <a:spLocks noChangeArrowheads="1"/>
            </p:cNvSpPr>
            <p:nvPr/>
          </p:nvSpPr>
          <p:spPr bwMode="auto">
            <a:xfrm>
              <a:off x="1824" y="108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5254" name="Text Box 29"/>
            <p:cNvSpPr txBox="1">
              <a:spLocks noChangeArrowheads="1"/>
            </p:cNvSpPr>
            <p:nvPr/>
          </p:nvSpPr>
          <p:spPr bwMode="auto">
            <a:xfrm>
              <a:off x="1824" y="129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5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95255" name="Group 30"/>
            <p:cNvGrpSpPr/>
            <p:nvPr/>
          </p:nvGrpSpPr>
          <p:grpSpPr bwMode="auto">
            <a:xfrm>
              <a:off x="2047" y="1104"/>
              <a:ext cx="567" cy="1636"/>
              <a:chOff x="1807" y="1104"/>
              <a:chExt cx="567" cy="1636"/>
            </a:xfrm>
          </p:grpSpPr>
          <p:sp>
            <p:nvSpPr>
              <p:cNvPr id="95320" name="Rectangle 31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21" name="Rectangle 32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22" name="Rectangle 33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23" name="Rectangle 34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24" name="Rectangle 35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25" name="Rectangle 36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26" name="Line 37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27" name="Line 38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28" name="Line 39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29" name="Line 40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30" name="Line 41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31" name="Line 42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32" name="Line 43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33" name="Line 44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34" name="Line 45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35" name="Text Box 46"/>
              <p:cNvSpPr txBox="1">
                <a:spLocks noChangeArrowheads="1"/>
              </p:cNvSpPr>
              <p:nvPr/>
            </p:nvSpPr>
            <p:spPr bwMode="auto">
              <a:xfrm>
                <a:off x="1947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36" name="Text Box 47"/>
              <p:cNvSpPr txBox="1">
                <a:spLocks noChangeArrowheads="1"/>
              </p:cNvSpPr>
              <p:nvPr/>
            </p:nvSpPr>
            <p:spPr bwMode="auto">
              <a:xfrm>
                <a:off x="1916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5256" name="Text Box 48"/>
            <p:cNvSpPr txBox="1">
              <a:spLocks noChangeArrowheads="1"/>
            </p:cNvSpPr>
            <p:nvPr/>
          </p:nvSpPr>
          <p:spPr bwMode="auto">
            <a:xfrm>
              <a:off x="1546" y="2496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5257" name="Text Box 49"/>
            <p:cNvSpPr txBox="1">
              <a:spLocks noChangeArrowheads="1"/>
            </p:cNvSpPr>
            <p:nvPr/>
          </p:nvSpPr>
          <p:spPr bwMode="auto">
            <a:xfrm>
              <a:off x="3360" y="816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5258" name="Text Box 50"/>
            <p:cNvSpPr txBox="1">
              <a:spLocks noChangeArrowheads="1"/>
            </p:cNvSpPr>
            <p:nvPr/>
          </p:nvSpPr>
          <p:spPr bwMode="auto">
            <a:xfrm>
              <a:off x="3020" y="108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95259" name="Text Box 51"/>
            <p:cNvSpPr txBox="1">
              <a:spLocks noChangeArrowheads="1"/>
            </p:cNvSpPr>
            <p:nvPr/>
          </p:nvSpPr>
          <p:spPr bwMode="auto">
            <a:xfrm>
              <a:off x="3020" y="129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6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5260" name="Text Box 52"/>
            <p:cNvSpPr txBox="1">
              <a:spLocks noChangeArrowheads="1"/>
            </p:cNvSpPr>
            <p:nvPr/>
          </p:nvSpPr>
          <p:spPr bwMode="auto">
            <a:xfrm>
              <a:off x="2785" y="2496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5261" name="Text Box 53"/>
            <p:cNvSpPr txBox="1">
              <a:spLocks noChangeArrowheads="1"/>
            </p:cNvSpPr>
            <p:nvPr/>
          </p:nvSpPr>
          <p:spPr bwMode="auto">
            <a:xfrm>
              <a:off x="4607" y="816"/>
              <a:ext cx="36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  <a:endParaRPr lang="en-US" altLang="zh-CN" sz="2400" baseline="-20000">
                <a:latin typeface="Times New Roman" panose="02020603050405020304" pitchFamily="18" charset="0"/>
              </a:endParaRPr>
            </a:p>
          </p:txBody>
        </p:sp>
        <p:sp>
          <p:nvSpPr>
            <p:cNvPr id="95262" name="Text Box 54"/>
            <p:cNvSpPr txBox="1">
              <a:spLocks noChangeArrowheads="1"/>
            </p:cNvSpPr>
            <p:nvPr/>
          </p:nvSpPr>
          <p:spPr bwMode="auto">
            <a:xfrm>
              <a:off x="4268" y="1087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95263" name="Text Box 55"/>
            <p:cNvSpPr txBox="1">
              <a:spLocks noChangeArrowheads="1"/>
            </p:cNvSpPr>
            <p:nvPr/>
          </p:nvSpPr>
          <p:spPr bwMode="auto">
            <a:xfrm>
              <a:off x="4268" y="1296"/>
              <a:ext cx="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7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95264" name="Text Box 56"/>
            <p:cNvSpPr txBox="1">
              <a:spLocks noChangeArrowheads="1"/>
            </p:cNvSpPr>
            <p:nvPr/>
          </p:nvSpPr>
          <p:spPr bwMode="auto">
            <a:xfrm>
              <a:off x="3984" y="2496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95265" name="Group 57"/>
            <p:cNvGrpSpPr/>
            <p:nvPr/>
          </p:nvGrpSpPr>
          <p:grpSpPr bwMode="auto">
            <a:xfrm>
              <a:off x="4511" y="1104"/>
              <a:ext cx="577" cy="1636"/>
              <a:chOff x="4271" y="1104"/>
              <a:chExt cx="577" cy="1636"/>
            </a:xfrm>
          </p:grpSpPr>
          <p:sp>
            <p:nvSpPr>
              <p:cNvPr id="95303" name="Rectangle 58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4" name="Rectangle 59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5" name="Rectangle 60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6" name="Rectangle 61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7" name="Rectangle 62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8" name="Rectangle 63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9" name="Line 64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0" name="Line 65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1" name="Line 66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2" name="Line 67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3" name="Line 68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4" name="Line 69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5" name="Line 70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6" name="Line 71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7" name="Line 72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8" name="Text Box 73"/>
              <p:cNvSpPr txBox="1">
                <a:spLocks noChangeArrowheads="1"/>
              </p:cNvSpPr>
              <p:nvPr/>
            </p:nvSpPr>
            <p:spPr bwMode="auto">
              <a:xfrm>
                <a:off x="4421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19" name="Text Box 74"/>
              <p:cNvSpPr txBox="1">
                <a:spLocks noChangeArrowheads="1"/>
              </p:cNvSpPr>
              <p:nvPr/>
            </p:nvSpPr>
            <p:spPr bwMode="auto">
              <a:xfrm>
                <a:off x="4421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95266" name="Group 75"/>
            <p:cNvGrpSpPr/>
            <p:nvPr/>
          </p:nvGrpSpPr>
          <p:grpSpPr bwMode="auto">
            <a:xfrm>
              <a:off x="3289" y="1104"/>
              <a:ext cx="542" cy="1636"/>
              <a:chOff x="3049" y="1104"/>
              <a:chExt cx="542" cy="1636"/>
            </a:xfrm>
          </p:grpSpPr>
          <p:sp>
            <p:nvSpPr>
              <p:cNvPr id="95286" name="Rectangle 76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287" name="Rectangle 77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288" name="Rectangle 78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289" name="Rectangle 79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290" name="Rectangle 80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291" name="Rectangle 81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292" name="Line 82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3" name="Line 83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4" name="Line 84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5" name="Line 85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6" name="Line 86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7" name="Line 87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8" name="Line 88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99" name="Line 89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00" name="Line 90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01" name="Text Box 91"/>
              <p:cNvSpPr txBox="1">
                <a:spLocks noChangeArrowheads="1"/>
              </p:cNvSpPr>
              <p:nvPr/>
            </p:nvSpPr>
            <p:spPr bwMode="auto">
              <a:xfrm>
                <a:off x="3150" y="1584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302" name="Text Box 92"/>
              <p:cNvSpPr txBox="1">
                <a:spLocks noChangeArrowheads="1"/>
              </p:cNvSpPr>
              <p:nvPr/>
            </p:nvSpPr>
            <p:spPr bwMode="auto">
              <a:xfrm>
                <a:off x="3164" y="2182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5267" name="Freeform 93"/>
            <p:cNvSpPr/>
            <p:nvPr/>
          </p:nvSpPr>
          <p:spPr bwMode="auto">
            <a:xfrm>
              <a:off x="336" y="2016"/>
              <a:ext cx="4176" cy="960"/>
            </a:xfrm>
            <a:custGeom>
              <a:avLst/>
              <a:gdLst>
                <a:gd name="T0" fmla="*/ 528 w 4176"/>
                <a:gd name="T1" fmla="*/ 0 h 960"/>
                <a:gd name="T2" fmla="*/ 0 w 4176"/>
                <a:gd name="T3" fmla="*/ 0 h 960"/>
                <a:gd name="T4" fmla="*/ 0 w 4176"/>
                <a:gd name="T5" fmla="*/ 960 h 960"/>
                <a:gd name="T6" fmla="*/ 3648 w 4176"/>
                <a:gd name="T7" fmla="*/ 960 h 960"/>
                <a:gd name="T8" fmla="*/ 3648 w 4176"/>
                <a:gd name="T9" fmla="*/ 0 h 960"/>
                <a:gd name="T10" fmla="*/ 4176 w 4176"/>
                <a:gd name="T11" fmla="*/ 0 h 9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76" h="960">
                  <a:moveTo>
                    <a:pt x="528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3648" y="960"/>
                  </a:lnTo>
                  <a:lnTo>
                    <a:pt x="3648" y="0"/>
                  </a:lnTo>
                  <a:lnTo>
                    <a:pt x="4176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68" name="Freeform 94"/>
            <p:cNvSpPr/>
            <p:nvPr/>
          </p:nvSpPr>
          <p:spPr bwMode="auto">
            <a:xfrm>
              <a:off x="1509" y="2016"/>
              <a:ext cx="528" cy="960"/>
            </a:xfrm>
            <a:custGeom>
              <a:avLst/>
              <a:gdLst>
                <a:gd name="T0" fmla="*/ 0 w 528"/>
                <a:gd name="T1" fmla="*/ 960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69" name="Freeform 95"/>
            <p:cNvSpPr/>
            <p:nvPr/>
          </p:nvSpPr>
          <p:spPr bwMode="auto">
            <a:xfrm>
              <a:off x="2760" y="2016"/>
              <a:ext cx="528" cy="960"/>
            </a:xfrm>
            <a:custGeom>
              <a:avLst/>
              <a:gdLst>
                <a:gd name="T0" fmla="*/ 0 w 528"/>
                <a:gd name="T1" fmla="*/ 960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95270" name="Group 96"/>
            <p:cNvGrpSpPr/>
            <p:nvPr/>
          </p:nvGrpSpPr>
          <p:grpSpPr bwMode="auto">
            <a:xfrm>
              <a:off x="2471" y="3312"/>
              <a:ext cx="1031" cy="286"/>
              <a:chOff x="2471" y="3312"/>
              <a:chExt cx="1031" cy="286"/>
            </a:xfrm>
          </p:grpSpPr>
          <p:sp>
            <p:nvSpPr>
              <p:cNvPr id="95284" name="Rectangle 97"/>
              <p:cNvSpPr>
                <a:spLocks noChangeArrowheads="1"/>
              </p:cNvSpPr>
              <p:nvPr/>
            </p:nvSpPr>
            <p:spPr bwMode="auto">
              <a:xfrm>
                <a:off x="2471" y="3312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95285" name="Text Box 98"/>
              <p:cNvSpPr txBox="1">
                <a:spLocks noChangeArrowheads="1"/>
              </p:cNvSpPr>
              <p:nvPr/>
            </p:nvSpPr>
            <p:spPr bwMode="auto">
              <a:xfrm>
                <a:off x="2607" y="3321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地址译码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95271" name="Rectangle 99"/>
            <p:cNvSpPr>
              <a:spLocks noChangeArrowheads="1"/>
            </p:cNvSpPr>
            <p:nvPr/>
          </p:nvSpPr>
          <p:spPr bwMode="auto">
            <a:xfrm>
              <a:off x="3529" y="3888"/>
              <a:ext cx="1031" cy="28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5272" name="Text Box 100"/>
            <p:cNvSpPr txBox="1">
              <a:spLocks noChangeArrowheads="1"/>
            </p:cNvSpPr>
            <p:nvPr/>
          </p:nvSpPr>
          <p:spPr bwMode="auto">
            <a:xfrm>
              <a:off x="3648" y="3883"/>
              <a:ext cx="88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体号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5273" name="Rectangle 101"/>
            <p:cNvSpPr>
              <a:spLocks noChangeArrowheads="1"/>
            </p:cNvSpPr>
            <p:nvPr/>
          </p:nvSpPr>
          <p:spPr bwMode="auto">
            <a:xfrm>
              <a:off x="2498" y="3888"/>
              <a:ext cx="1031" cy="28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95274" name="Text Box 102"/>
            <p:cNvSpPr txBox="1">
              <a:spLocks noChangeArrowheads="1"/>
            </p:cNvSpPr>
            <p:nvPr/>
          </p:nvSpPr>
          <p:spPr bwMode="auto">
            <a:xfrm>
              <a:off x="2606" y="3899"/>
              <a:ext cx="76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体内地址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95275" name="Line 103"/>
            <p:cNvSpPr>
              <a:spLocks noChangeShapeType="1"/>
            </p:cNvSpPr>
            <p:nvPr/>
          </p:nvSpPr>
          <p:spPr bwMode="auto">
            <a:xfrm flipV="1">
              <a:off x="4046" y="3175"/>
              <a:ext cx="0" cy="7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76" name="Line 104"/>
            <p:cNvSpPr>
              <a:spLocks noChangeShapeType="1"/>
            </p:cNvSpPr>
            <p:nvPr/>
          </p:nvSpPr>
          <p:spPr bwMode="auto">
            <a:xfrm flipV="1">
              <a:off x="2976" y="3600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77" name="Line 105"/>
            <p:cNvSpPr>
              <a:spLocks noChangeShapeType="1"/>
            </p:cNvSpPr>
            <p:nvPr/>
          </p:nvSpPr>
          <p:spPr bwMode="auto">
            <a:xfrm>
              <a:off x="1111" y="3179"/>
              <a:ext cx="36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95278" name="Group 106"/>
            <p:cNvGrpSpPr/>
            <p:nvPr/>
          </p:nvGrpSpPr>
          <p:grpSpPr bwMode="auto">
            <a:xfrm>
              <a:off x="1123" y="2750"/>
              <a:ext cx="3662" cy="424"/>
              <a:chOff x="1123" y="2750"/>
              <a:chExt cx="3662" cy="424"/>
            </a:xfrm>
          </p:grpSpPr>
          <p:sp>
            <p:nvSpPr>
              <p:cNvPr id="95280" name="Line 107"/>
              <p:cNvSpPr>
                <a:spLocks noChangeShapeType="1"/>
              </p:cNvSpPr>
              <p:nvPr/>
            </p:nvSpPr>
            <p:spPr bwMode="auto">
              <a:xfrm flipV="1">
                <a:off x="1123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81" name="Line 108"/>
              <p:cNvSpPr>
                <a:spLocks noChangeShapeType="1"/>
              </p:cNvSpPr>
              <p:nvPr/>
            </p:nvSpPr>
            <p:spPr bwMode="auto">
              <a:xfrm flipV="1">
                <a:off x="2314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82" name="Line 109"/>
              <p:cNvSpPr>
                <a:spLocks noChangeShapeType="1"/>
              </p:cNvSpPr>
              <p:nvPr/>
            </p:nvSpPr>
            <p:spPr bwMode="auto">
              <a:xfrm flipV="1">
                <a:off x="3560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283" name="Line 110"/>
              <p:cNvSpPr>
                <a:spLocks noChangeShapeType="1"/>
              </p:cNvSpPr>
              <p:nvPr/>
            </p:nvSpPr>
            <p:spPr bwMode="auto">
              <a:xfrm flipV="1">
                <a:off x="4785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95279" name="Line 111"/>
            <p:cNvSpPr>
              <a:spLocks noChangeShapeType="1"/>
            </p:cNvSpPr>
            <p:nvPr/>
          </p:nvSpPr>
          <p:spPr bwMode="auto">
            <a:xfrm flipV="1">
              <a:off x="2976" y="2985"/>
              <a:ext cx="0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8640" name="Line 112"/>
          <p:cNvSpPr>
            <a:spLocks noChangeShapeType="1"/>
          </p:cNvSpPr>
          <p:nvPr/>
        </p:nvSpPr>
        <p:spPr bwMode="auto">
          <a:xfrm flipV="1">
            <a:off x="7947025" y="5156200"/>
            <a:ext cx="0" cy="1144588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78641" name="Group 113"/>
          <p:cNvGrpSpPr/>
          <p:nvPr/>
        </p:nvGrpSpPr>
        <p:grpSpPr bwMode="auto">
          <a:xfrm>
            <a:off x="3306764" y="4481513"/>
            <a:ext cx="5813425" cy="673100"/>
            <a:chOff x="1123" y="2750"/>
            <a:chExt cx="3662" cy="424"/>
          </a:xfrm>
        </p:grpSpPr>
        <p:sp>
          <p:nvSpPr>
            <p:cNvPr id="95242" name="Line 114"/>
            <p:cNvSpPr>
              <a:spLocks noChangeShapeType="1"/>
            </p:cNvSpPr>
            <p:nvPr/>
          </p:nvSpPr>
          <p:spPr bwMode="auto">
            <a:xfrm flipV="1">
              <a:off x="1123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43" name="Line 115"/>
            <p:cNvSpPr>
              <a:spLocks noChangeShapeType="1"/>
            </p:cNvSpPr>
            <p:nvPr/>
          </p:nvSpPr>
          <p:spPr bwMode="auto">
            <a:xfrm flipV="1">
              <a:off x="2314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44" name="Line 116"/>
            <p:cNvSpPr>
              <a:spLocks noChangeShapeType="1"/>
            </p:cNvSpPr>
            <p:nvPr/>
          </p:nvSpPr>
          <p:spPr bwMode="auto">
            <a:xfrm flipV="1">
              <a:off x="3560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245" name="Line 117"/>
            <p:cNvSpPr>
              <a:spLocks noChangeShapeType="1"/>
            </p:cNvSpPr>
            <p:nvPr/>
          </p:nvSpPr>
          <p:spPr bwMode="auto">
            <a:xfrm flipV="1">
              <a:off x="4785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8646" name="Line 118"/>
          <p:cNvSpPr>
            <a:spLocks noChangeShapeType="1"/>
          </p:cNvSpPr>
          <p:nvPr/>
        </p:nvSpPr>
        <p:spPr bwMode="auto">
          <a:xfrm>
            <a:off x="3287713" y="5162550"/>
            <a:ext cx="5854700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8647" name="Text Box 119"/>
          <p:cNvSpPr txBox="1">
            <a:spLocks noChangeArrowheads="1"/>
          </p:cNvSpPr>
          <p:nvPr/>
        </p:nvSpPr>
        <p:spPr bwMode="auto">
          <a:xfrm>
            <a:off x="7315201" y="6280150"/>
            <a:ext cx="14081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    </a:t>
            </a: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体号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95240" name="Text Box 120"/>
          <p:cNvSpPr txBox="1">
            <a:spLocks noChangeArrowheads="1"/>
          </p:cNvSpPr>
          <p:nvPr/>
        </p:nvSpPr>
        <p:spPr bwMode="auto">
          <a:xfrm>
            <a:off x="723900" y="169070"/>
            <a:ext cx="59055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(</a:t>
            </a:r>
            <a:r>
              <a:rPr lang="en-US" altLang="zh-CN" sz="3200" dirty="0">
                <a:latin typeface="Times New Roman" panose="02020603050405020304" pitchFamily="18" charset="0"/>
              </a:rPr>
              <a:t>2) </a:t>
            </a:r>
            <a:r>
              <a:rPr lang="zh-CN" altLang="en-US" sz="3200" dirty="0">
                <a:latin typeface="Times New Roman" panose="02020603050405020304" pitchFamily="18" charset="0"/>
              </a:rPr>
              <a:t>低位交叉    </a:t>
            </a:r>
            <a:r>
              <a: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各个体轮流编址</a:t>
            </a:r>
            <a:endParaRPr lang="zh-CN" altLang="en-US" sz="32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8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8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278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278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5" dur="500"/>
                                        <p:tgtEl>
                                          <p:spTgt spid="278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64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554" name="Group 2"/>
          <p:cNvGrpSpPr/>
          <p:nvPr/>
        </p:nvGrpSpPr>
        <p:grpSpPr bwMode="auto">
          <a:xfrm>
            <a:off x="4914900" y="2895600"/>
            <a:ext cx="2590800" cy="3505200"/>
            <a:chOff x="2136" y="1824"/>
            <a:chExt cx="1632" cy="2208"/>
          </a:xfrm>
        </p:grpSpPr>
        <p:sp>
          <p:nvSpPr>
            <p:cNvPr id="96296" name="Line 3"/>
            <p:cNvSpPr>
              <a:spLocks noChangeShapeType="1"/>
            </p:cNvSpPr>
            <p:nvPr/>
          </p:nvSpPr>
          <p:spPr bwMode="auto">
            <a:xfrm>
              <a:off x="2136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97" name="Line 4"/>
            <p:cNvSpPr>
              <a:spLocks noChangeShapeType="1"/>
            </p:cNvSpPr>
            <p:nvPr/>
          </p:nvSpPr>
          <p:spPr bwMode="auto">
            <a:xfrm>
              <a:off x="3768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79557" name="Group 5"/>
          <p:cNvGrpSpPr/>
          <p:nvPr/>
        </p:nvGrpSpPr>
        <p:grpSpPr bwMode="auto">
          <a:xfrm>
            <a:off x="5562600" y="2895600"/>
            <a:ext cx="2590800" cy="3505200"/>
            <a:chOff x="2544" y="1824"/>
            <a:chExt cx="1632" cy="2208"/>
          </a:xfrm>
        </p:grpSpPr>
        <p:sp>
          <p:nvSpPr>
            <p:cNvPr id="96294" name="Line 6"/>
            <p:cNvSpPr>
              <a:spLocks noChangeShapeType="1"/>
            </p:cNvSpPr>
            <p:nvPr/>
          </p:nvSpPr>
          <p:spPr bwMode="auto">
            <a:xfrm>
              <a:off x="2544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95" name="Line 7"/>
            <p:cNvSpPr>
              <a:spLocks noChangeShapeType="1"/>
            </p:cNvSpPr>
            <p:nvPr/>
          </p:nvSpPr>
          <p:spPr bwMode="auto">
            <a:xfrm>
              <a:off x="4176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79560" name="Group 8"/>
          <p:cNvGrpSpPr/>
          <p:nvPr/>
        </p:nvGrpSpPr>
        <p:grpSpPr bwMode="auto">
          <a:xfrm>
            <a:off x="6210300" y="2895600"/>
            <a:ext cx="2590800" cy="3505200"/>
            <a:chOff x="2952" y="1824"/>
            <a:chExt cx="1632" cy="2208"/>
          </a:xfrm>
        </p:grpSpPr>
        <p:sp>
          <p:nvSpPr>
            <p:cNvPr id="96292" name="Line 9"/>
            <p:cNvSpPr>
              <a:spLocks noChangeShapeType="1"/>
            </p:cNvSpPr>
            <p:nvPr/>
          </p:nvSpPr>
          <p:spPr bwMode="auto">
            <a:xfrm>
              <a:off x="2952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93" name="Line 10"/>
            <p:cNvSpPr>
              <a:spLocks noChangeShapeType="1"/>
            </p:cNvSpPr>
            <p:nvPr/>
          </p:nvSpPr>
          <p:spPr bwMode="auto">
            <a:xfrm>
              <a:off x="4584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79563" name="Group 11"/>
          <p:cNvGrpSpPr/>
          <p:nvPr/>
        </p:nvGrpSpPr>
        <p:grpSpPr bwMode="auto">
          <a:xfrm>
            <a:off x="4267200" y="3124200"/>
            <a:ext cx="5181600" cy="3271838"/>
            <a:chOff x="1728" y="1971"/>
            <a:chExt cx="3264" cy="2301"/>
          </a:xfrm>
        </p:grpSpPr>
        <p:sp>
          <p:nvSpPr>
            <p:cNvPr id="96289" name="Line 12"/>
            <p:cNvSpPr>
              <a:spLocks noChangeShapeType="1"/>
            </p:cNvSpPr>
            <p:nvPr/>
          </p:nvSpPr>
          <p:spPr bwMode="auto">
            <a:xfrm>
              <a:off x="1728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90" name="Line 13"/>
            <p:cNvSpPr>
              <a:spLocks noChangeShapeType="1"/>
            </p:cNvSpPr>
            <p:nvPr/>
          </p:nvSpPr>
          <p:spPr bwMode="auto">
            <a:xfrm>
              <a:off x="3360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91" name="Line 14"/>
            <p:cNvSpPr>
              <a:spLocks noChangeShapeType="1"/>
            </p:cNvSpPr>
            <p:nvPr/>
          </p:nvSpPr>
          <p:spPr bwMode="auto">
            <a:xfrm>
              <a:off x="4992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96262" name="Text Box 15"/>
          <p:cNvSpPr txBox="1">
            <a:spLocks noChangeArrowheads="1"/>
          </p:cNvSpPr>
          <p:nvPr/>
        </p:nvSpPr>
        <p:spPr bwMode="auto">
          <a:xfrm>
            <a:off x="767408" y="230043"/>
            <a:ext cx="33956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低位交叉的特点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79568" name="Text Box 16"/>
          <p:cNvSpPr txBox="1">
            <a:spLocks noChangeArrowheads="1"/>
          </p:cNvSpPr>
          <p:nvPr/>
        </p:nvSpPr>
        <p:spPr bwMode="auto">
          <a:xfrm>
            <a:off x="1916114" y="1173164"/>
            <a:ext cx="87518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在不改变存取周期的前提下，增加存储器的带宽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79569" name="Group 17"/>
          <p:cNvGrpSpPr/>
          <p:nvPr/>
        </p:nvGrpSpPr>
        <p:grpSpPr bwMode="auto">
          <a:xfrm>
            <a:off x="2286000" y="2763838"/>
            <a:ext cx="7772400" cy="457200"/>
            <a:chOff x="480" y="1741"/>
            <a:chExt cx="4896" cy="288"/>
          </a:xfrm>
        </p:grpSpPr>
        <p:sp>
          <p:nvSpPr>
            <p:cNvPr id="96287" name="Text Box 18"/>
            <p:cNvSpPr txBox="1">
              <a:spLocks noChangeArrowheads="1"/>
            </p:cNvSpPr>
            <p:nvPr/>
          </p:nvSpPr>
          <p:spPr bwMode="auto">
            <a:xfrm>
              <a:off x="480" y="1741"/>
              <a:ext cx="50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时间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6288" name="Line 19"/>
            <p:cNvSpPr>
              <a:spLocks noChangeShapeType="1"/>
            </p:cNvSpPr>
            <p:nvPr/>
          </p:nvSpPr>
          <p:spPr bwMode="auto">
            <a:xfrm>
              <a:off x="1536" y="1968"/>
              <a:ext cx="38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9572" name="Freeform 20"/>
          <p:cNvSpPr/>
          <p:nvPr/>
        </p:nvSpPr>
        <p:spPr bwMode="auto">
          <a:xfrm>
            <a:off x="3962400" y="4275139"/>
            <a:ext cx="6091238" cy="492125"/>
          </a:xfrm>
          <a:custGeom>
            <a:avLst/>
            <a:gdLst>
              <a:gd name="T0" fmla="*/ 0 w 3837"/>
              <a:gd name="T1" fmla="*/ 2520950 h 310"/>
              <a:gd name="T2" fmla="*/ 1509574511 w 3837"/>
              <a:gd name="T3" fmla="*/ 2520950 h 310"/>
              <a:gd name="T4" fmla="*/ 1512093874 w 3837"/>
              <a:gd name="T5" fmla="*/ 781248438 h 310"/>
              <a:gd name="T6" fmla="*/ 1890117343 w 3837"/>
              <a:gd name="T7" fmla="*/ 781248438 h 310"/>
              <a:gd name="T8" fmla="*/ 1890117343 w 3837"/>
              <a:gd name="T9" fmla="*/ 15120938 h 310"/>
              <a:gd name="T10" fmla="*/ 2147483646 w 3837"/>
              <a:gd name="T11" fmla="*/ 10080625 h 310"/>
              <a:gd name="T12" fmla="*/ 2147483646 w 3837"/>
              <a:gd name="T13" fmla="*/ 781248438 h 310"/>
              <a:gd name="T14" fmla="*/ 2147483646 w 3837"/>
              <a:gd name="T15" fmla="*/ 781248438 h 310"/>
              <a:gd name="T16" fmla="*/ 2147483646 w 3837"/>
              <a:gd name="T17" fmla="*/ 52924075 h 310"/>
              <a:gd name="T18" fmla="*/ 2147483646 w 3837"/>
              <a:gd name="T19" fmla="*/ 0 h 310"/>
              <a:gd name="T20" fmla="*/ 2147483646 w 3837"/>
              <a:gd name="T21" fmla="*/ 2520950 h 31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3837" h="310">
                <a:moveTo>
                  <a:pt x="0" y="1"/>
                </a:moveTo>
                <a:lnTo>
                  <a:pt x="599" y="1"/>
                </a:lnTo>
                <a:lnTo>
                  <a:pt x="600" y="310"/>
                </a:lnTo>
                <a:lnTo>
                  <a:pt x="750" y="310"/>
                </a:lnTo>
                <a:lnTo>
                  <a:pt x="750" y="6"/>
                </a:lnTo>
                <a:lnTo>
                  <a:pt x="2231" y="4"/>
                </a:lnTo>
                <a:lnTo>
                  <a:pt x="2231" y="310"/>
                </a:lnTo>
                <a:lnTo>
                  <a:pt x="2385" y="310"/>
                </a:lnTo>
                <a:lnTo>
                  <a:pt x="2385" y="21"/>
                </a:lnTo>
                <a:lnTo>
                  <a:pt x="2385" y="0"/>
                </a:lnTo>
                <a:lnTo>
                  <a:pt x="3837" y="1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9573" name="Freeform 21"/>
          <p:cNvSpPr/>
          <p:nvPr/>
        </p:nvSpPr>
        <p:spPr bwMode="auto">
          <a:xfrm>
            <a:off x="3962401" y="4978401"/>
            <a:ext cx="6086475" cy="485775"/>
          </a:xfrm>
          <a:custGeom>
            <a:avLst/>
            <a:gdLst>
              <a:gd name="T0" fmla="*/ 0 w 3834"/>
              <a:gd name="T1" fmla="*/ 12601575 h 306"/>
              <a:gd name="T2" fmla="*/ 2147483646 w 3834"/>
              <a:gd name="T3" fmla="*/ 12601575 h 306"/>
              <a:gd name="T4" fmla="*/ 2147483646 w 3834"/>
              <a:gd name="T5" fmla="*/ 768648450 h 306"/>
              <a:gd name="T6" fmla="*/ 2147483646 w 3834"/>
              <a:gd name="T7" fmla="*/ 771167813 h 306"/>
              <a:gd name="T8" fmla="*/ 2147483646 w 3834"/>
              <a:gd name="T9" fmla="*/ 15120938 h 306"/>
              <a:gd name="T10" fmla="*/ 2147483646 w 3834"/>
              <a:gd name="T11" fmla="*/ 12601575 h 306"/>
              <a:gd name="T12" fmla="*/ 2147483646 w 3834"/>
              <a:gd name="T13" fmla="*/ 768648450 h 306"/>
              <a:gd name="T14" fmla="*/ 2147483646 w 3834"/>
              <a:gd name="T15" fmla="*/ 771167813 h 306"/>
              <a:gd name="T16" fmla="*/ 2147483646 w 3834"/>
              <a:gd name="T17" fmla="*/ 57964388 h 306"/>
              <a:gd name="T18" fmla="*/ 2147483646 w 3834"/>
              <a:gd name="T19" fmla="*/ 0 h 306"/>
              <a:gd name="T20" fmla="*/ 2147483646 w 3834"/>
              <a:gd name="T21" fmla="*/ 12601575 h 30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3834" h="306">
                <a:moveTo>
                  <a:pt x="0" y="5"/>
                </a:moveTo>
                <a:lnTo>
                  <a:pt x="1008" y="5"/>
                </a:lnTo>
                <a:lnTo>
                  <a:pt x="1008" y="305"/>
                </a:lnTo>
                <a:lnTo>
                  <a:pt x="1158" y="306"/>
                </a:lnTo>
                <a:lnTo>
                  <a:pt x="1158" y="6"/>
                </a:lnTo>
                <a:lnTo>
                  <a:pt x="2637" y="5"/>
                </a:lnTo>
                <a:lnTo>
                  <a:pt x="2640" y="305"/>
                </a:lnTo>
                <a:lnTo>
                  <a:pt x="2790" y="306"/>
                </a:lnTo>
                <a:lnTo>
                  <a:pt x="2790" y="23"/>
                </a:lnTo>
                <a:lnTo>
                  <a:pt x="2793" y="0"/>
                </a:lnTo>
                <a:lnTo>
                  <a:pt x="3834" y="5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9574" name="Freeform 22"/>
          <p:cNvSpPr/>
          <p:nvPr/>
        </p:nvSpPr>
        <p:spPr bwMode="auto">
          <a:xfrm>
            <a:off x="3952876" y="5676901"/>
            <a:ext cx="6105525" cy="500063"/>
          </a:xfrm>
          <a:custGeom>
            <a:avLst/>
            <a:gdLst>
              <a:gd name="T0" fmla="*/ 0 w 3846"/>
              <a:gd name="T1" fmla="*/ 7561270 h 315"/>
              <a:gd name="T2" fmla="*/ 2147483646 w 3846"/>
              <a:gd name="T3" fmla="*/ 7561270 h 315"/>
              <a:gd name="T4" fmla="*/ 2147483646 w 3846"/>
              <a:gd name="T5" fmla="*/ 793850806 h 315"/>
              <a:gd name="T6" fmla="*/ 2147483646 w 3846"/>
              <a:gd name="T7" fmla="*/ 793850806 h 315"/>
              <a:gd name="T8" fmla="*/ 2147483646 w 3846"/>
              <a:gd name="T9" fmla="*/ 15120953 h 315"/>
              <a:gd name="T10" fmla="*/ 2147483646 w 3846"/>
              <a:gd name="T11" fmla="*/ 7561270 h 315"/>
              <a:gd name="T12" fmla="*/ 2147483646 w 3846"/>
              <a:gd name="T13" fmla="*/ 771168584 h 315"/>
              <a:gd name="T14" fmla="*/ 2147483646 w 3846"/>
              <a:gd name="T15" fmla="*/ 776208901 h 315"/>
              <a:gd name="T16" fmla="*/ 2147483646 w 3846"/>
              <a:gd name="T17" fmla="*/ 0 h 315"/>
              <a:gd name="T18" fmla="*/ 2147483646 w 3846"/>
              <a:gd name="T19" fmla="*/ 7561270 h 315"/>
              <a:gd name="T20" fmla="*/ 2147483646 w 3846"/>
              <a:gd name="T21" fmla="*/ 7561270 h 31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3846" h="315">
                <a:moveTo>
                  <a:pt x="0" y="3"/>
                </a:moveTo>
                <a:lnTo>
                  <a:pt x="1422" y="3"/>
                </a:lnTo>
                <a:lnTo>
                  <a:pt x="1422" y="315"/>
                </a:lnTo>
                <a:lnTo>
                  <a:pt x="1563" y="315"/>
                </a:lnTo>
                <a:lnTo>
                  <a:pt x="1563" y="6"/>
                </a:lnTo>
                <a:lnTo>
                  <a:pt x="3054" y="3"/>
                </a:lnTo>
                <a:lnTo>
                  <a:pt x="3054" y="306"/>
                </a:lnTo>
                <a:lnTo>
                  <a:pt x="3198" y="308"/>
                </a:lnTo>
                <a:lnTo>
                  <a:pt x="3198" y="0"/>
                </a:lnTo>
                <a:lnTo>
                  <a:pt x="3195" y="3"/>
                </a:lnTo>
                <a:lnTo>
                  <a:pt x="3846" y="3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79575" name="Group 23"/>
          <p:cNvGrpSpPr/>
          <p:nvPr/>
        </p:nvGrpSpPr>
        <p:grpSpPr bwMode="auto">
          <a:xfrm>
            <a:off x="3962400" y="3562351"/>
            <a:ext cx="6096000" cy="500063"/>
            <a:chOff x="1536" y="2244"/>
            <a:chExt cx="3840" cy="315"/>
          </a:xfrm>
        </p:grpSpPr>
        <p:sp>
          <p:nvSpPr>
            <p:cNvPr id="96285" name="Freeform 24"/>
            <p:cNvSpPr/>
            <p:nvPr/>
          </p:nvSpPr>
          <p:spPr bwMode="auto">
            <a:xfrm>
              <a:off x="1536" y="2247"/>
              <a:ext cx="3456" cy="312"/>
            </a:xfrm>
            <a:custGeom>
              <a:avLst/>
              <a:gdLst>
                <a:gd name="T0" fmla="*/ 0 w 3456"/>
                <a:gd name="T1" fmla="*/ 6 h 312"/>
                <a:gd name="T2" fmla="*/ 192 w 3456"/>
                <a:gd name="T3" fmla="*/ 6 h 312"/>
                <a:gd name="T4" fmla="*/ 192 w 3456"/>
                <a:gd name="T5" fmla="*/ 306 h 312"/>
                <a:gd name="T6" fmla="*/ 336 w 3456"/>
                <a:gd name="T7" fmla="*/ 309 h 312"/>
                <a:gd name="T8" fmla="*/ 336 w 3456"/>
                <a:gd name="T9" fmla="*/ 9 h 312"/>
                <a:gd name="T10" fmla="*/ 1824 w 3456"/>
                <a:gd name="T11" fmla="*/ 9 h 312"/>
                <a:gd name="T12" fmla="*/ 1824 w 3456"/>
                <a:gd name="T13" fmla="*/ 312 h 312"/>
                <a:gd name="T14" fmla="*/ 1968 w 3456"/>
                <a:gd name="T15" fmla="*/ 309 h 312"/>
                <a:gd name="T16" fmla="*/ 1971 w 3456"/>
                <a:gd name="T17" fmla="*/ 24 h 312"/>
                <a:gd name="T18" fmla="*/ 1971 w 3456"/>
                <a:gd name="T19" fmla="*/ 3 h 312"/>
                <a:gd name="T20" fmla="*/ 3456 w 3456"/>
                <a:gd name="T21" fmla="*/ 0 h 3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56" h="312">
                  <a:moveTo>
                    <a:pt x="0" y="6"/>
                  </a:moveTo>
                  <a:lnTo>
                    <a:pt x="192" y="6"/>
                  </a:lnTo>
                  <a:lnTo>
                    <a:pt x="192" y="306"/>
                  </a:lnTo>
                  <a:lnTo>
                    <a:pt x="336" y="309"/>
                  </a:lnTo>
                  <a:lnTo>
                    <a:pt x="336" y="9"/>
                  </a:lnTo>
                  <a:lnTo>
                    <a:pt x="1824" y="9"/>
                  </a:lnTo>
                  <a:lnTo>
                    <a:pt x="1824" y="312"/>
                  </a:lnTo>
                  <a:lnTo>
                    <a:pt x="1968" y="309"/>
                  </a:lnTo>
                  <a:lnTo>
                    <a:pt x="1971" y="24"/>
                  </a:lnTo>
                  <a:lnTo>
                    <a:pt x="1971" y="3"/>
                  </a:lnTo>
                  <a:lnTo>
                    <a:pt x="345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86" name="Freeform 25"/>
            <p:cNvSpPr/>
            <p:nvPr/>
          </p:nvSpPr>
          <p:spPr bwMode="auto">
            <a:xfrm>
              <a:off x="4992" y="2244"/>
              <a:ext cx="384" cy="306"/>
            </a:xfrm>
            <a:custGeom>
              <a:avLst/>
              <a:gdLst>
                <a:gd name="T0" fmla="*/ 0 w 384"/>
                <a:gd name="T1" fmla="*/ 0 h 306"/>
                <a:gd name="T2" fmla="*/ 0 w 384"/>
                <a:gd name="T3" fmla="*/ 306 h 306"/>
                <a:gd name="T4" fmla="*/ 144 w 384"/>
                <a:gd name="T5" fmla="*/ 306 h 306"/>
                <a:gd name="T6" fmla="*/ 144 w 384"/>
                <a:gd name="T7" fmla="*/ 6 h 306"/>
                <a:gd name="T8" fmla="*/ 384 w 384"/>
                <a:gd name="T9" fmla="*/ 6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4" h="306">
                  <a:moveTo>
                    <a:pt x="0" y="0"/>
                  </a:moveTo>
                  <a:lnTo>
                    <a:pt x="0" y="306"/>
                  </a:lnTo>
                  <a:lnTo>
                    <a:pt x="144" y="306"/>
                  </a:lnTo>
                  <a:lnTo>
                    <a:pt x="144" y="6"/>
                  </a:lnTo>
                  <a:lnTo>
                    <a:pt x="384" y="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79578" name="Group 26"/>
          <p:cNvGrpSpPr/>
          <p:nvPr/>
        </p:nvGrpSpPr>
        <p:grpSpPr bwMode="auto">
          <a:xfrm>
            <a:off x="4267200" y="1981200"/>
            <a:ext cx="5181600" cy="1219200"/>
            <a:chOff x="1728" y="1248"/>
            <a:chExt cx="3264" cy="768"/>
          </a:xfrm>
        </p:grpSpPr>
        <p:sp>
          <p:nvSpPr>
            <p:cNvPr id="96276" name="Text Box 27"/>
            <p:cNvSpPr txBox="1">
              <a:spLocks noChangeArrowheads="1"/>
            </p:cNvSpPr>
            <p:nvPr/>
          </p:nvSpPr>
          <p:spPr bwMode="auto">
            <a:xfrm>
              <a:off x="2112" y="1248"/>
              <a:ext cx="896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单体</a:t>
              </a:r>
              <a:endParaRPr lang="zh-CN" altLang="en-US" sz="24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访存周期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6277" name="Text Box 28"/>
            <p:cNvSpPr txBox="1">
              <a:spLocks noChangeArrowheads="1"/>
            </p:cNvSpPr>
            <p:nvPr/>
          </p:nvSpPr>
          <p:spPr bwMode="auto">
            <a:xfrm>
              <a:off x="3744" y="1248"/>
              <a:ext cx="896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单体</a:t>
              </a:r>
              <a:endParaRPr lang="zh-CN" altLang="en-US" sz="24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访存周期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96278" name="Line 29"/>
            <p:cNvSpPr>
              <a:spLocks noChangeShapeType="1"/>
            </p:cNvSpPr>
            <p:nvPr/>
          </p:nvSpPr>
          <p:spPr bwMode="auto">
            <a:xfrm>
              <a:off x="2976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79" name="Line 30"/>
            <p:cNvSpPr>
              <a:spLocks noChangeShapeType="1"/>
            </p:cNvSpPr>
            <p:nvPr/>
          </p:nvSpPr>
          <p:spPr bwMode="auto">
            <a:xfrm>
              <a:off x="4613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80" name="Line 31"/>
            <p:cNvSpPr>
              <a:spLocks noChangeShapeType="1"/>
            </p:cNvSpPr>
            <p:nvPr/>
          </p:nvSpPr>
          <p:spPr bwMode="auto">
            <a:xfrm rot="10800000">
              <a:off x="3360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81" name="Line 32"/>
            <p:cNvSpPr>
              <a:spLocks noChangeShapeType="1"/>
            </p:cNvSpPr>
            <p:nvPr/>
          </p:nvSpPr>
          <p:spPr bwMode="auto">
            <a:xfrm rot="10800000">
              <a:off x="1733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82" name="Line 33"/>
            <p:cNvSpPr>
              <a:spLocks noChangeShapeType="1"/>
            </p:cNvSpPr>
            <p:nvPr/>
          </p:nvSpPr>
          <p:spPr bwMode="auto">
            <a:xfrm>
              <a:off x="1728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83" name="Line 34"/>
            <p:cNvSpPr>
              <a:spLocks noChangeShapeType="1"/>
            </p:cNvSpPr>
            <p:nvPr/>
          </p:nvSpPr>
          <p:spPr bwMode="auto">
            <a:xfrm>
              <a:off x="3360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6284" name="Line 35"/>
            <p:cNvSpPr>
              <a:spLocks noChangeShapeType="1"/>
            </p:cNvSpPr>
            <p:nvPr/>
          </p:nvSpPr>
          <p:spPr bwMode="auto">
            <a:xfrm>
              <a:off x="4992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9589" name="Text Box 37"/>
          <p:cNvSpPr txBox="1">
            <a:spLocks noChangeArrowheads="1"/>
          </p:cNvSpPr>
          <p:nvPr/>
        </p:nvSpPr>
        <p:spPr bwMode="auto">
          <a:xfrm>
            <a:off x="1789114" y="3505200"/>
            <a:ext cx="19526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启动存储体 0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79590" name="Text Box 38"/>
          <p:cNvSpPr txBox="1">
            <a:spLocks noChangeArrowheads="1"/>
          </p:cNvSpPr>
          <p:nvPr/>
        </p:nvSpPr>
        <p:spPr bwMode="auto">
          <a:xfrm>
            <a:off x="1789114" y="4241800"/>
            <a:ext cx="19526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启动存储体 1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79591" name="Text Box 39"/>
          <p:cNvSpPr txBox="1">
            <a:spLocks noChangeArrowheads="1"/>
          </p:cNvSpPr>
          <p:nvPr/>
        </p:nvSpPr>
        <p:spPr bwMode="auto">
          <a:xfrm>
            <a:off x="1789114" y="4978400"/>
            <a:ext cx="19526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启动存储体 2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79592" name="Text Box 40"/>
          <p:cNvSpPr txBox="1">
            <a:spLocks noChangeArrowheads="1"/>
          </p:cNvSpPr>
          <p:nvPr/>
        </p:nvSpPr>
        <p:spPr bwMode="auto">
          <a:xfrm>
            <a:off x="1789114" y="5715000"/>
            <a:ext cx="19526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启动存储体 3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9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79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79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9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279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2" dur="500"/>
                                        <p:tgtEl>
                                          <p:spTgt spid="279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9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279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279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79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279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2" dur="500"/>
                                        <p:tgtEl>
                                          <p:spTgt spid="279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79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2" dur="500"/>
                                        <p:tgtEl>
                                          <p:spTgt spid="279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7" dur="500"/>
                                        <p:tgtEl>
                                          <p:spTgt spid="279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9568" grpId="0" autoUpdateAnimBg="0"/>
      <p:bldP spid="279589" grpId="0" autoUpdateAnimBg="0"/>
      <p:bldP spid="279590" grpId="0" autoUpdateAnimBg="0"/>
      <p:bldP spid="279591" grpId="0" autoUpdateAnimBg="0"/>
      <p:bldP spid="279592" grpId="0" autoUpdateAnimBg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2219325" y="1700213"/>
            <a:ext cx="7800976" cy="4105051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282" name="Text Box 2"/>
          <p:cNvSpPr txBox="1">
            <a:spLocks noChangeArrowheads="1"/>
          </p:cNvSpPr>
          <p:nvPr/>
        </p:nvSpPr>
        <p:spPr bwMode="auto">
          <a:xfrm>
            <a:off x="1958975" y="1243013"/>
            <a:ext cx="2603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 b="0">
                <a:latin typeface="Times New Roman" panose="02020603050405020304" pitchFamily="18" charset="0"/>
              </a:rPr>
              <a:t> 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97284" name="Rectangle 4"/>
          <p:cNvSpPr>
            <a:spLocks noChangeArrowheads="1"/>
          </p:cNvSpPr>
          <p:nvPr/>
        </p:nvSpPr>
        <p:spPr bwMode="auto">
          <a:xfrm>
            <a:off x="1524001" y="2435453"/>
            <a:ext cx="184731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  <p:graphicFrame>
        <p:nvGraphicFramePr>
          <p:cNvPr id="280581" name="Object 5"/>
          <p:cNvGraphicFramePr>
            <a:graphicFrameLocks noChangeAspect="1"/>
          </p:cNvGraphicFramePr>
          <p:nvPr/>
        </p:nvGraphicFramePr>
        <p:xfrm>
          <a:off x="3071814" y="1587501"/>
          <a:ext cx="6948487" cy="3929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" name="Visio" r:id="rId1" imgW="3836035" imgH="2291080" progId="Visio.Drawing.11">
                  <p:embed/>
                </p:oleObj>
              </mc:Choice>
              <mc:Fallback>
                <p:oleObj name="Visio" r:id="rId1" imgW="3836035" imgH="2291080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b="5232"/>
                      <a:stretch>
                        <a:fillRect/>
                      </a:stretch>
                    </p:blipFill>
                    <p:spPr bwMode="auto">
                      <a:xfrm>
                        <a:off x="3071814" y="1587501"/>
                        <a:ext cx="6948487" cy="3929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97286" name="Text Box 6"/>
          <p:cNvSpPr txBox="1">
            <a:spLocks noChangeArrowheads="1"/>
          </p:cNvSpPr>
          <p:nvPr/>
        </p:nvSpPr>
        <p:spPr bwMode="auto">
          <a:xfrm>
            <a:off x="2135189" y="404814"/>
            <a:ext cx="7489825" cy="11746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设四体低位交叉存储器，存取周期为</a:t>
            </a:r>
            <a:r>
              <a:rPr lang="en-US" altLang="zh-CN" sz="2400" i="1">
                <a:latin typeface="Times New Roman" panose="02020603050405020304" pitchFamily="18" charset="0"/>
              </a:rPr>
              <a:t>T</a:t>
            </a:r>
            <a:r>
              <a:rPr lang="zh-CN" altLang="en-US" sz="2400">
                <a:latin typeface="Times New Roman" panose="02020603050405020304" pitchFamily="18" charset="0"/>
              </a:rPr>
              <a:t>，总线传输周期为</a:t>
            </a:r>
            <a:r>
              <a:rPr lang="en-US" altLang="zh-CN" sz="2600" i="1">
                <a:latin typeface="Times New Roman" panose="02020603050405020304" pitchFamily="18" charset="0"/>
                <a:ea typeface="MS Mincho" pitchFamily="49" charset="-128"/>
              </a:rPr>
              <a:t>τ</a:t>
            </a:r>
            <a:r>
              <a:rPr lang="zh-CN" altLang="en-US" sz="2400">
                <a:latin typeface="Times New Roman" panose="02020603050405020304" pitchFamily="18" charset="0"/>
              </a:rPr>
              <a:t>，为实现流水线方式存取，应满足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T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＝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en-US" altLang="zh-CN" sz="2600" i="1">
                <a:solidFill>
                  <a:schemeClr val="folHlink"/>
                </a:solidFill>
                <a:latin typeface="Times New Roman" panose="02020603050405020304" pitchFamily="18" charset="0"/>
                <a:ea typeface="MS Mincho" pitchFamily="49" charset="-128"/>
              </a:rPr>
              <a:t>τ</a:t>
            </a:r>
            <a:r>
              <a:rPr lang="zh-CN" altLang="en-US" sz="2400">
                <a:latin typeface="Times New Roman" panose="02020603050405020304" pitchFamily="18" charset="0"/>
              </a:rPr>
              <a:t>。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80583" name="Text Box 7"/>
          <p:cNvSpPr txBox="1">
            <a:spLocks noChangeArrowheads="1"/>
          </p:cNvSpPr>
          <p:nvPr/>
        </p:nvSpPr>
        <p:spPr bwMode="auto">
          <a:xfrm>
            <a:off x="3286125" y="5876925"/>
            <a:ext cx="849788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连续读取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4 </a:t>
            </a:r>
            <a:r>
              <a:rPr lang="zh-CN" altLang="en-US" sz="2400">
                <a:latin typeface="Times New Roman" panose="02020603050405020304" pitchFamily="18" charset="0"/>
              </a:rPr>
              <a:t>个字所需的时间为  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＋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(4</a:t>
            </a:r>
            <a:r>
              <a:rPr lang="en-US" altLang="zh-CN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1900">
                <a:solidFill>
                  <a:schemeClr val="folHlink"/>
                </a:solidFill>
                <a:latin typeface="Times New Roman" panose="02020603050405020304" pitchFamily="18" charset="0"/>
              </a:rPr>
              <a:t>－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1)</a:t>
            </a:r>
            <a:r>
              <a:rPr lang="en-US" altLang="zh-CN" sz="2600" i="1">
                <a:solidFill>
                  <a:schemeClr val="folHlink"/>
                </a:solidFill>
                <a:latin typeface="Times New Roman" panose="02020603050405020304" pitchFamily="18" charset="0"/>
                <a:ea typeface="MS Mincho" pitchFamily="49" charset="-128"/>
              </a:rPr>
              <a:t>τ</a:t>
            </a:r>
            <a:endParaRPr lang="zh-CN" altLang="en-US" sz="2600" i="1">
              <a:solidFill>
                <a:schemeClr val="folHlink"/>
              </a:solidFill>
              <a:latin typeface="Times New Roman" panose="02020603050405020304" pitchFamily="18" charset="0"/>
              <a:ea typeface="MS Mincho" pitchFamily="49" charset="-12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0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0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58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2"/>
          <p:cNvSpPr>
            <a:spLocks noGrp="1" noChangeArrowheads="1"/>
          </p:cNvSpPr>
          <p:nvPr>
            <p:ph type="title"/>
          </p:nvPr>
        </p:nvSpPr>
        <p:spPr>
          <a:xfrm>
            <a:off x="390526" y="-77710"/>
            <a:ext cx="7772400" cy="1143000"/>
          </a:xfrm>
        </p:spPr>
        <p:txBody>
          <a:bodyPr>
            <a:normAutofit/>
          </a:bodyPr>
          <a:lstStyle/>
          <a:p>
            <a:pPr eaLnBrk="1" hangingPunct="1"/>
            <a:r>
              <a:rPr lang="zh-CN" altLang="en-US" b="1" dirty="0"/>
              <a:t>4.3   高速缓冲存储器</a:t>
            </a:r>
            <a:endParaRPr lang="zh-CN" altLang="en-US" b="1" dirty="0"/>
          </a:p>
        </p:txBody>
      </p:sp>
      <p:sp>
        <p:nvSpPr>
          <p:cNvPr id="283651" name="Text Box 3"/>
          <p:cNvSpPr txBox="1">
            <a:spLocks noChangeArrowheads="1"/>
          </p:cNvSpPr>
          <p:nvPr/>
        </p:nvSpPr>
        <p:spPr bwMode="auto">
          <a:xfrm>
            <a:off x="1036886" y="835818"/>
            <a:ext cx="31527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一、概述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83652" name="Text Box 4"/>
          <p:cNvSpPr txBox="1">
            <a:spLocks noChangeArrowheads="1"/>
          </p:cNvSpPr>
          <p:nvPr/>
        </p:nvSpPr>
        <p:spPr bwMode="auto">
          <a:xfrm>
            <a:off x="1554410" y="1669255"/>
            <a:ext cx="26304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1. 问题的提出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83653" name="Text Box 5"/>
          <p:cNvSpPr txBox="1">
            <a:spLocks noChangeArrowheads="1"/>
          </p:cNvSpPr>
          <p:nvPr/>
        </p:nvSpPr>
        <p:spPr bwMode="auto">
          <a:xfrm>
            <a:off x="1919535" y="2307431"/>
            <a:ext cx="47561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避免 </a:t>
            </a:r>
            <a:r>
              <a:rPr lang="en-US" altLang="zh-CN" sz="2800">
                <a:latin typeface="Times New Roman" panose="02020603050405020304" pitchFamily="18" charset="0"/>
              </a:rPr>
              <a:t>CPU “</a:t>
            </a:r>
            <a:r>
              <a:rPr lang="zh-CN" altLang="en-US" sz="2800">
                <a:latin typeface="Times New Roman" panose="02020603050405020304" pitchFamily="18" charset="0"/>
              </a:rPr>
              <a:t>空等” 现象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3654" name="Text Box 6"/>
          <p:cNvSpPr txBox="1">
            <a:spLocks noChangeArrowheads="1"/>
          </p:cNvSpPr>
          <p:nvPr/>
        </p:nvSpPr>
        <p:spPr bwMode="auto">
          <a:xfrm>
            <a:off x="1919535" y="2869406"/>
            <a:ext cx="56832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latin typeface="Times New Roman" panose="02020603050405020304" pitchFamily="18" charset="0"/>
              </a:rPr>
              <a:t>CPU </a:t>
            </a:r>
            <a:r>
              <a:rPr lang="zh-CN" altLang="en-US" sz="2800">
                <a:latin typeface="Times New Roman" panose="02020603050405020304" pitchFamily="18" charset="0"/>
              </a:rPr>
              <a:t>和主存（</a:t>
            </a:r>
            <a:r>
              <a:rPr lang="en-US" altLang="zh-CN" sz="2800">
                <a:latin typeface="Times New Roman" panose="02020603050405020304" pitchFamily="18" charset="0"/>
              </a:rPr>
              <a:t>DRAM）</a:t>
            </a:r>
            <a:r>
              <a:rPr lang="zh-CN" altLang="en-US" sz="2800">
                <a:latin typeface="Times New Roman" panose="02020603050405020304" pitchFamily="18" charset="0"/>
              </a:rPr>
              <a:t>的速度差异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283655" name="Group 7"/>
          <p:cNvGrpSpPr/>
          <p:nvPr/>
        </p:nvGrpSpPr>
        <p:grpSpPr bwMode="auto">
          <a:xfrm>
            <a:off x="2006849" y="3555205"/>
            <a:ext cx="5278437" cy="990600"/>
            <a:chOff x="1187" y="2304"/>
            <a:chExt cx="3325" cy="624"/>
          </a:xfrm>
        </p:grpSpPr>
        <p:sp>
          <p:nvSpPr>
            <p:cNvPr id="100364" name="Text Box 8"/>
            <p:cNvSpPr txBox="1">
              <a:spLocks noChangeArrowheads="1"/>
            </p:cNvSpPr>
            <p:nvPr/>
          </p:nvSpPr>
          <p:spPr bwMode="auto">
            <a:xfrm>
              <a:off x="2544" y="2573"/>
              <a:ext cx="7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缓存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0365" name="Rectangle 9"/>
            <p:cNvSpPr>
              <a:spLocks noChangeArrowheads="1"/>
            </p:cNvSpPr>
            <p:nvPr/>
          </p:nvSpPr>
          <p:spPr bwMode="auto">
            <a:xfrm>
              <a:off x="2451" y="2565"/>
              <a:ext cx="765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0366" name="Text Box 10"/>
            <p:cNvSpPr txBox="1">
              <a:spLocks noChangeArrowheads="1"/>
            </p:cNvSpPr>
            <p:nvPr/>
          </p:nvSpPr>
          <p:spPr bwMode="auto">
            <a:xfrm>
              <a:off x="1296" y="2573"/>
              <a:ext cx="77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>
                  <a:latin typeface="Times New Roman" panose="02020603050405020304" pitchFamily="18" charset="0"/>
                </a:rPr>
                <a:t>CPU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100367" name="Rectangle 11"/>
            <p:cNvSpPr>
              <a:spLocks noChangeArrowheads="1"/>
            </p:cNvSpPr>
            <p:nvPr/>
          </p:nvSpPr>
          <p:spPr bwMode="auto">
            <a:xfrm>
              <a:off x="1187" y="2565"/>
              <a:ext cx="764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0368" name="Text Box 12"/>
            <p:cNvSpPr txBox="1">
              <a:spLocks noChangeArrowheads="1"/>
            </p:cNvSpPr>
            <p:nvPr/>
          </p:nvSpPr>
          <p:spPr bwMode="auto">
            <a:xfrm>
              <a:off x="3852" y="2573"/>
              <a:ext cx="66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0369" name="Rectangle 13"/>
            <p:cNvSpPr>
              <a:spLocks noChangeArrowheads="1"/>
            </p:cNvSpPr>
            <p:nvPr/>
          </p:nvSpPr>
          <p:spPr bwMode="auto">
            <a:xfrm>
              <a:off x="3748" y="2565"/>
              <a:ext cx="764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0370" name="Freeform 14"/>
            <p:cNvSpPr/>
            <p:nvPr/>
          </p:nvSpPr>
          <p:spPr bwMode="auto">
            <a:xfrm rot="10800000">
              <a:off x="1619" y="2304"/>
              <a:ext cx="2461" cy="248"/>
            </a:xfrm>
            <a:custGeom>
              <a:avLst/>
              <a:gdLst>
                <a:gd name="T0" fmla="*/ 0 w 2610"/>
                <a:gd name="T1" fmla="*/ 0 h 282"/>
                <a:gd name="T2" fmla="*/ 0 w 2610"/>
                <a:gd name="T3" fmla="*/ 218 h 282"/>
                <a:gd name="T4" fmla="*/ 2321 w 2610"/>
                <a:gd name="T5" fmla="*/ 218 h 282"/>
                <a:gd name="T6" fmla="*/ 2321 w 2610"/>
                <a:gd name="T7" fmla="*/ 0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0" h="282">
                  <a:moveTo>
                    <a:pt x="0" y="0"/>
                  </a:moveTo>
                  <a:lnTo>
                    <a:pt x="0" y="282"/>
                  </a:lnTo>
                  <a:lnTo>
                    <a:pt x="2610" y="282"/>
                  </a:lnTo>
                  <a:lnTo>
                    <a:pt x="261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0371" name="Line 15"/>
            <p:cNvSpPr>
              <a:spLocks noChangeShapeType="1"/>
            </p:cNvSpPr>
            <p:nvPr/>
          </p:nvSpPr>
          <p:spPr bwMode="auto">
            <a:xfrm>
              <a:off x="3216" y="2736"/>
              <a:ext cx="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0372" name="Line 16"/>
            <p:cNvSpPr>
              <a:spLocks noChangeShapeType="1"/>
            </p:cNvSpPr>
            <p:nvPr/>
          </p:nvSpPr>
          <p:spPr bwMode="auto">
            <a:xfrm>
              <a:off x="1933" y="2736"/>
              <a:ext cx="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83665" name="Text Box 17"/>
          <p:cNvSpPr txBox="1">
            <a:spLocks noChangeArrowheads="1"/>
          </p:cNvSpPr>
          <p:nvPr/>
        </p:nvSpPr>
        <p:spPr bwMode="auto">
          <a:xfrm>
            <a:off x="4084886" y="4561681"/>
            <a:ext cx="1112805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容量小</a:t>
            </a:r>
            <a:endParaRPr lang="zh-CN" altLang="en-US" sz="2400">
              <a:latin typeface="Times New Roman" panose="02020603050405020304" pitchFamily="18" charset="0"/>
            </a:endParaRPr>
          </a:p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速度高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83666" name="Text Box 18"/>
          <p:cNvSpPr txBox="1">
            <a:spLocks noChangeArrowheads="1"/>
          </p:cNvSpPr>
          <p:nvPr/>
        </p:nvSpPr>
        <p:spPr bwMode="auto">
          <a:xfrm>
            <a:off x="6181974" y="4566444"/>
            <a:ext cx="1112805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容量大</a:t>
            </a:r>
            <a:endParaRPr lang="zh-CN" altLang="en-US" sz="2400">
              <a:latin typeface="Times New Roman" panose="02020603050405020304" pitchFamily="18" charset="0"/>
            </a:endParaRPr>
          </a:p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速度低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83667" name="Text Box 19"/>
          <p:cNvSpPr txBox="1">
            <a:spLocks noChangeArrowheads="1"/>
          </p:cNvSpPr>
          <p:nvPr/>
        </p:nvSpPr>
        <p:spPr bwMode="auto">
          <a:xfrm>
            <a:off x="1919536" y="5733256"/>
            <a:ext cx="37560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程序访问的局部性原理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3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3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3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3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83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3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83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83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3651" grpId="0" autoUpdateAnimBg="0"/>
      <p:bldP spid="283652" grpId="0" autoUpdateAnimBg="0"/>
      <p:bldP spid="283653" grpId="0" autoUpdateAnimBg="0"/>
      <p:bldP spid="283654" grpId="0" autoUpdateAnimBg="0"/>
      <p:bldP spid="283665" grpId="0" autoUpdateAnimBg="0"/>
      <p:bldP spid="283666" grpId="0" autoUpdateAnimBg="0"/>
      <p:bldP spid="283667" grpId="0" autoUpdateAnimBg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Text Box 2"/>
          <p:cNvSpPr txBox="1">
            <a:spLocks noChangeArrowheads="1"/>
          </p:cNvSpPr>
          <p:nvPr/>
        </p:nvSpPr>
        <p:spPr bwMode="auto">
          <a:xfrm>
            <a:off x="904875" y="56359"/>
            <a:ext cx="4876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2. </a:t>
            </a:r>
            <a:r>
              <a:rPr lang="en-US" altLang="zh-CN" sz="3600" dirty="0">
                <a:latin typeface="Times New Roman" panose="02020603050405020304" pitchFamily="18" charset="0"/>
              </a:rPr>
              <a:t>Cache </a:t>
            </a:r>
            <a:r>
              <a:rPr lang="zh-CN" altLang="en-US" sz="3600" dirty="0">
                <a:latin typeface="Times New Roman" panose="02020603050405020304" pitchFamily="18" charset="0"/>
              </a:rPr>
              <a:t>的工作原理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84675" name="Text Box 3"/>
          <p:cNvSpPr txBox="1">
            <a:spLocks noChangeArrowheads="1"/>
          </p:cNvSpPr>
          <p:nvPr/>
        </p:nvSpPr>
        <p:spPr bwMode="auto">
          <a:xfrm>
            <a:off x="2057400" y="714376"/>
            <a:ext cx="434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(1)  主存和缓存的编址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4676" name="Text Box 4"/>
          <p:cNvSpPr txBox="1">
            <a:spLocks noChangeArrowheads="1"/>
          </p:cNvSpPr>
          <p:nvPr/>
        </p:nvSpPr>
        <p:spPr bwMode="auto">
          <a:xfrm>
            <a:off x="2209800" y="6248400"/>
            <a:ext cx="613341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主存和缓存按块存储      块的大小相同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84677" name="Text Box 5"/>
          <p:cNvSpPr txBox="1">
            <a:spLocks noChangeArrowheads="1"/>
          </p:cNvSpPr>
          <p:nvPr/>
        </p:nvSpPr>
        <p:spPr bwMode="auto">
          <a:xfrm>
            <a:off x="8534401" y="6248400"/>
            <a:ext cx="159530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B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为块长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84678" name="Group 6"/>
          <p:cNvGrpSpPr/>
          <p:nvPr/>
        </p:nvGrpSpPr>
        <p:grpSpPr bwMode="auto">
          <a:xfrm>
            <a:off x="2082800" y="1255714"/>
            <a:ext cx="8372476" cy="4935537"/>
            <a:chOff x="352" y="791"/>
            <a:chExt cx="5274" cy="3109"/>
          </a:xfrm>
        </p:grpSpPr>
        <p:grpSp>
          <p:nvGrpSpPr>
            <p:cNvPr id="101385" name="Group 7"/>
            <p:cNvGrpSpPr/>
            <p:nvPr/>
          </p:nvGrpSpPr>
          <p:grpSpPr bwMode="auto">
            <a:xfrm>
              <a:off x="352" y="791"/>
              <a:ext cx="2768" cy="3109"/>
              <a:chOff x="352" y="791"/>
              <a:chExt cx="2768" cy="3109"/>
            </a:xfrm>
          </p:grpSpPr>
          <p:sp>
            <p:nvSpPr>
              <p:cNvPr id="101436" name="Rectangle 8"/>
              <p:cNvSpPr>
                <a:spLocks noChangeArrowheads="1"/>
              </p:cNvSpPr>
              <p:nvPr/>
            </p:nvSpPr>
            <p:spPr bwMode="auto">
              <a:xfrm>
                <a:off x="960" y="2089"/>
                <a:ext cx="816" cy="46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37" name="Rectangle 9"/>
              <p:cNvSpPr>
                <a:spLocks noChangeArrowheads="1"/>
              </p:cNvSpPr>
              <p:nvPr/>
            </p:nvSpPr>
            <p:spPr bwMode="auto">
              <a:xfrm>
                <a:off x="960" y="1805"/>
                <a:ext cx="816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38" name="Rectangle 10"/>
              <p:cNvSpPr>
                <a:spLocks noChangeArrowheads="1"/>
              </p:cNvSpPr>
              <p:nvPr/>
            </p:nvSpPr>
            <p:spPr bwMode="auto">
              <a:xfrm>
                <a:off x="960" y="1362"/>
                <a:ext cx="816" cy="325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39" name="Rectangle 11"/>
              <p:cNvSpPr>
                <a:spLocks noChangeArrowheads="1"/>
              </p:cNvSpPr>
              <p:nvPr/>
            </p:nvSpPr>
            <p:spPr bwMode="auto">
              <a:xfrm>
                <a:off x="960" y="1202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40" name="Rectangle 12"/>
              <p:cNvSpPr>
                <a:spLocks noChangeArrowheads="1"/>
              </p:cNvSpPr>
              <p:nvPr/>
            </p:nvSpPr>
            <p:spPr bwMode="auto">
              <a:xfrm>
                <a:off x="960" y="1041"/>
                <a:ext cx="816" cy="16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41" name="Line 13"/>
              <p:cNvSpPr>
                <a:spLocks noChangeShapeType="1"/>
              </p:cNvSpPr>
              <p:nvPr/>
            </p:nvSpPr>
            <p:spPr bwMode="auto">
              <a:xfrm>
                <a:off x="960" y="1041"/>
                <a:ext cx="81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42" name="Line 14"/>
              <p:cNvSpPr>
                <a:spLocks noChangeShapeType="1"/>
              </p:cNvSpPr>
              <p:nvPr/>
            </p:nvSpPr>
            <p:spPr bwMode="auto">
              <a:xfrm>
                <a:off x="960" y="1202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43" name="Line 15"/>
              <p:cNvSpPr>
                <a:spLocks noChangeShapeType="1"/>
              </p:cNvSpPr>
              <p:nvPr/>
            </p:nvSpPr>
            <p:spPr bwMode="auto">
              <a:xfrm>
                <a:off x="960" y="1362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44" name="Line 16"/>
              <p:cNvSpPr>
                <a:spLocks noChangeShapeType="1"/>
              </p:cNvSpPr>
              <p:nvPr/>
            </p:nvSpPr>
            <p:spPr bwMode="auto">
              <a:xfrm>
                <a:off x="960" y="2016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45" name="Line 17"/>
              <p:cNvSpPr>
                <a:spLocks noChangeShapeType="1"/>
              </p:cNvSpPr>
              <p:nvPr/>
            </p:nvSpPr>
            <p:spPr bwMode="auto">
              <a:xfrm>
                <a:off x="960" y="1041"/>
                <a:ext cx="0" cy="118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46" name="Line 18"/>
              <p:cNvSpPr>
                <a:spLocks noChangeShapeType="1"/>
              </p:cNvSpPr>
              <p:nvPr/>
            </p:nvSpPr>
            <p:spPr bwMode="auto">
              <a:xfrm>
                <a:off x="1776" y="1041"/>
                <a:ext cx="0" cy="118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01447" name="Group 19"/>
              <p:cNvGrpSpPr/>
              <p:nvPr/>
            </p:nvGrpSpPr>
            <p:grpSpPr bwMode="auto">
              <a:xfrm>
                <a:off x="1654" y="2064"/>
                <a:ext cx="266" cy="461"/>
                <a:chOff x="1654" y="2594"/>
                <a:chExt cx="266" cy="605"/>
              </a:xfrm>
            </p:grpSpPr>
            <p:sp>
              <p:nvSpPr>
                <p:cNvPr id="101483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1654" y="2594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01484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01448" name="Group 22"/>
              <p:cNvGrpSpPr/>
              <p:nvPr/>
            </p:nvGrpSpPr>
            <p:grpSpPr bwMode="auto">
              <a:xfrm>
                <a:off x="816" y="2064"/>
                <a:ext cx="266" cy="461"/>
                <a:chOff x="1654" y="2594"/>
                <a:chExt cx="266" cy="605"/>
              </a:xfrm>
            </p:grpSpPr>
            <p:sp>
              <p:nvSpPr>
                <p:cNvPr id="101481" name="Text Box 23"/>
                <p:cNvSpPr txBox="1">
                  <a:spLocks noChangeArrowheads="1"/>
                </p:cNvSpPr>
                <p:nvPr/>
              </p:nvSpPr>
              <p:spPr bwMode="auto">
                <a:xfrm>
                  <a:off x="1654" y="2594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01482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1449" name="Rectangle 25"/>
              <p:cNvSpPr>
                <a:spLocks noChangeArrowheads="1"/>
              </p:cNvSpPr>
              <p:nvPr/>
            </p:nvSpPr>
            <p:spPr bwMode="auto">
              <a:xfrm>
                <a:off x="960" y="2491"/>
                <a:ext cx="816" cy="34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28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0" name="Rectangle 26"/>
              <p:cNvSpPr>
                <a:spLocks noChangeArrowheads="1"/>
              </p:cNvSpPr>
              <p:nvPr/>
            </p:nvSpPr>
            <p:spPr bwMode="auto">
              <a:xfrm>
                <a:off x="960" y="2345"/>
                <a:ext cx="816" cy="2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1" name="Freeform 27"/>
              <p:cNvSpPr/>
              <p:nvPr/>
            </p:nvSpPr>
            <p:spPr bwMode="auto">
              <a:xfrm>
                <a:off x="960" y="2418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1 w 1"/>
                  <a:gd name="T3" fmla="*/ 303 h 3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03">
                    <a:moveTo>
                      <a:pt x="0" y="0"/>
                    </a:moveTo>
                    <a:lnTo>
                      <a:pt x="1" y="303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52" name="Freeform 28"/>
              <p:cNvSpPr/>
              <p:nvPr/>
            </p:nvSpPr>
            <p:spPr bwMode="auto">
              <a:xfrm>
                <a:off x="1777" y="2409"/>
                <a:ext cx="2" cy="312"/>
              </a:xfrm>
              <a:custGeom>
                <a:avLst/>
                <a:gdLst>
                  <a:gd name="T0" fmla="*/ 2 w 2"/>
                  <a:gd name="T1" fmla="*/ 0 h 312"/>
                  <a:gd name="T2" fmla="*/ 0 w 2"/>
                  <a:gd name="T3" fmla="*/ 312 h 3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2">
                    <a:moveTo>
                      <a:pt x="2" y="0"/>
                    </a:moveTo>
                    <a:lnTo>
                      <a:pt x="0" y="312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53" name="Text Box 29"/>
              <p:cNvSpPr txBox="1">
                <a:spLocks noChangeArrowheads="1"/>
              </p:cNvSpPr>
              <p:nvPr/>
            </p:nvSpPr>
            <p:spPr bwMode="auto">
              <a:xfrm>
                <a:off x="1244" y="1411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4" name="Text Box 30"/>
              <p:cNvSpPr txBox="1">
                <a:spLocks noChangeArrowheads="1"/>
              </p:cNvSpPr>
              <p:nvPr/>
            </p:nvSpPr>
            <p:spPr bwMode="auto">
              <a:xfrm>
                <a:off x="1244" y="1723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5" name="Text Box 31"/>
              <p:cNvSpPr txBox="1">
                <a:spLocks noChangeArrowheads="1"/>
              </p:cNvSpPr>
              <p:nvPr/>
            </p:nvSpPr>
            <p:spPr bwMode="auto">
              <a:xfrm>
                <a:off x="1920" y="791"/>
                <a:ext cx="120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主存块号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6" name="Text Box 32"/>
              <p:cNvSpPr txBox="1">
                <a:spLocks noChangeArrowheads="1"/>
              </p:cNvSpPr>
              <p:nvPr/>
            </p:nvSpPr>
            <p:spPr bwMode="auto">
              <a:xfrm>
                <a:off x="950" y="791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主存储器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7" name="Text Box 33"/>
              <p:cNvSpPr txBox="1">
                <a:spLocks noChangeArrowheads="1"/>
              </p:cNvSpPr>
              <p:nvPr/>
            </p:nvSpPr>
            <p:spPr bwMode="auto">
              <a:xfrm>
                <a:off x="748" y="1203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8" name="Text Box 34"/>
              <p:cNvSpPr txBox="1">
                <a:spLocks noChangeArrowheads="1"/>
              </p:cNvSpPr>
              <p:nvPr/>
            </p:nvSpPr>
            <p:spPr bwMode="auto">
              <a:xfrm>
                <a:off x="748" y="170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59" name="Text Box 35"/>
              <p:cNvSpPr txBox="1">
                <a:spLocks noChangeArrowheads="1"/>
              </p:cNvSpPr>
              <p:nvPr/>
            </p:nvSpPr>
            <p:spPr bwMode="auto">
              <a:xfrm>
                <a:off x="352" y="2486"/>
                <a:ext cx="606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2</a:t>
                </a:r>
                <a:r>
                  <a:rPr lang="en-US" altLang="zh-CN" sz="2400" i="1" baseline="50000">
                    <a:latin typeface="Times New Roman" panose="02020603050405020304" pitchFamily="18" charset="0"/>
                  </a:rPr>
                  <a:t>m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－1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60" name="AutoShape 36"/>
              <p:cNvSpPr/>
              <p:nvPr/>
            </p:nvSpPr>
            <p:spPr bwMode="auto">
              <a:xfrm>
                <a:off x="1824" y="1041"/>
                <a:ext cx="96" cy="639"/>
              </a:xfrm>
              <a:prstGeom prst="rightBrace">
                <a:avLst>
                  <a:gd name="adj1" fmla="val 55469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61" name="AutoShape 37"/>
              <p:cNvSpPr/>
              <p:nvPr/>
            </p:nvSpPr>
            <p:spPr bwMode="auto">
              <a:xfrm>
                <a:off x="1824" y="1699"/>
                <a:ext cx="100" cy="329"/>
              </a:xfrm>
              <a:prstGeom prst="rightBrace">
                <a:avLst>
                  <a:gd name="adj1" fmla="val 27417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62" name="AutoShape 38"/>
              <p:cNvSpPr/>
              <p:nvPr/>
            </p:nvSpPr>
            <p:spPr bwMode="auto">
              <a:xfrm>
                <a:off x="1824" y="2501"/>
                <a:ext cx="100" cy="331"/>
              </a:xfrm>
              <a:prstGeom prst="rightBrace">
                <a:avLst>
                  <a:gd name="adj1" fmla="val 27583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63" name="Text Box 39"/>
              <p:cNvSpPr txBox="1">
                <a:spLocks noChangeArrowheads="1"/>
              </p:cNvSpPr>
              <p:nvPr/>
            </p:nvSpPr>
            <p:spPr bwMode="auto">
              <a:xfrm>
                <a:off x="1920" y="1284"/>
                <a:ext cx="91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字块 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64" name="Text Box 40"/>
              <p:cNvSpPr txBox="1">
                <a:spLocks noChangeArrowheads="1"/>
              </p:cNvSpPr>
              <p:nvPr/>
            </p:nvSpPr>
            <p:spPr bwMode="auto">
              <a:xfrm>
                <a:off x="1920" y="1728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字块 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65" name="Text Box 41"/>
              <p:cNvSpPr txBox="1">
                <a:spLocks noChangeArrowheads="1"/>
              </p:cNvSpPr>
              <p:nvPr/>
            </p:nvSpPr>
            <p:spPr bwMode="auto">
              <a:xfrm>
                <a:off x="1920" y="2568"/>
                <a:ext cx="90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字块  </a:t>
                </a:r>
                <a:r>
                  <a:rPr lang="en-US" altLang="zh-CN" sz="2000" i="1">
                    <a:latin typeface="Times New Roman" panose="02020603050405020304" pitchFamily="18" charset="0"/>
                  </a:rPr>
                  <a:t>M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－1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66" name="Rectangle 42"/>
              <p:cNvSpPr>
                <a:spLocks noChangeArrowheads="1"/>
              </p:cNvSpPr>
              <p:nvPr/>
            </p:nvSpPr>
            <p:spPr bwMode="auto">
              <a:xfrm>
                <a:off x="500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67" name="Text Box 43"/>
              <p:cNvSpPr txBox="1">
                <a:spLocks noChangeArrowheads="1"/>
              </p:cNvSpPr>
              <p:nvPr/>
            </p:nvSpPr>
            <p:spPr bwMode="auto">
              <a:xfrm>
                <a:off x="540" y="3377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0" lang="zh-CN" altLang="en-US" sz="2000">
                    <a:latin typeface="Times New Roman" panose="02020603050405020304" pitchFamily="18" charset="0"/>
                  </a:rPr>
                  <a:t>主存块号</a:t>
                </a:r>
                <a:endParaRPr kumimoji="0"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68" name="Text Box 44"/>
              <p:cNvSpPr txBox="1">
                <a:spLocks noChangeArrowheads="1"/>
              </p:cNvSpPr>
              <p:nvPr/>
            </p:nvSpPr>
            <p:spPr bwMode="auto">
              <a:xfrm>
                <a:off x="1404" y="337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0" lang="zh-CN" altLang="en-US" sz="2000">
                    <a:latin typeface="Times New Roman" panose="02020603050405020304" pitchFamily="18" charset="0"/>
                  </a:rPr>
                  <a:t>块内地址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69" name="Rectangle 45"/>
              <p:cNvSpPr>
                <a:spLocks noChangeArrowheads="1"/>
              </p:cNvSpPr>
              <p:nvPr/>
            </p:nvSpPr>
            <p:spPr bwMode="auto">
              <a:xfrm>
                <a:off x="1364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70" name="Freeform 46"/>
              <p:cNvSpPr/>
              <p:nvPr/>
            </p:nvSpPr>
            <p:spPr bwMode="auto">
              <a:xfrm>
                <a:off x="495" y="2832"/>
                <a:ext cx="1" cy="540"/>
              </a:xfrm>
              <a:custGeom>
                <a:avLst/>
                <a:gdLst>
                  <a:gd name="T0" fmla="*/ 0 w 1"/>
                  <a:gd name="T1" fmla="*/ 0 h 540"/>
                  <a:gd name="T2" fmla="*/ 0 w 1"/>
                  <a:gd name="T3" fmla="*/ 540 h 5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40">
                    <a:moveTo>
                      <a:pt x="0" y="0"/>
                    </a:moveTo>
                    <a:lnTo>
                      <a:pt x="0" y="54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71" name="Freeform 47"/>
              <p:cNvSpPr/>
              <p:nvPr/>
            </p:nvSpPr>
            <p:spPr bwMode="auto">
              <a:xfrm>
                <a:off x="2223" y="2832"/>
                <a:ext cx="1" cy="543"/>
              </a:xfrm>
              <a:custGeom>
                <a:avLst/>
                <a:gdLst>
                  <a:gd name="T0" fmla="*/ 0 w 1"/>
                  <a:gd name="T1" fmla="*/ 0 h 543"/>
                  <a:gd name="T2" fmla="*/ 0 w 1"/>
                  <a:gd name="T3" fmla="*/ 543 h 5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43">
                    <a:moveTo>
                      <a:pt x="0" y="0"/>
                    </a:moveTo>
                    <a:lnTo>
                      <a:pt x="0" y="54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72" name="Freeform 48"/>
              <p:cNvSpPr/>
              <p:nvPr/>
            </p:nvSpPr>
            <p:spPr bwMode="auto">
              <a:xfrm>
                <a:off x="1360" y="3088"/>
                <a:ext cx="1" cy="272"/>
              </a:xfrm>
              <a:custGeom>
                <a:avLst/>
                <a:gdLst>
                  <a:gd name="T0" fmla="*/ 0 w 1"/>
                  <a:gd name="T1" fmla="*/ 0 h 306"/>
                  <a:gd name="T2" fmla="*/ 0 w 1"/>
                  <a:gd name="T3" fmla="*/ 242 h 3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06">
                    <a:moveTo>
                      <a:pt x="0" y="0"/>
                    </a:moveTo>
                    <a:lnTo>
                      <a:pt x="0" y="30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73" name="Freeform 49"/>
              <p:cNvSpPr/>
              <p:nvPr/>
            </p:nvSpPr>
            <p:spPr bwMode="auto">
              <a:xfrm>
                <a:off x="504" y="3269"/>
                <a:ext cx="852" cy="1"/>
              </a:xfrm>
              <a:custGeom>
                <a:avLst/>
                <a:gdLst>
                  <a:gd name="T0" fmla="*/ 0 w 852"/>
                  <a:gd name="T1" fmla="*/ 0 h 1"/>
                  <a:gd name="T2" fmla="*/ 852 w 85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2" h="1">
                    <a:moveTo>
                      <a:pt x="0" y="0"/>
                    </a:moveTo>
                    <a:lnTo>
                      <a:pt x="85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74" name="Text Box 50"/>
              <p:cNvSpPr txBox="1">
                <a:spLocks noChangeArrowheads="1"/>
              </p:cNvSpPr>
              <p:nvPr/>
            </p:nvSpPr>
            <p:spPr bwMode="auto">
              <a:xfrm>
                <a:off x="742" y="3045"/>
                <a:ext cx="404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m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75" name="Freeform 51"/>
              <p:cNvSpPr/>
              <p:nvPr/>
            </p:nvSpPr>
            <p:spPr bwMode="auto">
              <a:xfrm>
                <a:off x="1362" y="3267"/>
                <a:ext cx="870" cy="3"/>
              </a:xfrm>
              <a:custGeom>
                <a:avLst/>
                <a:gdLst>
                  <a:gd name="T0" fmla="*/ 0 w 870"/>
                  <a:gd name="T1" fmla="*/ 3 h 3"/>
                  <a:gd name="T2" fmla="*/ 870 w 87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0" h="3">
                    <a:moveTo>
                      <a:pt x="0" y="3"/>
                    </a:moveTo>
                    <a:lnTo>
                      <a:pt x="87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76" name="Text Box 52"/>
              <p:cNvSpPr txBox="1">
                <a:spLocks noChangeArrowheads="1"/>
              </p:cNvSpPr>
              <p:nvPr/>
            </p:nvSpPr>
            <p:spPr bwMode="auto">
              <a:xfrm>
                <a:off x="1632" y="3045"/>
                <a:ext cx="360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77" name="Freeform 53"/>
              <p:cNvSpPr/>
              <p:nvPr/>
            </p:nvSpPr>
            <p:spPr bwMode="auto">
              <a:xfrm>
                <a:off x="501" y="3036"/>
                <a:ext cx="1707" cy="1"/>
              </a:xfrm>
              <a:custGeom>
                <a:avLst/>
                <a:gdLst>
                  <a:gd name="T0" fmla="*/ 0 w 1707"/>
                  <a:gd name="T1" fmla="*/ 0 h 1"/>
                  <a:gd name="T2" fmla="*/ 1707 w 170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07" h="1">
                    <a:moveTo>
                      <a:pt x="0" y="0"/>
                    </a:moveTo>
                    <a:lnTo>
                      <a:pt x="170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78" name="Text Box 54"/>
              <p:cNvSpPr txBox="1">
                <a:spLocks noChangeArrowheads="1"/>
              </p:cNvSpPr>
              <p:nvPr/>
            </p:nvSpPr>
            <p:spPr bwMode="auto">
              <a:xfrm>
                <a:off x="1152" y="2834"/>
                <a:ext cx="36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n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79" name="Text Box 55"/>
              <p:cNvSpPr txBox="1">
                <a:spLocks noChangeArrowheads="1"/>
              </p:cNvSpPr>
              <p:nvPr/>
            </p:nvSpPr>
            <p:spPr bwMode="auto">
              <a:xfrm>
                <a:off x="768" y="3638"/>
                <a:ext cx="422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M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80" name="Text Box 56"/>
              <p:cNvSpPr txBox="1">
                <a:spLocks noChangeArrowheads="1"/>
              </p:cNvSpPr>
              <p:nvPr/>
            </p:nvSpPr>
            <p:spPr bwMode="auto">
              <a:xfrm>
                <a:off x="1584" y="3648"/>
                <a:ext cx="550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个字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01386" name="Group 57"/>
            <p:cNvGrpSpPr/>
            <p:nvPr/>
          </p:nvGrpSpPr>
          <p:grpSpPr bwMode="auto">
            <a:xfrm>
              <a:off x="2850" y="806"/>
              <a:ext cx="2776" cy="3094"/>
              <a:chOff x="2850" y="806"/>
              <a:chExt cx="2776" cy="3094"/>
            </a:xfrm>
          </p:grpSpPr>
          <p:sp>
            <p:nvSpPr>
              <p:cNvPr id="101387" name="Rectangle 58"/>
              <p:cNvSpPr>
                <a:spLocks noChangeArrowheads="1"/>
              </p:cNvSpPr>
              <p:nvPr/>
            </p:nvSpPr>
            <p:spPr bwMode="auto">
              <a:xfrm>
                <a:off x="3456" y="3372"/>
                <a:ext cx="716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388" name="Text Box 59"/>
              <p:cNvSpPr txBox="1">
                <a:spLocks noChangeArrowheads="1"/>
              </p:cNvSpPr>
              <p:nvPr/>
            </p:nvSpPr>
            <p:spPr bwMode="auto">
              <a:xfrm>
                <a:off x="3436" y="3377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0" lang="zh-CN" altLang="en-US" sz="2000">
                    <a:latin typeface="Times New Roman" panose="02020603050405020304" pitchFamily="18" charset="0"/>
                  </a:rPr>
                  <a:t>缓存块号</a:t>
                </a:r>
                <a:endParaRPr kumimoji="0"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389" name="Text Box 60"/>
              <p:cNvSpPr txBox="1">
                <a:spLocks noChangeArrowheads="1"/>
              </p:cNvSpPr>
              <p:nvPr/>
            </p:nvSpPr>
            <p:spPr bwMode="auto">
              <a:xfrm>
                <a:off x="4232" y="337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0" lang="zh-CN" altLang="en-US" sz="2000">
                    <a:latin typeface="Times New Roman" panose="02020603050405020304" pitchFamily="18" charset="0"/>
                  </a:rPr>
                  <a:t>块内地址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390" name="Rectangle 61"/>
              <p:cNvSpPr>
                <a:spLocks noChangeArrowheads="1"/>
              </p:cNvSpPr>
              <p:nvPr/>
            </p:nvSpPr>
            <p:spPr bwMode="auto">
              <a:xfrm>
                <a:off x="4172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391" name="Freeform 62"/>
              <p:cNvSpPr/>
              <p:nvPr/>
            </p:nvSpPr>
            <p:spPr bwMode="auto">
              <a:xfrm>
                <a:off x="3455" y="3168"/>
                <a:ext cx="1" cy="227"/>
              </a:xfrm>
              <a:custGeom>
                <a:avLst/>
                <a:gdLst>
                  <a:gd name="T0" fmla="*/ 0 w 1"/>
                  <a:gd name="T1" fmla="*/ 0 h 540"/>
                  <a:gd name="T2" fmla="*/ 0 w 1"/>
                  <a:gd name="T3" fmla="*/ 95 h 5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40">
                    <a:moveTo>
                      <a:pt x="0" y="0"/>
                    </a:moveTo>
                    <a:lnTo>
                      <a:pt x="0" y="54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392" name="Freeform 63"/>
              <p:cNvSpPr/>
              <p:nvPr/>
            </p:nvSpPr>
            <p:spPr bwMode="auto">
              <a:xfrm>
                <a:off x="5031" y="3168"/>
                <a:ext cx="1" cy="227"/>
              </a:xfrm>
              <a:custGeom>
                <a:avLst/>
                <a:gdLst>
                  <a:gd name="T0" fmla="*/ 0 w 1"/>
                  <a:gd name="T1" fmla="*/ 0 h 543"/>
                  <a:gd name="T2" fmla="*/ 0 w 1"/>
                  <a:gd name="T3" fmla="*/ 95 h 5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43">
                    <a:moveTo>
                      <a:pt x="0" y="0"/>
                    </a:moveTo>
                    <a:lnTo>
                      <a:pt x="0" y="54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393" name="Freeform 64"/>
              <p:cNvSpPr/>
              <p:nvPr/>
            </p:nvSpPr>
            <p:spPr bwMode="auto">
              <a:xfrm>
                <a:off x="4169" y="3150"/>
                <a:ext cx="1" cy="227"/>
              </a:xfrm>
              <a:custGeom>
                <a:avLst/>
                <a:gdLst>
                  <a:gd name="T0" fmla="*/ 0 w 1"/>
                  <a:gd name="T1" fmla="*/ 0 h 306"/>
                  <a:gd name="T2" fmla="*/ 0 w 1"/>
                  <a:gd name="T3" fmla="*/ 168 h 3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06">
                    <a:moveTo>
                      <a:pt x="0" y="0"/>
                    </a:moveTo>
                    <a:lnTo>
                      <a:pt x="0" y="30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394" name="Freeform 65"/>
              <p:cNvSpPr/>
              <p:nvPr/>
            </p:nvSpPr>
            <p:spPr bwMode="auto">
              <a:xfrm>
                <a:off x="3451" y="3269"/>
                <a:ext cx="725" cy="1"/>
              </a:xfrm>
              <a:custGeom>
                <a:avLst/>
                <a:gdLst>
                  <a:gd name="T0" fmla="*/ 0 w 852"/>
                  <a:gd name="T1" fmla="*/ 0 h 1"/>
                  <a:gd name="T2" fmla="*/ 617 w 85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2" h="1">
                    <a:moveTo>
                      <a:pt x="0" y="0"/>
                    </a:moveTo>
                    <a:lnTo>
                      <a:pt x="85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395" name="Text Box 66"/>
              <p:cNvSpPr txBox="1">
                <a:spLocks noChangeArrowheads="1"/>
              </p:cNvSpPr>
              <p:nvPr/>
            </p:nvSpPr>
            <p:spPr bwMode="auto">
              <a:xfrm>
                <a:off x="3648" y="3045"/>
                <a:ext cx="34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c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396" name="Freeform 67"/>
              <p:cNvSpPr/>
              <p:nvPr/>
            </p:nvSpPr>
            <p:spPr bwMode="auto">
              <a:xfrm>
                <a:off x="4170" y="3267"/>
                <a:ext cx="870" cy="3"/>
              </a:xfrm>
              <a:custGeom>
                <a:avLst/>
                <a:gdLst>
                  <a:gd name="T0" fmla="*/ 0 w 870"/>
                  <a:gd name="T1" fmla="*/ 3 h 3"/>
                  <a:gd name="T2" fmla="*/ 870 w 87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0" h="3">
                    <a:moveTo>
                      <a:pt x="0" y="3"/>
                    </a:moveTo>
                    <a:lnTo>
                      <a:pt x="87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397" name="Text Box 68"/>
              <p:cNvSpPr txBox="1">
                <a:spLocks noChangeArrowheads="1"/>
              </p:cNvSpPr>
              <p:nvPr/>
            </p:nvSpPr>
            <p:spPr bwMode="auto">
              <a:xfrm>
                <a:off x="4434" y="3045"/>
                <a:ext cx="360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398" name="Text Box 69"/>
              <p:cNvSpPr txBox="1">
                <a:spLocks noChangeArrowheads="1"/>
              </p:cNvSpPr>
              <p:nvPr/>
            </p:nvSpPr>
            <p:spPr bwMode="auto">
              <a:xfrm>
                <a:off x="3576" y="3638"/>
                <a:ext cx="38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C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399" name="Text Box 70"/>
              <p:cNvSpPr txBox="1">
                <a:spLocks noChangeArrowheads="1"/>
              </p:cNvSpPr>
              <p:nvPr/>
            </p:nvSpPr>
            <p:spPr bwMode="auto">
              <a:xfrm>
                <a:off x="4392" y="3648"/>
                <a:ext cx="550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个字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00" name="Rectangle 71"/>
              <p:cNvSpPr>
                <a:spLocks noChangeArrowheads="1"/>
              </p:cNvSpPr>
              <p:nvPr/>
            </p:nvSpPr>
            <p:spPr bwMode="auto">
              <a:xfrm>
                <a:off x="3819" y="2092"/>
                <a:ext cx="816" cy="46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01" name="Rectangle 72"/>
              <p:cNvSpPr>
                <a:spLocks noChangeArrowheads="1"/>
              </p:cNvSpPr>
              <p:nvPr/>
            </p:nvSpPr>
            <p:spPr bwMode="auto">
              <a:xfrm>
                <a:off x="3819" y="1368"/>
                <a:ext cx="816" cy="3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02" name="Rectangle 73"/>
              <p:cNvSpPr>
                <a:spLocks noChangeArrowheads="1"/>
              </p:cNvSpPr>
              <p:nvPr/>
            </p:nvSpPr>
            <p:spPr bwMode="auto">
              <a:xfrm>
                <a:off x="3819" y="1208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03" name="Rectangle 74"/>
              <p:cNvSpPr>
                <a:spLocks noChangeArrowheads="1"/>
              </p:cNvSpPr>
              <p:nvPr/>
            </p:nvSpPr>
            <p:spPr bwMode="auto">
              <a:xfrm>
                <a:off x="3819" y="1048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04" name="Line 75"/>
              <p:cNvSpPr>
                <a:spLocks noChangeShapeType="1"/>
              </p:cNvSpPr>
              <p:nvPr/>
            </p:nvSpPr>
            <p:spPr bwMode="auto">
              <a:xfrm>
                <a:off x="3819" y="1048"/>
                <a:ext cx="81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05" name="Line 76"/>
              <p:cNvSpPr>
                <a:spLocks noChangeShapeType="1"/>
              </p:cNvSpPr>
              <p:nvPr/>
            </p:nvSpPr>
            <p:spPr bwMode="auto">
              <a:xfrm>
                <a:off x="3819" y="1208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06" name="Line 77"/>
              <p:cNvSpPr>
                <a:spLocks noChangeShapeType="1"/>
              </p:cNvSpPr>
              <p:nvPr/>
            </p:nvSpPr>
            <p:spPr bwMode="auto">
              <a:xfrm>
                <a:off x="3819" y="1368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07" name="Line 78"/>
              <p:cNvSpPr>
                <a:spLocks noChangeShapeType="1"/>
              </p:cNvSpPr>
              <p:nvPr/>
            </p:nvSpPr>
            <p:spPr bwMode="auto">
              <a:xfrm>
                <a:off x="3819" y="2019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08" name="Line 79"/>
              <p:cNvSpPr>
                <a:spLocks noChangeShapeType="1"/>
              </p:cNvSpPr>
              <p:nvPr/>
            </p:nvSpPr>
            <p:spPr bwMode="auto">
              <a:xfrm>
                <a:off x="3819" y="1048"/>
                <a:ext cx="0" cy="1185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09" name="Line 80"/>
              <p:cNvSpPr>
                <a:spLocks noChangeShapeType="1"/>
              </p:cNvSpPr>
              <p:nvPr/>
            </p:nvSpPr>
            <p:spPr bwMode="auto">
              <a:xfrm>
                <a:off x="4635" y="1048"/>
                <a:ext cx="0" cy="1185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01410" name="Group 81"/>
              <p:cNvGrpSpPr/>
              <p:nvPr/>
            </p:nvGrpSpPr>
            <p:grpSpPr bwMode="auto">
              <a:xfrm>
                <a:off x="4513" y="2064"/>
                <a:ext cx="266" cy="462"/>
                <a:chOff x="1654" y="2592"/>
                <a:chExt cx="266" cy="610"/>
              </a:xfrm>
            </p:grpSpPr>
            <p:sp>
              <p:nvSpPr>
                <p:cNvPr id="101434" name="Text Box 82"/>
                <p:cNvSpPr txBox="1">
                  <a:spLocks noChangeArrowheads="1"/>
                </p:cNvSpPr>
                <p:nvPr/>
              </p:nvSpPr>
              <p:spPr bwMode="auto">
                <a:xfrm>
                  <a:off x="1654" y="2592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01435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01411" name="Group 84"/>
              <p:cNvGrpSpPr/>
              <p:nvPr/>
            </p:nvGrpSpPr>
            <p:grpSpPr bwMode="auto">
              <a:xfrm>
                <a:off x="3675" y="2064"/>
                <a:ext cx="266" cy="462"/>
                <a:chOff x="1654" y="2592"/>
                <a:chExt cx="266" cy="610"/>
              </a:xfrm>
            </p:grpSpPr>
            <p:sp>
              <p:nvSpPr>
                <p:cNvPr id="101432" name="Text Box 85"/>
                <p:cNvSpPr txBox="1">
                  <a:spLocks noChangeArrowheads="1"/>
                </p:cNvSpPr>
                <p:nvPr/>
              </p:nvSpPr>
              <p:spPr bwMode="auto">
                <a:xfrm>
                  <a:off x="1654" y="2592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01433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  <a:endParaRPr lang="zh-CN" altLang="en-US" sz="36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1412" name="Text Box 87"/>
              <p:cNvSpPr txBox="1">
                <a:spLocks noChangeArrowheads="1"/>
              </p:cNvSpPr>
              <p:nvPr/>
            </p:nvSpPr>
            <p:spPr bwMode="auto">
              <a:xfrm>
                <a:off x="4103" y="1418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13" name="Text Box 88"/>
              <p:cNvSpPr txBox="1">
                <a:spLocks noChangeArrowheads="1"/>
              </p:cNvSpPr>
              <p:nvPr/>
            </p:nvSpPr>
            <p:spPr bwMode="auto">
              <a:xfrm>
                <a:off x="4103" y="1728"/>
                <a:ext cx="427" cy="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14" name="AutoShape 89"/>
              <p:cNvSpPr/>
              <p:nvPr/>
            </p:nvSpPr>
            <p:spPr bwMode="auto">
              <a:xfrm>
                <a:off x="4683" y="1048"/>
                <a:ext cx="95" cy="636"/>
              </a:xfrm>
              <a:prstGeom prst="rightBrace">
                <a:avLst>
                  <a:gd name="adj1" fmla="val 55789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15" name="AutoShape 90"/>
              <p:cNvSpPr/>
              <p:nvPr/>
            </p:nvSpPr>
            <p:spPr bwMode="auto">
              <a:xfrm>
                <a:off x="4683" y="1703"/>
                <a:ext cx="100" cy="328"/>
              </a:xfrm>
              <a:prstGeom prst="rightBrace">
                <a:avLst>
                  <a:gd name="adj1" fmla="val 27333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16" name="AutoShape 91"/>
              <p:cNvSpPr/>
              <p:nvPr/>
            </p:nvSpPr>
            <p:spPr bwMode="auto">
              <a:xfrm>
                <a:off x="4683" y="2502"/>
                <a:ext cx="100" cy="330"/>
              </a:xfrm>
              <a:prstGeom prst="rightBrace">
                <a:avLst>
                  <a:gd name="adj1" fmla="val 27500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17" name="Text Box 92"/>
              <p:cNvSpPr txBox="1">
                <a:spLocks noChangeArrowheads="1"/>
              </p:cNvSpPr>
              <p:nvPr/>
            </p:nvSpPr>
            <p:spPr bwMode="auto">
              <a:xfrm>
                <a:off x="4752" y="1290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字块 0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18" name="Text Box 93"/>
              <p:cNvSpPr txBox="1">
                <a:spLocks noChangeArrowheads="1"/>
              </p:cNvSpPr>
              <p:nvPr/>
            </p:nvSpPr>
            <p:spPr bwMode="auto">
              <a:xfrm>
                <a:off x="4752" y="1776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字块 1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19" name="Text Box 94"/>
              <p:cNvSpPr txBox="1">
                <a:spLocks noChangeArrowheads="1"/>
              </p:cNvSpPr>
              <p:nvPr/>
            </p:nvSpPr>
            <p:spPr bwMode="auto">
              <a:xfrm>
                <a:off x="4752" y="2570"/>
                <a:ext cx="874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字块  </a:t>
                </a:r>
                <a:r>
                  <a:rPr lang="en-US" altLang="zh-CN" sz="2000" i="1"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－1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0" name="Rectangle 95"/>
              <p:cNvSpPr>
                <a:spLocks noChangeArrowheads="1"/>
              </p:cNvSpPr>
              <p:nvPr/>
            </p:nvSpPr>
            <p:spPr bwMode="auto">
              <a:xfrm>
                <a:off x="3387" y="1048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21" name="Rectangle 96"/>
              <p:cNvSpPr>
                <a:spLocks noChangeArrowheads="1"/>
              </p:cNvSpPr>
              <p:nvPr/>
            </p:nvSpPr>
            <p:spPr bwMode="auto">
              <a:xfrm>
                <a:off x="3387" y="1694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22" name="Rectangle 97"/>
              <p:cNvSpPr>
                <a:spLocks noChangeArrowheads="1"/>
              </p:cNvSpPr>
              <p:nvPr/>
            </p:nvSpPr>
            <p:spPr bwMode="auto">
              <a:xfrm>
                <a:off x="3408" y="2487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</a:pPr>
                <a:endParaRPr lang="zh-CN" altLang="en-US"/>
              </a:p>
            </p:txBody>
          </p:sp>
          <p:sp>
            <p:nvSpPr>
              <p:cNvPr id="101423" name="Text Box 98"/>
              <p:cNvSpPr txBox="1">
                <a:spLocks noChangeArrowheads="1"/>
              </p:cNvSpPr>
              <p:nvPr/>
            </p:nvSpPr>
            <p:spPr bwMode="auto">
              <a:xfrm>
                <a:off x="3196" y="995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4" name="Text Box 99"/>
              <p:cNvSpPr txBox="1">
                <a:spLocks noChangeArrowheads="1"/>
              </p:cNvSpPr>
              <p:nvPr/>
            </p:nvSpPr>
            <p:spPr bwMode="auto">
              <a:xfrm>
                <a:off x="3196" y="165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5" name="Text Box 100"/>
              <p:cNvSpPr txBox="1">
                <a:spLocks noChangeArrowheads="1"/>
              </p:cNvSpPr>
              <p:nvPr/>
            </p:nvSpPr>
            <p:spPr bwMode="auto">
              <a:xfrm>
                <a:off x="2850" y="2400"/>
                <a:ext cx="55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400">
                    <a:latin typeface="Times New Roman" panose="02020603050405020304" pitchFamily="18" charset="0"/>
                  </a:rPr>
                  <a:t>2</a:t>
                </a:r>
                <a:r>
                  <a:rPr lang="en-US" altLang="zh-CN" sz="2400" i="1" baseline="48000"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－1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6" name="Text Box 101"/>
              <p:cNvSpPr txBox="1">
                <a:spLocks noChangeArrowheads="1"/>
              </p:cNvSpPr>
              <p:nvPr/>
            </p:nvSpPr>
            <p:spPr bwMode="auto">
              <a:xfrm>
                <a:off x="3354" y="806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标记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7" name="Text Box 102"/>
              <p:cNvSpPr txBox="1">
                <a:spLocks noChangeArrowheads="1"/>
              </p:cNvSpPr>
              <p:nvPr/>
            </p:nvSpPr>
            <p:spPr bwMode="auto">
              <a:xfrm>
                <a:off x="3884" y="806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000">
                    <a:latin typeface="Times New Roman" panose="02020603050405020304" pitchFamily="18" charset="0"/>
                  </a:rPr>
                  <a:t>Cache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8" name="Text Box 103"/>
              <p:cNvSpPr txBox="1">
                <a:spLocks noChangeArrowheads="1"/>
              </p:cNvSpPr>
              <p:nvPr/>
            </p:nvSpPr>
            <p:spPr bwMode="auto">
              <a:xfrm>
                <a:off x="4752" y="806"/>
                <a:ext cx="76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缓存块号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29" name="Rectangle 104"/>
              <p:cNvSpPr>
                <a:spLocks noChangeArrowheads="1"/>
              </p:cNvSpPr>
              <p:nvPr/>
            </p:nvSpPr>
            <p:spPr bwMode="auto">
              <a:xfrm>
                <a:off x="3837" y="2482"/>
                <a:ext cx="816" cy="34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28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1430" name="Freeform 105"/>
              <p:cNvSpPr/>
              <p:nvPr/>
            </p:nvSpPr>
            <p:spPr bwMode="auto">
              <a:xfrm>
                <a:off x="3837" y="2409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1 w 1"/>
                  <a:gd name="T3" fmla="*/ 303 h 3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03">
                    <a:moveTo>
                      <a:pt x="0" y="0"/>
                    </a:moveTo>
                    <a:lnTo>
                      <a:pt x="1" y="303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01431" name="Freeform 106"/>
              <p:cNvSpPr/>
              <p:nvPr/>
            </p:nvSpPr>
            <p:spPr bwMode="auto">
              <a:xfrm>
                <a:off x="4653" y="2400"/>
                <a:ext cx="1" cy="317"/>
              </a:xfrm>
              <a:custGeom>
                <a:avLst/>
                <a:gdLst>
                  <a:gd name="T0" fmla="*/ 0 w 1"/>
                  <a:gd name="T1" fmla="*/ 0 h 317"/>
                  <a:gd name="T2" fmla="*/ 0 w 1"/>
                  <a:gd name="T3" fmla="*/ 317 h 3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17">
                    <a:moveTo>
                      <a:pt x="0" y="0"/>
                    </a:moveTo>
                    <a:lnTo>
                      <a:pt x="0" y="317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4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4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84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75" grpId="0" autoUpdateAnimBg="0"/>
      <p:bldP spid="284676" grpId="0" autoUpdateAnimBg="0"/>
      <p:bldP spid="284677" grpId="0" autoUpdateAnimBg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Text Box 2"/>
          <p:cNvSpPr txBox="1">
            <a:spLocks noChangeArrowheads="1"/>
          </p:cNvSpPr>
          <p:nvPr/>
        </p:nvSpPr>
        <p:spPr bwMode="auto">
          <a:xfrm>
            <a:off x="479376" y="180184"/>
            <a:ext cx="4724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(2) 命中与未命中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grpSp>
        <p:nvGrpSpPr>
          <p:cNvPr id="285699" name="Group 3"/>
          <p:cNvGrpSpPr/>
          <p:nvPr/>
        </p:nvGrpSpPr>
        <p:grpSpPr bwMode="auto">
          <a:xfrm>
            <a:off x="2121173" y="1013820"/>
            <a:ext cx="2463800" cy="1063625"/>
            <a:chOff x="998" y="750"/>
            <a:chExt cx="1552" cy="670"/>
          </a:xfrm>
        </p:grpSpPr>
        <p:sp>
          <p:nvSpPr>
            <p:cNvPr id="102415" name="Text Box 4"/>
            <p:cNvSpPr txBox="1">
              <a:spLocks noChangeArrowheads="1"/>
            </p:cNvSpPr>
            <p:nvPr/>
          </p:nvSpPr>
          <p:spPr bwMode="auto">
            <a:xfrm>
              <a:off x="998" y="750"/>
              <a:ext cx="150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缓存共有 </a:t>
              </a:r>
              <a:r>
                <a:rPr lang="en-US" altLang="zh-CN" sz="2800" i="1">
                  <a:latin typeface="Times New Roman" panose="02020603050405020304" pitchFamily="18" charset="0"/>
                </a:rPr>
                <a:t>C</a:t>
              </a:r>
              <a:r>
                <a:rPr lang="en-US" altLang="zh-CN" sz="2800">
                  <a:latin typeface="Times New Roman" panose="02020603050405020304" pitchFamily="18" charset="0"/>
                </a:rPr>
                <a:t> </a:t>
              </a:r>
              <a:r>
                <a:rPr lang="zh-CN" altLang="en-US" sz="2800">
                  <a:latin typeface="Times New Roman" panose="02020603050405020304" pitchFamily="18" charset="0"/>
                </a:rPr>
                <a:t>块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2416" name="Text Box 5"/>
            <p:cNvSpPr txBox="1">
              <a:spLocks noChangeArrowheads="1"/>
            </p:cNvSpPr>
            <p:nvPr/>
          </p:nvSpPr>
          <p:spPr bwMode="auto">
            <a:xfrm>
              <a:off x="998" y="1093"/>
              <a:ext cx="15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 dirty="0">
                  <a:latin typeface="Times New Roman" panose="02020603050405020304" pitchFamily="18" charset="0"/>
                </a:rPr>
                <a:t>主存共有 </a:t>
              </a:r>
              <a:r>
                <a:rPr lang="en-US" altLang="zh-CN" sz="2800" i="1" dirty="0">
                  <a:latin typeface="Times New Roman" panose="02020603050405020304" pitchFamily="18" charset="0"/>
                </a:rPr>
                <a:t>M</a:t>
              </a:r>
              <a:r>
                <a:rPr lang="en-US" altLang="zh-CN" sz="2800" dirty="0">
                  <a:latin typeface="Times New Roman" panose="02020603050405020304" pitchFamily="18" charset="0"/>
                </a:rPr>
                <a:t> </a:t>
              </a:r>
              <a:r>
                <a:rPr lang="zh-CN" altLang="en-US" sz="2800" dirty="0">
                  <a:latin typeface="Times New Roman" panose="02020603050405020304" pitchFamily="18" charset="0"/>
                </a:rPr>
                <a:t>块</a:t>
              </a:r>
              <a:endParaRPr lang="zh-CN" altLang="en-US" sz="2800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285702" name="Text Box 6"/>
          <p:cNvSpPr txBox="1">
            <a:spLocks noChangeArrowheads="1"/>
          </p:cNvSpPr>
          <p:nvPr/>
        </p:nvSpPr>
        <p:spPr bwMode="auto">
          <a:xfrm>
            <a:off x="4727848" y="1590082"/>
            <a:ext cx="13208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latin typeface="Times New Roman" panose="02020603050405020304" pitchFamily="18" charset="0"/>
              </a:rPr>
              <a:t>M</a:t>
            </a:r>
            <a:r>
              <a:rPr lang="en-US" altLang="zh-CN" sz="2800">
                <a:latin typeface="Times New Roman" panose="02020603050405020304" pitchFamily="18" charset="0"/>
              </a:rPr>
              <a:t> &gt;&gt; </a:t>
            </a:r>
            <a:r>
              <a:rPr lang="en-US" altLang="zh-CN" sz="2800" i="1">
                <a:latin typeface="Times New Roman" panose="02020603050405020304" pitchFamily="18" charset="0"/>
              </a:rPr>
              <a:t>C</a:t>
            </a:r>
            <a:endParaRPr lang="en-US" altLang="zh-CN" sz="2800" i="1">
              <a:latin typeface="Times New Roman" panose="02020603050405020304" pitchFamily="18" charset="0"/>
            </a:endParaRPr>
          </a:p>
        </p:txBody>
      </p:sp>
      <p:sp>
        <p:nvSpPr>
          <p:cNvPr id="285703" name="Text Box 7"/>
          <p:cNvSpPr txBox="1">
            <a:spLocks noChangeArrowheads="1"/>
          </p:cNvSpPr>
          <p:nvPr/>
        </p:nvSpPr>
        <p:spPr bwMode="auto">
          <a:xfrm>
            <a:off x="3886200" y="2581276"/>
            <a:ext cx="3505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主存块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调入 </a:t>
            </a:r>
            <a:r>
              <a:rPr lang="zh-CN" altLang="en-US" sz="2800">
                <a:latin typeface="Times New Roman" panose="02020603050405020304" pitchFamily="18" charset="0"/>
              </a:rPr>
              <a:t>缓存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5704" name="Text Box 8"/>
          <p:cNvSpPr txBox="1">
            <a:spLocks noChangeArrowheads="1"/>
          </p:cNvSpPr>
          <p:nvPr/>
        </p:nvSpPr>
        <p:spPr bwMode="auto">
          <a:xfrm>
            <a:off x="3886200" y="3297238"/>
            <a:ext cx="5867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主存块与缓存块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建立 </a:t>
            </a:r>
            <a:r>
              <a:rPr lang="zh-CN" altLang="en-US" sz="2800">
                <a:latin typeface="Times New Roman" panose="02020603050405020304" pitchFamily="18" charset="0"/>
              </a:rPr>
              <a:t>了对应关系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285706" name="Group 10"/>
          <p:cNvGrpSpPr/>
          <p:nvPr/>
        </p:nvGrpSpPr>
        <p:grpSpPr bwMode="auto">
          <a:xfrm>
            <a:off x="2346325" y="2506664"/>
            <a:ext cx="1271588" cy="2879725"/>
            <a:chOff x="518" y="1579"/>
            <a:chExt cx="801" cy="1814"/>
          </a:xfrm>
        </p:grpSpPr>
        <p:sp>
          <p:nvSpPr>
            <p:cNvPr id="102413" name="Text Box 11"/>
            <p:cNvSpPr txBox="1">
              <a:spLocks noChangeArrowheads="1"/>
            </p:cNvSpPr>
            <p:nvPr/>
          </p:nvSpPr>
          <p:spPr bwMode="auto">
            <a:xfrm>
              <a:off x="518" y="1579"/>
              <a:ext cx="73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 dirty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命中</a:t>
              </a:r>
              <a:endPara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414" name="Text Box 12"/>
            <p:cNvSpPr txBox="1">
              <a:spLocks noChangeArrowheads="1"/>
            </p:cNvSpPr>
            <p:nvPr/>
          </p:nvSpPr>
          <p:spPr bwMode="auto">
            <a:xfrm>
              <a:off x="528" y="3066"/>
              <a:ext cx="79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未命中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85709" name="Text Box 13"/>
          <p:cNvSpPr txBox="1">
            <a:spLocks noChangeArrowheads="1"/>
          </p:cNvSpPr>
          <p:nvPr/>
        </p:nvSpPr>
        <p:spPr bwMode="auto">
          <a:xfrm>
            <a:off x="3902076" y="5584826"/>
            <a:ext cx="60801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主存块与缓存块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未建立 </a:t>
            </a:r>
            <a:r>
              <a:rPr lang="zh-CN" altLang="en-US" sz="2800">
                <a:latin typeface="Times New Roman" panose="02020603050405020304" pitchFamily="18" charset="0"/>
              </a:rPr>
              <a:t>对应关系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5710" name="Text Box 14"/>
          <p:cNvSpPr txBox="1">
            <a:spLocks noChangeArrowheads="1"/>
          </p:cNvSpPr>
          <p:nvPr/>
        </p:nvSpPr>
        <p:spPr bwMode="auto">
          <a:xfrm>
            <a:off x="3902076" y="4889501"/>
            <a:ext cx="40227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主存块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未调入 </a:t>
            </a:r>
            <a:r>
              <a:rPr lang="zh-CN" altLang="en-US" sz="2800">
                <a:latin typeface="Times New Roman" panose="02020603050405020304" pitchFamily="18" charset="0"/>
              </a:rPr>
              <a:t>缓存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5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5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5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5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5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5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85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702" grpId="0" autoUpdateAnimBg="0"/>
      <p:bldP spid="285703" grpId="0" autoUpdateAnimBg="0"/>
      <p:bldP spid="285704" grpId="0" autoUpdateAnimBg="0"/>
      <p:bldP spid="285709" grpId="0" autoUpdateAnimBg="0"/>
      <p:bldP spid="285710" grpId="0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2"/>
          <p:cNvSpPr txBox="1">
            <a:spLocks noChangeArrowheads="1"/>
          </p:cNvSpPr>
          <p:nvPr/>
        </p:nvSpPr>
        <p:spPr bwMode="auto">
          <a:xfrm>
            <a:off x="911424" y="152400"/>
            <a:ext cx="4800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(3) </a:t>
            </a:r>
            <a:r>
              <a:rPr lang="en-US" altLang="zh-CN" sz="3600" dirty="0">
                <a:latin typeface="Times New Roman" panose="02020603050405020304" pitchFamily="18" charset="0"/>
              </a:rPr>
              <a:t>Cache </a:t>
            </a:r>
            <a:r>
              <a:rPr lang="zh-CN" altLang="en-US" sz="3600" dirty="0">
                <a:latin typeface="Times New Roman" panose="02020603050405020304" pitchFamily="18" charset="0"/>
              </a:rPr>
              <a:t>的命中率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86723" name="Text Box 3"/>
          <p:cNvSpPr txBox="1">
            <a:spLocks noChangeArrowheads="1"/>
          </p:cNvSpPr>
          <p:nvPr/>
        </p:nvSpPr>
        <p:spPr bwMode="auto">
          <a:xfrm>
            <a:off x="2073307" y="1254100"/>
            <a:ext cx="67976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latin typeface="Times New Roman" panose="02020603050405020304" pitchFamily="18" charset="0"/>
              </a:rPr>
              <a:t>CPU </a:t>
            </a:r>
            <a:r>
              <a:rPr lang="zh-CN" altLang="en-US" sz="2800">
                <a:latin typeface="Times New Roman" panose="02020603050405020304" pitchFamily="18" charset="0"/>
              </a:rPr>
              <a:t>欲访问的信息在 </a:t>
            </a: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zh-CN" altLang="en-US" sz="2800">
                <a:latin typeface="Times New Roman" panose="02020603050405020304" pitchFamily="18" charset="0"/>
              </a:rPr>
              <a:t>中的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比率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86725" name="Text Box 5"/>
          <p:cNvSpPr txBox="1">
            <a:spLocks noChangeArrowheads="1"/>
          </p:cNvSpPr>
          <p:nvPr/>
        </p:nvSpPr>
        <p:spPr bwMode="auto">
          <a:xfrm>
            <a:off x="2073307" y="2131206"/>
            <a:ext cx="3937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一般每块可取 4 </a:t>
            </a:r>
            <a:r>
              <a:rPr lang="en-US" altLang="zh-CN" sz="2800">
                <a:latin typeface="Times New Roman" panose="02020603050405020304" pitchFamily="18" charset="0"/>
              </a:rPr>
              <a:t>~ 8 </a:t>
            </a:r>
            <a:r>
              <a:rPr lang="zh-CN" altLang="en-US" sz="2800">
                <a:latin typeface="Times New Roman" panose="02020603050405020304" pitchFamily="18" charset="0"/>
              </a:rPr>
              <a:t>个字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6726" name="Text Box 6"/>
          <p:cNvSpPr txBox="1">
            <a:spLocks noChangeArrowheads="1"/>
          </p:cNvSpPr>
          <p:nvPr/>
        </p:nvSpPr>
        <p:spPr bwMode="auto">
          <a:xfrm>
            <a:off x="2073307" y="3212268"/>
            <a:ext cx="78120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块长取一个存取周期内从主存调出的信息长度</a:t>
            </a:r>
            <a:endParaRPr lang="zh-CN" altLang="en-US" sz="2800" dirty="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86727" name="Text Box 7"/>
          <p:cNvSpPr txBox="1">
            <a:spLocks noChangeArrowheads="1"/>
          </p:cNvSpPr>
          <p:nvPr/>
        </p:nvSpPr>
        <p:spPr bwMode="auto">
          <a:xfrm>
            <a:off x="2203481" y="4089374"/>
            <a:ext cx="7551737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latin typeface="Times New Roman" panose="02020603050405020304" pitchFamily="18" charset="0"/>
              </a:rPr>
              <a:t>  CRAY_1     16</a:t>
            </a:r>
            <a:r>
              <a:rPr lang="zh-CN" altLang="en-US" sz="2800">
                <a:latin typeface="Times New Roman" panose="02020603050405020304" pitchFamily="18" charset="0"/>
              </a:rPr>
              <a:t>体交叉      块长取 16 个存储字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6728" name="Text Box 8"/>
          <p:cNvSpPr txBox="1">
            <a:spLocks noChangeArrowheads="1"/>
          </p:cNvSpPr>
          <p:nvPr/>
        </p:nvSpPr>
        <p:spPr bwMode="auto">
          <a:xfrm>
            <a:off x="1638331" y="4710087"/>
            <a:ext cx="81168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en-US" altLang="zh-CN" sz="900">
                <a:latin typeface="Times New Roman" panose="02020603050405020304" pitchFamily="18" charset="0"/>
              </a:rPr>
              <a:t>  </a:t>
            </a:r>
            <a:r>
              <a:rPr lang="en-US" altLang="zh-CN" sz="2800">
                <a:latin typeface="Times New Roman" panose="02020603050405020304" pitchFamily="18" charset="0"/>
              </a:rPr>
              <a:t>IBM 370/168       4</a:t>
            </a:r>
            <a:r>
              <a:rPr lang="zh-CN" altLang="en-US" sz="2800">
                <a:latin typeface="Times New Roman" panose="02020603050405020304" pitchFamily="18" charset="0"/>
              </a:rPr>
              <a:t>体交叉     </a:t>
            </a:r>
            <a:r>
              <a:rPr lang="zh-CN" altLang="en-US" sz="1400">
                <a:latin typeface="Times New Roman" panose="02020603050405020304" pitchFamily="18" charset="0"/>
              </a:rPr>
              <a:t> </a:t>
            </a:r>
            <a:r>
              <a:rPr lang="zh-CN" altLang="en-US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块长取   4 个存储字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6729" name="Text Box 9"/>
          <p:cNvSpPr txBox="1">
            <a:spLocks noChangeArrowheads="1"/>
          </p:cNvSpPr>
          <p:nvPr/>
        </p:nvSpPr>
        <p:spPr bwMode="auto">
          <a:xfrm>
            <a:off x="6370667" y="5308574"/>
            <a:ext cx="33797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（64位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2800">
                <a:latin typeface="Times New Roman" panose="02020603050405020304" pitchFamily="18" charset="0"/>
              </a:rPr>
              <a:t>4</a:t>
            </a:r>
            <a:r>
              <a:rPr lang="zh-CN" altLang="en-US" sz="1400">
                <a:latin typeface="Times New Roman" panose="02020603050405020304" pitchFamily="18" charset="0"/>
              </a:rPr>
              <a:t> </a:t>
            </a:r>
            <a:r>
              <a:rPr lang="zh-CN" altLang="en-US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=</a:t>
            </a:r>
            <a:r>
              <a:rPr lang="zh-CN" altLang="en-US">
                <a:latin typeface="Times New Roman" panose="02020603050405020304" pitchFamily="18" charset="0"/>
              </a:rPr>
              <a:t> </a:t>
            </a:r>
            <a:r>
              <a:rPr lang="zh-CN" altLang="en-US" sz="14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256位）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6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6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6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6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6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6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23" grpId="0" autoUpdateAnimBg="0"/>
      <p:bldP spid="286725" grpId="0" autoUpdateAnimBg="0"/>
      <p:bldP spid="286726" grpId="0" autoUpdateAnimBg="0"/>
      <p:bldP spid="286727" grpId="0" autoUpdateAnimBg="0"/>
      <p:bldP spid="286728" grpId="0" autoUpdateAnimBg="0"/>
      <p:bldP spid="286729" grpId="0" autoUpdateAnimBg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2"/>
          <p:cNvSpPr txBox="1">
            <a:spLocks noChangeArrowheads="1"/>
          </p:cNvSpPr>
          <p:nvPr/>
        </p:nvSpPr>
        <p:spPr bwMode="auto">
          <a:xfrm>
            <a:off x="911424" y="153988"/>
            <a:ext cx="65547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(</a:t>
            </a:r>
            <a:r>
              <a:rPr lang="en-US" altLang="zh-CN" sz="3600" dirty="0">
                <a:latin typeface="Times New Roman" panose="02020603050405020304" pitchFamily="18" charset="0"/>
              </a:rPr>
              <a:t>4) Cache </a:t>
            </a:r>
            <a:r>
              <a:rPr lang="en-US" altLang="zh-CN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lang="zh-CN" altLang="en-US" sz="3600" dirty="0">
                <a:latin typeface="Times New Roman" panose="02020603050405020304" pitchFamily="18" charset="0"/>
              </a:rPr>
              <a:t>主存系统的效率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87747" name="Text Box 3"/>
          <p:cNvSpPr txBox="1">
            <a:spLocks noChangeArrowheads="1"/>
          </p:cNvSpPr>
          <p:nvPr/>
        </p:nvSpPr>
        <p:spPr bwMode="auto">
          <a:xfrm>
            <a:off x="1677417" y="3730154"/>
            <a:ext cx="679767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效率 </a:t>
            </a:r>
            <a:r>
              <a:rPr lang="en-US" altLang="zh-CN" sz="2800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 </a:t>
            </a: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748" name="Text Box 4"/>
          <p:cNvSpPr txBox="1">
            <a:spLocks noChangeArrowheads="1"/>
          </p:cNvSpPr>
          <p:nvPr/>
        </p:nvSpPr>
        <p:spPr bwMode="auto">
          <a:xfrm>
            <a:off x="1342713" y="1734779"/>
            <a:ext cx="10585176" cy="896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</a:rPr>
              <a:t>访问 </a:t>
            </a:r>
            <a:r>
              <a:rPr lang="en-US" altLang="en-US" sz="2800" dirty="0">
                <a:latin typeface="Times New Roman" panose="02020603050405020304" pitchFamily="18" charset="0"/>
              </a:rPr>
              <a:t>Cache</a:t>
            </a:r>
            <a:r>
              <a:rPr lang="en-US" altLang="zh-CN" sz="2800" dirty="0">
                <a:latin typeface="Times New Roman" panose="02020603050405020304" pitchFamily="18" charset="0"/>
              </a:rPr>
              <a:t> </a:t>
            </a:r>
            <a:r>
              <a:rPr lang="zh-CN" altLang="en-US" sz="2800" dirty="0">
                <a:latin typeface="Times New Roman" panose="02020603050405020304" pitchFamily="18" charset="0"/>
              </a:rPr>
              <a:t>的时间为 </a:t>
            </a:r>
            <a:r>
              <a:rPr lang="en-US" altLang="zh-CN" sz="2800" i="1" dirty="0" err="1">
                <a:latin typeface="Times New Roman" panose="02020603050405020304" pitchFamily="18" charset="0"/>
              </a:rPr>
              <a:t>t</a:t>
            </a:r>
            <a:r>
              <a:rPr lang="en-US" altLang="zh-CN" sz="2800" i="1" baseline="-25000" dirty="0" err="1">
                <a:latin typeface="Times New Roman" panose="02020603050405020304" pitchFamily="18" charset="0"/>
              </a:rPr>
              <a:t>c</a:t>
            </a:r>
            <a:r>
              <a:rPr lang="en-US" altLang="zh-CN" sz="900" i="1" baseline="-25000" dirty="0">
                <a:latin typeface="Times New Roman" panose="02020603050405020304" pitchFamily="18" charset="0"/>
              </a:rPr>
              <a:t>  </a:t>
            </a:r>
            <a:r>
              <a:rPr lang="zh-CN" altLang="en-US" sz="2800" i="1" dirty="0">
                <a:latin typeface="Times New Roman" panose="02020603050405020304" pitchFamily="18" charset="0"/>
              </a:rPr>
              <a:t>，</a:t>
            </a:r>
            <a:r>
              <a:rPr lang="en-US" altLang="zh-CN" sz="2800" dirty="0" err="1">
                <a:latin typeface="Times New Roman" panose="02020603050405020304" pitchFamily="18" charset="0"/>
              </a:rPr>
              <a:t>访问</a:t>
            </a:r>
            <a:r>
              <a:rPr lang="en-US" altLang="zh-CN" sz="2800" dirty="0">
                <a:latin typeface="Times New Roman" panose="02020603050405020304" pitchFamily="18" charset="0"/>
              </a:rPr>
              <a:t> </a:t>
            </a: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主存</a:t>
            </a:r>
            <a:r>
              <a:rPr lang="zh-CN" altLang="en-US" sz="2800" dirty="0">
                <a:latin typeface="Times New Roman" panose="02020603050405020304" pitchFamily="18" charset="0"/>
              </a:rPr>
              <a:t> 的时间为 </a:t>
            </a:r>
            <a:r>
              <a:rPr lang="en-US" altLang="zh-CN" sz="2800" i="1" dirty="0">
                <a:latin typeface="Times New Roman" panose="02020603050405020304" pitchFamily="18" charset="0"/>
              </a:rPr>
              <a:t>t</a:t>
            </a:r>
            <a:r>
              <a:rPr lang="en-US" altLang="zh-CN" sz="2800" i="1" baseline="-25000" dirty="0">
                <a:latin typeface="Times New Roman" panose="02020603050405020304" pitchFamily="18" charset="0"/>
              </a:rPr>
              <a:t>m</a:t>
            </a:r>
            <a:endParaRPr lang="en-US" altLang="zh-CN" sz="2400" i="1" dirty="0">
              <a:latin typeface="Times New Roman" panose="02020603050405020304" pitchFamily="18" charset="0"/>
            </a:endParaRPr>
          </a:p>
          <a:p>
            <a:pPr eaLnBrk="1" hangingPunct="1"/>
            <a:endParaRPr lang="en-US" altLang="zh-CN" sz="2800" i="1" baseline="-25000" dirty="0">
              <a:latin typeface="Times New Roman" panose="02020603050405020304" pitchFamily="18" charset="0"/>
            </a:endParaRPr>
          </a:p>
        </p:txBody>
      </p:sp>
      <p:grpSp>
        <p:nvGrpSpPr>
          <p:cNvPr id="287758" name="Group 14"/>
          <p:cNvGrpSpPr/>
          <p:nvPr/>
        </p:nvGrpSpPr>
        <p:grpSpPr bwMode="auto">
          <a:xfrm>
            <a:off x="2063552" y="3730154"/>
            <a:ext cx="7777163" cy="1643062"/>
            <a:chOff x="930" y="981"/>
            <a:chExt cx="4899" cy="1035"/>
          </a:xfrm>
        </p:grpSpPr>
        <p:sp>
          <p:nvSpPr>
            <p:cNvPr id="104457" name="Text Box 15"/>
            <p:cNvSpPr txBox="1">
              <a:spLocks noChangeArrowheads="1"/>
            </p:cNvSpPr>
            <p:nvPr/>
          </p:nvSpPr>
          <p:spPr bwMode="auto">
            <a:xfrm>
              <a:off x="930" y="981"/>
              <a:ext cx="381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04458" name="Text Box 16"/>
            <p:cNvSpPr txBox="1">
              <a:spLocks noChangeArrowheads="1"/>
            </p:cNvSpPr>
            <p:nvPr/>
          </p:nvSpPr>
          <p:spPr bwMode="auto">
            <a:xfrm>
              <a:off x="1072" y="1389"/>
              <a:ext cx="475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dirty="0">
                  <a:latin typeface="Times New Roman" panose="02020603050405020304" pitchFamily="18" charset="0"/>
                </a:rPr>
                <a:t>         </a:t>
              </a:r>
              <a:r>
                <a:rPr lang="zh-CN" altLang="en-US" sz="2800" dirty="0">
                  <a:latin typeface="Times New Roman" panose="02020603050405020304" pitchFamily="18" charset="0"/>
                </a:rPr>
                <a:t>访问 </a:t>
              </a:r>
              <a:r>
                <a:rPr lang="en-US" altLang="zh-CN" sz="2800" dirty="0">
                  <a:latin typeface="Times New Roman" panose="02020603050405020304" pitchFamily="18" charset="0"/>
                </a:rPr>
                <a:t>Cache </a:t>
              </a:r>
              <a:r>
                <a:rPr lang="zh-CN" altLang="en-US" sz="2800" dirty="0">
                  <a:latin typeface="Times New Roman" panose="02020603050405020304" pitchFamily="18" charset="0"/>
                </a:rPr>
                <a:t>的时间</a:t>
              </a:r>
              <a:endParaRPr lang="zh-CN" altLang="en-US" sz="2800" dirty="0">
                <a:latin typeface="Times New Roman" panose="02020603050405020304" pitchFamily="18" charset="0"/>
              </a:endParaRPr>
            </a:p>
          </p:txBody>
        </p:sp>
        <p:sp>
          <p:nvSpPr>
            <p:cNvPr id="104459" name="Text Box 17"/>
            <p:cNvSpPr txBox="1">
              <a:spLocks noChangeArrowheads="1"/>
            </p:cNvSpPr>
            <p:nvPr/>
          </p:nvSpPr>
          <p:spPr bwMode="auto">
            <a:xfrm>
              <a:off x="1072" y="1689"/>
              <a:ext cx="475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>
                  <a:latin typeface="Times New Roman" panose="02020603050405020304" pitchFamily="18" charset="0"/>
                </a:rPr>
                <a:t>            </a:t>
              </a:r>
              <a:r>
                <a:rPr lang="zh-CN" altLang="en-US" sz="2800">
                  <a:latin typeface="Times New Roman" panose="02020603050405020304" pitchFamily="18" charset="0"/>
                </a:rPr>
                <a:t>平均访问时间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4460" name="Line 18"/>
            <p:cNvSpPr>
              <a:spLocks noChangeShapeType="1"/>
            </p:cNvSpPr>
            <p:nvPr/>
          </p:nvSpPr>
          <p:spPr bwMode="auto">
            <a:xfrm>
              <a:off x="1543" y="1716"/>
              <a:ext cx="19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4461" name="Text Box 19"/>
            <p:cNvSpPr txBox="1">
              <a:spLocks noChangeArrowheads="1"/>
            </p:cNvSpPr>
            <p:nvPr/>
          </p:nvSpPr>
          <p:spPr bwMode="auto">
            <a:xfrm>
              <a:off x="1021" y="1525"/>
              <a:ext cx="47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dirty="0">
                  <a:latin typeface="Times New Roman" panose="02020603050405020304" pitchFamily="18" charset="0"/>
                </a:rPr>
                <a:t>  </a:t>
              </a:r>
              <a:r>
                <a:rPr lang="en-US" altLang="zh-CN" sz="3000" i="1" dirty="0">
                  <a:latin typeface="Times New Roman" panose="02020603050405020304" pitchFamily="18" charset="0"/>
                </a:rPr>
                <a:t>e</a:t>
              </a:r>
              <a:r>
                <a:rPr lang="en-US" altLang="zh-CN" sz="2800" dirty="0">
                  <a:latin typeface="Times New Roman" panose="02020603050405020304" pitchFamily="18" charset="0"/>
                </a:rPr>
                <a:t> =                                     </a:t>
              </a:r>
              <a:r>
                <a:rPr lang="en-US" altLang="zh-CN" sz="2400" dirty="0">
                  <a:latin typeface="Times New Roman" panose="02020603050405020304" pitchFamily="18" charset="0"/>
                </a:rPr>
                <a:t>×</a:t>
              </a:r>
              <a:r>
                <a:rPr lang="en-US" altLang="zh-CN" sz="2800" dirty="0">
                  <a:latin typeface="Times New Roman" panose="02020603050405020304" pitchFamily="18" charset="0"/>
                </a:rPr>
                <a:t> 100%</a:t>
              </a:r>
              <a:endParaRPr lang="zh-CN" altLang="en-US" sz="2800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1703512" y="1009978"/>
            <a:ext cx="216024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命中率 </a:t>
            </a:r>
            <a:r>
              <a:rPr lang="zh-CN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 :</a:t>
            </a:r>
            <a:endParaRPr lang="zh-CN" altLang="en-US" sz="2800" b="1" i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686703" y="2632254"/>
            <a:ext cx="40197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平均访问时间 </a:t>
            </a:r>
            <a:r>
              <a:rPr lang="zh-CN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 </a:t>
            </a:r>
            <a:r>
              <a:rPr lang="zh-CN" altLang="en-US" sz="28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endParaRPr lang="zh-CN" altLang="en-US" sz="2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7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7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7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7747" grpId="0" autoUpdateAnimBg="0"/>
      <p:bldP spid="287748" grpId="0" autoUpdateAnimBg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1379191" y="988898"/>
            <a:ext cx="9505056" cy="550885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474" name="Rectangle 2"/>
          <p:cNvSpPr>
            <a:spLocks noChangeArrowheads="1"/>
          </p:cNvSpPr>
          <p:nvPr/>
        </p:nvSpPr>
        <p:spPr bwMode="auto">
          <a:xfrm>
            <a:off x="1524001" y="-230832"/>
            <a:ext cx="1847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400" b="0">
              <a:latin typeface="Times New Roman" panose="02020603050405020304" pitchFamily="18" charset="0"/>
            </a:endParaRPr>
          </a:p>
        </p:txBody>
      </p:sp>
      <p:graphicFrame>
        <p:nvGraphicFramePr>
          <p:cNvPr id="672771" name="Object 1"/>
          <p:cNvGraphicFramePr>
            <a:graphicFrameLocks noChangeAspect="1"/>
          </p:cNvGraphicFramePr>
          <p:nvPr/>
        </p:nvGraphicFramePr>
        <p:xfrm>
          <a:off x="2063750" y="1422400"/>
          <a:ext cx="8135938" cy="4935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" name="Visio" r:id="rId1" imgW="5223510" imgH="3153410" progId="Visio.Drawing.11">
                  <p:embed/>
                </p:oleObj>
              </mc:Choice>
              <mc:Fallback>
                <p:oleObj name="Visio" r:id="rId1" imgW="5223510" imgH="3153410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63750" y="1422400"/>
                        <a:ext cx="8135938" cy="4935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B7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476" name="Text Box 64"/>
          <p:cNvSpPr txBox="1">
            <a:spLocks noChangeArrowheads="1"/>
          </p:cNvSpPr>
          <p:nvPr/>
        </p:nvSpPr>
        <p:spPr bwMode="auto">
          <a:xfrm>
            <a:off x="407368" y="91178"/>
            <a:ext cx="4968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3. </a:t>
            </a:r>
            <a:r>
              <a:rPr lang="en-US" altLang="zh-CN" sz="3600" dirty="0">
                <a:latin typeface="Times New Roman" panose="02020603050405020304" pitchFamily="18" charset="0"/>
              </a:rPr>
              <a:t>Cache </a:t>
            </a:r>
            <a:r>
              <a:rPr lang="zh-CN" altLang="en-US" sz="3600" dirty="0">
                <a:latin typeface="Times New Roman" panose="02020603050405020304" pitchFamily="18" charset="0"/>
              </a:rPr>
              <a:t>的基本结构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3640139" y="2987675"/>
            <a:ext cx="973137" cy="755650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folHlink"/>
            </a:solidFill>
            <a:round/>
          </a:ln>
        </p:spPr>
        <p:txBody>
          <a:bodyPr wrap="none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en-US" altLang="zh-CN" sz="400" dirty="0">
              <a:solidFill>
                <a:schemeClr val="bg2"/>
              </a:solidFill>
              <a:latin typeface="Times New Roman" panose="02020603050405020304" pitchFamily="18" charset="0"/>
            </a:endParaRPr>
          </a:p>
          <a:p>
            <a:pPr algn="ctr" eaLnBrk="1" hangingPunct="1"/>
            <a:r>
              <a:rPr lang="en-US" altLang="zh-CN" sz="1400" dirty="0">
                <a:latin typeface="Times New Roman" panose="02020603050405020304" pitchFamily="18" charset="0"/>
              </a:rPr>
              <a:t>Cache</a:t>
            </a:r>
            <a:endParaRPr lang="en-US" altLang="zh-CN" sz="1400" dirty="0">
              <a:latin typeface="Times New Roman" panose="02020603050405020304" pitchFamily="18" charset="0"/>
            </a:endParaRPr>
          </a:p>
          <a:p>
            <a:pPr algn="ctr" eaLnBrk="1" hangingPunct="1"/>
            <a:r>
              <a:rPr lang="zh-CN" altLang="en-US" sz="1400" dirty="0">
                <a:latin typeface="Times New Roman" panose="02020603050405020304" pitchFamily="18" charset="0"/>
              </a:rPr>
              <a:t>替换机构</a:t>
            </a:r>
            <a:endParaRPr lang="zh-CN" altLang="en-US" sz="1400" dirty="0">
              <a:latin typeface="Times New Roman" panose="02020603050405020304" pitchFamily="18" charset="0"/>
            </a:endParaRP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5573714" y="4787900"/>
            <a:ext cx="1260475" cy="571500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folHlink"/>
            </a:solidFill>
            <a:round/>
          </a:ln>
        </p:spPr>
        <p:txBody>
          <a:bodyPr wrap="none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600" dirty="0">
                <a:latin typeface="Times New Roman" panose="02020603050405020304" pitchFamily="18" charset="0"/>
              </a:rPr>
              <a:t>Cache</a:t>
            </a:r>
            <a:endParaRPr lang="en-US" altLang="zh-CN" sz="1600" dirty="0">
              <a:latin typeface="Times New Roman" panose="02020603050405020304" pitchFamily="18" charset="0"/>
            </a:endParaRPr>
          </a:p>
          <a:p>
            <a:pPr algn="ctr" eaLnBrk="1" hangingPunct="1"/>
            <a:r>
              <a:rPr lang="zh-CN" altLang="en-US" sz="1600" dirty="0">
                <a:latin typeface="Times New Roman" panose="02020603050405020304" pitchFamily="18" charset="0"/>
              </a:rPr>
              <a:t>存储体</a:t>
            </a:r>
            <a:endParaRPr lang="zh-CN" altLang="en-US" sz="1600" dirty="0">
              <a:latin typeface="Times New Roman" panose="02020603050405020304" pitchFamily="18" charset="0"/>
            </a:endParaRP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7350125" y="2973388"/>
            <a:ext cx="1143000" cy="785812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folHlink"/>
            </a:solidFill>
            <a:round/>
          </a:ln>
        </p:spPr>
        <p:txBody>
          <a:bodyPr wrap="none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400" dirty="0">
                <a:latin typeface="Times New Roman" panose="02020603050405020304" pitchFamily="18" charset="0"/>
              </a:rPr>
              <a:t>主存</a:t>
            </a:r>
            <a:r>
              <a:rPr lang="en-US" altLang="zh-CN" sz="1400" dirty="0">
                <a:latin typeface="Times New Roman" panose="02020603050405020304" pitchFamily="18" charset="0"/>
              </a:rPr>
              <a:t>Cache</a:t>
            </a:r>
            <a:endParaRPr lang="en-US" altLang="zh-CN" sz="1400" dirty="0">
              <a:latin typeface="Times New Roman" panose="02020603050405020304" pitchFamily="18" charset="0"/>
            </a:endParaRPr>
          </a:p>
          <a:p>
            <a:pPr algn="ctr" eaLnBrk="1" hangingPunct="1"/>
            <a:r>
              <a:rPr lang="zh-CN" altLang="en-US" sz="1400" dirty="0">
                <a:latin typeface="Times New Roman" panose="02020603050405020304" pitchFamily="18" charset="0"/>
              </a:rPr>
              <a:t>地址映射</a:t>
            </a:r>
            <a:endParaRPr lang="en-US" altLang="zh-CN" sz="1400" dirty="0">
              <a:latin typeface="Times New Roman" panose="02020603050405020304" pitchFamily="18" charset="0"/>
            </a:endParaRPr>
          </a:p>
          <a:p>
            <a:pPr algn="ctr" eaLnBrk="1" hangingPunct="1"/>
            <a:r>
              <a:rPr lang="zh-CN" altLang="en-US" sz="1400" dirty="0">
                <a:latin typeface="Times New Roman" panose="02020603050405020304" pitchFamily="18" charset="0"/>
              </a:rPr>
              <a:t>变换机构</a:t>
            </a:r>
            <a:endParaRPr lang="zh-CN" altLang="en-US" sz="1400" dirty="0">
              <a:latin typeface="Times New Roman" panose="02020603050405020304" pitchFamily="18" charset="0"/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4452939" y="2071688"/>
            <a:ext cx="2147887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/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rgbClr val="FFFF00"/>
                </a:solidFill>
                <a:latin typeface="Times New Roman" panose="02020603050405020304" pitchFamily="18" charset="0"/>
              </a:rPr>
              <a:t>由</a:t>
            </a:r>
            <a:r>
              <a:rPr lang="en-US" altLang="zh-CN" sz="2400">
                <a:solidFill>
                  <a:srgbClr val="FFFF00"/>
                </a:solidFill>
                <a:latin typeface="Times New Roman" panose="02020603050405020304" pitchFamily="18" charset="0"/>
              </a:rPr>
              <a:t>CPU</a:t>
            </a:r>
            <a:r>
              <a:rPr lang="zh-CN" altLang="en-US" sz="2400">
                <a:solidFill>
                  <a:srgbClr val="FFFF00"/>
                </a:solidFill>
                <a:latin typeface="Times New Roman" panose="02020603050405020304" pitchFamily="18" charset="0"/>
              </a:rPr>
              <a:t>完成</a:t>
            </a:r>
            <a:endParaRPr lang="zh-CN" altLang="en-US" sz="2400">
              <a:solidFill>
                <a:srgbClr val="FFFF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5482" name="Rectangle 10"/>
          <p:cNvSpPr>
            <a:spLocks noChangeArrowheads="1"/>
          </p:cNvSpPr>
          <p:nvPr/>
        </p:nvSpPr>
        <p:spPr bwMode="auto">
          <a:xfrm>
            <a:off x="8272464" y="1740129"/>
            <a:ext cx="73025" cy="215444"/>
          </a:xfrm>
          <a:prstGeom prst="rect">
            <a:avLst/>
          </a:prstGeom>
          <a:solidFill>
            <a:srgbClr val="0000B7"/>
          </a:solidFill>
          <a:ln w="9525">
            <a:solidFill>
              <a:srgbClr val="0000B7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72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Text Box 2"/>
          <p:cNvSpPr txBox="1">
            <a:spLocks noChangeArrowheads="1"/>
          </p:cNvSpPr>
          <p:nvPr/>
        </p:nvSpPr>
        <p:spPr bwMode="auto">
          <a:xfrm>
            <a:off x="539225" y="166689"/>
            <a:ext cx="45400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3600">
                <a:latin typeface="Times New Roman" panose="02020603050405020304" pitchFamily="18" charset="0"/>
              </a:rPr>
              <a:t>4. Cache </a:t>
            </a:r>
            <a:r>
              <a:rPr lang="zh-CN" altLang="en-US" sz="3600">
                <a:latin typeface="Times New Roman" panose="02020603050405020304" pitchFamily="18" charset="0"/>
              </a:rPr>
              <a:t>的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读写 </a:t>
            </a:r>
            <a:r>
              <a:rPr lang="zh-CN" altLang="en-US" sz="3600">
                <a:latin typeface="Times New Roman" panose="02020603050405020304" pitchFamily="18" charset="0"/>
              </a:rPr>
              <a:t>操作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grpSp>
        <p:nvGrpSpPr>
          <p:cNvPr id="289795" name="Group 3"/>
          <p:cNvGrpSpPr/>
          <p:nvPr/>
        </p:nvGrpSpPr>
        <p:grpSpPr bwMode="auto">
          <a:xfrm>
            <a:off x="2027238" y="1592264"/>
            <a:ext cx="8335962" cy="4645025"/>
            <a:chOff x="317" y="777"/>
            <a:chExt cx="5251" cy="2926"/>
          </a:xfrm>
        </p:grpSpPr>
        <p:sp>
          <p:nvSpPr>
            <p:cNvPr id="106503" name="Text Box 4"/>
            <p:cNvSpPr txBox="1">
              <a:spLocks noChangeArrowheads="1"/>
            </p:cNvSpPr>
            <p:nvPr/>
          </p:nvSpPr>
          <p:spPr bwMode="auto">
            <a:xfrm>
              <a:off x="317" y="2538"/>
              <a:ext cx="1262" cy="4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访问</a:t>
              </a:r>
              <a:r>
                <a:rPr lang="en-US" altLang="zh-CN" sz="2000">
                  <a:latin typeface="Times New Roman" panose="02020603050405020304" pitchFamily="18" charset="0"/>
                </a:rPr>
                <a:t>Cache</a:t>
              </a:r>
              <a:endParaRPr lang="en-US" altLang="zh-CN" sz="20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取出信息送</a:t>
              </a:r>
              <a:r>
                <a:rPr lang="en-US" altLang="zh-CN" sz="2000">
                  <a:latin typeface="Times New Roman" panose="02020603050405020304" pitchFamily="18" charset="0"/>
                </a:rPr>
                <a:t>CPU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06504" name="Rectangle 5"/>
            <p:cNvSpPr>
              <a:spLocks noChangeArrowheads="1"/>
            </p:cNvSpPr>
            <p:nvPr/>
          </p:nvSpPr>
          <p:spPr bwMode="auto">
            <a:xfrm>
              <a:off x="345" y="2555"/>
              <a:ext cx="1191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05" name="Text Box 6"/>
            <p:cNvSpPr txBox="1">
              <a:spLocks noChangeArrowheads="1"/>
            </p:cNvSpPr>
            <p:nvPr/>
          </p:nvSpPr>
          <p:spPr bwMode="auto">
            <a:xfrm>
              <a:off x="1666" y="2538"/>
              <a:ext cx="1262" cy="4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访问主存</a:t>
              </a:r>
              <a:endParaRPr lang="en-US" altLang="zh-CN" sz="20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取出信息送</a:t>
              </a:r>
              <a:r>
                <a:rPr lang="en-US" altLang="zh-CN" sz="2000">
                  <a:latin typeface="Times New Roman" panose="02020603050405020304" pitchFamily="18" charset="0"/>
                </a:rPr>
                <a:t>CPU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06506" name="Rectangle 7"/>
            <p:cNvSpPr>
              <a:spLocks noChangeArrowheads="1"/>
            </p:cNvSpPr>
            <p:nvPr/>
          </p:nvSpPr>
          <p:spPr bwMode="auto">
            <a:xfrm>
              <a:off x="1689" y="2555"/>
              <a:ext cx="1191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07" name="Text Box 8"/>
            <p:cNvSpPr txBox="1">
              <a:spLocks noChangeArrowheads="1"/>
            </p:cNvSpPr>
            <p:nvPr/>
          </p:nvSpPr>
          <p:spPr bwMode="auto">
            <a:xfrm>
              <a:off x="3072" y="2567"/>
              <a:ext cx="1092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将新的主存块</a:t>
              </a:r>
              <a:endParaRPr lang="zh-CN" altLang="en-US" sz="20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调入</a:t>
              </a:r>
              <a:r>
                <a:rPr lang="en-US" altLang="zh-CN" sz="2000">
                  <a:latin typeface="Times New Roman" panose="02020603050405020304" pitchFamily="18" charset="0"/>
                </a:rPr>
                <a:t>Cache</a:t>
              </a:r>
              <a:r>
                <a:rPr lang="zh-CN" altLang="en-US" sz="2000">
                  <a:latin typeface="Times New Roman" panose="02020603050405020304" pitchFamily="18" charset="0"/>
                </a:rPr>
                <a:t>中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08" name="Rectangle 9"/>
            <p:cNvSpPr>
              <a:spLocks noChangeArrowheads="1"/>
            </p:cNvSpPr>
            <p:nvPr/>
          </p:nvSpPr>
          <p:spPr bwMode="auto">
            <a:xfrm>
              <a:off x="3023" y="2555"/>
              <a:ext cx="1165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09" name="Text Box 10"/>
            <p:cNvSpPr txBox="1">
              <a:spLocks noChangeArrowheads="1"/>
            </p:cNvSpPr>
            <p:nvPr/>
          </p:nvSpPr>
          <p:spPr bwMode="auto">
            <a:xfrm>
              <a:off x="4457" y="2566"/>
              <a:ext cx="1092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执行替换算法</a:t>
              </a:r>
              <a:endParaRPr lang="zh-CN" altLang="en-US" sz="2000">
                <a:latin typeface="Times New Roman" panose="02020603050405020304" pitchFamily="18" charset="0"/>
              </a:endParaRPr>
            </a:p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    腾出空位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10" name="Rectangle 11"/>
            <p:cNvSpPr>
              <a:spLocks noChangeArrowheads="1"/>
            </p:cNvSpPr>
            <p:nvPr/>
          </p:nvSpPr>
          <p:spPr bwMode="auto">
            <a:xfrm>
              <a:off x="4403" y="2544"/>
              <a:ext cx="1165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11" name="Text Box 12"/>
            <p:cNvSpPr txBox="1">
              <a:spLocks noChangeArrowheads="1"/>
            </p:cNvSpPr>
            <p:nvPr/>
          </p:nvSpPr>
          <p:spPr bwMode="auto">
            <a:xfrm>
              <a:off x="1385" y="3429"/>
              <a:ext cx="466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结束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12" name="Rectangle 13"/>
            <p:cNvSpPr>
              <a:spLocks noChangeArrowheads="1"/>
            </p:cNvSpPr>
            <p:nvPr/>
          </p:nvSpPr>
          <p:spPr bwMode="auto">
            <a:xfrm>
              <a:off x="1375" y="3441"/>
              <a:ext cx="497" cy="26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13" name="AutoShape 14"/>
            <p:cNvSpPr>
              <a:spLocks noChangeArrowheads="1"/>
            </p:cNvSpPr>
            <p:nvPr/>
          </p:nvSpPr>
          <p:spPr bwMode="auto">
            <a:xfrm>
              <a:off x="1239" y="1539"/>
              <a:ext cx="858" cy="399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14" name="Text Box 15"/>
            <p:cNvSpPr txBox="1">
              <a:spLocks noChangeArrowheads="1"/>
            </p:cNvSpPr>
            <p:nvPr/>
          </p:nvSpPr>
          <p:spPr bwMode="auto">
            <a:xfrm>
              <a:off x="1398" y="1622"/>
              <a:ext cx="60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命中？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15" name="AutoShape 16"/>
            <p:cNvSpPr>
              <a:spLocks noChangeArrowheads="1"/>
            </p:cNvSpPr>
            <p:nvPr/>
          </p:nvSpPr>
          <p:spPr bwMode="auto">
            <a:xfrm>
              <a:off x="3046" y="1938"/>
              <a:ext cx="1128" cy="399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16" name="Text Box 17"/>
            <p:cNvSpPr txBox="1">
              <a:spLocks noChangeArrowheads="1"/>
            </p:cNvSpPr>
            <p:nvPr/>
          </p:nvSpPr>
          <p:spPr bwMode="auto">
            <a:xfrm>
              <a:off x="3215" y="2016"/>
              <a:ext cx="87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Cache</a:t>
              </a:r>
              <a:r>
                <a:rPr lang="zh-CN" altLang="en-US" sz="2000">
                  <a:latin typeface="Times New Roman" panose="02020603050405020304" pitchFamily="18" charset="0"/>
                </a:rPr>
                <a:t>满？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17" name="Freeform 18"/>
            <p:cNvSpPr/>
            <p:nvPr/>
          </p:nvSpPr>
          <p:spPr bwMode="auto">
            <a:xfrm>
              <a:off x="3613" y="2335"/>
              <a:ext cx="1" cy="218"/>
            </a:xfrm>
            <a:custGeom>
              <a:avLst/>
              <a:gdLst>
                <a:gd name="T0" fmla="*/ 0 w 1"/>
                <a:gd name="T1" fmla="*/ 0 h 288"/>
                <a:gd name="T2" fmla="*/ 0 w 1"/>
                <a:gd name="T3" fmla="*/ 165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88">
                  <a:moveTo>
                    <a:pt x="0" y="0"/>
                  </a:moveTo>
                  <a:lnTo>
                    <a:pt x="0" y="28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18" name="Freeform 19"/>
            <p:cNvSpPr/>
            <p:nvPr/>
          </p:nvSpPr>
          <p:spPr bwMode="auto">
            <a:xfrm>
              <a:off x="2092" y="1738"/>
              <a:ext cx="1518" cy="200"/>
            </a:xfrm>
            <a:custGeom>
              <a:avLst/>
              <a:gdLst>
                <a:gd name="T0" fmla="*/ 0 w 1614"/>
                <a:gd name="T1" fmla="*/ 0 h 264"/>
                <a:gd name="T2" fmla="*/ 1425 w 1614"/>
                <a:gd name="T3" fmla="*/ 0 h 264"/>
                <a:gd name="T4" fmla="*/ 1428 w 1614"/>
                <a:gd name="T5" fmla="*/ 152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4" h="264">
                  <a:moveTo>
                    <a:pt x="0" y="0"/>
                  </a:moveTo>
                  <a:lnTo>
                    <a:pt x="1611" y="0"/>
                  </a:lnTo>
                  <a:lnTo>
                    <a:pt x="1614" y="26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19" name="Freeform 20"/>
            <p:cNvSpPr/>
            <p:nvPr/>
          </p:nvSpPr>
          <p:spPr bwMode="auto">
            <a:xfrm>
              <a:off x="923" y="1736"/>
              <a:ext cx="330" cy="819"/>
            </a:xfrm>
            <a:custGeom>
              <a:avLst/>
              <a:gdLst>
                <a:gd name="T0" fmla="*/ 310 w 351"/>
                <a:gd name="T1" fmla="*/ 2 h 1083"/>
                <a:gd name="T2" fmla="*/ 0 w 351"/>
                <a:gd name="T3" fmla="*/ 0 h 1083"/>
                <a:gd name="T4" fmla="*/ 0 w 351"/>
                <a:gd name="T5" fmla="*/ 619 h 10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1083">
                  <a:moveTo>
                    <a:pt x="351" y="3"/>
                  </a:moveTo>
                  <a:lnTo>
                    <a:pt x="0" y="0"/>
                  </a:lnTo>
                  <a:lnTo>
                    <a:pt x="0" y="10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0" name="Line 21"/>
            <p:cNvSpPr>
              <a:spLocks noChangeShapeType="1"/>
            </p:cNvSpPr>
            <p:nvPr/>
          </p:nvSpPr>
          <p:spPr bwMode="auto">
            <a:xfrm>
              <a:off x="2278" y="1747"/>
              <a:ext cx="0" cy="8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1" name="Freeform 22"/>
            <p:cNvSpPr/>
            <p:nvPr/>
          </p:nvSpPr>
          <p:spPr bwMode="auto">
            <a:xfrm>
              <a:off x="4172" y="2137"/>
              <a:ext cx="820" cy="407"/>
            </a:xfrm>
            <a:custGeom>
              <a:avLst/>
              <a:gdLst>
                <a:gd name="T0" fmla="*/ 0 w 771"/>
                <a:gd name="T1" fmla="*/ 0 h 552"/>
                <a:gd name="T2" fmla="*/ 869 w 771"/>
                <a:gd name="T3" fmla="*/ 0 h 552"/>
                <a:gd name="T4" fmla="*/ 872 w 771"/>
                <a:gd name="T5" fmla="*/ 300 h 5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1" h="552">
                  <a:moveTo>
                    <a:pt x="0" y="0"/>
                  </a:moveTo>
                  <a:lnTo>
                    <a:pt x="768" y="0"/>
                  </a:lnTo>
                  <a:lnTo>
                    <a:pt x="771" y="5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2" name="Freeform 23"/>
            <p:cNvSpPr/>
            <p:nvPr/>
          </p:nvSpPr>
          <p:spPr bwMode="auto">
            <a:xfrm>
              <a:off x="4182" y="2890"/>
              <a:ext cx="810" cy="242"/>
            </a:xfrm>
            <a:custGeom>
              <a:avLst/>
              <a:gdLst>
                <a:gd name="T0" fmla="*/ 851 w 768"/>
                <a:gd name="T1" fmla="*/ 74 h 384"/>
                <a:gd name="T2" fmla="*/ 854 w 768"/>
                <a:gd name="T3" fmla="*/ 153 h 384"/>
                <a:gd name="T4" fmla="*/ 160 w 768"/>
                <a:gd name="T5" fmla="*/ 153 h 384"/>
                <a:gd name="T6" fmla="*/ 160 w 768"/>
                <a:gd name="T7" fmla="*/ 0 h 384"/>
                <a:gd name="T8" fmla="*/ 0 w 768"/>
                <a:gd name="T9" fmla="*/ 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8" h="384">
                  <a:moveTo>
                    <a:pt x="765" y="186"/>
                  </a:moveTo>
                  <a:lnTo>
                    <a:pt x="768" y="384"/>
                  </a:lnTo>
                  <a:lnTo>
                    <a:pt x="144" y="384"/>
                  </a:lnTo>
                  <a:lnTo>
                    <a:pt x="14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3" name="Line 24"/>
            <p:cNvSpPr>
              <a:spLocks noChangeShapeType="1"/>
            </p:cNvSpPr>
            <p:nvPr/>
          </p:nvSpPr>
          <p:spPr bwMode="auto">
            <a:xfrm>
              <a:off x="923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4" name="Line 25"/>
            <p:cNvSpPr>
              <a:spLocks noChangeShapeType="1"/>
            </p:cNvSpPr>
            <p:nvPr/>
          </p:nvSpPr>
          <p:spPr bwMode="auto">
            <a:xfrm>
              <a:off x="2278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5" name="Line 26"/>
            <p:cNvSpPr>
              <a:spLocks noChangeShapeType="1"/>
            </p:cNvSpPr>
            <p:nvPr/>
          </p:nvSpPr>
          <p:spPr bwMode="auto">
            <a:xfrm>
              <a:off x="3633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6" name="Line 27"/>
            <p:cNvSpPr>
              <a:spLocks noChangeShapeType="1"/>
            </p:cNvSpPr>
            <p:nvPr/>
          </p:nvSpPr>
          <p:spPr bwMode="auto">
            <a:xfrm>
              <a:off x="923" y="3232"/>
              <a:ext cx="271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7" name="Line 28"/>
            <p:cNvSpPr>
              <a:spLocks noChangeShapeType="1"/>
            </p:cNvSpPr>
            <p:nvPr/>
          </p:nvSpPr>
          <p:spPr bwMode="auto">
            <a:xfrm>
              <a:off x="1620" y="3226"/>
              <a:ext cx="0" cy="2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28" name="Text Box 29"/>
            <p:cNvSpPr txBox="1">
              <a:spLocks noChangeArrowheads="1"/>
            </p:cNvSpPr>
            <p:nvPr/>
          </p:nvSpPr>
          <p:spPr bwMode="auto">
            <a:xfrm>
              <a:off x="988" y="1152"/>
              <a:ext cx="1425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CPU</a:t>
              </a:r>
              <a:r>
                <a:rPr lang="zh-CN" altLang="en-US" sz="2000">
                  <a:latin typeface="Times New Roman" panose="02020603050405020304" pitchFamily="18" charset="0"/>
                </a:rPr>
                <a:t>发出访问地址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29" name="Rectangle 30"/>
            <p:cNvSpPr>
              <a:spLocks noChangeArrowheads="1"/>
            </p:cNvSpPr>
            <p:nvPr/>
          </p:nvSpPr>
          <p:spPr bwMode="auto">
            <a:xfrm>
              <a:off x="923" y="1167"/>
              <a:ext cx="1581" cy="21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30" name="Text Box 31"/>
            <p:cNvSpPr txBox="1">
              <a:spLocks noChangeArrowheads="1"/>
            </p:cNvSpPr>
            <p:nvPr/>
          </p:nvSpPr>
          <p:spPr bwMode="auto">
            <a:xfrm>
              <a:off x="1444" y="777"/>
              <a:ext cx="460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开始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31" name="Rectangle 32"/>
            <p:cNvSpPr>
              <a:spLocks noChangeArrowheads="1"/>
            </p:cNvSpPr>
            <p:nvPr/>
          </p:nvSpPr>
          <p:spPr bwMode="auto">
            <a:xfrm>
              <a:off x="1453" y="803"/>
              <a:ext cx="453" cy="21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6532" name="Line 33"/>
            <p:cNvSpPr>
              <a:spLocks noChangeShapeType="1"/>
            </p:cNvSpPr>
            <p:nvPr/>
          </p:nvSpPr>
          <p:spPr bwMode="auto">
            <a:xfrm>
              <a:off x="1669" y="1393"/>
              <a:ext cx="0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33" name="Line 34"/>
            <p:cNvSpPr>
              <a:spLocks noChangeShapeType="1"/>
            </p:cNvSpPr>
            <p:nvPr/>
          </p:nvSpPr>
          <p:spPr bwMode="auto">
            <a:xfrm>
              <a:off x="1669" y="1031"/>
              <a:ext cx="0" cy="14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6534" name="Text Box 35"/>
            <p:cNvSpPr txBox="1">
              <a:spLocks noChangeArrowheads="1"/>
            </p:cNvSpPr>
            <p:nvPr/>
          </p:nvSpPr>
          <p:spPr bwMode="auto">
            <a:xfrm>
              <a:off x="1013" y="150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35" name="Text Box 36"/>
            <p:cNvSpPr txBox="1">
              <a:spLocks noChangeArrowheads="1"/>
            </p:cNvSpPr>
            <p:nvPr/>
          </p:nvSpPr>
          <p:spPr bwMode="auto">
            <a:xfrm>
              <a:off x="2097" y="150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36" name="Text Box 37"/>
            <p:cNvSpPr txBox="1">
              <a:spLocks noChangeArrowheads="1"/>
            </p:cNvSpPr>
            <p:nvPr/>
          </p:nvSpPr>
          <p:spPr bwMode="auto">
            <a:xfrm>
              <a:off x="4130" y="1892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6537" name="Text Box 38"/>
            <p:cNvSpPr txBox="1">
              <a:spLocks noChangeArrowheads="1"/>
            </p:cNvSpPr>
            <p:nvPr/>
          </p:nvSpPr>
          <p:spPr bwMode="auto">
            <a:xfrm>
              <a:off x="3360" y="2321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sp>
        <p:nvSpPr>
          <p:cNvPr id="289831" name="Text Box 39"/>
          <p:cNvSpPr txBox="1">
            <a:spLocks noChangeArrowheads="1"/>
          </p:cNvSpPr>
          <p:nvPr/>
        </p:nvSpPr>
        <p:spPr bwMode="auto">
          <a:xfrm>
            <a:off x="2405064" y="966789"/>
            <a:ext cx="59213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9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89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831" grpId="0" autoUpdateAnimBg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Text Box 2"/>
          <p:cNvSpPr txBox="1">
            <a:spLocks noChangeArrowheads="1"/>
          </p:cNvSpPr>
          <p:nvPr/>
        </p:nvSpPr>
        <p:spPr bwMode="auto">
          <a:xfrm>
            <a:off x="3287713" y="1109663"/>
            <a:ext cx="38989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zh-CN" altLang="en-US" sz="2800">
                <a:latin typeface="Times New Roman" panose="02020603050405020304" pitchFamily="18" charset="0"/>
              </a:rPr>
              <a:t>和主存的一致性 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grpSp>
        <p:nvGrpSpPr>
          <p:cNvPr id="107523" name="Group 3"/>
          <p:cNvGrpSpPr/>
          <p:nvPr/>
        </p:nvGrpSpPr>
        <p:grpSpPr bwMode="auto">
          <a:xfrm>
            <a:off x="774891" y="137019"/>
            <a:ext cx="4497388" cy="1262063"/>
            <a:chOff x="422" y="192"/>
            <a:chExt cx="2833" cy="795"/>
          </a:xfrm>
        </p:grpSpPr>
        <p:sp>
          <p:nvSpPr>
            <p:cNvPr id="107532" name="Text Box 4"/>
            <p:cNvSpPr txBox="1">
              <a:spLocks noChangeArrowheads="1"/>
            </p:cNvSpPr>
            <p:nvPr/>
          </p:nvSpPr>
          <p:spPr bwMode="auto">
            <a:xfrm>
              <a:off x="422" y="192"/>
              <a:ext cx="2833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600" dirty="0">
                  <a:latin typeface="Times New Roman" panose="02020603050405020304" pitchFamily="18" charset="0"/>
                </a:rPr>
                <a:t>4. Cache </a:t>
              </a:r>
              <a:r>
                <a:rPr lang="zh-CN" altLang="en-US" sz="3600" dirty="0">
                  <a:latin typeface="Times New Roman" panose="02020603050405020304" pitchFamily="18" charset="0"/>
                </a:rPr>
                <a:t>的 </a:t>
              </a:r>
              <a:r>
                <a:rPr lang="zh-CN" altLang="en-US" sz="3600" dirty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读写 </a:t>
              </a:r>
              <a:r>
                <a:rPr lang="zh-CN" altLang="en-US" sz="3600" dirty="0">
                  <a:latin typeface="Times New Roman" panose="02020603050405020304" pitchFamily="18" charset="0"/>
                </a:rPr>
                <a:t>操作</a:t>
              </a:r>
              <a:endParaRPr lang="zh-CN" altLang="en-US" sz="3600" dirty="0">
                <a:latin typeface="Times New Roman" panose="02020603050405020304" pitchFamily="18" charset="0"/>
              </a:endParaRPr>
            </a:p>
          </p:txBody>
        </p:sp>
        <p:sp>
          <p:nvSpPr>
            <p:cNvPr id="107533" name="Text Box 5"/>
            <p:cNvSpPr txBox="1">
              <a:spLocks noChangeArrowheads="1"/>
            </p:cNvSpPr>
            <p:nvPr/>
          </p:nvSpPr>
          <p:spPr bwMode="auto">
            <a:xfrm>
              <a:off x="1370" y="622"/>
              <a:ext cx="37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 dirty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写</a:t>
              </a:r>
              <a:endParaRPr lang="zh-CN" altLang="en-US" sz="3200" dirty="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90823" name="Text Box 7"/>
          <p:cNvSpPr txBox="1">
            <a:spLocks noChangeArrowheads="1"/>
          </p:cNvSpPr>
          <p:nvPr/>
        </p:nvSpPr>
        <p:spPr bwMode="auto">
          <a:xfrm>
            <a:off x="3106738" y="1700213"/>
            <a:ext cx="51498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 写直达法</a:t>
            </a:r>
            <a:r>
              <a:rPr lang="zh-CN" altLang="en-US" sz="2800" dirty="0">
                <a:latin typeface="Times New Roman" panose="02020603050405020304" pitchFamily="18" charset="0"/>
              </a:rPr>
              <a:t>（</a:t>
            </a:r>
            <a:r>
              <a:rPr lang="en-US" altLang="zh-CN" sz="2800" dirty="0">
                <a:latin typeface="Times New Roman" panose="02020603050405020304" pitchFamily="18" charset="0"/>
              </a:rPr>
              <a:t>Write </a:t>
            </a:r>
            <a:r>
              <a:rPr lang="en-US" altLang="en-US" sz="2400" dirty="0">
                <a:latin typeface="Times New Roman" panose="02020603050405020304" pitchFamily="18" charset="0"/>
              </a:rPr>
              <a:t>–</a:t>
            </a:r>
            <a:r>
              <a:rPr lang="en-US" altLang="zh-CN" sz="2400" dirty="0">
                <a:latin typeface="Times New Roman" panose="02020603050405020304" pitchFamily="18" charset="0"/>
              </a:rPr>
              <a:t> </a:t>
            </a:r>
            <a:r>
              <a:rPr lang="en-US" altLang="zh-CN" sz="2800" dirty="0">
                <a:latin typeface="Times New Roman" panose="02020603050405020304" pitchFamily="18" charset="0"/>
              </a:rPr>
              <a:t>through</a:t>
            </a:r>
            <a:r>
              <a:rPr lang="zh-CN" altLang="en-US" sz="2800" dirty="0">
                <a:latin typeface="Times New Roman" panose="02020603050405020304" pitchFamily="18" charset="0"/>
              </a:rPr>
              <a:t>）  </a:t>
            </a:r>
            <a:endParaRPr lang="zh-CN" altLang="en-US" sz="2800" dirty="0">
              <a:latin typeface="Times New Roman" panose="02020603050405020304" pitchFamily="18" charset="0"/>
            </a:endParaRPr>
          </a:p>
        </p:txBody>
      </p:sp>
      <p:sp>
        <p:nvSpPr>
          <p:cNvPr id="290824" name="Text Box 8"/>
          <p:cNvSpPr txBox="1">
            <a:spLocks noChangeArrowheads="1"/>
          </p:cNvSpPr>
          <p:nvPr/>
        </p:nvSpPr>
        <p:spPr bwMode="auto">
          <a:xfrm>
            <a:off x="3106738" y="3789363"/>
            <a:ext cx="429736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Char char="•"/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 写回法</a:t>
            </a:r>
            <a:r>
              <a:rPr lang="zh-CN" altLang="en-US" sz="2800">
                <a:latin typeface="Times New Roman" panose="02020603050405020304" pitchFamily="18" charset="0"/>
              </a:rPr>
              <a:t>（</a:t>
            </a:r>
            <a:r>
              <a:rPr lang="en-US" altLang="zh-CN" sz="2800">
                <a:latin typeface="Times New Roman" panose="02020603050405020304" pitchFamily="18" charset="0"/>
              </a:rPr>
              <a:t>Write </a:t>
            </a:r>
            <a:r>
              <a:rPr lang="en-US" altLang="en-US" sz="2400">
                <a:latin typeface="Times New Roman" panose="02020603050405020304" pitchFamily="18" charset="0"/>
              </a:rPr>
              <a:t>–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back</a:t>
            </a:r>
            <a:r>
              <a:rPr lang="zh-CN" altLang="en-US" sz="2800">
                <a:latin typeface="Times New Roman" panose="02020603050405020304" pitchFamily="18" charset="0"/>
              </a:rPr>
              <a:t>） 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90825" name="Text Box 9"/>
          <p:cNvSpPr txBox="1">
            <a:spLocks noChangeArrowheads="1"/>
          </p:cNvSpPr>
          <p:nvPr/>
        </p:nvSpPr>
        <p:spPr bwMode="auto">
          <a:xfrm>
            <a:off x="3359151" y="2266951"/>
            <a:ext cx="54136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latin typeface="Times New Roman" panose="02020603050405020304" pitchFamily="18" charset="0"/>
              </a:rPr>
              <a:t>写操作时数据既写入</a:t>
            </a:r>
            <a:r>
              <a:rPr lang="en-US" altLang="zh-CN" sz="2400">
                <a:latin typeface="Times New Roman" panose="02020603050405020304" pitchFamily="18" charset="0"/>
              </a:rPr>
              <a:t>Cache</a:t>
            </a:r>
            <a:r>
              <a:rPr lang="zh-CN" altLang="en-US" sz="2400">
                <a:latin typeface="Times New Roman" panose="02020603050405020304" pitchFamily="18" charset="0"/>
              </a:rPr>
              <a:t>又写入主存</a:t>
            </a:r>
            <a:r>
              <a:rPr lang="zh-CN" altLang="en-US" sz="2400" b="0">
                <a:latin typeface="Times New Roman" panose="02020603050405020304" pitchFamily="18" charset="0"/>
              </a:rPr>
              <a:t> 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290826" name="Text Box 10"/>
          <p:cNvSpPr txBox="1">
            <a:spLocks noChangeArrowheads="1"/>
          </p:cNvSpPr>
          <p:nvPr/>
        </p:nvSpPr>
        <p:spPr bwMode="auto">
          <a:xfrm>
            <a:off x="3359151" y="4356101"/>
            <a:ext cx="6109365" cy="9363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400">
                <a:latin typeface="Times New Roman" panose="02020603050405020304" pitchFamily="18" charset="0"/>
              </a:rPr>
              <a:t>写操作时只把数据写入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而不写入主存</a:t>
            </a:r>
            <a:endParaRPr lang="zh-CN" altLang="en-US" sz="240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20000"/>
              </a:lnSpc>
            </a:pPr>
            <a:r>
              <a:rPr lang="zh-CN" altLang="en-US" sz="2400">
                <a:latin typeface="Times New Roman" panose="02020603050405020304" pitchFamily="18" charset="0"/>
              </a:rPr>
              <a:t>当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数据被替换出去时才写回主存</a:t>
            </a:r>
            <a:r>
              <a:rPr lang="zh-CN" altLang="en-US" sz="2400" b="0">
                <a:latin typeface="Times New Roman" panose="02020603050405020304" pitchFamily="18" charset="0"/>
              </a:rPr>
              <a:t> 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290827" name="Text Box 11"/>
          <p:cNvSpPr txBox="1">
            <a:spLocks noChangeArrowheads="1"/>
          </p:cNvSpPr>
          <p:nvPr/>
        </p:nvSpPr>
        <p:spPr bwMode="auto">
          <a:xfrm>
            <a:off x="3359150" y="2708276"/>
            <a:ext cx="7308850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4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写操作时间就是访问主存的时间</a:t>
            </a:r>
            <a:r>
              <a:rPr lang="zh-CN" altLang="en-US" sz="2400" dirty="0">
                <a:latin typeface="Times New Roman" panose="02020603050405020304" pitchFamily="18" charset="0"/>
              </a:rPr>
              <a:t>，读操作时不</a:t>
            </a:r>
            <a:endParaRPr lang="zh-CN" altLang="en-US" sz="2400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20000"/>
              </a:lnSpc>
            </a:pPr>
            <a:r>
              <a:rPr lang="zh-CN" altLang="en-US" sz="2400" dirty="0">
                <a:latin typeface="Times New Roman" panose="02020603050405020304" pitchFamily="18" charset="0"/>
              </a:rPr>
              <a:t>涉及对主存的写操作，更新策略比较容易实现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290828" name="Text Box 12"/>
          <p:cNvSpPr txBox="1">
            <a:spLocks noChangeArrowheads="1"/>
          </p:cNvSpPr>
          <p:nvPr/>
        </p:nvSpPr>
        <p:spPr bwMode="auto">
          <a:xfrm>
            <a:off x="3359150" y="5300664"/>
            <a:ext cx="6985000" cy="140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写操作时间就是访问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的时间</a:t>
            </a:r>
            <a:r>
              <a:rPr lang="zh-CN" altLang="en-US" sz="2400">
                <a:latin typeface="Times New Roman" panose="02020603050405020304" pitchFamily="18" charset="0"/>
              </a:rPr>
              <a:t>，</a:t>
            </a:r>
            <a:endParaRPr lang="zh-CN" altLang="en-US" sz="240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20000"/>
              </a:lnSpc>
            </a:pPr>
            <a:r>
              <a:rPr lang="zh-CN" altLang="en-US" sz="2400">
                <a:latin typeface="Times New Roman" panose="02020603050405020304" pitchFamily="18" charset="0"/>
              </a:rPr>
              <a:t>读操作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失效发生数据替换时，</a:t>
            </a:r>
            <a:endParaRPr lang="zh-CN" altLang="en-US" sz="240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20000"/>
              </a:lnSpc>
            </a:pPr>
            <a:r>
              <a:rPr lang="zh-CN" altLang="en-US" sz="2400">
                <a:latin typeface="Times New Roman" panose="02020603050405020304" pitchFamily="18" charset="0"/>
              </a:rPr>
              <a:t>被替换的块需写回主存，增加了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的复杂性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0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0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0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0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0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0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90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818" grpId="0" autoUpdateAnimBg="0"/>
      <p:bldP spid="290823" grpId="0" autoUpdateAnimBg="0"/>
      <p:bldP spid="290824" grpId="0" autoUpdateAnimBg="0"/>
      <p:bldP spid="290825" grpId="0" autoUpdateAnimBg="0"/>
      <p:bldP spid="290826" grpId="0" autoUpdateAnimBg="0"/>
      <p:bldP spid="290827" grpId="0" autoUpdateAnimBg="0"/>
      <p:bldP spid="290828" grpId="0" autoUpdateAnimBg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2984" name="Group 120"/>
          <p:cNvGrpSpPr/>
          <p:nvPr/>
        </p:nvGrpSpPr>
        <p:grpSpPr bwMode="auto">
          <a:xfrm>
            <a:off x="1152252" y="1071587"/>
            <a:ext cx="8915400" cy="4660900"/>
            <a:chOff x="96" y="672"/>
            <a:chExt cx="5616" cy="2936"/>
          </a:xfrm>
        </p:grpSpPr>
        <p:sp>
          <p:nvSpPr>
            <p:cNvPr id="109586" name="Rectangle 3"/>
            <p:cNvSpPr>
              <a:spLocks noChangeArrowheads="1"/>
            </p:cNvSpPr>
            <p:nvPr/>
          </p:nvSpPr>
          <p:spPr bwMode="auto">
            <a:xfrm>
              <a:off x="4727" y="3096"/>
              <a:ext cx="889" cy="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m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587" name="Rectangle 4"/>
            <p:cNvSpPr>
              <a:spLocks noChangeArrowheads="1"/>
            </p:cNvSpPr>
            <p:nvPr/>
          </p:nvSpPr>
          <p:spPr bwMode="auto">
            <a:xfrm>
              <a:off x="4727" y="2908"/>
              <a:ext cx="889" cy="2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1800" b="0">
                <a:latin typeface="Times New Roman" panose="02020603050405020304" pitchFamily="18" charset="0"/>
              </a:endParaRPr>
            </a:p>
          </p:txBody>
        </p:sp>
        <p:sp>
          <p:nvSpPr>
            <p:cNvPr id="109588" name="Rectangle 5"/>
            <p:cNvSpPr>
              <a:spLocks noChangeArrowheads="1"/>
            </p:cNvSpPr>
            <p:nvPr/>
          </p:nvSpPr>
          <p:spPr bwMode="auto">
            <a:xfrm>
              <a:off x="4727" y="2677"/>
              <a:ext cx="889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latin typeface="Times New Roman" panose="02020603050405020304" pitchFamily="18" charset="0"/>
                </a:rPr>
                <a:t>+1</a:t>
              </a:r>
              <a:endParaRPr lang="zh-CN" altLang="en-US" sz="2000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109589" name="Rectangle 6"/>
            <p:cNvSpPr>
              <a:spLocks noChangeArrowheads="1"/>
            </p:cNvSpPr>
            <p:nvPr/>
          </p:nvSpPr>
          <p:spPr bwMode="auto">
            <a:xfrm>
              <a:off x="4679" y="2459"/>
              <a:ext cx="1033" cy="2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latin typeface="Times New Roman" panose="02020603050405020304" pitchFamily="18" charset="0"/>
                </a:rPr>
                <a:t>+1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590" name="Rectangle 7"/>
            <p:cNvSpPr>
              <a:spLocks noChangeArrowheads="1"/>
            </p:cNvSpPr>
            <p:nvPr/>
          </p:nvSpPr>
          <p:spPr bwMode="auto">
            <a:xfrm>
              <a:off x="4727" y="2255"/>
              <a:ext cx="889" cy="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109591" name="Rectangle 8"/>
            <p:cNvSpPr>
              <a:spLocks noChangeArrowheads="1"/>
            </p:cNvSpPr>
            <p:nvPr/>
          </p:nvSpPr>
          <p:spPr bwMode="auto">
            <a:xfrm>
              <a:off x="4727" y="2026"/>
              <a:ext cx="889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latin typeface="Times New Roman" panose="02020603050405020304" pitchFamily="18" charset="0"/>
                </a:rPr>
                <a:t> 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  <a:endParaRPr lang="zh-CN" altLang="en-US" sz="2000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109592" name="Rectangle 9"/>
            <p:cNvSpPr>
              <a:spLocks noChangeArrowheads="1"/>
            </p:cNvSpPr>
            <p:nvPr/>
          </p:nvSpPr>
          <p:spPr bwMode="auto">
            <a:xfrm>
              <a:off x="4727" y="1806"/>
              <a:ext cx="889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endParaRPr lang="zh-CN" altLang="en-US" sz="2000" i="1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109593" name="Rectangle 10"/>
            <p:cNvSpPr>
              <a:spLocks noChangeArrowheads="1"/>
            </p:cNvSpPr>
            <p:nvPr/>
          </p:nvSpPr>
          <p:spPr bwMode="auto">
            <a:xfrm>
              <a:off x="4727" y="1591"/>
              <a:ext cx="889" cy="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09594" name="Rectangle 11"/>
            <p:cNvSpPr>
              <a:spLocks noChangeArrowheads="1"/>
            </p:cNvSpPr>
            <p:nvPr/>
          </p:nvSpPr>
          <p:spPr bwMode="auto">
            <a:xfrm>
              <a:off x="4727" y="1401"/>
              <a:ext cx="889" cy="2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1800" b="0">
                <a:latin typeface="Times New Roman" panose="02020603050405020304" pitchFamily="18" charset="0"/>
              </a:endParaRPr>
            </a:p>
          </p:txBody>
        </p:sp>
        <p:sp>
          <p:nvSpPr>
            <p:cNvPr id="109595" name="Rectangle 12"/>
            <p:cNvSpPr>
              <a:spLocks noChangeArrowheads="1"/>
            </p:cNvSpPr>
            <p:nvPr/>
          </p:nvSpPr>
          <p:spPr bwMode="auto">
            <a:xfrm>
              <a:off x="4727" y="1172"/>
              <a:ext cx="889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</a:t>
              </a:r>
              <a:r>
                <a:rPr lang="zh-CN" altLang="en-US" sz="2000" b="0">
                  <a:latin typeface="Times New Roman" panose="02020603050405020304" pitchFamily="18" charset="0"/>
                </a:rPr>
                <a:t>1</a:t>
              </a: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109596" name="Rectangle 13"/>
            <p:cNvSpPr>
              <a:spLocks noChangeArrowheads="1"/>
            </p:cNvSpPr>
            <p:nvPr/>
          </p:nvSpPr>
          <p:spPr bwMode="auto">
            <a:xfrm>
              <a:off x="4727" y="954"/>
              <a:ext cx="889" cy="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  字块0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597" name="Line 14"/>
            <p:cNvSpPr>
              <a:spLocks noChangeShapeType="1"/>
            </p:cNvSpPr>
            <p:nvPr/>
          </p:nvSpPr>
          <p:spPr bwMode="auto">
            <a:xfrm>
              <a:off x="4727" y="966"/>
              <a:ext cx="889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8" name="Line 15"/>
            <p:cNvSpPr>
              <a:spLocks noChangeShapeType="1"/>
            </p:cNvSpPr>
            <p:nvPr/>
          </p:nvSpPr>
          <p:spPr bwMode="auto">
            <a:xfrm>
              <a:off x="4727" y="1183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9" name="Line 16"/>
            <p:cNvSpPr>
              <a:spLocks noChangeShapeType="1"/>
            </p:cNvSpPr>
            <p:nvPr/>
          </p:nvSpPr>
          <p:spPr bwMode="auto">
            <a:xfrm>
              <a:off x="4727" y="1401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0" name="Line 17"/>
            <p:cNvSpPr>
              <a:spLocks noChangeShapeType="1"/>
            </p:cNvSpPr>
            <p:nvPr/>
          </p:nvSpPr>
          <p:spPr bwMode="auto">
            <a:xfrm>
              <a:off x="4727" y="1602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1" name="Line 18"/>
            <p:cNvSpPr>
              <a:spLocks noChangeShapeType="1"/>
            </p:cNvSpPr>
            <p:nvPr/>
          </p:nvSpPr>
          <p:spPr bwMode="auto">
            <a:xfrm>
              <a:off x="4727" y="1819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2" name="Line 19"/>
            <p:cNvSpPr>
              <a:spLocks noChangeShapeType="1"/>
            </p:cNvSpPr>
            <p:nvPr/>
          </p:nvSpPr>
          <p:spPr bwMode="auto">
            <a:xfrm>
              <a:off x="4727" y="2037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3" name="Line 20"/>
            <p:cNvSpPr>
              <a:spLocks noChangeShapeType="1"/>
            </p:cNvSpPr>
            <p:nvPr/>
          </p:nvSpPr>
          <p:spPr bwMode="auto">
            <a:xfrm>
              <a:off x="4727" y="2255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4" name="Line 21"/>
            <p:cNvSpPr>
              <a:spLocks noChangeShapeType="1"/>
            </p:cNvSpPr>
            <p:nvPr/>
          </p:nvSpPr>
          <p:spPr bwMode="auto">
            <a:xfrm>
              <a:off x="4727" y="2472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5" name="Line 22"/>
            <p:cNvSpPr>
              <a:spLocks noChangeShapeType="1"/>
            </p:cNvSpPr>
            <p:nvPr/>
          </p:nvSpPr>
          <p:spPr bwMode="auto">
            <a:xfrm>
              <a:off x="4727" y="2690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6" name="Line 23"/>
            <p:cNvSpPr>
              <a:spLocks noChangeShapeType="1"/>
            </p:cNvSpPr>
            <p:nvPr/>
          </p:nvSpPr>
          <p:spPr bwMode="auto">
            <a:xfrm>
              <a:off x="4727" y="2908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7" name="Line 24"/>
            <p:cNvSpPr>
              <a:spLocks noChangeShapeType="1"/>
            </p:cNvSpPr>
            <p:nvPr/>
          </p:nvSpPr>
          <p:spPr bwMode="auto">
            <a:xfrm>
              <a:off x="4727" y="3109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8" name="Line 25"/>
            <p:cNvSpPr>
              <a:spLocks noChangeShapeType="1"/>
            </p:cNvSpPr>
            <p:nvPr/>
          </p:nvSpPr>
          <p:spPr bwMode="auto">
            <a:xfrm>
              <a:off x="4727" y="3326"/>
              <a:ext cx="889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9" name="Line 26"/>
            <p:cNvSpPr>
              <a:spLocks noChangeShapeType="1"/>
            </p:cNvSpPr>
            <p:nvPr/>
          </p:nvSpPr>
          <p:spPr bwMode="auto">
            <a:xfrm>
              <a:off x="4727" y="966"/>
              <a:ext cx="0" cy="236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10" name="Line 27"/>
            <p:cNvSpPr>
              <a:spLocks noChangeShapeType="1"/>
            </p:cNvSpPr>
            <p:nvPr/>
          </p:nvSpPr>
          <p:spPr bwMode="auto">
            <a:xfrm>
              <a:off x="5616" y="966"/>
              <a:ext cx="0" cy="236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11" name="Text Box 28"/>
            <p:cNvSpPr txBox="1">
              <a:spLocks noChangeArrowheads="1"/>
            </p:cNvSpPr>
            <p:nvPr/>
          </p:nvSpPr>
          <p:spPr bwMode="auto">
            <a:xfrm>
              <a:off x="5023" y="1380"/>
              <a:ext cx="34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09612" name="Text Box 29"/>
            <p:cNvSpPr txBox="1">
              <a:spLocks noChangeArrowheads="1"/>
            </p:cNvSpPr>
            <p:nvPr/>
          </p:nvSpPr>
          <p:spPr bwMode="auto">
            <a:xfrm>
              <a:off x="5023" y="2246"/>
              <a:ext cx="34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09613" name="Text Box 30"/>
            <p:cNvSpPr txBox="1">
              <a:spLocks noChangeArrowheads="1"/>
            </p:cNvSpPr>
            <p:nvPr/>
          </p:nvSpPr>
          <p:spPr bwMode="auto">
            <a:xfrm>
              <a:off x="5033" y="2890"/>
              <a:ext cx="34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09614" name="Text Box 31"/>
            <p:cNvSpPr txBox="1">
              <a:spLocks noChangeArrowheads="1"/>
            </p:cNvSpPr>
            <p:nvPr/>
          </p:nvSpPr>
          <p:spPr bwMode="auto">
            <a:xfrm>
              <a:off x="4829" y="694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主存储体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15" name="Rectangle 32"/>
            <p:cNvSpPr>
              <a:spLocks noChangeArrowheads="1"/>
            </p:cNvSpPr>
            <p:nvPr/>
          </p:nvSpPr>
          <p:spPr bwMode="auto">
            <a:xfrm>
              <a:off x="3230" y="1296"/>
              <a:ext cx="842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  字块 1</a:t>
              </a: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109616" name="Rectangle 33"/>
            <p:cNvSpPr>
              <a:spLocks noChangeArrowheads="1"/>
            </p:cNvSpPr>
            <p:nvPr/>
          </p:nvSpPr>
          <p:spPr bwMode="auto">
            <a:xfrm>
              <a:off x="2762" y="1296"/>
              <a:ext cx="468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17" name="Rectangle 34"/>
            <p:cNvSpPr>
              <a:spLocks noChangeArrowheads="1"/>
            </p:cNvSpPr>
            <p:nvPr/>
          </p:nvSpPr>
          <p:spPr bwMode="auto">
            <a:xfrm>
              <a:off x="3230" y="1078"/>
              <a:ext cx="842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  字块 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18" name="Rectangle 35"/>
            <p:cNvSpPr>
              <a:spLocks noChangeArrowheads="1"/>
            </p:cNvSpPr>
            <p:nvPr/>
          </p:nvSpPr>
          <p:spPr bwMode="auto">
            <a:xfrm>
              <a:off x="2762" y="1078"/>
              <a:ext cx="468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19" name="Line 36"/>
            <p:cNvSpPr>
              <a:spLocks noChangeShapeType="1"/>
            </p:cNvSpPr>
            <p:nvPr/>
          </p:nvSpPr>
          <p:spPr bwMode="auto">
            <a:xfrm>
              <a:off x="2762" y="1091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0" name="Line 37"/>
            <p:cNvSpPr>
              <a:spLocks noChangeShapeType="1"/>
            </p:cNvSpPr>
            <p:nvPr/>
          </p:nvSpPr>
          <p:spPr bwMode="auto">
            <a:xfrm>
              <a:off x="2762" y="1309"/>
              <a:ext cx="131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1" name="Line 38"/>
            <p:cNvSpPr>
              <a:spLocks noChangeShapeType="1"/>
            </p:cNvSpPr>
            <p:nvPr/>
          </p:nvSpPr>
          <p:spPr bwMode="auto">
            <a:xfrm>
              <a:off x="2762" y="1527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2" name="Line 39"/>
            <p:cNvSpPr>
              <a:spLocks noChangeShapeType="1"/>
            </p:cNvSpPr>
            <p:nvPr/>
          </p:nvSpPr>
          <p:spPr bwMode="auto">
            <a:xfrm>
              <a:off x="2762" y="1091"/>
              <a:ext cx="0" cy="43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3" name="Line 40"/>
            <p:cNvSpPr>
              <a:spLocks noChangeShapeType="1"/>
            </p:cNvSpPr>
            <p:nvPr/>
          </p:nvSpPr>
          <p:spPr bwMode="auto">
            <a:xfrm>
              <a:off x="3230" y="1091"/>
              <a:ext cx="0" cy="4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4" name="Line 41"/>
            <p:cNvSpPr>
              <a:spLocks noChangeShapeType="1"/>
            </p:cNvSpPr>
            <p:nvPr/>
          </p:nvSpPr>
          <p:spPr bwMode="auto">
            <a:xfrm>
              <a:off x="4072" y="1091"/>
              <a:ext cx="0" cy="43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5" name="Rectangle 42"/>
            <p:cNvSpPr>
              <a:spLocks noChangeArrowheads="1"/>
            </p:cNvSpPr>
            <p:nvPr/>
          </p:nvSpPr>
          <p:spPr bwMode="auto">
            <a:xfrm>
              <a:off x="3227" y="1922"/>
              <a:ext cx="845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 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26" name="Rectangle 43"/>
            <p:cNvSpPr>
              <a:spLocks noChangeArrowheads="1"/>
            </p:cNvSpPr>
            <p:nvPr/>
          </p:nvSpPr>
          <p:spPr bwMode="auto">
            <a:xfrm>
              <a:off x="2762" y="1894"/>
              <a:ext cx="465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27" name="Line 44"/>
            <p:cNvSpPr>
              <a:spLocks noChangeShapeType="1"/>
            </p:cNvSpPr>
            <p:nvPr/>
          </p:nvSpPr>
          <p:spPr bwMode="auto">
            <a:xfrm>
              <a:off x="2762" y="1930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8" name="Line 45"/>
            <p:cNvSpPr>
              <a:spLocks noChangeShapeType="1"/>
            </p:cNvSpPr>
            <p:nvPr/>
          </p:nvSpPr>
          <p:spPr bwMode="auto">
            <a:xfrm>
              <a:off x="2762" y="2148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9" name="Line 46"/>
            <p:cNvSpPr>
              <a:spLocks noChangeShapeType="1"/>
            </p:cNvSpPr>
            <p:nvPr/>
          </p:nvSpPr>
          <p:spPr bwMode="auto">
            <a:xfrm>
              <a:off x="2762" y="1930"/>
              <a:ext cx="0" cy="2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30" name="Line 47"/>
            <p:cNvSpPr>
              <a:spLocks noChangeShapeType="1"/>
            </p:cNvSpPr>
            <p:nvPr/>
          </p:nvSpPr>
          <p:spPr bwMode="auto">
            <a:xfrm>
              <a:off x="4072" y="1930"/>
              <a:ext cx="0" cy="2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31" name="Line 48"/>
            <p:cNvSpPr>
              <a:spLocks noChangeShapeType="1"/>
            </p:cNvSpPr>
            <p:nvPr/>
          </p:nvSpPr>
          <p:spPr bwMode="auto">
            <a:xfrm>
              <a:off x="3227" y="1930"/>
              <a:ext cx="0" cy="2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32" name="Text Box 49"/>
            <p:cNvSpPr txBox="1">
              <a:spLocks noChangeArrowheads="1"/>
            </p:cNvSpPr>
            <p:nvPr/>
          </p:nvSpPr>
          <p:spPr bwMode="auto">
            <a:xfrm>
              <a:off x="3043" y="672"/>
              <a:ext cx="111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Cache</a:t>
              </a:r>
              <a:r>
                <a:rPr lang="zh-CN" altLang="en-US" sz="2000">
                  <a:latin typeface="Times New Roman" panose="02020603050405020304" pitchFamily="18" charset="0"/>
                </a:rPr>
                <a:t>存储体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33" name="AutoShape 50"/>
            <p:cNvSpPr/>
            <p:nvPr/>
          </p:nvSpPr>
          <p:spPr bwMode="auto">
            <a:xfrm rot="-5400000">
              <a:off x="2954" y="774"/>
              <a:ext cx="84" cy="468"/>
            </a:xfrm>
            <a:prstGeom prst="rightBrace">
              <a:avLst>
                <a:gd name="adj1" fmla="val 46429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34" name="Text Box 51"/>
            <p:cNvSpPr txBox="1">
              <a:spLocks noChangeArrowheads="1"/>
            </p:cNvSpPr>
            <p:nvPr/>
          </p:nvSpPr>
          <p:spPr bwMode="auto">
            <a:xfrm>
              <a:off x="2711" y="672"/>
              <a:ext cx="33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35" name="Text Box 52"/>
            <p:cNvSpPr txBox="1">
              <a:spLocks noChangeArrowheads="1"/>
            </p:cNvSpPr>
            <p:nvPr/>
          </p:nvSpPr>
          <p:spPr bwMode="auto">
            <a:xfrm>
              <a:off x="2556" y="1072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09636" name="Text Box 53"/>
            <p:cNvSpPr txBox="1">
              <a:spLocks noChangeArrowheads="1"/>
            </p:cNvSpPr>
            <p:nvPr/>
          </p:nvSpPr>
          <p:spPr bwMode="auto">
            <a:xfrm>
              <a:off x="2556" y="130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09637" name="Text Box 54"/>
            <p:cNvSpPr txBox="1">
              <a:spLocks noChangeArrowheads="1"/>
            </p:cNvSpPr>
            <p:nvPr/>
          </p:nvSpPr>
          <p:spPr bwMode="auto">
            <a:xfrm>
              <a:off x="2219" y="1872"/>
              <a:ext cx="59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400">
                  <a:latin typeface="Times New Roman" panose="02020603050405020304" pitchFamily="18" charset="0"/>
                </a:rPr>
                <a:t>－1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09638" name="Line 55"/>
            <p:cNvSpPr>
              <a:spLocks noChangeShapeType="1"/>
            </p:cNvSpPr>
            <p:nvPr/>
          </p:nvSpPr>
          <p:spPr bwMode="auto">
            <a:xfrm>
              <a:off x="3230" y="1511"/>
              <a:ext cx="0" cy="4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39" name="Line 56"/>
            <p:cNvSpPr>
              <a:spLocks noChangeShapeType="1"/>
            </p:cNvSpPr>
            <p:nvPr/>
          </p:nvSpPr>
          <p:spPr bwMode="auto">
            <a:xfrm>
              <a:off x="4072" y="1511"/>
              <a:ext cx="0" cy="4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40" name="Text Box 57"/>
            <p:cNvSpPr txBox="1">
              <a:spLocks noChangeArrowheads="1"/>
            </p:cNvSpPr>
            <p:nvPr/>
          </p:nvSpPr>
          <p:spPr bwMode="auto">
            <a:xfrm>
              <a:off x="3509" y="1595"/>
              <a:ext cx="427" cy="3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09641" name="Rectangle 58"/>
            <p:cNvSpPr>
              <a:spLocks noChangeArrowheads="1"/>
            </p:cNvSpPr>
            <p:nvPr/>
          </p:nvSpPr>
          <p:spPr bwMode="auto">
            <a:xfrm>
              <a:off x="3745" y="2561"/>
              <a:ext cx="608" cy="4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字块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42" name="Rectangle 59"/>
            <p:cNvSpPr>
              <a:spLocks noChangeArrowheads="1"/>
            </p:cNvSpPr>
            <p:nvPr/>
          </p:nvSpPr>
          <p:spPr bwMode="auto">
            <a:xfrm>
              <a:off x="2976" y="2736"/>
              <a:ext cx="844" cy="2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43" name="Rectangle 60"/>
            <p:cNvSpPr>
              <a:spLocks noChangeArrowheads="1"/>
            </p:cNvSpPr>
            <p:nvPr/>
          </p:nvSpPr>
          <p:spPr bwMode="auto">
            <a:xfrm>
              <a:off x="2248" y="2561"/>
              <a:ext cx="1448" cy="4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主存字 </a:t>
              </a:r>
              <a:endParaRPr lang="zh-CN" altLang="en-US" sz="2000">
                <a:latin typeface="Times New Roman" panose="02020603050405020304" pitchFamily="18" charset="0"/>
              </a:endParaRPr>
            </a:p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块标记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44" name="Line 61"/>
            <p:cNvSpPr>
              <a:spLocks noChangeShapeType="1"/>
            </p:cNvSpPr>
            <p:nvPr/>
          </p:nvSpPr>
          <p:spPr bwMode="auto">
            <a:xfrm>
              <a:off x="2248" y="2561"/>
              <a:ext cx="210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45" name="Line 62"/>
            <p:cNvSpPr>
              <a:spLocks noChangeShapeType="1"/>
            </p:cNvSpPr>
            <p:nvPr/>
          </p:nvSpPr>
          <p:spPr bwMode="auto">
            <a:xfrm>
              <a:off x="2248" y="2979"/>
              <a:ext cx="210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46" name="Line 63"/>
            <p:cNvSpPr>
              <a:spLocks noChangeShapeType="1"/>
            </p:cNvSpPr>
            <p:nvPr/>
          </p:nvSpPr>
          <p:spPr bwMode="auto">
            <a:xfrm>
              <a:off x="2248" y="2561"/>
              <a:ext cx="0" cy="4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47" name="Line 64"/>
            <p:cNvSpPr>
              <a:spLocks noChangeShapeType="1"/>
            </p:cNvSpPr>
            <p:nvPr/>
          </p:nvSpPr>
          <p:spPr bwMode="auto">
            <a:xfrm>
              <a:off x="2996" y="2561"/>
              <a:ext cx="0" cy="4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48" name="Line 65"/>
            <p:cNvSpPr>
              <a:spLocks noChangeShapeType="1"/>
            </p:cNvSpPr>
            <p:nvPr/>
          </p:nvSpPr>
          <p:spPr bwMode="auto">
            <a:xfrm>
              <a:off x="3745" y="2561"/>
              <a:ext cx="0" cy="4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49" name="Line 66"/>
            <p:cNvSpPr>
              <a:spLocks noChangeShapeType="1"/>
            </p:cNvSpPr>
            <p:nvPr/>
          </p:nvSpPr>
          <p:spPr bwMode="auto">
            <a:xfrm>
              <a:off x="4353" y="2561"/>
              <a:ext cx="0" cy="4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50" name="Text Box 67"/>
            <p:cNvSpPr txBox="1">
              <a:spLocks noChangeArrowheads="1"/>
            </p:cNvSpPr>
            <p:nvPr/>
          </p:nvSpPr>
          <p:spPr bwMode="auto">
            <a:xfrm>
              <a:off x="2488" y="3014"/>
              <a:ext cx="36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i="1">
                  <a:latin typeface="Times New Roman" panose="02020603050405020304" pitchFamily="18" charset="0"/>
                </a:rPr>
                <a:t>t</a:t>
              </a:r>
              <a:r>
                <a:rPr lang="en-US" altLang="zh-CN" sz="20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51" name="Text Box 68"/>
            <p:cNvSpPr txBox="1">
              <a:spLocks noChangeArrowheads="1"/>
            </p:cNvSpPr>
            <p:nvPr/>
          </p:nvSpPr>
          <p:spPr bwMode="auto">
            <a:xfrm>
              <a:off x="3252" y="2987"/>
              <a:ext cx="39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i="1">
                  <a:latin typeface="Times New Roman" panose="02020603050405020304" pitchFamily="18" charset="0"/>
                </a:rPr>
                <a:t>c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52" name="Text Box 69"/>
            <p:cNvSpPr txBox="1">
              <a:spLocks noChangeArrowheads="1"/>
            </p:cNvSpPr>
            <p:nvPr/>
          </p:nvSpPr>
          <p:spPr bwMode="auto">
            <a:xfrm>
              <a:off x="3885" y="2987"/>
              <a:ext cx="4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i="1">
                  <a:latin typeface="Times New Roman" panose="02020603050405020304" pitchFamily="18" charset="0"/>
                </a:rPr>
                <a:t>b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53" name="Text Box 70"/>
            <p:cNvSpPr txBox="1">
              <a:spLocks noChangeArrowheads="1"/>
            </p:cNvSpPr>
            <p:nvPr/>
          </p:nvSpPr>
          <p:spPr bwMode="auto">
            <a:xfrm>
              <a:off x="1499" y="2642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主存地址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54" name="AutoShape 71"/>
            <p:cNvSpPr/>
            <p:nvPr/>
          </p:nvSpPr>
          <p:spPr bwMode="auto">
            <a:xfrm rot="-5400000">
              <a:off x="2559" y="2123"/>
              <a:ext cx="126" cy="748"/>
            </a:xfrm>
            <a:prstGeom prst="rightBrace">
              <a:avLst>
                <a:gd name="adj1" fmla="val 49471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55" name="AutoShape 72"/>
            <p:cNvSpPr/>
            <p:nvPr/>
          </p:nvSpPr>
          <p:spPr bwMode="auto">
            <a:xfrm rot="-5400000">
              <a:off x="3308" y="2122"/>
              <a:ext cx="126" cy="749"/>
            </a:xfrm>
            <a:prstGeom prst="rightBrace">
              <a:avLst>
                <a:gd name="adj1" fmla="val 49537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56" name="Rectangle 73"/>
            <p:cNvSpPr>
              <a:spLocks noChangeArrowheads="1"/>
            </p:cNvSpPr>
            <p:nvPr/>
          </p:nvSpPr>
          <p:spPr bwMode="auto">
            <a:xfrm>
              <a:off x="423" y="1964"/>
              <a:ext cx="1170" cy="50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57" name="Text Box 74"/>
            <p:cNvSpPr txBox="1">
              <a:spLocks noChangeArrowheads="1"/>
            </p:cNvSpPr>
            <p:nvPr/>
          </p:nvSpPr>
          <p:spPr bwMode="auto">
            <a:xfrm>
              <a:off x="470" y="1972"/>
              <a:ext cx="11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 比较器（</a:t>
              </a:r>
              <a:r>
                <a:rPr lang="en-US" altLang="zh-CN" sz="2000" i="1">
                  <a:latin typeface="Times New Roman" panose="02020603050405020304" pitchFamily="18" charset="0"/>
                </a:rPr>
                <a:t>t</a:t>
              </a:r>
              <a:r>
                <a:rPr lang="zh-CN" altLang="en-US" sz="2000">
                  <a:latin typeface="Times New Roman" panose="02020603050405020304" pitchFamily="18" charset="0"/>
                </a:rPr>
                <a:t>位）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58" name="Text Box 75"/>
            <p:cNvSpPr txBox="1">
              <a:spLocks noChangeArrowheads="1"/>
            </p:cNvSpPr>
            <p:nvPr/>
          </p:nvSpPr>
          <p:spPr bwMode="auto">
            <a:xfrm>
              <a:off x="517" y="2215"/>
              <a:ext cx="22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=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09659" name="Text Box 76"/>
            <p:cNvSpPr txBox="1">
              <a:spLocks noChangeArrowheads="1"/>
            </p:cNvSpPr>
            <p:nvPr/>
          </p:nvSpPr>
          <p:spPr bwMode="auto">
            <a:xfrm>
              <a:off x="1190" y="2225"/>
              <a:ext cx="246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 ≠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60" name="Line 77"/>
            <p:cNvSpPr>
              <a:spLocks noChangeShapeType="1"/>
            </p:cNvSpPr>
            <p:nvPr/>
          </p:nvSpPr>
          <p:spPr bwMode="auto">
            <a:xfrm>
              <a:off x="1359" y="2467"/>
              <a:ext cx="0" cy="7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61" name="Text Box 78"/>
            <p:cNvSpPr txBox="1">
              <a:spLocks noChangeArrowheads="1"/>
            </p:cNvSpPr>
            <p:nvPr/>
          </p:nvSpPr>
          <p:spPr bwMode="auto">
            <a:xfrm>
              <a:off x="985" y="3264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不命中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62" name="Text Box 79"/>
            <p:cNvSpPr txBox="1">
              <a:spLocks noChangeArrowheads="1"/>
            </p:cNvSpPr>
            <p:nvPr/>
          </p:nvSpPr>
          <p:spPr bwMode="auto">
            <a:xfrm>
              <a:off x="180" y="2784"/>
              <a:ext cx="93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有效位=1？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63" name="AutoShape 80"/>
            <p:cNvSpPr>
              <a:spLocks noChangeArrowheads="1"/>
            </p:cNvSpPr>
            <p:nvPr/>
          </p:nvSpPr>
          <p:spPr bwMode="auto">
            <a:xfrm>
              <a:off x="96" y="2677"/>
              <a:ext cx="1029" cy="461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64" name="Freeform 81"/>
            <p:cNvSpPr/>
            <p:nvPr/>
          </p:nvSpPr>
          <p:spPr bwMode="auto">
            <a:xfrm>
              <a:off x="1122" y="2908"/>
              <a:ext cx="231" cy="0"/>
            </a:xfrm>
            <a:custGeom>
              <a:avLst/>
              <a:gdLst>
                <a:gd name="T0" fmla="*/ 0 w 237"/>
                <a:gd name="T1" fmla="*/ 0 h 1"/>
                <a:gd name="T2" fmla="*/ 225 w 23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65" name="Line 82"/>
            <p:cNvSpPr>
              <a:spLocks noChangeShapeType="1"/>
            </p:cNvSpPr>
            <p:nvPr/>
          </p:nvSpPr>
          <p:spPr bwMode="auto">
            <a:xfrm>
              <a:off x="611" y="2467"/>
              <a:ext cx="0" cy="2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66" name="AutoShape 83"/>
            <p:cNvSpPr/>
            <p:nvPr/>
          </p:nvSpPr>
          <p:spPr bwMode="auto">
            <a:xfrm rot="5400000">
              <a:off x="2954" y="1341"/>
              <a:ext cx="84" cy="468"/>
            </a:xfrm>
            <a:prstGeom prst="rightBrace">
              <a:avLst>
                <a:gd name="adj1" fmla="val 46429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67" name="Freeform 84"/>
            <p:cNvSpPr/>
            <p:nvPr/>
          </p:nvSpPr>
          <p:spPr bwMode="auto">
            <a:xfrm>
              <a:off x="704" y="1595"/>
              <a:ext cx="2292" cy="377"/>
            </a:xfrm>
            <a:custGeom>
              <a:avLst/>
              <a:gdLst>
                <a:gd name="T0" fmla="*/ 2234 w 2352"/>
                <a:gd name="T1" fmla="*/ 0 h 432"/>
                <a:gd name="T2" fmla="*/ 2234 w 2352"/>
                <a:gd name="T3" fmla="*/ 110 h 432"/>
                <a:gd name="T4" fmla="*/ 0 w 2352"/>
                <a:gd name="T5" fmla="*/ 110 h 432"/>
                <a:gd name="T6" fmla="*/ 0 w 2352"/>
                <a:gd name="T7" fmla="*/ 329 h 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32">
                  <a:moveTo>
                    <a:pt x="2352" y="0"/>
                  </a:moveTo>
                  <a:lnTo>
                    <a:pt x="2352" y="144"/>
                  </a:lnTo>
                  <a:lnTo>
                    <a:pt x="0" y="144"/>
                  </a:lnTo>
                  <a:lnTo>
                    <a:pt x="0" y="43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68" name="Freeform 85"/>
            <p:cNvSpPr/>
            <p:nvPr/>
          </p:nvSpPr>
          <p:spPr bwMode="auto">
            <a:xfrm>
              <a:off x="1306" y="1820"/>
              <a:ext cx="1316" cy="614"/>
            </a:xfrm>
            <a:custGeom>
              <a:avLst/>
              <a:gdLst>
                <a:gd name="T0" fmla="*/ 0 w 1350"/>
                <a:gd name="T1" fmla="*/ 122 h 702"/>
                <a:gd name="T2" fmla="*/ 0 w 1350"/>
                <a:gd name="T3" fmla="*/ 0 h 702"/>
                <a:gd name="T4" fmla="*/ 459 w 1350"/>
                <a:gd name="T5" fmla="*/ 0 h 702"/>
                <a:gd name="T6" fmla="*/ 462 w 1350"/>
                <a:gd name="T7" fmla="*/ 464 h 702"/>
                <a:gd name="T8" fmla="*/ 1283 w 1350"/>
                <a:gd name="T9" fmla="*/ 464 h 702"/>
                <a:gd name="T10" fmla="*/ 1283 w 1350"/>
                <a:gd name="T11" fmla="*/ 537 h 7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0" h="702">
                  <a:moveTo>
                    <a:pt x="0" y="159"/>
                  </a:moveTo>
                  <a:lnTo>
                    <a:pt x="0" y="0"/>
                  </a:lnTo>
                  <a:lnTo>
                    <a:pt x="483" y="0"/>
                  </a:lnTo>
                  <a:lnTo>
                    <a:pt x="486" y="606"/>
                  </a:lnTo>
                  <a:lnTo>
                    <a:pt x="1350" y="606"/>
                  </a:lnTo>
                  <a:lnTo>
                    <a:pt x="1350" y="70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69" name="Freeform 86"/>
            <p:cNvSpPr/>
            <p:nvPr/>
          </p:nvSpPr>
          <p:spPr bwMode="auto">
            <a:xfrm>
              <a:off x="1967" y="1427"/>
              <a:ext cx="1404" cy="1007"/>
            </a:xfrm>
            <a:custGeom>
              <a:avLst/>
              <a:gdLst>
                <a:gd name="T0" fmla="*/ 593 w 1440"/>
                <a:gd name="T1" fmla="*/ 0 h 1152"/>
                <a:gd name="T2" fmla="*/ 0 w 1440"/>
                <a:gd name="T3" fmla="*/ 0 h 1152"/>
                <a:gd name="T4" fmla="*/ 0 w 1440"/>
                <a:gd name="T5" fmla="*/ 733 h 1152"/>
                <a:gd name="T6" fmla="*/ 1369 w 1440"/>
                <a:gd name="T7" fmla="*/ 733 h 1152"/>
                <a:gd name="T8" fmla="*/ 1369 w 1440"/>
                <a:gd name="T9" fmla="*/ 880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0" h="1152">
                  <a:moveTo>
                    <a:pt x="624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1440" y="960"/>
                  </a:lnTo>
                  <a:lnTo>
                    <a:pt x="1440" y="11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0" name="Text Box 87"/>
            <p:cNvSpPr txBox="1">
              <a:spLocks noChangeArrowheads="1"/>
            </p:cNvSpPr>
            <p:nvPr/>
          </p:nvSpPr>
          <p:spPr bwMode="auto">
            <a:xfrm>
              <a:off x="2306" y="1216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*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09671" name="AutoShape 88"/>
            <p:cNvSpPr/>
            <p:nvPr/>
          </p:nvSpPr>
          <p:spPr bwMode="auto">
            <a:xfrm rot="5400000">
              <a:off x="2913" y="2482"/>
              <a:ext cx="168" cy="1497"/>
            </a:xfrm>
            <a:prstGeom prst="rightBrace">
              <a:avLst>
                <a:gd name="adj1" fmla="val 74256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09672" name="Text Box 89"/>
            <p:cNvSpPr txBox="1">
              <a:spLocks noChangeArrowheads="1"/>
            </p:cNvSpPr>
            <p:nvPr/>
          </p:nvSpPr>
          <p:spPr bwMode="auto">
            <a:xfrm>
              <a:off x="2856" y="3306"/>
              <a:ext cx="40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i="1">
                  <a:latin typeface="Times New Roman" panose="02020603050405020304" pitchFamily="18" charset="0"/>
                </a:rPr>
                <a:t>m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73" name="Line 90"/>
            <p:cNvSpPr>
              <a:spLocks noChangeShapeType="1"/>
            </p:cNvSpPr>
            <p:nvPr/>
          </p:nvSpPr>
          <p:spPr bwMode="auto">
            <a:xfrm>
              <a:off x="4072" y="2056"/>
              <a:ext cx="655" cy="109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4" name="Line 91"/>
            <p:cNvSpPr>
              <a:spLocks noChangeShapeType="1"/>
            </p:cNvSpPr>
            <p:nvPr/>
          </p:nvSpPr>
          <p:spPr bwMode="auto">
            <a:xfrm flipV="1">
              <a:off x="4072" y="1050"/>
              <a:ext cx="655" cy="1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5" name="Line 92"/>
            <p:cNvSpPr>
              <a:spLocks noChangeShapeType="1"/>
            </p:cNvSpPr>
            <p:nvPr/>
          </p:nvSpPr>
          <p:spPr bwMode="auto">
            <a:xfrm flipV="1">
              <a:off x="4072" y="1301"/>
              <a:ext cx="655" cy="1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6" name="Line 93"/>
            <p:cNvSpPr>
              <a:spLocks noChangeShapeType="1"/>
            </p:cNvSpPr>
            <p:nvPr/>
          </p:nvSpPr>
          <p:spPr bwMode="auto">
            <a:xfrm>
              <a:off x="4072" y="1175"/>
              <a:ext cx="655" cy="7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7" name="Line 94"/>
            <p:cNvSpPr>
              <a:spLocks noChangeShapeType="1"/>
            </p:cNvSpPr>
            <p:nvPr/>
          </p:nvSpPr>
          <p:spPr bwMode="auto">
            <a:xfrm>
              <a:off x="4072" y="1427"/>
              <a:ext cx="655" cy="7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8" name="Line 95"/>
            <p:cNvSpPr>
              <a:spLocks noChangeShapeType="1"/>
            </p:cNvSpPr>
            <p:nvPr/>
          </p:nvSpPr>
          <p:spPr bwMode="auto">
            <a:xfrm>
              <a:off x="4072" y="1175"/>
              <a:ext cx="655" cy="15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79" name="Line 96"/>
            <p:cNvSpPr>
              <a:spLocks noChangeShapeType="1"/>
            </p:cNvSpPr>
            <p:nvPr/>
          </p:nvSpPr>
          <p:spPr bwMode="auto">
            <a:xfrm flipV="1">
              <a:off x="4072" y="1679"/>
              <a:ext cx="655" cy="3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80" name="Line 97"/>
            <p:cNvSpPr>
              <a:spLocks noChangeShapeType="1"/>
            </p:cNvSpPr>
            <p:nvPr/>
          </p:nvSpPr>
          <p:spPr bwMode="auto">
            <a:xfrm>
              <a:off x="4072" y="2056"/>
              <a:ext cx="655" cy="5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81" name="Text Box 98"/>
            <p:cNvSpPr txBox="1">
              <a:spLocks noChangeArrowheads="1"/>
            </p:cNvSpPr>
            <p:nvPr/>
          </p:nvSpPr>
          <p:spPr bwMode="auto">
            <a:xfrm>
              <a:off x="3057" y="2561"/>
              <a:ext cx="5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>
                  <a:latin typeface="Times New Roman" panose="02020603050405020304" pitchFamily="18" charset="0"/>
                </a:rPr>
                <a:t> Cache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82" name="Text Box 99"/>
            <p:cNvSpPr txBox="1">
              <a:spLocks noChangeArrowheads="1"/>
            </p:cNvSpPr>
            <p:nvPr/>
          </p:nvSpPr>
          <p:spPr bwMode="auto">
            <a:xfrm>
              <a:off x="3744" y="2736"/>
              <a:ext cx="59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内地址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83" name="Text Box 100"/>
            <p:cNvSpPr txBox="1">
              <a:spLocks noChangeArrowheads="1"/>
            </p:cNvSpPr>
            <p:nvPr/>
          </p:nvSpPr>
          <p:spPr bwMode="auto">
            <a:xfrm>
              <a:off x="1056" y="2640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84" name="Line 101"/>
            <p:cNvSpPr>
              <a:spLocks noChangeShapeType="1"/>
            </p:cNvSpPr>
            <p:nvPr/>
          </p:nvSpPr>
          <p:spPr bwMode="auto">
            <a:xfrm>
              <a:off x="624" y="3120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85" name="Text Box 102"/>
            <p:cNvSpPr txBox="1">
              <a:spLocks noChangeArrowheads="1"/>
            </p:cNvSpPr>
            <p:nvPr/>
          </p:nvSpPr>
          <p:spPr bwMode="auto">
            <a:xfrm>
              <a:off x="326" y="3118"/>
              <a:ext cx="27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09686" name="Text Box 103"/>
            <p:cNvSpPr txBox="1">
              <a:spLocks noChangeArrowheads="1"/>
            </p:cNvSpPr>
            <p:nvPr/>
          </p:nvSpPr>
          <p:spPr bwMode="auto">
            <a:xfrm>
              <a:off x="422" y="3358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命中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sp>
        <p:nvSpPr>
          <p:cNvPr id="109571" name="Text Box 104"/>
          <p:cNvSpPr txBox="1">
            <a:spLocks noChangeArrowheads="1"/>
          </p:cNvSpPr>
          <p:nvPr/>
        </p:nvSpPr>
        <p:spPr bwMode="auto">
          <a:xfrm>
            <a:off x="463898" y="57151"/>
            <a:ext cx="59324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二、</a:t>
            </a:r>
            <a:r>
              <a:rPr lang="en-US" altLang="zh-CN" sz="3600" dirty="0">
                <a:latin typeface="Times New Roman" panose="02020603050405020304" pitchFamily="18" charset="0"/>
              </a:rPr>
              <a:t>Cache –</a:t>
            </a:r>
            <a:r>
              <a:rPr lang="en-US" altLang="zh-CN" sz="900" dirty="0">
                <a:latin typeface="Times New Roman" panose="02020603050405020304" pitchFamily="18" charset="0"/>
              </a:rPr>
              <a:t>  </a:t>
            </a:r>
            <a:r>
              <a:rPr lang="zh-CN" altLang="en-US" sz="3600" dirty="0">
                <a:latin typeface="Times New Roman" panose="02020603050405020304" pitchFamily="18" charset="0"/>
              </a:rPr>
              <a:t>主存的地址映射</a:t>
            </a:r>
            <a:endParaRPr lang="en-US" altLang="zh-CN" sz="3600" dirty="0">
              <a:latin typeface="Times New Roman" panose="02020603050405020304" pitchFamily="18" charset="0"/>
            </a:endParaRPr>
          </a:p>
        </p:txBody>
      </p:sp>
      <p:sp>
        <p:nvSpPr>
          <p:cNvPr id="292970" name="Text Box 106"/>
          <p:cNvSpPr txBox="1">
            <a:spLocks noChangeArrowheads="1"/>
          </p:cNvSpPr>
          <p:nvPr/>
        </p:nvSpPr>
        <p:spPr bwMode="auto">
          <a:xfrm>
            <a:off x="1609452" y="873151"/>
            <a:ext cx="23241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1.  直接映射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92971" name="Text Box 107"/>
          <p:cNvSpPr txBox="1">
            <a:spLocks noChangeArrowheads="1"/>
          </p:cNvSpPr>
          <p:nvPr/>
        </p:nvSpPr>
        <p:spPr bwMode="auto">
          <a:xfrm>
            <a:off x="2839766" y="5694387"/>
            <a:ext cx="654208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每个缓存块</a:t>
            </a:r>
            <a:r>
              <a:rPr lang="zh-CN" altLang="en-US" sz="2400">
                <a:latin typeface="Times New Roman" panose="02020603050405020304" pitchFamily="18" charset="0"/>
              </a:rPr>
              <a:t> 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i 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可以和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若干 </a:t>
            </a:r>
            <a:r>
              <a:rPr lang="zh-CN" altLang="en-US" sz="2400">
                <a:latin typeface="Times New Roman" panose="02020603050405020304" pitchFamily="18" charset="0"/>
              </a:rPr>
              <a:t>个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latin typeface="Times New Roman" panose="02020603050405020304" pitchFamily="18" charset="0"/>
              </a:rPr>
              <a:t>对应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92972" name="Text Box 108"/>
          <p:cNvSpPr txBox="1">
            <a:spLocks noChangeArrowheads="1"/>
          </p:cNvSpPr>
          <p:nvPr/>
        </p:nvSpPr>
        <p:spPr bwMode="auto">
          <a:xfrm>
            <a:off x="2855640" y="6237312"/>
            <a:ext cx="606901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每个主存块</a:t>
            </a:r>
            <a:r>
              <a:rPr lang="zh-CN" altLang="en-US" sz="2400">
                <a:latin typeface="Times New Roman" panose="02020603050405020304" pitchFamily="18" charset="0"/>
              </a:rPr>
              <a:t> 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en-US" sz="2400">
                <a:latin typeface="Times New Roman" panose="02020603050405020304" pitchFamily="18" charset="0"/>
              </a:rPr>
              <a:t>只能和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一 </a:t>
            </a:r>
            <a:r>
              <a:rPr lang="zh-CN" altLang="en-US" sz="2400">
                <a:latin typeface="Times New Roman" panose="02020603050405020304" pitchFamily="18" charset="0"/>
              </a:rPr>
              <a:t>个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缓存块 </a:t>
            </a:r>
            <a:r>
              <a:rPr lang="zh-CN" altLang="en-US" sz="2400">
                <a:latin typeface="Times New Roman" panose="02020603050405020304" pitchFamily="18" charset="0"/>
              </a:rPr>
              <a:t>对应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92973" name="Text Box 109"/>
          <p:cNvSpPr txBox="1">
            <a:spLocks noChangeArrowheads="1"/>
          </p:cNvSpPr>
          <p:nvPr/>
        </p:nvSpPr>
        <p:spPr bwMode="auto">
          <a:xfrm>
            <a:off x="2142852" y="1824063"/>
            <a:ext cx="1752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=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mod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endParaRPr lang="en-US" altLang="zh-CN" sz="2800" i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92975" name="Group 111"/>
          <p:cNvGrpSpPr/>
          <p:nvPr/>
        </p:nvGrpSpPr>
        <p:grpSpPr bwMode="auto">
          <a:xfrm>
            <a:off x="6127478" y="1538313"/>
            <a:ext cx="3787775" cy="3082925"/>
            <a:chOff x="3230" y="966"/>
            <a:chExt cx="2386" cy="1942"/>
          </a:xfrm>
        </p:grpSpPr>
        <p:sp>
          <p:nvSpPr>
            <p:cNvPr id="109579" name="Rectangle 112"/>
            <p:cNvSpPr>
              <a:spLocks noChangeArrowheads="1"/>
            </p:cNvSpPr>
            <p:nvPr/>
          </p:nvSpPr>
          <p:spPr bwMode="auto">
            <a:xfrm>
              <a:off x="4727" y="2690"/>
              <a:ext cx="889" cy="218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solidFill>
                    <a:schemeClr val="bg2"/>
                  </a:solidFill>
                  <a:latin typeface="Times New Roman" panose="02020603050405020304" pitchFamily="18" charset="0"/>
                </a:rPr>
                <a:t>   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solidFill>
                    <a:schemeClr val="bg2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solidFill>
                    <a:schemeClr val="bg2"/>
                  </a:solidFill>
                  <a:latin typeface="Times New Roman" panose="02020603050405020304" pitchFamily="18" charset="0"/>
                </a:rPr>
                <a:t>+1</a:t>
              </a:r>
              <a:endParaRPr lang="zh-CN" altLang="en-US" sz="2000" baseline="30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9580" name="Rectangle 113"/>
            <p:cNvSpPr>
              <a:spLocks noChangeArrowheads="1"/>
            </p:cNvSpPr>
            <p:nvPr/>
          </p:nvSpPr>
          <p:spPr bwMode="auto">
            <a:xfrm>
              <a:off x="4727" y="1819"/>
              <a:ext cx="889" cy="218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solidFill>
                    <a:schemeClr val="bg2"/>
                  </a:solidFill>
                  <a:latin typeface="Times New Roman" panose="02020603050405020304" pitchFamily="18" charset="0"/>
                </a:rPr>
                <a:t>     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solidFill>
                    <a:schemeClr val="bg2"/>
                  </a:solidFill>
                  <a:latin typeface="Times New Roman" panose="02020603050405020304" pitchFamily="18" charset="0"/>
                </a:rPr>
                <a:t>c</a:t>
              </a:r>
              <a:endParaRPr lang="zh-CN" altLang="en-US" sz="2000" i="1" baseline="30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9581" name="Rectangle 114"/>
            <p:cNvSpPr>
              <a:spLocks noChangeArrowheads="1"/>
            </p:cNvSpPr>
            <p:nvPr/>
          </p:nvSpPr>
          <p:spPr bwMode="auto">
            <a:xfrm>
              <a:off x="4727" y="966"/>
              <a:ext cx="889" cy="217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    字块0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9582" name="Line 115"/>
            <p:cNvSpPr>
              <a:spLocks noChangeShapeType="1"/>
            </p:cNvSpPr>
            <p:nvPr/>
          </p:nvSpPr>
          <p:spPr bwMode="auto">
            <a:xfrm flipV="1">
              <a:off x="4072" y="1050"/>
              <a:ext cx="655" cy="125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83" name="Line 116"/>
            <p:cNvSpPr>
              <a:spLocks noChangeShapeType="1"/>
            </p:cNvSpPr>
            <p:nvPr/>
          </p:nvSpPr>
          <p:spPr bwMode="auto">
            <a:xfrm>
              <a:off x="4072" y="1175"/>
              <a:ext cx="655" cy="755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84" name="Line 117"/>
            <p:cNvSpPr>
              <a:spLocks noChangeShapeType="1"/>
            </p:cNvSpPr>
            <p:nvPr/>
          </p:nvSpPr>
          <p:spPr bwMode="auto">
            <a:xfrm>
              <a:off x="4072" y="1175"/>
              <a:ext cx="655" cy="159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85" name="Rectangle 118"/>
            <p:cNvSpPr>
              <a:spLocks noChangeArrowheads="1"/>
            </p:cNvSpPr>
            <p:nvPr/>
          </p:nvSpPr>
          <p:spPr bwMode="auto">
            <a:xfrm>
              <a:off x="3230" y="1078"/>
              <a:ext cx="842" cy="218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    字块 0</a:t>
              </a:r>
              <a:endParaRPr lang="zh-CN" altLang="en-US" sz="2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2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92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292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2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2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2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970" grpId="0" autoUpdateAnimBg="0"/>
      <p:bldP spid="292971" grpId="0" autoUpdateAnimBg="0"/>
      <p:bldP spid="292972" grpId="0" autoUpdateAnimBg="0"/>
      <p:bldP spid="292973" grpId="0" autoUpdateAnimBg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Text Box 2"/>
          <p:cNvSpPr txBox="1">
            <a:spLocks noChangeArrowheads="1"/>
          </p:cNvSpPr>
          <p:nvPr/>
        </p:nvSpPr>
        <p:spPr bwMode="auto">
          <a:xfrm>
            <a:off x="695400" y="172245"/>
            <a:ext cx="38941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2. 全相联映射</a:t>
            </a:r>
            <a:endParaRPr lang="en-US" altLang="zh-CN" sz="3600" dirty="0">
              <a:latin typeface="Times New Roman" panose="02020603050405020304" pitchFamily="18" charset="0"/>
            </a:endParaRPr>
          </a:p>
        </p:txBody>
      </p:sp>
      <p:sp>
        <p:nvSpPr>
          <p:cNvPr id="293891" name="Text Box 3"/>
          <p:cNvSpPr txBox="1">
            <a:spLocks noChangeArrowheads="1"/>
          </p:cNvSpPr>
          <p:nvPr/>
        </p:nvSpPr>
        <p:spPr bwMode="auto">
          <a:xfrm>
            <a:off x="2833688" y="6016625"/>
            <a:ext cx="737711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主存 </a:t>
            </a:r>
            <a:r>
              <a:rPr lang="zh-CN" altLang="en-US" sz="2400">
                <a:latin typeface="Times New Roman" panose="02020603050405020304" pitchFamily="18" charset="0"/>
              </a:rPr>
              <a:t>中的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任一块 </a:t>
            </a:r>
            <a:r>
              <a:rPr lang="zh-CN" altLang="en-US" sz="2400">
                <a:latin typeface="Times New Roman" panose="02020603050405020304" pitchFamily="18" charset="0"/>
              </a:rPr>
              <a:t>可以映射到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缓存 </a:t>
            </a:r>
            <a:r>
              <a:rPr lang="zh-CN" altLang="en-US" sz="2400">
                <a:latin typeface="Times New Roman" panose="02020603050405020304" pitchFamily="18" charset="0"/>
              </a:rPr>
              <a:t>中的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任一块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93892" name="Group 4"/>
          <p:cNvGrpSpPr/>
          <p:nvPr/>
        </p:nvGrpSpPr>
        <p:grpSpPr bwMode="auto">
          <a:xfrm>
            <a:off x="2679700" y="1143001"/>
            <a:ext cx="5854700" cy="4683125"/>
            <a:chOff x="728" y="720"/>
            <a:chExt cx="3688" cy="2950"/>
          </a:xfrm>
        </p:grpSpPr>
        <p:sp>
          <p:nvSpPr>
            <p:cNvPr id="110620" name="Rectangle 5"/>
            <p:cNvSpPr>
              <a:spLocks noChangeArrowheads="1"/>
            </p:cNvSpPr>
            <p:nvPr/>
          </p:nvSpPr>
          <p:spPr bwMode="auto">
            <a:xfrm>
              <a:off x="3552" y="2876"/>
              <a:ext cx="864" cy="3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0" bIns="0"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m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21" name="Rectangle 6"/>
            <p:cNvSpPr>
              <a:spLocks noChangeArrowheads="1"/>
            </p:cNvSpPr>
            <p:nvPr/>
          </p:nvSpPr>
          <p:spPr bwMode="auto">
            <a:xfrm>
              <a:off x="3552" y="2521"/>
              <a:ext cx="864" cy="3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0" bIns="0"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110622" name="Rectangle 7"/>
            <p:cNvSpPr>
              <a:spLocks noChangeArrowheads="1"/>
            </p:cNvSpPr>
            <p:nvPr/>
          </p:nvSpPr>
          <p:spPr bwMode="auto">
            <a:xfrm>
              <a:off x="3552" y="2164"/>
              <a:ext cx="864" cy="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0" bIns="0"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10623" name="Rectangle 8"/>
            <p:cNvSpPr>
              <a:spLocks noChangeArrowheads="1"/>
            </p:cNvSpPr>
            <p:nvPr/>
          </p:nvSpPr>
          <p:spPr bwMode="auto">
            <a:xfrm>
              <a:off x="3552" y="1806"/>
              <a:ext cx="864" cy="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0" bIns="0"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110624" name="Rectangle 9"/>
            <p:cNvSpPr>
              <a:spLocks noChangeArrowheads="1"/>
            </p:cNvSpPr>
            <p:nvPr/>
          </p:nvSpPr>
          <p:spPr bwMode="auto">
            <a:xfrm>
              <a:off x="3552" y="1451"/>
              <a:ext cx="864" cy="3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0" bIns="0"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25" name="Rectangle 10"/>
            <p:cNvSpPr>
              <a:spLocks noChangeArrowheads="1"/>
            </p:cNvSpPr>
            <p:nvPr/>
          </p:nvSpPr>
          <p:spPr bwMode="auto">
            <a:xfrm>
              <a:off x="3552" y="1094"/>
              <a:ext cx="864" cy="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0" bIns="0"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字块0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26" name="Line 11"/>
            <p:cNvSpPr>
              <a:spLocks noChangeShapeType="1"/>
            </p:cNvSpPr>
            <p:nvPr/>
          </p:nvSpPr>
          <p:spPr bwMode="auto">
            <a:xfrm>
              <a:off x="3552" y="1094"/>
              <a:ext cx="864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27" name="Line 12"/>
            <p:cNvSpPr>
              <a:spLocks noChangeShapeType="1"/>
            </p:cNvSpPr>
            <p:nvPr/>
          </p:nvSpPr>
          <p:spPr bwMode="auto">
            <a:xfrm>
              <a:off x="3552" y="1451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28" name="Line 13"/>
            <p:cNvSpPr>
              <a:spLocks noChangeShapeType="1"/>
            </p:cNvSpPr>
            <p:nvPr/>
          </p:nvSpPr>
          <p:spPr bwMode="auto">
            <a:xfrm>
              <a:off x="3552" y="1806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29" name="Line 14"/>
            <p:cNvSpPr>
              <a:spLocks noChangeShapeType="1"/>
            </p:cNvSpPr>
            <p:nvPr/>
          </p:nvSpPr>
          <p:spPr bwMode="auto">
            <a:xfrm>
              <a:off x="3552" y="2164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0" name="Line 15"/>
            <p:cNvSpPr>
              <a:spLocks noChangeShapeType="1"/>
            </p:cNvSpPr>
            <p:nvPr/>
          </p:nvSpPr>
          <p:spPr bwMode="auto">
            <a:xfrm>
              <a:off x="3552" y="2521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1" name="Line 16"/>
            <p:cNvSpPr>
              <a:spLocks noChangeShapeType="1"/>
            </p:cNvSpPr>
            <p:nvPr/>
          </p:nvSpPr>
          <p:spPr bwMode="auto">
            <a:xfrm>
              <a:off x="3552" y="2876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2" name="Line 17"/>
            <p:cNvSpPr>
              <a:spLocks noChangeShapeType="1"/>
            </p:cNvSpPr>
            <p:nvPr/>
          </p:nvSpPr>
          <p:spPr bwMode="auto">
            <a:xfrm>
              <a:off x="3552" y="3190"/>
              <a:ext cx="864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3" name="Line 18"/>
            <p:cNvSpPr>
              <a:spLocks noChangeShapeType="1"/>
            </p:cNvSpPr>
            <p:nvPr/>
          </p:nvSpPr>
          <p:spPr bwMode="auto">
            <a:xfrm>
              <a:off x="3552" y="2164"/>
              <a:ext cx="0" cy="3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4" name="Line 19"/>
            <p:cNvSpPr>
              <a:spLocks noChangeShapeType="1"/>
            </p:cNvSpPr>
            <p:nvPr/>
          </p:nvSpPr>
          <p:spPr bwMode="auto">
            <a:xfrm>
              <a:off x="3552" y="1094"/>
              <a:ext cx="0" cy="107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5" name="Line 20"/>
            <p:cNvSpPr>
              <a:spLocks noChangeShapeType="1"/>
            </p:cNvSpPr>
            <p:nvPr/>
          </p:nvSpPr>
          <p:spPr bwMode="auto">
            <a:xfrm>
              <a:off x="3552" y="2521"/>
              <a:ext cx="0" cy="669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6" name="Line 21"/>
            <p:cNvSpPr>
              <a:spLocks noChangeShapeType="1"/>
            </p:cNvSpPr>
            <p:nvPr/>
          </p:nvSpPr>
          <p:spPr bwMode="auto">
            <a:xfrm>
              <a:off x="4416" y="2164"/>
              <a:ext cx="0" cy="3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7" name="Line 22"/>
            <p:cNvSpPr>
              <a:spLocks noChangeShapeType="1"/>
            </p:cNvSpPr>
            <p:nvPr/>
          </p:nvSpPr>
          <p:spPr bwMode="auto">
            <a:xfrm>
              <a:off x="4416" y="1094"/>
              <a:ext cx="0" cy="107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8" name="Line 23"/>
            <p:cNvSpPr>
              <a:spLocks noChangeShapeType="1"/>
            </p:cNvSpPr>
            <p:nvPr/>
          </p:nvSpPr>
          <p:spPr bwMode="auto">
            <a:xfrm>
              <a:off x="4416" y="2521"/>
              <a:ext cx="0" cy="669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110639" name="Text Box 24"/>
            <p:cNvSpPr txBox="1">
              <a:spLocks noChangeArrowheads="1"/>
            </p:cNvSpPr>
            <p:nvPr/>
          </p:nvSpPr>
          <p:spPr bwMode="auto">
            <a:xfrm>
              <a:off x="3838" y="1894"/>
              <a:ext cx="310" cy="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40" name="Text Box 25"/>
            <p:cNvSpPr txBox="1">
              <a:spLocks noChangeArrowheads="1"/>
            </p:cNvSpPr>
            <p:nvPr/>
          </p:nvSpPr>
          <p:spPr bwMode="auto">
            <a:xfrm>
              <a:off x="3818" y="2566"/>
              <a:ext cx="310" cy="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41" name="Rectangle 26"/>
            <p:cNvSpPr>
              <a:spLocks noChangeArrowheads="1"/>
            </p:cNvSpPr>
            <p:nvPr/>
          </p:nvSpPr>
          <p:spPr bwMode="auto">
            <a:xfrm>
              <a:off x="1488" y="2337"/>
              <a:ext cx="1056" cy="3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42" name="Rectangle 27"/>
            <p:cNvSpPr>
              <a:spLocks noChangeArrowheads="1"/>
            </p:cNvSpPr>
            <p:nvPr/>
          </p:nvSpPr>
          <p:spPr bwMode="auto">
            <a:xfrm>
              <a:off x="1488" y="1964"/>
              <a:ext cx="1056" cy="3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10643" name="Rectangle 28"/>
            <p:cNvSpPr>
              <a:spLocks noChangeArrowheads="1"/>
            </p:cNvSpPr>
            <p:nvPr/>
          </p:nvSpPr>
          <p:spPr bwMode="auto">
            <a:xfrm>
              <a:off x="1488" y="1591"/>
              <a:ext cx="1056" cy="3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字块1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10644" name="Rectangle 29"/>
            <p:cNvSpPr>
              <a:spLocks noChangeArrowheads="1"/>
            </p:cNvSpPr>
            <p:nvPr/>
          </p:nvSpPr>
          <p:spPr bwMode="auto">
            <a:xfrm>
              <a:off x="1488" y="1270"/>
              <a:ext cx="1056" cy="3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 anchorCtr="1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字块0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10645" name="Line 30"/>
            <p:cNvSpPr>
              <a:spLocks noChangeShapeType="1"/>
            </p:cNvSpPr>
            <p:nvPr/>
          </p:nvSpPr>
          <p:spPr bwMode="auto">
            <a:xfrm>
              <a:off x="1488" y="1270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46" name="Line 31"/>
            <p:cNvSpPr>
              <a:spLocks noChangeShapeType="1"/>
            </p:cNvSpPr>
            <p:nvPr/>
          </p:nvSpPr>
          <p:spPr bwMode="auto">
            <a:xfrm>
              <a:off x="1488" y="1591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47" name="Line 32"/>
            <p:cNvSpPr>
              <a:spLocks noChangeShapeType="1"/>
            </p:cNvSpPr>
            <p:nvPr/>
          </p:nvSpPr>
          <p:spPr bwMode="auto">
            <a:xfrm>
              <a:off x="1488" y="1964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48" name="Line 33"/>
            <p:cNvSpPr>
              <a:spLocks noChangeShapeType="1"/>
            </p:cNvSpPr>
            <p:nvPr/>
          </p:nvSpPr>
          <p:spPr bwMode="auto">
            <a:xfrm>
              <a:off x="1488" y="2337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49" name="Line 34"/>
            <p:cNvSpPr>
              <a:spLocks noChangeShapeType="1"/>
            </p:cNvSpPr>
            <p:nvPr/>
          </p:nvSpPr>
          <p:spPr bwMode="auto">
            <a:xfrm>
              <a:off x="1488" y="2710"/>
              <a:ext cx="105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50" name="Line 35"/>
            <p:cNvSpPr>
              <a:spLocks noChangeShapeType="1"/>
            </p:cNvSpPr>
            <p:nvPr/>
          </p:nvSpPr>
          <p:spPr bwMode="auto">
            <a:xfrm>
              <a:off x="1488" y="1270"/>
              <a:ext cx="0" cy="144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51" name="Line 36"/>
            <p:cNvSpPr>
              <a:spLocks noChangeShapeType="1"/>
            </p:cNvSpPr>
            <p:nvPr/>
          </p:nvSpPr>
          <p:spPr bwMode="auto">
            <a:xfrm>
              <a:off x="2544" y="1270"/>
              <a:ext cx="0" cy="144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110652" name="Text Box 37"/>
            <p:cNvSpPr txBox="1">
              <a:spLocks noChangeArrowheads="1"/>
            </p:cNvSpPr>
            <p:nvPr/>
          </p:nvSpPr>
          <p:spPr bwMode="auto">
            <a:xfrm>
              <a:off x="1870" y="2038"/>
              <a:ext cx="310" cy="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53" name="Line 38"/>
            <p:cNvSpPr>
              <a:spLocks noChangeShapeType="1"/>
            </p:cNvSpPr>
            <p:nvPr/>
          </p:nvSpPr>
          <p:spPr bwMode="auto">
            <a:xfrm flipV="1">
              <a:off x="2544" y="1270"/>
              <a:ext cx="1008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54" name="Line 39"/>
            <p:cNvSpPr>
              <a:spLocks noChangeShapeType="1"/>
            </p:cNvSpPr>
            <p:nvPr/>
          </p:nvSpPr>
          <p:spPr bwMode="auto">
            <a:xfrm>
              <a:off x="2544" y="1414"/>
              <a:ext cx="1008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55" name="Line 40"/>
            <p:cNvSpPr>
              <a:spLocks noChangeShapeType="1"/>
            </p:cNvSpPr>
            <p:nvPr/>
          </p:nvSpPr>
          <p:spPr bwMode="auto">
            <a:xfrm>
              <a:off x="2544" y="1414"/>
              <a:ext cx="1008" cy="9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56" name="Line 41"/>
            <p:cNvSpPr>
              <a:spLocks noChangeShapeType="1"/>
            </p:cNvSpPr>
            <p:nvPr/>
          </p:nvSpPr>
          <p:spPr bwMode="auto">
            <a:xfrm>
              <a:off x="2544" y="1414"/>
              <a:ext cx="1008" cy="16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57" name="Line 42"/>
            <p:cNvSpPr>
              <a:spLocks noChangeShapeType="1"/>
            </p:cNvSpPr>
            <p:nvPr/>
          </p:nvSpPr>
          <p:spPr bwMode="auto">
            <a:xfrm flipV="1">
              <a:off x="2544" y="1270"/>
              <a:ext cx="1008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58" name="Line 43"/>
            <p:cNvSpPr>
              <a:spLocks noChangeShapeType="1"/>
            </p:cNvSpPr>
            <p:nvPr/>
          </p:nvSpPr>
          <p:spPr bwMode="auto">
            <a:xfrm flipV="1">
              <a:off x="2544" y="1654"/>
              <a:ext cx="1008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59" name="Line 44"/>
            <p:cNvSpPr>
              <a:spLocks noChangeShapeType="1"/>
            </p:cNvSpPr>
            <p:nvPr/>
          </p:nvSpPr>
          <p:spPr bwMode="auto">
            <a:xfrm>
              <a:off x="2544" y="1798"/>
              <a:ext cx="1008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60" name="Line 45"/>
            <p:cNvSpPr>
              <a:spLocks noChangeShapeType="1"/>
            </p:cNvSpPr>
            <p:nvPr/>
          </p:nvSpPr>
          <p:spPr bwMode="auto">
            <a:xfrm>
              <a:off x="2544" y="1798"/>
              <a:ext cx="1008" cy="12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61" name="Line 46"/>
            <p:cNvSpPr>
              <a:spLocks noChangeShapeType="1"/>
            </p:cNvSpPr>
            <p:nvPr/>
          </p:nvSpPr>
          <p:spPr bwMode="auto">
            <a:xfrm flipV="1">
              <a:off x="2544" y="1270"/>
              <a:ext cx="1008" cy="12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62" name="Line 47"/>
            <p:cNvSpPr>
              <a:spLocks noChangeShapeType="1"/>
            </p:cNvSpPr>
            <p:nvPr/>
          </p:nvSpPr>
          <p:spPr bwMode="auto">
            <a:xfrm flipV="1">
              <a:off x="2544" y="1654"/>
              <a:ext cx="1008" cy="8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63" name="Line 48"/>
            <p:cNvSpPr>
              <a:spLocks noChangeShapeType="1"/>
            </p:cNvSpPr>
            <p:nvPr/>
          </p:nvSpPr>
          <p:spPr bwMode="auto">
            <a:xfrm flipV="1">
              <a:off x="2544" y="2326"/>
              <a:ext cx="1008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64" name="Line 49"/>
            <p:cNvSpPr>
              <a:spLocks noChangeShapeType="1"/>
            </p:cNvSpPr>
            <p:nvPr/>
          </p:nvSpPr>
          <p:spPr bwMode="auto">
            <a:xfrm>
              <a:off x="2544" y="2566"/>
              <a:ext cx="1008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65" name="Rectangle 50"/>
            <p:cNvSpPr>
              <a:spLocks noChangeArrowheads="1"/>
            </p:cNvSpPr>
            <p:nvPr/>
          </p:nvSpPr>
          <p:spPr bwMode="auto">
            <a:xfrm>
              <a:off x="912" y="1270"/>
              <a:ext cx="576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10666" name="Rectangle 51"/>
            <p:cNvSpPr>
              <a:spLocks noChangeArrowheads="1"/>
            </p:cNvSpPr>
            <p:nvPr/>
          </p:nvSpPr>
          <p:spPr bwMode="auto">
            <a:xfrm>
              <a:off x="912" y="1595"/>
              <a:ext cx="576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10667" name="Rectangle 52"/>
            <p:cNvSpPr>
              <a:spLocks noChangeArrowheads="1"/>
            </p:cNvSpPr>
            <p:nvPr/>
          </p:nvSpPr>
          <p:spPr bwMode="auto">
            <a:xfrm>
              <a:off x="912" y="2336"/>
              <a:ext cx="576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10668" name="Text Box 53"/>
            <p:cNvSpPr txBox="1">
              <a:spLocks noChangeArrowheads="1"/>
            </p:cNvSpPr>
            <p:nvPr/>
          </p:nvSpPr>
          <p:spPr bwMode="auto">
            <a:xfrm>
              <a:off x="960" y="1270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69" name="Text Box 54"/>
            <p:cNvSpPr txBox="1">
              <a:spLocks noChangeArrowheads="1"/>
            </p:cNvSpPr>
            <p:nvPr/>
          </p:nvSpPr>
          <p:spPr bwMode="auto">
            <a:xfrm>
              <a:off x="960" y="1596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0" name="Text Box 55"/>
            <p:cNvSpPr txBox="1">
              <a:spLocks noChangeArrowheads="1"/>
            </p:cNvSpPr>
            <p:nvPr/>
          </p:nvSpPr>
          <p:spPr bwMode="auto">
            <a:xfrm>
              <a:off x="960" y="2326"/>
              <a:ext cx="4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1" name="Text Box 56"/>
            <p:cNvSpPr txBox="1">
              <a:spLocks noChangeArrowheads="1"/>
            </p:cNvSpPr>
            <p:nvPr/>
          </p:nvSpPr>
          <p:spPr bwMode="auto">
            <a:xfrm>
              <a:off x="758" y="3110"/>
              <a:ext cx="108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主存字块标记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2" name="Rectangle 57"/>
            <p:cNvSpPr>
              <a:spLocks noChangeArrowheads="1"/>
            </p:cNvSpPr>
            <p:nvPr/>
          </p:nvSpPr>
          <p:spPr bwMode="auto">
            <a:xfrm>
              <a:off x="768" y="3104"/>
              <a:ext cx="1056" cy="28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10673" name="Rectangle 58"/>
            <p:cNvSpPr>
              <a:spLocks noChangeArrowheads="1"/>
            </p:cNvSpPr>
            <p:nvPr/>
          </p:nvSpPr>
          <p:spPr bwMode="auto">
            <a:xfrm>
              <a:off x="1824" y="3104"/>
              <a:ext cx="1056" cy="28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endParaRPr lang="zh-CN" altLang="en-US"/>
            </a:p>
          </p:txBody>
        </p:sp>
        <p:sp>
          <p:nvSpPr>
            <p:cNvPr id="110674" name="Text Box 59"/>
            <p:cNvSpPr txBox="1">
              <a:spLocks noChangeArrowheads="1"/>
            </p:cNvSpPr>
            <p:nvPr/>
          </p:nvSpPr>
          <p:spPr bwMode="auto">
            <a:xfrm>
              <a:off x="1872" y="3110"/>
              <a:ext cx="93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字块内地址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5" name="Text Box 60"/>
            <p:cNvSpPr txBox="1">
              <a:spLocks noChangeArrowheads="1"/>
            </p:cNvSpPr>
            <p:nvPr/>
          </p:nvSpPr>
          <p:spPr bwMode="auto">
            <a:xfrm>
              <a:off x="728" y="2844"/>
              <a:ext cx="76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latin typeface="Times New Roman" panose="02020603050405020304" pitchFamily="18" charset="0"/>
                </a:rPr>
                <a:t>主存地址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6" name="Text Box 61"/>
            <p:cNvSpPr txBox="1">
              <a:spLocks noChangeArrowheads="1"/>
            </p:cNvSpPr>
            <p:nvPr/>
          </p:nvSpPr>
          <p:spPr bwMode="auto">
            <a:xfrm>
              <a:off x="768" y="3382"/>
              <a:ext cx="102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m</a:t>
              </a:r>
              <a:r>
                <a:rPr lang="en-US" altLang="zh-CN" sz="2400">
                  <a:latin typeface="Times New Roman" panose="02020603050405020304" pitchFamily="18" charset="0"/>
                </a:rPr>
                <a:t> = </a:t>
              </a:r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  <a:r>
                <a:rPr lang="en-US" altLang="zh-CN" sz="2400">
                  <a:latin typeface="Times New Roman" panose="02020603050405020304" pitchFamily="18" charset="0"/>
                </a:rPr>
                <a:t> + </a:t>
              </a:r>
              <a:r>
                <a:rPr lang="en-US" altLang="zh-CN" sz="2400" i="1">
                  <a:latin typeface="Times New Roman" panose="02020603050405020304" pitchFamily="18" charset="0"/>
                </a:rPr>
                <a:t>c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7" name="Text Box 62"/>
            <p:cNvSpPr txBox="1">
              <a:spLocks noChangeArrowheads="1"/>
            </p:cNvSpPr>
            <p:nvPr/>
          </p:nvSpPr>
          <p:spPr bwMode="auto">
            <a:xfrm>
              <a:off x="2160" y="3382"/>
              <a:ext cx="37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b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10678" name="Text Box 63"/>
            <p:cNvSpPr txBox="1">
              <a:spLocks noChangeArrowheads="1"/>
            </p:cNvSpPr>
            <p:nvPr/>
          </p:nvSpPr>
          <p:spPr bwMode="auto">
            <a:xfrm>
              <a:off x="864" y="982"/>
              <a:ext cx="67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 i="1">
                  <a:latin typeface="Times New Roman" panose="02020603050405020304" pitchFamily="18" charset="0"/>
                </a:rPr>
                <a:t>m</a:t>
              </a:r>
              <a:r>
                <a:rPr lang="en-US" altLang="zh-CN" sz="1400">
                  <a:latin typeface="Times New Roman" panose="02020603050405020304" pitchFamily="18" charset="0"/>
                </a:rPr>
                <a:t> </a:t>
              </a:r>
              <a:r>
                <a:rPr lang="en-US" altLang="zh-CN" sz="2400">
                  <a:latin typeface="Times New Roman" panose="02020603050405020304" pitchFamily="18" charset="0"/>
                </a:rPr>
                <a:t>=</a:t>
              </a:r>
              <a:r>
                <a:rPr lang="en-US" altLang="zh-CN" sz="1400">
                  <a:latin typeface="Times New Roman" panose="02020603050405020304" pitchFamily="18" charset="0"/>
                </a:rPr>
                <a:t> </a:t>
              </a:r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  <a:r>
                <a:rPr lang="en-US" altLang="zh-CN" sz="2400">
                  <a:latin typeface="Times New Roman" panose="02020603050405020304" pitchFamily="18" charset="0"/>
                </a:rPr>
                <a:t>+</a:t>
              </a:r>
              <a:r>
                <a:rPr lang="en-US" altLang="zh-CN" sz="2400" i="1">
                  <a:latin typeface="Times New Roman" panose="02020603050405020304" pitchFamily="18" charset="0"/>
                </a:rPr>
                <a:t>c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10679" name="Text Box 64"/>
            <p:cNvSpPr txBox="1">
              <a:spLocks noChangeArrowheads="1"/>
            </p:cNvSpPr>
            <p:nvPr/>
          </p:nvSpPr>
          <p:spPr bwMode="auto">
            <a:xfrm>
              <a:off x="905" y="720"/>
              <a:ext cx="1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400">
                  <a:latin typeface="Times New Roman" panose="02020603050405020304" pitchFamily="18" charset="0"/>
                </a:rPr>
                <a:t>Cache </a:t>
              </a:r>
              <a:r>
                <a:rPr lang="zh-CN" altLang="en-US" sz="2400">
                  <a:latin typeface="Times New Roman" panose="02020603050405020304" pitchFamily="18" charset="0"/>
                </a:rPr>
                <a:t>存储器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10680" name="Text Box 65"/>
            <p:cNvSpPr txBox="1">
              <a:spLocks noChangeArrowheads="1"/>
            </p:cNvSpPr>
            <p:nvPr/>
          </p:nvSpPr>
          <p:spPr bwMode="auto">
            <a:xfrm>
              <a:off x="3494" y="720"/>
              <a:ext cx="88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>
                  <a:latin typeface="Times New Roman" panose="02020603050405020304" pitchFamily="18" charset="0"/>
                </a:rPr>
                <a:t>主存储器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93954" name="Group 66"/>
          <p:cNvGrpSpPr/>
          <p:nvPr/>
        </p:nvGrpSpPr>
        <p:grpSpPr bwMode="auto">
          <a:xfrm>
            <a:off x="3886200" y="1724025"/>
            <a:ext cx="4649788" cy="2578100"/>
            <a:chOff x="1488" y="1086"/>
            <a:chExt cx="2929" cy="1624"/>
          </a:xfrm>
        </p:grpSpPr>
        <p:grpSp>
          <p:nvGrpSpPr>
            <p:cNvPr id="110600" name="Group 67"/>
            <p:cNvGrpSpPr/>
            <p:nvPr/>
          </p:nvGrpSpPr>
          <p:grpSpPr bwMode="auto">
            <a:xfrm>
              <a:off x="1488" y="1270"/>
              <a:ext cx="1056" cy="1440"/>
              <a:chOff x="1488" y="1270"/>
              <a:chExt cx="1056" cy="1440"/>
            </a:xfrm>
          </p:grpSpPr>
          <p:sp>
            <p:nvSpPr>
              <p:cNvPr id="110613" name="Line 68"/>
              <p:cNvSpPr>
                <a:spLocks noChangeShapeType="1"/>
              </p:cNvSpPr>
              <p:nvPr/>
            </p:nvSpPr>
            <p:spPr bwMode="auto">
              <a:xfrm>
                <a:off x="1488" y="1270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0614" name="Line 69"/>
              <p:cNvSpPr>
                <a:spLocks noChangeShapeType="1"/>
              </p:cNvSpPr>
              <p:nvPr/>
            </p:nvSpPr>
            <p:spPr bwMode="auto">
              <a:xfrm>
                <a:off x="1488" y="1591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0615" name="Line 70"/>
              <p:cNvSpPr>
                <a:spLocks noChangeShapeType="1"/>
              </p:cNvSpPr>
              <p:nvPr/>
            </p:nvSpPr>
            <p:spPr bwMode="auto">
              <a:xfrm>
                <a:off x="1488" y="1964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0616" name="Line 71"/>
              <p:cNvSpPr>
                <a:spLocks noChangeShapeType="1"/>
              </p:cNvSpPr>
              <p:nvPr/>
            </p:nvSpPr>
            <p:spPr bwMode="auto">
              <a:xfrm>
                <a:off x="1488" y="2337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0617" name="Line 72"/>
              <p:cNvSpPr>
                <a:spLocks noChangeShapeType="1"/>
              </p:cNvSpPr>
              <p:nvPr/>
            </p:nvSpPr>
            <p:spPr bwMode="auto">
              <a:xfrm>
                <a:off x="1488" y="2710"/>
                <a:ext cx="1056" cy="0"/>
              </a:xfrm>
              <a:prstGeom prst="line">
                <a:avLst/>
              </a:prstGeom>
              <a:noFill/>
              <a:ln w="38100" cap="sq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0618" name="Line 73"/>
              <p:cNvSpPr>
                <a:spLocks noChangeShapeType="1"/>
              </p:cNvSpPr>
              <p:nvPr/>
            </p:nvSpPr>
            <p:spPr bwMode="auto">
              <a:xfrm>
                <a:off x="1488" y="1270"/>
                <a:ext cx="0" cy="1440"/>
              </a:xfrm>
              <a:prstGeom prst="line">
                <a:avLst/>
              </a:prstGeom>
              <a:noFill/>
              <a:ln w="38100" cap="sq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0619" name="Line 74"/>
              <p:cNvSpPr>
                <a:spLocks noChangeShapeType="1"/>
              </p:cNvSpPr>
              <p:nvPr/>
            </p:nvSpPr>
            <p:spPr bwMode="auto">
              <a:xfrm>
                <a:off x="2544" y="1270"/>
                <a:ext cx="0" cy="1440"/>
              </a:xfrm>
              <a:prstGeom prst="line">
                <a:avLst/>
              </a:prstGeom>
              <a:noFill/>
              <a:ln w="38100" cap="sq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grpSp>
          <p:nvGrpSpPr>
            <p:cNvPr id="110601" name="Group 75"/>
            <p:cNvGrpSpPr/>
            <p:nvPr/>
          </p:nvGrpSpPr>
          <p:grpSpPr bwMode="auto">
            <a:xfrm>
              <a:off x="2544" y="1086"/>
              <a:ext cx="1873" cy="1432"/>
              <a:chOff x="2544" y="1086"/>
              <a:chExt cx="1873" cy="1432"/>
            </a:xfrm>
          </p:grpSpPr>
          <p:sp>
            <p:nvSpPr>
              <p:cNvPr id="110602" name="Rectangle 76"/>
              <p:cNvSpPr>
                <a:spLocks noChangeArrowheads="1"/>
              </p:cNvSpPr>
              <p:nvPr/>
            </p:nvSpPr>
            <p:spPr bwMode="auto">
              <a:xfrm>
                <a:off x="3552" y="1094"/>
                <a:ext cx="864" cy="357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tIns="0" bIns="0" anchor="ctr" anchorCtr="1"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 b="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字块0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0603" name="Line 77"/>
              <p:cNvSpPr>
                <a:spLocks noChangeShapeType="1"/>
              </p:cNvSpPr>
              <p:nvPr/>
            </p:nvSpPr>
            <p:spPr bwMode="auto">
              <a:xfrm>
                <a:off x="3552" y="1094"/>
                <a:ext cx="86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tIns="0" bIns="0" anchor="ctr" anchorCtr="1"/>
              <a:lstStyle/>
              <a:p>
                <a:endParaRPr lang="zh-CN" altLang="en-US"/>
              </a:p>
            </p:txBody>
          </p:sp>
          <p:sp>
            <p:nvSpPr>
              <p:cNvPr id="110604" name="Line 78"/>
              <p:cNvSpPr>
                <a:spLocks noChangeShapeType="1"/>
              </p:cNvSpPr>
              <p:nvPr/>
            </p:nvSpPr>
            <p:spPr bwMode="auto">
              <a:xfrm>
                <a:off x="3552" y="1451"/>
                <a:ext cx="86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tIns="0" bIns="0" anchor="ctr" anchorCtr="1"/>
              <a:lstStyle/>
              <a:p>
                <a:endParaRPr lang="zh-CN" altLang="en-US"/>
              </a:p>
            </p:txBody>
          </p:sp>
          <p:sp>
            <p:nvSpPr>
              <p:cNvPr id="110605" name="Line 79"/>
              <p:cNvSpPr>
                <a:spLocks noChangeShapeType="1"/>
              </p:cNvSpPr>
              <p:nvPr/>
            </p:nvSpPr>
            <p:spPr bwMode="auto">
              <a:xfrm flipV="1">
                <a:off x="2544" y="1270"/>
                <a:ext cx="1008" cy="144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0606" name="Line 80"/>
              <p:cNvSpPr>
                <a:spLocks noChangeShapeType="1"/>
              </p:cNvSpPr>
              <p:nvPr/>
            </p:nvSpPr>
            <p:spPr bwMode="auto">
              <a:xfrm flipV="1">
                <a:off x="2544" y="1270"/>
                <a:ext cx="1008" cy="528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0607" name="Line 81"/>
              <p:cNvSpPr>
                <a:spLocks noChangeShapeType="1"/>
              </p:cNvSpPr>
              <p:nvPr/>
            </p:nvSpPr>
            <p:spPr bwMode="auto">
              <a:xfrm flipV="1">
                <a:off x="2544" y="1270"/>
                <a:ext cx="1008" cy="1248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0608" name="Group 82"/>
              <p:cNvGrpSpPr/>
              <p:nvPr/>
            </p:nvGrpSpPr>
            <p:grpSpPr bwMode="auto">
              <a:xfrm>
                <a:off x="3552" y="1086"/>
                <a:ext cx="865" cy="372"/>
                <a:chOff x="3552" y="1086"/>
                <a:chExt cx="865" cy="372"/>
              </a:xfrm>
            </p:grpSpPr>
            <p:sp>
              <p:nvSpPr>
                <p:cNvPr id="110609" name="Line 83"/>
                <p:cNvSpPr>
                  <a:spLocks noChangeShapeType="1"/>
                </p:cNvSpPr>
                <p:nvPr/>
              </p:nvSpPr>
              <p:spPr bwMode="auto">
                <a:xfrm>
                  <a:off x="3552" y="1094"/>
                  <a:ext cx="864" cy="0"/>
                </a:xfrm>
                <a:prstGeom prst="line">
                  <a:avLst/>
                </a:prstGeom>
                <a:noFill/>
                <a:ln w="28575" cap="sq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tIns="0" bIns="0" anchor="ctr" anchorCtr="1"/>
                <a:lstStyle/>
                <a:p>
                  <a:endParaRPr lang="zh-CN" altLang="en-US"/>
                </a:p>
              </p:txBody>
            </p:sp>
            <p:sp>
              <p:nvSpPr>
                <p:cNvPr id="110610" name="Line 84"/>
                <p:cNvSpPr>
                  <a:spLocks noChangeShapeType="1"/>
                </p:cNvSpPr>
                <p:nvPr/>
              </p:nvSpPr>
              <p:spPr bwMode="auto">
                <a:xfrm>
                  <a:off x="3552" y="1451"/>
                  <a:ext cx="864" cy="0"/>
                </a:xfrm>
                <a:prstGeom prst="line">
                  <a:avLst/>
                </a:prstGeom>
                <a:noFill/>
                <a:ln w="28575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tIns="0" bIns="0" anchor="ctr" anchorCtr="1"/>
                <a:lstStyle/>
                <a:p>
                  <a:endParaRPr lang="zh-CN" altLang="en-US"/>
                </a:p>
              </p:txBody>
            </p:sp>
            <p:sp>
              <p:nvSpPr>
                <p:cNvPr id="110611" name="Freeform 85"/>
                <p:cNvSpPr/>
                <p:nvPr/>
              </p:nvSpPr>
              <p:spPr bwMode="auto">
                <a:xfrm>
                  <a:off x="3552" y="1089"/>
                  <a:ext cx="1" cy="366"/>
                </a:xfrm>
                <a:custGeom>
                  <a:avLst/>
                  <a:gdLst>
                    <a:gd name="T0" fmla="*/ 0 w 1"/>
                    <a:gd name="T1" fmla="*/ 0 h 366"/>
                    <a:gd name="T2" fmla="*/ 0 w 1"/>
                    <a:gd name="T3" fmla="*/ 366 h 3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366">
                      <a:moveTo>
                        <a:pt x="0" y="0"/>
                      </a:moveTo>
                      <a:lnTo>
                        <a:pt x="0" y="366"/>
                      </a:lnTo>
                    </a:path>
                  </a:pathLst>
                </a:custGeom>
                <a:noFill/>
                <a:ln w="28575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0612" name="Freeform 86"/>
                <p:cNvSpPr/>
                <p:nvPr/>
              </p:nvSpPr>
              <p:spPr bwMode="auto">
                <a:xfrm>
                  <a:off x="4416" y="1086"/>
                  <a:ext cx="1" cy="372"/>
                </a:xfrm>
                <a:custGeom>
                  <a:avLst/>
                  <a:gdLst>
                    <a:gd name="T0" fmla="*/ 0 w 1"/>
                    <a:gd name="T1" fmla="*/ 0 h 372"/>
                    <a:gd name="T2" fmla="*/ 0 w 1"/>
                    <a:gd name="T3" fmla="*/ 372 h 37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372">
                      <a:moveTo>
                        <a:pt x="0" y="0"/>
                      </a:moveTo>
                      <a:lnTo>
                        <a:pt x="0" y="372"/>
                      </a:lnTo>
                    </a:path>
                  </a:pathLst>
                </a:custGeom>
                <a:noFill/>
                <a:ln w="28575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3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93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3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3891" grpId="0" autoUpdateAnimBg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914" name="Group 2"/>
          <p:cNvGrpSpPr/>
          <p:nvPr/>
        </p:nvGrpSpPr>
        <p:grpSpPr bwMode="auto">
          <a:xfrm>
            <a:off x="2062162" y="718449"/>
            <a:ext cx="8067675" cy="4876800"/>
            <a:chOff x="438" y="528"/>
            <a:chExt cx="5082" cy="3072"/>
          </a:xfrm>
        </p:grpSpPr>
        <p:grpSp>
          <p:nvGrpSpPr>
            <p:cNvPr id="111677" name="Group 3"/>
            <p:cNvGrpSpPr/>
            <p:nvPr/>
          </p:nvGrpSpPr>
          <p:grpSpPr bwMode="auto">
            <a:xfrm>
              <a:off x="438" y="528"/>
              <a:ext cx="5082" cy="3072"/>
              <a:chOff x="438" y="528"/>
              <a:chExt cx="5082" cy="3072"/>
            </a:xfrm>
          </p:grpSpPr>
          <p:grpSp>
            <p:nvGrpSpPr>
              <p:cNvPr id="111679" name="Group 4"/>
              <p:cNvGrpSpPr/>
              <p:nvPr/>
            </p:nvGrpSpPr>
            <p:grpSpPr bwMode="auto">
              <a:xfrm>
                <a:off x="438" y="528"/>
                <a:ext cx="5082" cy="3072"/>
                <a:chOff x="438" y="528"/>
                <a:chExt cx="5082" cy="3072"/>
              </a:xfrm>
            </p:grpSpPr>
            <p:grpSp>
              <p:nvGrpSpPr>
                <p:cNvPr id="111681" name="Group 5"/>
                <p:cNvGrpSpPr/>
                <p:nvPr/>
              </p:nvGrpSpPr>
              <p:grpSpPr bwMode="auto">
                <a:xfrm>
                  <a:off x="4512" y="899"/>
                  <a:ext cx="1008" cy="2701"/>
                  <a:chOff x="4512" y="899"/>
                  <a:chExt cx="1008" cy="2701"/>
                </a:xfrm>
              </p:grpSpPr>
              <p:sp>
                <p:nvSpPr>
                  <p:cNvPr id="111747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4579" y="3351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m</a:t>
                    </a:r>
                    <a:r>
                      <a:rPr lang="en-US" altLang="zh-CN" sz="1400">
                        <a:latin typeface="Times New Roman" panose="02020603050405020304" pitchFamily="18" charset="0"/>
                      </a:rPr>
                      <a:t>－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8" name="Rectangle 7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872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+1</a:t>
                    </a:r>
                    <a:endParaRPr lang="zh-CN" altLang="en-US" sz="2000" baseline="30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9" name="Rectangle 8"/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2623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 b="0">
                        <a:latin typeface="Times New Roman" panose="02020603050405020304" pitchFamily="18" charset="0"/>
                      </a:rPr>
                      <a:t> 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0" name="Rectangle 9"/>
                  <p:cNvSpPr>
                    <a:spLocks noChangeArrowheads="1"/>
                  </p:cNvSpPr>
                  <p:nvPr/>
                </p:nvSpPr>
                <p:spPr bwMode="auto">
                  <a:xfrm>
                    <a:off x="4522" y="2125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 b="0">
                        <a:latin typeface="Times New Roman" panose="02020603050405020304" pitchFamily="18" charset="0"/>
                      </a:rPr>
                      <a:t> </a:t>
                    </a: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 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+</a:t>
                    </a:r>
                    <a:r>
                      <a:rPr lang="en-US" altLang="zh-CN" sz="1000">
                        <a:latin typeface="Times New Roman" panose="02020603050405020304" pitchFamily="18" charset="0"/>
                      </a:rPr>
                      <a:t> 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2000" baseline="30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1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1876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</a:t>
                    </a:r>
                    <a:endParaRPr lang="zh-CN" altLang="en-US" sz="2000" i="1" baseline="30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2" name="Rectangle 11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1627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 </a:t>
                    </a:r>
                    <a:r>
                      <a:rPr lang="en-US" altLang="zh-CN" sz="1400">
                        <a:latin typeface="Times New Roman" panose="02020603050405020304" pitchFamily="18" charset="0"/>
                      </a:rPr>
                      <a:t>－</a:t>
                    </a:r>
                    <a:endParaRPr lang="en-US" altLang="zh-CN" sz="1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3" name="Rectangle 12"/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1397"/>
                    <a:ext cx="912" cy="23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endParaRPr lang="zh-CN" altLang="en-US" sz="1800" b="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4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1148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 b="0">
                        <a:latin typeface="Times New Roman" panose="02020603050405020304" pitchFamily="18" charset="0"/>
                      </a:rPr>
                      <a:t>    </a:t>
                    </a: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5" name="Rectangle 14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899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56" name="Line 15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899"/>
                    <a:ext cx="91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57" name="Line 16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148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58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397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59" name="Line 18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627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0" name="Line 19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876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1" name="Line 20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125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2" name="Line 21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374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3" name="Line 22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623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4" name="Line 23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872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5" name="Line 24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3121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6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3351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7" name="Line 26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3600"/>
                    <a:ext cx="91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8" name="Line 27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899"/>
                    <a:ext cx="0" cy="2701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69" name="Line 28"/>
                  <p:cNvSpPr>
                    <a:spLocks noChangeShapeType="1"/>
                  </p:cNvSpPr>
                  <p:nvPr/>
                </p:nvSpPr>
                <p:spPr bwMode="auto">
                  <a:xfrm>
                    <a:off x="5424" y="899"/>
                    <a:ext cx="0" cy="2701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70" name="Text Box 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3" y="1405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71" name="Text Box 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3" y="2398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72" name="Text Box 3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3" y="3119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11682" name="Group 32"/>
                <p:cNvGrpSpPr/>
                <p:nvPr/>
              </p:nvGrpSpPr>
              <p:grpSpPr bwMode="auto">
                <a:xfrm>
                  <a:off x="1152" y="1043"/>
                  <a:ext cx="2705" cy="1209"/>
                  <a:chOff x="1152" y="1043"/>
                  <a:chExt cx="2705" cy="1209"/>
                </a:xfrm>
              </p:grpSpPr>
              <p:sp>
                <p:nvSpPr>
                  <p:cNvPr id="111715" name="Rectangle 33"/>
                  <p:cNvSpPr>
                    <a:spLocks noChangeArrowheads="1"/>
                  </p:cNvSpPr>
                  <p:nvPr/>
                </p:nvSpPr>
                <p:spPr bwMode="auto">
                  <a:xfrm>
                    <a:off x="2976" y="1292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3</a:t>
                    </a:r>
                    <a:endParaRPr lang="zh-CN" altLang="en-US" sz="2000" b="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16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2511" y="1292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17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2976" y="1043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18" name="Rectangle 36"/>
                  <p:cNvSpPr>
                    <a:spLocks noChangeArrowheads="1"/>
                  </p:cNvSpPr>
                  <p:nvPr/>
                </p:nvSpPr>
                <p:spPr bwMode="auto">
                  <a:xfrm>
                    <a:off x="2511" y="1043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19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04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0" name="Line 38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292"/>
                    <a:ext cx="134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1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541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2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043"/>
                    <a:ext cx="0" cy="120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3" name="Line 41"/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043"/>
                    <a:ext cx="0" cy="120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4" name="Line 42"/>
                  <p:cNvSpPr>
                    <a:spLocks noChangeShapeType="1"/>
                  </p:cNvSpPr>
                  <p:nvPr/>
                </p:nvSpPr>
                <p:spPr bwMode="auto">
                  <a:xfrm>
                    <a:off x="3840" y="1043"/>
                    <a:ext cx="0" cy="120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5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990" y="2003"/>
                    <a:ext cx="86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 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－1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26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2511" y="2003"/>
                    <a:ext cx="47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27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200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8" name="Line 46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2252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29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1632" y="1292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2</a:t>
                    </a:r>
                    <a:endParaRPr lang="zh-CN" altLang="en-US" sz="2000" b="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30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1169" y="1292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31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632" y="1043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0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32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1169" y="1043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33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04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34" name="Line 52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292"/>
                    <a:ext cx="134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35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541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36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043"/>
                    <a:ext cx="0" cy="120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37" name="Line 55"/>
                  <p:cNvSpPr>
                    <a:spLocks noChangeShapeType="1"/>
                  </p:cNvSpPr>
                  <p:nvPr/>
                </p:nvSpPr>
                <p:spPr bwMode="auto">
                  <a:xfrm>
                    <a:off x="1632" y="1043"/>
                    <a:ext cx="0" cy="120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38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1629" y="2003"/>
                    <a:ext cx="86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 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－2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39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1169" y="2003"/>
                    <a:ext cx="47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20000"/>
                      </a:spcBef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0" name="Line 58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200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41" name="Line 59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2252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742" name="Text Box 6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99" y="1670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3" name="Text Box 6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27" y="1670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4" name="Text Box 6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955" y="1670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5" name="Text Box 6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283" y="1670"/>
                    <a:ext cx="349" cy="25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4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1746" name="Line 64"/>
                  <p:cNvSpPr>
                    <a:spLocks noChangeShapeType="1"/>
                  </p:cNvSpPr>
                  <p:nvPr/>
                </p:nvSpPr>
                <p:spPr bwMode="auto">
                  <a:xfrm>
                    <a:off x="3840" y="1523"/>
                    <a:ext cx="0" cy="48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prstDash val="dash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11683" name="Line 65"/>
                <p:cNvSpPr>
                  <a:spLocks noChangeShapeType="1"/>
                </p:cNvSpPr>
                <p:nvPr/>
              </p:nvSpPr>
              <p:spPr bwMode="auto">
                <a:xfrm>
                  <a:off x="3840" y="2147"/>
                  <a:ext cx="672" cy="124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84" name="Line 66"/>
                <p:cNvSpPr>
                  <a:spLocks noChangeShapeType="1"/>
                </p:cNvSpPr>
                <p:nvPr/>
              </p:nvSpPr>
              <p:spPr bwMode="auto">
                <a:xfrm flipV="1">
                  <a:off x="3840" y="995"/>
                  <a:ext cx="672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85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3840" y="1283"/>
                  <a:ext cx="672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86" name="Line 68"/>
                <p:cNvSpPr>
                  <a:spLocks noChangeShapeType="1"/>
                </p:cNvSpPr>
                <p:nvPr/>
              </p:nvSpPr>
              <p:spPr bwMode="auto">
                <a:xfrm>
                  <a:off x="3840" y="1139"/>
                  <a:ext cx="672" cy="86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87" name="Line 69"/>
                <p:cNvSpPr>
                  <a:spLocks noChangeShapeType="1"/>
                </p:cNvSpPr>
                <p:nvPr/>
              </p:nvSpPr>
              <p:spPr bwMode="auto">
                <a:xfrm>
                  <a:off x="3840" y="1427"/>
                  <a:ext cx="672" cy="86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88" name="Line 70"/>
                <p:cNvSpPr>
                  <a:spLocks noChangeShapeType="1"/>
                </p:cNvSpPr>
                <p:nvPr/>
              </p:nvSpPr>
              <p:spPr bwMode="auto">
                <a:xfrm>
                  <a:off x="3840" y="1139"/>
                  <a:ext cx="672" cy="18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89" name="Line 71"/>
                <p:cNvSpPr>
                  <a:spLocks noChangeShapeType="1"/>
                </p:cNvSpPr>
                <p:nvPr/>
              </p:nvSpPr>
              <p:spPr bwMode="auto">
                <a:xfrm flipV="1">
                  <a:off x="3840" y="1715"/>
                  <a:ext cx="672" cy="43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0" name="Line 72"/>
                <p:cNvSpPr>
                  <a:spLocks noChangeShapeType="1"/>
                </p:cNvSpPr>
                <p:nvPr/>
              </p:nvSpPr>
              <p:spPr bwMode="auto">
                <a:xfrm>
                  <a:off x="3840" y="2147"/>
                  <a:ext cx="672" cy="6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1" name="Rectangle 73"/>
                <p:cNvSpPr>
                  <a:spLocks noChangeArrowheads="1"/>
                </p:cNvSpPr>
                <p:nvPr/>
              </p:nvSpPr>
              <p:spPr bwMode="auto">
                <a:xfrm>
                  <a:off x="2832" y="2541"/>
                  <a:ext cx="1008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 字块内地址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692" name="Rectangle 74"/>
                <p:cNvSpPr>
                  <a:spLocks noChangeArrowheads="1"/>
                </p:cNvSpPr>
                <p:nvPr/>
              </p:nvSpPr>
              <p:spPr bwMode="auto">
                <a:xfrm>
                  <a:off x="2086" y="2541"/>
                  <a:ext cx="602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组地址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693" name="Rectangle 75"/>
                <p:cNvSpPr>
                  <a:spLocks noChangeArrowheads="1"/>
                </p:cNvSpPr>
                <p:nvPr/>
              </p:nvSpPr>
              <p:spPr bwMode="auto">
                <a:xfrm>
                  <a:off x="816" y="2541"/>
                  <a:ext cx="112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主存字块标记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694" name="Freeform 76"/>
                <p:cNvSpPr/>
                <p:nvPr/>
              </p:nvSpPr>
              <p:spPr bwMode="auto">
                <a:xfrm>
                  <a:off x="816" y="2531"/>
                  <a:ext cx="3027" cy="3"/>
                </a:xfrm>
                <a:custGeom>
                  <a:avLst/>
                  <a:gdLst>
                    <a:gd name="T0" fmla="*/ 0 w 3027"/>
                    <a:gd name="T1" fmla="*/ 0 h 3"/>
                    <a:gd name="T2" fmla="*/ 3027 w 3027"/>
                    <a:gd name="T3" fmla="*/ 3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27" h="3">
                      <a:moveTo>
                        <a:pt x="0" y="0"/>
                      </a:moveTo>
                      <a:lnTo>
                        <a:pt x="3027" y="3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5" name="Freeform 77"/>
                <p:cNvSpPr/>
                <p:nvPr/>
              </p:nvSpPr>
              <p:spPr bwMode="auto">
                <a:xfrm>
                  <a:off x="816" y="2819"/>
                  <a:ext cx="3021" cy="1"/>
                </a:xfrm>
                <a:custGeom>
                  <a:avLst/>
                  <a:gdLst>
                    <a:gd name="T0" fmla="*/ 0 w 3021"/>
                    <a:gd name="T1" fmla="*/ 0 h 1"/>
                    <a:gd name="T2" fmla="*/ 3021 w 3021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21" h="1">
                      <a:moveTo>
                        <a:pt x="0" y="0"/>
                      </a:moveTo>
                      <a:lnTo>
                        <a:pt x="3021" y="0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6" name="Freeform 78"/>
                <p:cNvSpPr/>
                <p:nvPr/>
              </p:nvSpPr>
              <p:spPr bwMode="auto">
                <a:xfrm>
                  <a:off x="816" y="2541"/>
                  <a:ext cx="1" cy="275"/>
                </a:xfrm>
                <a:custGeom>
                  <a:avLst/>
                  <a:gdLst>
                    <a:gd name="T0" fmla="*/ 0 w 1"/>
                    <a:gd name="T1" fmla="*/ 0 h 275"/>
                    <a:gd name="T2" fmla="*/ 0 w 1"/>
                    <a:gd name="T3" fmla="*/ 275 h 27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75">
                      <a:moveTo>
                        <a:pt x="0" y="0"/>
                      </a:moveTo>
                      <a:lnTo>
                        <a:pt x="0" y="275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7" name="Line 79"/>
                <p:cNvSpPr>
                  <a:spLocks noChangeShapeType="1"/>
                </p:cNvSpPr>
                <p:nvPr/>
              </p:nvSpPr>
              <p:spPr bwMode="auto">
                <a:xfrm>
                  <a:off x="1942" y="2541"/>
                  <a:ext cx="0" cy="28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8" name="Line 80"/>
                <p:cNvSpPr>
                  <a:spLocks noChangeShapeType="1"/>
                </p:cNvSpPr>
                <p:nvPr/>
              </p:nvSpPr>
              <p:spPr bwMode="auto">
                <a:xfrm>
                  <a:off x="2832" y="2541"/>
                  <a:ext cx="0" cy="28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99" name="Freeform 81"/>
                <p:cNvSpPr/>
                <p:nvPr/>
              </p:nvSpPr>
              <p:spPr bwMode="auto">
                <a:xfrm>
                  <a:off x="3837" y="2540"/>
                  <a:ext cx="4" cy="279"/>
                </a:xfrm>
                <a:custGeom>
                  <a:avLst/>
                  <a:gdLst>
                    <a:gd name="T0" fmla="*/ 0 w 4"/>
                    <a:gd name="T1" fmla="*/ 0 h 279"/>
                    <a:gd name="T2" fmla="*/ 4 w 4"/>
                    <a:gd name="T3" fmla="*/ 279 h 27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279">
                      <a:moveTo>
                        <a:pt x="0" y="0"/>
                      </a:moveTo>
                      <a:lnTo>
                        <a:pt x="4" y="279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700" name="Text Box 82"/>
                <p:cNvSpPr txBox="1">
                  <a:spLocks noChangeArrowheads="1"/>
                </p:cNvSpPr>
                <p:nvPr/>
              </p:nvSpPr>
              <p:spPr bwMode="auto">
                <a:xfrm>
                  <a:off x="912" y="2857"/>
                  <a:ext cx="86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i="1">
                      <a:latin typeface="Times New Roman" panose="02020603050405020304" pitchFamily="18" charset="0"/>
                    </a:rPr>
                    <a:t>s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= 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t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+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 r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1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1920" y="2819"/>
                  <a:ext cx="85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i="1">
                      <a:latin typeface="Times New Roman" panose="02020603050405020304" pitchFamily="18" charset="0"/>
                    </a:rPr>
                    <a:t>q</a:t>
                  </a:r>
                  <a:r>
                    <a:rPr lang="en-US" altLang="zh-CN" sz="2400">
                      <a:latin typeface="Times New Roman" panose="02020603050405020304" pitchFamily="18" charset="0"/>
                    </a:rPr>
                    <a:t> =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zh-CN" sz="1600">
                      <a:latin typeface="Times New Roman" panose="02020603050405020304" pitchFamily="18" charset="0"/>
                    </a:rPr>
                    <a:t>－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r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2" name="Text Box 84"/>
                <p:cNvSpPr txBox="1">
                  <a:spLocks noChangeArrowheads="1"/>
                </p:cNvSpPr>
                <p:nvPr/>
              </p:nvSpPr>
              <p:spPr bwMode="auto">
                <a:xfrm>
                  <a:off x="3120" y="2850"/>
                  <a:ext cx="39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i="1">
                      <a:latin typeface="Times New Roman" panose="02020603050405020304" pitchFamily="18" charset="0"/>
                    </a:rPr>
                    <a:t>b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3" name="Text Box 85"/>
                <p:cNvSpPr txBox="1">
                  <a:spLocks noChangeArrowheads="1"/>
                </p:cNvSpPr>
                <p:nvPr/>
              </p:nvSpPr>
              <p:spPr bwMode="auto">
                <a:xfrm>
                  <a:off x="758" y="70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000">
                      <a:latin typeface="Times New Roman" panose="02020603050405020304" pitchFamily="18" charset="0"/>
                    </a:rPr>
                    <a:t>组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4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806" y="100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5" name="Text Box 87"/>
                <p:cNvSpPr txBox="1">
                  <a:spLocks noChangeArrowheads="1"/>
                </p:cNvSpPr>
                <p:nvPr/>
              </p:nvSpPr>
              <p:spPr bwMode="auto">
                <a:xfrm>
                  <a:off x="806" y="129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000">
                      <a:latin typeface="Times New Roman" panose="02020603050405020304" pitchFamily="18" charset="0"/>
                    </a:rPr>
                    <a:t>1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6" name="Text Box 88"/>
                <p:cNvSpPr txBox="1">
                  <a:spLocks noChangeArrowheads="1"/>
                </p:cNvSpPr>
                <p:nvPr/>
              </p:nvSpPr>
              <p:spPr bwMode="auto">
                <a:xfrm>
                  <a:off x="438" y="2003"/>
                  <a:ext cx="56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20000"/>
                    </a:spcBef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2</a:t>
                  </a:r>
                  <a:r>
                    <a:rPr lang="en-US" altLang="zh-CN" sz="2000" i="1" baseline="50000"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zh-CN" sz="2000" baseline="50000">
                      <a:latin typeface="Times New Roman" panose="02020603050405020304" pitchFamily="18" charset="0"/>
                    </a:rPr>
                    <a:t>-</a:t>
                  </a:r>
                  <a:r>
                    <a:rPr lang="en-US" altLang="zh-CN" sz="2000" i="1" baseline="50000">
                      <a:latin typeface="Times New Roman" panose="02020603050405020304" pitchFamily="18" charset="0"/>
                    </a:rPr>
                    <a:t>r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－1</a:t>
                  </a:r>
                  <a:endParaRPr lang="zh-CN" altLang="en-US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7" name="Text Box 89"/>
                <p:cNvSpPr txBox="1">
                  <a:spLocks noChangeArrowheads="1"/>
                </p:cNvSpPr>
                <p:nvPr/>
              </p:nvSpPr>
              <p:spPr bwMode="auto">
                <a:xfrm>
                  <a:off x="1344" y="2291"/>
                  <a:ext cx="767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000">
                      <a:latin typeface="Times New Roman" panose="02020603050405020304" pitchFamily="18" charset="0"/>
                    </a:rPr>
                    <a:t>主存地址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8" name="Text Box 90"/>
                <p:cNvSpPr txBox="1">
                  <a:spLocks noChangeArrowheads="1"/>
                </p:cNvSpPr>
                <p:nvPr/>
              </p:nvSpPr>
              <p:spPr bwMode="auto">
                <a:xfrm>
                  <a:off x="1088" y="689"/>
                  <a:ext cx="628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400">
                      <a:latin typeface="Times New Roman" panose="02020603050405020304" pitchFamily="18" charset="0"/>
                    </a:rPr>
                    <a:t>Cache</a:t>
                  </a:r>
                  <a:endParaRPr lang="en-US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09" name="Text Box 91"/>
                <p:cNvSpPr txBox="1">
                  <a:spLocks noChangeArrowheads="1"/>
                </p:cNvSpPr>
                <p:nvPr/>
              </p:nvSpPr>
              <p:spPr bwMode="auto">
                <a:xfrm>
                  <a:off x="4550" y="528"/>
                  <a:ext cx="896" cy="29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zh-CN" altLang="en-US" sz="2400">
                      <a:latin typeface="Times New Roman" panose="02020603050405020304" pitchFamily="18" charset="0"/>
                    </a:rPr>
                    <a:t>主存储器</a:t>
                  </a:r>
                  <a:endParaRPr lang="zh-CN" altLang="en-US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710" name="Freeform 92"/>
                <p:cNvSpPr/>
                <p:nvPr/>
              </p:nvSpPr>
              <p:spPr bwMode="auto">
                <a:xfrm>
                  <a:off x="813" y="2813"/>
                  <a:ext cx="1" cy="490"/>
                </a:xfrm>
                <a:custGeom>
                  <a:avLst/>
                  <a:gdLst>
                    <a:gd name="T0" fmla="*/ 0 w 1"/>
                    <a:gd name="T1" fmla="*/ 0 h 490"/>
                    <a:gd name="T2" fmla="*/ 0 w 1"/>
                    <a:gd name="T3" fmla="*/ 490 h 49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90">
                      <a:moveTo>
                        <a:pt x="0" y="0"/>
                      </a:moveTo>
                      <a:lnTo>
                        <a:pt x="0" y="49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711" name="Freeform 93"/>
                <p:cNvSpPr/>
                <p:nvPr/>
              </p:nvSpPr>
              <p:spPr bwMode="auto">
                <a:xfrm>
                  <a:off x="2832" y="2825"/>
                  <a:ext cx="1" cy="474"/>
                </a:xfrm>
                <a:custGeom>
                  <a:avLst/>
                  <a:gdLst>
                    <a:gd name="T0" fmla="*/ 0 w 1"/>
                    <a:gd name="T1" fmla="*/ 0 h 474"/>
                    <a:gd name="T2" fmla="*/ 1 w 1"/>
                    <a:gd name="T3" fmla="*/ 474 h 4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474">
                      <a:moveTo>
                        <a:pt x="0" y="0"/>
                      </a:moveTo>
                      <a:lnTo>
                        <a:pt x="1" y="474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712" name="Line 94"/>
                <p:cNvSpPr>
                  <a:spLocks noChangeShapeType="1"/>
                </p:cNvSpPr>
                <p:nvPr/>
              </p:nvSpPr>
              <p:spPr bwMode="auto">
                <a:xfrm>
                  <a:off x="2208" y="3203"/>
                  <a:ext cx="62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713" name="Line 95"/>
                <p:cNvSpPr>
                  <a:spLocks noChangeShapeType="1"/>
                </p:cNvSpPr>
                <p:nvPr/>
              </p:nvSpPr>
              <p:spPr bwMode="auto">
                <a:xfrm rot="10800000">
                  <a:off x="816" y="3203"/>
                  <a:ext cx="62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tailEnd type="stealth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714" name="Text Box 96"/>
                <p:cNvSpPr txBox="1">
                  <a:spLocks noChangeArrowheads="1"/>
                </p:cNvSpPr>
                <p:nvPr/>
              </p:nvSpPr>
              <p:spPr bwMode="auto">
                <a:xfrm>
                  <a:off x="1614" y="3059"/>
                  <a:ext cx="441" cy="2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i="1">
                      <a:latin typeface="Times New Roman" panose="02020603050405020304" pitchFamily="18" charset="0"/>
                    </a:rPr>
                    <a:t>m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  <a:endParaRPr lang="zh-CN" altLang="en-US" sz="20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11680" name="Text Box 97"/>
              <p:cNvSpPr txBox="1">
                <a:spLocks noChangeArrowheads="1"/>
              </p:cNvSpPr>
              <p:nvPr/>
            </p:nvSpPr>
            <p:spPr bwMode="auto">
              <a:xfrm>
                <a:off x="1736" y="720"/>
                <a:ext cx="2147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latin typeface="Times New Roman" panose="02020603050405020304" pitchFamily="18" charset="0"/>
                  </a:rPr>
                  <a:t>共 </a:t>
                </a:r>
                <a:r>
                  <a:rPr lang="en-US" altLang="zh-CN" sz="20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Q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组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，每组内两块（</a:t>
                </a:r>
                <a:r>
                  <a:rPr lang="en-US" altLang="zh-CN" sz="2000" i="1">
                    <a:latin typeface="Times New Roman" panose="02020603050405020304" pitchFamily="18" charset="0"/>
                  </a:rPr>
                  <a:t>r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= 1)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11678" name="Text Box 98"/>
            <p:cNvSpPr txBox="1">
              <a:spLocks noChangeArrowheads="1"/>
            </p:cNvSpPr>
            <p:nvPr/>
          </p:nvSpPr>
          <p:spPr bwMode="auto">
            <a:xfrm>
              <a:off x="5214" y="1632"/>
              <a:ext cx="24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</p:grpSp>
      <p:sp>
        <p:nvSpPr>
          <p:cNvPr id="295011" name="Text Box 99"/>
          <p:cNvSpPr txBox="1">
            <a:spLocks noChangeArrowheads="1"/>
          </p:cNvSpPr>
          <p:nvPr/>
        </p:nvSpPr>
        <p:spPr bwMode="auto">
          <a:xfrm>
            <a:off x="1824037" y="5981012"/>
            <a:ext cx="866455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某一主存块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按模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Q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映射到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缓存 </a:t>
            </a:r>
            <a:r>
              <a:rPr lang="zh-CN" altLang="en-US" sz="2800">
                <a:latin typeface="Times New Roman" panose="02020603050405020304" pitchFamily="18" charset="0"/>
              </a:rPr>
              <a:t>的第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组</a:t>
            </a:r>
            <a:r>
              <a:rPr lang="zh-CN" altLang="en-US" sz="2800">
                <a:latin typeface="Times New Roman" panose="02020603050405020304" pitchFamily="18" charset="0"/>
              </a:rPr>
              <a:t>中的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任一块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5012" name="Text Box 100"/>
          <p:cNvSpPr txBox="1">
            <a:spLocks noChangeArrowheads="1"/>
          </p:cNvSpPr>
          <p:nvPr/>
        </p:nvSpPr>
        <p:spPr bwMode="auto">
          <a:xfrm>
            <a:off x="1900236" y="5295212"/>
            <a:ext cx="177323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=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mod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Q</a:t>
            </a:r>
            <a:endParaRPr lang="en-US" altLang="zh-CN" sz="2800" i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95013" name="Group 101"/>
          <p:cNvGrpSpPr/>
          <p:nvPr/>
        </p:nvGrpSpPr>
        <p:grpSpPr bwMode="auto">
          <a:xfrm>
            <a:off x="3938586" y="5142812"/>
            <a:ext cx="3805238" cy="914400"/>
            <a:chOff x="1620" y="3408"/>
            <a:chExt cx="2397" cy="576"/>
          </a:xfrm>
        </p:grpSpPr>
        <p:sp>
          <p:nvSpPr>
            <p:cNvPr id="111674" name="Freeform 102"/>
            <p:cNvSpPr/>
            <p:nvPr/>
          </p:nvSpPr>
          <p:spPr bwMode="auto">
            <a:xfrm>
              <a:off x="1620" y="3600"/>
              <a:ext cx="876" cy="369"/>
            </a:xfrm>
            <a:custGeom>
              <a:avLst/>
              <a:gdLst>
                <a:gd name="T0" fmla="*/ 0 w 876"/>
                <a:gd name="T1" fmla="*/ 369 h 369"/>
                <a:gd name="T2" fmla="*/ 876 w 876"/>
                <a:gd name="T3" fmla="*/ 0 h 3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6" h="369">
                  <a:moveTo>
                    <a:pt x="0" y="369"/>
                  </a:moveTo>
                  <a:lnTo>
                    <a:pt x="876" y="0"/>
                  </a:lnTo>
                </a:path>
              </a:pathLst>
            </a:custGeom>
            <a:noFill/>
            <a:ln w="28575" cmpd="sng">
              <a:solidFill>
                <a:schemeClr val="folHlink"/>
              </a:solidFill>
              <a:round/>
              <a:headEnd type="none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1675" name="Freeform 103"/>
            <p:cNvSpPr/>
            <p:nvPr/>
          </p:nvSpPr>
          <p:spPr bwMode="auto">
            <a:xfrm>
              <a:off x="3354" y="3627"/>
              <a:ext cx="663" cy="357"/>
            </a:xfrm>
            <a:custGeom>
              <a:avLst/>
              <a:gdLst>
                <a:gd name="T0" fmla="*/ 663 w 663"/>
                <a:gd name="T1" fmla="*/ 357 h 357"/>
                <a:gd name="T2" fmla="*/ 0 w 663"/>
                <a:gd name="T3" fmla="*/ 0 h 3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3" h="357">
                  <a:moveTo>
                    <a:pt x="663" y="357"/>
                  </a:move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chemeClr val="folHlink"/>
              </a:solidFill>
              <a:round/>
              <a:headEnd type="none" w="med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1676" name="Text Box 104"/>
            <p:cNvSpPr txBox="1">
              <a:spLocks noChangeArrowheads="1"/>
            </p:cNvSpPr>
            <p:nvPr/>
          </p:nvSpPr>
          <p:spPr bwMode="auto">
            <a:xfrm>
              <a:off x="2400" y="3408"/>
              <a:ext cx="1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直接映射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95017" name="Group 105"/>
          <p:cNvGrpSpPr/>
          <p:nvPr/>
        </p:nvGrpSpPr>
        <p:grpSpPr bwMode="auto">
          <a:xfrm>
            <a:off x="3957636" y="5187262"/>
            <a:ext cx="5257800" cy="869950"/>
            <a:chOff x="1632" y="3388"/>
            <a:chExt cx="3312" cy="548"/>
          </a:xfrm>
        </p:grpSpPr>
        <p:sp>
          <p:nvSpPr>
            <p:cNvPr id="111671" name="Text Box 106"/>
            <p:cNvSpPr txBox="1">
              <a:spLocks noChangeArrowheads="1"/>
            </p:cNvSpPr>
            <p:nvPr/>
          </p:nvSpPr>
          <p:spPr bwMode="auto">
            <a:xfrm>
              <a:off x="2736" y="3388"/>
              <a:ext cx="124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全相联映射</a:t>
              </a:r>
              <a:endPara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1672" name="Line 107"/>
            <p:cNvSpPr>
              <a:spLocks noChangeShapeType="1"/>
            </p:cNvSpPr>
            <p:nvPr/>
          </p:nvSpPr>
          <p:spPr bwMode="auto">
            <a:xfrm flipV="1">
              <a:off x="1632" y="3600"/>
              <a:ext cx="1152" cy="336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1673" name="Line 108"/>
            <p:cNvSpPr>
              <a:spLocks noChangeShapeType="1"/>
            </p:cNvSpPr>
            <p:nvPr/>
          </p:nvSpPr>
          <p:spPr bwMode="auto">
            <a:xfrm flipH="1" flipV="1">
              <a:off x="3936" y="3600"/>
              <a:ext cx="1008" cy="336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11623" name="Text Box 109"/>
          <p:cNvSpPr txBox="1">
            <a:spLocks noChangeArrowheads="1"/>
          </p:cNvSpPr>
          <p:nvPr/>
        </p:nvSpPr>
        <p:spPr bwMode="auto">
          <a:xfrm>
            <a:off x="552451" y="103188"/>
            <a:ext cx="33337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 dirty="0">
                <a:latin typeface="Times New Roman" panose="02020603050405020304" pitchFamily="18" charset="0"/>
              </a:rPr>
              <a:t>3. 组相联映射</a:t>
            </a:r>
            <a:endParaRPr lang="zh-CN" altLang="en-US" sz="3200" dirty="0">
              <a:latin typeface="Times New Roman" panose="02020603050405020304" pitchFamily="18" charset="0"/>
            </a:endParaRPr>
          </a:p>
        </p:txBody>
      </p:sp>
      <p:grpSp>
        <p:nvGrpSpPr>
          <p:cNvPr id="295023" name="Group 111"/>
          <p:cNvGrpSpPr/>
          <p:nvPr/>
        </p:nvGrpSpPr>
        <p:grpSpPr bwMode="auto">
          <a:xfrm>
            <a:off x="3190874" y="1294713"/>
            <a:ext cx="6788150" cy="3557587"/>
            <a:chOff x="1149" y="891"/>
            <a:chExt cx="4276" cy="2241"/>
          </a:xfrm>
        </p:grpSpPr>
        <p:grpSp>
          <p:nvGrpSpPr>
            <p:cNvPr id="111627" name="Group 112"/>
            <p:cNvGrpSpPr/>
            <p:nvPr/>
          </p:nvGrpSpPr>
          <p:grpSpPr bwMode="auto">
            <a:xfrm>
              <a:off x="4512" y="899"/>
              <a:ext cx="912" cy="249"/>
              <a:chOff x="4512" y="899"/>
              <a:chExt cx="912" cy="249"/>
            </a:xfrm>
          </p:grpSpPr>
          <p:sp>
            <p:nvSpPr>
              <p:cNvPr id="111668" name="Rectangle 113"/>
              <p:cNvSpPr>
                <a:spLocks noChangeArrowheads="1"/>
              </p:cNvSpPr>
              <p:nvPr/>
            </p:nvSpPr>
            <p:spPr bwMode="auto">
              <a:xfrm>
                <a:off x="4512" y="899"/>
                <a:ext cx="912" cy="24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 字块0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669" name="Line 114"/>
              <p:cNvSpPr>
                <a:spLocks noChangeShapeType="1"/>
              </p:cNvSpPr>
              <p:nvPr/>
            </p:nvSpPr>
            <p:spPr bwMode="auto">
              <a:xfrm>
                <a:off x="4512" y="899"/>
                <a:ext cx="91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1670" name="Line 115"/>
              <p:cNvSpPr>
                <a:spLocks noChangeShapeType="1"/>
              </p:cNvSpPr>
              <p:nvPr/>
            </p:nvSpPr>
            <p:spPr bwMode="auto">
              <a:xfrm>
                <a:off x="4512" y="1148"/>
                <a:ext cx="91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1628" name="Group 116"/>
            <p:cNvGrpSpPr/>
            <p:nvPr/>
          </p:nvGrpSpPr>
          <p:grpSpPr bwMode="auto">
            <a:xfrm>
              <a:off x="1152" y="1043"/>
              <a:ext cx="2688" cy="249"/>
              <a:chOff x="1152" y="1043"/>
              <a:chExt cx="2688" cy="249"/>
            </a:xfrm>
          </p:grpSpPr>
          <p:sp>
            <p:nvSpPr>
              <p:cNvPr id="111662" name="Rectangle 117"/>
              <p:cNvSpPr>
                <a:spLocks noChangeArrowheads="1"/>
              </p:cNvSpPr>
              <p:nvPr/>
            </p:nvSpPr>
            <p:spPr bwMode="auto">
              <a:xfrm>
                <a:off x="2976" y="1043"/>
                <a:ext cx="864" cy="249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字块 1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663" name="Line 118"/>
              <p:cNvSpPr>
                <a:spLocks noChangeShapeType="1"/>
              </p:cNvSpPr>
              <p:nvPr/>
            </p:nvSpPr>
            <p:spPr bwMode="auto">
              <a:xfrm>
                <a:off x="2496" y="1043"/>
                <a:ext cx="134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1664" name="Line 119"/>
              <p:cNvSpPr>
                <a:spLocks noChangeShapeType="1"/>
              </p:cNvSpPr>
              <p:nvPr/>
            </p:nvSpPr>
            <p:spPr bwMode="auto">
              <a:xfrm>
                <a:off x="2496" y="1292"/>
                <a:ext cx="13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1665" name="Rectangle 120"/>
              <p:cNvSpPr>
                <a:spLocks noChangeArrowheads="1"/>
              </p:cNvSpPr>
              <p:nvPr/>
            </p:nvSpPr>
            <p:spPr bwMode="auto">
              <a:xfrm>
                <a:off x="1632" y="1043"/>
                <a:ext cx="864" cy="249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字块 0</a:t>
                </a:r>
                <a:endPara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666" name="Line 121"/>
              <p:cNvSpPr>
                <a:spLocks noChangeShapeType="1"/>
              </p:cNvSpPr>
              <p:nvPr/>
            </p:nvSpPr>
            <p:spPr bwMode="auto">
              <a:xfrm>
                <a:off x="1152" y="1043"/>
                <a:ext cx="134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1667" name="Line 122"/>
              <p:cNvSpPr>
                <a:spLocks noChangeShapeType="1"/>
              </p:cNvSpPr>
              <p:nvPr/>
            </p:nvSpPr>
            <p:spPr bwMode="auto">
              <a:xfrm>
                <a:off x="1152" y="1292"/>
                <a:ext cx="13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11629" name="Line 123"/>
            <p:cNvSpPr>
              <a:spLocks noChangeShapeType="1"/>
            </p:cNvSpPr>
            <p:nvPr/>
          </p:nvSpPr>
          <p:spPr bwMode="auto">
            <a:xfrm>
              <a:off x="3840" y="1139"/>
              <a:ext cx="672" cy="86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1630" name="Line 124"/>
            <p:cNvSpPr>
              <a:spLocks noChangeShapeType="1"/>
            </p:cNvSpPr>
            <p:nvPr/>
          </p:nvSpPr>
          <p:spPr bwMode="auto">
            <a:xfrm>
              <a:off x="3840" y="1139"/>
              <a:ext cx="672" cy="18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11631" name="Group 125"/>
            <p:cNvGrpSpPr/>
            <p:nvPr/>
          </p:nvGrpSpPr>
          <p:grpSpPr bwMode="auto">
            <a:xfrm>
              <a:off x="1149" y="891"/>
              <a:ext cx="4276" cy="414"/>
              <a:chOff x="1149" y="891"/>
              <a:chExt cx="4276" cy="414"/>
            </a:xfrm>
          </p:grpSpPr>
          <p:sp>
            <p:nvSpPr>
              <p:cNvPr id="111646" name="Line 126"/>
              <p:cNvSpPr>
                <a:spLocks noChangeShapeType="1"/>
              </p:cNvSpPr>
              <p:nvPr/>
            </p:nvSpPr>
            <p:spPr bwMode="auto">
              <a:xfrm flipV="1">
                <a:off x="3840" y="995"/>
                <a:ext cx="672" cy="144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1647" name="Group 127"/>
              <p:cNvGrpSpPr/>
              <p:nvPr/>
            </p:nvGrpSpPr>
            <p:grpSpPr bwMode="auto">
              <a:xfrm>
                <a:off x="4512" y="891"/>
                <a:ext cx="913" cy="267"/>
                <a:chOff x="4512" y="891"/>
                <a:chExt cx="913" cy="267"/>
              </a:xfrm>
            </p:grpSpPr>
            <p:sp>
              <p:nvSpPr>
                <p:cNvPr id="111658" name="Line 128"/>
                <p:cNvSpPr>
                  <a:spLocks noChangeShapeType="1"/>
                </p:cNvSpPr>
                <p:nvPr/>
              </p:nvSpPr>
              <p:spPr bwMode="auto">
                <a:xfrm>
                  <a:off x="4512" y="899"/>
                  <a:ext cx="912" cy="0"/>
                </a:xfrm>
                <a:prstGeom prst="line">
                  <a:avLst/>
                </a:prstGeom>
                <a:noFill/>
                <a:ln w="38100" cap="sq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9" name="Line 129"/>
                <p:cNvSpPr>
                  <a:spLocks noChangeShapeType="1"/>
                </p:cNvSpPr>
                <p:nvPr/>
              </p:nvSpPr>
              <p:spPr bwMode="auto">
                <a:xfrm>
                  <a:off x="4512" y="1148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60" name="Freeform 130"/>
                <p:cNvSpPr/>
                <p:nvPr/>
              </p:nvSpPr>
              <p:spPr bwMode="auto">
                <a:xfrm>
                  <a:off x="4512" y="891"/>
                  <a:ext cx="1" cy="267"/>
                </a:xfrm>
                <a:custGeom>
                  <a:avLst/>
                  <a:gdLst>
                    <a:gd name="T0" fmla="*/ 0 w 1"/>
                    <a:gd name="T1" fmla="*/ 0 h 267"/>
                    <a:gd name="T2" fmla="*/ 0 w 1"/>
                    <a:gd name="T3" fmla="*/ 267 h 26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67">
                      <a:moveTo>
                        <a:pt x="0" y="0"/>
                      </a:moveTo>
                      <a:lnTo>
                        <a:pt x="0" y="267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61" name="Freeform 131"/>
                <p:cNvSpPr/>
                <p:nvPr/>
              </p:nvSpPr>
              <p:spPr bwMode="auto">
                <a:xfrm>
                  <a:off x="5424" y="891"/>
                  <a:ext cx="1" cy="267"/>
                </a:xfrm>
                <a:custGeom>
                  <a:avLst/>
                  <a:gdLst>
                    <a:gd name="T0" fmla="*/ 0 w 1"/>
                    <a:gd name="T1" fmla="*/ 0 h 267"/>
                    <a:gd name="T2" fmla="*/ 0 w 1"/>
                    <a:gd name="T3" fmla="*/ 267 h 26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67">
                      <a:moveTo>
                        <a:pt x="0" y="0"/>
                      </a:moveTo>
                      <a:lnTo>
                        <a:pt x="0" y="267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1648" name="Group 132"/>
              <p:cNvGrpSpPr/>
              <p:nvPr/>
            </p:nvGrpSpPr>
            <p:grpSpPr bwMode="auto">
              <a:xfrm>
                <a:off x="1149" y="1035"/>
                <a:ext cx="2691" cy="270"/>
                <a:chOff x="1149" y="1035"/>
                <a:chExt cx="2691" cy="270"/>
              </a:xfrm>
            </p:grpSpPr>
            <p:sp>
              <p:nvSpPr>
                <p:cNvPr id="111649" name="Line 133"/>
                <p:cNvSpPr>
                  <a:spLocks noChangeShapeType="1"/>
                </p:cNvSpPr>
                <p:nvPr/>
              </p:nvSpPr>
              <p:spPr bwMode="auto">
                <a:xfrm>
                  <a:off x="2496" y="1043"/>
                  <a:ext cx="1344" cy="0"/>
                </a:xfrm>
                <a:prstGeom prst="line">
                  <a:avLst/>
                </a:prstGeom>
                <a:noFill/>
                <a:ln w="38100" cap="sq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0" name="Line 134"/>
                <p:cNvSpPr>
                  <a:spLocks noChangeShapeType="1"/>
                </p:cNvSpPr>
                <p:nvPr/>
              </p:nvSpPr>
              <p:spPr bwMode="auto">
                <a:xfrm>
                  <a:off x="2496" y="1292"/>
                  <a:ext cx="1344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1" name="Line 135"/>
                <p:cNvSpPr>
                  <a:spLocks noChangeShapeType="1"/>
                </p:cNvSpPr>
                <p:nvPr/>
              </p:nvSpPr>
              <p:spPr bwMode="auto">
                <a:xfrm>
                  <a:off x="1152" y="1043"/>
                  <a:ext cx="1344" cy="0"/>
                </a:xfrm>
                <a:prstGeom prst="line">
                  <a:avLst/>
                </a:prstGeom>
                <a:noFill/>
                <a:ln w="38100" cap="sq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2" name="Line 136"/>
                <p:cNvSpPr>
                  <a:spLocks noChangeShapeType="1"/>
                </p:cNvSpPr>
                <p:nvPr/>
              </p:nvSpPr>
              <p:spPr bwMode="auto">
                <a:xfrm>
                  <a:off x="1152" y="1292"/>
                  <a:ext cx="1344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3" name="Freeform 137"/>
                <p:cNvSpPr/>
                <p:nvPr/>
              </p:nvSpPr>
              <p:spPr bwMode="auto">
                <a:xfrm>
                  <a:off x="1149" y="1035"/>
                  <a:ext cx="3" cy="270"/>
                </a:xfrm>
                <a:custGeom>
                  <a:avLst/>
                  <a:gdLst>
                    <a:gd name="T0" fmla="*/ 0 w 3"/>
                    <a:gd name="T1" fmla="*/ 0 h 270"/>
                    <a:gd name="T2" fmla="*/ 3 w 3"/>
                    <a:gd name="T3" fmla="*/ 270 h 2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270">
                      <a:moveTo>
                        <a:pt x="0" y="0"/>
                      </a:moveTo>
                      <a:lnTo>
                        <a:pt x="3" y="27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4" name="Line 138"/>
                <p:cNvSpPr>
                  <a:spLocks noChangeShapeType="1"/>
                </p:cNvSpPr>
                <p:nvPr/>
              </p:nvSpPr>
              <p:spPr bwMode="auto">
                <a:xfrm>
                  <a:off x="1632" y="1056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5" name="Line 139"/>
                <p:cNvSpPr>
                  <a:spLocks noChangeShapeType="1"/>
                </p:cNvSpPr>
                <p:nvPr/>
              </p:nvSpPr>
              <p:spPr bwMode="auto">
                <a:xfrm>
                  <a:off x="2496" y="1056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6" name="Freeform 140"/>
                <p:cNvSpPr/>
                <p:nvPr/>
              </p:nvSpPr>
              <p:spPr bwMode="auto">
                <a:xfrm>
                  <a:off x="2973" y="1041"/>
                  <a:ext cx="3" cy="261"/>
                </a:xfrm>
                <a:custGeom>
                  <a:avLst/>
                  <a:gdLst>
                    <a:gd name="T0" fmla="*/ 3 w 3"/>
                    <a:gd name="T1" fmla="*/ 0 h 261"/>
                    <a:gd name="T2" fmla="*/ 0 w 3"/>
                    <a:gd name="T3" fmla="*/ 261 h 2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261">
                      <a:moveTo>
                        <a:pt x="3" y="0"/>
                      </a:moveTo>
                      <a:lnTo>
                        <a:pt x="0" y="261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7" name="Freeform 141"/>
                <p:cNvSpPr/>
                <p:nvPr/>
              </p:nvSpPr>
              <p:spPr bwMode="auto">
                <a:xfrm>
                  <a:off x="3837" y="1038"/>
                  <a:ext cx="3" cy="261"/>
                </a:xfrm>
                <a:custGeom>
                  <a:avLst/>
                  <a:gdLst>
                    <a:gd name="T0" fmla="*/ 0 w 3"/>
                    <a:gd name="T1" fmla="*/ 0 h 261"/>
                    <a:gd name="T2" fmla="*/ 3 w 3"/>
                    <a:gd name="T3" fmla="*/ 261 h 2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261">
                      <a:moveTo>
                        <a:pt x="0" y="0"/>
                      </a:moveTo>
                      <a:lnTo>
                        <a:pt x="3" y="261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11632" name="Group 142"/>
            <p:cNvGrpSpPr/>
            <p:nvPr/>
          </p:nvGrpSpPr>
          <p:grpSpPr bwMode="auto">
            <a:xfrm>
              <a:off x="4509" y="1863"/>
              <a:ext cx="916" cy="273"/>
              <a:chOff x="4509" y="1863"/>
              <a:chExt cx="916" cy="273"/>
            </a:xfrm>
          </p:grpSpPr>
          <p:sp>
            <p:nvSpPr>
              <p:cNvPr id="111640" name="Rectangle 143"/>
              <p:cNvSpPr>
                <a:spLocks noChangeArrowheads="1"/>
              </p:cNvSpPr>
              <p:nvPr/>
            </p:nvSpPr>
            <p:spPr bwMode="auto">
              <a:xfrm>
                <a:off x="4512" y="1876"/>
                <a:ext cx="912" cy="24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字块2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000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r</a:t>
                </a:r>
                <a:endParaRPr lang="zh-CN" altLang="en-US" sz="2000" i="1" baseline="30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11641" name="Group 144"/>
              <p:cNvGrpSpPr/>
              <p:nvPr/>
            </p:nvGrpSpPr>
            <p:grpSpPr bwMode="auto">
              <a:xfrm>
                <a:off x="4509" y="1863"/>
                <a:ext cx="916" cy="273"/>
                <a:chOff x="4509" y="1863"/>
                <a:chExt cx="916" cy="273"/>
              </a:xfrm>
            </p:grpSpPr>
            <p:sp>
              <p:nvSpPr>
                <p:cNvPr id="111642" name="Line 145"/>
                <p:cNvSpPr>
                  <a:spLocks noChangeShapeType="1"/>
                </p:cNvSpPr>
                <p:nvPr/>
              </p:nvSpPr>
              <p:spPr bwMode="auto">
                <a:xfrm>
                  <a:off x="4512" y="1876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3" name="Line 146"/>
                <p:cNvSpPr>
                  <a:spLocks noChangeShapeType="1"/>
                </p:cNvSpPr>
                <p:nvPr/>
              </p:nvSpPr>
              <p:spPr bwMode="auto">
                <a:xfrm>
                  <a:off x="4512" y="2125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4" name="Freeform 147"/>
                <p:cNvSpPr/>
                <p:nvPr/>
              </p:nvSpPr>
              <p:spPr bwMode="auto">
                <a:xfrm>
                  <a:off x="5424" y="1866"/>
                  <a:ext cx="1" cy="270"/>
                </a:xfrm>
                <a:custGeom>
                  <a:avLst/>
                  <a:gdLst>
                    <a:gd name="T0" fmla="*/ 0 w 1"/>
                    <a:gd name="T1" fmla="*/ 0 h 270"/>
                    <a:gd name="T2" fmla="*/ 0 w 1"/>
                    <a:gd name="T3" fmla="*/ 270 h 2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70">
                      <a:moveTo>
                        <a:pt x="0" y="0"/>
                      </a:moveTo>
                      <a:lnTo>
                        <a:pt x="0" y="270"/>
                      </a:lnTo>
                    </a:path>
                  </a:pathLst>
                </a:custGeom>
                <a:solidFill>
                  <a:schemeClr val="folHlink"/>
                </a:solidFill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5" name="Freeform 148"/>
                <p:cNvSpPr/>
                <p:nvPr/>
              </p:nvSpPr>
              <p:spPr bwMode="auto">
                <a:xfrm>
                  <a:off x="4509" y="1863"/>
                  <a:ext cx="3" cy="273"/>
                </a:xfrm>
                <a:custGeom>
                  <a:avLst/>
                  <a:gdLst>
                    <a:gd name="T0" fmla="*/ 3 w 3"/>
                    <a:gd name="T1" fmla="*/ 0 h 273"/>
                    <a:gd name="T2" fmla="*/ 0 w 3"/>
                    <a:gd name="T3" fmla="*/ 273 h 2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273">
                      <a:moveTo>
                        <a:pt x="3" y="0"/>
                      </a:moveTo>
                      <a:lnTo>
                        <a:pt x="0" y="273"/>
                      </a:lnTo>
                    </a:path>
                  </a:pathLst>
                </a:custGeom>
                <a:solidFill>
                  <a:schemeClr val="folHlink"/>
                </a:solidFill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11633" name="Group 149"/>
            <p:cNvGrpSpPr/>
            <p:nvPr/>
          </p:nvGrpSpPr>
          <p:grpSpPr bwMode="auto">
            <a:xfrm>
              <a:off x="4512" y="2856"/>
              <a:ext cx="913" cy="276"/>
              <a:chOff x="4512" y="2856"/>
              <a:chExt cx="913" cy="276"/>
            </a:xfrm>
          </p:grpSpPr>
          <p:sp>
            <p:nvSpPr>
              <p:cNvPr id="111634" name="Rectangle 150"/>
              <p:cNvSpPr>
                <a:spLocks noChangeArrowheads="1"/>
              </p:cNvSpPr>
              <p:nvPr/>
            </p:nvSpPr>
            <p:spPr bwMode="auto">
              <a:xfrm>
                <a:off x="4512" y="2872"/>
                <a:ext cx="912" cy="24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20000"/>
                  </a:spcBef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字块2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000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r</a:t>
                </a:r>
                <a:r>
                  <a:rPr lang="en-US" altLang="zh-CN" sz="2000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+1</a:t>
                </a:r>
                <a:endParaRPr lang="zh-CN" altLang="en-US" sz="2000" baseline="30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11635" name="Group 151"/>
              <p:cNvGrpSpPr/>
              <p:nvPr/>
            </p:nvGrpSpPr>
            <p:grpSpPr bwMode="auto">
              <a:xfrm>
                <a:off x="4512" y="2856"/>
                <a:ext cx="913" cy="276"/>
                <a:chOff x="4512" y="2856"/>
                <a:chExt cx="913" cy="276"/>
              </a:xfrm>
            </p:grpSpPr>
            <p:sp>
              <p:nvSpPr>
                <p:cNvPr id="111636" name="Line 152"/>
                <p:cNvSpPr>
                  <a:spLocks noChangeShapeType="1"/>
                </p:cNvSpPr>
                <p:nvPr/>
              </p:nvSpPr>
              <p:spPr bwMode="auto">
                <a:xfrm>
                  <a:off x="4512" y="2872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37" name="Line 153"/>
                <p:cNvSpPr>
                  <a:spLocks noChangeShapeType="1"/>
                </p:cNvSpPr>
                <p:nvPr/>
              </p:nvSpPr>
              <p:spPr bwMode="auto">
                <a:xfrm>
                  <a:off x="4512" y="3121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38" name="Freeform 154"/>
                <p:cNvSpPr/>
                <p:nvPr/>
              </p:nvSpPr>
              <p:spPr bwMode="auto">
                <a:xfrm>
                  <a:off x="4512" y="2856"/>
                  <a:ext cx="1" cy="276"/>
                </a:xfrm>
                <a:custGeom>
                  <a:avLst/>
                  <a:gdLst>
                    <a:gd name="T0" fmla="*/ 0 w 1"/>
                    <a:gd name="T1" fmla="*/ 0 h 276"/>
                    <a:gd name="T2" fmla="*/ 0 w 1"/>
                    <a:gd name="T3" fmla="*/ 276 h 2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76">
                      <a:moveTo>
                        <a:pt x="0" y="0"/>
                      </a:moveTo>
                      <a:lnTo>
                        <a:pt x="0" y="276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39" name="Freeform 155"/>
                <p:cNvSpPr/>
                <p:nvPr/>
              </p:nvSpPr>
              <p:spPr bwMode="auto">
                <a:xfrm>
                  <a:off x="5424" y="2859"/>
                  <a:ext cx="1" cy="273"/>
                </a:xfrm>
                <a:custGeom>
                  <a:avLst/>
                  <a:gdLst>
                    <a:gd name="T0" fmla="*/ 0 w 1"/>
                    <a:gd name="T1" fmla="*/ 0 h 273"/>
                    <a:gd name="T2" fmla="*/ 0 w 1"/>
                    <a:gd name="T3" fmla="*/ 273 h 2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73">
                      <a:moveTo>
                        <a:pt x="0" y="0"/>
                      </a:moveTo>
                      <a:lnTo>
                        <a:pt x="0" y="273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4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95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5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5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50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5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5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011" grpId="0" autoUpdateAnimBg="0"/>
      <p:bldP spid="295012" grpId="0" autoUpdateAnimBg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Text Box 2"/>
          <p:cNvSpPr txBox="1">
            <a:spLocks noChangeArrowheads="1"/>
          </p:cNvSpPr>
          <p:nvPr/>
        </p:nvSpPr>
        <p:spPr bwMode="auto">
          <a:xfrm>
            <a:off x="873919" y="214046"/>
            <a:ext cx="41100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>
                <a:latin typeface="Times New Roman" panose="02020603050405020304" pitchFamily="18" charset="0"/>
              </a:rPr>
              <a:t>三、替换算法</a:t>
            </a:r>
            <a:endParaRPr lang="zh-CN" altLang="en-US" sz="3600">
              <a:latin typeface="Times New Roman" panose="02020603050405020304" pitchFamily="18" charset="0"/>
            </a:endParaRPr>
          </a:p>
        </p:txBody>
      </p:sp>
      <p:sp>
        <p:nvSpPr>
          <p:cNvPr id="295939" name="Text Box 3"/>
          <p:cNvSpPr txBox="1">
            <a:spLocks noChangeArrowheads="1"/>
          </p:cNvSpPr>
          <p:nvPr/>
        </p:nvSpPr>
        <p:spPr bwMode="auto">
          <a:xfrm>
            <a:off x="2590801" y="1249364"/>
            <a:ext cx="53324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1.  先进先出 （ </a:t>
            </a:r>
            <a:r>
              <a:rPr lang="en-US" altLang="zh-CN" sz="3200">
                <a:latin typeface="Times New Roman" panose="02020603050405020304" pitchFamily="18" charset="0"/>
              </a:rPr>
              <a:t>FIFO ）</a:t>
            </a:r>
            <a:r>
              <a:rPr lang="zh-CN" altLang="en-US" sz="3200">
                <a:latin typeface="Times New Roman" panose="02020603050405020304" pitchFamily="18" charset="0"/>
              </a:rPr>
              <a:t>算法 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95940" name="Text Box 4"/>
          <p:cNvSpPr txBox="1">
            <a:spLocks noChangeArrowheads="1"/>
          </p:cNvSpPr>
          <p:nvPr/>
        </p:nvSpPr>
        <p:spPr bwMode="auto">
          <a:xfrm>
            <a:off x="2590801" y="2087564"/>
            <a:ext cx="70342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latin typeface="Times New Roman" panose="02020603050405020304" pitchFamily="18" charset="0"/>
              </a:rPr>
              <a:t>2.  近期最少使用（ </a:t>
            </a:r>
            <a:r>
              <a:rPr lang="en-US" altLang="zh-CN" sz="3200">
                <a:latin typeface="Times New Roman" panose="02020603050405020304" pitchFamily="18" charset="0"/>
              </a:rPr>
              <a:t>LRU）</a:t>
            </a:r>
            <a:r>
              <a:rPr lang="zh-CN" altLang="en-US" sz="3200">
                <a:latin typeface="Times New Roman" panose="02020603050405020304" pitchFamily="18" charset="0"/>
              </a:rPr>
              <a:t>算法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295941" name="Text Box 5"/>
          <p:cNvSpPr txBox="1">
            <a:spLocks noChangeArrowheads="1"/>
          </p:cNvSpPr>
          <p:nvPr/>
        </p:nvSpPr>
        <p:spPr bwMode="auto">
          <a:xfrm>
            <a:off x="2428876" y="2887664"/>
            <a:ext cx="10001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小结</a:t>
            </a:r>
            <a:endParaRPr lang="zh-CN" altLang="en-US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5942" name="Text Box 6"/>
          <p:cNvSpPr txBox="1">
            <a:spLocks noChangeArrowheads="1"/>
          </p:cNvSpPr>
          <p:nvPr/>
        </p:nvSpPr>
        <p:spPr bwMode="auto">
          <a:xfrm>
            <a:off x="3648076" y="3981450"/>
            <a:ext cx="64627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只能固定 </a:t>
            </a:r>
            <a:r>
              <a:rPr lang="zh-CN" altLang="en-US" sz="2400">
                <a:latin typeface="Times New Roman" panose="02020603050405020304" pitchFamily="18" charset="0"/>
              </a:rPr>
              <a:t>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缓存块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295943" name="Group 7"/>
          <p:cNvGrpSpPr/>
          <p:nvPr/>
        </p:nvGrpSpPr>
        <p:grpSpPr bwMode="auto">
          <a:xfrm>
            <a:off x="2376488" y="3908426"/>
            <a:ext cx="1266824" cy="2200276"/>
            <a:chOff x="96" y="2462"/>
            <a:chExt cx="798" cy="1386"/>
          </a:xfrm>
        </p:grpSpPr>
        <p:sp>
          <p:nvSpPr>
            <p:cNvPr id="112654" name="Text Box 8"/>
            <p:cNvSpPr txBox="1">
              <a:spLocks noChangeArrowheads="1"/>
            </p:cNvSpPr>
            <p:nvPr/>
          </p:nvSpPr>
          <p:spPr bwMode="auto">
            <a:xfrm>
              <a:off x="96" y="2462"/>
              <a:ext cx="57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直接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12655" name="Text Box 9"/>
            <p:cNvSpPr txBox="1">
              <a:spLocks noChangeArrowheads="1"/>
            </p:cNvSpPr>
            <p:nvPr/>
          </p:nvSpPr>
          <p:spPr bwMode="auto">
            <a:xfrm>
              <a:off x="96" y="2990"/>
              <a:ext cx="798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全相联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12656" name="Text Box 10"/>
            <p:cNvSpPr txBox="1">
              <a:spLocks noChangeArrowheads="1"/>
            </p:cNvSpPr>
            <p:nvPr/>
          </p:nvSpPr>
          <p:spPr bwMode="auto">
            <a:xfrm>
              <a:off x="96" y="3518"/>
              <a:ext cx="798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800">
                  <a:latin typeface="Times New Roman" panose="02020603050405020304" pitchFamily="18" charset="0"/>
                </a:rPr>
                <a:t>组相联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295947" name="Text Box 11"/>
          <p:cNvSpPr txBox="1">
            <a:spLocks noChangeArrowheads="1"/>
          </p:cNvSpPr>
          <p:nvPr/>
        </p:nvSpPr>
        <p:spPr bwMode="auto">
          <a:xfrm>
            <a:off x="3648076" y="4805363"/>
            <a:ext cx="68437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能</a:t>
            </a:r>
            <a:r>
              <a:rPr lang="zh-CN" altLang="en-US" sz="2400">
                <a:latin typeface="Times New Roman" panose="02020603050405020304" pitchFamily="18" charset="0"/>
              </a:rPr>
              <a:t> 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 </a:t>
            </a:r>
            <a:r>
              <a:rPr lang="zh-CN" altLang="en-US" sz="2400">
                <a:latin typeface="Times New Roman" panose="02020603050405020304" pitchFamily="18" charset="0"/>
              </a:rPr>
              <a:t>缓存块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95948" name="Text Box 12"/>
          <p:cNvSpPr txBox="1">
            <a:spLocks noChangeArrowheads="1"/>
          </p:cNvSpPr>
          <p:nvPr/>
        </p:nvSpPr>
        <p:spPr bwMode="auto">
          <a:xfrm>
            <a:off x="3648076" y="5643563"/>
            <a:ext cx="71485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只能 </a:t>
            </a:r>
            <a:r>
              <a:rPr lang="zh-CN" altLang="en-US" sz="2400">
                <a:latin typeface="Times New Roman" panose="02020603050405020304" pitchFamily="18" charset="0"/>
              </a:rPr>
              <a:t>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缓存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组 </a:t>
            </a:r>
            <a:r>
              <a:rPr lang="zh-CN" altLang="en-US" sz="2400">
                <a:latin typeface="Times New Roman" panose="02020603050405020304" pitchFamily="18" charset="0"/>
              </a:rPr>
              <a:t>中的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任一块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5949" name="AutoShape 13"/>
          <p:cNvSpPr>
            <a:spLocks noChangeArrowheads="1"/>
          </p:cNvSpPr>
          <p:nvPr/>
        </p:nvSpPr>
        <p:spPr bwMode="auto">
          <a:xfrm>
            <a:off x="3962401" y="3030538"/>
            <a:ext cx="1370013" cy="582612"/>
          </a:xfrm>
          <a:prstGeom prst="wedgeRoundRectCallout">
            <a:avLst>
              <a:gd name="adj1" fmla="val -96065"/>
              <a:gd name="adj2" fmla="val 151125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不灵活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95950" name="AutoShape 14"/>
          <p:cNvSpPr>
            <a:spLocks noChangeArrowheads="1"/>
          </p:cNvSpPr>
          <p:nvPr/>
        </p:nvSpPr>
        <p:spPr bwMode="auto">
          <a:xfrm>
            <a:off x="3581401" y="3048001"/>
            <a:ext cx="1370013" cy="582613"/>
          </a:xfrm>
          <a:prstGeom prst="wedgeRoundRectCallout">
            <a:avLst>
              <a:gd name="adj1" fmla="val -48032"/>
              <a:gd name="adj2" fmla="val 245639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>
                <a:latin typeface="Times New Roman" panose="02020603050405020304" pitchFamily="18" charset="0"/>
              </a:rPr>
              <a:t>成本高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5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5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5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5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5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5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95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959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9595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939" grpId="0" autoUpdateAnimBg="0"/>
      <p:bldP spid="295940" grpId="0" autoUpdateAnimBg="0"/>
      <p:bldP spid="295941" grpId="0" autoUpdateAnimBg="0"/>
      <p:bldP spid="295942" grpId="0" autoUpdateAnimBg="0"/>
      <p:bldP spid="295947" grpId="0" autoUpdateAnimBg="0"/>
      <p:bldP spid="295948" grpId="0" autoUpdateAnimBg="0"/>
      <p:bldP spid="295949" grpId="0" animBg="1" autoUpdateAnimBg="0"/>
      <p:bldP spid="295950" grpId="0" animBg="1" autoUpdateAnimBg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Text Box 2"/>
          <p:cNvSpPr txBox="1">
            <a:spLocks noChangeArrowheads="1"/>
          </p:cNvSpPr>
          <p:nvPr/>
        </p:nvSpPr>
        <p:spPr bwMode="auto">
          <a:xfrm>
            <a:off x="479376" y="143308"/>
            <a:ext cx="373050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四.  </a:t>
            </a:r>
            <a:r>
              <a:rPr lang="en-US" altLang="zh-CN" sz="3600" dirty="0">
                <a:latin typeface="Times New Roman" panose="02020603050405020304" pitchFamily="18" charset="0"/>
              </a:rPr>
              <a:t>Cache </a:t>
            </a:r>
            <a:r>
              <a:rPr lang="zh-CN" altLang="en-US" sz="3600" dirty="0">
                <a:latin typeface="Times New Roman" panose="02020603050405020304" pitchFamily="18" charset="0"/>
              </a:rPr>
              <a:t>的改进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  <p:sp>
        <p:nvSpPr>
          <p:cNvPr id="2" name="Text Box 11"/>
          <p:cNvSpPr txBox="1">
            <a:spLocks noChangeArrowheads="1"/>
          </p:cNvSpPr>
          <p:nvPr/>
        </p:nvSpPr>
        <p:spPr bwMode="auto">
          <a:xfrm>
            <a:off x="1343472" y="1268760"/>
            <a:ext cx="9433048" cy="4931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400" dirty="0">
                <a:latin typeface="Times New Roman" panose="02020603050405020304" pitchFamily="18" charset="0"/>
              </a:rPr>
              <a:t>平均访存时间：访问</a:t>
            </a:r>
            <a:r>
              <a:rPr lang="en-US" altLang="zh-CN" sz="2400" dirty="0">
                <a:latin typeface="Times New Roman" panose="02020603050405020304" pitchFamily="18" charset="0"/>
              </a:rPr>
              <a:t>Cache</a:t>
            </a:r>
            <a:r>
              <a:rPr lang="zh-CN" altLang="en-US" sz="2400" dirty="0">
                <a:latin typeface="Times New Roman" panose="02020603050405020304" pitchFamily="18" charset="0"/>
              </a:rPr>
              <a:t>时间，失效率，失效开销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3" name="Text Box 11"/>
          <p:cNvSpPr txBox="1">
            <a:spLocks noChangeArrowheads="1"/>
          </p:cNvSpPr>
          <p:nvPr/>
        </p:nvSpPr>
        <p:spPr bwMode="auto">
          <a:xfrm>
            <a:off x="1343472" y="2132856"/>
            <a:ext cx="9433048" cy="4931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400" dirty="0">
                <a:latin typeface="Times New Roman" panose="02020603050405020304" pitchFamily="18" charset="0"/>
              </a:rPr>
              <a:t>降低失效率：</a:t>
            </a:r>
            <a:r>
              <a:rPr lang="en-US" altLang="zh-CN" sz="2400" dirty="0">
                <a:latin typeface="Times New Roman" panose="02020603050405020304" pitchFamily="18" charset="0"/>
              </a:rPr>
              <a:t>3C</a:t>
            </a:r>
            <a:r>
              <a:rPr lang="zh-CN" altLang="en-US" sz="2400" dirty="0">
                <a:latin typeface="Times New Roman" panose="02020603050405020304" pitchFamily="18" charset="0"/>
              </a:rPr>
              <a:t>失效（强制，容量，冲突）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4" name="Text Box 11"/>
          <p:cNvSpPr txBox="1">
            <a:spLocks noChangeArrowheads="1"/>
          </p:cNvSpPr>
          <p:nvPr/>
        </p:nvSpPr>
        <p:spPr bwMode="auto">
          <a:xfrm>
            <a:off x="1343472" y="3182426"/>
            <a:ext cx="9433048" cy="4931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400" dirty="0">
                <a:latin typeface="Times New Roman" panose="02020603050405020304" pitchFamily="18" charset="0"/>
              </a:rPr>
              <a:t>降低失效开销：二级缓存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utoUpdateAnimBg="0"/>
      <p:bldP spid="2" grpId="1"/>
      <p:bldP spid="3" grpId="0" autoUpdateAnimBg="0"/>
      <p:bldP spid="3" grpId="1"/>
      <p:bldP spid="4" grpId="0" autoUpdateAnimBg="0"/>
      <p:bldP spid="4" grpId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36" name="Rectangle 2"/>
          <p:cNvSpPr>
            <a:spLocks noChangeArrowheads="1"/>
          </p:cNvSpPr>
          <p:nvPr/>
        </p:nvSpPr>
        <p:spPr bwMode="auto">
          <a:xfrm>
            <a:off x="1415480" y="1268760"/>
            <a:ext cx="7561262" cy="1014412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tx1"/>
              </a:buClr>
              <a:buFont typeface="Wingdings" panose="05000000000000000000" pitchFamily="2" charset="2"/>
              <a:buAutoNum type="arabicPeriod"/>
              <a:defRPr kumimoji="1" sz="2400">
                <a:solidFill>
                  <a:srgbClr val="E24C05"/>
                </a:solidFill>
                <a:latin typeface="Tahoma" panose="020B0604030504040204" pitchFamily="34" charset="0"/>
                <a:ea typeface="黑体" panose="02010609060101010101" pitchFamily="49" charset="-122"/>
              </a:defRPr>
            </a:lvl1pPr>
            <a:lvl2pPr marL="900430" indent="-271780">
              <a:lnSpc>
                <a:spcPct val="120000"/>
              </a:lnSpc>
              <a:spcBef>
                <a:spcPct val="20000"/>
              </a:spcBef>
              <a:buClr>
                <a:schemeClr val="tx1"/>
              </a:buClr>
              <a:buSzPct val="90000"/>
              <a:buFont typeface="Wingdings" panose="05000000000000000000" pitchFamily="2" charset="2"/>
              <a:buChar char="Ø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黑体" panose="02010609060101010101" pitchFamily="49" charset="-122"/>
              </a:defRPr>
            </a:lvl2pPr>
            <a:lvl3pPr marL="1714500" indent="-457200">
              <a:lnSpc>
                <a:spcPct val="120000"/>
              </a:lnSpc>
              <a:spcBef>
                <a:spcPct val="20000"/>
              </a:spcBef>
              <a:buClr>
                <a:schemeClr val="hlink"/>
              </a:buClr>
              <a:buSzPct val="60000"/>
              <a:buFont typeface="Wingdings" panose="05000000000000000000" pitchFamily="2" charset="2"/>
              <a:buChar char="q"/>
              <a:defRPr kumimoji="1" sz="2000" b="1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2275205" indent="-381000">
              <a:lnSpc>
                <a:spcPct val="120000"/>
              </a:lnSpc>
              <a:spcBef>
                <a:spcPct val="20000"/>
              </a:spcBef>
              <a:buClr>
                <a:srgbClr val="006600"/>
              </a:buClr>
              <a:buSzPct val="65000"/>
              <a:buFont typeface="Wingdings" panose="05000000000000000000" pitchFamily="2" charset="2"/>
              <a:buChar char="n"/>
              <a:defRPr kumimoji="1" sz="20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835275" indent="-381000">
              <a:lnSpc>
                <a:spcPct val="120000"/>
              </a:lnSpc>
              <a:spcBef>
                <a:spcPct val="20000"/>
              </a:spcBef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32924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37496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42068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46640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例题： </a:t>
            </a:r>
            <a:r>
              <a:rPr lang="zh-CN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设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cache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共有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8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块，每块大小为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4B,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主存共有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64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块，请给出直接映像、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路组相联映像、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4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cs typeface="Times New Roman" panose="02020603050405020304" pitchFamily="18" charset="0"/>
              </a:rPr>
              <a:t>路组相联映像和全相联映像时的访存地址格式和具体分析过程</a:t>
            </a:r>
            <a:endParaRPr lang="zh-CN" altLang="en-US" sz="2000" dirty="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26637" name="Rectangle 2"/>
          <p:cNvSpPr>
            <a:spLocks noChangeArrowheads="1"/>
          </p:cNvSpPr>
          <p:nvPr/>
        </p:nvSpPr>
        <p:spPr bwMode="auto">
          <a:xfrm>
            <a:off x="1991544" y="2924944"/>
            <a:ext cx="7416800" cy="1939925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tx1"/>
              </a:buClr>
              <a:buFont typeface="Wingdings" panose="05000000000000000000" pitchFamily="2" charset="2"/>
              <a:buAutoNum type="arabicPeriod"/>
              <a:defRPr kumimoji="1" sz="2400">
                <a:solidFill>
                  <a:srgbClr val="E24C05"/>
                </a:solidFill>
                <a:latin typeface="Tahoma" panose="020B0604030504040204" pitchFamily="34" charset="0"/>
                <a:ea typeface="黑体" panose="02010609060101010101" pitchFamily="49" charset="-122"/>
              </a:defRPr>
            </a:lvl1pPr>
            <a:lvl2pPr marL="900430" indent="-271780">
              <a:lnSpc>
                <a:spcPct val="120000"/>
              </a:lnSpc>
              <a:spcBef>
                <a:spcPct val="20000"/>
              </a:spcBef>
              <a:buClr>
                <a:schemeClr val="tx1"/>
              </a:buClr>
              <a:buSzPct val="90000"/>
              <a:buFont typeface="Wingdings" panose="05000000000000000000" pitchFamily="2" charset="2"/>
              <a:buChar char="Ø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黑体" panose="02010609060101010101" pitchFamily="49" charset="-122"/>
              </a:defRPr>
            </a:lvl2pPr>
            <a:lvl3pPr marL="1714500" indent="-457200">
              <a:lnSpc>
                <a:spcPct val="120000"/>
              </a:lnSpc>
              <a:spcBef>
                <a:spcPct val="20000"/>
              </a:spcBef>
              <a:buClr>
                <a:schemeClr val="hlink"/>
              </a:buClr>
              <a:buSzPct val="60000"/>
              <a:buFont typeface="Wingdings" panose="05000000000000000000" pitchFamily="2" charset="2"/>
              <a:buChar char="q"/>
              <a:defRPr kumimoji="1" sz="2000" b="1">
                <a:solidFill>
                  <a:srgbClr val="000000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2275205" indent="-381000">
              <a:lnSpc>
                <a:spcPct val="120000"/>
              </a:lnSpc>
              <a:spcBef>
                <a:spcPct val="20000"/>
              </a:spcBef>
              <a:buClr>
                <a:srgbClr val="006600"/>
              </a:buClr>
              <a:buSzPct val="65000"/>
              <a:buFont typeface="Wingdings" panose="05000000000000000000" pitchFamily="2" charset="2"/>
              <a:buChar char="n"/>
              <a:defRPr kumimoji="1" sz="20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835275" indent="-381000">
              <a:lnSpc>
                <a:spcPct val="120000"/>
              </a:lnSpc>
              <a:spcBef>
                <a:spcPct val="20000"/>
              </a:spcBef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32924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37496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42068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4664075" indent="-3810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0000"/>
              <a:buFont typeface="Wingdings" panose="05000000000000000000" pitchFamily="2" charset="2"/>
              <a:buChar char="n"/>
              <a:defRPr kumimoji="1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主存容量：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64*4B = 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的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8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次方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 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访存地址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8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位</a:t>
            </a:r>
            <a:endParaRPr lang="en-US" altLang="zh-CN" sz="2000" dirty="0">
              <a:solidFill>
                <a:schemeClr val="tx1"/>
              </a:solidFill>
              <a:latin typeface="+mn-ea"/>
              <a:ea typeface="+mn-ea"/>
              <a:sym typeface="Wingdings" panose="05000000000000000000" pitchFamily="2" charset="2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每块大小为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4B  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块内位移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位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 </a:t>
            </a:r>
            <a:endParaRPr lang="en-US" altLang="zh-CN" sz="2000" dirty="0">
              <a:solidFill>
                <a:schemeClr val="tx1"/>
              </a:solidFill>
              <a:latin typeface="+mn-ea"/>
              <a:ea typeface="+mn-ea"/>
              <a:sym typeface="Wingdings" panose="05000000000000000000" pitchFamily="2" charset="2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因此 块地址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 6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位</a:t>
            </a:r>
            <a:endParaRPr lang="en-US" altLang="zh-CN" sz="2000" dirty="0">
              <a:solidFill>
                <a:schemeClr val="tx1"/>
              </a:solidFill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直接映射：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8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组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= 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的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3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次方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 3  3  2</a:t>
            </a:r>
            <a:endParaRPr lang="en-US" altLang="zh-CN" sz="2000" dirty="0">
              <a:solidFill>
                <a:schemeClr val="tx1"/>
              </a:solidFill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路组相联：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4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组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= 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的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次方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 4 2 2</a:t>
            </a:r>
            <a:endParaRPr lang="en-US" altLang="zh-CN" sz="2000" dirty="0">
              <a:solidFill>
                <a:schemeClr val="tx1"/>
              </a:solidFill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4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路组相联：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组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= 2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的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</a:rPr>
              <a:t>1</a:t>
            </a:r>
            <a:r>
              <a:rPr lang="zh-CN" altLang="en-US" sz="2000" dirty="0">
                <a:solidFill>
                  <a:schemeClr val="tx1"/>
                </a:solidFill>
                <a:latin typeface="+mn-ea"/>
                <a:ea typeface="+mn-ea"/>
              </a:rPr>
              <a:t>次方 </a:t>
            </a:r>
            <a:r>
              <a:rPr lang="en-US" altLang="zh-CN" sz="2000" dirty="0">
                <a:solidFill>
                  <a:schemeClr val="tx1"/>
                </a:solidFill>
                <a:latin typeface="+mn-ea"/>
                <a:ea typeface="+mn-ea"/>
                <a:sym typeface="Wingdings" panose="05000000000000000000" pitchFamily="2" charset="2"/>
              </a:rPr>
              <a:t> 5 1 2</a:t>
            </a:r>
            <a:endParaRPr lang="zh-CN" altLang="en-US" sz="2000" dirty="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263352" y="116632"/>
            <a:ext cx="1920719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dirty="0">
                <a:latin typeface="Times New Roman" panose="02020603050405020304" pitchFamily="18" charset="0"/>
              </a:rPr>
              <a:t>五.  例题</a:t>
            </a:r>
            <a:endParaRPr lang="zh-CN" altLang="en-US" sz="36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3287688" y="1844824"/>
          <a:ext cx="4536504" cy="244827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{2D5ABB26-0587-4C30-8999-92F81FD0307C}</a:tableStyleId>
              </a:tblPr>
              <a:tblGrid>
                <a:gridCol w="824820"/>
                <a:gridCol w="1237228"/>
                <a:gridCol w="2474456"/>
              </a:tblGrid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OK: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LD.D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F2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0(R1)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MULT.D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F4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F2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F0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LD.D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F6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0(R2)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ADD.D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F6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F4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F6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SD.D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0(R2)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F6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ADDI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R1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R1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#8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ADDI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R2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R2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#8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SUBI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R3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R3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#1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  <a:tr h="272030"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 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</a:rPr>
                        <a:t>BNEZ</a:t>
                      </a:r>
                      <a:endParaRPr lang="zh-CN" sz="2400" kern="10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1300"/>
                        </a:lnSpc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R3</a:t>
                      </a:r>
                      <a:r>
                        <a:rPr lang="zh-CN" sz="2400" kern="100" dirty="0">
                          <a:effectLst/>
                        </a:rPr>
                        <a:t>，</a:t>
                      </a:r>
                      <a:r>
                        <a:rPr lang="en-US" sz="2400" kern="100" dirty="0">
                          <a:effectLst/>
                        </a:rPr>
                        <a:t>OK</a:t>
                      </a:r>
                      <a:endParaRPr lang="zh-CN" sz="2400" kern="100" dirty="0"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a:txBody>
                  <a:tcPr marL="51437" marR="51437" marT="0" marB="0"/>
                </a:tc>
              </a:tr>
            </a:tbl>
          </a:graphicData>
        </a:graphic>
      </p:graphicFrame>
      <p:sp>
        <p:nvSpPr>
          <p:cNvPr id="114719" name="Rectangle 4"/>
          <p:cNvSpPr>
            <a:spLocks noChangeArrowheads="1"/>
          </p:cNvSpPr>
          <p:nvPr/>
        </p:nvSpPr>
        <p:spPr bwMode="auto">
          <a:xfrm>
            <a:off x="983432" y="332656"/>
            <a:ext cx="9433048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tx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indent="2667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某机器主存为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2KB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，指令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cache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容量为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32B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。指令长度均为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4B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，该段程序执行前，指令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cache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的内容为空。先在该机器上执行如下循环程序，假设</a:t>
            </a:r>
            <a:r>
              <a:rPr lang="zh-CN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该程序加载到内存的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00000100000</a:t>
            </a:r>
            <a:r>
              <a:rPr lang="zh-CN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地址上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，循环执行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次。</a:t>
            </a:r>
            <a:endParaRPr lang="zh-CN" alt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720" name="Rectangle 4"/>
          <p:cNvSpPr>
            <a:spLocks noChangeArrowheads="1"/>
          </p:cNvSpPr>
          <p:nvPr/>
        </p:nvSpPr>
        <p:spPr bwMode="auto">
          <a:xfrm>
            <a:off x="1127448" y="4509120"/>
            <a:ext cx="8928992" cy="1631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tx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indent="2667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问：</a:t>
            </a:r>
            <a:endParaRPr lang="en-US" altLang="zh-C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）假设直接映射，每块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8B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，请给出程序结束时每个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Cache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块所对应的标记，并求出失效率；</a:t>
            </a:r>
            <a:endParaRPr lang="en-US" altLang="zh-C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）假设直接映射，每块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16B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，请给出程序结束时每个</a:t>
            </a:r>
            <a:r>
              <a:rPr lang="en-US" altLang="zh-C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Cache</a:t>
            </a:r>
            <a:r>
              <a:rPr lang="zh-CN" alt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块所对应的标记，并求出失效率；</a:t>
            </a:r>
            <a:endParaRPr lang="en-US" altLang="zh-C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-14479"/>
            <a:ext cx="4007768" cy="995208"/>
          </a:xfrm>
        </p:spPr>
        <p:txBody>
          <a:bodyPr/>
          <a:lstStyle/>
          <a:p>
            <a:r>
              <a:rPr lang="zh-CN" altLang="en-US" dirty="0"/>
              <a:t>用</a:t>
            </a:r>
            <a:r>
              <a:rPr lang="en-US" altLang="zh-CN" dirty="0"/>
              <a:t>Logisim</a:t>
            </a:r>
            <a:r>
              <a:rPr lang="zh-CN" altLang="en-US" dirty="0"/>
              <a:t>仿真</a:t>
            </a:r>
            <a:endParaRPr lang="zh-CN" altLang="en-US" dirty="0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178843" y="716756"/>
            <a:ext cx="8389049" cy="5808588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8616280" y="2132856"/>
            <a:ext cx="2160240" cy="93610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title"/>
          </p:nvPr>
        </p:nvSpPr>
        <p:spPr>
          <a:xfrm>
            <a:off x="983432" y="1268760"/>
            <a:ext cx="9721080" cy="1143000"/>
          </a:xfrm>
        </p:spPr>
        <p:txBody>
          <a:bodyPr>
            <a:normAutofit/>
          </a:bodyPr>
          <a:lstStyle/>
          <a:p>
            <a:pPr eaLnBrk="1" hangingPunct="1"/>
            <a:r>
              <a:rPr lang="en-US" altLang="zh-CN" b="1" dirty="0"/>
              <a:t>IV  </a:t>
            </a:r>
            <a:r>
              <a:rPr lang="zh-CN" altLang="en-US" b="1" dirty="0"/>
              <a:t>辅助存储器 （自行阅读唐朔飞教材）</a:t>
            </a:r>
            <a:endParaRPr lang="en-US" altLang="zh-CN" b="1" dirty="0"/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commondata" val="eyJoZGlkIjoiMzEwNTM5NzYwMDRjMzkwZTVkZjY2ODkwMGIxNGU0OTUifQ=="/>
</p:tagLst>
</file>

<file path=ppt/theme/theme1.xml><?xml version="1.0" encoding="utf-8"?>
<a:theme xmlns:a="http://schemas.openxmlformats.org/drawingml/2006/main" name="Office 主题​​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 2013 - 2022</Template>
  <TotalTime>0</TotalTime>
  <Words>16834</Words>
  <Application>WPS 演示</Application>
  <PresentationFormat>宽屏</PresentationFormat>
  <Paragraphs>8354</Paragraphs>
  <Slides>108</Slides>
  <Notes>1</Notes>
  <HiddenSlides>0</HiddenSlides>
  <MMClips>0</MMClips>
  <ScaleCrop>false</ScaleCrop>
  <HeadingPairs>
    <vt:vector size="8" baseType="variant">
      <vt:variant>
        <vt:lpstr>已用的字体</vt:lpstr>
      </vt:variant>
      <vt:variant>
        <vt:i4>19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3</vt:i4>
      </vt:variant>
      <vt:variant>
        <vt:lpstr>幻灯片标题</vt:lpstr>
      </vt:variant>
      <vt:variant>
        <vt:i4>108</vt:i4>
      </vt:variant>
    </vt:vector>
  </HeadingPairs>
  <TitlesOfParts>
    <vt:vector size="131" baseType="lpstr">
      <vt:lpstr>Arial</vt:lpstr>
      <vt:lpstr>宋体</vt:lpstr>
      <vt:lpstr>Wingdings</vt:lpstr>
      <vt:lpstr>Times New Roman</vt:lpstr>
      <vt:lpstr>等线 Light</vt:lpstr>
      <vt:lpstr>Calibri Light</vt:lpstr>
      <vt:lpstr>微软雅黑</vt:lpstr>
      <vt:lpstr>Arial Unicode MS</vt:lpstr>
      <vt:lpstr>等线</vt:lpstr>
      <vt:lpstr>Calibri</vt:lpstr>
      <vt:lpstr>楷体_GB2312</vt:lpstr>
      <vt:lpstr>新宋体</vt:lpstr>
      <vt:lpstr>Symbol</vt:lpstr>
      <vt:lpstr>仿宋_GB2312</vt:lpstr>
      <vt:lpstr>仿宋</vt:lpstr>
      <vt:lpstr>MS Mincho</vt:lpstr>
      <vt:lpstr>Yu Gothic</vt:lpstr>
      <vt:lpstr>Tahoma</vt:lpstr>
      <vt:lpstr>黑体</vt:lpstr>
      <vt:lpstr>Office 主题​​</vt:lpstr>
      <vt:lpstr>Visio.Drawing.11</vt:lpstr>
      <vt:lpstr>Visio.Drawing.11</vt:lpstr>
      <vt:lpstr>Visio.Drawing.11</vt:lpstr>
      <vt:lpstr>存储及优化</vt:lpstr>
      <vt:lpstr>I 概  述</vt:lpstr>
      <vt:lpstr>PowerPoint 演示文稿</vt:lpstr>
      <vt:lpstr>PowerPoint 演示文稿</vt:lpstr>
      <vt:lpstr>PowerPoint 演示文稿</vt:lpstr>
      <vt:lpstr>PowerPoint 演示文稿</vt:lpstr>
      <vt:lpstr>II 主存储器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4.3   高速缓冲存储器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用Logisim仿真</vt:lpstr>
      <vt:lpstr>IV  辅助存储器 （自行阅读唐朔飞教材）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Guannan QU</dc:creator>
  <cp:lastModifiedBy>Q</cp:lastModifiedBy>
  <cp:revision>1624</cp:revision>
  <dcterms:created xsi:type="dcterms:W3CDTF">2113-01-01T00:00:00Z</dcterms:created>
  <dcterms:modified xsi:type="dcterms:W3CDTF">2024-09-19T06:47:57Z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66A093C4A8E54DDC9D43B9073254E6F4_12</vt:lpwstr>
  </property>
  <property fmtid="{D5CDD505-2E9C-101B-9397-08002B2CF9AE}" pid="3" name="KSOProductBuildVer">
    <vt:lpwstr>2052-12.1.0.17857</vt:lpwstr>
  </property>
</Properties>
</file>