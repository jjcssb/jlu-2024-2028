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997" r:id="rId3"/>
    <p:sldId id="1000" r:id="rId4"/>
    <p:sldId id="998" r:id="rId5"/>
    <p:sldId id="1026" r:id="rId7"/>
    <p:sldId id="1032" r:id="rId8"/>
    <p:sldId id="1033" r:id="rId9"/>
    <p:sldId id="1034" r:id="rId10"/>
    <p:sldId id="1035" r:id="rId11"/>
    <p:sldId id="1036" r:id="rId12"/>
    <p:sldId id="1001" r:id="rId13"/>
    <p:sldId id="1002" r:id="rId14"/>
    <p:sldId id="1003" r:id="rId15"/>
    <p:sldId id="1004" r:id="rId16"/>
  </p:sldIdLst>
  <p:sldSz cx="9144000" cy="6858000" type="screen4x3"/>
  <p:notesSz cx="6858000" cy="9144000"/>
  <p:custDataLst>
    <p:tags r:id="rId20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995"/>
    <p:restoredTop sz="88986"/>
  </p:normalViewPr>
  <p:slideViewPr>
    <p:cSldViewPr showGuides="1">
      <p:cViewPr varScale="1">
        <p:scale>
          <a:sx n="71" d="100"/>
          <a:sy n="71" d="100"/>
        </p:scale>
        <p:origin x="85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2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20000"/>
              </a:spcBef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2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2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2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2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7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72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34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34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spcBef>
                <a:spcPct val="20000"/>
              </a:spcBef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spcBef>
                <a:spcPct val="20000"/>
              </a:spcBef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spcBef>
                <a:spcPct val="20000"/>
              </a:spcBef>
              <a:buNone/>
            </a:pPr>
            <a:fld id="{9A0DB2DC-4C9A-4742-B13C-FB6460FD3503}" type="slidenum">
              <a:rPr lang="zh-CN" altLang="en-US" dirty="0">
                <a:latin typeface="宋体" panose="02010600030101010101" pitchFamily="2" charset="-122"/>
              </a:rPr>
            </a:fld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1169988" y="908050"/>
            <a:ext cx="6858000" cy="936625"/>
          </a:xfrm>
        </p:spPr>
        <p:txBody>
          <a:bodyPr vert="horz" wrap="square" lIns="91440" tIns="45720" rIns="91440" bIns="45720" anchor="b" anchorCtr="0"/>
          <a:p>
            <a:pPr defTabSz="685800" eaLnBrk="1" hangingPunct="1">
              <a:buClrTx/>
              <a:buSzTx/>
              <a:buFontTx/>
            </a:pPr>
            <a:r>
              <a:rPr lang="zh-CN" altLang="en-US" sz="4000" kern="1200" dirty="0">
                <a:latin typeface="+mj-lt"/>
                <a:ea typeface="宋体" panose="02010600030101010101" pitchFamily="2" charset="-122"/>
                <a:cs typeface="+mj-cs"/>
              </a:rPr>
              <a:t>计算机组成原理</a:t>
            </a:r>
            <a:endParaRPr lang="zh-CN" altLang="en-US" sz="4000" kern="120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3" name="副标题 2" descr="Rectangle: Click to edit Master text styles&#13;&#10;Second level&#13;&#10;Third level&#13;&#10;Fourth level&#13;&#10;Fifth level"/>
          <p:cNvSpPr>
            <a:spLocks noGrp="1"/>
          </p:cNvSpPr>
          <p:nvPr>
            <p:ph type="subTitle" idx="1"/>
          </p:nvPr>
        </p:nvSpPr>
        <p:spPr>
          <a:xfrm>
            <a:off x="1042988" y="3789363"/>
            <a:ext cx="6985000" cy="2663825"/>
          </a:xfrm>
        </p:spPr>
        <p:txBody>
          <a:bodyPr vert="horz" wrap="square" lIns="91440" tIns="45720" rIns="91440" bIns="45720" anchor="t" anchorCtr="0"/>
          <a:p>
            <a:pPr defTabSz="685800" eaLnBrk="1" hangingPunct="1">
              <a:lnSpc>
                <a:spcPct val="110000"/>
              </a:lnSpc>
              <a:buClrTx/>
              <a:buSzTx/>
            </a:pPr>
            <a:r>
              <a:rPr lang="zh-CN" altLang="en-US" sz="2800" kern="1200" dirty="0">
                <a:solidFill>
                  <a:srgbClr val="3C92E8"/>
                </a:solidFill>
                <a:latin typeface="+mn-lt"/>
                <a:ea typeface="宋体" panose="02010600030101010101" pitchFamily="2" charset="-122"/>
                <a:cs typeface="+mn-cs"/>
              </a:rPr>
              <a:t>曲冠南</a:t>
            </a:r>
            <a:endParaRPr lang="zh-CN" altLang="en-US" sz="2800" kern="1200" dirty="0">
              <a:solidFill>
                <a:srgbClr val="3C92E8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defTabSz="685800" eaLnBrk="1" hangingPunct="1">
              <a:lnSpc>
                <a:spcPct val="110000"/>
              </a:lnSpc>
              <a:buClrTx/>
              <a:buSzTx/>
            </a:pPr>
            <a:endParaRPr lang="en-US" altLang="zh-CN" kern="1200" dirty="0">
              <a:solidFill>
                <a:srgbClr val="3C92E8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defTabSz="685800" eaLnBrk="1" hangingPunct="1">
              <a:lnSpc>
                <a:spcPct val="110000"/>
              </a:lnSpc>
              <a:buClrTx/>
              <a:buSzTx/>
            </a:pPr>
            <a:endParaRPr lang="en-US" altLang="zh-CN" kern="1200" dirty="0">
              <a:solidFill>
                <a:srgbClr val="3C92E8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defTabSz="685800" eaLnBrk="1" hangingPunct="1">
              <a:lnSpc>
                <a:spcPct val="110000"/>
              </a:lnSpc>
              <a:buClrTx/>
              <a:buSzTx/>
            </a:pPr>
            <a:endParaRPr lang="en-US" altLang="zh-CN" kern="1200" dirty="0">
              <a:solidFill>
                <a:srgbClr val="3C92E8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defTabSz="685800" eaLnBrk="1" hangingPunct="1">
              <a:lnSpc>
                <a:spcPct val="110000"/>
              </a:lnSpc>
              <a:buClrTx/>
              <a:buSzTx/>
            </a:pPr>
            <a:endParaRPr lang="en-US" altLang="zh-CN" kern="1200" dirty="0">
              <a:solidFill>
                <a:srgbClr val="3C92E8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defTabSz="685800" eaLnBrk="1" hangingPunct="1">
              <a:buClrTx/>
              <a:buSzTx/>
            </a:pPr>
            <a:endParaRPr lang="zh-CN" altLang="en-US" kern="12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标题 1"/>
          <p:cNvSpPr txBox="1"/>
          <p:nvPr/>
        </p:nvSpPr>
        <p:spPr>
          <a:xfrm>
            <a:off x="1169988" y="1879600"/>
            <a:ext cx="6858000" cy="9382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Calibri Light" panose="020F0302020204030204" pitchFamily="34" charset="0"/>
                <a:ea typeface="宋体" panose="02010600030101010101" pitchFamily="2" charset="-122"/>
              </a:rPr>
              <a:t>第一篇 计算机系统概论</a:t>
            </a:r>
            <a:endParaRPr lang="zh-CN" altLang="en-US" sz="3600" dirty="0">
              <a:latin typeface="Calibri Light" panose="020F03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323850" y="260350"/>
            <a:ext cx="8610600" cy="6334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>
                <a:ea typeface="华文新魏" panose="02010800040101010101" pitchFamily="2" charset="-122"/>
              </a:rPr>
              <a:t>课程介绍</a:t>
            </a:r>
            <a:endParaRPr lang="zh-CN" altLang="en-US" sz="4800" b="1" dirty="0">
              <a:ea typeface="华文新魏" panose="02010800040101010101" pitchFamily="2" charset="-122"/>
            </a:endParaRPr>
          </a:p>
        </p:txBody>
      </p:sp>
      <p:sp>
        <p:nvSpPr>
          <p:cNvPr id="6147" name="Rectangle 3" descr="Rectangle: Click to edit Master text styles&#13;&#10;Second level&#13;&#10;Third level&#13;&#10;Fourth level&#13;&#10;Fifth level"/>
          <p:cNvSpPr>
            <a:spLocks noGrp="1"/>
          </p:cNvSpPr>
          <p:nvPr>
            <p:ph type="body" idx="4294967295"/>
          </p:nvPr>
        </p:nvSpPr>
        <p:spPr>
          <a:xfrm>
            <a:off x="900113" y="1052513"/>
            <a:ext cx="7720012" cy="51117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课程名称：计算机组成原理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授课教师：曲冠南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学  时  数：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48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周）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教学方式：讲授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教        材：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《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计算机组成原理（第二版）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》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，唐朔飞，高等教育出版社。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71450" lvl="1" algn="just" eaLnBrk="1" hangingPunct="1">
              <a:lnSpc>
                <a:spcPct val="150000"/>
              </a:lnSpc>
              <a:spcBef>
                <a:spcPts val="75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考       核：平时成绩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(30%) +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期末成绩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(70%)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5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39750" y="260350"/>
            <a:ext cx="7772400" cy="6716713"/>
          </a:xfrm>
          <a:prstGeom prst="rect">
            <a:avLst/>
          </a:prstGeom>
        </p:spPr>
        <p:txBody>
          <a:bodyPr/>
          <a:lstStyle>
            <a:lvl1pPr marL="449580" indent="-4495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+mn-lt"/>
                <a:ea typeface="+mn-ea"/>
                <a:cs typeface="+mn-cs"/>
              </a:defRPr>
            </a:lvl1pPr>
            <a:lvl2pPr marL="900430" indent="-2717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714500" indent="-4572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+mn-lt"/>
                <a:ea typeface="宋体" panose="02010600030101010101" pitchFamily="2" charset="-122"/>
              </a:defRPr>
            </a:lvl3pPr>
            <a:lvl4pPr marL="2275205" indent="-3810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835275" indent="-3810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3292475" indent="-3810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3749675" indent="-3810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4206875" indent="-3810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4664075" indent="-3810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上课要求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尽量不缺席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随堂测试、作业独立完成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考试不作弊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平时成绩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学习通作业（占平时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70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%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学习通上课堂活动积分（占平时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30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%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课外辅导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课下面对面答疑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9375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QQ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群，鼓励大家互相答疑。</a:t>
            </a:r>
            <a:endParaRPr kumimoji="1" lang="en-US" altLang="zh-CN" sz="8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50825" y="412750"/>
            <a:ext cx="8642350" cy="903288"/>
          </a:xfrm>
        </p:spPr>
        <p:txBody>
          <a:bodyPr vert="horz" wrap="square" lIns="91440" tIns="45720" rIns="91440" bIns="45720" anchor="ctr" anchorCtr="0"/>
          <a:p>
            <a:r>
              <a:rPr lang="zh-CN" altLang="en-US" b="1" dirty="0">
                <a:ea typeface="宋体" panose="02010600030101010101" pitchFamily="2" charset="-122"/>
              </a:rPr>
              <a:t>一台计算机的基本硬件组成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9219" name="标题 1"/>
          <p:cNvSpPr txBox="1"/>
          <p:nvPr/>
        </p:nvSpPr>
        <p:spPr>
          <a:xfrm>
            <a:off x="696913" y="1557338"/>
            <a:ext cx="8196262" cy="22574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>
              <a:spcBef>
                <a:spcPct val="0"/>
              </a:spcBef>
            </a:pPr>
            <a:r>
              <a:rPr lang="zh-CN" altLang="en-US" sz="3300" dirty="0">
                <a:latin typeface="Calibri Light" panose="020F0302020204030204" pitchFamily="34" charset="0"/>
                <a:ea typeface="宋体" panose="02010600030101010101" pitchFamily="2" charset="-122"/>
              </a:rPr>
              <a:t>有哪些基本的组成部件？</a:t>
            </a:r>
            <a:endParaRPr lang="en-US" altLang="zh-CN" sz="3300" dirty="0"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457200" lvl="0" indent="-457200">
              <a:spcBef>
                <a:spcPct val="0"/>
              </a:spcBef>
            </a:pPr>
            <a:r>
              <a:rPr lang="zh-CN" altLang="en-US" sz="3300" dirty="0">
                <a:latin typeface="Calibri Light" panose="020F0302020204030204" pitchFamily="34" charset="0"/>
                <a:ea typeface="宋体" panose="02010600030101010101" pitchFamily="2" charset="-122"/>
              </a:rPr>
              <a:t>部件各自如何工作？</a:t>
            </a:r>
            <a:endParaRPr lang="en-US" altLang="zh-CN" sz="3300" dirty="0"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457200" lvl="0" indent="-457200">
              <a:spcBef>
                <a:spcPct val="0"/>
              </a:spcBef>
            </a:pPr>
            <a:r>
              <a:rPr lang="zh-CN" altLang="en-US" sz="3300" dirty="0">
                <a:latin typeface="Calibri Light" panose="020F0302020204030204" pitchFamily="34" charset="0"/>
                <a:ea typeface="宋体" panose="02010600030101010101" pitchFamily="2" charset="-122"/>
              </a:rPr>
              <a:t>部件接口？</a:t>
            </a:r>
            <a:endParaRPr lang="en-US" altLang="zh-CN" sz="3300" dirty="0"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457200" lvl="0" indent="-457200">
              <a:spcBef>
                <a:spcPct val="0"/>
              </a:spcBef>
            </a:pPr>
            <a:r>
              <a:rPr lang="zh-CN" altLang="en-US" sz="3300" dirty="0">
                <a:latin typeface="Calibri Light" panose="020F0302020204030204" pitchFamily="34" charset="0"/>
                <a:ea typeface="宋体" panose="02010600030101010101" pitchFamily="2" charset="-122"/>
              </a:rPr>
              <a:t>这些部件如何连接起来？</a:t>
            </a:r>
            <a:endParaRPr lang="en-US" altLang="zh-CN" sz="3300" dirty="0"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457200" lvl="0" indent="-457200">
              <a:spcBef>
                <a:spcPct val="0"/>
              </a:spcBef>
            </a:pPr>
            <a:r>
              <a:rPr lang="zh-CN" altLang="en-US" sz="3300" dirty="0">
                <a:latin typeface="Calibri Light" panose="020F0302020204030204" pitchFamily="34" charset="0"/>
                <a:ea typeface="宋体" panose="02010600030101010101" pitchFamily="2" charset="-122"/>
              </a:rPr>
              <a:t>如何执行这条指令 ： </a:t>
            </a:r>
            <a:r>
              <a:rPr lang="en-US" altLang="zh-CN" sz="3300" dirty="0">
                <a:latin typeface="Calibri Light" panose="020F0302020204030204" pitchFamily="34" charset="0"/>
                <a:ea typeface="宋体" panose="02010600030101010101" pitchFamily="2" charset="-122"/>
              </a:rPr>
              <a:t>ADD 30H</a:t>
            </a:r>
            <a:endParaRPr lang="en-US" altLang="zh-CN" sz="3300" dirty="0">
              <a:latin typeface="Calibri Light" panose="020F03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标题 1"/>
          <p:cNvSpPr txBox="1"/>
          <p:nvPr/>
        </p:nvSpPr>
        <p:spPr>
          <a:xfrm>
            <a:off x="2527764" y="70688"/>
            <a:ext cx="3690156" cy="77787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1200" cap="none" spc="300" normalizeH="0" baseline="0" noProof="0" dirty="0">
                <a:ln w="15875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glow rad="25400">
                    <a:schemeClr val="accent1">
                      <a:satMod val="220000"/>
                      <a:alpha val="23000"/>
                    </a:schemeClr>
                  </a:glow>
                  <a:outerShdw blurRad="50800" dir="5400000" sx="1000" sy="1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存 储 器</a:t>
            </a:r>
            <a:endParaRPr kumimoji="1" lang="zh-CN" altLang="en-US" sz="4800" b="1" i="0" u="none" strike="noStrike" kern="1200" cap="none" spc="300" normalizeH="0" baseline="0" noProof="0" dirty="0">
              <a:ln w="15875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glow rad="25400">
                  <a:schemeClr val="accent1">
                    <a:satMod val="220000"/>
                    <a:alpha val="23000"/>
                  </a:schemeClr>
                </a:glow>
                <a:outerShdw blurRad="50800" dir="5400000" sx="1000" sy="1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4500563" y="1082675"/>
            <a:ext cx="4643437" cy="1338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功能：</a:t>
            </a:r>
            <a:endParaRPr lang="en-US" altLang="zh-CN" sz="2000" b="1" dirty="0">
              <a:solidFill>
                <a:srgbClr val="0070C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57530" lvl="1" indent="-21463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存放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指令和数据；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57530" lvl="1" indent="-21463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提供外界对指令和数据的</a:t>
            </a:r>
            <a:r>
              <a:rPr lang="zh-CN" altLang="en-US" sz="2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访问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None/>
            </a:pP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4373563" y="2636838"/>
            <a:ext cx="1062037" cy="600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特点：</a:t>
            </a:r>
            <a:endParaRPr lang="en-US" altLang="zh-CN" sz="2200" b="1" dirty="0">
              <a:solidFill>
                <a:srgbClr val="0070C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4500563" y="5032375"/>
            <a:ext cx="4643438" cy="12763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对外接口：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MAR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，内存地址寄存器；（入）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MDR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，内存数据寄存器。（出）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84000" y="1268760"/>
          <a:ext cx="3289823" cy="1346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89823"/>
              </a:tblGrid>
              <a:tr h="2571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 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80000" marR="68580" marT="72000" marB="72000"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 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+1</a:t>
                      </a:r>
                      <a:endParaRPr lang="zh-CN" alt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80000" marR="68580" marT="72000" marB="720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 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+2</a:t>
                      </a:r>
                      <a:endParaRPr lang="zh-CN" alt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80000" marR="68580" marT="72000" marB="72000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682936" y="2602163"/>
          <a:ext cx="3289823" cy="1346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89823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 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 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+1</a:t>
                      </a:r>
                      <a:endParaRPr lang="zh-CN" alt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2000" kern="100" dirty="0" err="1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+2</a:t>
                      </a:r>
                      <a:endParaRPr lang="zh-CN" altLang="zh-CN" sz="2000" kern="10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/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420688" y="4400550"/>
            <a:ext cx="1906588" cy="5381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地址译码</a:t>
            </a:r>
            <a:endParaRPr kumimoji="1" lang="zh-CN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0688" y="5337175"/>
            <a:ext cx="1906588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宋体" panose="02010600030101010101" pitchFamily="2" charset="-122"/>
              </a:rPr>
              <a:t>MAR</a:t>
            </a:r>
            <a:endParaRPr kumimoji="1" 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62225" y="5337175"/>
            <a:ext cx="1811338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宋体" panose="02010600030101010101" pitchFamily="2" charset="-122"/>
              </a:rPr>
              <a:t>MDR</a:t>
            </a:r>
            <a:endParaRPr kumimoji="1" 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38113" y="1146175"/>
            <a:ext cx="4235450" cy="49926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4" name="内容占位符 2"/>
          <p:cNvSpPr txBox="1"/>
          <p:nvPr/>
        </p:nvSpPr>
        <p:spPr>
          <a:xfrm>
            <a:off x="4389438" y="3213100"/>
            <a:ext cx="4559300" cy="598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85800" lvl="1" indent="-228600" defTabSz="91440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指令，按顺序一条一条存放；</a:t>
            </a:r>
            <a:endParaRPr lang="en-US" altLang="zh-CN" sz="2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内容占位符 2"/>
          <p:cNvSpPr txBox="1"/>
          <p:nvPr/>
        </p:nvSpPr>
        <p:spPr>
          <a:xfrm>
            <a:off x="4373563" y="3716338"/>
            <a:ext cx="4557712" cy="600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85800" lvl="1" indent="-228600" defTabSz="91440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数据，按顺序一个一个存放；</a:t>
            </a:r>
            <a:endParaRPr lang="en-US" altLang="zh-CN" sz="2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内容占位符 2"/>
          <p:cNvSpPr txBox="1"/>
          <p:nvPr/>
        </p:nvSpPr>
        <p:spPr>
          <a:xfrm>
            <a:off x="4389438" y="4221163"/>
            <a:ext cx="4559300" cy="5984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85800" lvl="1" indent="-228600" defTabSz="91440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按照地址访问。</a:t>
            </a:r>
            <a:endParaRPr lang="en-US" altLang="zh-CN" sz="2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箭头: 左右 1"/>
          <p:cNvSpPr/>
          <p:nvPr/>
        </p:nvSpPr>
        <p:spPr>
          <a:xfrm rot="16200000">
            <a:off x="2765425" y="4389438"/>
            <a:ext cx="1400175" cy="485775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箭头: 左右 2"/>
          <p:cNvSpPr/>
          <p:nvPr/>
        </p:nvSpPr>
        <p:spPr>
          <a:xfrm rot="16200000">
            <a:off x="3109913" y="5926138"/>
            <a:ext cx="711200" cy="485775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箭头: 上 3"/>
          <p:cNvSpPr/>
          <p:nvPr/>
        </p:nvSpPr>
        <p:spPr>
          <a:xfrm>
            <a:off x="1131888" y="3967163"/>
            <a:ext cx="484188" cy="433388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箭头: 上 4"/>
          <p:cNvSpPr/>
          <p:nvPr/>
        </p:nvSpPr>
        <p:spPr>
          <a:xfrm>
            <a:off x="1131888" y="4949825"/>
            <a:ext cx="484188" cy="376238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箭头: 上 5"/>
          <p:cNvSpPr/>
          <p:nvPr/>
        </p:nvSpPr>
        <p:spPr>
          <a:xfrm>
            <a:off x="1131888" y="5805488"/>
            <a:ext cx="484188" cy="630238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4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 txBox="1"/>
          <p:nvPr/>
        </p:nvSpPr>
        <p:spPr>
          <a:xfrm>
            <a:off x="3171926" y="183686"/>
            <a:ext cx="2693029" cy="797042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1200" cap="none" spc="300" normalizeH="0" baseline="0" noProof="0" dirty="0">
                <a:ln w="15875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glow rad="25400">
                    <a:schemeClr val="accent1">
                      <a:satMod val="220000"/>
                      <a:alpha val="23000"/>
                    </a:schemeClr>
                  </a:glow>
                  <a:outerShdw blurRad="50800" dir="5400000" sx="1000" sy="1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 算 器</a:t>
            </a:r>
            <a:endParaRPr kumimoji="1" lang="zh-CN" altLang="en-US" sz="4800" b="1" i="0" u="none" strike="noStrike" kern="1200" cap="none" spc="300" normalizeH="0" baseline="0" noProof="0" dirty="0">
              <a:ln w="15875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glow rad="25400">
                  <a:schemeClr val="accent1">
                    <a:satMod val="220000"/>
                    <a:alpha val="23000"/>
                  </a:schemeClr>
                </a:glow>
                <a:outerShdw blurRad="50800" dir="5400000" sx="1000" sy="1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357688" y="1266825"/>
            <a:ext cx="4606925" cy="1857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ts val="3000"/>
              </a:lnSpc>
              <a:spcBef>
                <a:spcPct val="200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57530" lvl="1" indent="-214630" eaLnBrk="1" hangingPunct="1">
              <a:lnSpc>
                <a:spcPts val="3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算数、逻辑运算；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57530" lvl="1" indent="-214630" eaLnBrk="1" hangingPunct="1">
              <a:lnSpc>
                <a:spcPts val="3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本节以带有累加器的运算器为例；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ts val="3000"/>
              </a:lnSpc>
              <a:spcBef>
                <a:spcPct val="20000"/>
              </a:spcBef>
              <a:buNone/>
            </a:pPr>
            <a:endParaRPr lang="zh-CN" altLang="en-US" sz="1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427538" y="2767013"/>
            <a:ext cx="4446587" cy="167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ts val="3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特点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ts val="3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操作数进入运算器；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ts val="3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经运算后，操作结果输出到累加器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lnSpc>
                <a:spcPts val="3000"/>
              </a:lnSpc>
              <a:spcBef>
                <a:spcPts val="1000"/>
              </a:spcBef>
              <a:buNone/>
            </a:pPr>
            <a:endParaRPr lang="zh-CN" altLang="en-US" sz="1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4500563" y="4868863"/>
            <a:ext cx="3622675" cy="166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对外接口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输入：操作数；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输出：操作结果。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spcBef>
                <a:spcPts val="1000"/>
              </a:spcBef>
              <a:buNone/>
            </a:pP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2294" name="组合 8"/>
          <p:cNvGrpSpPr/>
          <p:nvPr/>
        </p:nvGrpSpPr>
        <p:grpSpPr>
          <a:xfrm>
            <a:off x="166688" y="1377950"/>
            <a:ext cx="5089525" cy="5092700"/>
            <a:chOff x="191386" y="1428750"/>
            <a:chExt cx="6218055" cy="4970811"/>
          </a:xfrm>
        </p:grpSpPr>
        <p:sp>
          <p:nvSpPr>
            <p:cNvPr id="10" name="矩形 9"/>
            <p:cNvSpPr/>
            <p:nvPr/>
          </p:nvSpPr>
          <p:spPr>
            <a:xfrm>
              <a:off x="191386" y="1428750"/>
              <a:ext cx="5089263" cy="423014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grpSp>
          <p:nvGrpSpPr>
            <p:cNvPr id="12296" name="画布 706567"/>
            <p:cNvGrpSpPr/>
            <p:nvPr/>
          </p:nvGrpSpPr>
          <p:grpSpPr>
            <a:xfrm>
              <a:off x="191386" y="2029997"/>
              <a:ext cx="6218055" cy="4369564"/>
              <a:chOff x="0" y="0"/>
              <a:chExt cx="4090670" cy="2386330"/>
            </a:xfrm>
          </p:grpSpPr>
          <p:sp>
            <p:nvSpPr>
              <p:cNvPr id="12297" name="矩形 11"/>
              <p:cNvSpPr/>
              <p:nvPr/>
            </p:nvSpPr>
            <p:spPr>
              <a:xfrm>
                <a:off x="0" y="0"/>
                <a:ext cx="4090670" cy="2386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298" name="Rectangle 165"/>
              <p:cNvSpPr/>
              <p:nvPr/>
            </p:nvSpPr>
            <p:spPr>
              <a:xfrm>
                <a:off x="1018202" y="1032372"/>
                <a:ext cx="751529" cy="269099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ACC</a:t>
                </a:r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2299" name="Rectangle 167"/>
              <p:cNvSpPr/>
              <p:nvPr/>
            </p:nvSpPr>
            <p:spPr>
              <a:xfrm>
                <a:off x="1023305" y="271616"/>
                <a:ext cx="1700830" cy="342721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32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ALU</a:t>
                </a:r>
                <a:endParaRPr lang="zh-CN" altLang="en-US" sz="32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cxnSp>
            <p:nvCxnSpPr>
              <p:cNvPr id="15" name="直接箭头连接符 14"/>
              <p:cNvCxnSpPr>
                <a:stCxn id="12298" idx="0"/>
              </p:cNvCxnSpPr>
              <p:nvPr/>
            </p:nvCxnSpPr>
            <p:spPr>
              <a:xfrm flipV="1">
                <a:off x="1393329" y="614337"/>
                <a:ext cx="1276" cy="418035"/>
              </a:xfrm>
              <a:prstGeom prst="straightConnector1">
                <a:avLst/>
              </a:prstGeom>
              <a:ln w="1524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肘形连接符 15"/>
              <p:cNvCxnSpPr>
                <a:stCxn id="12299" idx="0"/>
                <a:endCxn id="12298" idx="2"/>
              </p:cNvCxnSpPr>
              <p:nvPr/>
            </p:nvCxnSpPr>
            <p:spPr>
              <a:xfrm rot="16200000" flipH="1" flipV="1">
                <a:off x="1119554" y="546667"/>
                <a:ext cx="1029854" cy="479754"/>
              </a:xfrm>
              <a:prstGeom prst="bentConnector5">
                <a:avLst>
                  <a:gd name="adj1" fmla="val -33106"/>
                  <a:gd name="adj2" fmla="val 252685"/>
                  <a:gd name="adj3" fmla="val 142034"/>
                </a:avLst>
              </a:prstGeom>
              <a:ln w="1524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肘形连接符 16"/>
              <p:cNvCxnSpPr/>
              <p:nvPr/>
            </p:nvCxnSpPr>
            <p:spPr>
              <a:xfrm rot="16200000" flipH="1">
                <a:off x="1141254" y="1268519"/>
                <a:ext cx="1278645" cy="552483"/>
              </a:xfrm>
              <a:prstGeom prst="bentConnector3">
                <a:avLst>
                  <a:gd name="adj1" fmla="val 3027"/>
                </a:avLst>
              </a:prstGeom>
              <a:ln w="1524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2394943" y="614337"/>
                <a:ext cx="0" cy="1543512"/>
              </a:xfrm>
              <a:prstGeom prst="straightConnector1">
                <a:avLst/>
              </a:prstGeom>
              <a:ln w="1524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标题 1"/>
          <p:cNvSpPr txBox="1"/>
          <p:nvPr/>
        </p:nvSpPr>
        <p:spPr>
          <a:xfrm>
            <a:off x="1599619" y="332656"/>
            <a:ext cx="3289823" cy="7778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1200" cap="none" spc="300" normalizeH="0" baseline="0" noProof="0" dirty="0">
                <a:ln w="15875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glow rad="25400">
                    <a:schemeClr val="accent1">
                      <a:satMod val="220000"/>
                      <a:alpha val="23000"/>
                    </a:schemeClr>
                  </a:glow>
                  <a:outerShdw blurRad="50800" dir="5400000" sx="1000" sy="1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控制器</a:t>
            </a:r>
            <a:endParaRPr kumimoji="1" lang="zh-CN" altLang="en-US" sz="4800" b="1" i="0" u="none" strike="noStrike" kern="1200" cap="none" spc="300" normalizeH="0" baseline="0" noProof="0" dirty="0">
              <a:ln w="15875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glow rad="25400">
                  <a:schemeClr val="accent1">
                    <a:satMod val="220000"/>
                    <a:alpha val="23000"/>
                  </a:schemeClr>
                </a:glow>
                <a:outerShdw blurRad="50800" dir="5400000" sx="1000" sy="1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315" name="内容占位符 2"/>
          <p:cNvSpPr txBox="1"/>
          <p:nvPr/>
        </p:nvSpPr>
        <p:spPr>
          <a:xfrm>
            <a:off x="5573713" y="933450"/>
            <a:ext cx="3313112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spcBef>
                <a:spcPts val="10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特点：</a:t>
            </a:r>
            <a:endParaRPr lang="en-US" altLang="zh-CN" sz="2000" b="1" dirty="0">
              <a:solidFill>
                <a:srgbClr val="0070C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" name="内容占位符 2"/>
          <p:cNvSpPr txBox="1"/>
          <p:nvPr/>
        </p:nvSpPr>
        <p:spPr>
          <a:xfrm>
            <a:off x="5573713" y="1762125"/>
            <a:ext cx="3313112" cy="8747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-95250" defTabSz="914400" eaLnBrk="1" hangingPunct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按照规定的动作：提取指令的操作码；</a:t>
            </a:r>
            <a:endParaRPr lang="zh-CN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2" name="内容占位符 2"/>
          <p:cNvSpPr txBox="1"/>
          <p:nvPr/>
        </p:nvSpPr>
        <p:spPr>
          <a:xfrm>
            <a:off x="5578475" y="3363913"/>
            <a:ext cx="3314700" cy="8747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-95250" defTabSz="914400" eaLnBrk="1" hangingPunct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发出控制信号：通过译码部件形成控制信号。</a:t>
            </a:r>
            <a:endParaRPr lang="zh-CN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3" name="内容占位符 2"/>
          <p:cNvSpPr txBox="1"/>
          <p:nvPr/>
        </p:nvSpPr>
        <p:spPr>
          <a:xfrm>
            <a:off x="5578475" y="2562225"/>
            <a:ext cx="3314700" cy="801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-95250" defTabSz="914400" eaLnBrk="1" hangingPunct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有秩序执行规定动作：时序控制。</a:t>
            </a:r>
            <a:endParaRPr lang="zh-CN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spcBef>
                <a:spcPts val="1000"/>
              </a:spcBef>
              <a:buNone/>
            </a:pPr>
            <a:endParaRPr lang="zh-CN" altLang="en-US" sz="1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4" name="内容占位符 2"/>
          <p:cNvSpPr txBox="1"/>
          <p:nvPr/>
        </p:nvSpPr>
        <p:spPr>
          <a:xfrm>
            <a:off x="5578475" y="1341438"/>
            <a:ext cx="3314700" cy="3984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-95250" defTabSz="914400" eaLnBrk="1" hangingPunct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自动：</a:t>
            </a:r>
            <a:r>
              <a:rPr lang="en-US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PC</a:t>
            </a: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自动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加一</a:t>
            </a:r>
            <a:r>
              <a:rPr lang="zh-CN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endParaRPr lang="zh-CN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2" name="内容占位符 2"/>
          <p:cNvSpPr txBox="1"/>
          <p:nvPr/>
        </p:nvSpPr>
        <p:spPr>
          <a:xfrm>
            <a:off x="5648325" y="4437063"/>
            <a:ext cx="3163888" cy="16589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spcBef>
                <a:spcPts val="1000"/>
              </a:spcBef>
              <a:buNone/>
            </a:pPr>
            <a:r>
              <a:rPr lang="zh-CN" altLang="en-US" sz="18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对外接口：</a:t>
            </a:r>
            <a:endParaRPr lang="en-US" altLang="zh-CN" sz="1800" b="1" dirty="0">
              <a:solidFill>
                <a:srgbClr val="0070C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lvl="1" indent="-95250" defTabSz="914400" eaLnBrk="1" hangingPunct="1">
              <a:lnSpc>
                <a:spcPct val="11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出：指令地址；</a:t>
            </a:r>
            <a:endParaRPr lang="en-US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lvl="1" indent="-95250" defTabSz="914400" eaLnBrk="1" hangingPunct="1">
              <a:lnSpc>
                <a:spcPct val="11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入：指令；</a:t>
            </a:r>
            <a:endParaRPr lang="en-US" altLang="zh-CN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lvl="1" indent="-95250" defTabSz="914400" eaLnBrk="1" hangingPunct="1">
              <a:lnSpc>
                <a:spcPct val="11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出：控制信号。</a:t>
            </a:r>
            <a:endParaRPr lang="zh-CN" altLang="en-US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611188" y="1196975"/>
            <a:ext cx="0" cy="612775"/>
          </a:xfrm>
          <a:prstGeom prst="straightConnector1">
            <a:avLst/>
          </a:prstGeom>
          <a:ln w="1016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500563" y="1125538"/>
            <a:ext cx="0" cy="684213"/>
          </a:xfrm>
          <a:prstGeom prst="straightConnector1">
            <a:avLst/>
          </a:prstGeom>
          <a:ln w="1016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1331913" y="1196975"/>
            <a:ext cx="0" cy="612775"/>
          </a:xfrm>
          <a:prstGeom prst="straightConnector1">
            <a:avLst/>
          </a:prstGeom>
          <a:ln w="1016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3851275" y="1125538"/>
            <a:ext cx="0" cy="684213"/>
          </a:xfrm>
          <a:prstGeom prst="straightConnector1">
            <a:avLst/>
          </a:prstGeom>
          <a:ln w="1016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55825" y="1519238"/>
            <a:ext cx="914400" cy="24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 …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5" name="直接箭头连接符 14"/>
          <p:cNvCxnSpPr>
            <a:stCxn id="13" idx="0"/>
          </p:cNvCxnSpPr>
          <p:nvPr/>
        </p:nvCxnSpPr>
        <p:spPr>
          <a:xfrm flipV="1">
            <a:off x="752475" y="2311400"/>
            <a:ext cx="0" cy="39370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752475" y="3054350"/>
            <a:ext cx="0" cy="395288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23850" y="1809750"/>
            <a:ext cx="4464050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微操作形成部件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9088" y="2705100"/>
            <a:ext cx="865188" cy="358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节拍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9088" y="3452813"/>
            <a:ext cx="865188" cy="3540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时钟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31" name="组合 29"/>
          <p:cNvGrpSpPr/>
          <p:nvPr/>
        </p:nvGrpSpPr>
        <p:grpSpPr>
          <a:xfrm>
            <a:off x="4178300" y="2832100"/>
            <a:ext cx="968375" cy="1604963"/>
            <a:chOff x="4318803" y="1476464"/>
            <a:chExt cx="967672" cy="1604544"/>
          </a:xfrm>
        </p:grpSpPr>
        <p:grpSp>
          <p:nvGrpSpPr>
            <p:cNvPr id="13342" name="组合 27"/>
            <p:cNvGrpSpPr/>
            <p:nvPr/>
          </p:nvGrpSpPr>
          <p:grpSpPr>
            <a:xfrm>
              <a:off x="4318803" y="2096029"/>
              <a:ext cx="573950" cy="984979"/>
              <a:chOff x="673379" y="4398164"/>
              <a:chExt cx="573950" cy="984979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 flipH="1">
                <a:off x="955749" y="4768940"/>
                <a:ext cx="0" cy="614203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连接符: 肘形 25"/>
              <p:cNvCxnSpPr/>
              <p:nvPr/>
            </p:nvCxnSpPr>
            <p:spPr>
              <a:xfrm flipH="1" flipV="1">
                <a:off x="955749" y="4397562"/>
                <a:ext cx="287129" cy="185690"/>
              </a:xfrm>
              <a:prstGeom prst="bentConnector4">
                <a:avLst>
                  <a:gd name="adj1" fmla="val -71693"/>
                  <a:gd name="adj2" fmla="val 271644"/>
                </a:avLst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673379" y="4397562"/>
                <a:ext cx="574258" cy="3713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PC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4372739" y="1476464"/>
              <a:ext cx="913736" cy="2475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+1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35" name="直接箭头连接符 34"/>
          <p:cNvCxnSpPr/>
          <p:nvPr/>
        </p:nvCxnSpPr>
        <p:spPr>
          <a:xfrm flipV="1">
            <a:off x="2003425" y="2311400"/>
            <a:ext cx="0" cy="39370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31" idx="0"/>
          </p:cNvCxnSpPr>
          <p:nvPr/>
        </p:nvCxnSpPr>
        <p:spPr>
          <a:xfrm flipH="1" flipV="1">
            <a:off x="1995488" y="3073400"/>
            <a:ext cx="7938" cy="371475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1522413" y="2700338"/>
            <a:ext cx="962025" cy="3540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译码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35" name="组合 32"/>
          <p:cNvGrpSpPr/>
          <p:nvPr/>
        </p:nvGrpSpPr>
        <p:grpSpPr>
          <a:xfrm>
            <a:off x="1522413" y="3444875"/>
            <a:ext cx="2544762" cy="371475"/>
            <a:chOff x="1979712" y="4077073"/>
            <a:chExt cx="2510150" cy="371474"/>
          </a:xfrm>
        </p:grpSpPr>
        <p:sp>
          <p:nvSpPr>
            <p:cNvPr id="31" name="矩形 30"/>
            <p:cNvSpPr/>
            <p:nvPr/>
          </p:nvSpPr>
          <p:spPr>
            <a:xfrm>
              <a:off x="1979712" y="4077073"/>
              <a:ext cx="948940" cy="3714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操作码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928652" y="4077073"/>
              <a:ext cx="1561210" cy="3714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地址码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1230313" y="3132138"/>
            <a:ext cx="503238" cy="354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IR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6" name="连接符: 肘形 55"/>
          <p:cNvCxnSpPr/>
          <p:nvPr/>
        </p:nvCxnSpPr>
        <p:spPr>
          <a:xfrm flipV="1">
            <a:off x="3600450" y="3132138"/>
            <a:ext cx="860425" cy="273050"/>
          </a:xfrm>
          <a:prstGeom prst="bentConnector3">
            <a:avLst>
              <a:gd name="adj1" fmla="val -4433"/>
            </a:avLst>
          </a:prstGeom>
          <a:ln w="76200">
            <a:solidFill>
              <a:schemeClr val="bg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直接箭头连接符 2047"/>
          <p:cNvCxnSpPr/>
          <p:nvPr/>
        </p:nvCxnSpPr>
        <p:spPr>
          <a:xfrm flipV="1">
            <a:off x="2700338" y="3816350"/>
            <a:ext cx="0" cy="549275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8" name="矩形 2057"/>
          <p:cNvSpPr/>
          <p:nvPr/>
        </p:nvSpPr>
        <p:spPr>
          <a:xfrm>
            <a:off x="138113" y="1557338"/>
            <a:ext cx="5006975" cy="25923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AutoShape 32"/>
          <p:cNvSpPr/>
          <p:nvPr/>
        </p:nvSpPr>
        <p:spPr>
          <a:xfrm>
            <a:off x="10113963" y="6575425"/>
            <a:ext cx="184150" cy="215900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8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811209" y="542437"/>
            <a:ext cx="3289823" cy="7778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300" normalizeH="0" baseline="0" noProof="0" dirty="0">
                <a:ln w="15875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glow rad="25400">
                    <a:schemeClr val="accent1">
                      <a:satMod val="220000"/>
                      <a:alpha val="23000"/>
                    </a:schemeClr>
                  </a:glow>
                  <a:outerShdw blurRad="50800" dir="5400000" sx="1000" sy="1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I/O</a:t>
            </a:r>
            <a:r>
              <a:rPr kumimoji="1" lang="zh-CN" altLang="en-US" sz="4800" b="1" i="0" u="none" strike="noStrike" kern="1200" cap="none" spc="300" normalizeH="0" baseline="0" noProof="0" dirty="0">
                <a:ln w="15875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glow rad="25400">
                    <a:schemeClr val="accent1">
                      <a:satMod val="220000"/>
                      <a:alpha val="23000"/>
                    </a:schemeClr>
                  </a:glow>
                  <a:outerShdw blurRad="50800" dir="5400000" sx="1000" sy="1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设备</a:t>
            </a:r>
            <a:endParaRPr kumimoji="1" lang="zh-CN" altLang="en-US" sz="4800" b="1" i="0" u="none" strike="noStrike" kern="1200" cap="none" spc="300" normalizeH="0" baseline="0" noProof="0" dirty="0">
              <a:ln w="15875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glow rad="25400">
                  <a:schemeClr val="accent1">
                    <a:satMod val="220000"/>
                    <a:alpha val="23000"/>
                  </a:schemeClr>
                </a:glow>
                <a:outerShdw blurRad="50800" dir="5400000" sx="1000" sy="1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" name="内容占位符 2"/>
          <p:cNvSpPr txBox="1"/>
          <p:nvPr/>
        </p:nvSpPr>
        <p:spPr>
          <a:xfrm>
            <a:off x="5313363" y="1098550"/>
            <a:ext cx="3446462" cy="2249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50000"/>
              </a:lnSpc>
              <a:spcBef>
                <a:spcPts val="10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功能：</a:t>
            </a:r>
            <a:endParaRPr lang="en-US" altLang="zh-CN" sz="2000" b="1" dirty="0">
              <a:solidFill>
                <a:srgbClr val="0070C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将来自计算机系统以外的数据输入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输出；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1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数据形式的转换。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spcBef>
                <a:spcPts val="1000"/>
              </a:spcBef>
              <a:buNone/>
            </a:pPr>
            <a:endParaRPr lang="zh-CN" altLang="en-US" sz="16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内容占位符 2"/>
          <p:cNvSpPr txBox="1"/>
          <p:nvPr/>
        </p:nvSpPr>
        <p:spPr>
          <a:xfrm>
            <a:off x="5313363" y="3276600"/>
            <a:ext cx="3446462" cy="13049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spcBef>
                <a:spcPts val="10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特点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1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设备的种类很多，此处不一一详述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spcBef>
                <a:spcPts val="1000"/>
              </a:spcBef>
              <a:buNone/>
            </a:pPr>
            <a:endParaRPr lang="zh-CN" altLang="en-US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6" name="内容占位符 2"/>
          <p:cNvSpPr txBox="1"/>
          <p:nvPr/>
        </p:nvSpPr>
        <p:spPr>
          <a:xfrm>
            <a:off x="5313363" y="4625975"/>
            <a:ext cx="3446462" cy="166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spcBef>
                <a:spcPts val="1000"/>
              </a:spcBef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对外接口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685800" lvl="1" indent="-228600" defTabSz="914400" ea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defTabSz="914400" eaLnBrk="1" hangingPunct="1">
              <a:spcBef>
                <a:spcPts val="100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088" y="1695450"/>
            <a:ext cx="4529138" cy="377825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222375" y="2297113"/>
            <a:ext cx="2468563" cy="83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22375" y="4005263"/>
            <a:ext cx="2468563" cy="6365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接口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箭头: 上下 2"/>
          <p:cNvSpPr/>
          <p:nvPr/>
        </p:nvSpPr>
        <p:spPr>
          <a:xfrm>
            <a:off x="2214563" y="3132138"/>
            <a:ext cx="484188" cy="871538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箭头: 上下 3"/>
          <p:cNvSpPr/>
          <p:nvPr/>
        </p:nvSpPr>
        <p:spPr>
          <a:xfrm>
            <a:off x="2214563" y="4648200"/>
            <a:ext cx="484188" cy="1301750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87388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ea typeface="宋体" panose="02010600030101010101" pitchFamily="2" charset="-122"/>
              </a:rPr>
              <a:t>总线连接各个部件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1638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247900"/>
            <a:ext cx="1363663" cy="1731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2293938"/>
            <a:ext cx="1776413" cy="1808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75" y="1700213"/>
            <a:ext cx="3117850" cy="24018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488" y="2286000"/>
            <a:ext cx="1760537" cy="1654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箭头: 左右 7"/>
          <p:cNvSpPr/>
          <p:nvPr/>
        </p:nvSpPr>
        <p:spPr>
          <a:xfrm>
            <a:off x="539750" y="1514475"/>
            <a:ext cx="8169275" cy="485775"/>
          </a:xfrm>
          <a:prstGeom prst="left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控制总线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箭头: 左右 8"/>
          <p:cNvSpPr/>
          <p:nvPr/>
        </p:nvSpPr>
        <p:spPr>
          <a:xfrm>
            <a:off x="487363" y="3879850"/>
            <a:ext cx="8169275" cy="485775"/>
          </a:xfrm>
          <a:prstGeom prst="left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地址总线、数据总线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箭头: 下 10"/>
          <p:cNvSpPr/>
          <p:nvPr/>
        </p:nvSpPr>
        <p:spPr>
          <a:xfrm>
            <a:off x="1114425" y="1931988"/>
            <a:ext cx="215900" cy="295275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箭头: 下 11"/>
          <p:cNvSpPr/>
          <p:nvPr/>
        </p:nvSpPr>
        <p:spPr>
          <a:xfrm>
            <a:off x="2598738" y="1931988"/>
            <a:ext cx="215900" cy="295275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箭头: 下 12"/>
          <p:cNvSpPr/>
          <p:nvPr/>
        </p:nvSpPr>
        <p:spPr>
          <a:xfrm>
            <a:off x="7720013" y="1946275"/>
            <a:ext cx="215900" cy="293688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Text Box 2"/>
          <p:cNvSpPr txBox="1"/>
          <p:nvPr/>
        </p:nvSpPr>
        <p:spPr>
          <a:xfrm>
            <a:off x="5945188" y="1309688"/>
            <a:ext cx="2635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第</a:t>
            </a:r>
            <a:r>
              <a:rPr lang="zh-CN" altLang="en-US" sz="2800" dirty="0">
                <a:latin typeface="Times New Roman" panose="02020603050405020304" pitchFamily="18" charset="0"/>
              </a:rPr>
              <a:t>１</a:t>
            </a:r>
            <a:r>
              <a:rPr lang="zh-CN" altLang="en-US" sz="2800" dirty="0">
                <a:latin typeface="宋体" panose="02010600030101010101" pitchFamily="2" charset="-122"/>
              </a:rPr>
              <a:t>篇 概论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699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本课程如何进行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17412" name="Rectangle 4"/>
          <p:cNvSpPr/>
          <p:nvPr/>
        </p:nvSpPr>
        <p:spPr>
          <a:xfrm>
            <a:off x="2586038" y="1543050"/>
            <a:ext cx="9144000" cy="215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7413" name="Group 5"/>
          <p:cNvGrpSpPr/>
          <p:nvPr/>
        </p:nvGrpSpPr>
        <p:grpSpPr>
          <a:xfrm>
            <a:off x="2974975" y="1014413"/>
            <a:ext cx="1936750" cy="2346325"/>
            <a:chOff x="1874" y="639"/>
            <a:chExt cx="1220" cy="1478"/>
          </a:xfrm>
        </p:grpSpPr>
        <p:sp>
          <p:nvSpPr>
            <p:cNvPr id="17429" name="Rectangle 6"/>
            <p:cNvSpPr/>
            <p:nvPr/>
          </p:nvSpPr>
          <p:spPr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30" name="Rectangle 7"/>
            <p:cNvSpPr/>
            <p:nvPr/>
          </p:nvSpPr>
          <p:spPr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31" name="Rectangle 8"/>
            <p:cNvSpPr/>
            <p:nvPr/>
          </p:nvSpPr>
          <p:spPr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32" name="Rectangle 9"/>
            <p:cNvSpPr/>
            <p:nvPr/>
          </p:nvSpPr>
          <p:spPr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33" name="Rectangle 10"/>
            <p:cNvSpPr/>
            <p:nvPr/>
          </p:nvSpPr>
          <p:spPr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414" name="Group 11"/>
          <p:cNvGrpSpPr/>
          <p:nvPr/>
        </p:nvGrpSpPr>
        <p:grpSpPr>
          <a:xfrm>
            <a:off x="1074738" y="4179888"/>
            <a:ext cx="1938337" cy="2287587"/>
            <a:chOff x="677" y="2633"/>
            <a:chExt cx="1221" cy="1441"/>
          </a:xfrm>
        </p:grpSpPr>
        <p:sp>
          <p:nvSpPr>
            <p:cNvPr id="17424" name="Rectangle 12"/>
            <p:cNvSpPr/>
            <p:nvPr/>
          </p:nvSpPr>
          <p:spPr>
            <a:xfrm>
              <a:off x="1031" y="3369"/>
              <a:ext cx="532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5" name="Rectangle 13"/>
            <p:cNvSpPr/>
            <p:nvPr/>
          </p:nvSpPr>
          <p:spPr>
            <a:xfrm>
              <a:off x="677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6" name="Rectangle 14"/>
            <p:cNvSpPr/>
            <p:nvPr/>
          </p:nvSpPr>
          <p:spPr>
            <a:xfrm>
              <a:off x="1365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7" name="Rectangle 15"/>
            <p:cNvSpPr/>
            <p:nvPr/>
          </p:nvSpPr>
          <p:spPr>
            <a:xfrm>
              <a:off x="1031" y="386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8" name="Rectangle 16"/>
            <p:cNvSpPr/>
            <p:nvPr/>
          </p:nvSpPr>
          <p:spPr>
            <a:xfrm>
              <a:off x="893" y="2633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415" name="Group 17"/>
          <p:cNvGrpSpPr/>
          <p:nvPr/>
        </p:nvGrpSpPr>
        <p:grpSpPr>
          <a:xfrm>
            <a:off x="5086350" y="4119563"/>
            <a:ext cx="2016125" cy="2239962"/>
            <a:chOff x="3204" y="2595"/>
            <a:chExt cx="1270" cy="1411"/>
          </a:xfrm>
        </p:grpSpPr>
        <p:sp>
          <p:nvSpPr>
            <p:cNvPr id="17420" name="Rectangle 18"/>
            <p:cNvSpPr/>
            <p:nvPr/>
          </p:nvSpPr>
          <p:spPr>
            <a:xfrm>
              <a:off x="3884" y="3193"/>
              <a:ext cx="590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1" name="Rectangle 19"/>
            <p:cNvSpPr/>
            <p:nvPr/>
          </p:nvSpPr>
          <p:spPr>
            <a:xfrm>
              <a:off x="3288" y="2595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2" name="Rectangle 20"/>
            <p:cNvSpPr/>
            <p:nvPr/>
          </p:nvSpPr>
          <p:spPr>
            <a:xfrm>
              <a:off x="3204" y="3069"/>
              <a:ext cx="590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7423" name="Rectangle 21"/>
            <p:cNvSpPr/>
            <p:nvPr/>
          </p:nvSpPr>
          <p:spPr>
            <a:xfrm>
              <a:off x="3390" y="3823"/>
              <a:ext cx="66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2902" name="Group 22"/>
          <p:cNvGrpSpPr/>
          <p:nvPr/>
        </p:nvGrpSpPr>
        <p:grpSpPr>
          <a:xfrm>
            <a:off x="2433638" y="990600"/>
            <a:ext cx="3048000" cy="2747963"/>
            <a:chOff x="1533" y="624"/>
            <a:chExt cx="1920" cy="1731"/>
          </a:xfrm>
        </p:grpSpPr>
        <p:sp>
          <p:nvSpPr>
            <p:cNvPr id="17418" name="Rectangle 23"/>
            <p:cNvSpPr/>
            <p:nvPr/>
          </p:nvSpPr>
          <p:spPr>
            <a:xfrm>
              <a:off x="2306" y="679"/>
              <a:ext cx="43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1800" dirty="0">
                  <a:latin typeface="宋体" panose="02010600030101010101" pitchFamily="2" charset="-122"/>
                </a:rPr>
                <a:t>计算机</a:t>
              </a:r>
              <a:endParaRPr lang="zh-CN" altLang="en-US" sz="1800" dirty="0">
                <a:latin typeface="宋体" panose="02010600030101010101" pitchFamily="2" charset="-122"/>
              </a:endParaRPr>
            </a:p>
          </p:txBody>
        </p:sp>
        <p:sp>
          <p:nvSpPr>
            <p:cNvPr id="17419" name="Oval 24"/>
            <p:cNvSpPr/>
            <p:nvPr/>
          </p:nvSpPr>
          <p:spPr>
            <a:xfrm>
              <a:off x="1533" y="624"/>
              <a:ext cx="1920" cy="1731"/>
            </a:xfrm>
            <a:prstGeom prst="ellipse">
              <a:avLst/>
            </a:prstGeom>
            <a:noFill/>
            <a:ln w="20638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sp>
        <p:nvSpPr>
          <p:cNvPr id="17417" name="AutoShape 27">
            <a:hlinkClick r:id="" action="ppaction://noaction"/>
          </p:cNvPr>
          <p:cNvSpPr/>
          <p:nvPr/>
        </p:nvSpPr>
        <p:spPr>
          <a:xfrm>
            <a:off x="8589963" y="6575425"/>
            <a:ext cx="184150" cy="215900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/>
          <p:nvPr/>
        </p:nvSpPr>
        <p:spPr>
          <a:xfrm>
            <a:off x="2586038" y="1543050"/>
            <a:ext cx="9144000" cy="215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8435" name="Group 4"/>
          <p:cNvGrpSpPr/>
          <p:nvPr/>
        </p:nvGrpSpPr>
        <p:grpSpPr>
          <a:xfrm>
            <a:off x="2974975" y="1014413"/>
            <a:ext cx="1936750" cy="2346325"/>
            <a:chOff x="1874" y="639"/>
            <a:chExt cx="1220" cy="1478"/>
          </a:xfrm>
        </p:grpSpPr>
        <p:sp>
          <p:nvSpPr>
            <p:cNvPr id="18464" name="Rectangle 5"/>
            <p:cNvSpPr/>
            <p:nvPr/>
          </p:nvSpPr>
          <p:spPr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5" name="Rectangle 6"/>
            <p:cNvSpPr/>
            <p:nvPr/>
          </p:nvSpPr>
          <p:spPr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6" name="Rectangle 7"/>
            <p:cNvSpPr/>
            <p:nvPr/>
          </p:nvSpPr>
          <p:spPr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7" name="Rectangle 8"/>
            <p:cNvSpPr/>
            <p:nvPr/>
          </p:nvSpPr>
          <p:spPr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8" name="Rectangle 9"/>
            <p:cNvSpPr/>
            <p:nvPr/>
          </p:nvSpPr>
          <p:spPr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8436" name="Group 10"/>
          <p:cNvGrpSpPr/>
          <p:nvPr/>
        </p:nvGrpSpPr>
        <p:grpSpPr>
          <a:xfrm>
            <a:off x="1074738" y="4179888"/>
            <a:ext cx="1938337" cy="2287587"/>
            <a:chOff x="677" y="2633"/>
            <a:chExt cx="1221" cy="1441"/>
          </a:xfrm>
        </p:grpSpPr>
        <p:sp>
          <p:nvSpPr>
            <p:cNvPr id="18459" name="Rectangle 11"/>
            <p:cNvSpPr/>
            <p:nvPr/>
          </p:nvSpPr>
          <p:spPr>
            <a:xfrm>
              <a:off x="1031" y="3369"/>
              <a:ext cx="532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0" name="Rectangle 12"/>
            <p:cNvSpPr/>
            <p:nvPr/>
          </p:nvSpPr>
          <p:spPr>
            <a:xfrm>
              <a:off x="677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1" name="Rectangle 13"/>
            <p:cNvSpPr/>
            <p:nvPr/>
          </p:nvSpPr>
          <p:spPr>
            <a:xfrm>
              <a:off x="1365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2" name="Rectangle 14"/>
            <p:cNvSpPr/>
            <p:nvPr/>
          </p:nvSpPr>
          <p:spPr>
            <a:xfrm>
              <a:off x="1031" y="386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63" name="Rectangle 15"/>
            <p:cNvSpPr/>
            <p:nvPr/>
          </p:nvSpPr>
          <p:spPr>
            <a:xfrm>
              <a:off x="893" y="2633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8437" name="Group 16"/>
          <p:cNvGrpSpPr/>
          <p:nvPr/>
        </p:nvGrpSpPr>
        <p:grpSpPr>
          <a:xfrm>
            <a:off x="5086350" y="4119563"/>
            <a:ext cx="2016125" cy="2239962"/>
            <a:chOff x="3204" y="2595"/>
            <a:chExt cx="1270" cy="1411"/>
          </a:xfrm>
        </p:grpSpPr>
        <p:sp>
          <p:nvSpPr>
            <p:cNvPr id="18455" name="Rectangle 17"/>
            <p:cNvSpPr/>
            <p:nvPr/>
          </p:nvSpPr>
          <p:spPr>
            <a:xfrm>
              <a:off x="3884" y="3193"/>
              <a:ext cx="590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56" name="Rectangle 18"/>
            <p:cNvSpPr/>
            <p:nvPr/>
          </p:nvSpPr>
          <p:spPr>
            <a:xfrm>
              <a:off x="3288" y="2595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57" name="Rectangle 19"/>
            <p:cNvSpPr/>
            <p:nvPr/>
          </p:nvSpPr>
          <p:spPr>
            <a:xfrm>
              <a:off x="3204" y="3069"/>
              <a:ext cx="590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8458" name="Rectangle 20"/>
            <p:cNvSpPr/>
            <p:nvPr/>
          </p:nvSpPr>
          <p:spPr>
            <a:xfrm>
              <a:off x="3390" y="3823"/>
              <a:ext cx="66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3925" name="Text Box 21"/>
          <p:cNvSpPr txBox="1"/>
          <p:nvPr/>
        </p:nvSpPr>
        <p:spPr>
          <a:xfrm>
            <a:off x="5376863" y="1268413"/>
            <a:ext cx="3790950" cy="1039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第２篇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计算机系统的硬件结构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grpSp>
        <p:nvGrpSpPr>
          <p:cNvPr id="18439" name="Group 22"/>
          <p:cNvGrpSpPr/>
          <p:nvPr/>
        </p:nvGrpSpPr>
        <p:grpSpPr>
          <a:xfrm>
            <a:off x="2433638" y="990600"/>
            <a:ext cx="3048000" cy="2747963"/>
            <a:chOff x="1533" y="624"/>
            <a:chExt cx="1920" cy="1731"/>
          </a:xfrm>
        </p:grpSpPr>
        <p:sp>
          <p:nvSpPr>
            <p:cNvPr id="18453" name="Rectangle 23"/>
            <p:cNvSpPr/>
            <p:nvPr/>
          </p:nvSpPr>
          <p:spPr>
            <a:xfrm>
              <a:off x="2306" y="679"/>
              <a:ext cx="43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1800" dirty="0">
                  <a:latin typeface="宋体" panose="02010600030101010101" pitchFamily="2" charset="-122"/>
                </a:rPr>
                <a:t>计算机</a:t>
              </a:r>
              <a:endParaRPr lang="zh-CN" altLang="en-US" sz="1800" dirty="0">
                <a:latin typeface="宋体" panose="02010600030101010101" pitchFamily="2" charset="-122"/>
              </a:endParaRPr>
            </a:p>
          </p:txBody>
        </p:sp>
        <p:sp>
          <p:nvSpPr>
            <p:cNvPr id="18454" name="Oval 24"/>
            <p:cNvSpPr/>
            <p:nvPr/>
          </p:nvSpPr>
          <p:spPr>
            <a:xfrm>
              <a:off x="1533" y="624"/>
              <a:ext cx="1920" cy="1731"/>
            </a:xfrm>
            <a:prstGeom prst="ellipse">
              <a:avLst/>
            </a:prstGeom>
            <a:noFill/>
            <a:ln w="20638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3929" name="Group 25"/>
          <p:cNvGrpSpPr/>
          <p:nvPr/>
        </p:nvGrpSpPr>
        <p:grpSpPr>
          <a:xfrm>
            <a:off x="2438400" y="990600"/>
            <a:ext cx="3048000" cy="2747963"/>
            <a:chOff x="1533" y="624"/>
            <a:chExt cx="1920" cy="1731"/>
          </a:xfrm>
        </p:grpSpPr>
        <p:sp>
          <p:nvSpPr>
            <p:cNvPr id="18443" name="Rectangle 26"/>
            <p:cNvSpPr/>
            <p:nvPr/>
          </p:nvSpPr>
          <p:spPr>
            <a:xfrm>
              <a:off x="2618" y="997"/>
              <a:ext cx="47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algn="ctr" eaLnBrk="1" hangingPunct="1">
                <a:spcBef>
                  <a:spcPct val="2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</a:rPr>
                <a:t>I/O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grpSp>
          <p:nvGrpSpPr>
            <p:cNvPr id="18444" name="Group 27"/>
            <p:cNvGrpSpPr/>
            <p:nvPr/>
          </p:nvGrpSpPr>
          <p:grpSpPr>
            <a:xfrm>
              <a:off x="1533" y="624"/>
              <a:ext cx="1920" cy="1731"/>
              <a:chOff x="1533" y="624"/>
              <a:chExt cx="1920" cy="1731"/>
            </a:xfrm>
          </p:grpSpPr>
          <p:sp>
            <p:nvSpPr>
              <p:cNvPr id="18445" name="Oval 28"/>
              <p:cNvSpPr/>
              <p:nvPr/>
            </p:nvSpPr>
            <p:spPr>
              <a:xfrm>
                <a:off x="2111" y="1200"/>
                <a:ext cx="817" cy="739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46" name="Rectangle 29"/>
              <p:cNvSpPr/>
              <p:nvPr/>
            </p:nvSpPr>
            <p:spPr>
              <a:xfrm>
                <a:off x="2120" y="1465"/>
                <a:ext cx="78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系统总线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47" name="Oval 30"/>
              <p:cNvSpPr/>
              <p:nvPr/>
            </p:nvSpPr>
            <p:spPr>
              <a:xfrm>
                <a:off x="1806" y="841"/>
                <a:ext cx="667" cy="60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48" name="Rectangle 31"/>
              <p:cNvSpPr/>
              <p:nvPr/>
            </p:nvSpPr>
            <p:spPr>
              <a:xfrm>
                <a:off x="1816" y="997"/>
                <a:ext cx="5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存储器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49" name="Oval 32"/>
              <p:cNvSpPr/>
              <p:nvPr/>
            </p:nvSpPr>
            <p:spPr>
              <a:xfrm>
                <a:off x="2494" y="872"/>
                <a:ext cx="667" cy="601"/>
              </a:xfrm>
              <a:prstGeom prst="ellipse">
                <a:avLst/>
              </a:prstGeom>
              <a:noFill/>
              <a:ln w="20701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50" name="Oval 33"/>
              <p:cNvSpPr/>
              <p:nvPr/>
            </p:nvSpPr>
            <p:spPr>
              <a:xfrm>
                <a:off x="2159" y="1714"/>
                <a:ext cx="667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51" name="Rectangle 34"/>
              <p:cNvSpPr/>
              <p:nvPr/>
            </p:nvSpPr>
            <p:spPr>
              <a:xfrm>
                <a:off x="2282" y="1946"/>
                <a:ext cx="46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CPU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52" name="Oval 35"/>
              <p:cNvSpPr/>
              <p:nvPr/>
            </p:nvSpPr>
            <p:spPr>
              <a:xfrm>
                <a:off x="1533" y="624"/>
                <a:ext cx="1920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18441" name="AutoShape 38">
            <a:hlinkClick r:id="" action="ppaction://noaction"/>
          </p:cNvPr>
          <p:cNvSpPr/>
          <p:nvPr/>
        </p:nvSpPr>
        <p:spPr>
          <a:xfrm>
            <a:off x="8589963" y="6575425"/>
            <a:ext cx="184150" cy="215900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844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699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本课程如何进行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3"/>
          <p:cNvSpPr/>
          <p:nvPr/>
        </p:nvSpPr>
        <p:spPr>
          <a:xfrm>
            <a:off x="2586038" y="1543050"/>
            <a:ext cx="9144000" cy="215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9459" name="Group 4"/>
          <p:cNvGrpSpPr/>
          <p:nvPr/>
        </p:nvGrpSpPr>
        <p:grpSpPr>
          <a:xfrm>
            <a:off x="2974975" y="1014413"/>
            <a:ext cx="1936750" cy="2346325"/>
            <a:chOff x="1874" y="639"/>
            <a:chExt cx="1220" cy="1478"/>
          </a:xfrm>
        </p:grpSpPr>
        <p:sp>
          <p:nvSpPr>
            <p:cNvPr id="19503" name="Rectangle 5"/>
            <p:cNvSpPr/>
            <p:nvPr/>
          </p:nvSpPr>
          <p:spPr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4" name="Rectangle 6"/>
            <p:cNvSpPr/>
            <p:nvPr/>
          </p:nvSpPr>
          <p:spPr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5" name="Rectangle 7"/>
            <p:cNvSpPr/>
            <p:nvPr/>
          </p:nvSpPr>
          <p:spPr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6" name="Rectangle 8"/>
            <p:cNvSpPr/>
            <p:nvPr/>
          </p:nvSpPr>
          <p:spPr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7" name="Rectangle 9"/>
            <p:cNvSpPr/>
            <p:nvPr/>
          </p:nvSpPr>
          <p:spPr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9460" name="Group 10"/>
          <p:cNvGrpSpPr/>
          <p:nvPr/>
        </p:nvGrpSpPr>
        <p:grpSpPr>
          <a:xfrm>
            <a:off x="1074738" y="4179888"/>
            <a:ext cx="1938337" cy="2287587"/>
            <a:chOff x="677" y="2633"/>
            <a:chExt cx="1221" cy="1441"/>
          </a:xfrm>
        </p:grpSpPr>
        <p:sp>
          <p:nvSpPr>
            <p:cNvPr id="19498" name="Rectangle 11"/>
            <p:cNvSpPr/>
            <p:nvPr/>
          </p:nvSpPr>
          <p:spPr>
            <a:xfrm>
              <a:off x="1031" y="3369"/>
              <a:ext cx="532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499" name="Rectangle 12"/>
            <p:cNvSpPr/>
            <p:nvPr/>
          </p:nvSpPr>
          <p:spPr>
            <a:xfrm>
              <a:off x="677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0" name="Rectangle 13"/>
            <p:cNvSpPr/>
            <p:nvPr/>
          </p:nvSpPr>
          <p:spPr>
            <a:xfrm>
              <a:off x="1365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1" name="Rectangle 14"/>
            <p:cNvSpPr/>
            <p:nvPr/>
          </p:nvSpPr>
          <p:spPr>
            <a:xfrm>
              <a:off x="1031" y="386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502" name="Rectangle 15"/>
            <p:cNvSpPr/>
            <p:nvPr/>
          </p:nvSpPr>
          <p:spPr>
            <a:xfrm>
              <a:off x="893" y="2633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4983" name="Group 55"/>
          <p:cNvGrpSpPr/>
          <p:nvPr/>
        </p:nvGrpSpPr>
        <p:grpSpPr>
          <a:xfrm>
            <a:off x="533400" y="2874963"/>
            <a:ext cx="3952875" cy="3968750"/>
            <a:chOff x="336" y="1811"/>
            <a:chExt cx="2490" cy="2500"/>
          </a:xfrm>
        </p:grpSpPr>
        <p:sp>
          <p:nvSpPr>
            <p:cNvPr id="19484" name="Rectangle 17"/>
            <p:cNvSpPr/>
            <p:nvPr/>
          </p:nvSpPr>
          <p:spPr>
            <a:xfrm>
              <a:off x="1121" y="3307"/>
              <a:ext cx="84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CPU</a:t>
              </a:r>
              <a:endParaRPr lang="zh-CN" altLang="en-US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9485" name="Group 54"/>
            <p:cNvGrpSpPr/>
            <p:nvPr/>
          </p:nvGrpSpPr>
          <p:grpSpPr>
            <a:xfrm>
              <a:off x="336" y="1811"/>
              <a:ext cx="2490" cy="2500"/>
              <a:chOff x="336" y="1811"/>
              <a:chExt cx="2490" cy="2500"/>
            </a:xfrm>
          </p:grpSpPr>
          <p:sp>
            <p:nvSpPr>
              <p:cNvPr id="19486" name="Oval 19"/>
              <p:cNvSpPr/>
              <p:nvPr/>
            </p:nvSpPr>
            <p:spPr>
              <a:xfrm>
                <a:off x="963" y="3185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87" name="Rectangle 20"/>
              <p:cNvSpPr/>
              <p:nvPr/>
            </p:nvSpPr>
            <p:spPr>
              <a:xfrm>
                <a:off x="1020" y="3482"/>
                <a:ext cx="60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600" dirty="0">
                    <a:latin typeface="宋体" panose="02010600030101010101" pitchFamily="2" charset="-122"/>
                  </a:rPr>
                  <a:t>内部互连</a:t>
                </a:r>
                <a:endParaRPr lang="zh-CN" altLang="en-US" sz="16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88" name="Oval 21"/>
              <p:cNvSpPr/>
              <p:nvPr/>
            </p:nvSpPr>
            <p:spPr>
              <a:xfrm>
                <a:off x="610" y="2797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89" name="Rectangle 22"/>
              <p:cNvSpPr/>
              <p:nvPr/>
            </p:nvSpPr>
            <p:spPr>
              <a:xfrm>
                <a:off x="696" y="2928"/>
                <a:ext cx="47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ALU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0" name="Oval 23"/>
              <p:cNvSpPr/>
              <p:nvPr/>
            </p:nvSpPr>
            <p:spPr>
              <a:xfrm>
                <a:off x="1297" y="2797"/>
                <a:ext cx="669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1" name="Rectangle 24"/>
              <p:cNvSpPr/>
              <p:nvPr/>
            </p:nvSpPr>
            <p:spPr>
              <a:xfrm>
                <a:off x="1483" y="2928"/>
                <a:ext cx="32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CU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2" name="Oval 25"/>
              <p:cNvSpPr/>
              <p:nvPr/>
            </p:nvSpPr>
            <p:spPr>
              <a:xfrm>
                <a:off x="963" y="3670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3" name="Rectangle 26"/>
              <p:cNvSpPr/>
              <p:nvPr/>
            </p:nvSpPr>
            <p:spPr>
              <a:xfrm>
                <a:off x="1005" y="3906"/>
                <a:ext cx="5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寄存器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4" name="Rectangle 27"/>
              <p:cNvSpPr/>
              <p:nvPr/>
            </p:nvSpPr>
            <p:spPr>
              <a:xfrm>
                <a:off x="845" y="2631"/>
                <a:ext cx="1507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800" dirty="0">
                    <a:latin typeface="宋体" panose="02010600030101010101" pitchFamily="2" charset="-122"/>
                  </a:rPr>
                  <a:t>中央处理器</a:t>
                </a:r>
                <a:endParaRPr lang="zh-CN" altLang="en-US" sz="1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5" name="Oval 28"/>
              <p:cNvSpPr/>
              <p:nvPr/>
            </p:nvSpPr>
            <p:spPr>
              <a:xfrm>
                <a:off x="336" y="2580"/>
                <a:ext cx="1921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6" name="Line 29"/>
              <p:cNvSpPr/>
              <p:nvPr/>
            </p:nvSpPr>
            <p:spPr>
              <a:xfrm flipH="1">
                <a:off x="755" y="1811"/>
                <a:ext cx="1484" cy="923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97" name="Line 30"/>
              <p:cNvSpPr/>
              <p:nvPr/>
            </p:nvSpPr>
            <p:spPr>
              <a:xfrm flipH="1">
                <a:off x="2221" y="2070"/>
                <a:ext cx="605" cy="1608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2" name="Group 31"/>
          <p:cNvGrpSpPr/>
          <p:nvPr/>
        </p:nvGrpSpPr>
        <p:grpSpPr>
          <a:xfrm>
            <a:off x="5086350" y="4119563"/>
            <a:ext cx="2016125" cy="2239962"/>
            <a:chOff x="3204" y="2595"/>
            <a:chExt cx="1270" cy="1411"/>
          </a:xfrm>
        </p:grpSpPr>
        <p:sp>
          <p:nvSpPr>
            <p:cNvPr id="19480" name="Rectangle 32"/>
            <p:cNvSpPr/>
            <p:nvPr/>
          </p:nvSpPr>
          <p:spPr>
            <a:xfrm>
              <a:off x="3884" y="3193"/>
              <a:ext cx="590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481" name="Rectangle 33"/>
            <p:cNvSpPr/>
            <p:nvPr/>
          </p:nvSpPr>
          <p:spPr>
            <a:xfrm>
              <a:off x="3288" y="2595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482" name="Rectangle 34"/>
            <p:cNvSpPr/>
            <p:nvPr/>
          </p:nvSpPr>
          <p:spPr>
            <a:xfrm>
              <a:off x="3204" y="3069"/>
              <a:ext cx="590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19483" name="Rectangle 35"/>
            <p:cNvSpPr/>
            <p:nvPr/>
          </p:nvSpPr>
          <p:spPr>
            <a:xfrm>
              <a:off x="3390" y="3823"/>
              <a:ext cx="66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4964" name="Text Box 36"/>
          <p:cNvSpPr txBox="1"/>
          <p:nvPr/>
        </p:nvSpPr>
        <p:spPr>
          <a:xfrm>
            <a:off x="6110288" y="1295400"/>
            <a:ext cx="3033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第</a:t>
            </a:r>
            <a:r>
              <a:rPr lang="zh-CN" altLang="en-US" sz="2800" dirty="0">
                <a:latin typeface="Times New Roman" panose="02020603050405020304" pitchFamily="18" charset="0"/>
              </a:rPr>
              <a:t>３</a:t>
            </a:r>
            <a:r>
              <a:rPr lang="zh-CN" altLang="en-US" sz="2800" dirty="0">
                <a:latin typeface="宋体" panose="02010600030101010101" pitchFamily="2" charset="-122"/>
              </a:rPr>
              <a:t>篇 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9464" name="Group 37"/>
          <p:cNvGrpSpPr/>
          <p:nvPr/>
        </p:nvGrpSpPr>
        <p:grpSpPr>
          <a:xfrm>
            <a:off x="2433638" y="990600"/>
            <a:ext cx="3048000" cy="2747963"/>
            <a:chOff x="1533" y="624"/>
            <a:chExt cx="1920" cy="1731"/>
          </a:xfrm>
        </p:grpSpPr>
        <p:sp>
          <p:nvSpPr>
            <p:cNvPr id="19478" name="Rectangle 38"/>
            <p:cNvSpPr/>
            <p:nvPr/>
          </p:nvSpPr>
          <p:spPr>
            <a:xfrm>
              <a:off x="2306" y="679"/>
              <a:ext cx="43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1800" dirty="0">
                  <a:latin typeface="宋体" panose="02010600030101010101" pitchFamily="2" charset="-122"/>
                </a:rPr>
                <a:t>计算机</a:t>
              </a:r>
              <a:endParaRPr lang="zh-CN" altLang="en-US" sz="1800" dirty="0">
                <a:latin typeface="宋体" panose="02010600030101010101" pitchFamily="2" charset="-122"/>
              </a:endParaRPr>
            </a:p>
          </p:txBody>
        </p:sp>
        <p:sp>
          <p:nvSpPr>
            <p:cNvPr id="19479" name="Oval 39"/>
            <p:cNvSpPr/>
            <p:nvPr/>
          </p:nvSpPr>
          <p:spPr>
            <a:xfrm>
              <a:off x="1533" y="624"/>
              <a:ext cx="1920" cy="1731"/>
            </a:xfrm>
            <a:prstGeom prst="ellipse">
              <a:avLst/>
            </a:prstGeom>
            <a:noFill/>
            <a:ln w="20638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9465" name="Group 40"/>
          <p:cNvGrpSpPr/>
          <p:nvPr/>
        </p:nvGrpSpPr>
        <p:grpSpPr>
          <a:xfrm>
            <a:off x="2438400" y="990600"/>
            <a:ext cx="3048000" cy="2747963"/>
            <a:chOff x="1533" y="624"/>
            <a:chExt cx="1920" cy="1731"/>
          </a:xfrm>
        </p:grpSpPr>
        <p:sp>
          <p:nvSpPr>
            <p:cNvPr id="19468" name="Rectangle 41"/>
            <p:cNvSpPr/>
            <p:nvPr/>
          </p:nvSpPr>
          <p:spPr>
            <a:xfrm>
              <a:off x="2618" y="997"/>
              <a:ext cx="47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algn="ctr" eaLnBrk="1" hangingPunct="1">
                <a:spcBef>
                  <a:spcPct val="2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</a:rPr>
                <a:t>I/O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grpSp>
          <p:nvGrpSpPr>
            <p:cNvPr id="19469" name="Group 42"/>
            <p:cNvGrpSpPr/>
            <p:nvPr/>
          </p:nvGrpSpPr>
          <p:grpSpPr>
            <a:xfrm>
              <a:off x="1533" y="624"/>
              <a:ext cx="1920" cy="1731"/>
              <a:chOff x="1533" y="624"/>
              <a:chExt cx="1920" cy="1731"/>
            </a:xfrm>
          </p:grpSpPr>
          <p:sp>
            <p:nvSpPr>
              <p:cNvPr id="19470" name="Oval 43"/>
              <p:cNvSpPr/>
              <p:nvPr/>
            </p:nvSpPr>
            <p:spPr>
              <a:xfrm>
                <a:off x="2111" y="1200"/>
                <a:ext cx="817" cy="739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1" name="Rectangle 44"/>
              <p:cNvSpPr/>
              <p:nvPr/>
            </p:nvSpPr>
            <p:spPr>
              <a:xfrm>
                <a:off x="2120" y="1465"/>
                <a:ext cx="78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系统总线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2" name="Oval 45"/>
              <p:cNvSpPr/>
              <p:nvPr/>
            </p:nvSpPr>
            <p:spPr>
              <a:xfrm>
                <a:off x="1806" y="841"/>
                <a:ext cx="667" cy="60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3" name="Rectangle 46"/>
              <p:cNvSpPr/>
              <p:nvPr/>
            </p:nvSpPr>
            <p:spPr>
              <a:xfrm>
                <a:off x="1812" y="997"/>
                <a:ext cx="5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存储器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4" name="Oval 47"/>
              <p:cNvSpPr/>
              <p:nvPr/>
            </p:nvSpPr>
            <p:spPr>
              <a:xfrm>
                <a:off x="2494" y="872"/>
                <a:ext cx="667" cy="601"/>
              </a:xfrm>
              <a:prstGeom prst="ellipse">
                <a:avLst/>
              </a:prstGeom>
              <a:noFill/>
              <a:ln w="20701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5" name="Oval 48"/>
              <p:cNvSpPr/>
              <p:nvPr/>
            </p:nvSpPr>
            <p:spPr>
              <a:xfrm>
                <a:off x="2159" y="1714"/>
                <a:ext cx="667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6" name="Rectangle 49"/>
              <p:cNvSpPr/>
              <p:nvPr/>
            </p:nvSpPr>
            <p:spPr>
              <a:xfrm>
                <a:off x="2282" y="1946"/>
                <a:ext cx="46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CPU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477" name="Oval 50"/>
              <p:cNvSpPr/>
              <p:nvPr/>
            </p:nvSpPr>
            <p:spPr>
              <a:xfrm>
                <a:off x="1533" y="624"/>
                <a:ext cx="1920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19466" name="AutoShape 53">
            <a:hlinkClick r:id="" action="ppaction://noaction"/>
          </p:cNvPr>
          <p:cNvSpPr/>
          <p:nvPr/>
        </p:nvSpPr>
        <p:spPr>
          <a:xfrm>
            <a:off x="8589963" y="6575425"/>
            <a:ext cx="184150" cy="215900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9467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699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本课程如何进行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3"/>
          <p:cNvSpPr/>
          <p:nvPr/>
        </p:nvSpPr>
        <p:spPr>
          <a:xfrm>
            <a:off x="2586038" y="1543050"/>
            <a:ext cx="9144000" cy="215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20483" name="Group 4"/>
          <p:cNvGrpSpPr/>
          <p:nvPr/>
        </p:nvGrpSpPr>
        <p:grpSpPr>
          <a:xfrm>
            <a:off x="2974975" y="1014413"/>
            <a:ext cx="1936750" cy="2346325"/>
            <a:chOff x="1874" y="639"/>
            <a:chExt cx="1220" cy="1478"/>
          </a:xfrm>
        </p:grpSpPr>
        <p:sp>
          <p:nvSpPr>
            <p:cNvPr id="20540" name="Rectangle 5"/>
            <p:cNvSpPr/>
            <p:nvPr/>
          </p:nvSpPr>
          <p:spPr>
            <a:xfrm>
              <a:off x="2226" y="1427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41" name="Rectangle 6"/>
            <p:cNvSpPr/>
            <p:nvPr/>
          </p:nvSpPr>
          <p:spPr>
            <a:xfrm>
              <a:off x="1874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42" name="Rectangle 7"/>
            <p:cNvSpPr/>
            <p:nvPr/>
          </p:nvSpPr>
          <p:spPr>
            <a:xfrm>
              <a:off x="2562" y="103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43" name="Rectangle 8"/>
            <p:cNvSpPr/>
            <p:nvPr/>
          </p:nvSpPr>
          <p:spPr>
            <a:xfrm>
              <a:off x="2226" y="1913"/>
              <a:ext cx="532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44" name="Rectangle 9"/>
            <p:cNvSpPr/>
            <p:nvPr/>
          </p:nvSpPr>
          <p:spPr>
            <a:xfrm>
              <a:off x="2181" y="639"/>
              <a:ext cx="623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484" name="Group 10"/>
          <p:cNvGrpSpPr/>
          <p:nvPr/>
        </p:nvGrpSpPr>
        <p:grpSpPr>
          <a:xfrm>
            <a:off x="1074738" y="4179888"/>
            <a:ext cx="1938337" cy="2287587"/>
            <a:chOff x="677" y="2633"/>
            <a:chExt cx="1221" cy="1441"/>
          </a:xfrm>
        </p:grpSpPr>
        <p:sp>
          <p:nvSpPr>
            <p:cNvPr id="20535" name="Rectangle 11"/>
            <p:cNvSpPr/>
            <p:nvPr/>
          </p:nvSpPr>
          <p:spPr>
            <a:xfrm>
              <a:off x="1031" y="3369"/>
              <a:ext cx="532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36" name="Rectangle 12"/>
            <p:cNvSpPr/>
            <p:nvPr/>
          </p:nvSpPr>
          <p:spPr>
            <a:xfrm>
              <a:off x="677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37" name="Rectangle 13"/>
            <p:cNvSpPr/>
            <p:nvPr/>
          </p:nvSpPr>
          <p:spPr>
            <a:xfrm>
              <a:off x="1365" y="2995"/>
              <a:ext cx="53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38" name="Rectangle 14"/>
            <p:cNvSpPr/>
            <p:nvPr/>
          </p:nvSpPr>
          <p:spPr>
            <a:xfrm>
              <a:off x="1031" y="3869"/>
              <a:ext cx="53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39" name="Rectangle 15"/>
            <p:cNvSpPr/>
            <p:nvPr/>
          </p:nvSpPr>
          <p:spPr>
            <a:xfrm>
              <a:off x="893" y="2633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485" name="Group 68"/>
          <p:cNvGrpSpPr/>
          <p:nvPr/>
        </p:nvGrpSpPr>
        <p:grpSpPr>
          <a:xfrm>
            <a:off x="533400" y="2874963"/>
            <a:ext cx="3952875" cy="3968750"/>
            <a:chOff x="336" y="1811"/>
            <a:chExt cx="2490" cy="2500"/>
          </a:xfrm>
        </p:grpSpPr>
        <p:sp>
          <p:nvSpPr>
            <p:cNvPr id="20521" name="Rectangle 17"/>
            <p:cNvSpPr/>
            <p:nvPr/>
          </p:nvSpPr>
          <p:spPr>
            <a:xfrm>
              <a:off x="1121" y="3307"/>
              <a:ext cx="84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16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CPU</a:t>
              </a:r>
              <a:endParaRPr lang="zh-CN" altLang="en-US" sz="1600" dirty="0">
                <a:latin typeface="宋体" panose="02010600030101010101" pitchFamily="2" charset="-122"/>
              </a:endParaRPr>
            </a:p>
          </p:txBody>
        </p:sp>
        <p:grpSp>
          <p:nvGrpSpPr>
            <p:cNvPr id="20522" name="Group 67"/>
            <p:cNvGrpSpPr/>
            <p:nvPr/>
          </p:nvGrpSpPr>
          <p:grpSpPr>
            <a:xfrm>
              <a:off x="336" y="1811"/>
              <a:ext cx="2490" cy="2500"/>
              <a:chOff x="336" y="1811"/>
              <a:chExt cx="2490" cy="2500"/>
            </a:xfrm>
          </p:grpSpPr>
          <p:sp>
            <p:nvSpPr>
              <p:cNvPr id="20523" name="Oval 19"/>
              <p:cNvSpPr/>
              <p:nvPr/>
            </p:nvSpPr>
            <p:spPr>
              <a:xfrm>
                <a:off x="963" y="3185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4" name="Rectangle 20"/>
              <p:cNvSpPr/>
              <p:nvPr/>
            </p:nvSpPr>
            <p:spPr>
              <a:xfrm>
                <a:off x="1029" y="3482"/>
                <a:ext cx="607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600" dirty="0">
                    <a:latin typeface="宋体" panose="02010600030101010101" pitchFamily="2" charset="-122"/>
                  </a:rPr>
                  <a:t>内部互连</a:t>
                </a:r>
                <a:endParaRPr lang="zh-CN" altLang="en-US" sz="16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5" name="Oval 21"/>
              <p:cNvSpPr/>
              <p:nvPr/>
            </p:nvSpPr>
            <p:spPr>
              <a:xfrm>
                <a:off x="610" y="2797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6" name="Rectangle 22"/>
              <p:cNvSpPr/>
              <p:nvPr/>
            </p:nvSpPr>
            <p:spPr>
              <a:xfrm>
                <a:off x="696" y="2928"/>
                <a:ext cx="47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ALU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7" name="Oval 23"/>
              <p:cNvSpPr/>
              <p:nvPr/>
            </p:nvSpPr>
            <p:spPr>
              <a:xfrm>
                <a:off x="1297" y="2797"/>
                <a:ext cx="669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8" name="Rectangle 24"/>
              <p:cNvSpPr/>
              <p:nvPr/>
            </p:nvSpPr>
            <p:spPr>
              <a:xfrm>
                <a:off x="1483" y="2928"/>
                <a:ext cx="32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CU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29" name="Oval 25"/>
              <p:cNvSpPr/>
              <p:nvPr/>
            </p:nvSpPr>
            <p:spPr>
              <a:xfrm>
                <a:off x="963" y="3670"/>
                <a:ext cx="668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30" name="Rectangle 26"/>
              <p:cNvSpPr/>
              <p:nvPr/>
            </p:nvSpPr>
            <p:spPr>
              <a:xfrm>
                <a:off x="1008" y="3906"/>
                <a:ext cx="5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寄存器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31" name="Rectangle 27"/>
              <p:cNvSpPr/>
              <p:nvPr/>
            </p:nvSpPr>
            <p:spPr>
              <a:xfrm>
                <a:off x="845" y="2631"/>
                <a:ext cx="1507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800" dirty="0">
                    <a:latin typeface="宋体" panose="02010600030101010101" pitchFamily="2" charset="-122"/>
                  </a:rPr>
                  <a:t>中央处理器</a:t>
                </a:r>
                <a:endParaRPr lang="zh-CN" altLang="en-US" sz="1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32" name="Oval 28"/>
              <p:cNvSpPr/>
              <p:nvPr/>
            </p:nvSpPr>
            <p:spPr>
              <a:xfrm>
                <a:off x="336" y="2580"/>
                <a:ext cx="1921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33" name="Line 29"/>
              <p:cNvSpPr/>
              <p:nvPr/>
            </p:nvSpPr>
            <p:spPr>
              <a:xfrm flipH="1">
                <a:off x="755" y="1811"/>
                <a:ext cx="1484" cy="923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34" name="Line 30"/>
              <p:cNvSpPr/>
              <p:nvPr/>
            </p:nvSpPr>
            <p:spPr>
              <a:xfrm flipH="1">
                <a:off x="2221" y="2070"/>
                <a:ext cx="605" cy="1608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0486" name="Group 31"/>
          <p:cNvGrpSpPr/>
          <p:nvPr/>
        </p:nvGrpSpPr>
        <p:grpSpPr>
          <a:xfrm>
            <a:off x="5086350" y="4119563"/>
            <a:ext cx="2016125" cy="2239962"/>
            <a:chOff x="3204" y="2595"/>
            <a:chExt cx="1270" cy="1411"/>
          </a:xfrm>
        </p:grpSpPr>
        <p:sp>
          <p:nvSpPr>
            <p:cNvPr id="20517" name="Rectangle 32"/>
            <p:cNvSpPr/>
            <p:nvPr/>
          </p:nvSpPr>
          <p:spPr>
            <a:xfrm>
              <a:off x="3884" y="3193"/>
              <a:ext cx="590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18" name="Rectangle 33"/>
            <p:cNvSpPr/>
            <p:nvPr/>
          </p:nvSpPr>
          <p:spPr>
            <a:xfrm>
              <a:off x="3288" y="2595"/>
              <a:ext cx="80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19" name="Rectangle 34"/>
            <p:cNvSpPr/>
            <p:nvPr/>
          </p:nvSpPr>
          <p:spPr>
            <a:xfrm>
              <a:off x="3204" y="3069"/>
              <a:ext cx="590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20520" name="Rectangle 35"/>
            <p:cNvSpPr/>
            <p:nvPr/>
          </p:nvSpPr>
          <p:spPr>
            <a:xfrm>
              <a:off x="3390" y="3823"/>
              <a:ext cx="66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6022" name="Group 70"/>
          <p:cNvGrpSpPr/>
          <p:nvPr/>
        </p:nvGrpSpPr>
        <p:grpSpPr>
          <a:xfrm>
            <a:off x="2433638" y="4095750"/>
            <a:ext cx="4953000" cy="2762250"/>
            <a:chOff x="1533" y="2580"/>
            <a:chExt cx="3120" cy="1740"/>
          </a:xfrm>
        </p:grpSpPr>
        <p:sp>
          <p:nvSpPr>
            <p:cNvPr id="20505" name="Rectangle 37"/>
            <p:cNvSpPr/>
            <p:nvPr/>
          </p:nvSpPr>
          <p:spPr>
            <a:xfrm>
              <a:off x="3935" y="3168"/>
              <a:ext cx="488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2000" dirty="0">
                  <a:latin typeface="宋体" panose="02010600030101010101" pitchFamily="2" charset="-122"/>
                </a:rPr>
                <a:t>寄存器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grpSp>
          <p:nvGrpSpPr>
            <p:cNvPr id="20506" name="Group 69"/>
            <p:cNvGrpSpPr/>
            <p:nvPr/>
          </p:nvGrpSpPr>
          <p:grpSpPr>
            <a:xfrm>
              <a:off x="1533" y="2580"/>
              <a:ext cx="3120" cy="1740"/>
              <a:chOff x="1533" y="2580"/>
              <a:chExt cx="3120" cy="1740"/>
            </a:xfrm>
          </p:grpSpPr>
          <p:sp>
            <p:nvSpPr>
              <p:cNvPr id="20507" name="Oval 39"/>
              <p:cNvSpPr/>
              <p:nvPr/>
            </p:nvSpPr>
            <p:spPr>
              <a:xfrm>
                <a:off x="3766" y="3036"/>
                <a:ext cx="824" cy="74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08" name="Rectangle 40"/>
              <p:cNvSpPr/>
              <p:nvPr/>
            </p:nvSpPr>
            <p:spPr>
              <a:xfrm>
                <a:off x="3878" y="3408"/>
                <a:ext cx="65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2000" dirty="0">
                    <a:latin typeface="宋体" panose="02010600030101010101" pitchFamily="2" charset="-122"/>
                  </a:rPr>
                  <a:t>和解码器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09" name="Rectangle 41"/>
              <p:cNvSpPr/>
              <p:nvPr/>
            </p:nvSpPr>
            <p:spPr>
              <a:xfrm>
                <a:off x="3411" y="2602"/>
                <a:ext cx="834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800" dirty="0">
                    <a:latin typeface="宋体" panose="02010600030101010101" pitchFamily="2" charset="-122"/>
                  </a:rPr>
                  <a:t>控制单元</a:t>
                </a:r>
                <a:endParaRPr lang="zh-CN" altLang="en-US" sz="1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0" name="Oval 42"/>
              <p:cNvSpPr/>
              <p:nvPr/>
            </p:nvSpPr>
            <p:spPr>
              <a:xfrm>
                <a:off x="2731" y="2580"/>
                <a:ext cx="1922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1" name="Oval 43"/>
              <p:cNvSpPr/>
              <p:nvPr/>
            </p:nvSpPr>
            <p:spPr>
              <a:xfrm>
                <a:off x="3086" y="2789"/>
                <a:ext cx="824" cy="743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2" name="Rectangle 44"/>
              <p:cNvSpPr/>
              <p:nvPr/>
            </p:nvSpPr>
            <p:spPr>
              <a:xfrm>
                <a:off x="3116" y="2934"/>
                <a:ext cx="776" cy="4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000" dirty="0">
                    <a:latin typeface="宋体" panose="02010600030101010101" pitchFamily="2" charset="-122"/>
                  </a:rPr>
                  <a:t>排队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000" dirty="0">
                    <a:latin typeface="宋体" panose="02010600030101010101" pitchFamily="2" charset="-122"/>
                  </a:rPr>
                  <a:t>逻辑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3" name="Oval 45"/>
              <p:cNvSpPr/>
              <p:nvPr/>
            </p:nvSpPr>
            <p:spPr>
              <a:xfrm>
                <a:off x="3312" y="3577"/>
                <a:ext cx="824" cy="743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4" name="Rectangle 46"/>
              <p:cNvSpPr/>
              <p:nvPr/>
            </p:nvSpPr>
            <p:spPr>
              <a:xfrm>
                <a:off x="3390" y="3705"/>
                <a:ext cx="683" cy="4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000" dirty="0">
                    <a:latin typeface="宋体" panose="02010600030101010101" pitchFamily="2" charset="-122"/>
                  </a:rPr>
                  <a:t>控制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  <a:p>
                <a:pPr algn="ctr" eaLnBrk="1" hangingPunct="1">
                  <a:spcBef>
                    <a:spcPct val="20000"/>
                  </a:spcBef>
                </a:pPr>
                <a:r>
                  <a:rPr lang="zh-CN" altLang="en-US" sz="2000" dirty="0">
                    <a:latin typeface="宋体" panose="02010600030101010101" pitchFamily="2" charset="-122"/>
                  </a:rPr>
                  <a:t>存储器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15" name="Line 47"/>
              <p:cNvSpPr/>
              <p:nvPr/>
            </p:nvSpPr>
            <p:spPr>
              <a:xfrm>
                <a:off x="1533" y="3387"/>
                <a:ext cx="1679" cy="811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16" name="Line 48"/>
              <p:cNvSpPr/>
              <p:nvPr/>
            </p:nvSpPr>
            <p:spPr>
              <a:xfrm flipV="1">
                <a:off x="1576" y="2592"/>
                <a:ext cx="1963" cy="209"/>
              </a:xfrm>
              <a:prstGeom prst="line">
                <a:avLst/>
              </a:prstGeom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6001" name="Text Box 49"/>
          <p:cNvSpPr txBox="1"/>
          <p:nvPr/>
        </p:nvSpPr>
        <p:spPr>
          <a:xfrm>
            <a:off x="6172200" y="1254125"/>
            <a:ext cx="2720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第４篇 </a:t>
            </a:r>
            <a:r>
              <a:rPr lang="en-US" altLang="zh-CN" sz="2800" dirty="0">
                <a:latin typeface="Times New Roman" panose="02020603050405020304" pitchFamily="18" charset="0"/>
              </a:rPr>
              <a:t>CU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0489" name="Group 50"/>
          <p:cNvGrpSpPr/>
          <p:nvPr/>
        </p:nvGrpSpPr>
        <p:grpSpPr>
          <a:xfrm>
            <a:off x="2433638" y="990600"/>
            <a:ext cx="3048000" cy="2747963"/>
            <a:chOff x="1533" y="624"/>
            <a:chExt cx="1920" cy="1731"/>
          </a:xfrm>
        </p:grpSpPr>
        <p:sp>
          <p:nvSpPr>
            <p:cNvPr id="20503" name="Rectangle 51"/>
            <p:cNvSpPr/>
            <p:nvPr/>
          </p:nvSpPr>
          <p:spPr>
            <a:xfrm>
              <a:off x="2306" y="679"/>
              <a:ext cx="439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spcBef>
                  <a:spcPct val="20000"/>
                </a:spcBef>
              </a:pPr>
              <a:r>
                <a:rPr lang="zh-CN" altLang="en-US" sz="1800" dirty="0">
                  <a:latin typeface="宋体" panose="02010600030101010101" pitchFamily="2" charset="-122"/>
                </a:rPr>
                <a:t>计算机</a:t>
              </a:r>
              <a:endParaRPr lang="zh-CN" altLang="en-US" sz="1800" dirty="0">
                <a:latin typeface="宋体" panose="02010600030101010101" pitchFamily="2" charset="-122"/>
              </a:endParaRPr>
            </a:p>
          </p:txBody>
        </p:sp>
        <p:sp>
          <p:nvSpPr>
            <p:cNvPr id="20504" name="Oval 52"/>
            <p:cNvSpPr/>
            <p:nvPr/>
          </p:nvSpPr>
          <p:spPr>
            <a:xfrm>
              <a:off x="1533" y="624"/>
              <a:ext cx="1920" cy="1731"/>
            </a:xfrm>
            <a:prstGeom prst="ellipse">
              <a:avLst/>
            </a:prstGeom>
            <a:noFill/>
            <a:ln w="20638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20000"/>
                </a:spcBef>
              </a:pP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490" name="Group 53"/>
          <p:cNvGrpSpPr/>
          <p:nvPr/>
        </p:nvGrpSpPr>
        <p:grpSpPr>
          <a:xfrm>
            <a:off x="2438400" y="990600"/>
            <a:ext cx="3048000" cy="2747963"/>
            <a:chOff x="1533" y="624"/>
            <a:chExt cx="1920" cy="1731"/>
          </a:xfrm>
        </p:grpSpPr>
        <p:sp>
          <p:nvSpPr>
            <p:cNvPr id="20493" name="Rectangle 54"/>
            <p:cNvSpPr/>
            <p:nvPr/>
          </p:nvSpPr>
          <p:spPr>
            <a:xfrm>
              <a:off x="2618" y="997"/>
              <a:ext cx="47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algn="ctr" eaLnBrk="1" hangingPunct="1">
                <a:spcBef>
                  <a:spcPct val="2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</a:rPr>
                <a:t>I/O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grpSp>
          <p:nvGrpSpPr>
            <p:cNvPr id="20494" name="Group 55"/>
            <p:cNvGrpSpPr/>
            <p:nvPr/>
          </p:nvGrpSpPr>
          <p:grpSpPr>
            <a:xfrm>
              <a:off x="1533" y="624"/>
              <a:ext cx="1920" cy="1731"/>
              <a:chOff x="1533" y="624"/>
              <a:chExt cx="1920" cy="1731"/>
            </a:xfrm>
          </p:grpSpPr>
          <p:sp>
            <p:nvSpPr>
              <p:cNvPr id="20495" name="Oval 56"/>
              <p:cNvSpPr/>
              <p:nvPr/>
            </p:nvSpPr>
            <p:spPr>
              <a:xfrm>
                <a:off x="2111" y="1200"/>
                <a:ext cx="817" cy="739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496" name="Rectangle 57"/>
              <p:cNvSpPr/>
              <p:nvPr/>
            </p:nvSpPr>
            <p:spPr>
              <a:xfrm>
                <a:off x="2122" y="1465"/>
                <a:ext cx="78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系统总线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497" name="Oval 58"/>
              <p:cNvSpPr/>
              <p:nvPr/>
            </p:nvSpPr>
            <p:spPr>
              <a:xfrm>
                <a:off x="1806" y="841"/>
                <a:ext cx="667" cy="60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498" name="Rectangle 59"/>
              <p:cNvSpPr/>
              <p:nvPr/>
            </p:nvSpPr>
            <p:spPr>
              <a:xfrm>
                <a:off x="1816" y="997"/>
                <a:ext cx="5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存储器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499" name="Oval 60"/>
              <p:cNvSpPr/>
              <p:nvPr/>
            </p:nvSpPr>
            <p:spPr>
              <a:xfrm>
                <a:off x="2494" y="872"/>
                <a:ext cx="667" cy="601"/>
              </a:xfrm>
              <a:prstGeom prst="ellipse">
                <a:avLst/>
              </a:prstGeom>
              <a:noFill/>
              <a:ln w="20701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00" name="Oval 61"/>
              <p:cNvSpPr/>
              <p:nvPr/>
            </p:nvSpPr>
            <p:spPr>
              <a:xfrm>
                <a:off x="2159" y="1714"/>
                <a:ext cx="667" cy="602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01" name="Rectangle 62"/>
              <p:cNvSpPr/>
              <p:nvPr/>
            </p:nvSpPr>
            <p:spPr>
              <a:xfrm>
                <a:off x="2282" y="1946"/>
                <a:ext cx="46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CPU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02" name="Oval 63"/>
              <p:cNvSpPr/>
              <p:nvPr/>
            </p:nvSpPr>
            <p:spPr>
              <a:xfrm>
                <a:off x="1533" y="624"/>
                <a:ext cx="1920" cy="1731"/>
              </a:xfrm>
              <a:prstGeom prst="ellipse">
                <a:avLst/>
              </a:prstGeom>
              <a:noFill/>
              <a:ln w="20638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>
                  <a:spcBef>
                    <a:spcPct val="20000"/>
                  </a:spcBef>
                </a:pP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0491" name="AutoShape 66">
            <a:hlinkClick r:id="" action="ppaction://noaction"/>
          </p:cNvPr>
          <p:cNvSpPr/>
          <p:nvPr/>
        </p:nvSpPr>
        <p:spPr>
          <a:xfrm>
            <a:off x="8589963" y="6575425"/>
            <a:ext cx="184150" cy="215900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>
              <a:spcBef>
                <a:spcPct val="20000"/>
              </a:spcBef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4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699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本课程如何进行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01" grpId="0"/>
    </p:bldLst>
  </p:timing>
</p:sld>
</file>

<file path=ppt/tags/tag1.xml><?xml version="1.0" encoding="utf-8"?>
<p:tagLst xmlns:p="http://schemas.openxmlformats.org/presentationml/2006/main">
  <p:tag name="commondata" val="eyJoZGlkIjoiNTljZWNkZDNmZTUzOGJiYjliZWIwMTU3MjhkNmIyM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WPS 演示</Application>
  <PresentationFormat>全屏显示(4:3)</PresentationFormat>
  <Paragraphs>251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Calibri Light</vt:lpstr>
      <vt:lpstr>Times New Roman</vt:lpstr>
      <vt:lpstr>华文新魏</vt:lpstr>
      <vt:lpstr>仿宋_GB2312</vt:lpstr>
      <vt:lpstr>微软雅黑</vt:lpstr>
      <vt:lpstr>华文中宋</vt:lpstr>
      <vt:lpstr>Calibri</vt:lpstr>
      <vt:lpstr>Arial Unicode MS</vt:lpstr>
      <vt:lpstr>仿宋</vt:lpstr>
      <vt:lpstr>Office 主题</vt:lpstr>
      <vt:lpstr>计算机组成原理</vt:lpstr>
      <vt:lpstr>课程介绍</vt:lpstr>
      <vt:lpstr>PowerPoint 演示文稿</vt:lpstr>
      <vt:lpstr>一台计算机的基本硬件组成</vt:lpstr>
      <vt:lpstr>PowerPoint 演示文稿</vt:lpstr>
      <vt:lpstr>PowerPoint 演示文稿</vt:lpstr>
      <vt:lpstr>PowerPoint 演示文稿</vt:lpstr>
      <vt:lpstr>PowerPoint 演示文稿</vt:lpstr>
      <vt:lpstr>总线连接各个部件</vt:lpstr>
      <vt:lpstr>本课程如何进行</vt:lpstr>
      <vt:lpstr>本课程如何进行</vt:lpstr>
      <vt:lpstr>本课程如何进行</vt:lpstr>
      <vt:lpstr>本课程如何进行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Q</cp:lastModifiedBy>
  <cp:revision>1711</cp:revision>
  <dcterms:created xsi:type="dcterms:W3CDTF">2024-08-22T02:33:00Z</dcterms:created>
  <dcterms:modified xsi:type="dcterms:W3CDTF">2024-08-22T02:52:56Z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EEA7DB63BD834D62A6B55A0BAEBBFA9A_12</vt:lpwstr>
  </property>
  <property fmtid="{D5CDD505-2E9C-101B-9397-08002B2CF9AE}" pid="3" name="KSOProductBuildVer">
    <vt:lpwstr>2052-12.1.0.17827</vt:lpwstr>
  </property>
</Properties>
</file>