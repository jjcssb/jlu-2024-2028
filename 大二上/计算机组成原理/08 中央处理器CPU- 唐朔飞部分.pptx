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983" r:id="rId3"/>
    <p:sldId id="732" r:id="rId4"/>
    <p:sldId id="1001" r:id="rId6"/>
    <p:sldId id="1002" r:id="rId7"/>
    <p:sldId id="1003" r:id="rId8"/>
    <p:sldId id="1004" r:id="rId9"/>
    <p:sldId id="1005" r:id="rId10"/>
    <p:sldId id="1006" r:id="rId11"/>
    <p:sldId id="739" r:id="rId12"/>
    <p:sldId id="740" r:id="rId13"/>
    <p:sldId id="741" r:id="rId14"/>
    <p:sldId id="742" r:id="rId15"/>
    <p:sldId id="743" r:id="rId16"/>
    <p:sldId id="744" r:id="rId17"/>
    <p:sldId id="745" r:id="rId18"/>
    <p:sldId id="746" r:id="rId19"/>
    <p:sldId id="748" r:id="rId20"/>
    <p:sldId id="765" r:id="rId21"/>
    <p:sldId id="766" r:id="rId22"/>
    <p:sldId id="767" r:id="rId23"/>
    <p:sldId id="768" r:id="rId24"/>
    <p:sldId id="769" r:id="rId25"/>
    <p:sldId id="770" r:id="rId26"/>
    <p:sldId id="771" r:id="rId27"/>
    <p:sldId id="772" r:id="rId28"/>
    <p:sldId id="773" r:id="rId29"/>
    <p:sldId id="774" r:id="rId30"/>
    <p:sldId id="775" r:id="rId31"/>
    <p:sldId id="776" r:id="rId32"/>
    <p:sldId id="777" r:id="rId33"/>
    <p:sldId id="778" r:id="rId34"/>
    <p:sldId id="1000" r:id="rId35"/>
    <p:sldId id="779" r:id="rId36"/>
    <p:sldId id="780" r:id="rId37"/>
    <p:sldId id="781" r:id="rId38"/>
    <p:sldId id="782" r:id="rId39"/>
    <p:sldId id="783" r:id="rId40"/>
  </p:sldIdLst>
  <p:sldSz cx="12192000" cy="6858000"/>
  <p:notesSz cx="6858000" cy="9144000"/>
  <p:custDataLst>
    <p:tags r:id="rId44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DFF"/>
    <a:srgbClr val="0033CC"/>
    <a:srgbClr val="003399"/>
    <a:srgbClr val="3366FF"/>
    <a:srgbClr val="0066FF"/>
    <a:srgbClr val="C28F3E"/>
    <a:srgbClr val="BC7D3E"/>
    <a:srgbClr val="B07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7" autoAdjust="0"/>
    <p:restoredTop sz="89847" autoAdjust="0"/>
  </p:normalViewPr>
  <p:slideViewPr>
    <p:cSldViewPr showGuides="1">
      <p:cViewPr varScale="1">
        <p:scale>
          <a:sx n="72" d="100"/>
          <a:sy n="72" d="100"/>
        </p:scale>
        <p:origin x="237" y="33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ct val="20000"/>
              </a:spcBef>
              <a:spcAft>
                <a:spcPts val="0"/>
              </a:spcAft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ct val="2000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CE46DF4-37F6-4F8C-87B6-2C1C36F8422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27152D0E-B0C4-4ADC-BBD9-7A0A25B2D8C0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05FAB465-4648-42D7-A72B-10F415346D94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FBDB88AD-1834-4D46-BC83-E1DFB664EDAD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请注意集中在</a:t>
            </a:r>
            <a:r>
              <a:rPr lang="en-US" altLang="zh-CN"/>
              <a:t>CPU</a:t>
            </a:r>
            <a:r>
              <a:rPr lang="zh-CN" altLang="en-US"/>
              <a:t>中的与链式排队器的区别</a:t>
            </a:r>
            <a:endParaRPr lang="zh-CN" altLang="en-US"/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B745D913-F3BA-443D-9643-A284EDD5AB4A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注意两种方法在执行上的区别</a:t>
            </a:r>
            <a:endParaRPr lang="zh-CN" altLang="en-US"/>
          </a:p>
        </p:txBody>
      </p:sp>
      <p:sp>
        <p:nvSpPr>
          <p:cNvPr id="145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558A4FB2-96F4-4C1B-868D-76C24B8011A6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fld id="{7A8FE0B7-851D-4DF0-8B18-B54670DCF025}" type="slidenum">
              <a:rPr kumimoji="1" lang="zh-CN" altLang="en-US" b="1" smtClean="0">
                <a:latin typeface="宋体" panose="02010600030101010101" pitchFamily="2" charset="-122"/>
              </a:rPr>
            </a:fld>
            <a:endParaRPr kumimoji="1"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75FB1-F2E3-4868-AD6A-0D14AC1A43A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0332D-433F-4A10-B691-E5053D93BF0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36DA4-FF55-4A7A-9E35-CF2E75E2477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0D6F4-6509-4EFF-902C-C4F5F85F2A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F2A9C-A632-4E6F-A47A-81C5A19E672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74F9D-D982-4890-AB42-435719265D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FD0D75-85B5-473F-8F9E-F2E2C4E6BE8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4132-EE52-4842-8650-D70F924616F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55226-C019-43D4-9561-04125CC7AD4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580AF-BD9D-4034-9CB2-7BD48A6D7B1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07D3F-0911-469F-B828-65510D7F453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D5020-F92B-427C-8226-08F2BB970C4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080000" cy="2400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771900"/>
            <a:ext cx="5080000" cy="2400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A2A5B-7DAE-499A-B8C6-474CB37BB6D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47650"/>
            <a:ext cx="68072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219200"/>
            <a:ext cx="10363200" cy="4953000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00D7C-E7C0-4D34-81F9-E043CC0EEE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F36B773-712E-4D40-8DB8-872265B3258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ctrTitle"/>
          </p:nvPr>
        </p:nvSpPr>
        <p:spPr>
          <a:xfrm>
            <a:off x="2693988" y="1296988"/>
            <a:ext cx="6858000" cy="782637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计算机原理</a:t>
            </a:r>
            <a:endParaRPr lang="zh-CN" altLang="en-US" sz="4000" dirty="0"/>
          </a:p>
        </p:txBody>
      </p:sp>
      <p:sp>
        <p:nvSpPr>
          <p:cNvPr id="6147" name="副标题 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2566988" y="3789363"/>
            <a:ext cx="6985000" cy="26638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3C92E8"/>
                </a:solidFill>
              </a:rPr>
              <a:t>曲冠南</a:t>
            </a:r>
            <a:endParaRPr lang="zh-CN" altLang="en-US">
              <a:solidFill>
                <a:srgbClr val="3C92E8"/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en-US" altLang="zh-CN">
              <a:solidFill>
                <a:srgbClr val="3C92E8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>
                <a:solidFill>
                  <a:srgbClr val="3C92E8"/>
                </a:solidFill>
              </a:rPr>
              <a:t>gnqu@jlu.edu.cn</a:t>
            </a:r>
            <a:endParaRPr lang="en-US" altLang="zh-CN">
              <a:solidFill>
                <a:srgbClr val="3C92E8"/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en-US" altLang="zh-CN">
              <a:solidFill>
                <a:srgbClr val="3C92E8"/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en-US" altLang="zh-CN">
              <a:solidFill>
                <a:srgbClr val="3C92E8"/>
              </a:solidFill>
            </a:endParaRPr>
          </a:p>
          <a:p>
            <a:pPr eaLnBrk="1" hangingPunct="1"/>
            <a:endParaRPr lang="zh-CN" altLang="en-US"/>
          </a:p>
        </p:txBody>
      </p:sp>
      <p:sp>
        <p:nvSpPr>
          <p:cNvPr id="6148" name="Rectangle 2"/>
          <p:cNvSpPr txBox="1">
            <a:spLocks noChangeArrowheads="1"/>
          </p:cNvSpPr>
          <p:nvPr/>
        </p:nvSpPr>
        <p:spPr bwMode="auto">
          <a:xfrm>
            <a:off x="2116138" y="2420938"/>
            <a:ext cx="78867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Calibri Light" panose="020F0302020204030204" pitchFamily="34" charset="0"/>
              </a:rPr>
              <a:t>第八章  </a:t>
            </a:r>
            <a:r>
              <a:rPr lang="en-US" altLang="zh-CN" sz="3600">
                <a:latin typeface="Calibri Light" panose="020F0302020204030204" pitchFamily="34" charset="0"/>
              </a:rPr>
              <a:t>CPU</a:t>
            </a:r>
            <a:r>
              <a:rPr lang="zh-CN" altLang="en-US" sz="3600">
                <a:latin typeface="Calibri Light" panose="020F0302020204030204" pitchFamily="34" charset="0"/>
              </a:rPr>
              <a:t>的结构和功能</a:t>
            </a:r>
            <a:endParaRPr lang="zh-CN" altLang="en-US" sz="3600"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3"/>
          <p:cNvGrpSpPr/>
          <p:nvPr/>
        </p:nvGrpSpPr>
        <p:grpSpPr bwMode="auto">
          <a:xfrm>
            <a:off x="3863975" y="1268413"/>
            <a:ext cx="5715000" cy="3170237"/>
            <a:chOff x="624" y="1248"/>
            <a:chExt cx="3600" cy="1997"/>
          </a:xfrm>
        </p:grpSpPr>
        <p:sp>
          <p:nvSpPr>
            <p:cNvPr id="7171" name="Text Box 4"/>
            <p:cNvSpPr txBox="1">
              <a:spLocks noChangeArrowheads="1"/>
            </p:cNvSpPr>
            <p:nvPr/>
          </p:nvSpPr>
          <p:spPr bwMode="auto">
            <a:xfrm>
              <a:off x="624" y="1248"/>
              <a:ext cx="36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  <a:hlinkClick r:id="" action="ppaction://noaction"/>
                </a:rPr>
                <a:t>8.1  </a:t>
              </a:r>
              <a:r>
                <a:rPr lang="en-US" altLang="zh-CN" sz="3200">
                  <a:latin typeface="Times New Roman" panose="02020603050405020304" pitchFamily="18" charset="0"/>
                  <a:hlinkClick r:id="" action="ppaction://noaction"/>
                </a:rPr>
                <a:t>CPU </a:t>
              </a:r>
              <a:r>
                <a:rPr lang="zh-CN" altLang="en-US" sz="3200">
                  <a:latin typeface="Times New Roman" panose="02020603050405020304" pitchFamily="18" charset="0"/>
                  <a:hlinkClick r:id="" action="ppaction://noaction"/>
                </a:rPr>
                <a:t>的结构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7172" name="Text Box 5"/>
            <p:cNvSpPr txBox="1">
              <a:spLocks noChangeArrowheads="1"/>
            </p:cNvSpPr>
            <p:nvPr/>
          </p:nvSpPr>
          <p:spPr bwMode="auto">
            <a:xfrm>
              <a:off x="624" y="2336"/>
              <a:ext cx="360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  <a:hlinkClick r:id="" action="ppaction://noaction"/>
                </a:rPr>
                <a:t>8.3  指令流水</a:t>
              </a:r>
              <a:r>
                <a:rPr lang="en-US" altLang="zh-CN" sz="3200">
                  <a:latin typeface="Times New Roman" panose="02020603050405020304" pitchFamily="18" charset="0"/>
                </a:rPr>
                <a:t> 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7173" name="Text Box 6"/>
            <p:cNvSpPr txBox="1">
              <a:spLocks noChangeArrowheads="1"/>
            </p:cNvSpPr>
            <p:nvPr/>
          </p:nvSpPr>
          <p:spPr bwMode="auto">
            <a:xfrm>
              <a:off x="624" y="1792"/>
              <a:ext cx="36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  <a:hlinkClick r:id="rId1" action="ppaction://hlinksldjump"/>
                </a:rPr>
                <a:t>8.2  指令周期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7174" name="Text Box 7"/>
            <p:cNvSpPr txBox="1">
              <a:spLocks noChangeArrowheads="1"/>
            </p:cNvSpPr>
            <p:nvPr/>
          </p:nvSpPr>
          <p:spPr bwMode="auto">
            <a:xfrm>
              <a:off x="624" y="2880"/>
              <a:ext cx="36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  <a:hlinkClick r:id="rId2" action="ppaction://hlinksldjump"/>
                </a:rPr>
                <a:t>8.4  中断系统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/>
              <a:t>8.1   </a:t>
            </a:r>
            <a:r>
              <a:rPr lang="en-US" altLang="zh-CN" b="1"/>
              <a:t>CPU </a:t>
            </a:r>
            <a:r>
              <a:rPr lang="zh-CN" altLang="en-US" b="1"/>
              <a:t>的结构</a:t>
            </a:r>
            <a:endParaRPr lang="zh-CN" altLang="en-US" b="1"/>
          </a:p>
        </p:txBody>
      </p:sp>
      <p:sp>
        <p:nvSpPr>
          <p:cNvPr id="524291" name="Text Box 3"/>
          <p:cNvSpPr txBox="1">
            <a:spLocks noChangeArrowheads="1"/>
          </p:cNvSpPr>
          <p:nvPr/>
        </p:nvSpPr>
        <p:spPr bwMode="auto">
          <a:xfrm>
            <a:off x="2209800" y="1219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一、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的功能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4292" name="Text Box 4"/>
          <p:cNvSpPr txBox="1">
            <a:spLocks noChangeArrowheads="1"/>
          </p:cNvSpPr>
          <p:nvPr/>
        </p:nvSpPr>
        <p:spPr bwMode="auto">
          <a:xfrm>
            <a:off x="3048000" y="2397125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取指令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3" name="Text Box 5"/>
          <p:cNvSpPr txBox="1">
            <a:spLocks noChangeArrowheads="1"/>
          </p:cNvSpPr>
          <p:nvPr/>
        </p:nvSpPr>
        <p:spPr bwMode="auto">
          <a:xfrm>
            <a:off x="3048000" y="2925763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分析指令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3048000" y="34544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执行指令，发出各种操作命令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3048000" y="398145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控制程序输入及结果的输出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048000" y="451008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总线管理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7" name="Text Box 9"/>
          <p:cNvSpPr txBox="1">
            <a:spLocks noChangeArrowheads="1"/>
          </p:cNvSpPr>
          <p:nvPr/>
        </p:nvSpPr>
        <p:spPr bwMode="auto">
          <a:xfrm>
            <a:off x="3048000" y="5038725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处理异常情况和特殊请求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8" name="Text Box 10"/>
          <p:cNvSpPr txBox="1">
            <a:spLocks noChangeArrowheads="1"/>
          </p:cNvSpPr>
          <p:nvPr/>
        </p:nvSpPr>
        <p:spPr bwMode="auto">
          <a:xfrm>
            <a:off x="2590800" y="1868488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1.  控制器的功能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299" name="Text Box 11"/>
          <p:cNvSpPr txBox="1">
            <a:spLocks noChangeArrowheads="1"/>
          </p:cNvSpPr>
          <p:nvPr/>
        </p:nvSpPr>
        <p:spPr bwMode="auto">
          <a:xfrm>
            <a:off x="2590800" y="5567363"/>
            <a:ext cx="541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2.  运算器的功能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2971800" y="60960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实现算术运算和逻辑运算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924800" y="24384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指令控制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924800" y="3124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操作控制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4303" name="Text Box 15"/>
          <p:cNvSpPr txBox="1">
            <a:spLocks noChangeArrowheads="1"/>
          </p:cNvSpPr>
          <p:nvPr/>
        </p:nvSpPr>
        <p:spPr bwMode="auto">
          <a:xfrm>
            <a:off x="7924800" y="3810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时间控制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4304" name="Text Box 16"/>
          <p:cNvSpPr txBox="1">
            <a:spLocks noChangeArrowheads="1"/>
          </p:cNvSpPr>
          <p:nvPr/>
        </p:nvSpPr>
        <p:spPr bwMode="auto">
          <a:xfrm>
            <a:off x="7924800" y="51816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数据加工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4305" name="Text Box 17"/>
          <p:cNvSpPr txBox="1">
            <a:spLocks noChangeArrowheads="1"/>
          </p:cNvSpPr>
          <p:nvPr/>
        </p:nvSpPr>
        <p:spPr bwMode="auto">
          <a:xfrm>
            <a:off x="7924800" y="4495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处理中断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2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24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24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4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4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4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24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4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24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24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4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1" grpId="0" autoUpdateAnimBg="0"/>
      <p:bldP spid="524292" grpId="0" autoUpdateAnimBg="0"/>
      <p:bldP spid="524293" grpId="0" autoUpdateAnimBg="0"/>
      <p:bldP spid="524294" grpId="0" autoUpdateAnimBg="0"/>
      <p:bldP spid="524295" grpId="0" autoUpdateAnimBg="0"/>
      <p:bldP spid="524296" grpId="0" autoUpdateAnimBg="0"/>
      <p:bldP spid="524297" grpId="0" autoUpdateAnimBg="0"/>
      <p:bldP spid="524298" grpId="0" autoUpdateAnimBg="0"/>
      <p:bldP spid="524299" grpId="0" autoUpdateAnimBg="0"/>
      <p:bldP spid="524300" grpId="0" autoUpdateAnimBg="0"/>
      <p:bldP spid="524301" grpId="0" autoUpdateAnimBg="0"/>
      <p:bldP spid="524302" grpId="0" autoUpdateAnimBg="0"/>
      <p:bldP spid="524303" grpId="0" autoUpdateAnimBg="0"/>
      <p:bldP spid="524304" grpId="0" autoUpdateAnimBg="0"/>
      <p:bldP spid="52430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057400" y="152400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</a:t>
            </a:r>
            <a:r>
              <a:rPr lang="en-US" altLang="zh-CN" sz="3600">
                <a:latin typeface="Times New Roman" panose="02020603050405020304" pitchFamily="18" charset="0"/>
              </a:rPr>
              <a:t>CPU </a:t>
            </a:r>
            <a:r>
              <a:rPr lang="zh-CN" altLang="en-US" sz="3600">
                <a:latin typeface="Times New Roman" panose="02020603050405020304" pitchFamily="18" charset="0"/>
              </a:rPr>
              <a:t>结构框图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25315" name="Text Box 3"/>
          <p:cNvSpPr txBox="1">
            <a:spLocks noChangeArrowheads="1"/>
          </p:cNvSpPr>
          <p:nvPr/>
        </p:nvSpPr>
        <p:spPr bwMode="auto">
          <a:xfrm>
            <a:off x="6096000" y="1447800"/>
            <a:ext cx="2743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PC   IR</a:t>
            </a:r>
            <a:endParaRPr lang="en-US" altLang="zh-CN" sz="2200">
              <a:latin typeface="Times New Roman" panose="02020603050405020304" pitchFamily="18" charset="0"/>
            </a:endParaRPr>
          </a:p>
        </p:txBody>
      </p:sp>
      <p:grpSp>
        <p:nvGrpSpPr>
          <p:cNvPr id="525316" name="Group 4"/>
          <p:cNvGrpSpPr/>
          <p:nvPr/>
        </p:nvGrpSpPr>
        <p:grpSpPr bwMode="auto">
          <a:xfrm>
            <a:off x="3886200" y="1447800"/>
            <a:ext cx="4800600" cy="2438400"/>
            <a:chOff x="1488" y="912"/>
            <a:chExt cx="3024" cy="1536"/>
          </a:xfrm>
        </p:grpSpPr>
        <p:sp>
          <p:nvSpPr>
            <p:cNvPr id="10274" name="Text Box 5"/>
            <p:cNvSpPr txBox="1">
              <a:spLocks noChangeArrowheads="1"/>
            </p:cNvSpPr>
            <p:nvPr/>
          </p:nvSpPr>
          <p:spPr bwMode="auto">
            <a:xfrm>
              <a:off x="1488" y="912"/>
              <a:ext cx="172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指令控制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10275" name="Text Box 6"/>
            <p:cNvSpPr txBox="1">
              <a:spLocks noChangeArrowheads="1"/>
            </p:cNvSpPr>
            <p:nvPr/>
          </p:nvSpPr>
          <p:spPr bwMode="auto">
            <a:xfrm>
              <a:off x="1488" y="1228"/>
              <a:ext cx="172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操作控制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10276" name="Text Box 7"/>
            <p:cNvSpPr txBox="1">
              <a:spLocks noChangeArrowheads="1"/>
            </p:cNvSpPr>
            <p:nvPr/>
          </p:nvSpPr>
          <p:spPr bwMode="auto">
            <a:xfrm>
              <a:off x="1488" y="1545"/>
              <a:ext cx="288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时间控制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10277" name="Text Box 8"/>
            <p:cNvSpPr txBox="1">
              <a:spLocks noChangeArrowheads="1"/>
            </p:cNvSpPr>
            <p:nvPr/>
          </p:nvSpPr>
          <p:spPr bwMode="auto">
            <a:xfrm>
              <a:off x="1488" y="1862"/>
              <a:ext cx="30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数据加工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10278" name="Text Box 9"/>
            <p:cNvSpPr txBox="1">
              <a:spLocks noChangeArrowheads="1"/>
            </p:cNvSpPr>
            <p:nvPr/>
          </p:nvSpPr>
          <p:spPr bwMode="auto">
            <a:xfrm>
              <a:off x="1488" y="2179"/>
              <a:ext cx="172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处理中断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sp>
        <p:nvSpPr>
          <p:cNvPr id="525322" name="Text Box 10"/>
          <p:cNvSpPr txBox="1">
            <a:spLocks noChangeArrowheads="1"/>
          </p:cNvSpPr>
          <p:nvPr/>
        </p:nvSpPr>
        <p:spPr bwMode="auto">
          <a:xfrm>
            <a:off x="6096000" y="2955925"/>
            <a:ext cx="2743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ALU  </a:t>
            </a:r>
            <a:r>
              <a:rPr lang="zh-CN" altLang="en-US" sz="2200">
                <a:latin typeface="Times New Roman" panose="02020603050405020304" pitchFamily="18" charset="0"/>
              </a:rPr>
              <a:t>寄存器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525323" name="Text Box 11"/>
          <p:cNvSpPr txBox="1">
            <a:spLocks noChangeArrowheads="1"/>
          </p:cNvSpPr>
          <p:nvPr/>
        </p:nvSpPr>
        <p:spPr bwMode="auto">
          <a:xfrm>
            <a:off x="6096000" y="3459163"/>
            <a:ext cx="2743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中断系统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525324" name="Text Box 12"/>
          <p:cNvSpPr txBox="1">
            <a:spLocks noChangeArrowheads="1"/>
          </p:cNvSpPr>
          <p:nvPr/>
        </p:nvSpPr>
        <p:spPr bwMode="auto">
          <a:xfrm>
            <a:off x="2667000" y="9144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1.  </a:t>
            </a:r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latin typeface="Times New Roman" panose="02020603050405020304" pitchFamily="18" charset="0"/>
              </a:rPr>
              <a:t>与系统总线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5325" name="Text Box 13"/>
          <p:cNvSpPr txBox="1">
            <a:spLocks noChangeArrowheads="1"/>
          </p:cNvSpPr>
          <p:nvPr/>
        </p:nvSpPr>
        <p:spPr bwMode="auto">
          <a:xfrm>
            <a:off x="6096000" y="2163763"/>
            <a:ext cx="2743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CU   </a:t>
            </a:r>
            <a:r>
              <a:rPr lang="zh-CN" altLang="en-US" sz="2200">
                <a:latin typeface="Times New Roman" panose="02020603050405020304" pitchFamily="18" charset="0"/>
              </a:rPr>
              <a:t>时序电路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525326" name="AutoShape 14"/>
          <p:cNvSpPr/>
          <p:nvPr/>
        </p:nvSpPr>
        <p:spPr bwMode="auto">
          <a:xfrm>
            <a:off x="5257800" y="2060575"/>
            <a:ext cx="117475" cy="700088"/>
          </a:xfrm>
          <a:prstGeom prst="rightBrace">
            <a:avLst>
              <a:gd name="adj1" fmla="val 33494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800">
              <a:latin typeface="宋体" panose="02010600030101010101" pitchFamily="2" charset="-122"/>
            </a:endParaRPr>
          </a:p>
        </p:txBody>
      </p:sp>
      <p:grpSp>
        <p:nvGrpSpPr>
          <p:cNvPr id="525327" name="Group 15"/>
          <p:cNvGrpSpPr/>
          <p:nvPr/>
        </p:nvGrpSpPr>
        <p:grpSpPr bwMode="auto">
          <a:xfrm>
            <a:off x="5410200" y="4572000"/>
            <a:ext cx="950913" cy="685800"/>
            <a:chOff x="2448" y="2880"/>
            <a:chExt cx="599" cy="432"/>
          </a:xfrm>
        </p:grpSpPr>
        <p:sp>
          <p:nvSpPr>
            <p:cNvPr id="10272" name="Text Box 16"/>
            <p:cNvSpPr txBox="1">
              <a:spLocks noChangeArrowheads="1"/>
            </p:cNvSpPr>
            <p:nvPr/>
          </p:nvSpPr>
          <p:spPr bwMode="auto">
            <a:xfrm>
              <a:off x="2448" y="296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寄存器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0273" name="Rectangle 17"/>
            <p:cNvSpPr>
              <a:spLocks noChangeArrowheads="1"/>
            </p:cNvSpPr>
            <p:nvPr/>
          </p:nvSpPr>
          <p:spPr bwMode="auto">
            <a:xfrm>
              <a:off x="2473" y="2880"/>
              <a:ext cx="551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25330" name="Group 18"/>
          <p:cNvGrpSpPr/>
          <p:nvPr/>
        </p:nvGrpSpPr>
        <p:grpSpPr bwMode="auto">
          <a:xfrm>
            <a:off x="4154488" y="4572000"/>
            <a:ext cx="874712" cy="685800"/>
            <a:chOff x="1657" y="2880"/>
            <a:chExt cx="551" cy="432"/>
          </a:xfrm>
        </p:grpSpPr>
        <p:sp>
          <p:nvSpPr>
            <p:cNvPr id="10270" name="Text Box 19"/>
            <p:cNvSpPr txBox="1">
              <a:spLocks noChangeArrowheads="1"/>
            </p:cNvSpPr>
            <p:nvPr/>
          </p:nvSpPr>
          <p:spPr bwMode="auto">
            <a:xfrm>
              <a:off x="1718" y="2966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271" name="Rectangle 20"/>
            <p:cNvSpPr>
              <a:spLocks noChangeArrowheads="1"/>
            </p:cNvSpPr>
            <p:nvPr/>
          </p:nvSpPr>
          <p:spPr bwMode="auto">
            <a:xfrm>
              <a:off x="1657" y="2880"/>
              <a:ext cx="551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25333" name="Group 21"/>
          <p:cNvGrpSpPr/>
          <p:nvPr/>
        </p:nvGrpSpPr>
        <p:grpSpPr bwMode="auto">
          <a:xfrm>
            <a:off x="4154488" y="5546725"/>
            <a:ext cx="874712" cy="701675"/>
            <a:chOff x="1344" y="2438"/>
            <a:chExt cx="551" cy="442"/>
          </a:xfrm>
        </p:grpSpPr>
        <p:sp>
          <p:nvSpPr>
            <p:cNvPr id="10268" name="Text Box 22"/>
            <p:cNvSpPr txBox="1">
              <a:spLocks noChangeArrowheads="1"/>
            </p:cNvSpPr>
            <p:nvPr/>
          </p:nvSpPr>
          <p:spPr bwMode="auto">
            <a:xfrm>
              <a:off x="1382" y="2438"/>
              <a:ext cx="45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中断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系统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0269" name="Rectangle 23"/>
            <p:cNvSpPr>
              <a:spLocks noChangeArrowheads="1"/>
            </p:cNvSpPr>
            <p:nvPr/>
          </p:nvSpPr>
          <p:spPr bwMode="auto">
            <a:xfrm>
              <a:off x="1344" y="2448"/>
              <a:ext cx="551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25336" name="Group 24"/>
          <p:cNvGrpSpPr/>
          <p:nvPr/>
        </p:nvGrpSpPr>
        <p:grpSpPr bwMode="auto">
          <a:xfrm>
            <a:off x="5410200" y="5562600"/>
            <a:ext cx="874713" cy="685800"/>
            <a:chOff x="2448" y="3504"/>
            <a:chExt cx="551" cy="432"/>
          </a:xfrm>
        </p:grpSpPr>
        <p:sp>
          <p:nvSpPr>
            <p:cNvPr id="10266" name="Text Box 25"/>
            <p:cNvSpPr txBox="1">
              <a:spLocks noChangeArrowheads="1"/>
            </p:cNvSpPr>
            <p:nvPr/>
          </p:nvSpPr>
          <p:spPr bwMode="auto">
            <a:xfrm>
              <a:off x="2544" y="3600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267" name="Rectangle 26"/>
            <p:cNvSpPr>
              <a:spLocks noChangeArrowheads="1"/>
            </p:cNvSpPr>
            <p:nvPr/>
          </p:nvSpPr>
          <p:spPr bwMode="auto">
            <a:xfrm>
              <a:off x="2448" y="3504"/>
              <a:ext cx="551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25339" name="Group 27"/>
          <p:cNvGrpSpPr/>
          <p:nvPr/>
        </p:nvGrpSpPr>
        <p:grpSpPr bwMode="auto">
          <a:xfrm>
            <a:off x="3863975" y="4114800"/>
            <a:ext cx="4441825" cy="2514600"/>
            <a:chOff x="1474" y="2592"/>
            <a:chExt cx="2798" cy="1584"/>
          </a:xfrm>
        </p:grpSpPr>
        <p:sp>
          <p:nvSpPr>
            <p:cNvPr id="10255" name="Rectangle 28"/>
            <p:cNvSpPr>
              <a:spLocks noChangeArrowheads="1"/>
            </p:cNvSpPr>
            <p:nvPr/>
          </p:nvSpPr>
          <p:spPr bwMode="auto">
            <a:xfrm>
              <a:off x="1488" y="2640"/>
              <a:ext cx="1728" cy="14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56" name="Text Box 29"/>
            <p:cNvSpPr txBox="1">
              <a:spLocks noChangeArrowheads="1"/>
            </p:cNvSpPr>
            <p:nvPr/>
          </p:nvSpPr>
          <p:spPr bwMode="auto">
            <a:xfrm>
              <a:off x="1474" y="2630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0257" name="Rectangle 30"/>
            <p:cNvSpPr>
              <a:spLocks noChangeArrowheads="1"/>
            </p:cNvSpPr>
            <p:nvPr/>
          </p:nvSpPr>
          <p:spPr bwMode="auto">
            <a:xfrm>
              <a:off x="3840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58" name="Rectangle 31"/>
            <p:cNvSpPr>
              <a:spLocks noChangeArrowheads="1"/>
            </p:cNvSpPr>
            <p:nvPr/>
          </p:nvSpPr>
          <p:spPr bwMode="auto">
            <a:xfrm>
              <a:off x="4176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59" name="Rectangle 32"/>
            <p:cNvSpPr>
              <a:spLocks noChangeArrowheads="1"/>
            </p:cNvSpPr>
            <p:nvPr/>
          </p:nvSpPr>
          <p:spPr bwMode="auto">
            <a:xfrm>
              <a:off x="3504" y="2592"/>
              <a:ext cx="96" cy="15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60" name="AutoShape 33"/>
            <p:cNvSpPr>
              <a:spLocks noChangeArrowheads="1"/>
            </p:cNvSpPr>
            <p:nvPr/>
          </p:nvSpPr>
          <p:spPr bwMode="auto">
            <a:xfrm>
              <a:off x="3216" y="2832"/>
              <a:ext cx="288" cy="144"/>
            </a:xfrm>
            <a:prstGeom prst="leftRightArrow">
              <a:avLst>
                <a:gd name="adj1" fmla="val 51037"/>
                <a:gd name="adj2" fmla="val 69444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61" name="AutoShape 34"/>
            <p:cNvSpPr>
              <a:spLocks noChangeArrowheads="1"/>
            </p:cNvSpPr>
            <p:nvPr/>
          </p:nvSpPr>
          <p:spPr bwMode="auto">
            <a:xfrm>
              <a:off x="3216" y="3120"/>
              <a:ext cx="624" cy="144"/>
            </a:xfrm>
            <a:prstGeom prst="leftRightArrow">
              <a:avLst>
                <a:gd name="adj1" fmla="val 50000"/>
                <a:gd name="adj2" fmla="val 86667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0262" name="Text Box 35"/>
            <p:cNvSpPr txBox="1">
              <a:spLocks noChangeArrowheads="1"/>
            </p:cNvSpPr>
            <p:nvPr/>
          </p:nvSpPr>
          <p:spPr bwMode="auto">
            <a:xfrm>
              <a:off x="3285" y="3513"/>
              <a:ext cx="291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控制总线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263" name="Text Box 36"/>
            <p:cNvSpPr txBox="1">
              <a:spLocks noChangeArrowheads="1"/>
            </p:cNvSpPr>
            <p:nvPr/>
          </p:nvSpPr>
          <p:spPr bwMode="auto">
            <a:xfrm>
              <a:off x="3620" y="3513"/>
              <a:ext cx="291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数据总线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264" name="Text Box 37"/>
            <p:cNvSpPr txBox="1">
              <a:spLocks noChangeArrowheads="1"/>
            </p:cNvSpPr>
            <p:nvPr/>
          </p:nvSpPr>
          <p:spPr bwMode="auto">
            <a:xfrm>
              <a:off x="3956" y="3513"/>
              <a:ext cx="291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地址总线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265" name="AutoShape 38"/>
            <p:cNvSpPr>
              <a:spLocks noChangeArrowheads="1"/>
            </p:cNvSpPr>
            <p:nvPr/>
          </p:nvSpPr>
          <p:spPr bwMode="auto">
            <a:xfrm>
              <a:off x="3225" y="3327"/>
              <a:ext cx="960" cy="270"/>
            </a:xfrm>
            <a:prstGeom prst="rightArrow">
              <a:avLst>
                <a:gd name="adj1" fmla="val 50000"/>
                <a:gd name="adj2" fmla="val 92346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2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2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52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2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52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2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52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2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2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autoUpdateAnimBg="0"/>
      <p:bldP spid="525322" grpId="0" autoUpdateAnimBg="0"/>
      <p:bldP spid="525323" grpId="0" autoUpdateAnimBg="0"/>
      <p:bldP spid="525324" grpId="0" autoUpdateAnimBg="0"/>
      <p:bldP spid="525325" grpId="0" autoUpdateAnimBg="0"/>
      <p:bldP spid="5253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64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的内部结构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26384" name="Group 48"/>
          <p:cNvGrpSpPr/>
          <p:nvPr/>
        </p:nvGrpSpPr>
        <p:grpSpPr bwMode="auto">
          <a:xfrm>
            <a:off x="3255963" y="1828800"/>
            <a:ext cx="4821237" cy="3749675"/>
            <a:chOff x="1091" y="1152"/>
            <a:chExt cx="3037" cy="2362"/>
          </a:xfrm>
        </p:grpSpPr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513" y="2457"/>
              <a:ext cx="76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算术和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布尔逻辑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69" name="Rectangle 5"/>
            <p:cNvSpPr>
              <a:spLocks noChangeArrowheads="1"/>
            </p:cNvSpPr>
            <p:nvPr/>
          </p:nvSpPr>
          <p:spPr bwMode="auto">
            <a:xfrm>
              <a:off x="1475" y="2448"/>
              <a:ext cx="81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1475" y="2112"/>
              <a:ext cx="81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71" name="Text Box 7"/>
            <p:cNvSpPr txBox="1">
              <a:spLocks noChangeArrowheads="1"/>
            </p:cNvSpPr>
            <p:nvPr/>
          </p:nvSpPr>
          <p:spPr bwMode="auto">
            <a:xfrm>
              <a:off x="1661" y="2102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取反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2" name="Rectangle 8"/>
            <p:cNvSpPr>
              <a:spLocks noChangeArrowheads="1"/>
            </p:cNvSpPr>
            <p:nvPr/>
          </p:nvSpPr>
          <p:spPr bwMode="auto">
            <a:xfrm>
              <a:off x="1475" y="1776"/>
              <a:ext cx="81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1661" y="176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移位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4" name="Rectangle 10"/>
            <p:cNvSpPr>
              <a:spLocks noChangeArrowheads="1"/>
            </p:cNvSpPr>
            <p:nvPr/>
          </p:nvSpPr>
          <p:spPr bwMode="auto">
            <a:xfrm>
              <a:off x="1475" y="1440"/>
              <a:ext cx="81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75" name="Text Box 11"/>
            <p:cNvSpPr txBox="1">
              <a:spLocks noChangeArrowheads="1"/>
            </p:cNvSpPr>
            <p:nvPr/>
          </p:nvSpPr>
          <p:spPr bwMode="auto">
            <a:xfrm>
              <a:off x="1513" y="1430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状态标志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6" name="Text Box 13"/>
            <p:cNvSpPr txBox="1">
              <a:spLocks noChangeArrowheads="1"/>
            </p:cNvSpPr>
            <p:nvPr/>
          </p:nvSpPr>
          <p:spPr bwMode="auto">
            <a:xfrm>
              <a:off x="2756" y="1344"/>
              <a:ext cx="310" cy="1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内部             数据总线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277" name="Rectangle 15"/>
            <p:cNvSpPr>
              <a:spLocks noChangeArrowheads="1"/>
            </p:cNvSpPr>
            <p:nvPr/>
          </p:nvSpPr>
          <p:spPr bwMode="auto">
            <a:xfrm>
              <a:off x="2771" y="1152"/>
              <a:ext cx="288" cy="1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78" name="Text Box 16"/>
            <p:cNvSpPr txBox="1">
              <a:spLocks noChangeArrowheads="1"/>
            </p:cNvSpPr>
            <p:nvPr/>
          </p:nvSpPr>
          <p:spPr bwMode="auto">
            <a:xfrm>
              <a:off x="3529" y="153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寄存器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9" name="Rectangle 17"/>
            <p:cNvSpPr>
              <a:spLocks noChangeArrowheads="1"/>
            </p:cNvSpPr>
            <p:nvPr/>
          </p:nvSpPr>
          <p:spPr bwMode="auto">
            <a:xfrm>
              <a:off x="3539" y="1152"/>
              <a:ext cx="576" cy="1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80" name="Text Box 18"/>
            <p:cNvSpPr txBox="1">
              <a:spLocks noChangeArrowheads="1"/>
            </p:cNvSpPr>
            <p:nvPr/>
          </p:nvSpPr>
          <p:spPr bwMode="auto">
            <a:xfrm>
              <a:off x="3635" y="2582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281" name="Rectangle 19"/>
            <p:cNvSpPr>
              <a:spLocks noChangeArrowheads="1"/>
            </p:cNvSpPr>
            <p:nvPr/>
          </p:nvSpPr>
          <p:spPr bwMode="auto">
            <a:xfrm>
              <a:off x="3539" y="2592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82" name="Text Box 20"/>
            <p:cNvSpPr txBox="1">
              <a:spLocks noChangeArrowheads="1"/>
            </p:cNvSpPr>
            <p:nvPr/>
          </p:nvSpPr>
          <p:spPr bwMode="auto">
            <a:xfrm>
              <a:off x="3629" y="3072"/>
              <a:ext cx="4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中断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系统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83" name="Rectangle 21"/>
            <p:cNvSpPr>
              <a:spLocks noChangeArrowheads="1"/>
            </p:cNvSpPr>
            <p:nvPr/>
          </p:nvSpPr>
          <p:spPr bwMode="auto">
            <a:xfrm>
              <a:off x="3539" y="3082"/>
              <a:ext cx="576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84" name="Line 22"/>
            <p:cNvSpPr>
              <a:spLocks noChangeShapeType="1"/>
            </p:cNvSpPr>
            <p:nvPr/>
          </p:nvSpPr>
          <p:spPr bwMode="auto">
            <a:xfrm>
              <a:off x="2291" y="153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5" name="Line 23"/>
            <p:cNvSpPr>
              <a:spLocks noChangeShapeType="1"/>
            </p:cNvSpPr>
            <p:nvPr/>
          </p:nvSpPr>
          <p:spPr bwMode="auto">
            <a:xfrm>
              <a:off x="2291" y="187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6" name="Line 24"/>
            <p:cNvSpPr>
              <a:spLocks noChangeShapeType="1"/>
            </p:cNvSpPr>
            <p:nvPr/>
          </p:nvSpPr>
          <p:spPr bwMode="auto">
            <a:xfrm>
              <a:off x="2291" y="220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7" name="Line 25"/>
            <p:cNvSpPr>
              <a:spLocks noChangeShapeType="1"/>
            </p:cNvSpPr>
            <p:nvPr/>
          </p:nvSpPr>
          <p:spPr bwMode="auto">
            <a:xfrm>
              <a:off x="2291" y="268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8" name="Line 26"/>
            <p:cNvSpPr>
              <a:spLocks noChangeShapeType="1"/>
            </p:cNvSpPr>
            <p:nvPr/>
          </p:nvSpPr>
          <p:spPr bwMode="auto">
            <a:xfrm>
              <a:off x="3059" y="153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9" name="Line 27"/>
            <p:cNvSpPr>
              <a:spLocks noChangeShapeType="1"/>
            </p:cNvSpPr>
            <p:nvPr/>
          </p:nvSpPr>
          <p:spPr bwMode="auto">
            <a:xfrm>
              <a:off x="3059" y="168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0" name="Line 28"/>
            <p:cNvSpPr>
              <a:spLocks noChangeShapeType="1"/>
            </p:cNvSpPr>
            <p:nvPr/>
          </p:nvSpPr>
          <p:spPr bwMode="auto">
            <a:xfrm>
              <a:off x="3059" y="220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1" name="Line 29"/>
            <p:cNvSpPr>
              <a:spLocks noChangeShapeType="1"/>
            </p:cNvSpPr>
            <p:nvPr/>
          </p:nvSpPr>
          <p:spPr bwMode="auto">
            <a:xfrm>
              <a:off x="1235" y="15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2" name="Line 30"/>
            <p:cNvSpPr>
              <a:spLocks noChangeShapeType="1"/>
            </p:cNvSpPr>
            <p:nvPr/>
          </p:nvSpPr>
          <p:spPr bwMode="auto">
            <a:xfrm>
              <a:off x="1235" y="187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3" name="Line 31"/>
            <p:cNvSpPr>
              <a:spLocks noChangeShapeType="1"/>
            </p:cNvSpPr>
            <p:nvPr/>
          </p:nvSpPr>
          <p:spPr bwMode="auto">
            <a:xfrm>
              <a:off x="1235" y="220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4" name="Line 32"/>
            <p:cNvSpPr>
              <a:spLocks noChangeShapeType="1"/>
            </p:cNvSpPr>
            <p:nvPr/>
          </p:nvSpPr>
          <p:spPr bwMode="auto">
            <a:xfrm>
              <a:off x="1235" y="268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5" name="Line 33"/>
            <p:cNvSpPr>
              <a:spLocks noChangeShapeType="1"/>
            </p:cNvSpPr>
            <p:nvPr/>
          </p:nvSpPr>
          <p:spPr bwMode="auto">
            <a:xfrm>
              <a:off x="1235" y="1536"/>
              <a:ext cx="0" cy="1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6" name="Rectangle 34"/>
            <p:cNvSpPr>
              <a:spLocks noChangeArrowheads="1"/>
            </p:cNvSpPr>
            <p:nvPr/>
          </p:nvSpPr>
          <p:spPr bwMode="auto">
            <a:xfrm>
              <a:off x="1091" y="1152"/>
              <a:ext cx="144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lgDashDot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97" name="Text Box 35"/>
            <p:cNvSpPr txBox="1">
              <a:spLocks noChangeArrowheads="1"/>
            </p:cNvSpPr>
            <p:nvPr/>
          </p:nvSpPr>
          <p:spPr bwMode="auto">
            <a:xfrm>
              <a:off x="1513" y="1161"/>
              <a:ext cx="4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ALU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1298" name="AutoShape 36"/>
            <p:cNvSpPr>
              <a:spLocks noChangeArrowheads="1"/>
            </p:cNvSpPr>
            <p:nvPr/>
          </p:nvSpPr>
          <p:spPr bwMode="auto">
            <a:xfrm>
              <a:off x="3059" y="2640"/>
              <a:ext cx="480" cy="96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299" name="AutoShape 37"/>
            <p:cNvSpPr>
              <a:spLocks noChangeArrowheads="1"/>
            </p:cNvSpPr>
            <p:nvPr/>
          </p:nvSpPr>
          <p:spPr bwMode="auto">
            <a:xfrm>
              <a:off x="3779" y="2832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0" name="AutoShape 38"/>
            <p:cNvSpPr>
              <a:spLocks noChangeArrowheads="1"/>
            </p:cNvSpPr>
            <p:nvPr/>
          </p:nvSpPr>
          <p:spPr bwMode="auto">
            <a:xfrm>
              <a:off x="3251" y="2208"/>
              <a:ext cx="109" cy="1248"/>
            </a:xfrm>
            <a:prstGeom prst="upArrow">
              <a:avLst>
                <a:gd name="adj1" fmla="val 50000"/>
                <a:gd name="adj2" fmla="val 122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1" name="AutoShape 39"/>
            <p:cNvSpPr>
              <a:spLocks noChangeArrowheads="1"/>
            </p:cNvSpPr>
            <p:nvPr/>
          </p:nvSpPr>
          <p:spPr bwMode="auto">
            <a:xfrm>
              <a:off x="1667" y="3024"/>
              <a:ext cx="109" cy="432"/>
            </a:xfrm>
            <a:prstGeom prst="upArrow">
              <a:avLst>
                <a:gd name="adj1" fmla="val 50000"/>
                <a:gd name="adj2" fmla="val 9908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2" name="Rectangle 40"/>
            <p:cNvSpPr>
              <a:spLocks noChangeArrowheads="1"/>
            </p:cNvSpPr>
            <p:nvPr/>
          </p:nvSpPr>
          <p:spPr bwMode="auto">
            <a:xfrm>
              <a:off x="1715" y="3408"/>
              <a:ext cx="1584" cy="4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3" name="Text Box 41"/>
            <p:cNvSpPr txBox="1">
              <a:spLocks noChangeArrowheads="1"/>
            </p:cNvSpPr>
            <p:nvPr/>
          </p:nvSpPr>
          <p:spPr bwMode="auto">
            <a:xfrm>
              <a:off x="2099" y="3177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控制信号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1304" name="Text Box 42"/>
            <p:cNvSpPr txBox="1">
              <a:spLocks noChangeArrowheads="1"/>
            </p:cNvSpPr>
            <p:nvPr/>
          </p:nvSpPr>
          <p:spPr bwMode="auto">
            <a:xfrm>
              <a:off x="3203" y="1824"/>
              <a:ext cx="349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5" name="AutoShape 43"/>
            <p:cNvSpPr>
              <a:spLocks noChangeArrowheads="1"/>
            </p:cNvSpPr>
            <p:nvPr/>
          </p:nvSpPr>
          <p:spPr bwMode="auto">
            <a:xfrm>
              <a:off x="3343" y="3129"/>
              <a:ext cx="193" cy="270"/>
            </a:xfrm>
            <a:prstGeom prst="leftRightArrow">
              <a:avLst>
                <a:gd name="adj1" fmla="val 50000"/>
                <a:gd name="adj2" fmla="val 40000"/>
              </a:avLst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6" name="AutoShape 44"/>
            <p:cNvSpPr>
              <a:spLocks noChangeArrowheads="1"/>
            </p:cNvSpPr>
            <p:nvPr/>
          </p:nvSpPr>
          <p:spPr bwMode="auto">
            <a:xfrm>
              <a:off x="3779" y="2381"/>
              <a:ext cx="96" cy="183"/>
            </a:xfrm>
            <a:prstGeom prst="upDownArrow">
              <a:avLst>
                <a:gd name="adj1" fmla="val 50000"/>
                <a:gd name="adj2" fmla="val 5000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1307" name="Text Box 47"/>
            <p:cNvSpPr txBox="1">
              <a:spLocks noChangeArrowheads="1"/>
            </p:cNvSpPr>
            <p:nvPr/>
          </p:nvSpPr>
          <p:spPr bwMode="auto">
            <a:xfrm>
              <a:off x="2761" y="1715"/>
              <a:ext cx="310" cy="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 P 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2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Text Box 2"/>
          <p:cNvSpPr txBox="1">
            <a:spLocks noChangeArrowheads="1"/>
          </p:cNvSpPr>
          <p:nvPr/>
        </p:nvSpPr>
        <p:spPr bwMode="auto">
          <a:xfrm>
            <a:off x="2057400" y="930275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1.  用户可见寄存器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63" name="Text Box 3"/>
          <p:cNvSpPr txBox="1">
            <a:spLocks noChangeArrowheads="1"/>
          </p:cNvSpPr>
          <p:nvPr/>
        </p:nvSpPr>
        <p:spPr bwMode="auto">
          <a:xfrm>
            <a:off x="2286000" y="15240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通用寄存器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752600" y="2286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三、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的寄存器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7365" name="Text Box 5"/>
          <p:cNvSpPr txBox="1">
            <a:spLocks noChangeArrowheads="1"/>
          </p:cNvSpPr>
          <p:nvPr/>
        </p:nvSpPr>
        <p:spPr bwMode="auto">
          <a:xfrm>
            <a:off x="4800600" y="15240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存放操作数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7366" name="Text Box 6"/>
          <p:cNvSpPr txBox="1">
            <a:spLocks noChangeArrowheads="1"/>
          </p:cNvSpPr>
          <p:nvPr/>
        </p:nvSpPr>
        <p:spPr bwMode="auto">
          <a:xfrm>
            <a:off x="4800600" y="20574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可作 </a:t>
            </a:r>
            <a:r>
              <a:rPr lang="zh-CN" altLang="en-US" sz="2400">
                <a:latin typeface="Times New Roman" panose="02020603050405020304" pitchFamily="18" charset="0"/>
              </a:rPr>
              <a:t>某种寻址方式所需的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专用寄存器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7367" name="Text Box 7"/>
          <p:cNvSpPr txBox="1">
            <a:spLocks noChangeArrowheads="1"/>
          </p:cNvSpPr>
          <p:nvPr/>
        </p:nvSpPr>
        <p:spPr bwMode="auto">
          <a:xfrm>
            <a:off x="2286000" y="2911475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数据寄存器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68" name="Text Box 8"/>
          <p:cNvSpPr txBox="1">
            <a:spLocks noChangeArrowheads="1"/>
          </p:cNvSpPr>
          <p:nvPr/>
        </p:nvSpPr>
        <p:spPr bwMode="auto">
          <a:xfrm>
            <a:off x="4800600" y="2911475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存放操作数</a:t>
            </a:r>
            <a:r>
              <a:rPr lang="zh-CN" altLang="en-US" sz="2400">
                <a:latin typeface="Times New Roman" panose="02020603050405020304" pitchFamily="18" charset="0"/>
              </a:rPr>
              <a:t>（满足各种数据类型）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69" name="Text Box 9"/>
          <p:cNvSpPr txBox="1">
            <a:spLocks noChangeArrowheads="1"/>
          </p:cNvSpPr>
          <p:nvPr/>
        </p:nvSpPr>
        <p:spPr bwMode="auto">
          <a:xfrm>
            <a:off x="4800600" y="34290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两个寄存器拼接存放双倍字长数据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27370" name="Text Box 10"/>
          <p:cNvSpPr txBox="1">
            <a:spLocks noChangeArrowheads="1"/>
          </p:cNvSpPr>
          <p:nvPr/>
        </p:nvSpPr>
        <p:spPr bwMode="auto">
          <a:xfrm>
            <a:off x="2286000" y="4283075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(3) 地址寄存器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71" name="Text Box 11"/>
          <p:cNvSpPr txBox="1">
            <a:spLocks noChangeArrowheads="1"/>
          </p:cNvSpPr>
          <p:nvPr/>
        </p:nvSpPr>
        <p:spPr bwMode="auto">
          <a:xfrm>
            <a:off x="4800600" y="4283075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存放地址</a:t>
            </a:r>
            <a:r>
              <a:rPr lang="zh-CN" altLang="en-US" sz="2400">
                <a:latin typeface="Times New Roman" panose="02020603050405020304" pitchFamily="18" charset="0"/>
              </a:rPr>
              <a:t>，其位数应满足最大的地址范围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72" name="Text Box 12"/>
          <p:cNvSpPr txBox="1">
            <a:spLocks noChangeArrowheads="1"/>
          </p:cNvSpPr>
          <p:nvPr/>
        </p:nvSpPr>
        <p:spPr bwMode="auto">
          <a:xfrm>
            <a:off x="4800600" y="48006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用于特殊的寻址方式    段基值    栈指针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27373" name="Text Box 13"/>
          <p:cNvSpPr txBox="1">
            <a:spLocks noChangeArrowheads="1"/>
          </p:cNvSpPr>
          <p:nvPr/>
        </p:nvSpPr>
        <p:spPr bwMode="auto">
          <a:xfrm>
            <a:off x="2286000" y="56388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(4) 条件码寄存器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74" name="Text Box 14"/>
          <p:cNvSpPr txBox="1">
            <a:spLocks noChangeArrowheads="1"/>
          </p:cNvSpPr>
          <p:nvPr/>
        </p:nvSpPr>
        <p:spPr bwMode="auto">
          <a:xfrm>
            <a:off x="4800600" y="5638800"/>
            <a:ext cx="57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存放条件码</a:t>
            </a:r>
            <a:r>
              <a:rPr lang="zh-CN" altLang="en-US" sz="2400">
                <a:latin typeface="Times New Roman" panose="02020603050405020304" pitchFamily="18" charset="0"/>
              </a:rPr>
              <a:t>，可作程序分支的依据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7375" name="Text Box 15"/>
          <p:cNvSpPr txBox="1">
            <a:spLocks noChangeArrowheads="1"/>
          </p:cNvSpPr>
          <p:nvPr/>
        </p:nvSpPr>
        <p:spPr bwMode="auto">
          <a:xfrm>
            <a:off x="4800600" y="61722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如 正、负、零、溢出、进位等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2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2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2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2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autoUpdateAnimBg="0"/>
      <p:bldP spid="527363" grpId="0" autoUpdateAnimBg="0"/>
      <p:bldP spid="527365" grpId="0" autoUpdateAnimBg="0"/>
      <p:bldP spid="527366" grpId="0" autoUpdateAnimBg="0"/>
      <p:bldP spid="527367" grpId="0" autoUpdateAnimBg="0"/>
      <p:bldP spid="527368" grpId="0" autoUpdateAnimBg="0"/>
      <p:bldP spid="527369" grpId="0" autoUpdateAnimBg="0"/>
      <p:bldP spid="527370" grpId="0" autoUpdateAnimBg="0"/>
      <p:bldP spid="527371" grpId="0" autoUpdateAnimBg="0"/>
      <p:bldP spid="527372" grpId="0" autoUpdateAnimBg="0"/>
      <p:bldP spid="527373" grpId="0" autoUpdateAnimBg="0"/>
      <p:bldP spid="527374" grpId="0" autoUpdateAnimBg="0"/>
      <p:bldP spid="52737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209800" y="3048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控制和状态寄存器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8387" name="Text Box 3"/>
          <p:cNvSpPr txBox="1">
            <a:spLocks noChangeArrowheads="1"/>
          </p:cNvSpPr>
          <p:nvPr/>
        </p:nvSpPr>
        <p:spPr bwMode="auto">
          <a:xfrm>
            <a:off x="2362200" y="10668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控制寄存器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28388" name="Text Box 4"/>
          <p:cNvSpPr txBox="1">
            <a:spLocks noChangeArrowheads="1"/>
          </p:cNvSpPr>
          <p:nvPr/>
        </p:nvSpPr>
        <p:spPr bwMode="auto">
          <a:xfrm>
            <a:off x="2895600" y="1676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PC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389" name="Text Box 5"/>
          <p:cNvSpPr txBox="1">
            <a:spLocks noChangeArrowheads="1"/>
          </p:cNvSpPr>
          <p:nvPr/>
        </p:nvSpPr>
        <p:spPr bwMode="auto">
          <a:xfrm>
            <a:off x="2895600" y="23622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控制 </a:t>
            </a:r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latin typeface="Times New Roman" panose="02020603050405020304" pitchFamily="18" charset="0"/>
              </a:rPr>
              <a:t>操作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0" name="Text Box 6"/>
          <p:cNvSpPr txBox="1">
            <a:spLocks noChangeArrowheads="1"/>
          </p:cNvSpPr>
          <p:nvPr/>
        </p:nvSpPr>
        <p:spPr bwMode="auto">
          <a:xfrm>
            <a:off x="2362200" y="39624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 状态寄存器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28391" name="Text Box 7"/>
          <p:cNvSpPr txBox="1">
            <a:spLocks noChangeArrowheads="1"/>
          </p:cNvSpPr>
          <p:nvPr/>
        </p:nvSpPr>
        <p:spPr bwMode="auto">
          <a:xfrm>
            <a:off x="2895600" y="4648200"/>
            <a:ext cx="2465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状态寄存器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2" name="Text Box 8"/>
          <p:cNvSpPr txBox="1">
            <a:spLocks noChangeArrowheads="1"/>
          </p:cNvSpPr>
          <p:nvPr/>
        </p:nvSpPr>
        <p:spPr bwMode="auto">
          <a:xfrm>
            <a:off x="2895600" y="2879725"/>
            <a:ext cx="680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其中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MAR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MDR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IR</a:t>
            </a:r>
            <a:r>
              <a:rPr lang="en-US" altLang="zh-CN" sz="2400">
                <a:latin typeface="Times New Roman" panose="02020603050405020304" pitchFamily="18" charset="0"/>
              </a:rPr>
              <a:t>          </a:t>
            </a:r>
            <a:r>
              <a:rPr lang="en-US" altLang="zh-CN" sz="1200">
                <a:latin typeface="Times New Roman" panose="02020603050405020304" pitchFamily="18" charset="0"/>
              </a:rPr>
              <a:t> </a:t>
            </a:r>
            <a:r>
              <a:rPr lang="en-US" altLang="zh-CN" sz="8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用户不可见        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3" name="Text Box 9"/>
          <p:cNvSpPr txBox="1">
            <a:spLocks noChangeArrowheads="1"/>
          </p:cNvSpPr>
          <p:nvPr/>
        </p:nvSpPr>
        <p:spPr bwMode="auto">
          <a:xfrm>
            <a:off x="5257800" y="4648200"/>
            <a:ext cx="2465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存放条件码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4" name="Text Box 10"/>
          <p:cNvSpPr txBox="1">
            <a:spLocks noChangeArrowheads="1"/>
          </p:cNvSpPr>
          <p:nvPr/>
        </p:nvSpPr>
        <p:spPr bwMode="auto">
          <a:xfrm>
            <a:off x="2895600" y="5241925"/>
            <a:ext cx="2465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PSW </a:t>
            </a:r>
            <a:r>
              <a:rPr lang="zh-CN" altLang="en-US" sz="2400">
                <a:latin typeface="Times New Roman" panose="02020603050405020304" pitchFamily="18" charset="0"/>
              </a:rPr>
              <a:t>寄存器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5" name="Text Box 11"/>
          <p:cNvSpPr txBox="1">
            <a:spLocks noChangeArrowheads="1"/>
          </p:cNvSpPr>
          <p:nvPr/>
        </p:nvSpPr>
        <p:spPr bwMode="auto">
          <a:xfrm>
            <a:off x="5257800" y="5226050"/>
            <a:ext cx="2465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存放程序状态字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396" name="Line 12"/>
          <p:cNvSpPr>
            <a:spLocks noChangeShapeType="1"/>
          </p:cNvSpPr>
          <p:nvPr/>
        </p:nvSpPr>
        <p:spPr bwMode="auto">
          <a:xfrm>
            <a:off x="3505200" y="1905000"/>
            <a:ext cx="304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8397" name="Line 13"/>
          <p:cNvSpPr>
            <a:spLocks noChangeShapeType="1"/>
          </p:cNvSpPr>
          <p:nvPr/>
        </p:nvSpPr>
        <p:spPr bwMode="auto">
          <a:xfrm>
            <a:off x="4724400" y="1905000"/>
            <a:ext cx="304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8398" name="Line 14"/>
          <p:cNvSpPr>
            <a:spLocks noChangeShapeType="1"/>
          </p:cNvSpPr>
          <p:nvPr/>
        </p:nvSpPr>
        <p:spPr bwMode="auto">
          <a:xfrm>
            <a:off x="5562600" y="1905000"/>
            <a:ext cx="304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8399" name="Line 15"/>
          <p:cNvSpPr>
            <a:spLocks noChangeShapeType="1"/>
          </p:cNvSpPr>
          <p:nvPr/>
        </p:nvSpPr>
        <p:spPr bwMode="auto">
          <a:xfrm>
            <a:off x="6781800" y="1905000"/>
            <a:ext cx="304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8400" name="Text Box 16"/>
          <p:cNvSpPr txBox="1">
            <a:spLocks noChangeArrowheads="1"/>
          </p:cNvSpPr>
          <p:nvPr/>
        </p:nvSpPr>
        <p:spPr bwMode="auto">
          <a:xfrm>
            <a:off x="2895600" y="3429000"/>
            <a:ext cx="708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PC</a:t>
            </a:r>
            <a:r>
              <a:rPr lang="en-US" altLang="zh-CN" sz="2400">
                <a:latin typeface="Times New Roman" panose="02020603050405020304" pitchFamily="18" charset="0"/>
              </a:rPr>
              <a:t>                                     </a:t>
            </a:r>
            <a:r>
              <a:rPr lang="zh-CN" altLang="en-US" sz="2400">
                <a:latin typeface="Times New Roman" panose="02020603050405020304" pitchFamily="18" charset="0"/>
              </a:rPr>
              <a:t>用户可见     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8401" name="Text Box 17"/>
          <p:cNvSpPr txBox="1">
            <a:spLocks noChangeArrowheads="1"/>
          </p:cNvSpPr>
          <p:nvPr/>
        </p:nvSpPr>
        <p:spPr bwMode="auto">
          <a:xfrm>
            <a:off x="2209800" y="5821363"/>
            <a:ext cx="4343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3.  举例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28402" name="Text Box 18"/>
          <p:cNvSpPr txBox="1">
            <a:spLocks noChangeArrowheads="1"/>
          </p:cNvSpPr>
          <p:nvPr/>
        </p:nvSpPr>
        <p:spPr bwMode="auto">
          <a:xfrm>
            <a:off x="5257800" y="5943600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Z8000       8086      MC 68000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28403" name="Text Box 19"/>
          <p:cNvSpPr txBox="1">
            <a:spLocks noChangeArrowheads="1"/>
          </p:cNvSpPr>
          <p:nvPr/>
        </p:nvSpPr>
        <p:spPr bwMode="auto">
          <a:xfrm>
            <a:off x="3810000" y="1676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MAR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404" name="Text Box 20"/>
          <p:cNvSpPr txBox="1">
            <a:spLocks noChangeArrowheads="1"/>
          </p:cNvSpPr>
          <p:nvPr/>
        </p:nvSpPr>
        <p:spPr bwMode="auto">
          <a:xfrm>
            <a:off x="5029200" y="1676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405" name="Text Box 21"/>
          <p:cNvSpPr txBox="1">
            <a:spLocks noChangeArrowheads="1"/>
          </p:cNvSpPr>
          <p:nvPr/>
        </p:nvSpPr>
        <p:spPr bwMode="auto">
          <a:xfrm>
            <a:off x="5867400" y="1676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MDR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406" name="Text Box 22"/>
          <p:cNvSpPr txBox="1">
            <a:spLocks noChangeArrowheads="1"/>
          </p:cNvSpPr>
          <p:nvPr/>
        </p:nvSpPr>
        <p:spPr bwMode="auto">
          <a:xfrm>
            <a:off x="7086600" y="1676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IR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52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2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52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2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52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2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52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2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2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2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2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2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2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2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2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2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2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2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7" grpId="0" autoUpdateAnimBg="0"/>
      <p:bldP spid="528388" grpId="0" autoUpdateAnimBg="0"/>
      <p:bldP spid="528389" grpId="0" autoUpdateAnimBg="0"/>
      <p:bldP spid="528390" grpId="0" autoUpdateAnimBg="0"/>
      <p:bldP spid="528391" grpId="0" autoUpdateAnimBg="0"/>
      <p:bldP spid="528392" grpId="0" autoUpdateAnimBg="0"/>
      <p:bldP spid="528393" grpId="0" autoUpdateAnimBg="0"/>
      <p:bldP spid="528394" grpId="0" autoUpdateAnimBg="0"/>
      <p:bldP spid="528395" grpId="0" autoUpdateAnimBg="0"/>
      <p:bldP spid="528400" grpId="0" autoUpdateAnimBg="0"/>
      <p:bldP spid="528401" grpId="0" autoUpdateAnimBg="0"/>
      <p:bldP spid="528402" grpId="0" autoUpdateAnimBg="0"/>
      <p:bldP spid="528403" grpId="0" autoUpdateAnimBg="0"/>
      <p:bldP spid="528404" grpId="0" autoUpdateAnimBg="0"/>
      <p:bldP spid="528405" grpId="0" autoUpdateAnimBg="0"/>
      <p:bldP spid="52840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905000" y="533400"/>
            <a:ext cx="6400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四、 控制单元 </a:t>
            </a:r>
            <a:r>
              <a:rPr lang="en-US" altLang="zh-CN" sz="3600">
                <a:latin typeface="Times New Roman" panose="02020603050405020304" pitchFamily="18" charset="0"/>
              </a:rPr>
              <a:t>CU </a:t>
            </a:r>
            <a:r>
              <a:rPr lang="zh-CN" altLang="en-US" sz="3600">
                <a:latin typeface="Times New Roman" panose="02020603050405020304" pitchFamily="18" charset="0"/>
              </a:rPr>
              <a:t>和中断系统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2286000" y="16002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1.  </a:t>
            </a:r>
            <a:r>
              <a:rPr lang="en-US" altLang="zh-CN" sz="3200">
                <a:latin typeface="Times New Roman" panose="02020603050405020304" pitchFamily="18" charset="0"/>
              </a:rPr>
              <a:t>CU    </a:t>
            </a:r>
            <a:r>
              <a:rPr lang="zh-CN" altLang="en-US" sz="3200">
                <a:latin typeface="Times New Roman" panose="02020603050405020304" pitchFamily="18" charset="0"/>
              </a:rPr>
              <a:t>产生全部指令的微操作命令序列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29412" name="Group 4"/>
          <p:cNvGrpSpPr/>
          <p:nvPr/>
        </p:nvGrpSpPr>
        <p:grpSpPr bwMode="auto">
          <a:xfrm>
            <a:off x="2895600" y="2667000"/>
            <a:ext cx="3124200" cy="1295400"/>
            <a:chOff x="864" y="1680"/>
            <a:chExt cx="1968" cy="816"/>
          </a:xfrm>
        </p:grpSpPr>
        <p:sp>
          <p:nvSpPr>
            <p:cNvPr id="14349" name="Text Box 5"/>
            <p:cNvSpPr txBox="1">
              <a:spLocks noChangeArrowheads="1"/>
            </p:cNvSpPr>
            <p:nvPr/>
          </p:nvSpPr>
          <p:spPr bwMode="auto">
            <a:xfrm>
              <a:off x="864" y="1680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组合逻辑设计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50" name="Text Box 6"/>
            <p:cNvSpPr txBox="1">
              <a:spLocks noChangeArrowheads="1"/>
            </p:cNvSpPr>
            <p:nvPr/>
          </p:nvSpPr>
          <p:spPr bwMode="auto">
            <a:xfrm>
              <a:off x="864" y="2169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微程序设计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9415" name="Group 7"/>
          <p:cNvGrpSpPr/>
          <p:nvPr/>
        </p:nvGrpSpPr>
        <p:grpSpPr bwMode="auto">
          <a:xfrm>
            <a:off x="5943600" y="2681288"/>
            <a:ext cx="3276600" cy="1281112"/>
            <a:chOff x="2784" y="1689"/>
            <a:chExt cx="2064" cy="807"/>
          </a:xfrm>
        </p:grpSpPr>
        <p:sp>
          <p:nvSpPr>
            <p:cNvPr id="14347" name="Text Box 8"/>
            <p:cNvSpPr txBox="1">
              <a:spLocks noChangeArrowheads="1"/>
            </p:cNvSpPr>
            <p:nvPr/>
          </p:nvSpPr>
          <p:spPr bwMode="auto">
            <a:xfrm>
              <a:off x="2784" y="1689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硬连线逻辑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4348" name="Text Box 9"/>
            <p:cNvSpPr txBox="1">
              <a:spLocks noChangeArrowheads="1"/>
            </p:cNvSpPr>
            <p:nvPr/>
          </p:nvSpPr>
          <p:spPr bwMode="auto">
            <a:xfrm>
              <a:off x="2784" y="2169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存储逻辑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29418" name="Text Box 10"/>
          <p:cNvSpPr txBox="1">
            <a:spLocks noChangeArrowheads="1"/>
          </p:cNvSpPr>
          <p:nvPr/>
        </p:nvSpPr>
        <p:spPr bwMode="auto">
          <a:xfrm>
            <a:off x="2286000" y="4449763"/>
            <a:ext cx="5715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中断系统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29419" name="Text Box 11"/>
          <p:cNvSpPr txBox="1">
            <a:spLocks noChangeArrowheads="1"/>
          </p:cNvSpPr>
          <p:nvPr/>
        </p:nvSpPr>
        <p:spPr bwMode="auto">
          <a:xfrm>
            <a:off x="8153400" y="3124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参见  第４篇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9420" name="Text Box 12"/>
          <p:cNvSpPr txBox="1">
            <a:spLocks noChangeArrowheads="1"/>
          </p:cNvSpPr>
          <p:nvPr/>
        </p:nvSpPr>
        <p:spPr bwMode="auto">
          <a:xfrm>
            <a:off x="1905000" y="5334000"/>
            <a:ext cx="601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五、</a:t>
            </a:r>
            <a:r>
              <a:rPr lang="en-US" altLang="zh-CN" sz="3600">
                <a:latin typeface="Times New Roman" panose="02020603050405020304" pitchFamily="18" charset="0"/>
              </a:rPr>
              <a:t>ALU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29421" name="Text Box 13"/>
          <p:cNvSpPr txBox="1">
            <a:spLocks noChangeArrowheads="1"/>
          </p:cNvSpPr>
          <p:nvPr/>
        </p:nvSpPr>
        <p:spPr bwMode="auto">
          <a:xfrm>
            <a:off x="8153400" y="4449763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参见  8.4 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29422" name="Text Box 14"/>
          <p:cNvSpPr txBox="1">
            <a:spLocks noChangeArrowheads="1"/>
          </p:cNvSpPr>
          <p:nvPr/>
        </p:nvSpPr>
        <p:spPr bwMode="auto">
          <a:xfrm>
            <a:off x="8153400" y="5334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参见  第６章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1" grpId="0" autoUpdateAnimBg="0"/>
      <p:bldP spid="529418" grpId="0" autoUpdateAnimBg="0"/>
      <p:bldP spid="529419" grpId="0" autoUpdateAnimBg="0"/>
      <p:bldP spid="529420" grpId="0" autoUpdateAnimBg="0"/>
      <p:bldP spid="529421" grpId="0" autoUpdateAnimBg="0"/>
      <p:bldP spid="5294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09538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/>
              <a:t>8.2   指 令 周 期</a:t>
            </a:r>
            <a:endParaRPr lang="zh-CN" altLang="en-US" b="1"/>
          </a:p>
        </p:txBody>
      </p:sp>
      <p:sp>
        <p:nvSpPr>
          <p:cNvPr id="530435" name="Text Box 3"/>
          <p:cNvSpPr txBox="1">
            <a:spLocks noChangeArrowheads="1"/>
          </p:cNvSpPr>
          <p:nvPr/>
        </p:nvSpPr>
        <p:spPr bwMode="auto">
          <a:xfrm>
            <a:off x="2057400" y="1355725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一、 指令周期的基本概念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30436" name="Text Box 4"/>
          <p:cNvSpPr txBox="1">
            <a:spLocks noChangeArrowheads="1"/>
          </p:cNvSpPr>
          <p:nvPr/>
        </p:nvSpPr>
        <p:spPr bwMode="auto">
          <a:xfrm>
            <a:off x="2362200" y="21336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 .  指令周期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30437" name="Text Box 5"/>
          <p:cNvSpPr txBox="1">
            <a:spLocks noChangeArrowheads="1"/>
          </p:cNvSpPr>
          <p:nvPr/>
        </p:nvSpPr>
        <p:spPr bwMode="auto">
          <a:xfrm>
            <a:off x="2895600" y="2819400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取出并执行一条指令所需的全部时间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0438" name="Text Box 6"/>
          <p:cNvSpPr txBox="1">
            <a:spLocks noChangeArrowheads="1"/>
          </p:cNvSpPr>
          <p:nvPr/>
        </p:nvSpPr>
        <p:spPr bwMode="auto">
          <a:xfrm>
            <a:off x="2895600" y="3886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完成一条指令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0439" name="AutoShape 7"/>
          <p:cNvSpPr/>
          <p:nvPr/>
        </p:nvSpPr>
        <p:spPr bwMode="auto">
          <a:xfrm>
            <a:off x="5024438" y="3754438"/>
            <a:ext cx="63500" cy="754062"/>
          </a:xfrm>
          <a:prstGeom prst="leftBrace">
            <a:avLst>
              <a:gd name="adj1" fmla="val 3491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800">
              <a:latin typeface="宋体" panose="02010600030101010101" pitchFamily="2" charset="-122"/>
            </a:endParaRPr>
          </a:p>
        </p:txBody>
      </p:sp>
      <p:sp>
        <p:nvSpPr>
          <p:cNvPr id="530440" name="Text Box 8"/>
          <p:cNvSpPr txBox="1">
            <a:spLocks noChangeArrowheads="1"/>
          </p:cNvSpPr>
          <p:nvPr/>
        </p:nvSpPr>
        <p:spPr bwMode="auto">
          <a:xfrm>
            <a:off x="5129213" y="4191000"/>
            <a:ext cx="1576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执行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0441" name="Text Box 9"/>
          <p:cNvSpPr txBox="1">
            <a:spLocks noChangeArrowheads="1"/>
          </p:cNvSpPr>
          <p:nvPr/>
        </p:nvSpPr>
        <p:spPr bwMode="auto">
          <a:xfrm>
            <a:off x="5105400" y="35814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取指、分析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30442" name="Group 10"/>
          <p:cNvGrpSpPr/>
          <p:nvPr/>
        </p:nvGrpSpPr>
        <p:grpSpPr bwMode="auto">
          <a:xfrm>
            <a:off x="4191000" y="5029200"/>
            <a:ext cx="3886200" cy="1530350"/>
            <a:chOff x="1680" y="3168"/>
            <a:chExt cx="2448" cy="964"/>
          </a:xfrm>
        </p:grpSpPr>
        <p:sp>
          <p:nvSpPr>
            <p:cNvPr id="15373" name="Text Box 11"/>
            <p:cNvSpPr txBox="1">
              <a:spLocks noChangeArrowheads="1"/>
            </p:cNvSpPr>
            <p:nvPr/>
          </p:nvSpPr>
          <p:spPr bwMode="auto">
            <a:xfrm>
              <a:off x="1910" y="3168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取指阶段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4" name="Text Box 12"/>
            <p:cNvSpPr txBox="1">
              <a:spLocks noChangeArrowheads="1"/>
            </p:cNvSpPr>
            <p:nvPr/>
          </p:nvSpPr>
          <p:spPr bwMode="auto">
            <a:xfrm>
              <a:off x="1920" y="3400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5" name="Text Box 13"/>
            <p:cNvSpPr txBox="1">
              <a:spLocks noChangeArrowheads="1"/>
            </p:cNvSpPr>
            <p:nvPr/>
          </p:nvSpPr>
          <p:spPr bwMode="auto">
            <a:xfrm>
              <a:off x="3120" y="3170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执行阶段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6" name="Text Box 14"/>
            <p:cNvSpPr txBox="1">
              <a:spLocks noChangeArrowheads="1"/>
            </p:cNvSpPr>
            <p:nvPr/>
          </p:nvSpPr>
          <p:spPr bwMode="auto">
            <a:xfrm>
              <a:off x="3130" y="3402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执行周期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7" name="Text Box 15"/>
            <p:cNvSpPr txBox="1">
              <a:spLocks noChangeArrowheads="1"/>
            </p:cNvSpPr>
            <p:nvPr/>
          </p:nvSpPr>
          <p:spPr bwMode="auto">
            <a:xfrm>
              <a:off x="1680" y="3592"/>
              <a:ext cx="125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（取指、分析）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8" name="Text Box 16"/>
            <p:cNvSpPr txBox="1">
              <a:spLocks noChangeArrowheads="1"/>
            </p:cNvSpPr>
            <p:nvPr/>
          </p:nvSpPr>
          <p:spPr bwMode="auto">
            <a:xfrm>
              <a:off x="2976" y="3592"/>
              <a:ext cx="10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（执行指令）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379" name="Line 17"/>
            <p:cNvSpPr>
              <a:spLocks noChangeShapeType="1"/>
            </p:cNvSpPr>
            <p:nvPr/>
          </p:nvSpPr>
          <p:spPr bwMode="auto">
            <a:xfrm>
              <a:off x="1680" y="3410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0" name="Line 18"/>
            <p:cNvSpPr>
              <a:spLocks noChangeShapeType="1"/>
            </p:cNvSpPr>
            <p:nvPr/>
          </p:nvSpPr>
          <p:spPr bwMode="auto">
            <a:xfrm>
              <a:off x="1680" y="317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2928" y="317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>
              <a:off x="4128" y="317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H="1">
              <a:off x="1680" y="350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4" name="Line 22"/>
            <p:cNvSpPr>
              <a:spLocks noChangeShapeType="1"/>
            </p:cNvSpPr>
            <p:nvPr/>
          </p:nvSpPr>
          <p:spPr bwMode="auto">
            <a:xfrm flipH="1">
              <a:off x="2928" y="350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5" name="Line 23"/>
            <p:cNvSpPr>
              <a:spLocks noChangeShapeType="1"/>
            </p:cNvSpPr>
            <p:nvPr/>
          </p:nvSpPr>
          <p:spPr bwMode="auto">
            <a:xfrm rot="10800000" flipH="1">
              <a:off x="3888" y="350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6" name="Line 24"/>
            <p:cNvSpPr>
              <a:spLocks noChangeShapeType="1"/>
            </p:cNvSpPr>
            <p:nvPr/>
          </p:nvSpPr>
          <p:spPr bwMode="auto">
            <a:xfrm rot="10800000" flipH="1">
              <a:off x="2688" y="350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7" name="Text Box 25"/>
            <p:cNvSpPr txBox="1">
              <a:spLocks noChangeArrowheads="1"/>
            </p:cNvSpPr>
            <p:nvPr/>
          </p:nvSpPr>
          <p:spPr bwMode="auto">
            <a:xfrm>
              <a:off x="2544" y="3880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指令周期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8" name="Line 26"/>
            <p:cNvSpPr>
              <a:spLocks noChangeShapeType="1"/>
            </p:cNvSpPr>
            <p:nvPr/>
          </p:nvSpPr>
          <p:spPr bwMode="auto">
            <a:xfrm>
              <a:off x="3360" y="3986"/>
              <a:ext cx="76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9" name="Line 27"/>
            <p:cNvSpPr>
              <a:spLocks noChangeShapeType="1"/>
            </p:cNvSpPr>
            <p:nvPr/>
          </p:nvSpPr>
          <p:spPr bwMode="auto">
            <a:xfrm rot="10800000">
              <a:off x="1680" y="3986"/>
              <a:ext cx="76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30460" name="Text Box 28"/>
          <p:cNvSpPr txBox="1">
            <a:spLocks noChangeArrowheads="1"/>
          </p:cNvSpPr>
          <p:nvPr/>
        </p:nvSpPr>
        <p:spPr bwMode="auto">
          <a:xfrm>
            <a:off x="7315200" y="3581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0461" name="Text Box 29"/>
          <p:cNvSpPr txBox="1">
            <a:spLocks noChangeArrowheads="1"/>
          </p:cNvSpPr>
          <p:nvPr/>
        </p:nvSpPr>
        <p:spPr bwMode="auto">
          <a:xfrm>
            <a:off x="7315200" y="4191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执行周期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3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53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autoUpdateAnimBg="0"/>
      <p:bldP spid="530436" grpId="0" autoUpdateAnimBg="0"/>
      <p:bldP spid="530437" grpId="0" autoUpdateAnimBg="0"/>
      <p:bldP spid="530438" grpId="0" autoUpdateAnimBg="0"/>
      <p:bldP spid="530439" grpId="0" animBg="1"/>
      <p:bldP spid="530440" grpId="0" autoUpdateAnimBg="0"/>
      <p:bldP spid="530441" grpId="0" autoUpdateAnimBg="0"/>
      <p:bldP spid="530460" grpId="0" autoUpdateAnimBg="0"/>
      <p:bldP spid="53046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209800" y="5334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每条指令的指令周期不同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31459" name="Group 3"/>
          <p:cNvGrpSpPr/>
          <p:nvPr/>
        </p:nvGrpSpPr>
        <p:grpSpPr bwMode="auto">
          <a:xfrm>
            <a:off x="2819400" y="1676400"/>
            <a:ext cx="1981200" cy="830263"/>
            <a:chOff x="816" y="1056"/>
            <a:chExt cx="1248" cy="523"/>
          </a:xfrm>
        </p:grpSpPr>
        <p:sp>
          <p:nvSpPr>
            <p:cNvPr id="16423" name="Text Box 4"/>
            <p:cNvSpPr txBox="1">
              <a:spLocks noChangeArrowheads="1"/>
            </p:cNvSpPr>
            <p:nvPr/>
          </p:nvSpPr>
          <p:spPr bwMode="auto">
            <a:xfrm>
              <a:off x="1046" y="105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424" name="Text Box 5"/>
            <p:cNvSpPr txBox="1">
              <a:spLocks noChangeArrowheads="1"/>
            </p:cNvSpPr>
            <p:nvPr/>
          </p:nvSpPr>
          <p:spPr bwMode="auto">
            <a:xfrm>
              <a:off x="1056" y="128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指令周期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425" name="Line 6"/>
            <p:cNvSpPr>
              <a:spLocks noChangeShapeType="1"/>
            </p:cNvSpPr>
            <p:nvPr/>
          </p:nvSpPr>
          <p:spPr bwMode="auto">
            <a:xfrm flipV="1">
              <a:off x="816" y="1296"/>
              <a:ext cx="1248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6" name="Line 7"/>
            <p:cNvSpPr>
              <a:spLocks noChangeShapeType="1"/>
            </p:cNvSpPr>
            <p:nvPr/>
          </p:nvSpPr>
          <p:spPr bwMode="auto">
            <a:xfrm>
              <a:off x="816" y="1058"/>
              <a:ext cx="0" cy="5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7" name="Line 8"/>
            <p:cNvSpPr>
              <a:spLocks noChangeShapeType="1"/>
            </p:cNvSpPr>
            <p:nvPr/>
          </p:nvSpPr>
          <p:spPr bwMode="auto">
            <a:xfrm>
              <a:off x="2064" y="1058"/>
              <a:ext cx="0" cy="5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8" name="Line 9"/>
            <p:cNvSpPr>
              <a:spLocks noChangeShapeType="1"/>
            </p:cNvSpPr>
            <p:nvPr/>
          </p:nvSpPr>
          <p:spPr bwMode="auto">
            <a:xfrm flipH="1">
              <a:off x="816" y="139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9" name="Line 10"/>
            <p:cNvSpPr>
              <a:spLocks noChangeShapeType="1"/>
            </p:cNvSpPr>
            <p:nvPr/>
          </p:nvSpPr>
          <p:spPr bwMode="auto">
            <a:xfrm rot="10800000" flipH="1">
              <a:off x="1824" y="139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30" name="Line 11"/>
            <p:cNvSpPr>
              <a:spLocks noChangeShapeType="1"/>
            </p:cNvSpPr>
            <p:nvPr/>
          </p:nvSpPr>
          <p:spPr bwMode="auto">
            <a:xfrm flipH="1">
              <a:off x="816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31" name="Line 12"/>
            <p:cNvSpPr>
              <a:spLocks noChangeShapeType="1"/>
            </p:cNvSpPr>
            <p:nvPr/>
          </p:nvSpPr>
          <p:spPr bwMode="auto">
            <a:xfrm rot="10800000" flipH="1">
              <a:off x="1824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31469" name="Group 13"/>
          <p:cNvGrpSpPr/>
          <p:nvPr/>
        </p:nvGrpSpPr>
        <p:grpSpPr bwMode="auto">
          <a:xfrm>
            <a:off x="2819400" y="2987675"/>
            <a:ext cx="3886200" cy="974725"/>
            <a:chOff x="816" y="1882"/>
            <a:chExt cx="2448" cy="614"/>
          </a:xfrm>
        </p:grpSpPr>
        <p:sp>
          <p:nvSpPr>
            <p:cNvPr id="16410" name="Text Box 14"/>
            <p:cNvSpPr txBox="1">
              <a:spLocks noChangeArrowheads="1"/>
            </p:cNvSpPr>
            <p:nvPr/>
          </p:nvSpPr>
          <p:spPr bwMode="auto">
            <a:xfrm>
              <a:off x="1046" y="188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411" name="Text Box 15"/>
            <p:cNvSpPr txBox="1">
              <a:spLocks noChangeArrowheads="1"/>
            </p:cNvSpPr>
            <p:nvPr/>
          </p:nvSpPr>
          <p:spPr bwMode="auto">
            <a:xfrm>
              <a:off x="2256" y="1895"/>
              <a:ext cx="8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执行周期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412" name="Line 16"/>
            <p:cNvSpPr>
              <a:spLocks noChangeShapeType="1"/>
            </p:cNvSpPr>
            <p:nvPr/>
          </p:nvSpPr>
          <p:spPr bwMode="auto">
            <a:xfrm>
              <a:off x="816" y="212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3" name="Line 17"/>
            <p:cNvSpPr>
              <a:spLocks noChangeShapeType="1"/>
            </p:cNvSpPr>
            <p:nvPr/>
          </p:nvSpPr>
          <p:spPr bwMode="auto">
            <a:xfrm>
              <a:off x="816" y="1884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4" name="Line 18"/>
            <p:cNvSpPr>
              <a:spLocks noChangeShapeType="1"/>
            </p:cNvSpPr>
            <p:nvPr/>
          </p:nvSpPr>
          <p:spPr bwMode="auto">
            <a:xfrm>
              <a:off x="2064" y="1884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5" name="Line 19"/>
            <p:cNvSpPr>
              <a:spLocks noChangeShapeType="1"/>
            </p:cNvSpPr>
            <p:nvPr/>
          </p:nvSpPr>
          <p:spPr bwMode="auto">
            <a:xfrm>
              <a:off x="3264" y="1884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6" name="Text Box 20"/>
            <p:cNvSpPr txBox="1">
              <a:spLocks noChangeArrowheads="1"/>
            </p:cNvSpPr>
            <p:nvPr/>
          </p:nvSpPr>
          <p:spPr bwMode="auto">
            <a:xfrm>
              <a:off x="1680" y="2170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指令周期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417" name="Line 21"/>
            <p:cNvSpPr>
              <a:spLocks noChangeShapeType="1"/>
            </p:cNvSpPr>
            <p:nvPr/>
          </p:nvSpPr>
          <p:spPr bwMode="auto">
            <a:xfrm>
              <a:off x="2496" y="231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8" name="Line 22"/>
            <p:cNvSpPr>
              <a:spLocks noChangeShapeType="1"/>
            </p:cNvSpPr>
            <p:nvPr/>
          </p:nvSpPr>
          <p:spPr bwMode="auto">
            <a:xfrm rot="10800000">
              <a:off x="816" y="231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9" name="Line 23"/>
            <p:cNvSpPr>
              <a:spLocks noChangeShapeType="1"/>
            </p:cNvSpPr>
            <p:nvPr/>
          </p:nvSpPr>
          <p:spPr bwMode="auto">
            <a:xfrm flipH="1">
              <a:off x="816" y="202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0" name="Line 24"/>
            <p:cNvSpPr>
              <a:spLocks noChangeShapeType="1"/>
            </p:cNvSpPr>
            <p:nvPr/>
          </p:nvSpPr>
          <p:spPr bwMode="auto">
            <a:xfrm rot="10800000" flipH="1">
              <a:off x="1824" y="202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1" name="Line 25"/>
            <p:cNvSpPr>
              <a:spLocks noChangeShapeType="1"/>
            </p:cNvSpPr>
            <p:nvPr/>
          </p:nvSpPr>
          <p:spPr bwMode="auto">
            <a:xfrm flipH="1">
              <a:off x="2064" y="202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2" name="Line 26"/>
            <p:cNvSpPr>
              <a:spLocks noChangeShapeType="1"/>
            </p:cNvSpPr>
            <p:nvPr/>
          </p:nvSpPr>
          <p:spPr bwMode="auto">
            <a:xfrm rot="10800000" flipH="1">
              <a:off x="3024" y="202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31499" name="Text Box 43"/>
          <p:cNvSpPr txBox="1">
            <a:spLocks noChangeArrowheads="1"/>
          </p:cNvSpPr>
          <p:nvPr/>
        </p:nvSpPr>
        <p:spPr bwMode="auto">
          <a:xfrm>
            <a:off x="8382000" y="182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NOP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1500" name="Text Box 44"/>
          <p:cNvSpPr txBox="1">
            <a:spLocks noChangeArrowheads="1"/>
          </p:cNvSpPr>
          <p:nvPr/>
        </p:nvSpPr>
        <p:spPr bwMode="auto">
          <a:xfrm>
            <a:off x="8382000" y="3124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ADD   mem 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1501" name="Text Box 45"/>
          <p:cNvSpPr txBox="1">
            <a:spLocks noChangeArrowheads="1"/>
          </p:cNvSpPr>
          <p:nvPr/>
        </p:nvSpPr>
        <p:spPr bwMode="auto">
          <a:xfrm>
            <a:off x="8382000" y="48768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MUL   mem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1507" name="Group 51"/>
          <p:cNvGrpSpPr/>
          <p:nvPr/>
        </p:nvGrpSpPr>
        <p:grpSpPr bwMode="auto">
          <a:xfrm>
            <a:off x="2819400" y="4724400"/>
            <a:ext cx="5181600" cy="914400"/>
            <a:chOff x="816" y="2976"/>
            <a:chExt cx="3264" cy="576"/>
          </a:xfrm>
        </p:grpSpPr>
        <p:grpSp>
          <p:nvGrpSpPr>
            <p:cNvPr id="16393" name="Group 49"/>
            <p:cNvGrpSpPr/>
            <p:nvPr/>
          </p:nvGrpSpPr>
          <p:grpSpPr bwMode="auto">
            <a:xfrm>
              <a:off x="816" y="2976"/>
              <a:ext cx="3264" cy="576"/>
              <a:chOff x="816" y="2976"/>
              <a:chExt cx="3264" cy="576"/>
            </a:xfrm>
          </p:grpSpPr>
          <p:sp>
            <p:nvSpPr>
              <p:cNvPr id="16395" name="Text Box 28"/>
              <p:cNvSpPr txBox="1">
                <a:spLocks noChangeArrowheads="1"/>
              </p:cNvSpPr>
              <p:nvPr/>
            </p:nvSpPr>
            <p:spPr bwMode="auto">
              <a:xfrm>
                <a:off x="1046" y="2976"/>
                <a:ext cx="76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取指周期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6" name="Text Box 29"/>
              <p:cNvSpPr txBox="1">
                <a:spLocks noChangeArrowheads="1"/>
              </p:cNvSpPr>
              <p:nvPr/>
            </p:nvSpPr>
            <p:spPr bwMode="auto">
              <a:xfrm>
                <a:off x="2652" y="2978"/>
                <a:ext cx="76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执行周期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7" name="Line 30"/>
              <p:cNvSpPr>
                <a:spLocks noChangeShapeType="1"/>
              </p:cNvSpPr>
              <p:nvPr/>
            </p:nvSpPr>
            <p:spPr bwMode="auto">
              <a:xfrm flipV="1">
                <a:off x="816" y="3216"/>
                <a:ext cx="1824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398" name="Line 31"/>
              <p:cNvSpPr>
                <a:spLocks noChangeShapeType="1"/>
              </p:cNvSpPr>
              <p:nvPr/>
            </p:nvSpPr>
            <p:spPr bwMode="auto">
              <a:xfrm>
                <a:off x="816" y="2978"/>
                <a:ext cx="0" cy="5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399" name="Line 32"/>
              <p:cNvSpPr>
                <a:spLocks noChangeShapeType="1"/>
              </p:cNvSpPr>
              <p:nvPr/>
            </p:nvSpPr>
            <p:spPr bwMode="auto">
              <a:xfrm>
                <a:off x="2064" y="2978"/>
                <a:ext cx="0" cy="2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0" name="Line 33"/>
              <p:cNvSpPr>
                <a:spLocks noChangeShapeType="1"/>
              </p:cNvSpPr>
              <p:nvPr/>
            </p:nvSpPr>
            <p:spPr bwMode="auto">
              <a:xfrm>
                <a:off x="4080" y="2978"/>
                <a:ext cx="0" cy="5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1" name="Text Box 34"/>
              <p:cNvSpPr txBox="1">
                <a:spLocks noChangeArrowheads="1"/>
              </p:cNvSpPr>
              <p:nvPr/>
            </p:nvSpPr>
            <p:spPr bwMode="auto">
              <a:xfrm>
                <a:off x="2076" y="3264"/>
                <a:ext cx="76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指令周期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2" name="Line 35"/>
              <p:cNvSpPr>
                <a:spLocks noChangeShapeType="1"/>
              </p:cNvSpPr>
              <p:nvPr/>
            </p:nvSpPr>
            <p:spPr bwMode="auto">
              <a:xfrm>
                <a:off x="3039" y="3361"/>
                <a:ext cx="10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3" name="Line 36"/>
              <p:cNvSpPr>
                <a:spLocks noChangeShapeType="1"/>
              </p:cNvSpPr>
              <p:nvPr/>
            </p:nvSpPr>
            <p:spPr bwMode="auto">
              <a:xfrm rot="10800000">
                <a:off x="816" y="3360"/>
                <a:ext cx="10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4" name="Line 37"/>
              <p:cNvSpPr>
                <a:spLocks noChangeShapeType="1"/>
              </p:cNvSpPr>
              <p:nvPr/>
            </p:nvSpPr>
            <p:spPr bwMode="auto">
              <a:xfrm flipH="1">
                <a:off x="816" y="312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5" name="Line 38"/>
              <p:cNvSpPr>
                <a:spLocks noChangeShapeType="1"/>
              </p:cNvSpPr>
              <p:nvPr/>
            </p:nvSpPr>
            <p:spPr bwMode="auto">
              <a:xfrm rot="10800000" flipH="1">
                <a:off x="1824" y="312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6" name="Line 39"/>
              <p:cNvSpPr>
                <a:spLocks noChangeShapeType="1"/>
              </p:cNvSpPr>
              <p:nvPr/>
            </p:nvSpPr>
            <p:spPr bwMode="auto">
              <a:xfrm>
                <a:off x="2688" y="3216"/>
                <a:ext cx="67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prstDash val="dash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7" name="Line 40"/>
              <p:cNvSpPr>
                <a:spLocks noChangeShapeType="1"/>
              </p:cNvSpPr>
              <p:nvPr/>
            </p:nvSpPr>
            <p:spPr bwMode="auto">
              <a:xfrm>
                <a:off x="3408" y="321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8" name="Line 41"/>
              <p:cNvSpPr>
                <a:spLocks noChangeShapeType="1"/>
              </p:cNvSpPr>
              <p:nvPr/>
            </p:nvSpPr>
            <p:spPr bwMode="auto">
              <a:xfrm flipH="1">
                <a:off x="2064" y="3120"/>
                <a:ext cx="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409" name="Line 42"/>
              <p:cNvSpPr>
                <a:spLocks noChangeShapeType="1"/>
              </p:cNvSpPr>
              <p:nvPr/>
            </p:nvSpPr>
            <p:spPr bwMode="auto">
              <a:xfrm rot="10800000" flipH="1">
                <a:off x="3611" y="3119"/>
                <a:ext cx="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6394" name="Text Box 50"/>
            <p:cNvSpPr txBox="1">
              <a:spLocks noChangeArrowheads="1"/>
            </p:cNvSpPr>
            <p:nvPr/>
          </p:nvSpPr>
          <p:spPr bwMode="auto">
            <a:xfrm>
              <a:off x="2889" y="3059"/>
              <a:ext cx="4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…</a:t>
              </a:r>
              <a:endParaRPr lang="en-US" altLang="zh-CN" sz="20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3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99" grpId="0" autoUpdateAnimBg="0"/>
      <p:bldP spid="531500" grpId="0" autoUpdateAnimBg="0"/>
      <p:bldP spid="53150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057400" y="457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3.   具有间接寻址的指令周期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532483" name="Text Box 3"/>
          <p:cNvSpPr txBox="1">
            <a:spLocks noChangeArrowheads="1"/>
          </p:cNvSpPr>
          <p:nvPr/>
        </p:nvSpPr>
        <p:spPr bwMode="auto">
          <a:xfrm>
            <a:off x="1981200" y="3505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4.  带有中断周期的指令周期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32484" name="Group 4"/>
          <p:cNvGrpSpPr/>
          <p:nvPr/>
        </p:nvGrpSpPr>
        <p:grpSpPr bwMode="auto">
          <a:xfrm>
            <a:off x="2438400" y="1828800"/>
            <a:ext cx="5867400" cy="974725"/>
            <a:chOff x="576" y="1296"/>
            <a:chExt cx="3696" cy="614"/>
          </a:xfrm>
        </p:grpSpPr>
        <p:sp>
          <p:nvSpPr>
            <p:cNvPr id="17435" name="Text Box 5"/>
            <p:cNvSpPr txBox="1">
              <a:spLocks noChangeArrowheads="1"/>
            </p:cNvSpPr>
            <p:nvPr/>
          </p:nvSpPr>
          <p:spPr bwMode="auto">
            <a:xfrm>
              <a:off x="806" y="129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取指周期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7436" name="Text Box 6"/>
            <p:cNvSpPr txBox="1">
              <a:spLocks noChangeArrowheads="1"/>
            </p:cNvSpPr>
            <p:nvPr/>
          </p:nvSpPr>
          <p:spPr bwMode="auto">
            <a:xfrm>
              <a:off x="2076" y="1298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间址周期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7" name="Line 7"/>
            <p:cNvSpPr>
              <a:spLocks noChangeShapeType="1"/>
            </p:cNvSpPr>
            <p:nvPr/>
          </p:nvSpPr>
          <p:spPr bwMode="auto">
            <a:xfrm flipV="1">
              <a:off x="576" y="1536"/>
              <a:ext cx="36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8" name="Line 8"/>
            <p:cNvSpPr>
              <a:spLocks noChangeShapeType="1"/>
            </p:cNvSpPr>
            <p:nvPr/>
          </p:nvSpPr>
          <p:spPr bwMode="auto">
            <a:xfrm>
              <a:off x="576" y="1298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9" name="Line 9"/>
            <p:cNvSpPr>
              <a:spLocks noChangeShapeType="1"/>
            </p:cNvSpPr>
            <p:nvPr/>
          </p:nvSpPr>
          <p:spPr bwMode="auto">
            <a:xfrm>
              <a:off x="1824" y="1298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0" name="Line 10"/>
            <p:cNvSpPr>
              <a:spLocks noChangeShapeType="1"/>
            </p:cNvSpPr>
            <p:nvPr/>
          </p:nvSpPr>
          <p:spPr bwMode="auto">
            <a:xfrm>
              <a:off x="4272" y="1298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1" name="Text Box 11"/>
            <p:cNvSpPr txBox="1">
              <a:spLocks noChangeArrowheads="1"/>
            </p:cNvSpPr>
            <p:nvPr/>
          </p:nvSpPr>
          <p:spPr bwMode="auto">
            <a:xfrm>
              <a:off x="2028" y="1584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指令周期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3216" y="1680"/>
              <a:ext cx="1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3" name="Line 13"/>
            <p:cNvSpPr>
              <a:spLocks noChangeShapeType="1"/>
            </p:cNvSpPr>
            <p:nvPr/>
          </p:nvSpPr>
          <p:spPr bwMode="auto">
            <a:xfrm rot="10800000">
              <a:off x="591" y="1680"/>
              <a:ext cx="1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4" name="Line 14"/>
            <p:cNvSpPr>
              <a:spLocks noChangeShapeType="1"/>
            </p:cNvSpPr>
            <p:nvPr/>
          </p:nvSpPr>
          <p:spPr bwMode="auto">
            <a:xfrm flipH="1">
              <a:off x="576" y="14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5" name="Line 15"/>
            <p:cNvSpPr>
              <a:spLocks noChangeShapeType="1"/>
            </p:cNvSpPr>
            <p:nvPr/>
          </p:nvSpPr>
          <p:spPr bwMode="auto">
            <a:xfrm rot="10800000" flipH="1">
              <a:off x="1584" y="14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6" name="Line 16"/>
            <p:cNvSpPr>
              <a:spLocks noChangeShapeType="1"/>
            </p:cNvSpPr>
            <p:nvPr/>
          </p:nvSpPr>
          <p:spPr bwMode="auto">
            <a:xfrm flipH="1">
              <a:off x="1824" y="14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7" name="Line 17"/>
            <p:cNvSpPr>
              <a:spLocks noChangeShapeType="1"/>
            </p:cNvSpPr>
            <p:nvPr/>
          </p:nvSpPr>
          <p:spPr bwMode="auto">
            <a:xfrm rot="10800000" flipH="1">
              <a:off x="2784" y="14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8" name="Text Box 18"/>
            <p:cNvSpPr txBox="1">
              <a:spLocks noChangeArrowheads="1"/>
            </p:cNvSpPr>
            <p:nvPr/>
          </p:nvSpPr>
          <p:spPr bwMode="auto">
            <a:xfrm>
              <a:off x="3276" y="129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执行周期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49" name="Line 19"/>
            <p:cNvSpPr>
              <a:spLocks noChangeShapeType="1"/>
            </p:cNvSpPr>
            <p:nvPr/>
          </p:nvSpPr>
          <p:spPr bwMode="auto">
            <a:xfrm>
              <a:off x="3024" y="1296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0" name="Line 20"/>
            <p:cNvSpPr>
              <a:spLocks noChangeShapeType="1"/>
            </p:cNvSpPr>
            <p:nvPr/>
          </p:nvSpPr>
          <p:spPr bwMode="auto">
            <a:xfrm flipH="1">
              <a:off x="3024" y="143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1" name="Line 21"/>
            <p:cNvSpPr>
              <a:spLocks noChangeShapeType="1"/>
            </p:cNvSpPr>
            <p:nvPr/>
          </p:nvSpPr>
          <p:spPr bwMode="auto">
            <a:xfrm rot="10800000" flipH="1">
              <a:off x="4032" y="143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32502" name="Group 22"/>
          <p:cNvGrpSpPr/>
          <p:nvPr/>
        </p:nvGrpSpPr>
        <p:grpSpPr bwMode="auto">
          <a:xfrm>
            <a:off x="2438400" y="4648200"/>
            <a:ext cx="7772400" cy="990600"/>
            <a:chOff x="576" y="2928"/>
            <a:chExt cx="4896" cy="624"/>
          </a:xfrm>
        </p:grpSpPr>
        <p:sp>
          <p:nvSpPr>
            <p:cNvPr id="17414" name="Text Box 23"/>
            <p:cNvSpPr txBox="1">
              <a:spLocks noChangeArrowheads="1"/>
            </p:cNvSpPr>
            <p:nvPr/>
          </p:nvSpPr>
          <p:spPr bwMode="auto">
            <a:xfrm>
              <a:off x="806" y="293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取指周期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7415" name="Text Box 24"/>
            <p:cNvSpPr txBox="1">
              <a:spLocks noChangeArrowheads="1"/>
            </p:cNvSpPr>
            <p:nvPr/>
          </p:nvSpPr>
          <p:spPr bwMode="auto">
            <a:xfrm>
              <a:off x="2076" y="2940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间址周期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16" name="Freeform 25"/>
            <p:cNvSpPr/>
            <p:nvPr/>
          </p:nvSpPr>
          <p:spPr bwMode="auto">
            <a:xfrm>
              <a:off x="576" y="3180"/>
              <a:ext cx="4896" cy="1"/>
            </a:xfrm>
            <a:custGeom>
              <a:avLst/>
              <a:gdLst>
                <a:gd name="T0" fmla="*/ 0 w 4896"/>
                <a:gd name="T1" fmla="*/ 0 h 1"/>
                <a:gd name="T2" fmla="*/ 4896 w 489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6" h="1">
                  <a:moveTo>
                    <a:pt x="0" y="0"/>
                  </a:moveTo>
                  <a:lnTo>
                    <a:pt x="489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17" name="Line 26"/>
            <p:cNvSpPr>
              <a:spLocks noChangeShapeType="1"/>
            </p:cNvSpPr>
            <p:nvPr/>
          </p:nvSpPr>
          <p:spPr bwMode="auto">
            <a:xfrm>
              <a:off x="576" y="2940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18" name="Line 27"/>
            <p:cNvSpPr>
              <a:spLocks noChangeShapeType="1"/>
            </p:cNvSpPr>
            <p:nvPr/>
          </p:nvSpPr>
          <p:spPr bwMode="auto">
            <a:xfrm>
              <a:off x="1824" y="2940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19" name="Line 28"/>
            <p:cNvSpPr>
              <a:spLocks noChangeShapeType="1"/>
            </p:cNvSpPr>
            <p:nvPr/>
          </p:nvSpPr>
          <p:spPr bwMode="auto">
            <a:xfrm>
              <a:off x="5472" y="2940"/>
              <a:ext cx="0" cy="6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0" name="Text Box 29"/>
            <p:cNvSpPr txBox="1">
              <a:spLocks noChangeArrowheads="1"/>
            </p:cNvSpPr>
            <p:nvPr/>
          </p:nvSpPr>
          <p:spPr bwMode="auto">
            <a:xfrm>
              <a:off x="2648" y="3226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指令周期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21" name="Freeform 30"/>
            <p:cNvSpPr/>
            <p:nvPr/>
          </p:nvSpPr>
          <p:spPr bwMode="auto">
            <a:xfrm>
              <a:off x="3720" y="3323"/>
              <a:ext cx="1752" cy="1"/>
            </a:xfrm>
            <a:custGeom>
              <a:avLst/>
              <a:gdLst>
                <a:gd name="T0" fmla="*/ 0 w 1752"/>
                <a:gd name="T1" fmla="*/ 1 h 1"/>
                <a:gd name="T2" fmla="*/ 1752 w 175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52" h="1">
                  <a:moveTo>
                    <a:pt x="0" y="1"/>
                  </a:moveTo>
                  <a:lnTo>
                    <a:pt x="17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2" name="Freeform 31"/>
            <p:cNvSpPr/>
            <p:nvPr/>
          </p:nvSpPr>
          <p:spPr bwMode="auto">
            <a:xfrm>
              <a:off x="591" y="3321"/>
              <a:ext cx="1773" cy="1"/>
            </a:xfrm>
            <a:custGeom>
              <a:avLst/>
              <a:gdLst>
                <a:gd name="T0" fmla="*/ 1773 w 1773"/>
                <a:gd name="T1" fmla="*/ 0 h 1"/>
                <a:gd name="T2" fmla="*/ 0 w 1773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73" h="1">
                  <a:moveTo>
                    <a:pt x="1773" y="0"/>
                  </a:move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3" name="Line 32"/>
            <p:cNvSpPr>
              <a:spLocks noChangeShapeType="1"/>
            </p:cNvSpPr>
            <p:nvPr/>
          </p:nvSpPr>
          <p:spPr bwMode="auto">
            <a:xfrm flipH="1">
              <a:off x="576" y="308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4" name="Line 33"/>
            <p:cNvSpPr>
              <a:spLocks noChangeShapeType="1"/>
            </p:cNvSpPr>
            <p:nvPr/>
          </p:nvSpPr>
          <p:spPr bwMode="auto">
            <a:xfrm rot="10800000" flipH="1">
              <a:off x="1584" y="308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5" name="Line 34"/>
            <p:cNvSpPr>
              <a:spLocks noChangeShapeType="1"/>
            </p:cNvSpPr>
            <p:nvPr/>
          </p:nvSpPr>
          <p:spPr bwMode="auto">
            <a:xfrm flipH="1">
              <a:off x="1824" y="308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6" name="Line 35"/>
            <p:cNvSpPr>
              <a:spLocks noChangeShapeType="1"/>
            </p:cNvSpPr>
            <p:nvPr/>
          </p:nvSpPr>
          <p:spPr bwMode="auto">
            <a:xfrm rot="10800000" flipH="1">
              <a:off x="2784" y="308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7" name="Text Box 36"/>
            <p:cNvSpPr txBox="1">
              <a:spLocks noChangeArrowheads="1"/>
            </p:cNvSpPr>
            <p:nvPr/>
          </p:nvSpPr>
          <p:spPr bwMode="auto">
            <a:xfrm>
              <a:off x="3276" y="293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执行周期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428" name="Line 37"/>
            <p:cNvSpPr>
              <a:spLocks noChangeShapeType="1"/>
            </p:cNvSpPr>
            <p:nvPr/>
          </p:nvSpPr>
          <p:spPr bwMode="auto">
            <a:xfrm>
              <a:off x="3024" y="2938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9" name="Line 38"/>
            <p:cNvSpPr>
              <a:spLocks noChangeShapeType="1"/>
            </p:cNvSpPr>
            <p:nvPr/>
          </p:nvSpPr>
          <p:spPr bwMode="auto">
            <a:xfrm flipH="1">
              <a:off x="3024" y="30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0" name="Line 39"/>
            <p:cNvSpPr>
              <a:spLocks noChangeShapeType="1"/>
            </p:cNvSpPr>
            <p:nvPr/>
          </p:nvSpPr>
          <p:spPr bwMode="auto">
            <a:xfrm rot="10800000" flipH="1">
              <a:off x="4032" y="30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1" name="Line 40"/>
            <p:cNvSpPr>
              <a:spLocks noChangeShapeType="1"/>
            </p:cNvSpPr>
            <p:nvPr/>
          </p:nvSpPr>
          <p:spPr bwMode="auto">
            <a:xfrm>
              <a:off x="4272" y="2938"/>
              <a:ext cx="0" cy="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2" name="Line 41"/>
            <p:cNvSpPr>
              <a:spLocks noChangeShapeType="1"/>
            </p:cNvSpPr>
            <p:nvPr/>
          </p:nvSpPr>
          <p:spPr bwMode="auto">
            <a:xfrm flipH="1">
              <a:off x="4272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3" name="Text Box 42"/>
            <p:cNvSpPr txBox="1">
              <a:spLocks noChangeArrowheads="1"/>
            </p:cNvSpPr>
            <p:nvPr/>
          </p:nvSpPr>
          <p:spPr bwMode="auto">
            <a:xfrm>
              <a:off x="4520" y="2928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中断周期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4" name="Line 43"/>
            <p:cNvSpPr>
              <a:spLocks noChangeShapeType="1"/>
            </p:cNvSpPr>
            <p:nvPr/>
          </p:nvSpPr>
          <p:spPr bwMode="auto">
            <a:xfrm rot="10800000" flipH="1">
              <a:off x="5232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3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3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133600" y="3810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5.  指令周期流程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533507" name="Rectangle 3"/>
          <p:cNvSpPr>
            <a:spLocks noChangeArrowheads="1"/>
          </p:cNvSpPr>
          <p:nvPr/>
        </p:nvSpPr>
        <p:spPr bwMode="auto">
          <a:xfrm>
            <a:off x="4702175" y="1600200"/>
            <a:ext cx="1217613" cy="400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508" name="Rectangle 4"/>
          <p:cNvSpPr>
            <a:spLocks noChangeArrowheads="1"/>
          </p:cNvSpPr>
          <p:nvPr/>
        </p:nvSpPr>
        <p:spPr bwMode="auto">
          <a:xfrm>
            <a:off x="4702175" y="3870325"/>
            <a:ext cx="1217613" cy="400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执行周期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3509" name="Group 5"/>
          <p:cNvGrpSpPr/>
          <p:nvPr/>
        </p:nvGrpSpPr>
        <p:grpSpPr bwMode="auto">
          <a:xfrm>
            <a:off x="4064000" y="2373313"/>
            <a:ext cx="2930525" cy="795337"/>
            <a:chOff x="836" y="1439"/>
            <a:chExt cx="1846" cy="501"/>
          </a:xfrm>
        </p:grpSpPr>
        <p:sp>
          <p:nvSpPr>
            <p:cNvPr id="18466" name="AutoShape 6"/>
            <p:cNvSpPr>
              <a:spLocks noChangeArrowheads="1"/>
            </p:cNvSpPr>
            <p:nvPr/>
          </p:nvSpPr>
          <p:spPr bwMode="auto">
            <a:xfrm>
              <a:off x="836" y="1439"/>
              <a:ext cx="1846" cy="501"/>
            </a:xfrm>
            <a:prstGeom prst="diamond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有间址吗？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8467" name="AutoShape 7"/>
            <p:cNvSpPr>
              <a:spLocks noChangeArrowheads="1"/>
            </p:cNvSpPr>
            <p:nvPr/>
          </p:nvSpPr>
          <p:spPr bwMode="auto">
            <a:xfrm>
              <a:off x="1008" y="1440"/>
              <a:ext cx="1248" cy="480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33512" name="Group 8"/>
          <p:cNvGrpSpPr/>
          <p:nvPr/>
        </p:nvGrpSpPr>
        <p:grpSpPr bwMode="auto">
          <a:xfrm>
            <a:off x="4337050" y="4648200"/>
            <a:ext cx="1981200" cy="762000"/>
            <a:chOff x="1008" y="2496"/>
            <a:chExt cx="1248" cy="480"/>
          </a:xfrm>
        </p:grpSpPr>
        <p:sp>
          <p:nvSpPr>
            <p:cNvPr id="18464" name="AutoShape 9"/>
            <p:cNvSpPr>
              <a:spLocks noChangeArrowheads="1"/>
            </p:cNvSpPr>
            <p:nvPr/>
          </p:nvSpPr>
          <p:spPr bwMode="auto">
            <a:xfrm>
              <a:off x="1008" y="2496"/>
              <a:ext cx="1248" cy="480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8465" name="Text Box 10"/>
            <p:cNvSpPr txBox="1">
              <a:spLocks noChangeArrowheads="1"/>
            </p:cNvSpPr>
            <p:nvPr/>
          </p:nvSpPr>
          <p:spPr bwMode="auto">
            <a:xfrm>
              <a:off x="1200" y="2592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有中断吗？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33515" name="Rectangle 11"/>
          <p:cNvSpPr>
            <a:spLocks noChangeArrowheads="1"/>
          </p:cNvSpPr>
          <p:nvPr/>
        </p:nvSpPr>
        <p:spPr bwMode="auto">
          <a:xfrm>
            <a:off x="7089775" y="2986088"/>
            <a:ext cx="1217613" cy="400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间址周期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516" name="Text Box 12"/>
          <p:cNvSpPr txBox="1">
            <a:spLocks noChangeArrowheads="1"/>
          </p:cNvSpPr>
          <p:nvPr/>
        </p:nvSpPr>
        <p:spPr bwMode="auto">
          <a:xfrm>
            <a:off x="7089775" y="5257800"/>
            <a:ext cx="1217613" cy="4000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中断周期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517" name="Freeform 13"/>
          <p:cNvSpPr/>
          <p:nvPr/>
        </p:nvSpPr>
        <p:spPr bwMode="auto">
          <a:xfrm>
            <a:off x="5327650" y="2019300"/>
            <a:ext cx="1588" cy="342900"/>
          </a:xfrm>
          <a:custGeom>
            <a:avLst/>
            <a:gdLst>
              <a:gd name="T0" fmla="*/ 0 w 1"/>
              <a:gd name="T1" fmla="*/ 0 h 216"/>
              <a:gd name="T2" fmla="*/ 2147483646 w 1"/>
              <a:gd name="T3" fmla="*/ 2147483646 h 2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3518" name="Freeform 14"/>
          <p:cNvSpPr/>
          <p:nvPr/>
        </p:nvSpPr>
        <p:spPr bwMode="auto">
          <a:xfrm>
            <a:off x="5327650" y="1257300"/>
            <a:ext cx="1588" cy="342900"/>
          </a:xfrm>
          <a:custGeom>
            <a:avLst/>
            <a:gdLst>
              <a:gd name="T0" fmla="*/ 0 w 1"/>
              <a:gd name="T1" fmla="*/ 0 h 216"/>
              <a:gd name="T2" fmla="*/ 2147483646 w 1"/>
              <a:gd name="T3" fmla="*/ 2147483646 h 2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3519" name="Freeform 15"/>
          <p:cNvSpPr/>
          <p:nvPr/>
        </p:nvSpPr>
        <p:spPr bwMode="auto">
          <a:xfrm>
            <a:off x="5327650" y="4305300"/>
            <a:ext cx="1588" cy="342900"/>
          </a:xfrm>
          <a:custGeom>
            <a:avLst/>
            <a:gdLst>
              <a:gd name="T0" fmla="*/ 0 w 1"/>
              <a:gd name="T1" fmla="*/ 0 h 216"/>
              <a:gd name="T2" fmla="*/ 2147483646 w 1"/>
              <a:gd name="T3" fmla="*/ 2147483646 h 2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16">
                <a:moveTo>
                  <a:pt x="0" y="0"/>
                </a:moveTo>
                <a:lnTo>
                  <a:pt x="1" y="21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33520" name="Group 16"/>
          <p:cNvGrpSpPr/>
          <p:nvPr/>
        </p:nvGrpSpPr>
        <p:grpSpPr bwMode="auto">
          <a:xfrm>
            <a:off x="5327650" y="3400425"/>
            <a:ext cx="2362200" cy="268288"/>
            <a:chOff x="2396" y="2142"/>
            <a:chExt cx="1488" cy="169"/>
          </a:xfrm>
        </p:grpSpPr>
        <p:sp>
          <p:nvSpPr>
            <p:cNvPr id="18462" name="Freeform 17"/>
            <p:cNvSpPr/>
            <p:nvPr/>
          </p:nvSpPr>
          <p:spPr bwMode="auto">
            <a:xfrm>
              <a:off x="3882" y="2142"/>
              <a:ext cx="2" cy="169"/>
            </a:xfrm>
            <a:custGeom>
              <a:avLst/>
              <a:gdLst>
                <a:gd name="T0" fmla="*/ 0 w 2"/>
                <a:gd name="T1" fmla="*/ 0 h 169"/>
                <a:gd name="T2" fmla="*/ 2 w 2"/>
                <a:gd name="T3" fmla="*/ 169 h 1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69">
                  <a:moveTo>
                    <a:pt x="0" y="0"/>
                  </a:moveTo>
                  <a:lnTo>
                    <a:pt x="2" y="16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63" name="Line 18"/>
            <p:cNvSpPr>
              <a:spLocks noChangeShapeType="1"/>
            </p:cNvSpPr>
            <p:nvPr/>
          </p:nvSpPr>
          <p:spPr bwMode="auto">
            <a:xfrm flipH="1">
              <a:off x="2396" y="2304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33523" name="Group 19"/>
          <p:cNvGrpSpPr/>
          <p:nvPr/>
        </p:nvGrpSpPr>
        <p:grpSpPr bwMode="auto">
          <a:xfrm>
            <a:off x="6318250" y="2362200"/>
            <a:ext cx="1371600" cy="619125"/>
            <a:chOff x="3020" y="1488"/>
            <a:chExt cx="864" cy="390"/>
          </a:xfrm>
        </p:grpSpPr>
        <p:sp>
          <p:nvSpPr>
            <p:cNvPr id="18460" name="Freeform 20"/>
            <p:cNvSpPr/>
            <p:nvPr/>
          </p:nvSpPr>
          <p:spPr bwMode="auto">
            <a:xfrm>
              <a:off x="3020" y="1728"/>
              <a:ext cx="864" cy="150"/>
            </a:xfrm>
            <a:custGeom>
              <a:avLst/>
              <a:gdLst>
                <a:gd name="T0" fmla="*/ 0 w 864"/>
                <a:gd name="T1" fmla="*/ 0 h 150"/>
                <a:gd name="T2" fmla="*/ 864 w 864"/>
                <a:gd name="T3" fmla="*/ 0 h 150"/>
                <a:gd name="T4" fmla="*/ 862 w 864"/>
                <a:gd name="T5" fmla="*/ 150 h 1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150">
                  <a:moveTo>
                    <a:pt x="0" y="0"/>
                  </a:moveTo>
                  <a:lnTo>
                    <a:pt x="864" y="0"/>
                  </a:lnTo>
                  <a:lnTo>
                    <a:pt x="862" y="15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61" name="Text Box 21"/>
            <p:cNvSpPr txBox="1">
              <a:spLocks noChangeArrowheads="1"/>
            </p:cNvSpPr>
            <p:nvPr/>
          </p:nvSpPr>
          <p:spPr bwMode="auto">
            <a:xfrm>
              <a:off x="3068" y="1488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3526" name="Group 22"/>
          <p:cNvGrpSpPr/>
          <p:nvPr/>
        </p:nvGrpSpPr>
        <p:grpSpPr bwMode="auto">
          <a:xfrm>
            <a:off x="6318250" y="4632325"/>
            <a:ext cx="1371600" cy="625475"/>
            <a:chOff x="3020" y="2918"/>
            <a:chExt cx="864" cy="394"/>
          </a:xfrm>
        </p:grpSpPr>
        <p:sp>
          <p:nvSpPr>
            <p:cNvPr id="18458" name="Freeform 23"/>
            <p:cNvSpPr/>
            <p:nvPr/>
          </p:nvSpPr>
          <p:spPr bwMode="auto">
            <a:xfrm>
              <a:off x="3020" y="3161"/>
              <a:ext cx="864" cy="151"/>
            </a:xfrm>
            <a:custGeom>
              <a:avLst/>
              <a:gdLst>
                <a:gd name="T0" fmla="*/ 0 w 864"/>
                <a:gd name="T1" fmla="*/ 0 h 151"/>
                <a:gd name="T2" fmla="*/ 864 w 864"/>
                <a:gd name="T3" fmla="*/ 0 h 151"/>
                <a:gd name="T4" fmla="*/ 862 w 864"/>
                <a:gd name="T5" fmla="*/ 151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151">
                  <a:moveTo>
                    <a:pt x="0" y="0"/>
                  </a:moveTo>
                  <a:lnTo>
                    <a:pt x="864" y="0"/>
                  </a:lnTo>
                  <a:lnTo>
                    <a:pt x="862" y="15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9" name="Text Box 24"/>
            <p:cNvSpPr txBox="1">
              <a:spLocks noChangeArrowheads="1"/>
            </p:cNvSpPr>
            <p:nvPr/>
          </p:nvSpPr>
          <p:spPr bwMode="auto">
            <a:xfrm>
              <a:off x="3068" y="2918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3529" name="Group 25"/>
          <p:cNvGrpSpPr/>
          <p:nvPr/>
        </p:nvGrpSpPr>
        <p:grpSpPr bwMode="auto">
          <a:xfrm>
            <a:off x="5327650" y="3121025"/>
            <a:ext cx="503238" cy="765175"/>
            <a:chOff x="2396" y="1966"/>
            <a:chExt cx="317" cy="482"/>
          </a:xfrm>
        </p:grpSpPr>
        <p:sp>
          <p:nvSpPr>
            <p:cNvPr id="18456" name="Freeform 26"/>
            <p:cNvSpPr/>
            <p:nvPr/>
          </p:nvSpPr>
          <p:spPr bwMode="auto">
            <a:xfrm>
              <a:off x="2396" y="1983"/>
              <a:ext cx="1" cy="465"/>
            </a:xfrm>
            <a:custGeom>
              <a:avLst/>
              <a:gdLst>
                <a:gd name="T0" fmla="*/ 0 w 1"/>
                <a:gd name="T1" fmla="*/ 0 h 465"/>
                <a:gd name="T2" fmla="*/ 1 w 1"/>
                <a:gd name="T3" fmla="*/ 465 h 4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65">
                  <a:moveTo>
                    <a:pt x="0" y="0"/>
                  </a:moveTo>
                  <a:lnTo>
                    <a:pt x="1" y="46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7" name="Text Box 27"/>
            <p:cNvSpPr txBox="1">
              <a:spLocks noChangeArrowheads="1"/>
            </p:cNvSpPr>
            <p:nvPr/>
          </p:nvSpPr>
          <p:spPr bwMode="auto">
            <a:xfrm>
              <a:off x="2434" y="1966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3532" name="Group 28"/>
          <p:cNvGrpSpPr/>
          <p:nvPr/>
        </p:nvGrpSpPr>
        <p:grpSpPr bwMode="auto">
          <a:xfrm>
            <a:off x="5327650" y="5705475"/>
            <a:ext cx="2362200" cy="238125"/>
            <a:chOff x="2396" y="3594"/>
            <a:chExt cx="1488" cy="150"/>
          </a:xfrm>
        </p:grpSpPr>
        <p:sp>
          <p:nvSpPr>
            <p:cNvPr id="18454" name="Freeform 29"/>
            <p:cNvSpPr/>
            <p:nvPr/>
          </p:nvSpPr>
          <p:spPr bwMode="auto">
            <a:xfrm>
              <a:off x="3882" y="3594"/>
              <a:ext cx="2" cy="150"/>
            </a:xfrm>
            <a:custGeom>
              <a:avLst/>
              <a:gdLst>
                <a:gd name="T0" fmla="*/ 0 w 2"/>
                <a:gd name="T1" fmla="*/ 0 h 150"/>
                <a:gd name="T2" fmla="*/ 2 w 2"/>
                <a:gd name="T3" fmla="*/ 150 h 1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50">
                  <a:moveTo>
                    <a:pt x="0" y="0"/>
                  </a:moveTo>
                  <a:lnTo>
                    <a:pt x="2" y="15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5" name="Line 30"/>
            <p:cNvSpPr>
              <a:spLocks noChangeShapeType="1"/>
            </p:cNvSpPr>
            <p:nvPr/>
          </p:nvSpPr>
          <p:spPr bwMode="auto">
            <a:xfrm flipH="1">
              <a:off x="2396" y="3737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33535" name="Group 31"/>
          <p:cNvGrpSpPr/>
          <p:nvPr/>
        </p:nvGrpSpPr>
        <p:grpSpPr bwMode="auto">
          <a:xfrm>
            <a:off x="4032250" y="1371600"/>
            <a:ext cx="1814513" cy="4595813"/>
            <a:chOff x="1580" y="864"/>
            <a:chExt cx="1143" cy="2895"/>
          </a:xfrm>
        </p:grpSpPr>
        <p:grpSp>
          <p:nvGrpSpPr>
            <p:cNvPr id="18450" name="Group 32"/>
            <p:cNvGrpSpPr/>
            <p:nvPr/>
          </p:nvGrpSpPr>
          <p:grpSpPr bwMode="auto">
            <a:xfrm>
              <a:off x="1580" y="864"/>
              <a:ext cx="817" cy="2895"/>
              <a:chOff x="1580" y="864"/>
              <a:chExt cx="817" cy="2895"/>
            </a:xfrm>
          </p:grpSpPr>
          <p:sp>
            <p:nvSpPr>
              <p:cNvPr id="18452" name="Freeform 33"/>
              <p:cNvSpPr/>
              <p:nvPr/>
            </p:nvSpPr>
            <p:spPr bwMode="auto">
              <a:xfrm>
                <a:off x="2396" y="3408"/>
                <a:ext cx="1" cy="351"/>
              </a:xfrm>
              <a:custGeom>
                <a:avLst/>
                <a:gdLst>
                  <a:gd name="T0" fmla="*/ 0 w 1"/>
                  <a:gd name="T1" fmla="*/ 0 h 216"/>
                  <a:gd name="T2" fmla="*/ 1 w 1"/>
                  <a:gd name="T3" fmla="*/ 2147483646 h 2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16">
                    <a:moveTo>
                      <a:pt x="0" y="0"/>
                    </a:moveTo>
                    <a:lnTo>
                      <a:pt x="1" y="21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3" name="Freeform 34"/>
              <p:cNvSpPr/>
              <p:nvPr/>
            </p:nvSpPr>
            <p:spPr bwMode="auto">
              <a:xfrm>
                <a:off x="1580" y="864"/>
                <a:ext cx="816" cy="2880"/>
              </a:xfrm>
              <a:custGeom>
                <a:avLst/>
                <a:gdLst>
                  <a:gd name="T0" fmla="*/ 816 w 816"/>
                  <a:gd name="T1" fmla="*/ 5641 h 2832"/>
                  <a:gd name="T2" fmla="*/ 0 w 816"/>
                  <a:gd name="T3" fmla="*/ 5641 h 2832"/>
                  <a:gd name="T4" fmla="*/ 0 w 816"/>
                  <a:gd name="T5" fmla="*/ 0 h 2832"/>
                  <a:gd name="T6" fmla="*/ 816 w 816"/>
                  <a:gd name="T7" fmla="*/ 0 h 28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6" h="2832">
                    <a:moveTo>
                      <a:pt x="816" y="2832"/>
                    </a:moveTo>
                    <a:lnTo>
                      <a:pt x="0" y="2832"/>
                    </a:lnTo>
                    <a:lnTo>
                      <a:pt x="0" y="0"/>
                    </a:lnTo>
                    <a:lnTo>
                      <a:pt x="816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8451" name="Text Box 35"/>
            <p:cNvSpPr txBox="1">
              <a:spLocks noChangeArrowheads="1"/>
            </p:cNvSpPr>
            <p:nvPr/>
          </p:nvSpPr>
          <p:spPr bwMode="auto">
            <a:xfrm>
              <a:off x="2444" y="3398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3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3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53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3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3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53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53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3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3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53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53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53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 animBg="1" autoUpdateAnimBg="0"/>
      <p:bldP spid="533508" grpId="0" animBg="1" autoUpdateAnimBg="0"/>
      <p:bldP spid="533515" grpId="0" animBg="1" autoUpdateAnimBg="0"/>
      <p:bldP spid="53351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209800" y="457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6. 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工作周期的标志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2743200" y="1203325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CPU </a:t>
            </a:r>
            <a:r>
              <a:rPr lang="zh-CN" altLang="en-US">
                <a:latin typeface="Times New Roman" panose="02020603050405020304" pitchFamily="18" charset="0"/>
              </a:rPr>
              <a:t>访存有四种性质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505200" y="18288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>
                <a:latin typeface="Times New Roman" panose="02020603050405020304" pitchFamily="18" charset="0"/>
              </a:rPr>
              <a:t>  指令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3505200" y="24892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>
                <a:latin typeface="Times New Roman" panose="02020603050405020304" pitchFamily="18" charset="0"/>
              </a:rPr>
              <a:t>  地址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505200" y="31496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取</a:t>
            </a:r>
            <a:r>
              <a:rPr lang="zh-CN" altLang="en-US" sz="2400">
                <a:latin typeface="Times New Roman" panose="02020603050405020304" pitchFamily="18" charset="0"/>
              </a:rPr>
              <a:t>  操作数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5" name="Text Box 7"/>
          <p:cNvSpPr txBox="1">
            <a:spLocks noChangeArrowheads="1"/>
          </p:cNvSpPr>
          <p:nvPr/>
        </p:nvSpPr>
        <p:spPr bwMode="auto">
          <a:xfrm>
            <a:off x="3505200" y="3810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存</a:t>
            </a:r>
            <a:r>
              <a:rPr lang="zh-CN" altLang="en-US" sz="2400">
                <a:latin typeface="Times New Roman" panose="02020603050405020304" pitchFamily="18" charset="0"/>
              </a:rPr>
              <a:t>  程序断点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6" name="Text Box 8"/>
          <p:cNvSpPr txBox="1">
            <a:spLocks noChangeArrowheads="1"/>
          </p:cNvSpPr>
          <p:nvPr/>
        </p:nvSpPr>
        <p:spPr bwMode="auto">
          <a:xfrm>
            <a:off x="6019800" y="18288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取指周期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7" name="Text Box 9"/>
          <p:cNvSpPr txBox="1">
            <a:spLocks noChangeArrowheads="1"/>
          </p:cNvSpPr>
          <p:nvPr/>
        </p:nvSpPr>
        <p:spPr bwMode="auto">
          <a:xfrm>
            <a:off x="6019800" y="24892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间址周期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8" name="Text Box 10"/>
          <p:cNvSpPr txBox="1">
            <a:spLocks noChangeArrowheads="1"/>
          </p:cNvSpPr>
          <p:nvPr/>
        </p:nvSpPr>
        <p:spPr bwMode="auto">
          <a:xfrm>
            <a:off x="6019800" y="31496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执行周期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39" name="Text Box 11"/>
          <p:cNvSpPr txBox="1">
            <a:spLocks noChangeArrowheads="1"/>
          </p:cNvSpPr>
          <p:nvPr/>
        </p:nvSpPr>
        <p:spPr bwMode="auto">
          <a:xfrm>
            <a:off x="6019800" y="3810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中断周期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34579" name="Text Box 51"/>
          <p:cNvSpPr txBox="1">
            <a:spLocks noChangeArrowheads="1"/>
          </p:cNvSpPr>
          <p:nvPr/>
        </p:nvSpPr>
        <p:spPr bwMode="auto">
          <a:xfrm>
            <a:off x="7924800" y="2514600"/>
            <a:ext cx="31242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的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个工作周期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2824163" y="4632325"/>
            <a:ext cx="6391275" cy="1768475"/>
            <a:chOff x="662" y="2966"/>
            <a:chExt cx="4026" cy="1114"/>
          </a:xfrm>
        </p:grpSpPr>
        <p:sp>
          <p:nvSpPr>
            <p:cNvPr id="19470" name="Text Box 13"/>
            <p:cNvSpPr txBox="1">
              <a:spLocks noChangeArrowheads="1"/>
            </p:cNvSpPr>
            <p:nvPr/>
          </p:nvSpPr>
          <p:spPr bwMode="auto">
            <a:xfrm>
              <a:off x="1526" y="2992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FE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71" name="Rectangle 14"/>
            <p:cNvSpPr>
              <a:spLocks noChangeArrowheads="1"/>
            </p:cNvSpPr>
            <p:nvPr/>
          </p:nvSpPr>
          <p:spPr bwMode="auto">
            <a:xfrm>
              <a:off x="1440" y="2966"/>
              <a:ext cx="528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72" name="Text Box 15"/>
            <p:cNvSpPr txBox="1">
              <a:spLocks noChangeArrowheads="1"/>
            </p:cNvSpPr>
            <p:nvPr/>
          </p:nvSpPr>
          <p:spPr bwMode="auto">
            <a:xfrm>
              <a:off x="1440" y="320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473" name="AutoShape 16"/>
            <p:cNvSpPr>
              <a:spLocks noChangeArrowheads="1"/>
            </p:cNvSpPr>
            <p:nvPr/>
          </p:nvSpPr>
          <p:spPr bwMode="auto">
            <a:xfrm>
              <a:off x="1776" y="3302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74" name="Line 17"/>
            <p:cNvSpPr>
              <a:spLocks noChangeShapeType="1"/>
            </p:cNvSpPr>
            <p:nvPr/>
          </p:nvSpPr>
          <p:spPr bwMode="auto">
            <a:xfrm>
              <a:off x="1536" y="339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75" name="Text Box 18"/>
            <p:cNvSpPr txBox="1">
              <a:spLocks noChangeArrowheads="1"/>
            </p:cNvSpPr>
            <p:nvPr/>
          </p:nvSpPr>
          <p:spPr bwMode="auto">
            <a:xfrm>
              <a:off x="2352" y="2992"/>
              <a:ext cx="4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IND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76" name="Rectangle 19"/>
            <p:cNvSpPr>
              <a:spLocks noChangeArrowheads="1"/>
            </p:cNvSpPr>
            <p:nvPr/>
          </p:nvSpPr>
          <p:spPr bwMode="auto">
            <a:xfrm>
              <a:off x="2304" y="2966"/>
              <a:ext cx="528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77" name="Text Box 20"/>
            <p:cNvSpPr txBox="1">
              <a:spLocks noChangeArrowheads="1"/>
            </p:cNvSpPr>
            <p:nvPr/>
          </p:nvSpPr>
          <p:spPr bwMode="auto">
            <a:xfrm>
              <a:off x="2304" y="320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478" name="AutoShape 21"/>
            <p:cNvSpPr>
              <a:spLocks noChangeArrowheads="1"/>
            </p:cNvSpPr>
            <p:nvPr/>
          </p:nvSpPr>
          <p:spPr bwMode="auto">
            <a:xfrm>
              <a:off x="2640" y="3302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79" name="Line 22"/>
            <p:cNvSpPr>
              <a:spLocks noChangeShapeType="1"/>
            </p:cNvSpPr>
            <p:nvPr/>
          </p:nvSpPr>
          <p:spPr bwMode="auto">
            <a:xfrm>
              <a:off x="2400" y="339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0" name="Line 23"/>
            <p:cNvSpPr>
              <a:spLocks noChangeShapeType="1"/>
            </p:cNvSpPr>
            <p:nvPr/>
          </p:nvSpPr>
          <p:spPr bwMode="auto">
            <a:xfrm>
              <a:off x="3264" y="339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1" name="Text Box 24"/>
            <p:cNvSpPr txBox="1">
              <a:spLocks noChangeArrowheads="1"/>
            </p:cNvSpPr>
            <p:nvPr/>
          </p:nvSpPr>
          <p:spPr bwMode="auto">
            <a:xfrm>
              <a:off x="4128" y="2992"/>
              <a:ext cx="4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482" name="Rectangle 25"/>
            <p:cNvSpPr>
              <a:spLocks noChangeArrowheads="1"/>
            </p:cNvSpPr>
            <p:nvPr/>
          </p:nvSpPr>
          <p:spPr bwMode="auto">
            <a:xfrm>
              <a:off x="4080" y="2966"/>
              <a:ext cx="528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83" name="Text Box 26"/>
            <p:cNvSpPr txBox="1">
              <a:spLocks noChangeArrowheads="1"/>
            </p:cNvSpPr>
            <p:nvPr/>
          </p:nvSpPr>
          <p:spPr bwMode="auto">
            <a:xfrm>
              <a:off x="4080" y="320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484" name="AutoShape 27"/>
            <p:cNvSpPr>
              <a:spLocks noChangeArrowheads="1"/>
            </p:cNvSpPr>
            <p:nvPr/>
          </p:nvSpPr>
          <p:spPr bwMode="auto">
            <a:xfrm>
              <a:off x="4416" y="3302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485" name="Line 28"/>
            <p:cNvSpPr>
              <a:spLocks noChangeShapeType="1"/>
            </p:cNvSpPr>
            <p:nvPr/>
          </p:nvSpPr>
          <p:spPr bwMode="auto">
            <a:xfrm>
              <a:off x="4176" y="339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6" name="Freeform 29"/>
            <p:cNvSpPr/>
            <p:nvPr/>
          </p:nvSpPr>
          <p:spPr bwMode="auto">
            <a:xfrm>
              <a:off x="1125" y="3635"/>
              <a:ext cx="3345" cy="3"/>
            </a:xfrm>
            <a:custGeom>
              <a:avLst/>
              <a:gdLst>
                <a:gd name="T0" fmla="*/ 0 w 3345"/>
                <a:gd name="T1" fmla="*/ 3 h 3"/>
                <a:gd name="T2" fmla="*/ 3345 w 334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45" h="3">
                  <a:moveTo>
                    <a:pt x="0" y="3"/>
                  </a:moveTo>
                  <a:lnTo>
                    <a:pt x="3345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7" name="Line 30"/>
            <p:cNvSpPr>
              <a:spLocks noChangeShapeType="1"/>
            </p:cNvSpPr>
            <p:nvPr/>
          </p:nvSpPr>
          <p:spPr bwMode="auto">
            <a:xfrm>
              <a:off x="4464" y="339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8" name="Line 31"/>
            <p:cNvSpPr>
              <a:spLocks noChangeShapeType="1"/>
            </p:cNvSpPr>
            <p:nvPr/>
          </p:nvSpPr>
          <p:spPr bwMode="auto">
            <a:xfrm>
              <a:off x="3552" y="339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9" name="Line 32"/>
            <p:cNvSpPr>
              <a:spLocks noChangeShapeType="1"/>
            </p:cNvSpPr>
            <p:nvPr/>
          </p:nvSpPr>
          <p:spPr bwMode="auto">
            <a:xfrm>
              <a:off x="2688" y="339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0" name="Line 33"/>
            <p:cNvSpPr>
              <a:spLocks noChangeShapeType="1"/>
            </p:cNvSpPr>
            <p:nvPr/>
          </p:nvSpPr>
          <p:spPr bwMode="auto">
            <a:xfrm>
              <a:off x="1824" y="339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1" name="Text Box 34"/>
            <p:cNvSpPr txBox="1">
              <a:spLocks noChangeArrowheads="1"/>
            </p:cNvSpPr>
            <p:nvPr/>
          </p:nvSpPr>
          <p:spPr bwMode="auto">
            <a:xfrm>
              <a:off x="662" y="3566"/>
              <a:ext cx="4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CLK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492" name="Line 35"/>
            <p:cNvSpPr>
              <a:spLocks noChangeShapeType="1"/>
            </p:cNvSpPr>
            <p:nvPr/>
          </p:nvSpPr>
          <p:spPr bwMode="auto">
            <a:xfrm>
              <a:off x="1440" y="392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3" name="Text Box 36"/>
            <p:cNvSpPr txBox="1">
              <a:spLocks noChangeArrowheads="1"/>
            </p:cNvSpPr>
            <p:nvPr/>
          </p:nvSpPr>
          <p:spPr bwMode="auto">
            <a:xfrm>
              <a:off x="1300" y="381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9494" name="Text Box 37"/>
            <p:cNvSpPr txBox="1">
              <a:spLocks noChangeArrowheads="1"/>
            </p:cNvSpPr>
            <p:nvPr/>
          </p:nvSpPr>
          <p:spPr bwMode="auto">
            <a:xfrm>
              <a:off x="1620" y="3815"/>
              <a:ext cx="3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FE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9495" name="Line 38"/>
            <p:cNvSpPr>
              <a:spLocks noChangeShapeType="1"/>
            </p:cNvSpPr>
            <p:nvPr/>
          </p:nvSpPr>
          <p:spPr bwMode="auto">
            <a:xfrm>
              <a:off x="2283" y="3941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6" name="Text Box 39"/>
            <p:cNvSpPr txBox="1">
              <a:spLocks noChangeArrowheads="1"/>
            </p:cNvSpPr>
            <p:nvPr/>
          </p:nvSpPr>
          <p:spPr bwMode="auto">
            <a:xfrm>
              <a:off x="2143" y="383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9497" name="Text Box 40"/>
            <p:cNvSpPr txBox="1">
              <a:spLocks noChangeArrowheads="1"/>
            </p:cNvSpPr>
            <p:nvPr/>
          </p:nvSpPr>
          <p:spPr bwMode="auto">
            <a:xfrm>
              <a:off x="2463" y="3830"/>
              <a:ext cx="4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IND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9498" name="Line 41"/>
            <p:cNvSpPr>
              <a:spLocks noChangeShapeType="1"/>
            </p:cNvSpPr>
            <p:nvPr/>
          </p:nvSpPr>
          <p:spPr bwMode="auto">
            <a:xfrm>
              <a:off x="3147" y="3941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9" name="Text Box 42"/>
            <p:cNvSpPr txBox="1">
              <a:spLocks noChangeArrowheads="1"/>
            </p:cNvSpPr>
            <p:nvPr/>
          </p:nvSpPr>
          <p:spPr bwMode="auto">
            <a:xfrm>
              <a:off x="3007" y="383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9500" name="Text Box 43"/>
            <p:cNvSpPr txBox="1">
              <a:spLocks noChangeArrowheads="1"/>
            </p:cNvSpPr>
            <p:nvPr/>
          </p:nvSpPr>
          <p:spPr bwMode="auto">
            <a:xfrm>
              <a:off x="3327" y="3830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EX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9501" name="Line 44"/>
            <p:cNvSpPr>
              <a:spLocks noChangeShapeType="1"/>
            </p:cNvSpPr>
            <p:nvPr/>
          </p:nvSpPr>
          <p:spPr bwMode="auto">
            <a:xfrm>
              <a:off x="4107" y="3941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02" name="Text Box 45"/>
            <p:cNvSpPr txBox="1">
              <a:spLocks noChangeArrowheads="1"/>
            </p:cNvSpPr>
            <p:nvPr/>
          </p:nvSpPr>
          <p:spPr bwMode="auto">
            <a:xfrm>
              <a:off x="3967" y="383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9503" name="Text Box 46"/>
            <p:cNvSpPr txBox="1">
              <a:spLocks noChangeArrowheads="1"/>
            </p:cNvSpPr>
            <p:nvPr/>
          </p:nvSpPr>
          <p:spPr bwMode="auto">
            <a:xfrm>
              <a:off x="4287" y="3830"/>
              <a:ext cx="4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INT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9504" name="Text Box 47"/>
            <p:cNvSpPr txBox="1">
              <a:spLocks noChangeArrowheads="1"/>
            </p:cNvSpPr>
            <p:nvPr/>
          </p:nvSpPr>
          <p:spPr bwMode="auto">
            <a:xfrm>
              <a:off x="3254" y="2992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EX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05" name="Rectangle 48"/>
            <p:cNvSpPr>
              <a:spLocks noChangeArrowheads="1"/>
            </p:cNvSpPr>
            <p:nvPr/>
          </p:nvSpPr>
          <p:spPr bwMode="auto">
            <a:xfrm>
              <a:off x="3168" y="2966"/>
              <a:ext cx="528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9506" name="Text Box 49"/>
            <p:cNvSpPr txBox="1">
              <a:spLocks noChangeArrowheads="1"/>
            </p:cNvSpPr>
            <p:nvPr/>
          </p:nvSpPr>
          <p:spPr bwMode="auto">
            <a:xfrm>
              <a:off x="3168" y="320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9507" name="AutoShape 50"/>
            <p:cNvSpPr>
              <a:spLocks noChangeArrowheads="1"/>
            </p:cNvSpPr>
            <p:nvPr/>
          </p:nvSpPr>
          <p:spPr bwMode="auto">
            <a:xfrm>
              <a:off x="3504" y="3302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autoUpdateAnimBg="0"/>
      <p:bldP spid="534532" grpId="0" autoUpdateAnimBg="0"/>
      <p:bldP spid="534533" grpId="0" autoUpdateAnimBg="0"/>
      <p:bldP spid="534534" grpId="0" autoUpdateAnimBg="0"/>
      <p:bldP spid="534535" grpId="0" autoUpdateAnimBg="0"/>
      <p:bldP spid="534536" grpId="0" autoUpdateAnimBg="0"/>
      <p:bldP spid="534537" grpId="0" autoUpdateAnimBg="0"/>
      <p:bldP spid="534538" grpId="0" autoUpdateAnimBg="0"/>
      <p:bldP spid="534539" grpId="0" autoUpdateAnimBg="0"/>
      <p:bldP spid="5345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AutoShape 2"/>
          <p:cNvSpPr>
            <a:spLocks noChangeArrowheads="1"/>
          </p:cNvSpPr>
          <p:nvPr/>
        </p:nvSpPr>
        <p:spPr bwMode="auto">
          <a:xfrm rot="10800000">
            <a:off x="4267200" y="5603875"/>
            <a:ext cx="1143000" cy="152400"/>
          </a:xfrm>
          <a:prstGeom prst="rightArrow">
            <a:avLst>
              <a:gd name="adj1" fmla="val 50000"/>
              <a:gd name="adj2" fmla="val 13333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55" name="AutoShape 3"/>
          <p:cNvSpPr>
            <a:spLocks noChangeArrowheads="1"/>
          </p:cNvSpPr>
          <p:nvPr/>
        </p:nvSpPr>
        <p:spPr bwMode="auto">
          <a:xfrm>
            <a:off x="4267200" y="3927475"/>
            <a:ext cx="1143000" cy="152400"/>
          </a:xfrm>
          <a:prstGeom prst="rightArrow">
            <a:avLst>
              <a:gd name="adj1" fmla="val 50000"/>
              <a:gd name="adj2" fmla="val 13333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56" name="AutoShape 4"/>
          <p:cNvSpPr>
            <a:spLocks noChangeArrowheads="1"/>
          </p:cNvSpPr>
          <p:nvPr/>
        </p:nvSpPr>
        <p:spPr bwMode="auto">
          <a:xfrm>
            <a:off x="6400800" y="3927475"/>
            <a:ext cx="609600" cy="152400"/>
          </a:xfrm>
          <a:prstGeom prst="rightArrow">
            <a:avLst>
              <a:gd name="adj1" fmla="val 50000"/>
              <a:gd name="adj2" fmla="val 71111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57" name="AutoShape 5"/>
          <p:cNvSpPr>
            <a:spLocks noChangeArrowheads="1"/>
          </p:cNvSpPr>
          <p:nvPr/>
        </p:nvSpPr>
        <p:spPr bwMode="auto">
          <a:xfrm rot="10800000">
            <a:off x="6400800" y="5562600"/>
            <a:ext cx="1143000" cy="152400"/>
          </a:xfrm>
          <a:prstGeom prst="rightArrow">
            <a:avLst>
              <a:gd name="adj1" fmla="val 50000"/>
              <a:gd name="adj2" fmla="val 13333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58" name="Text Box 6"/>
          <p:cNvSpPr txBox="1">
            <a:spLocks noChangeArrowheads="1"/>
          </p:cNvSpPr>
          <p:nvPr/>
        </p:nvSpPr>
        <p:spPr bwMode="auto">
          <a:xfrm>
            <a:off x="2971800" y="12954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1.  取指周期数据流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209800" y="457200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 指令周期的数据流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35560" name="AutoShape 8"/>
          <p:cNvSpPr>
            <a:spLocks noChangeArrowheads="1"/>
          </p:cNvSpPr>
          <p:nvPr/>
        </p:nvSpPr>
        <p:spPr bwMode="auto">
          <a:xfrm>
            <a:off x="6400800" y="4648200"/>
            <a:ext cx="1676400" cy="152400"/>
          </a:xfrm>
          <a:prstGeom prst="rightArrow">
            <a:avLst>
              <a:gd name="adj1" fmla="val 50000"/>
              <a:gd name="adj2" fmla="val 11458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61" name="AutoShape 9"/>
          <p:cNvSpPr>
            <a:spLocks noChangeArrowheads="1"/>
          </p:cNvSpPr>
          <p:nvPr/>
        </p:nvSpPr>
        <p:spPr bwMode="auto">
          <a:xfrm>
            <a:off x="7162800" y="4432300"/>
            <a:ext cx="1447800" cy="152400"/>
          </a:xfrm>
          <a:prstGeom prst="rightArrow">
            <a:avLst>
              <a:gd name="adj1" fmla="val 50000"/>
              <a:gd name="adj2" fmla="val 12706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62" name="AutoShape 10"/>
          <p:cNvSpPr>
            <a:spLocks noChangeArrowheads="1"/>
          </p:cNvSpPr>
          <p:nvPr/>
        </p:nvSpPr>
        <p:spPr bwMode="auto">
          <a:xfrm rot="10800000">
            <a:off x="7696200" y="4232275"/>
            <a:ext cx="914400" cy="152400"/>
          </a:xfrm>
          <a:prstGeom prst="rightArrow">
            <a:avLst>
              <a:gd name="adj1" fmla="val 50000"/>
              <a:gd name="adj2" fmla="val 106667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5563" name="AutoShape 11"/>
          <p:cNvSpPr>
            <a:spLocks noChangeArrowheads="1"/>
          </p:cNvSpPr>
          <p:nvPr/>
        </p:nvSpPr>
        <p:spPr bwMode="auto">
          <a:xfrm>
            <a:off x="8153400" y="4003675"/>
            <a:ext cx="457200" cy="152400"/>
          </a:xfrm>
          <a:prstGeom prst="rightArrow">
            <a:avLst>
              <a:gd name="adj1" fmla="val 50000"/>
              <a:gd name="adj2" fmla="val 5333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5564" name="Group 12"/>
          <p:cNvGrpSpPr/>
          <p:nvPr/>
        </p:nvGrpSpPr>
        <p:grpSpPr bwMode="auto">
          <a:xfrm>
            <a:off x="5410200" y="5451475"/>
            <a:ext cx="990600" cy="457200"/>
            <a:chOff x="2448" y="3434"/>
            <a:chExt cx="624" cy="288"/>
          </a:xfrm>
        </p:grpSpPr>
        <p:sp>
          <p:nvSpPr>
            <p:cNvPr id="20519" name="Text Box 13"/>
            <p:cNvSpPr txBox="1">
              <a:spLocks noChangeArrowheads="1"/>
            </p:cNvSpPr>
            <p:nvPr/>
          </p:nvSpPr>
          <p:spPr bwMode="auto">
            <a:xfrm>
              <a:off x="2534" y="3443"/>
              <a:ext cx="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MDR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20" name="Rectangle 14"/>
            <p:cNvSpPr>
              <a:spLocks noChangeArrowheads="1"/>
            </p:cNvSpPr>
            <p:nvPr/>
          </p:nvSpPr>
          <p:spPr bwMode="auto">
            <a:xfrm>
              <a:off x="2448" y="3434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sp>
        <p:nvSpPr>
          <p:cNvPr id="535567" name="Rectangle 15"/>
          <p:cNvSpPr>
            <a:spLocks noChangeArrowheads="1"/>
          </p:cNvSpPr>
          <p:nvPr/>
        </p:nvSpPr>
        <p:spPr bwMode="auto">
          <a:xfrm>
            <a:off x="5410200" y="4537075"/>
            <a:ext cx="990600" cy="457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CU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35568" name="Rectangle 16"/>
          <p:cNvSpPr>
            <a:spLocks noChangeArrowheads="1"/>
          </p:cNvSpPr>
          <p:nvPr/>
        </p:nvSpPr>
        <p:spPr bwMode="auto">
          <a:xfrm>
            <a:off x="5410200" y="3810000"/>
            <a:ext cx="990600" cy="457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MAR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35569" name="Rectangle 17"/>
          <p:cNvSpPr>
            <a:spLocks noChangeArrowheads="1"/>
          </p:cNvSpPr>
          <p:nvPr/>
        </p:nvSpPr>
        <p:spPr bwMode="auto">
          <a:xfrm>
            <a:off x="3276600" y="3775075"/>
            <a:ext cx="990600" cy="457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PC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535570" name="Group 18"/>
          <p:cNvGrpSpPr/>
          <p:nvPr/>
        </p:nvGrpSpPr>
        <p:grpSpPr bwMode="auto">
          <a:xfrm>
            <a:off x="3276600" y="5451475"/>
            <a:ext cx="990600" cy="457200"/>
            <a:chOff x="1104" y="3434"/>
            <a:chExt cx="624" cy="288"/>
          </a:xfrm>
        </p:grpSpPr>
        <p:sp>
          <p:nvSpPr>
            <p:cNvPr id="20517" name="Rectangle 19"/>
            <p:cNvSpPr>
              <a:spLocks noChangeArrowheads="1"/>
            </p:cNvSpPr>
            <p:nvPr/>
          </p:nvSpPr>
          <p:spPr bwMode="auto">
            <a:xfrm>
              <a:off x="1104" y="3434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18" name="Text Box 20"/>
            <p:cNvSpPr txBox="1">
              <a:spLocks noChangeArrowheads="1"/>
            </p:cNvSpPr>
            <p:nvPr/>
          </p:nvSpPr>
          <p:spPr bwMode="auto">
            <a:xfrm>
              <a:off x="1290" y="3443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5573" name="Group 21"/>
          <p:cNvGrpSpPr/>
          <p:nvPr/>
        </p:nvGrpSpPr>
        <p:grpSpPr bwMode="auto">
          <a:xfrm>
            <a:off x="2971800" y="2209800"/>
            <a:ext cx="6934200" cy="3851275"/>
            <a:chOff x="912" y="1392"/>
            <a:chExt cx="4368" cy="2426"/>
          </a:xfrm>
        </p:grpSpPr>
        <p:sp>
          <p:nvSpPr>
            <p:cNvPr id="20508" name="Rectangle 22"/>
            <p:cNvSpPr>
              <a:spLocks noChangeArrowheads="1"/>
            </p:cNvSpPr>
            <p:nvPr/>
          </p:nvSpPr>
          <p:spPr bwMode="auto">
            <a:xfrm>
              <a:off x="912" y="2090"/>
              <a:ext cx="2352" cy="17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09" name="Rectangle 23"/>
            <p:cNvSpPr>
              <a:spLocks noChangeArrowheads="1"/>
            </p:cNvSpPr>
            <p:nvPr/>
          </p:nvSpPr>
          <p:spPr bwMode="auto">
            <a:xfrm>
              <a:off x="3456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10" name="Rectangle 24"/>
            <p:cNvSpPr>
              <a:spLocks noChangeArrowheads="1"/>
            </p:cNvSpPr>
            <p:nvPr/>
          </p:nvSpPr>
          <p:spPr bwMode="auto">
            <a:xfrm>
              <a:off x="3792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11" name="Rectangle 25"/>
            <p:cNvSpPr>
              <a:spLocks noChangeArrowheads="1"/>
            </p:cNvSpPr>
            <p:nvPr/>
          </p:nvSpPr>
          <p:spPr bwMode="auto">
            <a:xfrm>
              <a:off x="4128" y="209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12" name="Rectangle 26"/>
            <p:cNvSpPr>
              <a:spLocks noChangeArrowheads="1"/>
            </p:cNvSpPr>
            <p:nvPr/>
          </p:nvSpPr>
          <p:spPr bwMode="auto">
            <a:xfrm>
              <a:off x="4464" y="2463"/>
              <a:ext cx="816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3" name="Text Box 27"/>
            <p:cNvSpPr txBox="1">
              <a:spLocks noChangeArrowheads="1"/>
            </p:cNvSpPr>
            <p:nvPr/>
          </p:nvSpPr>
          <p:spPr bwMode="auto">
            <a:xfrm>
              <a:off x="1718" y="1850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514" name="Text Box 28"/>
            <p:cNvSpPr txBox="1">
              <a:spLocks noChangeArrowheads="1"/>
            </p:cNvSpPr>
            <p:nvPr/>
          </p:nvSpPr>
          <p:spPr bwMode="auto">
            <a:xfrm>
              <a:off x="3338" y="139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5" name="Text Box 29"/>
            <p:cNvSpPr txBox="1">
              <a:spLocks noChangeArrowheads="1"/>
            </p:cNvSpPr>
            <p:nvPr/>
          </p:nvSpPr>
          <p:spPr bwMode="auto">
            <a:xfrm>
              <a:off x="3674" y="139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数据总线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516" name="Text Box 30"/>
            <p:cNvSpPr txBox="1">
              <a:spLocks noChangeArrowheads="1"/>
            </p:cNvSpPr>
            <p:nvPr/>
          </p:nvSpPr>
          <p:spPr bwMode="auto">
            <a:xfrm>
              <a:off x="4058" y="139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控制总线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5583" name="Group 31"/>
          <p:cNvGrpSpPr/>
          <p:nvPr/>
        </p:nvGrpSpPr>
        <p:grpSpPr bwMode="auto">
          <a:xfrm>
            <a:off x="3276600" y="5443538"/>
            <a:ext cx="990600" cy="457200"/>
            <a:chOff x="1104" y="3423"/>
            <a:chExt cx="624" cy="288"/>
          </a:xfrm>
        </p:grpSpPr>
        <p:sp>
          <p:nvSpPr>
            <p:cNvPr id="20506" name="Rectangle 32"/>
            <p:cNvSpPr>
              <a:spLocks noChangeArrowheads="1"/>
            </p:cNvSpPr>
            <p:nvPr/>
          </p:nvSpPr>
          <p:spPr bwMode="auto">
            <a:xfrm>
              <a:off x="1104" y="3423"/>
              <a:ext cx="624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0507" name="Text Box 33"/>
            <p:cNvSpPr txBox="1">
              <a:spLocks noChangeArrowheads="1"/>
            </p:cNvSpPr>
            <p:nvPr/>
          </p:nvSpPr>
          <p:spPr bwMode="auto">
            <a:xfrm>
              <a:off x="1290" y="3446"/>
              <a:ext cx="300" cy="25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5586" name="Group 34"/>
          <p:cNvGrpSpPr/>
          <p:nvPr/>
        </p:nvGrpSpPr>
        <p:grpSpPr bwMode="auto">
          <a:xfrm>
            <a:off x="3783013" y="4235450"/>
            <a:ext cx="2209800" cy="914400"/>
            <a:chOff x="1440" y="2640"/>
            <a:chExt cx="1392" cy="576"/>
          </a:xfrm>
        </p:grpSpPr>
        <p:grpSp>
          <p:nvGrpSpPr>
            <p:cNvPr id="20500" name="Group 35"/>
            <p:cNvGrpSpPr/>
            <p:nvPr/>
          </p:nvGrpSpPr>
          <p:grpSpPr bwMode="auto">
            <a:xfrm>
              <a:off x="1440" y="2640"/>
              <a:ext cx="1392" cy="576"/>
              <a:chOff x="1440" y="2640"/>
              <a:chExt cx="1392" cy="576"/>
            </a:xfrm>
          </p:grpSpPr>
          <p:grpSp>
            <p:nvGrpSpPr>
              <p:cNvPr id="20502" name="Group 36"/>
              <p:cNvGrpSpPr/>
              <p:nvPr/>
            </p:nvGrpSpPr>
            <p:grpSpPr bwMode="auto">
              <a:xfrm>
                <a:off x="1440" y="2640"/>
                <a:ext cx="1008" cy="336"/>
                <a:chOff x="1440" y="2666"/>
                <a:chExt cx="1008" cy="336"/>
              </a:xfrm>
            </p:grpSpPr>
            <p:sp>
              <p:nvSpPr>
                <p:cNvPr id="20504" name="Rectangle 37"/>
                <p:cNvSpPr>
                  <a:spLocks noChangeArrowheads="1"/>
                </p:cNvSpPr>
                <p:nvPr/>
              </p:nvSpPr>
              <p:spPr bwMode="auto">
                <a:xfrm>
                  <a:off x="1488" y="2954"/>
                  <a:ext cx="960" cy="48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bg2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2000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20505" name="AutoShape 38"/>
                <p:cNvSpPr>
                  <a:spLocks noChangeArrowheads="1"/>
                </p:cNvSpPr>
                <p:nvPr/>
              </p:nvSpPr>
              <p:spPr bwMode="auto">
                <a:xfrm>
                  <a:off x="1440" y="2666"/>
                  <a:ext cx="96" cy="336"/>
                </a:xfrm>
                <a:prstGeom prst="upArrow">
                  <a:avLst>
                    <a:gd name="adj1" fmla="val 50000"/>
                    <a:gd name="adj2" fmla="val 87500"/>
                  </a:avLst>
                </a:prstGeom>
                <a:solidFill>
                  <a:schemeClr val="folHlink"/>
                </a:solidFill>
                <a:ln w="9525">
                  <a:solidFill>
                    <a:schemeClr val="bg2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2000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20503" name="Text Box 39"/>
              <p:cNvSpPr txBox="1">
                <a:spLocks noChangeArrowheads="1"/>
              </p:cNvSpPr>
              <p:nvPr/>
            </p:nvSpPr>
            <p:spPr bwMode="auto">
              <a:xfrm>
                <a:off x="1824" y="2966"/>
                <a:ext cx="100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+1      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01" name="Rectangle 40"/>
            <p:cNvSpPr>
              <a:spLocks noChangeArrowheads="1"/>
            </p:cNvSpPr>
            <p:nvPr/>
          </p:nvSpPr>
          <p:spPr bwMode="auto">
            <a:xfrm rot="5400000">
              <a:off x="1502" y="2938"/>
              <a:ext cx="34" cy="23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3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3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3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53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5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53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53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53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53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53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5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53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5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4" grpId="0" animBg="1" autoUpdateAnimBg="0"/>
      <p:bldP spid="535555" grpId="0" animBg="1" autoUpdateAnimBg="0"/>
      <p:bldP spid="535556" grpId="0" animBg="1" autoUpdateAnimBg="0"/>
      <p:bldP spid="535557" grpId="0" animBg="1" autoUpdateAnimBg="0"/>
      <p:bldP spid="535558" grpId="0" autoUpdateAnimBg="0"/>
      <p:bldP spid="535560" grpId="0" animBg="1" autoUpdateAnimBg="0"/>
      <p:bldP spid="535561" grpId="0" animBg="1" autoUpdateAnimBg="0"/>
      <p:bldP spid="535562" grpId="0" animBg="1" autoUpdateAnimBg="0"/>
      <p:bldP spid="535563" grpId="0" animBg="1" autoUpdateAnimBg="0"/>
      <p:bldP spid="535567" grpId="0" animBg="1" autoUpdateAnimBg="0"/>
      <p:bldP spid="535568" grpId="0" animBg="1" autoUpdateAnimBg="0"/>
      <p:bldP spid="535569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667000" y="6096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间址周期数据流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36579" name="AutoShape 3"/>
          <p:cNvSpPr>
            <a:spLocks noChangeArrowheads="1"/>
          </p:cNvSpPr>
          <p:nvPr/>
        </p:nvSpPr>
        <p:spPr bwMode="auto">
          <a:xfrm rot="10800000">
            <a:off x="7848600" y="3962400"/>
            <a:ext cx="914400" cy="152400"/>
          </a:xfrm>
          <a:prstGeom prst="rightArrow">
            <a:avLst>
              <a:gd name="adj1" fmla="val 50000"/>
              <a:gd name="adj2" fmla="val 106667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6580" name="AutoShape 4"/>
          <p:cNvSpPr>
            <a:spLocks noChangeArrowheads="1"/>
          </p:cNvSpPr>
          <p:nvPr/>
        </p:nvSpPr>
        <p:spPr bwMode="auto">
          <a:xfrm>
            <a:off x="6553200" y="4419600"/>
            <a:ext cx="1676400" cy="152400"/>
          </a:xfrm>
          <a:prstGeom prst="rightArrow">
            <a:avLst>
              <a:gd name="adj1" fmla="val 50000"/>
              <a:gd name="adj2" fmla="val 11458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6581" name="AutoShape 5"/>
          <p:cNvSpPr>
            <a:spLocks noChangeArrowheads="1"/>
          </p:cNvSpPr>
          <p:nvPr/>
        </p:nvSpPr>
        <p:spPr bwMode="auto">
          <a:xfrm>
            <a:off x="6553200" y="3622675"/>
            <a:ext cx="609600" cy="152400"/>
          </a:xfrm>
          <a:prstGeom prst="rightArrow">
            <a:avLst>
              <a:gd name="adj1" fmla="val 50000"/>
              <a:gd name="adj2" fmla="val 71111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6582" name="Group 6"/>
          <p:cNvGrpSpPr/>
          <p:nvPr/>
        </p:nvGrpSpPr>
        <p:grpSpPr bwMode="auto">
          <a:xfrm>
            <a:off x="7277100" y="4156075"/>
            <a:ext cx="1485900" cy="152400"/>
            <a:chOff x="3624" y="2618"/>
            <a:chExt cx="936" cy="96"/>
          </a:xfrm>
        </p:grpSpPr>
        <p:sp>
          <p:nvSpPr>
            <p:cNvPr id="21543" name="AutoShape 7"/>
            <p:cNvSpPr>
              <a:spLocks noChangeArrowheads="1"/>
            </p:cNvSpPr>
            <p:nvPr/>
          </p:nvSpPr>
          <p:spPr bwMode="auto">
            <a:xfrm>
              <a:off x="3648" y="2618"/>
              <a:ext cx="912" cy="96"/>
            </a:xfrm>
            <a:prstGeom prst="rightArrow">
              <a:avLst>
                <a:gd name="adj1" fmla="val 50000"/>
                <a:gd name="adj2" fmla="val 12706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44" name="Rectangle 8"/>
            <p:cNvSpPr>
              <a:spLocks noChangeArrowheads="1"/>
            </p:cNvSpPr>
            <p:nvPr/>
          </p:nvSpPr>
          <p:spPr bwMode="auto">
            <a:xfrm rot="5400000">
              <a:off x="3633" y="2641"/>
              <a:ext cx="27" cy="4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36585" name="Group 9"/>
          <p:cNvGrpSpPr/>
          <p:nvPr/>
        </p:nvGrpSpPr>
        <p:grpSpPr bwMode="auto">
          <a:xfrm>
            <a:off x="6553200" y="5299075"/>
            <a:ext cx="1195388" cy="152400"/>
            <a:chOff x="3168" y="3338"/>
            <a:chExt cx="753" cy="96"/>
          </a:xfrm>
        </p:grpSpPr>
        <p:sp>
          <p:nvSpPr>
            <p:cNvPr id="21541" name="AutoShape 10"/>
            <p:cNvSpPr>
              <a:spLocks noChangeArrowheads="1"/>
            </p:cNvSpPr>
            <p:nvPr/>
          </p:nvSpPr>
          <p:spPr bwMode="auto">
            <a:xfrm rot="10800000">
              <a:off x="3168" y="3338"/>
              <a:ext cx="720" cy="96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42" name="Rectangle 11"/>
            <p:cNvSpPr>
              <a:spLocks noChangeArrowheads="1"/>
            </p:cNvSpPr>
            <p:nvPr/>
          </p:nvSpPr>
          <p:spPr bwMode="auto">
            <a:xfrm rot="5400000">
              <a:off x="3885" y="3364"/>
              <a:ext cx="27" cy="4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36588" name="Group 12"/>
          <p:cNvGrpSpPr/>
          <p:nvPr/>
        </p:nvGrpSpPr>
        <p:grpSpPr bwMode="auto">
          <a:xfrm>
            <a:off x="4572000" y="3622675"/>
            <a:ext cx="990600" cy="1752600"/>
            <a:chOff x="1920" y="2282"/>
            <a:chExt cx="624" cy="1104"/>
          </a:xfrm>
        </p:grpSpPr>
        <p:sp>
          <p:nvSpPr>
            <p:cNvPr id="21536" name="AutoShape 13"/>
            <p:cNvSpPr>
              <a:spLocks noChangeArrowheads="1"/>
            </p:cNvSpPr>
            <p:nvPr/>
          </p:nvSpPr>
          <p:spPr bwMode="auto">
            <a:xfrm>
              <a:off x="1920" y="2282"/>
              <a:ext cx="624" cy="96"/>
            </a:xfrm>
            <a:prstGeom prst="rightArrow">
              <a:avLst>
                <a:gd name="adj1" fmla="val 50000"/>
                <a:gd name="adj2" fmla="val 115556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37" name="Rectangle 14"/>
            <p:cNvSpPr>
              <a:spLocks noChangeArrowheads="1"/>
            </p:cNvSpPr>
            <p:nvPr/>
          </p:nvSpPr>
          <p:spPr bwMode="auto">
            <a:xfrm>
              <a:off x="1920" y="3338"/>
              <a:ext cx="624" cy="4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38" name="Rectangle 15"/>
            <p:cNvSpPr>
              <a:spLocks noChangeArrowheads="1"/>
            </p:cNvSpPr>
            <p:nvPr/>
          </p:nvSpPr>
          <p:spPr bwMode="auto">
            <a:xfrm>
              <a:off x="1920" y="2330"/>
              <a:ext cx="48" cy="105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39" name="Rectangle 16"/>
            <p:cNvSpPr>
              <a:spLocks noChangeArrowheads="1"/>
            </p:cNvSpPr>
            <p:nvPr/>
          </p:nvSpPr>
          <p:spPr bwMode="auto">
            <a:xfrm rot="5400000">
              <a:off x="1934" y="3348"/>
              <a:ext cx="34" cy="3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40" name="Rectangle 17"/>
            <p:cNvSpPr>
              <a:spLocks noChangeArrowheads="1"/>
            </p:cNvSpPr>
            <p:nvPr/>
          </p:nvSpPr>
          <p:spPr bwMode="auto">
            <a:xfrm>
              <a:off x="1926" y="2312"/>
              <a:ext cx="79" cy="3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36594" name="Group 18"/>
          <p:cNvGrpSpPr/>
          <p:nvPr/>
        </p:nvGrpSpPr>
        <p:grpSpPr bwMode="auto">
          <a:xfrm>
            <a:off x="8291513" y="3733800"/>
            <a:ext cx="471487" cy="152400"/>
            <a:chOff x="4263" y="2352"/>
            <a:chExt cx="297" cy="96"/>
          </a:xfrm>
        </p:grpSpPr>
        <p:sp>
          <p:nvSpPr>
            <p:cNvPr id="21534" name="AutoShape 19"/>
            <p:cNvSpPr>
              <a:spLocks noChangeArrowheads="1"/>
            </p:cNvSpPr>
            <p:nvPr/>
          </p:nvSpPr>
          <p:spPr bwMode="auto">
            <a:xfrm>
              <a:off x="4272" y="2352"/>
              <a:ext cx="288" cy="96"/>
            </a:xfrm>
            <a:prstGeom prst="rightArrow">
              <a:avLst>
                <a:gd name="adj1" fmla="val 50000"/>
                <a:gd name="adj2" fmla="val 5333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35" name="Rectangle 20"/>
            <p:cNvSpPr>
              <a:spLocks noChangeArrowheads="1"/>
            </p:cNvSpPr>
            <p:nvPr/>
          </p:nvSpPr>
          <p:spPr bwMode="auto">
            <a:xfrm>
              <a:off x="4263" y="2372"/>
              <a:ext cx="45" cy="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36597" name="Group 21"/>
          <p:cNvGrpSpPr/>
          <p:nvPr/>
        </p:nvGrpSpPr>
        <p:grpSpPr bwMode="auto">
          <a:xfrm>
            <a:off x="3124200" y="1924050"/>
            <a:ext cx="6934200" cy="3851275"/>
            <a:chOff x="1008" y="1212"/>
            <a:chExt cx="4368" cy="2426"/>
          </a:xfrm>
        </p:grpSpPr>
        <p:sp>
          <p:nvSpPr>
            <p:cNvPr id="21518" name="Text Box 22"/>
            <p:cNvSpPr txBox="1">
              <a:spLocks noChangeArrowheads="1"/>
            </p:cNvSpPr>
            <p:nvPr/>
          </p:nvSpPr>
          <p:spPr bwMode="auto">
            <a:xfrm>
              <a:off x="2630" y="3263"/>
              <a:ext cx="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MDR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19" name="Rectangle 23"/>
            <p:cNvSpPr>
              <a:spLocks noChangeArrowheads="1"/>
            </p:cNvSpPr>
            <p:nvPr/>
          </p:nvSpPr>
          <p:spPr bwMode="auto">
            <a:xfrm>
              <a:off x="2544" y="3254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20" name="Rectangle 24"/>
            <p:cNvSpPr>
              <a:spLocks noChangeArrowheads="1"/>
            </p:cNvSpPr>
            <p:nvPr/>
          </p:nvSpPr>
          <p:spPr bwMode="auto">
            <a:xfrm>
              <a:off x="2544" y="2678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21" name="Rectangle 25"/>
            <p:cNvSpPr>
              <a:spLocks noChangeArrowheads="1"/>
            </p:cNvSpPr>
            <p:nvPr/>
          </p:nvSpPr>
          <p:spPr bwMode="auto">
            <a:xfrm>
              <a:off x="2544" y="2198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MAR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22" name="Rectangle 26"/>
            <p:cNvSpPr>
              <a:spLocks noChangeArrowheads="1"/>
            </p:cNvSpPr>
            <p:nvPr/>
          </p:nvSpPr>
          <p:spPr bwMode="auto">
            <a:xfrm>
              <a:off x="3552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23" name="Rectangle 27"/>
            <p:cNvSpPr>
              <a:spLocks noChangeArrowheads="1"/>
            </p:cNvSpPr>
            <p:nvPr/>
          </p:nvSpPr>
          <p:spPr bwMode="auto">
            <a:xfrm>
              <a:off x="3888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24" name="Rectangle 28"/>
            <p:cNvSpPr>
              <a:spLocks noChangeArrowheads="1"/>
            </p:cNvSpPr>
            <p:nvPr/>
          </p:nvSpPr>
          <p:spPr bwMode="auto">
            <a:xfrm>
              <a:off x="4224" y="1910"/>
              <a:ext cx="96" cy="168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25" name="Rectangle 29"/>
            <p:cNvSpPr>
              <a:spLocks noChangeArrowheads="1"/>
            </p:cNvSpPr>
            <p:nvPr/>
          </p:nvSpPr>
          <p:spPr bwMode="auto">
            <a:xfrm>
              <a:off x="1008" y="1910"/>
              <a:ext cx="2352" cy="17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26" name="Text Box 30"/>
            <p:cNvSpPr txBox="1">
              <a:spLocks noChangeArrowheads="1"/>
            </p:cNvSpPr>
            <p:nvPr/>
          </p:nvSpPr>
          <p:spPr bwMode="auto">
            <a:xfrm>
              <a:off x="1814" y="1670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27" name="Text Box 31"/>
            <p:cNvSpPr txBox="1">
              <a:spLocks noChangeArrowheads="1"/>
            </p:cNvSpPr>
            <p:nvPr/>
          </p:nvSpPr>
          <p:spPr bwMode="auto">
            <a:xfrm>
              <a:off x="3434" y="121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528" name="Text Box 32"/>
            <p:cNvSpPr txBox="1">
              <a:spLocks noChangeArrowheads="1"/>
            </p:cNvSpPr>
            <p:nvPr/>
          </p:nvSpPr>
          <p:spPr bwMode="auto">
            <a:xfrm>
              <a:off x="3770" y="121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数据总线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529" name="Text Box 33"/>
            <p:cNvSpPr txBox="1">
              <a:spLocks noChangeArrowheads="1"/>
            </p:cNvSpPr>
            <p:nvPr/>
          </p:nvSpPr>
          <p:spPr bwMode="auto">
            <a:xfrm>
              <a:off x="4154" y="1212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控制总线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530" name="Rectangle 34"/>
            <p:cNvSpPr>
              <a:spLocks noChangeArrowheads="1"/>
            </p:cNvSpPr>
            <p:nvPr/>
          </p:nvSpPr>
          <p:spPr bwMode="auto">
            <a:xfrm>
              <a:off x="1152" y="2198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PC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31" name="Rectangle 35"/>
            <p:cNvSpPr>
              <a:spLocks noChangeArrowheads="1"/>
            </p:cNvSpPr>
            <p:nvPr/>
          </p:nvSpPr>
          <p:spPr bwMode="auto">
            <a:xfrm>
              <a:off x="1152" y="3254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32" name="Text Box 36"/>
            <p:cNvSpPr txBox="1">
              <a:spLocks noChangeArrowheads="1"/>
            </p:cNvSpPr>
            <p:nvPr/>
          </p:nvSpPr>
          <p:spPr bwMode="auto">
            <a:xfrm>
              <a:off x="1338" y="326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IR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1533" name="Rectangle 37"/>
            <p:cNvSpPr>
              <a:spLocks noChangeArrowheads="1"/>
            </p:cNvSpPr>
            <p:nvPr/>
          </p:nvSpPr>
          <p:spPr bwMode="auto">
            <a:xfrm>
              <a:off x="4560" y="2268"/>
              <a:ext cx="816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6614" name="Group 38"/>
          <p:cNvGrpSpPr/>
          <p:nvPr/>
        </p:nvGrpSpPr>
        <p:grpSpPr bwMode="auto">
          <a:xfrm>
            <a:off x="5562600" y="5170488"/>
            <a:ext cx="990600" cy="457200"/>
            <a:chOff x="2544" y="3264"/>
            <a:chExt cx="624" cy="288"/>
          </a:xfrm>
        </p:grpSpPr>
        <p:sp>
          <p:nvSpPr>
            <p:cNvPr id="21516" name="Rectangle 39"/>
            <p:cNvSpPr>
              <a:spLocks noChangeArrowheads="1"/>
            </p:cNvSpPr>
            <p:nvPr/>
          </p:nvSpPr>
          <p:spPr bwMode="auto">
            <a:xfrm>
              <a:off x="2544" y="3264"/>
              <a:ext cx="624" cy="28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21517" name="Text Box 40"/>
            <p:cNvSpPr txBox="1">
              <a:spLocks noChangeArrowheads="1"/>
            </p:cNvSpPr>
            <p:nvPr/>
          </p:nvSpPr>
          <p:spPr bwMode="auto">
            <a:xfrm>
              <a:off x="2621" y="3264"/>
              <a:ext cx="505" cy="25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3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53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53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5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53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53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5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53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79" grpId="0" animBg="1" autoUpdateAnimBg="0"/>
      <p:bldP spid="536580" grpId="0" animBg="1" autoUpdateAnimBg="0"/>
      <p:bldP spid="53658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8"/>
          <p:cNvSpPr txBox="1">
            <a:spLocks noChangeArrowheads="1"/>
          </p:cNvSpPr>
          <p:nvPr/>
        </p:nvSpPr>
        <p:spPr bwMode="auto">
          <a:xfrm>
            <a:off x="2133600" y="4572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3.  执行周期数据流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537609" name="Text Box 9"/>
          <p:cNvSpPr txBox="1">
            <a:spLocks noChangeArrowheads="1"/>
          </p:cNvSpPr>
          <p:nvPr/>
        </p:nvSpPr>
        <p:spPr bwMode="auto">
          <a:xfrm>
            <a:off x="2133600" y="1935163"/>
            <a:ext cx="5715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4 . 中断周期数据流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37610" name="Text Box 10"/>
          <p:cNvSpPr txBox="1">
            <a:spLocks noChangeArrowheads="1"/>
          </p:cNvSpPr>
          <p:nvPr/>
        </p:nvSpPr>
        <p:spPr bwMode="auto">
          <a:xfrm>
            <a:off x="2667000" y="1127125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不同指令的执行周期数据流不同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6011863" y="4354513"/>
            <a:ext cx="609600" cy="152400"/>
          </a:xfrm>
          <a:prstGeom prst="rightArrow">
            <a:avLst>
              <a:gd name="adj1" fmla="val 50000"/>
              <a:gd name="adj2" fmla="val 71111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3481388" y="4670425"/>
            <a:ext cx="1524000" cy="1487488"/>
            <a:chOff x="1584" y="2935"/>
            <a:chExt cx="960" cy="937"/>
          </a:xfrm>
        </p:grpSpPr>
        <p:sp>
          <p:nvSpPr>
            <p:cNvPr id="22565" name="Rectangle 4"/>
            <p:cNvSpPr>
              <a:spLocks noChangeArrowheads="1"/>
            </p:cNvSpPr>
            <p:nvPr/>
          </p:nvSpPr>
          <p:spPr bwMode="auto">
            <a:xfrm>
              <a:off x="1584" y="2935"/>
              <a:ext cx="48" cy="91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22566" name="AutoShape 5"/>
            <p:cNvSpPr>
              <a:spLocks noChangeArrowheads="1"/>
            </p:cNvSpPr>
            <p:nvPr/>
          </p:nvSpPr>
          <p:spPr bwMode="auto">
            <a:xfrm>
              <a:off x="1632" y="3776"/>
              <a:ext cx="912" cy="96"/>
            </a:xfrm>
            <a:prstGeom prst="rightArrow">
              <a:avLst>
                <a:gd name="adj1" fmla="val 50000"/>
                <a:gd name="adj2" fmla="val 168889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67" name="Rectangle 6"/>
            <p:cNvSpPr>
              <a:spLocks noChangeArrowheads="1"/>
            </p:cNvSpPr>
            <p:nvPr/>
          </p:nvSpPr>
          <p:spPr bwMode="auto">
            <a:xfrm rot="5400000">
              <a:off x="1631" y="3794"/>
              <a:ext cx="34" cy="5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</p:grp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011863" y="6030913"/>
            <a:ext cx="1127125" cy="152400"/>
          </a:xfrm>
          <a:prstGeom prst="rightArrow">
            <a:avLst>
              <a:gd name="adj1" fmla="val 50000"/>
              <a:gd name="adj2" fmla="val 131481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11"/>
          <p:cNvSpPr>
            <a:spLocks noChangeArrowheads="1"/>
          </p:cNvSpPr>
          <p:nvPr/>
        </p:nvSpPr>
        <p:spPr bwMode="auto">
          <a:xfrm>
            <a:off x="7291388" y="4694238"/>
            <a:ext cx="914400" cy="152400"/>
          </a:xfrm>
          <a:prstGeom prst="rightArrow">
            <a:avLst>
              <a:gd name="adj1" fmla="val 50000"/>
              <a:gd name="adj2" fmla="val 106667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5995988" y="5116513"/>
            <a:ext cx="1676400" cy="152400"/>
          </a:xfrm>
          <a:prstGeom prst="rightArrow">
            <a:avLst>
              <a:gd name="adj1" fmla="val 50000"/>
              <a:gd name="adj2" fmla="val 114583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13"/>
          <p:cNvGrpSpPr/>
          <p:nvPr/>
        </p:nvGrpSpPr>
        <p:grpSpPr bwMode="auto">
          <a:xfrm>
            <a:off x="6719888" y="4887913"/>
            <a:ext cx="1485900" cy="152400"/>
            <a:chOff x="3624" y="3072"/>
            <a:chExt cx="936" cy="96"/>
          </a:xfrm>
        </p:grpSpPr>
        <p:sp>
          <p:nvSpPr>
            <p:cNvPr id="22563" name="AutoShape 14"/>
            <p:cNvSpPr>
              <a:spLocks noChangeArrowheads="1"/>
            </p:cNvSpPr>
            <p:nvPr/>
          </p:nvSpPr>
          <p:spPr bwMode="auto">
            <a:xfrm>
              <a:off x="3648" y="3072"/>
              <a:ext cx="912" cy="96"/>
            </a:xfrm>
            <a:prstGeom prst="rightArrow">
              <a:avLst>
                <a:gd name="adj1" fmla="val 50000"/>
                <a:gd name="adj2" fmla="val 12706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64" name="Rectangle 15"/>
            <p:cNvSpPr>
              <a:spLocks noChangeArrowheads="1"/>
            </p:cNvSpPr>
            <p:nvPr/>
          </p:nvSpPr>
          <p:spPr bwMode="auto">
            <a:xfrm rot="5400000">
              <a:off x="3633" y="3095"/>
              <a:ext cx="27" cy="4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</p:grpSp>
      <p:grpSp>
        <p:nvGrpSpPr>
          <p:cNvPr id="13" name="Group 16"/>
          <p:cNvGrpSpPr/>
          <p:nvPr/>
        </p:nvGrpSpPr>
        <p:grpSpPr bwMode="auto">
          <a:xfrm>
            <a:off x="3736975" y="4659313"/>
            <a:ext cx="1255713" cy="609600"/>
            <a:chOff x="1745" y="2928"/>
            <a:chExt cx="791" cy="384"/>
          </a:xfrm>
        </p:grpSpPr>
        <p:sp>
          <p:nvSpPr>
            <p:cNvPr id="22560" name="AutoShape 17"/>
            <p:cNvSpPr>
              <a:spLocks noChangeArrowheads="1"/>
            </p:cNvSpPr>
            <p:nvPr/>
          </p:nvSpPr>
          <p:spPr bwMode="auto">
            <a:xfrm>
              <a:off x="1745" y="2928"/>
              <a:ext cx="79" cy="384"/>
            </a:xfrm>
            <a:prstGeom prst="upArrow">
              <a:avLst>
                <a:gd name="adj1" fmla="val 50000"/>
                <a:gd name="adj2" fmla="val 121519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22561" name="Rectangle 18"/>
            <p:cNvSpPr>
              <a:spLocks noChangeArrowheads="1"/>
            </p:cNvSpPr>
            <p:nvPr/>
          </p:nvSpPr>
          <p:spPr bwMode="auto">
            <a:xfrm>
              <a:off x="1790" y="3264"/>
              <a:ext cx="746" cy="4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22562" name="Rectangle 19"/>
            <p:cNvSpPr>
              <a:spLocks noChangeArrowheads="1"/>
            </p:cNvSpPr>
            <p:nvPr/>
          </p:nvSpPr>
          <p:spPr bwMode="auto">
            <a:xfrm rot="5400000">
              <a:off x="1769" y="3262"/>
              <a:ext cx="45" cy="4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</p:grpSp>
      <p:sp>
        <p:nvSpPr>
          <p:cNvPr id="17" name="AutoShape 20"/>
          <p:cNvSpPr>
            <a:spLocks noChangeArrowheads="1"/>
          </p:cNvSpPr>
          <p:nvPr/>
        </p:nvSpPr>
        <p:spPr bwMode="auto">
          <a:xfrm>
            <a:off x="5386388" y="4678363"/>
            <a:ext cx="152400" cy="228600"/>
          </a:xfrm>
          <a:prstGeom prst="upArrow">
            <a:avLst>
              <a:gd name="adj1" fmla="val 50000"/>
              <a:gd name="adj2" fmla="val 37500"/>
            </a:avLst>
          </a:prstGeom>
          <a:solidFill>
            <a:schemeClr val="folHlink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charset="-122"/>
            </a:endParaRPr>
          </a:p>
        </p:txBody>
      </p:sp>
      <p:grpSp>
        <p:nvGrpSpPr>
          <p:cNvPr id="18" name="Group 21"/>
          <p:cNvGrpSpPr/>
          <p:nvPr/>
        </p:nvGrpSpPr>
        <p:grpSpPr bwMode="auto">
          <a:xfrm>
            <a:off x="7734300" y="4465638"/>
            <a:ext cx="471488" cy="152400"/>
            <a:chOff x="4263" y="2806"/>
            <a:chExt cx="297" cy="96"/>
          </a:xfrm>
        </p:grpSpPr>
        <p:sp>
          <p:nvSpPr>
            <p:cNvPr id="22558" name="AutoShape 22"/>
            <p:cNvSpPr>
              <a:spLocks noChangeArrowheads="1"/>
            </p:cNvSpPr>
            <p:nvPr/>
          </p:nvSpPr>
          <p:spPr bwMode="auto">
            <a:xfrm>
              <a:off x="4272" y="2806"/>
              <a:ext cx="288" cy="96"/>
            </a:xfrm>
            <a:prstGeom prst="rightArrow">
              <a:avLst>
                <a:gd name="adj1" fmla="val 50000"/>
                <a:gd name="adj2" fmla="val 53333"/>
              </a:avLst>
            </a:prstGeom>
            <a:solidFill>
              <a:schemeClr val="folHlink"/>
            </a:solidFill>
            <a:ln w="9525">
              <a:solidFill>
                <a:schemeClr val="bg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9" name="Rectangle 23"/>
            <p:cNvSpPr>
              <a:spLocks noChangeArrowheads="1"/>
            </p:cNvSpPr>
            <p:nvPr/>
          </p:nvSpPr>
          <p:spPr bwMode="auto">
            <a:xfrm>
              <a:off x="4263" y="2826"/>
              <a:ext cx="45" cy="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</p:grpSp>
      <p:grpSp>
        <p:nvGrpSpPr>
          <p:cNvPr id="21" name="Group 24"/>
          <p:cNvGrpSpPr/>
          <p:nvPr/>
        </p:nvGrpSpPr>
        <p:grpSpPr bwMode="auto">
          <a:xfrm>
            <a:off x="2566988" y="2636838"/>
            <a:ext cx="6934200" cy="3851275"/>
            <a:chOff x="1008" y="1654"/>
            <a:chExt cx="4368" cy="2426"/>
          </a:xfrm>
        </p:grpSpPr>
        <p:sp>
          <p:nvSpPr>
            <p:cNvPr id="22543" name="Rectangle 25"/>
            <p:cNvSpPr>
              <a:spLocks noChangeArrowheads="1"/>
            </p:cNvSpPr>
            <p:nvPr/>
          </p:nvSpPr>
          <p:spPr bwMode="auto">
            <a:xfrm>
              <a:off x="2544" y="3696"/>
              <a:ext cx="62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grpSp>
          <p:nvGrpSpPr>
            <p:cNvPr id="22544" name="Group 26"/>
            <p:cNvGrpSpPr/>
            <p:nvPr/>
          </p:nvGrpSpPr>
          <p:grpSpPr bwMode="auto">
            <a:xfrm>
              <a:off x="1008" y="1654"/>
              <a:ext cx="4368" cy="2426"/>
              <a:chOff x="1008" y="1654"/>
              <a:chExt cx="4368" cy="2426"/>
            </a:xfrm>
          </p:grpSpPr>
          <p:sp>
            <p:nvSpPr>
              <p:cNvPr id="22545" name="Text Box 27"/>
              <p:cNvSpPr txBox="1">
                <a:spLocks noChangeArrowheads="1"/>
              </p:cNvSpPr>
              <p:nvPr/>
            </p:nvSpPr>
            <p:spPr bwMode="auto">
              <a:xfrm>
                <a:off x="2630" y="3705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MDR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6" name="Rectangle 28"/>
              <p:cNvSpPr>
                <a:spLocks noChangeArrowheads="1"/>
              </p:cNvSpPr>
              <p:nvPr/>
            </p:nvSpPr>
            <p:spPr bwMode="auto">
              <a:xfrm>
                <a:off x="2544" y="3105"/>
                <a:ext cx="62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CU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7" name="Rectangle 29"/>
              <p:cNvSpPr>
                <a:spLocks noChangeArrowheads="1"/>
              </p:cNvSpPr>
              <p:nvPr/>
            </p:nvSpPr>
            <p:spPr bwMode="auto">
              <a:xfrm>
                <a:off x="2544" y="2640"/>
                <a:ext cx="62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MAR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8" name="Rectangle 30"/>
              <p:cNvSpPr>
                <a:spLocks noChangeArrowheads="1"/>
              </p:cNvSpPr>
              <p:nvPr/>
            </p:nvSpPr>
            <p:spPr bwMode="auto">
              <a:xfrm>
                <a:off x="3552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bg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charset="-122"/>
                </a:endParaRPr>
              </a:p>
            </p:txBody>
          </p:sp>
          <p:sp>
            <p:nvSpPr>
              <p:cNvPr id="22549" name="Rectangle 31"/>
              <p:cNvSpPr>
                <a:spLocks noChangeArrowheads="1"/>
              </p:cNvSpPr>
              <p:nvPr/>
            </p:nvSpPr>
            <p:spPr bwMode="auto">
              <a:xfrm>
                <a:off x="3888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bg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charset="-122"/>
                </a:endParaRPr>
              </a:p>
            </p:txBody>
          </p:sp>
          <p:sp>
            <p:nvSpPr>
              <p:cNvPr id="22550" name="Rectangle 32"/>
              <p:cNvSpPr>
                <a:spLocks noChangeArrowheads="1"/>
              </p:cNvSpPr>
              <p:nvPr/>
            </p:nvSpPr>
            <p:spPr bwMode="auto">
              <a:xfrm>
                <a:off x="4224" y="2352"/>
                <a:ext cx="96" cy="168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bg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charset="-122"/>
                </a:endParaRPr>
              </a:p>
            </p:txBody>
          </p:sp>
          <p:sp>
            <p:nvSpPr>
              <p:cNvPr id="22551" name="Rectangle 33"/>
              <p:cNvSpPr>
                <a:spLocks noChangeArrowheads="1"/>
              </p:cNvSpPr>
              <p:nvPr/>
            </p:nvSpPr>
            <p:spPr bwMode="auto">
              <a:xfrm>
                <a:off x="1008" y="2352"/>
                <a:ext cx="2352" cy="17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charset="-122"/>
                </a:endParaRPr>
              </a:p>
            </p:txBody>
          </p:sp>
          <p:sp>
            <p:nvSpPr>
              <p:cNvPr id="22552" name="Text Box 34"/>
              <p:cNvSpPr txBox="1">
                <a:spLocks noChangeArrowheads="1"/>
              </p:cNvSpPr>
              <p:nvPr/>
            </p:nvSpPr>
            <p:spPr bwMode="auto">
              <a:xfrm>
                <a:off x="1814" y="2112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CPU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3" name="Text Box 35"/>
              <p:cNvSpPr txBox="1">
                <a:spLocks noChangeArrowheads="1"/>
              </p:cNvSpPr>
              <p:nvPr/>
            </p:nvSpPr>
            <p:spPr bwMode="auto">
              <a:xfrm>
                <a:off x="3436" y="1654"/>
                <a:ext cx="308" cy="7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地址总线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4" name="Text Box 36"/>
              <p:cNvSpPr txBox="1">
                <a:spLocks noChangeArrowheads="1"/>
              </p:cNvSpPr>
              <p:nvPr/>
            </p:nvSpPr>
            <p:spPr bwMode="auto">
              <a:xfrm>
                <a:off x="3772" y="1654"/>
                <a:ext cx="308" cy="7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数据总线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5" name="Text Box 37"/>
              <p:cNvSpPr txBox="1">
                <a:spLocks noChangeArrowheads="1"/>
              </p:cNvSpPr>
              <p:nvPr/>
            </p:nvSpPr>
            <p:spPr bwMode="auto">
              <a:xfrm>
                <a:off x="4156" y="1654"/>
                <a:ext cx="308" cy="7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控制总线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6" name="Rectangle 38"/>
              <p:cNvSpPr>
                <a:spLocks noChangeArrowheads="1"/>
              </p:cNvSpPr>
              <p:nvPr/>
            </p:nvSpPr>
            <p:spPr bwMode="auto">
              <a:xfrm>
                <a:off x="1344" y="2640"/>
                <a:ext cx="62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PC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7" name="Rectangle 39"/>
              <p:cNvSpPr>
                <a:spLocks noChangeArrowheads="1"/>
              </p:cNvSpPr>
              <p:nvPr/>
            </p:nvSpPr>
            <p:spPr bwMode="auto">
              <a:xfrm>
                <a:off x="4560" y="2736"/>
                <a:ext cx="816" cy="52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存储器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9" grpId="0" autoUpdateAnimBg="0"/>
      <p:bldP spid="537610" grpId="0" autoUpdateAnimBg="0"/>
      <p:bldP spid="2" grpId="0" animBg="1" autoUpdateAnimBg="0"/>
      <p:bldP spid="7" grpId="0" animBg="1" autoUpdateAnimBg="0"/>
      <p:bldP spid="8" grpId="0" animBg="1" autoUpdateAnimBg="0"/>
      <p:bldP spid="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2"/>
          <p:cNvSpPr txBox="1">
            <a:spLocks noChangeArrowheads="1"/>
          </p:cNvSpPr>
          <p:nvPr/>
        </p:nvSpPr>
        <p:spPr bwMode="auto">
          <a:xfrm>
            <a:off x="766763" y="2698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>
                <a:latin typeface="Calibri Light" panose="020F0302020204030204" pitchFamily="34" charset="0"/>
              </a:rPr>
              <a:t>8.3   指 令 流 水</a:t>
            </a:r>
            <a:endParaRPr lang="zh-CN" altLang="en-US" sz="4400">
              <a:latin typeface="Calibri Light" panose="020F0302020204030204" pitchFamily="34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127125" y="1628775"/>
            <a:ext cx="9352280" cy="79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>
                <a:latin typeface="Calibri Light" panose="020F0302020204030204" pitchFamily="34" charset="0"/>
              </a:rPr>
              <a:t>将该主题放大一点，放在最后讲。</a:t>
            </a:r>
            <a:endParaRPr lang="zh-CN" altLang="en-US" sz="4400">
              <a:latin typeface="Calibri Light" panose="020F0302020204030204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010285" y="2636520"/>
            <a:ext cx="10314305" cy="2691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4400">
                <a:latin typeface="Calibri Light" panose="020F0302020204030204" pitchFamily="34" charset="0"/>
              </a:rPr>
              <a:t>以</a:t>
            </a:r>
            <a:r>
              <a:rPr lang="en-US" altLang="zh-CN" sz="4400">
                <a:latin typeface="Calibri Light" panose="020F0302020204030204" pitchFamily="34" charset="0"/>
              </a:rPr>
              <a:t>MIPS</a:t>
            </a:r>
            <a:r>
              <a:rPr lang="zh-CN" altLang="en-US" sz="4400">
                <a:latin typeface="Calibri Light" panose="020F0302020204030204" pitchFamily="34" charset="0"/>
              </a:rPr>
              <a:t>简化指令为例，进行</a:t>
            </a:r>
            <a:r>
              <a:rPr lang="en-US" altLang="zh-CN" sz="4400">
                <a:latin typeface="Calibri Light" panose="020F0302020204030204" pitchFamily="34" charset="0"/>
              </a:rPr>
              <a:t>CPU</a:t>
            </a:r>
            <a:r>
              <a:rPr lang="zh-CN" altLang="en-US" sz="4400">
                <a:latin typeface="Calibri Light" panose="020F0302020204030204" pitchFamily="34" charset="0"/>
              </a:rPr>
              <a:t>设计，从数据通路到指令流水，到流水线性能分析。</a:t>
            </a:r>
            <a:endParaRPr lang="en-US" altLang="zh-CN" sz="4400"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/>
              <a:t>8.4 中断系统</a:t>
            </a:r>
            <a:endParaRPr lang="zh-CN" altLang="en-US" b="1"/>
          </a:p>
        </p:txBody>
      </p:sp>
      <p:sp>
        <p:nvSpPr>
          <p:cNvPr id="557059" name="Rectangle 3"/>
          <p:cNvSpPr>
            <a:spLocks noChangeArrowheads="1"/>
          </p:cNvSpPr>
          <p:nvPr/>
        </p:nvSpPr>
        <p:spPr bwMode="auto">
          <a:xfrm>
            <a:off x="2057400" y="1066800"/>
            <a:ext cx="1752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一、概述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57060" name="Rectangle 4"/>
          <p:cNvSpPr>
            <a:spLocks noChangeArrowheads="1"/>
          </p:cNvSpPr>
          <p:nvPr/>
        </p:nvSpPr>
        <p:spPr bwMode="auto">
          <a:xfrm>
            <a:off x="2362200" y="17526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1.  引起中断的各种因素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1" name="Rectangle 5"/>
          <p:cNvSpPr>
            <a:spLocks noChangeArrowheads="1"/>
          </p:cNvSpPr>
          <p:nvPr/>
        </p:nvSpPr>
        <p:spPr bwMode="auto">
          <a:xfrm>
            <a:off x="2667000" y="22860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人为设置的中断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2" name="Rectangle 6"/>
          <p:cNvSpPr>
            <a:spLocks noChangeArrowheads="1"/>
          </p:cNvSpPr>
          <p:nvPr/>
        </p:nvSpPr>
        <p:spPr bwMode="auto">
          <a:xfrm>
            <a:off x="2667000" y="44958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程序性事故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3" name="Rectangle 7"/>
          <p:cNvSpPr>
            <a:spLocks noChangeArrowheads="1"/>
          </p:cNvSpPr>
          <p:nvPr/>
        </p:nvSpPr>
        <p:spPr bwMode="auto">
          <a:xfrm>
            <a:off x="3048000" y="2819400"/>
            <a:ext cx="3124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如  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转管指令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7064" name="Rectangle 8"/>
          <p:cNvSpPr>
            <a:spLocks noChangeArrowheads="1"/>
          </p:cNvSpPr>
          <p:nvPr/>
        </p:nvSpPr>
        <p:spPr bwMode="auto">
          <a:xfrm>
            <a:off x="4953000" y="4495800"/>
            <a:ext cx="525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溢出、操作码不能识别、除法非法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5" name="Rectangle 9"/>
          <p:cNvSpPr>
            <a:spLocks noChangeArrowheads="1"/>
          </p:cNvSpPr>
          <p:nvPr/>
        </p:nvSpPr>
        <p:spPr bwMode="auto">
          <a:xfrm>
            <a:off x="2667000" y="60198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(5)  外部事件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6" name="Rectangle 10"/>
          <p:cNvSpPr>
            <a:spLocks noChangeArrowheads="1"/>
          </p:cNvSpPr>
          <p:nvPr/>
        </p:nvSpPr>
        <p:spPr bwMode="auto">
          <a:xfrm>
            <a:off x="2667000" y="55118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(4)  </a:t>
            </a:r>
            <a:r>
              <a:rPr lang="en-US" altLang="zh-CN" sz="2400">
                <a:latin typeface="Times New Roman" panose="02020603050405020304" pitchFamily="18" charset="0"/>
              </a:rPr>
              <a:t>I/O </a:t>
            </a:r>
            <a:r>
              <a:rPr lang="zh-CN" altLang="en-US" sz="240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7" name="Rectangle 11"/>
          <p:cNvSpPr>
            <a:spLocks noChangeArrowheads="1"/>
          </p:cNvSpPr>
          <p:nvPr/>
        </p:nvSpPr>
        <p:spPr bwMode="auto">
          <a:xfrm>
            <a:off x="2667000" y="50038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(3)  硬件故障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7068" name="Rectangle 12"/>
          <p:cNvSpPr>
            <a:spLocks noChangeArrowheads="1"/>
          </p:cNvSpPr>
          <p:nvPr/>
        </p:nvSpPr>
        <p:spPr bwMode="auto">
          <a:xfrm>
            <a:off x="4953000" y="6019800"/>
            <a:ext cx="3352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用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键盘中断 </a:t>
            </a:r>
            <a:r>
              <a:rPr lang="zh-CN" altLang="en-US" sz="2400">
                <a:latin typeface="Times New Roman" panose="02020603050405020304" pitchFamily="18" charset="0"/>
              </a:rPr>
              <a:t>现行程序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 bwMode="auto">
          <a:xfrm>
            <a:off x="6781800" y="1600200"/>
            <a:ext cx="3352800" cy="2209800"/>
            <a:chOff x="3072" y="1296"/>
            <a:chExt cx="2112" cy="1392"/>
          </a:xfrm>
        </p:grpSpPr>
        <p:sp>
          <p:nvSpPr>
            <p:cNvPr id="136206" name="Rectangle 14"/>
            <p:cNvSpPr>
              <a:spLocks noChangeArrowheads="1"/>
            </p:cNvSpPr>
            <p:nvPr/>
          </p:nvSpPr>
          <p:spPr bwMode="auto">
            <a:xfrm>
              <a:off x="3072" y="1296"/>
              <a:ext cx="816" cy="12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>
              <a:off x="3072" y="192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08" name="Line 16"/>
            <p:cNvSpPr>
              <a:spLocks noChangeShapeType="1"/>
            </p:cNvSpPr>
            <p:nvPr/>
          </p:nvSpPr>
          <p:spPr bwMode="auto">
            <a:xfrm>
              <a:off x="3072" y="216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09" name="Text Box 17"/>
            <p:cNvSpPr txBox="1">
              <a:spLocks noChangeArrowheads="1"/>
            </p:cNvSpPr>
            <p:nvPr/>
          </p:nvSpPr>
          <p:spPr bwMode="auto">
            <a:xfrm>
              <a:off x="3168" y="1920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转管指令</a:t>
              </a:r>
              <a:endParaRPr lang="zh-CN" altLang="en-US" sz="1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6210" name="Text Box 18"/>
            <p:cNvSpPr txBox="1">
              <a:spLocks noChangeArrowheads="1"/>
            </p:cNvSpPr>
            <p:nvPr/>
          </p:nvSpPr>
          <p:spPr bwMode="auto">
            <a:xfrm>
              <a:off x="3360" y="1440"/>
              <a:ext cx="34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6211" name="Text Box 19"/>
            <p:cNvSpPr txBox="1">
              <a:spLocks noChangeArrowheads="1"/>
            </p:cNvSpPr>
            <p:nvPr/>
          </p:nvSpPr>
          <p:spPr bwMode="auto">
            <a:xfrm>
              <a:off x="3360" y="2256"/>
              <a:ext cx="346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6212" name="Rectangle 20"/>
            <p:cNvSpPr>
              <a:spLocks noChangeArrowheads="1"/>
            </p:cNvSpPr>
            <p:nvPr/>
          </p:nvSpPr>
          <p:spPr bwMode="auto">
            <a:xfrm>
              <a:off x="4368" y="1728"/>
              <a:ext cx="816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36213" name="Text Box 21"/>
            <p:cNvSpPr txBox="1">
              <a:spLocks noChangeArrowheads="1"/>
            </p:cNvSpPr>
            <p:nvPr/>
          </p:nvSpPr>
          <p:spPr bwMode="auto">
            <a:xfrm>
              <a:off x="4464" y="202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管理程序</a:t>
              </a:r>
              <a:endParaRPr lang="zh-CN" altLang="en-US" sz="1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6214" name="Line 22"/>
            <p:cNvSpPr>
              <a:spLocks noChangeShapeType="1"/>
            </p:cNvSpPr>
            <p:nvPr/>
          </p:nvSpPr>
          <p:spPr bwMode="auto">
            <a:xfrm flipV="1">
              <a:off x="3888" y="1728"/>
              <a:ext cx="48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15" name="Line 23"/>
            <p:cNvSpPr>
              <a:spLocks noChangeShapeType="1"/>
            </p:cNvSpPr>
            <p:nvPr/>
          </p:nvSpPr>
          <p:spPr bwMode="auto">
            <a:xfrm flipH="1" flipV="1">
              <a:off x="3888" y="2160"/>
              <a:ext cx="48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9" grpId="0" autoUpdateAnimBg="0"/>
      <p:bldP spid="557060" grpId="0" autoUpdateAnimBg="0"/>
      <p:bldP spid="557061" grpId="0" autoUpdateAnimBg="0"/>
      <p:bldP spid="557062" grpId="0" autoUpdateAnimBg="0"/>
      <p:bldP spid="557063" grpId="0" autoUpdateAnimBg="0"/>
      <p:bldP spid="557064" grpId="0" autoUpdateAnimBg="0"/>
      <p:bldP spid="557065" grpId="0" autoUpdateAnimBg="0"/>
      <p:bldP spid="557066" grpId="0" autoUpdateAnimBg="0"/>
      <p:bldP spid="557067" grpId="0" autoUpdateAnimBg="0"/>
      <p:bldP spid="55706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2209800" y="228600"/>
            <a:ext cx="5943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中断系统需解决的问题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58083" name="Rectangle 3"/>
          <p:cNvSpPr>
            <a:spLocks noChangeArrowheads="1"/>
          </p:cNvSpPr>
          <p:nvPr/>
        </p:nvSpPr>
        <p:spPr bwMode="auto">
          <a:xfrm>
            <a:off x="2819400" y="1143000"/>
            <a:ext cx="6248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 各中断源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如何 </a:t>
            </a:r>
            <a:r>
              <a:rPr lang="zh-CN" altLang="en-US" sz="2400">
                <a:latin typeface="Times New Roman" panose="02020603050405020304" pitchFamily="18" charset="0"/>
              </a:rPr>
              <a:t>向 </a:t>
            </a:r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提出请求 </a:t>
            </a:r>
            <a:r>
              <a:rPr lang="zh-CN" altLang="en-US" sz="2400">
                <a:latin typeface="Times New Roman" panose="02020603050405020304" pitchFamily="18" charset="0"/>
              </a:rPr>
              <a:t>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4" name="Rectangle 4"/>
          <p:cNvSpPr>
            <a:spLocks noChangeArrowheads="1"/>
          </p:cNvSpPr>
          <p:nvPr/>
        </p:nvSpPr>
        <p:spPr bwMode="auto">
          <a:xfrm>
            <a:off x="2819400" y="1676400"/>
            <a:ext cx="5791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 各中断源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同时 </a:t>
            </a:r>
            <a:r>
              <a:rPr lang="zh-CN" altLang="en-US" sz="2400">
                <a:latin typeface="Times New Roman" panose="02020603050405020304" pitchFamily="18" charset="0"/>
              </a:rPr>
              <a:t>提出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请求 </a:t>
            </a:r>
            <a:r>
              <a:rPr lang="zh-CN" altLang="en-US" sz="2400">
                <a:latin typeface="Times New Roman" panose="02020603050405020304" pitchFamily="18" charset="0"/>
              </a:rPr>
              <a:t>怎么办 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5" name="Rectangle 5"/>
          <p:cNvSpPr>
            <a:spLocks noChangeArrowheads="1"/>
          </p:cNvSpPr>
          <p:nvPr/>
        </p:nvSpPr>
        <p:spPr bwMode="auto">
          <a:xfrm>
            <a:off x="2819400" y="3886200"/>
            <a:ext cx="4419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(5)  如何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寻找入口地址 </a:t>
            </a:r>
            <a:r>
              <a:rPr lang="zh-CN" altLang="en-US" sz="2400">
                <a:latin typeface="Times New Roman" panose="02020603050405020304" pitchFamily="18" charset="0"/>
              </a:rPr>
              <a:t>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6" name="Rectangle 6"/>
          <p:cNvSpPr>
            <a:spLocks noChangeArrowheads="1"/>
          </p:cNvSpPr>
          <p:nvPr/>
        </p:nvSpPr>
        <p:spPr bwMode="auto">
          <a:xfrm>
            <a:off x="2819400" y="3276600"/>
            <a:ext cx="4038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(4)  如何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保护现场 </a:t>
            </a:r>
            <a:r>
              <a:rPr lang="zh-CN" altLang="en-US" sz="2400">
                <a:latin typeface="Times New Roman" panose="02020603050405020304" pitchFamily="18" charset="0"/>
              </a:rPr>
              <a:t>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7" name="Rectangle 7"/>
          <p:cNvSpPr>
            <a:spLocks noChangeArrowheads="1"/>
          </p:cNvSpPr>
          <p:nvPr/>
        </p:nvSpPr>
        <p:spPr bwMode="auto">
          <a:xfrm>
            <a:off x="2819400" y="2209800"/>
            <a:ext cx="7848600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(3)  </a:t>
            </a:r>
            <a:r>
              <a:rPr lang="en-US" altLang="zh-CN" sz="2400"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latin typeface="Times New Roman" panose="02020603050405020304" pitchFamily="18" charset="0"/>
              </a:rPr>
              <a:t>什么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条件</a:t>
            </a:r>
            <a:r>
              <a:rPr lang="zh-CN" altLang="en-US" sz="2400">
                <a:latin typeface="Times New Roman" panose="02020603050405020304" pitchFamily="18" charset="0"/>
              </a:rPr>
              <a:t>、什么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r>
              <a:rPr lang="en-US" altLang="zh-CN" sz="2400">
                <a:latin typeface="Times New Roman" panose="02020603050405020304" pitchFamily="18" charset="0"/>
              </a:rPr>
              <a:t>、</a:t>
            </a:r>
            <a:r>
              <a:rPr lang="zh-CN" altLang="en-US" sz="2400">
                <a:latin typeface="Times New Roman" panose="02020603050405020304" pitchFamily="18" charset="0"/>
              </a:rPr>
              <a:t>以什么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方式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响应中断 </a:t>
            </a:r>
            <a:r>
              <a:rPr lang="zh-CN" altLang="en-US" sz="2400">
                <a:latin typeface="Times New Roman" panose="02020603050405020304" pitchFamily="18" charset="0"/>
              </a:rPr>
              <a:t>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8" name="Rectangle 8"/>
          <p:cNvSpPr>
            <a:spLocks noChangeArrowheads="1"/>
          </p:cNvSpPr>
          <p:nvPr/>
        </p:nvSpPr>
        <p:spPr bwMode="auto">
          <a:xfrm>
            <a:off x="2819400" y="4495800"/>
            <a:ext cx="518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(6)  如何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恢复现场</a:t>
            </a:r>
            <a:r>
              <a:rPr lang="zh-CN" altLang="en-US" sz="2400">
                <a:latin typeface="Times New Roman" panose="02020603050405020304" pitchFamily="18" charset="0"/>
              </a:rPr>
              <a:t>，如何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返回 </a:t>
            </a:r>
            <a:r>
              <a:rPr lang="zh-CN" altLang="en-US" sz="2400">
                <a:latin typeface="Times New Roman" panose="02020603050405020304" pitchFamily="18" charset="0"/>
              </a:rPr>
              <a:t>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89" name="Rectangle 9"/>
          <p:cNvSpPr>
            <a:spLocks noChangeArrowheads="1"/>
          </p:cNvSpPr>
          <p:nvPr/>
        </p:nvSpPr>
        <p:spPr bwMode="auto">
          <a:xfrm>
            <a:off x="2819400" y="5105400"/>
            <a:ext cx="7086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(7)  处理中断的过程中又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出现新的中断 </a:t>
            </a:r>
            <a:r>
              <a:rPr lang="zh-CN" altLang="en-US" sz="2400">
                <a:latin typeface="Times New Roman" panose="02020603050405020304" pitchFamily="18" charset="0"/>
              </a:rPr>
              <a:t>怎么办 ？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8090" name="Rectangle 10"/>
          <p:cNvSpPr>
            <a:spLocks noChangeArrowheads="1"/>
          </p:cNvSpPr>
          <p:nvPr/>
        </p:nvSpPr>
        <p:spPr bwMode="auto">
          <a:xfrm>
            <a:off x="3276600" y="5715000"/>
            <a:ext cx="2590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硬件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软件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 autoUpdateAnimBg="0"/>
      <p:bldP spid="558084" grpId="0" autoUpdateAnimBg="0"/>
      <p:bldP spid="558085" grpId="0" autoUpdateAnimBg="0"/>
      <p:bldP spid="558086" grpId="0" autoUpdateAnimBg="0"/>
      <p:bldP spid="558087" grpId="0" autoUpdateAnimBg="0"/>
      <p:bldP spid="558088" grpId="0" autoUpdateAnimBg="0"/>
      <p:bldP spid="558089" grpId="0" autoUpdateAnimBg="0"/>
      <p:bldP spid="55809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1752600" y="304800"/>
            <a:ext cx="71516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400">
                <a:latin typeface="Times New Roman" panose="02020603050405020304" pitchFamily="18" charset="0"/>
              </a:rPr>
              <a:t>二、中断请求标记和中断判优逻辑</a:t>
            </a:r>
            <a:endParaRPr lang="zh-CN" altLang="en-US" sz="3400">
              <a:latin typeface="Times New Roman" panose="02020603050405020304" pitchFamily="18" charset="0"/>
            </a:endParaRPr>
          </a:p>
        </p:txBody>
      </p:sp>
      <p:sp>
        <p:nvSpPr>
          <p:cNvPr id="559107" name="Rectangle 3"/>
          <p:cNvSpPr>
            <a:spLocks noChangeArrowheads="1"/>
          </p:cNvSpPr>
          <p:nvPr/>
        </p:nvSpPr>
        <p:spPr bwMode="auto">
          <a:xfrm>
            <a:off x="2209800" y="990600"/>
            <a:ext cx="601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1.  中断请求标记        </a:t>
            </a:r>
            <a:r>
              <a:rPr lang="en-US" altLang="zh-CN" sz="300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endParaRPr lang="en-US" altLang="zh-CN" sz="3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9108" name="Rectangle 4"/>
          <p:cNvSpPr>
            <a:spLocks noChangeArrowheads="1"/>
          </p:cNvSpPr>
          <p:nvPr/>
        </p:nvSpPr>
        <p:spPr bwMode="auto">
          <a:xfrm>
            <a:off x="2743200" y="1600200"/>
            <a:ext cx="6934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一个请求源</a:t>
            </a:r>
            <a:r>
              <a:rPr lang="zh-CN" altLang="en-US" sz="2400">
                <a:latin typeface="Times New Roman" panose="02020603050405020304" pitchFamily="18" charset="0"/>
              </a:rPr>
              <a:t>   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一个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中断请求标记触发器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59109" name="Rectangle 5"/>
          <p:cNvSpPr>
            <a:spLocks noChangeArrowheads="1"/>
          </p:cNvSpPr>
          <p:nvPr/>
        </p:nvSpPr>
        <p:spPr bwMode="auto">
          <a:xfrm>
            <a:off x="2743200" y="2209800"/>
            <a:ext cx="701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多个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</a:rPr>
              <a:t>组成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中断请求标记寄存器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9110" name="Rectangle 6"/>
          <p:cNvSpPr>
            <a:spLocks noChangeArrowheads="1"/>
          </p:cNvSpPr>
          <p:nvPr/>
        </p:nvSpPr>
        <p:spPr bwMode="auto">
          <a:xfrm>
            <a:off x="2209800" y="5632450"/>
            <a:ext cx="6324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INTR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分散 </a:t>
            </a:r>
            <a:r>
              <a:rPr lang="zh-CN" altLang="en-US" sz="2400">
                <a:latin typeface="Times New Roman" panose="02020603050405020304" pitchFamily="18" charset="0"/>
              </a:rPr>
              <a:t>在各个中断源的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接口电路中 （如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198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页图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5.41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9111" name="Rectangle 7"/>
          <p:cNvSpPr>
            <a:spLocks noChangeArrowheads="1"/>
          </p:cNvSpPr>
          <p:nvPr/>
        </p:nvSpPr>
        <p:spPr bwMode="auto">
          <a:xfrm>
            <a:off x="2195513" y="6149975"/>
            <a:ext cx="5029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INTR 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集中 </a:t>
            </a:r>
            <a:r>
              <a:rPr lang="zh-CN" altLang="en-US" sz="2400">
                <a:latin typeface="Times New Roman" panose="02020603050405020304" pitchFamily="18" charset="0"/>
              </a:rPr>
              <a:t>在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的中断系统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内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9139" name="Group 35"/>
          <p:cNvGrpSpPr/>
          <p:nvPr/>
        </p:nvGrpSpPr>
        <p:grpSpPr bwMode="auto">
          <a:xfrm>
            <a:off x="2740025" y="2965450"/>
            <a:ext cx="6148388" cy="2505075"/>
            <a:chOff x="766" y="1868"/>
            <a:chExt cx="3873" cy="1578"/>
          </a:xfrm>
        </p:grpSpPr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>
              <a:off x="768" y="1868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4" name="Line 10"/>
            <p:cNvSpPr>
              <a:spLocks noChangeShapeType="1"/>
            </p:cNvSpPr>
            <p:nvPr/>
          </p:nvSpPr>
          <p:spPr bwMode="auto">
            <a:xfrm>
              <a:off x="768" y="2213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>
              <a:off x="768" y="1868"/>
              <a:ext cx="0" cy="3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6" name="Line 12"/>
            <p:cNvSpPr>
              <a:spLocks noChangeShapeType="1"/>
            </p:cNvSpPr>
            <p:nvPr/>
          </p:nvSpPr>
          <p:spPr bwMode="auto">
            <a:xfrm>
              <a:off x="1056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7" name="Line 13"/>
            <p:cNvSpPr>
              <a:spLocks noChangeShapeType="1"/>
            </p:cNvSpPr>
            <p:nvPr/>
          </p:nvSpPr>
          <p:spPr bwMode="auto">
            <a:xfrm>
              <a:off x="1344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8" name="Line 14"/>
            <p:cNvSpPr>
              <a:spLocks noChangeShapeType="1"/>
            </p:cNvSpPr>
            <p:nvPr/>
          </p:nvSpPr>
          <p:spPr bwMode="auto">
            <a:xfrm>
              <a:off x="1632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79" name="Line 15"/>
            <p:cNvSpPr>
              <a:spLocks noChangeShapeType="1"/>
            </p:cNvSpPr>
            <p:nvPr/>
          </p:nvSpPr>
          <p:spPr bwMode="auto">
            <a:xfrm>
              <a:off x="1920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0" name="Line 16"/>
            <p:cNvSpPr>
              <a:spLocks noChangeShapeType="1"/>
            </p:cNvSpPr>
            <p:nvPr/>
          </p:nvSpPr>
          <p:spPr bwMode="auto">
            <a:xfrm>
              <a:off x="2208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1" name="Line 17"/>
            <p:cNvSpPr>
              <a:spLocks noChangeShapeType="1"/>
            </p:cNvSpPr>
            <p:nvPr/>
          </p:nvSpPr>
          <p:spPr bwMode="auto">
            <a:xfrm>
              <a:off x="4032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2" name="Line 18"/>
            <p:cNvSpPr>
              <a:spLocks noChangeShapeType="1"/>
            </p:cNvSpPr>
            <p:nvPr/>
          </p:nvSpPr>
          <p:spPr bwMode="auto">
            <a:xfrm>
              <a:off x="4320" y="186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3" name="Line 19"/>
            <p:cNvSpPr>
              <a:spLocks noChangeShapeType="1"/>
            </p:cNvSpPr>
            <p:nvPr/>
          </p:nvSpPr>
          <p:spPr bwMode="auto">
            <a:xfrm>
              <a:off x="4608" y="1868"/>
              <a:ext cx="0" cy="3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84" name="Text Box 20"/>
            <p:cNvSpPr txBox="1">
              <a:spLocks noChangeArrowheads="1"/>
            </p:cNvSpPr>
            <p:nvPr/>
          </p:nvSpPr>
          <p:spPr bwMode="auto">
            <a:xfrm>
              <a:off x="816" y="19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85" name="Text Box 21"/>
            <p:cNvSpPr txBox="1">
              <a:spLocks noChangeArrowheads="1"/>
            </p:cNvSpPr>
            <p:nvPr/>
          </p:nvSpPr>
          <p:spPr bwMode="auto">
            <a:xfrm>
              <a:off x="1104" y="19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2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86" name="Text Box 22"/>
            <p:cNvSpPr txBox="1">
              <a:spLocks noChangeArrowheads="1"/>
            </p:cNvSpPr>
            <p:nvPr/>
          </p:nvSpPr>
          <p:spPr bwMode="auto">
            <a:xfrm>
              <a:off x="1392" y="19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3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87" name="Text Box 23"/>
            <p:cNvSpPr txBox="1">
              <a:spLocks noChangeArrowheads="1"/>
            </p:cNvSpPr>
            <p:nvPr/>
          </p:nvSpPr>
          <p:spPr bwMode="auto">
            <a:xfrm>
              <a:off x="1680" y="19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4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88" name="Text Box 24"/>
            <p:cNvSpPr txBox="1">
              <a:spLocks noChangeArrowheads="1"/>
            </p:cNvSpPr>
            <p:nvPr/>
          </p:nvSpPr>
          <p:spPr bwMode="auto">
            <a:xfrm>
              <a:off x="1968" y="19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5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89" name="Text Box 25"/>
            <p:cNvSpPr txBox="1">
              <a:spLocks noChangeArrowheads="1"/>
            </p:cNvSpPr>
            <p:nvPr/>
          </p:nvSpPr>
          <p:spPr bwMode="auto">
            <a:xfrm>
              <a:off x="4364" y="191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endParaRPr lang="en-US" altLang="zh-CN"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39290" name="Text Box 26"/>
            <p:cNvSpPr txBox="1">
              <a:spLocks noChangeArrowheads="1"/>
            </p:cNvSpPr>
            <p:nvPr/>
          </p:nvSpPr>
          <p:spPr bwMode="auto">
            <a:xfrm>
              <a:off x="766" y="2271"/>
              <a:ext cx="310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掉电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1" name="Text Box 27"/>
            <p:cNvSpPr txBox="1">
              <a:spLocks noChangeArrowheads="1"/>
            </p:cNvSpPr>
            <p:nvPr/>
          </p:nvSpPr>
          <p:spPr bwMode="auto">
            <a:xfrm>
              <a:off x="1054" y="2271"/>
              <a:ext cx="310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过热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2" name="Text Box 28"/>
            <p:cNvSpPr txBox="1">
              <a:spLocks noChangeArrowheads="1"/>
            </p:cNvSpPr>
            <p:nvPr/>
          </p:nvSpPr>
          <p:spPr bwMode="auto">
            <a:xfrm>
              <a:off x="1641" y="2271"/>
              <a:ext cx="310" cy="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阶上溢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3" name="Text Box 29"/>
            <p:cNvSpPr txBox="1">
              <a:spLocks noChangeArrowheads="1"/>
            </p:cNvSpPr>
            <p:nvPr/>
          </p:nvSpPr>
          <p:spPr bwMode="auto">
            <a:xfrm>
              <a:off x="1322" y="2271"/>
              <a:ext cx="310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主存读写校验错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4" name="Text Box 30"/>
            <p:cNvSpPr txBox="1">
              <a:spLocks noChangeArrowheads="1"/>
            </p:cNvSpPr>
            <p:nvPr/>
          </p:nvSpPr>
          <p:spPr bwMode="auto">
            <a:xfrm>
              <a:off x="1918" y="2271"/>
              <a:ext cx="310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非法除法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5" name="Text Box 31"/>
            <p:cNvSpPr txBox="1">
              <a:spLocks noChangeArrowheads="1"/>
            </p:cNvSpPr>
            <p:nvPr/>
          </p:nvSpPr>
          <p:spPr bwMode="auto">
            <a:xfrm>
              <a:off x="4041" y="2271"/>
              <a:ext cx="310" cy="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键盘输入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9296" name="Text Box 32"/>
            <p:cNvSpPr txBox="1">
              <a:spLocks noChangeArrowheads="1"/>
            </p:cNvSpPr>
            <p:nvPr/>
          </p:nvSpPr>
          <p:spPr bwMode="auto">
            <a:xfrm>
              <a:off x="4329" y="2271"/>
              <a:ext cx="310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打印机输出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5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 autoUpdateAnimBg="0"/>
      <p:bldP spid="559108" grpId="0" autoUpdateAnimBg="0"/>
      <p:bldP spid="559109" grpId="0" autoUpdateAnimBg="0"/>
      <p:bldP spid="559110" grpId="0" autoUpdateAnimBg="0"/>
      <p:bldP spid="55911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1905000" y="3048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2.  中断判优逻辑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60131" name="Rectangle 3"/>
          <p:cNvSpPr>
            <a:spLocks noChangeArrowheads="1"/>
          </p:cNvSpPr>
          <p:nvPr/>
        </p:nvSpPr>
        <p:spPr bwMode="auto">
          <a:xfrm>
            <a:off x="2667000" y="1524000"/>
            <a:ext cx="7543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①</a:t>
            </a:r>
            <a:r>
              <a: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分散 </a:t>
            </a:r>
            <a:r>
              <a:rPr lang="zh-CN" altLang="en-US" sz="2400">
                <a:latin typeface="Times New Roman" panose="02020603050405020304" pitchFamily="18" charset="0"/>
              </a:rPr>
              <a:t>在各个中断源的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接口电路中    链式排队器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0132" name="Rectangle 4"/>
          <p:cNvSpPr>
            <a:spLocks noChangeArrowheads="1"/>
          </p:cNvSpPr>
          <p:nvPr/>
        </p:nvSpPr>
        <p:spPr bwMode="auto">
          <a:xfrm>
            <a:off x="2667000" y="2362200"/>
            <a:ext cx="525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②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集中 </a:t>
            </a:r>
            <a:r>
              <a:rPr lang="zh-CN" altLang="en-US" sz="2400">
                <a:latin typeface="Times New Roman" panose="02020603050405020304" pitchFamily="18" charset="0"/>
              </a:rPr>
              <a:t>在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0133" name="Rectangle 5"/>
          <p:cNvSpPr>
            <a:spLocks noChangeArrowheads="1"/>
          </p:cNvSpPr>
          <p:nvPr/>
        </p:nvSpPr>
        <p:spPr bwMode="auto">
          <a:xfrm>
            <a:off x="2362200" y="990600"/>
            <a:ext cx="525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硬件实现（排队器）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60186" name="Text Box 58"/>
          <p:cNvSpPr txBox="1">
            <a:spLocks noChangeArrowheads="1"/>
          </p:cNvSpPr>
          <p:nvPr/>
        </p:nvSpPr>
        <p:spPr bwMode="auto">
          <a:xfrm>
            <a:off x="7772400" y="21336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参见 第五章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60191" name="Text Box 63"/>
          <p:cNvSpPr txBox="1">
            <a:spLocks noChangeArrowheads="1"/>
          </p:cNvSpPr>
          <p:nvPr/>
        </p:nvSpPr>
        <p:spPr bwMode="auto">
          <a:xfrm>
            <a:off x="2895600" y="6172200"/>
            <a:ext cx="7086600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sz="1800" baseline="-25000">
                <a:latin typeface="Times New Roman" panose="02020603050405020304" pitchFamily="18" charset="0"/>
              </a:rPr>
              <a:t>1</a:t>
            </a:r>
            <a:r>
              <a:rPr lang="en-US" altLang="zh-CN" sz="1800">
                <a:latin typeface="Times New Roman" panose="02020603050405020304" pitchFamily="18" charset="0"/>
              </a:rPr>
              <a:t> 、</a:t>
            </a:r>
            <a:r>
              <a:rPr lang="en-US" altLang="zh-CN" sz="1800" baseline="-25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sz="1800" baseline="-25000">
                <a:latin typeface="Times New Roman" panose="02020603050405020304" pitchFamily="18" charset="0"/>
              </a:rPr>
              <a:t>2 </a:t>
            </a:r>
            <a:r>
              <a:rPr lang="en-US" altLang="zh-CN" sz="1800">
                <a:latin typeface="Times New Roman" panose="02020603050405020304" pitchFamily="18" charset="0"/>
              </a:rPr>
              <a:t>、</a:t>
            </a:r>
            <a:r>
              <a:rPr lang="en-US" altLang="zh-CN" sz="1800" baseline="-25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sz="1800" baseline="-25000">
                <a:latin typeface="Times New Roman" panose="02020603050405020304" pitchFamily="18" charset="0"/>
              </a:rPr>
              <a:t>3 </a:t>
            </a:r>
            <a:r>
              <a:rPr lang="en-US" altLang="zh-CN" sz="1800">
                <a:latin typeface="Times New Roman" panose="02020603050405020304" pitchFamily="18" charset="0"/>
              </a:rPr>
              <a:t>、</a:t>
            </a:r>
            <a:r>
              <a:rPr lang="en-US" altLang="zh-CN" sz="1800" baseline="-25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sz="1800" baseline="-25000">
                <a:latin typeface="Times New Roman" panose="02020603050405020304" pitchFamily="18" charset="0"/>
              </a:rPr>
              <a:t>4</a:t>
            </a:r>
            <a:r>
              <a:rPr lang="en-US" altLang="zh-CN" sz="1800">
                <a:latin typeface="Times New Roman" panose="02020603050405020304" pitchFamily="18" charset="0"/>
              </a:rPr>
              <a:t>  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优先级 </a:t>
            </a:r>
            <a:r>
              <a:rPr lang="zh-CN" altLang="en-US" sz="2000">
                <a:latin typeface="Times New Roman" panose="02020603050405020304" pitchFamily="18" charset="0"/>
              </a:rPr>
              <a:t>按 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降序 </a:t>
            </a:r>
            <a:r>
              <a:rPr lang="zh-CN" altLang="en-US" sz="2000">
                <a:latin typeface="Times New Roman" panose="02020603050405020304" pitchFamily="18" charset="0"/>
              </a:rPr>
              <a:t>排列</a:t>
            </a:r>
            <a:endParaRPr lang="en-US" altLang="zh-CN" sz="18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 baseline="-25000">
                <a:latin typeface="Times New Roman" panose="02020603050405020304" pitchFamily="18" charset="0"/>
              </a:rPr>
              <a:t> </a:t>
            </a:r>
            <a:endParaRPr lang="zh-CN" altLang="en-US" sz="1800" baseline="-2500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3651920" y="3421062"/>
            <a:ext cx="609600" cy="2197100"/>
            <a:chOff x="1248" y="2112"/>
            <a:chExt cx="384" cy="1384"/>
          </a:xfrm>
        </p:grpSpPr>
        <p:grpSp>
          <p:nvGrpSpPr>
            <p:cNvPr id="3" name="Group 7"/>
            <p:cNvGrpSpPr/>
            <p:nvPr/>
          </p:nvGrpSpPr>
          <p:grpSpPr bwMode="auto">
            <a:xfrm>
              <a:off x="1248" y="2112"/>
              <a:ext cx="384" cy="1384"/>
              <a:chOff x="1248" y="2112"/>
              <a:chExt cx="384" cy="1384"/>
            </a:xfrm>
          </p:grpSpPr>
          <p:sp>
            <p:nvSpPr>
              <p:cNvPr id="5" name="Text Box 8"/>
              <p:cNvSpPr txBox="1">
                <a:spLocks noChangeArrowheads="1"/>
              </p:cNvSpPr>
              <p:nvPr/>
            </p:nvSpPr>
            <p:spPr bwMode="auto">
              <a:xfrm>
                <a:off x="1305" y="232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" name="Group 9"/>
              <p:cNvGrpSpPr/>
              <p:nvPr/>
            </p:nvGrpSpPr>
            <p:grpSpPr bwMode="auto">
              <a:xfrm>
                <a:off x="1248" y="2112"/>
                <a:ext cx="384" cy="1384"/>
                <a:chOff x="1248" y="2112"/>
                <a:chExt cx="384" cy="1384"/>
              </a:xfrm>
            </p:grpSpPr>
            <p:sp>
              <p:nvSpPr>
                <p:cNvPr id="7" name="Rectangle 10"/>
                <p:cNvSpPr>
                  <a:spLocks noChangeArrowheads="1"/>
                </p:cNvSpPr>
                <p:nvPr/>
              </p:nvSpPr>
              <p:spPr bwMode="auto">
                <a:xfrm>
                  <a:off x="1248" y="2365"/>
                  <a:ext cx="384" cy="17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" name="Oval 11"/>
                <p:cNvSpPr>
                  <a:spLocks noChangeArrowheads="1"/>
                </p:cNvSpPr>
                <p:nvPr/>
              </p:nvSpPr>
              <p:spPr bwMode="auto">
                <a:xfrm>
                  <a:off x="1415" y="2323"/>
                  <a:ext cx="48" cy="3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" name="Freeform 12"/>
                <p:cNvSpPr/>
                <p:nvPr/>
              </p:nvSpPr>
              <p:spPr bwMode="auto">
                <a:xfrm>
                  <a:off x="1442" y="2540"/>
                  <a:ext cx="1" cy="256"/>
                </a:xfrm>
                <a:custGeom>
                  <a:avLst/>
                  <a:gdLst>
                    <a:gd name="T0" fmla="*/ 0 w 1"/>
                    <a:gd name="T1" fmla="*/ 0 h 345"/>
                    <a:gd name="T2" fmla="*/ 0 w 1"/>
                    <a:gd name="T3" fmla="*/ 256 h 34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45">
                      <a:moveTo>
                        <a:pt x="0" y="0"/>
                      </a:moveTo>
                      <a:lnTo>
                        <a:pt x="0" y="345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" name="Freeform 13"/>
                <p:cNvSpPr/>
                <p:nvPr/>
              </p:nvSpPr>
              <p:spPr bwMode="auto">
                <a:xfrm>
                  <a:off x="1439" y="2112"/>
                  <a:ext cx="3" cy="218"/>
                </a:xfrm>
                <a:custGeom>
                  <a:avLst/>
                  <a:gdLst>
                    <a:gd name="T0" fmla="*/ 0 w 3"/>
                    <a:gd name="T1" fmla="*/ 218 h 294"/>
                    <a:gd name="T2" fmla="*/ 3 w 3"/>
                    <a:gd name="T3" fmla="*/ 0 h 29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" h="294">
                      <a:moveTo>
                        <a:pt x="0" y="294"/>
                      </a:moveTo>
                      <a:lnTo>
                        <a:pt x="3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none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" name="Rectangle 14"/>
                <p:cNvSpPr>
                  <a:spLocks noChangeArrowheads="1"/>
                </p:cNvSpPr>
                <p:nvPr/>
              </p:nvSpPr>
              <p:spPr bwMode="auto">
                <a:xfrm>
                  <a:off x="1248" y="2823"/>
                  <a:ext cx="384" cy="17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305" y="2784"/>
                  <a:ext cx="23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panose="02020603050405020304" pitchFamily="18" charset="0"/>
                    </a:rPr>
                    <a:t> 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" name="Line 16"/>
                <p:cNvSpPr>
                  <a:spLocks noChangeShapeType="1"/>
                </p:cNvSpPr>
                <p:nvPr/>
              </p:nvSpPr>
              <p:spPr bwMode="auto">
                <a:xfrm>
                  <a:off x="1440" y="3002"/>
                  <a:ext cx="0" cy="4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" name="Oval 17"/>
            <p:cNvSpPr>
              <a:spLocks noChangeArrowheads="1"/>
            </p:cNvSpPr>
            <p:nvPr/>
          </p:nvSpPr>
          <p:spPr bwMode="auto">
            <a:xfrm>
              <a:off x="1415" y="2788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" name="Group 18"/>
          <p:cNvGrpSpPr/>
          <p:nvPr/>
        </p:nvGrpSpPr>
        <p:grpSpPr bwMode="auto">
          <a:xfrm>
            <a:off x="5125120" y="3421062"/>
            <a:ext cx="609600" cy="2197100"/>
            <a:chOff x="2176" y="2112"/>
            <a:chExt cx="384" cy="1384"/>
          </a:xfrm>
        </p:grpSpPr>
        <p:grpSp>
          <p:nvGrpSpPr>
            <p:cNvPr id="15" name="Group 19"/>
            <p:cNvGrpSpPr/>
            <p:nvPr/>
          </p:nvGrpSpPr>
          <p:grpSpPr bwMode="auto">
            <a:xfrm>
              <a:off x="2176" y="2112"/>
              <a:ext cx="384" cy="1384"/>
              <a:chOff x="2176" y="2112"/>
              <a:chExt cx="384" cy="1384"/>
            </a:xfrm>
          </p:grpSpPr>
          <p:sp>
            <p:nvSpPr>
              <p:cNvPr id="17" name="Rectangle 20"/>
              <p:cNvSpPr>
                <a:spLocks noChangeArrowheads="1"/>
              </p:cNvSpPr>
              <p:nvPr/>
            </p:nvSpPr>
            <p:spPr bwMode="auto">
              <a:xfrm>
                <a:off x="2176" y="2365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" name="Text Box 21"/>
              <p:cNvSpPr txBox="1">
                <a:spLocks noChangeArrowheads="1"/>
              </p:cNvSpPr>
              <p:nvPr/>
            </p:nvSpPr>
            <p:spPr bwMode="auto">
              <a:xfrm>
                <a:off x="2232" y="232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Oval 22"/>
              <p:cNvSpPr>
                <a:spLocks noChangeArrowheads="1"/>
              </p:cNvSpPr>
              <p:nvPr/>
            </p:nvSpPr>
            <p:spPr bwMode="auto">
              <a:xfrm>
                <a:off x="2343" y="2323"/>
                <a:ext cx="48" cy="3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" name="Freeform 23"/>
              <p:cNvSpPr/>
              <p:nvPr/>
            </p:nvSpPr>
            <p:spPr bwMode="auto">
              <a:xfrm>
                <a:off x="2370" y="2540"/>
                <a:ext cx="1" cy="256"/>
              </a:xfrm>
              <a:custGeom>
                <a:avLst/>
                <a:gdLst>
                  <a:gd name="T0" fmla="*/ 0 w 1"/>
                  <a:gd name="T1" fmla="*/ 0 h 345"/>
                  <a:gd name="T2" fmla="*/ 0 w 1"/>
                  <a:gd name="T3" fmla="*/ 256 h 34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" name="Freeform 24"/>
              <p:cNvSpPr/>
              <p:nvPr/>
            </p:nvSpPr>
            <p:spPr bwMode="auto">
              <a:xfrm>
                <a:off x="2367" y="2112"/>
                <a:ext cx="3" cy="218"/>
              </a:xfrm>
              <a:custGeom>
                <a:avLst/>
                <a:gdLst>
                  <a:gd name="T0" fmla="*/ 0 w 3"/>
                  <a:gd name="T1" fmla="*/ 218 h 294"/>
                  <a:gd name="T2" fmla="*/ 3 w 3"/>
                  <a:gd name="T3" fmla="*/ 0 h 29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Rectangle 25"/>
              <p:cNvSpPr>
                <a:spLocks noChangeArrowheads="1"/>
              </p:cNvSpPr>
              <p:nvPr/>
            </p:nvSpPr>
            <p:spPr bwMode="auto">
              <a:xfrm>
                <a:off x="2176" y="2823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Text Box 26"/>
              <p:cNvSpPr txBox="1">
                <a:spLocks noChangeArrowheads="1"/>
              </p:cNvSpPr>
              <p:nvPr/>
            </p:nvSpPr>
            <p:spPr bwMode="auto">
              <a:xfrm>
                <a:off x="2219" y="2799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&amp;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448" y="3002"/>
                <a:ext cx="0" cy="4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Oval 28"/>
            <p:cNvSpPr>
              <a:spLocks noChangeArrowheads="1"/>
            </p:cNvSpPr>
            <p:nvPr/>
          </p:nvSpPr>
          <p:spPr bwMode="auto">
            <a:xfrm>
              <a:off x="2343" y="2788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5" name="Group 29"/>
          <p:cNvGrpSpPr/>
          <p:nvPr/>
        </p:nvGrpSpPr>
        <p:grpSpPr bwMode="auto">
          <a:xfrm>
            <a:off x="6623720" y="3421062"/>
            <a:ext cx="609600" cy="2197100"/>
            <a:chOff x="3120" y="2112"/>
            <a:chExt cx="384" cy="1384"/>
          </a:xfrm>
        </p:grpSpPr>
        <p:grpSp>
          <p:nvGrpSpPr>
            <p:cNvPr id="26" name="Group 30"/>
            <p:cNvGrpSpPr/>
            <p:nvPr/>
          </p:nvGrpSpPr>
          <p:grpSpPr bwMode="auto">
            <a:xfrm>
              <a:off x="3120" y="2112"/>
              <a:ext cx="384" cy="1384"/>
              <a:chOff x="3120" y="2112"/>
              <a:chExt cx="384" cy="1384"/>
            </a:xfrm>
          </p:grpSpPr>
          <p:sp>
            <p:nvSpPr>
              <p:cNvPr id="28" name="Rectangle 31"/>
              <p:cNvSpPr>
                <a:spLocks noChangeArrowheads="1"/>
              </p:cNvSpPr>
              <p:nvPr/>
            </p:nvSpPr>
            <p:spPr bwMode="auto">
              <a:xfrm>
                <a:off x="3120" y="2365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" name="Text Box 32"/>
              <p:cNvSpPr txBox="1">
                <a:spLocks noChangeArrowheads="1"/>
              </p:cNvSpPr>
              <p:nvPr/>
            </p:nvSpPr>
            <p:spPr bwMode="auto">
              <a:xfrm>
                <a:off x="3168" y="232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Oval 33"/>
              <p:cNvSpPr>
                <a:spLocks noChangeArrowheads="1"/>
              </p:cNvSpPr>
              <p:nvPr/>
            </p:nvSpPr>
            <p:spPr bwMode="auto">
              <a:xfrm>
                <a:off x="3287" y="2323"/>
                <a:ext cx="48" cy="3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" name="Freeform 34"/>
              <p:cNvSpPr/>
              <p:nvPr/>
            </p:nvSpPr>
            <p:spPr bwMode="auto">
              <a:xfrm>
                <a:off x="3314" y="2540"/>
                <a:ext cx="1" cy="256"/>
              </a:xfrm>
              <a:custGeom>
                <a:avLst/>
                <a:gdLst>
                  <a:gd name="T0" fmla="*/ 0 w 1"/>
                  <a:gd name="T1" fmla="*/ 0 h 345"/>
                  <a:gd name="T2" fmla="*/ 0 w 1"/>
                  <a:gd name="T3" fmla="*/ 256 h 34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" name="Freeform 35"/>
              <p:cNvSpPr/>
              <p:nvPr/>
            </p:nvSpPr>
            <p:spPr bwMode="auto">
              <a:xfrm>
                <a:off x="3311" y="2112"/>
                <a:ext cx="3" cy="218"/>
              </a:xfrm>
              <a:custGeom>
                <a:avLst/>
                <a:gdLst>
                  <a:gd name="T0" fmla="*/ 0 w 3"/>
                  <a:gd name="T1" fmla="*/ 218 h 294"/>
                  <a:gd name="T2" fmla="*/ 3 w 3"/>
                  <a:gd name="T3" fmla="*/ 0 h 29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3120" y="2823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" name="Text Box 37"/>
              <p:cNvSpPr txBox="1">
                <a:spLocks noChangeArrowheads="1"/>
              </p:cNvSpPr>
              <p:nvPr/>
            </p:nvSpPr>
            <p:spPr bwMode="auto">
              <a:xfrm>
                <a:off x="3155" y="2774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</a:t>
                </a:r>
                <a:r>
                  <a:rPr lang="zh-CN" altLang="en-US">
                    <a:latin typeface="Times New Roman" panose="02020603050405020304" pitchFamily="18" charset="0"/>
                  </a:rPr>
                  <a:t>&amp;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3456" y="3002"/>
                <a:ext cx="0" cy="4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Oval 39"/>
            <p:cNvSpPr>
              <a:spLocks noChangeArrowheads="1"/>
            </p:cNvSpPr>
            <p:nvPr/>
          </p:nvSpPr>
          <p:spPr bwMode="auto">
            <a:xfrm>
              <a:off x="3287" y="2788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6" name="Group 40"/>
          <p:cNvGrpSpPr/>
          <p:nvPr/>
        </p:nvGrpSpPr>
        <p:grpSpPr bwMode="auto">
          <a:xfrm>
            <a:off x="8147720" y="3421062"/>
            <a:ext cx="609600" cy="2197100"/>
            <a:chOff x="4080" y="2112"/>
            <a:chExt cx="384" cy="1384"/>
          </a:xfrm>
        </p:grpSpPr>
        <p:grpSp>
          <p:nvGrpSpPr>
            <p:cNvPr id="37" name="Group 41"/>
            <p:cNvGrpSpPr/>
            <p:nvPr/>
          </p:nvGrpSpPr>
          <p:grpSpPr bwMode="auto">
            <a:xfrm>
              <a:off x="4080" y="2112"/>
              <a:ext cx="384" cy="1384"/>
              <a:chOff x="4080" y="2112"/>
              <a:chExt cx="384" cy="1384"/>
            </a:xfrm>
          </p:grpSpPr>
          <p:sp>
            <p:nvSpPr>
              <p:cNvPr id="39" name="Rectangle 42"/>
              <p:cNvSpPr>
                <a:spLocks noChangeArrowheads="1"/>
              </p:cNvSpPr>
              <p:nvPr/>
            </p:nvSpPr>
            <p:spPr bwMode="auto">
              <a:xfrm>
                <a:off x="4080" y="2365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0" name="Text Box 43"/>
              <p:cNvSpPr txBox="1">
                <a:spLocks noChangeArrowheads="1"/>
              </p:cNvSpPr>
              <p:nvPr/>
            </p:nvSpPr>
            <p:spPr bwMode="auto">
              <a:xfrm>
                <a:off x="4137" y="2321"/>
                <a:ext cx="2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Oval 44"/>
              <p:cNvSpPr>
                <a:spLocks noChangeArrowheads="1"/>
              </p:cNvSpPr>
              <p:nvPr/>
            </p:nvSpPr>
            <p:spPr bwMode="auto">
              <a:xfrm>
                <a:off x="4247" y="2323"/>
                <a:ext cx="48" cy="3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" name="Freeform 45"/>
              <p:cNvSpPr/>
              <p:nvPr/>
            </p:nvSpPr>
            <p:spPr bwMode="auto">
              <a:xfrm>
                <a:off x="4274" y="2540"/>
                <a:ext cx="1" cy="256"/>
              </a:xfrm>
              <a:custGeom>
                <a:avLst/>
                <a:gdLst>
                  <a:gd name="T0" fmla="*/ 0 w 1"/>
                  <a:gd name="T1" fmla="*/ 0 h 345"/>
                  <a:gd name="T2" fmla="*/ 0 w 1"/>
                  <a:gd name="T3" fmla="*/ 256 h 34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3" name="Freeform 46"/>
              <p:cNvSpPr/>
              <p:nvPr/>
            </p:nvSpPr>
            <p:spPr bwMode="auto">
              <a:xfrm>
                <a:off x="4271" y="2112"/>
                <a:ext cx="3" cy="218"/>
              </a:xfrm>
              <a:custGeom>
                <a:avLst/>
                <a:gdLst>
                  <a:gd name="T0" fmla="*/ 0 w 3"/>
                  <a:gd name="T1" fmla="*/ 218 h 294"/>
                  <a:gd name="T2" fmla="*/ 3 w 3"/>
                  <a:gd name="T3" fmla="*/ 0 h 29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94">
                    <a:moveTo>
                      <a:pt x="0" y="294"/>
                    </a:moveTo>
                    <a:lnTo>
                      <a:pt x="3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4080" y="2823"/>
                <a:ext cx="384" cy="17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" name="Text Box 48"/>
              <p:cNvSpPr txBox="1">
                <a:spLocks noChangeArrowheads="1"/>
              </p:cNvSpPr>
              <p:nvPr/>
            </p:nvSpPr>
            <p:spPr bwMode="auto">
              <a:xfrm>
                <a:off x="4125" y="2792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charset="-122"/>
                    <a:ea typeface="等线" panose="02010600030101010101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latin typeface="Times New Roman" panose="02020603050405020304" pitchFamily="18" charset="0"/>
                  </a:rPr>
                  <a:t> &amp;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4416" y="3002"/>
                <a:ext cx="0" cy="4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Oval 50"/>
            <p:cNvSpPr>
              <a:spLocks noChangeArrowheads="1"/>
            </p:cNvSpPr>
            <p:nvPr/>
          </p:nvSpPr>
          <p:spPr bwMode="auto">
            <a:xfrm>
              <a:off x="4247" y="2788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" name="Group 51"/>
          <p:cNvGrpSpPr/>
          <p:nvPr/>
        </p:nvGrpSpPr>
        <p:grpSpPr bwMode="auto">
          <a:xfrm>
            <a:off x="3956720" y="4335462"/>
            <a:ext cx="4267200" cy="762000"/>
            <a:chOff x="1200" y="2688"/>
            <a:chExt cx="2688" cy="480"/>
          </a:xfrm>
        </p:grpSpPr>
        <p:sp>
          <p:nvSpPr>
            <p:cNvPr id="48" name="Freeform 52"/>
            <p:cNvSpPr/>
            <p:nvPr/>
          </p:nvSpPr>
          <p:spPr bwMode="auto">
            <a:xfrm>
              <a:off x="1200" y="2688"/>
              <a:ext cx="2688" cy="480"/>
            </a:xfrm>
            <a:custGeom>
              <a:avLst/>
              <a:gdLst>
                <a:gd name="T0" fmla="*/ 0 w 2688"/>
                <a:gd name="T1" fmla="*/ 0 h 480"/>
                <a:gd name="T2" fmla="*/ 440 w 2688"/>
                <a:gd name="T3" fmla="*/ 0 h 480"/>
                <a:gd name="T4" fmla="*/ 440 w 2688"/>
                <a:gd name="T5" fmla="*/ 480 h 480"/>
                <a:gd name="T6" fmla="*/ 2688 w 2688"/>
                <a:gd name="T7" fmla="*/ 480 h 480"/>
                <a:gd name="T8" fmla="*/ 2688 w 2688"/>
                <a:gd name="T9" fmla="*/ 312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88" h="480">
                  <a:moveTo>
                    <a:pt x="0" y="0"/>
                  </a:moveTo>
                  <a:lnTo>
                    <a:pt x="440" y="0"/>
                  </a:lnTo>
                  <a:lnTo>
                    <a:pt x="440" y="480"/>
                  </a:lnTo>
                  <a:lnTo>
                    <a:pt x="2688" y="480"/>
                  </a:lnTo>
                  <a:lnTo>
                    <a:pt x="2688" y="312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53"/>
            <p:cNvSpPr/>
            <p:nvPr/>
          </p:nvSpPr>
          <p:spPr bwMode="auto">
            <a:xfrm>
              <a:off x="2065" y="2997"/>
              <a:ext cx="2" cy="171"/>
            </a:xfrm>
            <a:custGeom>
              <a:avLst/>
              <a:gdLst>
                <a:gd name="T0" fmla="*/ 2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54"/>
            <p:cNvSpPr/>
            <p:nvPr/>
          </p:nvSpPr>
          <p:spPr bwMode="auto">
            <a:xfrm>
              <a:off x="2928" y="2997"/>
              <a:ext cx="2" cy="171"/>
            </a:xfrm>
            <a:custGeom>
              <a:avLst/>
              <a:gdLst>
                <a:gd name="T0" fmla="*/ 2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55"/>
          <p:cNvGrpSpPr/>
          <p:nvPr/>
        </p:nvGrpSpPr>
        <p:grpSpPr bwMode="auto">
          <a:xfrm>
            <a:off x="5428333" y="4335462"/>
            <a:ext cx="2952750" cy="990600"/>
            <a:chOff x="2127" y="2688"/>
            <a:chExt cx="1860" cy="624"/>
          </a:xfrm>
        </p:grpSpPr>
        <p:sp>
          <p:nvSpPr>
            <p:cNvPr id="52" name="Freeform 56"/>
            <p:cNvSpPr/>
            <p:nvPr/>
          </p:nvSpPr>
          <p:spPr bwMode="auto">
            <a:xfrm>
              <a:off x="2127" y="2688"/>
              <a:ext cx="1860" cy="624"/>
            </a:xfrm>
            <a:custGeom>
              <a:avLst/>
              <a:gdLst>
                <a:gd name="T0" fmla="*/ 0 w 1860"/>
                <a:gd name="T1" fmla="*/ 0 h 624"/>
                <a:gd name="T2" fmla="*/ 417 w 1860"/>
                <a:gd name="T3" fmla="*/ 0 h 624"/>
                <a:gd name="T4" fmla="*/ 417 w 1860"/>
                <a:gd name="T5" fmla="*/ 624 h 624"/>
                <a:gd name="T6" fmla="*/ 1857 w 1860"/>
                <a:gd name="T7" fmla="*/ 624 h 624"/>
                <a:gd name="T8" fmla="*/ 1860 w 1860"/>
                <a:gd name="T9" fmla="*/ 312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624">
                  <a:moveTo>
                    <a:pt x="0" y="0"/>
                  </a:moveTo>
                  <a:lnTo>
                    <a:pt x="417" y="0"/>
                  </a:lnTo>
                  <a:lnTo>
                    <a:pt x="417" y="624"/>
                  </a:lnTo>
                  <a:lnTo>
                    <a:pt x="1857" y="624"/>
                  </a:lnTo>
                  <a:lnTo>
                    <a:pt x="1860" y="312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7"/>
            <p:cNvSpPr/>
            <p:nvPr/>
          </p:nvSpPr>
          <p:spPr bwMode="auto">
            <a:xfrm>
              <a:off x="3073" y="3000"/>
              <a:ext cx="2" cy="312"/>
            </a:xfrm>
            <a:custGeom>
              <a:avLst/>
              <a:gdLst>
                <a:gd name="T0" fmla="*/ 2 w 2"/>
                <a:gd name="T1" fmla="*/ 0 h 312"/>
                <a:gd name="T2" fmla="*/ 0 w 2"/>
                <a:gd name="T3" fmla="*/ 312 h 3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12">
                  <a:moveTo>
                    <a:pt x="2" y="0"/>
                  </a:moveTo>
                  <a:lnTo>
                    <a:pt x="0" y="312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Text Box 59"/>
          <p:cNvSpPr txBox="1">
            <a:spLocks noChangeArrowheads="1"/>
          </p:cNvSpPr>
          <p:nvPr/>
        </p:nvSpPr>
        <p:spPr bwMode="auto">
          <a:xfrm>
            <a:off x="3575720" y="5630862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55" name="Text Box 60"/>
          <p:cNvSpPr txBox="1">
            <a:spLocks noChangeArrowheads="1"/>
          </p:cNvSpPr>
          <p:nvPr/>
        </p:nvSpPr>
        <p:spPr bwMode="auto">
          <a:xfrm>
            <a:off x="5175920" y="5630862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56" name="Text Box 61"/>
          <p:cNvSpPr txBox="1">
            <a:spLocks noChangeArrowheads="1"/>
          </p:cNvSpPr>
          <p:nvPr/>
        </p:nvSpPr>
        <p:spPr bwMode="auto">
          <a:xfrm>
            <a:off x="6776120" y="5630862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57" name="Text Box 62"/>
          <p:cNvSpPr txBox="1">
            <a:spLocks noChangeArrowheads="1"/>
          </p:cNvSpPr>
          <p:nvPr/>
        </p:nvSpPr>
        <p:spPr bwMode="auto">
          <a:xfrm>
            <a:off x="8300120" y="5630862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58" name="Freeform 64"/>
          <p:cNvSpPr/>
          <p:nvPr/>
        </p:nvSpPr>
        <p:spPr bwMode="auto">
          <a:xfrm>
            <a:off x="6928520" y="4335462"/>
            <a:ext cx="1600200" cy="1219200"/>
          </a:xfrm>
          <a:custGeom>
            <a:avLst/>
            <a:gdLst>
              <a:gd name="T0" fmla="*/ 0 w 1008"/>
              <a:gd name="T1" fmla="*/ 0 h 768"/>
              <a:gd name="T2" fmla="*/ 762000 w 1008"/>
              <a:gd name="T3" fmla="*/ 0 h 768"/>
              <a:gd name="T4" fmla="*/ 762000 w 1008"/>
              <a:gd name="T5" fmla="*/ 1219200 h 768"/>
              <a:gd name="T6" fmla="*/ 1600200 w 1008"/>
              <a:gd name="T7" fmla="*/ 1219200 h 768"/>
              <a:gd name="T8" fmla="*/ 1600200 w 1008"/>
              <a:gd name="T9" fmla="*/ 504825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8" h="768">
                <a:moveTo>
                  <a:pt x="0" y="0"/>
                </a:moveTo>
                <a:lnTo>
                  <a:pt x="480" y="0"/>
                </a:lnTo>
                <a:lnTo>
                  <a:pt x="480" y="768"/>
                </a:lnTo>
                <a:lnTo>
                  <a:pt x="1008" y="768"/>
                </a:lnTo>
                <a:lnTo>
                  <a:pt x="1008" y="318"/>
                </a:lnTo>
              </a:path>
            </a:pathLst>
          </a:custGeom>
          <a:noFill/>
          <a:ln w="28575" cap="flat" cmpd="sng">
            <a:solidFill>
              <a:schemeClr val="folHlink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9" name="Group 65"/>
          <p:cNvGrpSpPr/>
          <p:nvPr/>
        </p:nvGrpSpPr>
        <p:grpSpPr bwMode="auto">
          <a:xfrm>
            <a:off x="3575720" y="3040062"/>
            <a:ext cx="5562600" cy="396875"/>
            <a:chOff x="1200" y="1872"/>
            <a:chExt cx="3504" cy="250"/>
          </a:xfrm>
        </p:grpSpPr>
        <p:sp>
          <p:nvSpPr>
            <p:cNvPr id="60" name="Text Box 66"/>
            <p:cNvSpPr txBox="1">
              <a:spLocks noChangeArrowheads="1"/>
            </p:cNvSpPr>
            <p:nvPr/>
          </p:nvSpPr>
          <p:spPr bwMode="auto">
            <a:xfrm>
              <a:off x="1200" y="187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1" name="Text Box 67"/>
            <p:cNvSpPr txBox="1">
              <a:spLocks noChangeArrowheads="1"/>
            </p:cNvSpPr>
            <p:nvPr/>
          </p:nvSpPr>
          <p:spPr bwMode="auto">
            <a:xfrm>
              <a:off x="2112" y="187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68"/>
            <p:cNvSpPr txBox="1">
              <a:spLocks noChangeArrowheads="1"/>
            </p:cNvSpPr>
            <p:nvPr/>
          </p:nvSpPr>
          <p:spPr bwMode="auto">
            <a:xfrm>
              <a:off x="3072" y="187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3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69"/>
            <p:cNvSpPr txBox="1">
              <a:spLocks noChangeArrowheads="1"/>
            </p:cNvSpPr>
            <p:nvPr/>
          </p:nvSpPr>
          <p:spPr bwMode="auto">
            <a:xfrm>
              <a:off x="4032" y="187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INTP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4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autoUpdateAnimBg="0"/>
      <p:bldP spid="560132" grpId="0" autoUpdateAnimBg="0"/>
      <p:bldP spid="560133" grpId="0" autoUpdateAnimBg="0"/>
      <p:bldP spid="560186" grpId="0" autoUpdateAnimBg="0"/>
      <p:bldP spid="560191" grpId="0" autoUpdateAnimBg="0"/>
      <p:bldP spid="54" grpId="0" autoUpdateAnimBg="0"/>
      <p:bldP spid="55" grpId="0" autoUpdateAnimBg="0"/>
      <p:bldP spid="56" grpId="0" autoUpdateAnimBg="0"/>
      <p:bldP spid="5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ChangeArrowheads="1"/>
          </p:cNvSpPr>
          <p:nvPr/>
        </p:nvSpPr>
        <p:spPr bwMode="auto">
          <a:xfrm>
            <a:off x="2895600" y="1066800"/>
            <a:ext cx="525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A、B、C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优先级按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降序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排列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2209800" y="381000"/>
            <a:ext cx="525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(2) 软件实现（程序查询）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31" name="Group 4"/>
          <p:cNvGrpSpPr/>
          <p:nvPr/>
        </p:nvGrpSpPr>
        <p:grpSpPr bwMode="auto">
          <a:xfrm>
            <a:off x="4518025" y="3086100"/>
            <a:ext cx="635000" cy="457200"/>
            <a:chOff x="1952" y="1872"/>
            <a:chExt cx="400" cy="288"/>
          </a:xfrm>
        </p:grpSpPr>
        <p:sp>
          <p:nvSpPr>
            <p:cNvPr id="143395" name="Text Box 5"/>
            <p:cNvSpPr txBox="1">
              <a:spLocks noChangeArrowheads="1"/>
            </p:cNvSpPr>
            <p:nvPr/>
          </p:nvSpPr>
          <p:spPr bwMode="auto">
            <a:xfrm>
              <a:off x="1968" y="187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3396" name="Line 6"/>
            <p:cNvSpPr>
              <a:spLocks noChangeShapeType="1"/>
            </p:cNvSpPr>
            <p:nvPr/>
          </p:nvSpPr>
          <p:spPr bwMode="auto">
            <a:xfrm>
              <a:off x="1952" y="18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4359275" y="6134100"/>
            <a:ext cx="48895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…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4518025" y="17907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7" name="Text Box 9"/>
          <p:cNvSpPr txBox="1">
            <a:spLocks noChangeArrowheads="1"/>
          </p:cNvSpPr>
          <p:nvPr/>
        </p:nvSpPr>
        <p:spPr bwMode="auto">
          <a:xfrm>
            <a:off x="8429625" y="3086100"/>
            <a:ext cx="16764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7" name="Group 10"/>
          <p:cNvGrpSpPr/>
          <p:nvPr/>
        </p:nvGrpSpPr>
        <p:grpSpPr bwMode="auto">
          <a:xfrm>
            <a:off x="3425825" y="2247900"/>
            <a:ext cx="2278063" cy="838200"/>
            <a:chOff x="1264" y="1344"/>
            <a:chExt cx="1435" cy="528"/>
          </a:xfrm>
        </p:grpSpPr>
        <p:sp>
          <p:nvSpPr>
            <p:cNvPr id="143393" name="AutoShape 11"/>
            <p:cNvSpPr>
              <a:spLocks noChangeArrowheads="1"/>
            </p:cNvSpPr>
            <p:nvPr/>
          </p:nvSpPr>
          <p:spPr bwMode="auto">
            <a:xfrm>
              <a:off x="1264" y="1344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43394" name="Text Box 12"/>
            <p:cNvSpPr txBox="1">
              <a:spLocks noChangeArrowheads="1"/>
            </p:cNvSpPr>
            <p:nvPr/>
          </p:nvSpPr>
          <p:spPr bwMode="auto">
            <a:xfrm>
              <a:off x="1504" y="1507"/>
              <a:ext cx="119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请求？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" name="Group 13"/>
          <p:cNvGrpSpPr/>
          <p:nvPr/>
        </p:nvGrpSpPr>
        <p:grpSpPr bwMode="auto">
          <a:xfrm>
            <a:off x="3425825" y="3543300"/>
            <a:ext cx="2349500" cy="838200"/>
            <a:chOff x="1264" y="2160"/>
            <a:chExt cx="1480" cy="528"/>
          </a:xfrm>
        </p:grpSpPr>
        <p:sp>
          <p:nvSpPr>
            <p:cNvPr id="143391" name="AutoShape 14"/>
            <p:cNvSpPr>
              <a:spLocks noChangeArrowheads="1"/>
            </p:cNvSpPr>
            <p:nvPr/>
          </p:nvSpPr>
          <p:spPr bwMode="auto">
            <a:xfrm>
              <a:off x="1264" y="2160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43392" name="Text Box 15"/>
            <p:cNvSpPr txBox="1">
              <a:spLocks noChangeArrowheads="1"/>
            </p:cNvSpPr>
            <p:nvPr/>
          </p:nvSpPr>
          <p:spPr bwMode="auto">
            <a:xfrm>
              <a:off x="1504" y="2323"/>
              <a:ext cx="124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请求？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" name="Group 16"/>
          <p:cNvGrpSpPr/>
          <p:nvPr/>
        </p:nvGrpSpPr>
        <p:grpSpPr bwMode="auto">
          <a:xfrm>
            <a:off x="3425825" y="4838700"/>
            <a:ext cx="2420938" cy="838200"/>
            <a:chOff x="1264" y="2976"/>
            <a:chExt cx="1525" cy="528"/>
          </a:xfrm>
        </p:grpSpPr>
        <p:sp>
          <p:nvSpPr>
            <p:cNvPr id="143389" name="AutoShape 17"/>
            <p:cNvSpPr>
              <a:spLocks noChangeArrowheads="1"/>
            </p:cNvSpPr>
            <p:nvPr/>
          </p:nvSpPr>
          <p:spPr bwMode="auto">
            <a:xfrm>
              <a:off x="1264" y="2976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charset="-122"/>
              </a:endParaRPr>
            </a:p>
          </p:txBody>
        </p:sp>
        <p:sp>
          <p:nvSpPr>
            <p:cNvPr id="143390" name="Text Box 18"/>
            <p:cNvSpPr txBox="1">
              <a:spLocks noChangeArrowheads="1"/>
            </p:cNvSpPr>
            <p:nvPr/>
          </p:nvSpPr>
          <p:spPr bwMode="auto">
            <a:xfrm>
              <a:off x="1504" y="3139"/>
              <a:ext cx="128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是否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请求？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46" name="Text Box 19"/>
          <p:cNvSpPr txBox="1">
            <a:spLocks noChangeArrowheads="1"/>
          </p:cNvSpPr>
          <p:nvPr/>
        </p:nvSpPr>
        <p:spPr bwMode="auto">
          <a:xfrm>
            <a:off x="6600825" y="2430463"/>
            <a:ext cx="35052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转 </a:t>
            </a:r>
            <a:r>
              <a:rPr lang="en-US" altLang="zh-CN" sz="220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>
                <a:latin typeface="Times New Roman" panose="02020603050405020304" pitchFamily="18" charset="0"/>
              </a:rPr>
              <a:t> </a:t>
            </a:r>
            <a:r>
              <a:rPr lang="zh-CN" altLang="en-US" sz="2200">
                <a:latin typeface="Times New Roman" panose="02020603050405020304" pitchFamily="18" charset="0"/>
              </a:rPr>
              <a:t>的服务程序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6600825" y="3771900"/>
            <a:ext cx="35052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转 </a:t>
            </a:r>
            <a:r>
              <a:rPr lang="en-US" altLang="zh-CN" sz="2200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>
                <a:latin typeface="Times New Roman" panose="02020603050405020304" pitchFamily="18" charset="0"/>
              </a:rPr>
              <a:t> </a:t>
            </a:r>
            <a:r>
              <a:rPr lang="zh-CN" altLang="en-US" sz="2200">
                <a:latin typeface="Times New Roman" panose="02020603050405020304" pitchFamily="18" charset="0"/>
              </a:rPr>
              <a:t>的服务程序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6600825" y="5067300"/>
            <a:ext cx="35052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转 </a:t>
            </a:r>
            <a:r>
              <a:rPr lang="en-US" altLang="zh-CN" sz="220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200">
                <a:latin typeface="Times New Roman" panose="02020603050405020304" pitchFamily="18" charset="0"/>
              </a:rPr>
              <a:t> </a:t>
            </a:r>
            <a:r>
              <a:rPr lang="zh-CN" altLang="en-US" sz="2200">
                <a:latin typeface="Times New Roman" panose="02020603050405020304" pitchFamily="18" charset="0"/>
              </a:rPr>
              <a:t>的服务程序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" name="Group 22"/>
          <p:cNvGrpSpPr/>
          <p:nvPr/>
        </p:nvGrpSpPr>
        <p:grpSpPr bwMode="auto">
          <a:xfrm>
            <a:off x="5610225" y="2259013"/>
            <a:ext cx="914400" cy="403225"/>
            <a:chOff x="2640" y="1351"/>
            <a:chExt cx="576" cy="254"/>
          </a:xfrm>
        </p:grpSpPr>
        <p:sp>
          <p:nvSpPr>
            <p:cNvPr id="143387" name="Line 23"/>
            <p:cNvSpPr>
              <a:spLocks noChangeShapeType="1"/>
            </p:cNvSpPr>
            <p:nvPr/>
          </p:nvSpPr>
          <p:spPr bwMode="auto">
            <a:xfrm>
              <a:off x="2640" y="1605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8" name="Text Box 24"/>
            <p:cNvSpPr txBox="1">
              <a:spLocks noChangeArrowheads="1"/>
            </p:cNvSpPr>
            <p:nvPr/>
          </p:nvSpPr>
          <p:spPr bwMode="auto">
            <a:xfrm>
              <a:off x="2688" y="1351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" name="Group 25"/>
          <p:cNvGrpSpPr/>
          <p:nvPr/>
        </p:nvGrpSpPr>
        <p:grpSpPr bwMode="auto">
          <a:xfrm>
            <a:off x="5610225" y="3543300"/>
            <a:ext cx="914400" cy="428625"/>
            <a:chOff x="2640" y="2160"/>
            <a:chExt cx="576" cy="270"/>
          </a:xfrm>
        </p:grpSpPr>
        <p:sp>
          <p:nvSpPr>
            <p:cNvPr id="143385" name="Line 26"/>
            <p:cNvSpPr>
              <a:spLocks noChangeShapeType="1"/>
            </p:cNvSpPr>
            <p:nvPr/>
          </p:nvSpPr>
          <p:spPr bwMode="auto">
            <a:xfrm>
              <a:off x="2640" y="2430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6" name="Text Box 27"/>
            <p:cNvSpPr txBox="1">
              <a:spLocks noChangeArrowheads="1"/>
            </p:cNvSpPr>
            <p:nvPr/>
          </p:nvSpPr>
          <p:spPr bwMode="auto">
            <a:xfrm>
              <a:off x="2688" y="216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" name="Group 28"/>
          <p:cNvGrpSpPr/>
          <p:nvPr/>
        </p:nvGrpSpPr>
        <p:grpSpPr bwMode="auto">
          <a:xfrm>
            <a:off x="5610225" y="4838700"/>
            <a:ext cx="914400" cy="420688"/>
            <a:chOff x="2640" y="2976"/>
            <a:chExt cx="576" cy="265"/>
          </a:xfrm>
        </p:grpSpPr>
        <p:sp>
          <p:nvSpPr>
            <p:cNvPr id="143383" name="Line 29"/>
            <p:cNvSpPr>
              <a:spLocks noChangeShapeType="1"/>
            </p:cNvSpPr>
            <p:nvPr/>
          </p:nvSpPr>
          <p:spPr bwMode="auto">
            <a:xfrm>
              <a:off x="2640" y="3241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4" name="Text Box 30"/>
            <p:cNvSpPr txBox="1">
              <a:spLocks noChangeArrowheads="1"/>
            </p:cNvSpPr>
            <p:nvPr/>
          </p:nvSpPr>
          <p:spPr bwMode="auto">
            <a:xfrm>
              <a:off x="2688" y="297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是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" name="Group 31"/>
          <p:cNvGrpSpPr/>
          <p:nvPr/>
        </p:nvGrpSpPr>
        <p:grpSpPr bwMode="auto">
          <a:xfrm>
            <a:off x="4518025" y="4365625"/>
            <a:ext cx="635000" cy="473075"/>
            <a:chOff x="1952" y="2678"/>
            <a:chExt cx="400" cy="298"/>
          </a:xfrm>
        </p:grpSpPr>
        <p:sp>
          <p:nvSpPr>
            <p:cNvPr id="143381" name="Line 32"/>
            <p:cNvSpPr>
              <a:spLocks noChangeShapeType="1"/>
            </p:cNvSpPr>
            <p:nvPr/>
          </p:nvSpPr>
          <p:spPr bwMode="auto">
            <a:xfrm>
              <a:off x="1952" y="26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2" name="Text Box 33"/>
            <p:cNvSpPr txBox="1">
              <a:spLocks noChangeArrowheads="1"/>
            </p:cNvSpPr>
            <p:nvPr/>
          </p:nvSpPr>
          <p:spPr bwMode="auto">
            <a:xfrm>
              <a:off x="1968" y="267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" name="Group 34"/>
          <p:cNvGrpSpPr/>
          <p:nvPr/>
        </p:nvGrpSpPr>
        <p:grpSpPr bwMode="auto">
          <a:xfrm>
            <a:off x="4518025" y="5661025"/>
            <a:ext cx="635000" cy="473075"/>
            <a:chOff x="1952" y="3494"/>
            <a:chExt cx="400" cy="298"/>
          </a:xfrm>
        </p:grpSpPr>
        <p:sp>
          <p:nvSpPr>
            <p:cNvPr id="143379" name="Line 35"/>
            <p:cNvSpPr>
              <a:spLocks noChangeShapeType="1"/>
            </p:cNvSpPr>
            <p:nvPr/>
          </p:nvSpPr>
          <p:spPr bwMode="auto">
            <a:xfrm>
              <a:off x="1952" y="350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0" name="Text Box 36"/>
            <p:cNvSpPr txBox="1">
              <a:spLocks noChangeArrowheads="1"/>
            </p:cNvSpPr>
            <p:nvPr/>
          </p:nvSpPr>
          <p:spPr bwMode="auto">
            <a:xfrm>
              <a:off x="1968" y="3494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4" grpId="0" autoUpdateAnimBg="0"/>
      <p:bldP spid="34" grpId="0"/>
      <p:bldP spid="46" grpId="0" autoUpdateAnimBg="0"/>
      <p:bldP spid="47" grpId="0" autoUpdateAnimBg="0"/>
      <p:bldP spid="4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1905000" y="381000"/>
            <a:ext cx="868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三、中断服务程序入口地址的寻找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2179" name="Rectangle 3"/>
          <p:cNvSpPr>
            <a:spLocks noChangeArrowheads="1"/>
          </p:cNvSpPr>
          <p:nvPr/>
        </p:nvSpPr>
        <p:spPr bwMode="auto">
          <a:xfrm>
            <a:off x="2514600" y="11430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 硬件向量法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562180" name="Group 4"/>
          <p:cNvGrpSpPr/>
          <p:nvPr/>
        </p:nvGrpSpPr>
        <p:grpSpPr bwMode="auto">
          <a:xfrm>
            <a:off x="7696200" y="2286000"/>
            <a:ext cx="2514600" cy="2746375"/>
            <a:chOff x="4032" y="1440"/>
            <a:chExt cx="1584" cy="1730"/>
          </a:xfrm>
        </p:grpSpPr>
        <p:sp>
          <p:nvSpPr>
            <p:cNvPr id="144418" name="Text Box 5"/>
            <p:cNvSpPr txBox="1">
              <a:spLocks noChangeArrowheads="1"/>
            </p:cNvSpPr>
            <p:nvPr/>
          </p:nvSpPr>
          <p:spPr bwMode="auto">
            <a:xfrm>
              <a:off x="4550" y="2056"/>
              <a:ext cx="10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入口地址 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200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19" name="Rectangle 6"/>
            <p:cNvSpPr>
              <a:spLocks noChangeArrowheads="1"/>
            </p:cNvSpPr>
            <p:nvPr/>
          </p:nvSpPr>
          <p:spPr bwMode="auto">
            <a:xfrm>
              <a:off x="4464" y="2018"/>
              <a:ext cx="115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4420" name="Text Box 7"/>
            <p:cNvSpPr txBox="1">
              <a:spLocks noChangeArrowheads="1"/>
            </p:cNvSpPr>
            <p:nvPr/>
          </p:nvSpPr>
          <p:spPr bwMode="auto">
            <a:xfrm>
              <a:off x="4550" y="2344"/>
              <a:ext cx="10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入口地址 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300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21" name="Rectangle 8"/>
            <p:cNvSpPr>
              <a:spLocks noChangeArrowheads="1"/>
            </p:cNvSpPr>
            <p:nvPr/>
          </p:nvSpPr>
          <p:spPr bwMode="auto">
            <a:xfrm>
              <a:off x="4464" y="2306"/>
              <a:ext cx="115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4422" name="Text Box 9"/>
            <p:cNvSpPr txBox="1">
              <a:spLocks noChangeArrowheads="1"/>
            </p:cNvSpPr>
            <p:nvPr/>
          </p:nvSpPr>
          <p:spPr bwMode="auto">
            <a:xfrm>
              <a:off x="4550" y="2632"/>
              <a:ext cx="10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入口地址 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400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23" name="Rectangle 10"/>
            <p:cNvSpPr>
              <a:spLocks noChangeArrowheads="1"/>
            </p:cNvSpPr>
            <p:nvPr/>
          </p:nvSpPr>
          <p:spPr bwMode="auto">
            <a:xfrm>
              <a:off x="4464" y="2594"/>
              <a:ext cx="115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4424" name="Rectangle 11"/>
            <p:cNvSpPr>
              <a:spLocks noChangeArrowheads="1"/>
            </p:cNvSpPr>
            <p:nvPr/>
          </p:nvSpPr>
          <p:spPr bwMode="auto">
            <a:xfrm>
              <a:off x="4464" y="1730"/>
              <a:ext cx="115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4425" name="Rectangle 12"/>
            <p:cNvSpPr>
              <a:spLocks noChangeArrowheads="1"/>
            </p:cNvSpPr>
            <p:nvPr/>
          </p:nvSpPr>
          <p:spPr bwMode="auto">
            <a:xfrm>
              <a:off x="4464" y="2882"/>
              <a:ext cx="115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4426" name="Rectangle 13"/>
            <p:cNvSpPr>
              <a:spLocks noChangeArrowheads="1"/>
            </p:cNvSpPr>
            <p:nvPr/>
          </p:nvSpPr>
          <p:spPr bwMode="auto">
            <a:xfrm>
              <a:off x="4032" y="2018"/>
              <a:ext cx="38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12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27" name="Rectangle 14"/>
            <p:cNvSpPr>
              <a:spLocks noChangeArrowheads="1"/>
            </p:cNvSpPr>
            <p:nvPr/>
          </p:nvSpPr>
          <p:spPr bwMode="auto">
            <a:xfrm>
              <a:off x="4032" y="2306"/>
              <a:ext cx="38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13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28" name="Rectangle 15"/>
            <p:cNvSpPr>
              <a:spLocks noChangeArrowheads="1"/>
            </p:cNvSpPr>
            <p:nvPr/>
          </p:nvSpPr>
          <p:spPr bwMode="auto">
            <a:xfrm>
              <a:off x="4032" y="2594"/>
              <a:ext cx="38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14 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429" name="Text Box 16"/>
            <p:cNvSpPr txBox="1">
              <a:spLocks noChangeArrowheads="1"/>
            </p:cNvSpPr>
            <p:nvPr/>
          </p:nvSpPr>
          <p:spPr bwMode="auto">
            <a:xfrm>
              <a:off x="4842" y="144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2193" name="Group 17"/>
          <p:cNvGrpSpPr/>
          <p:nvPr/>
        </p:nvGrpSpPr>
        <p:grpSpPr bwMode="auto">
          <a:xfrm>
            <a:off x="4495800" y="2286000"/>
            <a:ext cx="2590800" cy="2743200"/>
            <a:chOff x="2016" y="1440"/>
            <a:chExt cx="1632" cy="1728"/>
          </a:xfrm>
        </p:grpSpPr>
        <p:grpSp>
          <p:nvGrpSpPr>
            <p:cNvPr id="144405" name="Group 18"/>
            <p:cNvGrpSpPr/>
            <p:nvPr/>
          </p:nvGrpSpPr>
          <p:grpSpPr bwMode="auto">
            <a:xfrm>
              <a:off x="2016" y="1728"/>
              <a:ext cx="1632" cy="1440"/>
              <a:chOff x="2016" y="1728"/>
              <a:chExt cx="1632" cy="1440"/>
            </a:xfrm>
          </p:grpSpPr>
          <p:sp>
            <p:nvSpPr>
              <p:cNvPr id="144407" name="Rectangle 19"/>
              <p:cNvSpPr>
                <a:spLocks noChangeArrowheads="1"/>
              </p:cNvSpPr>
              <p:nvPr/>
            </p:nvSpPr>
            <p:spPr bwMode="auto">
              <a:xfrm>
                <a:off x="2016" y="2016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12 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08" name="Rectangle 20"/>
              <p:cNvSpPr>
                <a:spLocks noChangeArrowheads="1"/>
              </p:cNvSpPr>
              <p:nvPr/>
            </p:nvSpPr>
            <p:spPr bwMode="auto">
              <a:xfrm>
                <a:off x="2016" y="2304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13 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09" name="Rectangle 21"/>
              <p:cNvSpPr>
                <a:spLocks noChangeArrowheads="1"/>
              </p:cNvSpPr>
              <p:nvPr/>
            </p:nvSpPr>
            <p:spPr bwMode="auto">
              <a:xfrm>
                <a:off x="2016" y="259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14 </a:t>
                </a: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10" name="Text Box 22"/>
              <p:cNvSpPr txBox="1">
                <a:spLocks noChangeArrowheads="1"/>
              </p:cNvSpPr>
              <p:nvPr/>
            </p:nvSpPr>
            <p:spPr bwMode="auto">
              <a:xfrm>
                <a:off x="2496" y="2054"/>
                <a:ext cx="11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       200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11" name="Rectangle 23"/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1152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412" name="Rectangle 24"/>
              <p:cNvSpPr>
                <a:spLocks noChangeArrowheads="1"/>
              </p:cNvSpPr>
              <p:nvPr/>
            </p:nvSpPr>
            <p:spPr bwMode="auto">
              <a:xfrm>
                <a:off x="2448" y="2304"/>
                <a:ext cx="1152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413" name="Rectangle 25"/>
              <p:cNvSpPr>
                <a:spLocks noChangeArrowheads="1"/>
              </p:cNvSpPr>
              <p:nvPr/>
            </p:nvSpPr>
            <p:spPr bwMode="auto">
              <a:xfrm>
                <a:off x="2448" y="2592"/>
                <a:ext cx="1152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414" name="Rectangle 26"/>
              <p:cNvSpPr>
                <a:spLocks noChangeArrowheads="1"/>
              </p:cNvSpPr>
              <p:nvPr/>
            </p:nvSpPr>
            <p:spPr bwMode="auto">
              <a:xfrm>
                <a:off x="2448" y="1728"/>
                <a:ext cx="1152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415" name="Rectangle 27"/>
              <p:cNvSpPr>
                <a:spLocks noChangeArrowheads="1"/>
              </p:cNvSpPr>
              <p:nvPr/>
            </p:nvSpPr>
            <p:spPr bwMode="auto">
              <a:xfrm>
                <a:off x="2448" y="2880"/>
                <a:ext cx="1152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416" name="Text Box 28"/>
              <p:cNvSpPr txBox="1">
                <a:spLocks noChangeArrowheads="1"/>
              </p:cNvSpPr>
              <p:nvPr/>
            </p:nvSpPr>
            <p:spPr bwMode="auto">
              <a:xfrm>
                <a:off x="2496" y="2342"/>
                <a:ext cx="11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       300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17" name="Text Box 29"/>
              <p:cNvSpPr txBox="1">
                <a:spLocks noChangeArrowheads="1"/>
              </p:cNvSpPr>
              <p:nvPr/>
            </p:nvSpPr>
            <p:spPr bwMode="auto">
              <a:xfrm>
                <a:off x="2496" y="2630"/>
                <a:ext cx="11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JMP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       400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4406" name="Text Box 30"/>
            <p:cNvSpPr txBox="1">
              <a:spLocks noChangeArrowheads="1"/>
            </p:cNvSpPr>
            <p:nvPr/>
          </p:nvSpPr>
          <p:spPr bwMode="auto">
            <a:xfrm>
              <a:off x="2826" y="144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主存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2225" name="Group 49"/>
          <p:cNvGrpSpPr/>
          <p:nvPr/>
        </p:nvGrpSpPr>
        <p:grpSpPr bwMode="auto">
          <a:xfrm>
            <a:off x="2057400" y="2286000"/>
            <a:ext cx="2286000" cy="3003550"/>
            <a:chOff x="336" y="1440"/>
            <a:chExt cx="1440" cy="1892"/>
          </a:xfrm>
        </p:grpSpPr>
        <p:grpSp>
          <p:nvGrpSpPr>
            <p:cNvPr id="144392" name="Group 48"/>
            <p:cNvGrpSpPr/>
            <p:nvPr/>
          </p:nvGrpSpPr>
          <p:grpSpPr bwMode="auto">
            <a:xfrm>
              <a:off x="336" y="1738"/>
              <a:ext cx="1104" cy="1296"/>
              <a:chOff x="336" y="1738"/>
              <a:chExt cx="1104" cy="1296"/>
            </a:xfrm>
          </p:grpSpPr>
          <p:sp>
            <p:nvSpPr>
              <p:cNvPr id="144395" name="Text Box 33"/>
              <p:cNvSpPr txBox="1">
                <a:spLocks noChangeArrowheads="1"/>
              </p:cNvSpPr>
              <p:nvPr/>
            </p:nvSpPr>
            <p:spPr bwMode="auto">
              <a:xfrm>
                <a:off x="518" y="2120"/>
                <a:ext cx="767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向量地址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形成部件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396" name="Rectangle 34"/>
              <p:cNvSpPr>
                <a:spLocks noChangeArrowheads="1"/>
              </p:cNvSpPr>
              <p:nvPr/>
            </p:nvSpPr>
            <p:spPr bwMode="auto">
              <a:xfrm>
                <a:off x="336" y="2074"/>
                <a:ext cx="110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  <p:sp>
            <p:nvSpPr>
              <p:cNvPr id="144397" name="Line 35"/>
              <p:cNvSpPr>
                <a:spLocks noChangeShapeType="1"/>
              </p:cNvSpPr>
              <p:nvPr/>
            </p:nvSpPr>
            <p:spPr bwMode="auto">
              <a:xfrm flipV="1">
                <a:off x="480" y="173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398" name="Line 36"/>
              <p:cNvSpPr>
                <a:spLocks noChangeShapeType="1"/>
              </p:cNvSpPr>
              <p:nvPr/>
            </p:nvSpPr>
            <p:spPr bwMode="auto">
              <a:xfrm flipV="1">
                <a:off x="624" y="173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399" name="Line 37"/>
              <p:cNvSpPr>
                <a:spLocks noChangeShapeType="1"/>
              </p:cNvSpPr>
              <p:nvPr/>
            </p:nvSpPr>
            <p:spPr bwMode="auto">
              <a:xfrm flipV="1">
                <a:off x="1296" y="173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0" name="Text Box 38"/>
              <p:cNvSpPr txBox="1">
                <a:spLocks noChangeArrowheads="1"/>
              </p:cNvSpPr>
              <p:nvPr/>
            </p:nvSpPr>
            <p:spPr bwMode="auto">
              <a:xfrm>
                <a:off x="827" y="175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4401" name="Line 39"/>
              <p:cNvSpPr>
                <a:spLocks noChangeShapeType="1"/>
              </p:cNvSpPr>
              <p:nvPr/>
            </p:nvSpPr>
            <p:spPr bwMode="auto">
              <a:xfrm flipV="1">
                <a:off x="480" y="269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2" name="Line 40"/>
              <p:cNvSpPr>
                <a:spLocks noChangeShapeType="1"/>
              </p:cNvSpPr>
              <p:nvPr/>
            </p:nvSpPr>
            <p:spPr bwMode="auto">
              <a:xfrm flipV="1">
                <a:off x="624" y="269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3" name="Line 41"/>
              <p:cNvSpPr>
                <a:spLocks noChangeShapeType="1"/>
              </p:cNvSpPr>
              <p:nvPr/>
            </p:nvSpPr>
            <p:spPr bwMode="auto">
              <a:xfrm flipV="1">
                <a:off x="1296" y="269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4" name="Text Box 42"/>
              <p:cNvSpPr txBox="1">
                <a:spLocks noChangeArrowheads="1"/>
              </p:cNvSpPr>
              <p:nvPr/>
            </p:nvSpPr>
            <p:spPr bwMode="auto">
              <a:xfrm>
                <a:off x="827" y="271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…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4393" name="Text Box 43"/>
            <p:cNvSpPr txBox="1">
              <a:spLocks noChangeArrowheads="1"/>
            </p:cNvSpPr>
            <p:nvPr/>
          </p:nvSpPr>
          <p:spPr bwMode="auto">
            <a:xfrm>
              <a:off x="480" y="1440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中断向量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4394" name="Text Box 44"/>
            <p:cNvSpPr txBox="1">
              <a:spLocks noChangeArrowheads="1"/>
            </p:cNvSpPr>
            <p:nvPr/>
          </p:nvSpPr>
          <p:spPr bwMode="auto">
            <a:xfrm>
              <a:off x="432" y="3082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排队器输出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2221" name="Text Box 45"/>
          <p:cNvSpPr txBox="1">
            <a:spLocks noChangeArrowheads="1"/>
          </p:cNvSpPr>
          <p:nvPr/>
        </p:nvSpPr>
        <p:spPr bwMode="auto">
          <a:xfrm>
            <a:off x="2286000" y="5486400"/>
            <a:ext cx="8610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两种方法：      向量地址</a:t>
            </a:r>
            <a:r>
              <a:rPr lang="zh-CN" altLang="en-US" sz="2400">
                <a:latin typeface="Times New Roman" panose="02020603050405020304" pitchFamily="18" charset="0"/>
              </a:rPr>
              <a:t>   12</a:t>
            </a:r>
            <a:r>
              <a:rPr lang="en-US" altLang="zh-CN" sz="2400">
                <a:latin typeface="Times New Roman" panose="02020603050405020304" pitchFamily="18" charset="0"/>
              </a:rPr>
              <a:t>H、13H、14H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           入口地址</a:t>
            </a:r>
            <a:r>
              <a:rPr lang="zh-CN" altLang="en-US" sz="2400">
                <a:latin typeface="Times New Roman" panose="02020603050405020304" pitchFamily="18" charset="0"/>
              </a:rPr>
              <a:t>   200、 300、 400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6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6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6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autoUpdateAnimBg="0"/>
      <p:bldP spid="56222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1828800" y="3810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软件查询法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3215" name="Rectangle 15"/>
          <p:cNvSpPr>
            <a:spLocks noChangeArrowheads="1"/>
          </p:cNvSpPr>
          <p:nvPr/>
        </p:nvSpPr>
        <p:spPr bwMode="auto">
          <a:xfrm>
            <a:off x="2362200" y="2819400"/>
            <a:ext cx="83820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</a:rPr>
              <a:t>M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563216" name="Group 16"/>
          <p:cNvGrpSpPr/>
          <p:nvPr/>
        </p:nvGrpSpPr>
        <p:grpSpPr bwMode="auto">
          <a:xfrm>
            <a:off x="3581400" y="3200400"/>
            <a:ext cx="5867400" cy="381000"/>
            <a:chOff x="1344" y="1968"/>
            <a:chExt cx="3696" cy="240"/>
          </a:xfrm>
        </p:grpSpPr>
        <p:sp>
          <p:nvSpPr>
            <p:cNvPr id="146473" name="Rectangle 17"/>
            <p:cNvSpPr>
              <a:spLocks noChangeArrowheads="1"/>
            </p:cNvSpPr>
            <p:nvPr/>
          </p:nvSpPr>
          <p:spPr bwMode="auto">
            <a:xfrm>
              <a:off x="1344" y="1968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latin typeface="Times New Roman" panose="02020603050405020304" pitchFamily="18" charset="0"/>
                </a:rPr>
                <a:t>JMP    1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# </a:t>
              </a:r>
              <a:r>
                <a:rPr lang="en-US" altLang="zh-CN" sz="2400">
                  <a:latin typeface="Times New Roman" panose="02020603050405020304" pitchFamily="18" charset="0"/>
                </a:rPr>
                <a:t>SR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6474" name="Rectangle 18"/>
            <p:cNvSpPr>
              <a:spLocks noChangeArrowheads="1"/>
            </p:cNvSpPr>
            <p:nvPr/>
          </p:nvSpPr>
          <p:spPr bwMode="auto">
            <a:xfrm>
              <a:off x="2976" y="1968"/>
              <a:ext cx="206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   </a:t>
              </a:r>
              <a:r>
                <a:rPr lang="en-US" altLang="zh-CN" sz="240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>
                  <a:latin typeface="Times New Roman" panose="02020603050405020304" pitchFamily="18" charset="0"/>
                </a:rPr>
                <a:t>转1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</a:t>
              </a:r>
              <a:r>
                <a:rPr lang="zh-CN" altLang="en-US" sz="2400">
                  <a:latin typeface="Times New Roman" panose="02020603050405020304" pitchFamily="18" charset="0"/>
                </a:rPr>
                <a:t>服务程序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19" name="Group 19"/>
          <p:cNvGrpSpPr/>
          <p:nvPr/>
        </p:nvGrpSpPr>
        <p:grpSpPr bwMode="auto">
          <a:xfrm>
            <a:off x="3581400" y="3657600"/>
            <a:ext cx="5867400" cy="762000"/>
            <a:chOff x="1344" y="2256"/>
            <a:chExt cx="3696" cy="480"/>
          </a:xfrm>
        </p:grpSpPr>
        <p:sp>
          <p:nvSpPr>
            <p:cNvPr id="146469" name="Rectangle 20"/>
            <p:cNvSpPr>
              <a:spLocks noChangeArrowheads="1"/>
            </p:cNvSpPr>
            <p:nvPr/>
          </p:nvSpPr>
          <p:spPr bwMode="auto">
            <a:xfrm>
              <a:off x="1344" y="2256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SKP</a:t>
              </a:r>
              <a:r>
                <a:rPr lang="en-US" altLang="zh-CN" sz="2400">
                  <a:latin typeface="Times New Roman" panose="02020603050405020304" pitchFamily="18" charset="0"/>
                </a:rPr>
                <a:t>    DZ 2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#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6470" name="Rectangle 21"/>
            <p:cNvSpPr>
              <a:spLocks noChangeArrowheads="1"/>
            </p:cNvSpPr>
            <p:nvPr/>
          </p:nvSpPr>
          <p:spPr bwMode="auto">
            <a:xfrm>
              <a:off x="1344" y="2496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latin typeface="Times New Roman" panose="02020603050405020304" pitchFamily="18" charset="0"/>
                </a:rPr>
                <a:t>JMP    2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# </a:t>
              </a:r>
              <a:r>
                <a:rPr lang="en-US" altLang="zh-CN" sz="2400">
                  <a:latin typeface="Times New Roman" panose="02020603050405020304" pitchFamily="18" charset="0"/>
                </a:rPr>
                <a:t>SR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6471" name="Rectangle 22"/>
            <p:cNvSpPr>
              <a:spLocks noChangeArrowheads="1"/>
            </p:cNvSpPr>
            <p:nvPr/>
          </p:nvSpPr>
          <p:spPr bwMode="auto">
            <a:xfrm>
              <a:off x="2976" y="2256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   </a:t>
              </a:r>
              <a:r>
                <a:rPr lang="en-US" altLang="zh-CN" sz="2400">
                  <a:latin typeface="Times New Roman" panose="02020603050405020304" pitchFamily="18" charset="0"/>
                </a:rPr>
                <a:t>D = 0 </a:t>
              </a:r>
              <a:r>
                <a:rPr lang="zh-CN" altLang="en-US" sz="2400">
                  <a:latin typeface="Times New Roman" panose="02020603050405020304" pitchFamily="18" charset="0"/>
                </a:rPr>
                <a:t>跳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6472" name="Rectangle 23"/>
            <p:cNvSpPr>
              <a:spLocks noChangeArrowheads="1"/>
            </p:cNvSpPr>
            <p:nvPr/>
          </p:nvSpPr>
          <p:spPr bwMode="auto">
            <a:xfrm>
              <a:off x="2976" y="2496"/>
              <a:ext cx="206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   </a:t>
              </a:r>
              <a:r>
                <a:rPr lang="en-US" altLang="zh-CN" sz="240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>
                  <a:latin typeface="Times New Roman" panose="02020603050405020304" pitchFamily="18" charset="0"/>
                </a:rPr>
                <a:t>转2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</a:t>
              </a:r>
              <a:r>
                <a:rPr lang="zh-CN" altLang="en-US" sz="2400">
                  <a:latin typeface="Times New Roman" panose="02020603050405020304" pitchFamily="18" charset="0"/>
                </a:rPr>
                <a:t>服务程序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24" name="Group 24"/>
          <p:cNvGrpSpPr/>
          <p:nvPr/>
        </p:nvGrpSpPr>
        <p:grpSpPr bwMode="auto">
          <a:xfrm>
            <a:off x="3581400" y="5486400"/>
            <a:ext cx="5867400" cy="762000"/>
            <a:chOff x="1344" y="3408"/>
            <a:chExt cx="3696" cy="480"/>
          </a:xfrm>
        </p:grpSpPr>
        <p:sp>
          <p:nvSpPr>
            <p:cNvPr id="146465" name="Rectangle 25"/>
            <p:cNvSpPr>
              <a:spLocks noChangeArrowheads="1"/>
            </p:cNvSpPr>
            <p:nvPr/>
          </p:nvSpPr>
          <p:spPr bwMode="auto">
            <a:xfrm>
              <a:off x="1344" y="3408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SKP</a:t>
              </a:r>
              <a:r>
                <a:rPr lang="en-US" altLang="zh-CN" sz="2400">
                  <a:latin typeface="Times New Roman" panose="02020603050405020304" pitchFamily="18" charset="0"/>
                </a:rPr>
                <a:t>    DZ 8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#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6466" name="Rectangle 26"/>
            <p:cNvSpPr>
              <a:spLocks noChangeArrowheads="1"/>
            </p:cNvSpPr>
            <p:nvPr/>
          </p:nvSpPr>
          <p:spPr bwMode="auto">
            <a:xfrm>
              <a:off x="1344" y="3648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latin typeface="Times New Roman" panose="02020603050405020304" pitchFamily="18" charset="0"/>
                </a:rPr>
                <a:t>JMP    8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# </a:t>
              </a:r>
              <a:r>
                <a:rPr lang="en-US" altLang="zh-CN" sz="2400">
                  <a:latin typeface="Times New Roman" panose="02020603050405020304" pitchFamily="18" charset="0"/>
                </a:rPr>
                <a:t>SR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6467" name="Rectangle 27"/>
            <p:cNvSpPr>
              <a:spLocks noChangeArrowheads="1"/>
            </p:cNvSpPr>
            <p:nvPr/>
          </p:nvSpPr>
          <p:spPr bwMode="auto">
            <a:xfrm>
              <a:off x="2976" y="3408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8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   </a:t>
              </a:r>
              <a:r>
                <a:rPr lang="en-US" altLang="zh-CN" sz="2400">
                  <a:latin typeface="Times New Roman" panose="02020603050405020304" pitchFamily="18" charset="0"/>
                </a:rPr>
                <a:t>D = 0 </a:t>
              </a:r>
              <a:r>
                <a:rPr lang="zh-CN" altLang="en-US" sz="2400">
                  <a:latin typeface="Times New Roman" panose="02020603050405020304" pitchFamily="18" charset="0"/>
                </a:rPr>
                <a:t>跳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6468" name="Rectangle 28"/>
            <p:cNvSpPr>
              <a:spLocks noChangeArrowheads="1"/>
            </p:cNvSpPr>
            <p:nvPr/>
          </p:nvSpPr>
          <p:spPr bwMode="auto">
            <a:xfrm>
              <a:off x="2976" y="3648"/>
              <a:ext cx="206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8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   </a:t>
              </a:r>
              <a:r>
                <a:rPr lang="en-US" altLang="zh-CN" sz="2400">
                  <a:latin typeface="Times New Roman" panose="02020603050405020304" pitchFamily="18" charset="0"/>
                </a:rPr>
                <a:t>D = 1 </a:t>
              </a:r>
              <a:r>
                <a:rPr lang="zh-CN" altLang="en-US" sz="2400">
                  <a:latin typeface="Times New Roman" panose="02020603050405020304" pitchFamily="18" charset="0"/>
                </a:rPr>
                <a:t>转8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# </a:t>
              </a:r>
              <a:r>
                <a:rPr lang="zh-CN" altLang="en-US" sz="2400">
                  <a:latin typeface="Times New Roman" panose="02020603050405020304" pitchFamily="18" charset="0"/>
                </a:rPr>
                <a:t>服务程序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48" name="Group 48"/>
          <p:cNvGrpSpPr/>
          <p:nvPr/>
        </p:nvGrpSpPr>
        <p:grpSpPr bwMode="auto">
          <a:xfrm>
            <a:off x="2667000" y="1066800"/>
            <a:ext cx="5181600" cy="533400"/>
            <a:chOff x="720" y="672"/>
            <a:chExt cx="3264" cy="336"/>
          </a:xfrm>
        </p:grpSpPr>
        <p:sp>
          <p:nvSpPr>
            <p:cNvPr id="146463" name="Rectangle 30"/>
            <p:cNvSpPr>
              <a:spLocks noChangeArrowheads="1"/>
            </p:cNvSpPr>
            <p:nvPr/>
          </p:nvSpPr>
          <p:spPr bwMode="auto">
            <a:xfrm>
              <a:off x="720" y="672"/>
              <a:ext cx="326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八个中断源 1，2，          8 按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400">
                  <a:latin typeface="Times New Roman" panose="02020603050405020304" pitchFamily="18" charset="0"/>
                </a:rPr>
                <a:t>排列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6464" name="Text Box 31"/>
            <p:cNvSpPr txBox="1">
              <a:spLocks noChangeArrowheads="1"/>
            </p:cNvSpPr>
            <p:nvPr/>
          </p:nvSpPr>
          <p:spPr bwMode="auto">
            <a:xfrm>
              <a:off x="2310" y="67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563232" name="Text Box 32"/>
          <p:cNvSpPr txBox="1">
            <a:spLocks noChangeArrowheads="1"/>
          </p:cNvSpPr>
          <p:nvPr/>
        </p:nvSpPr>
        <p:spPr bwMode="auto">
          <a:xfrm>
            <a:off x="4322763" y="4741863"/>
            <a:ext cx="5540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…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63234" name="Group 34"/>
          <p:cNvGrpSpPr/>
          <p:nvPr/>
        </p:nvGrpSpPr>
        <p:grpSpPr bwMode="auto">
          <a:xfrm>
            <a:off x="3581400" y="2770188"/>
            <a:ext cx="7391400" cy="457200"/>
            <a:chOff x="1296" y="1745"/>
            <a:chExt cx="4656" cy="288"/>
          </a:xfrm>
        </p:grpSpPr>
        <p:grpSp>
          <p:nvGrpSpPr>
            <p:cNvPr id="146459" name="Group 35"/>
            <p:cNvGrpSpPr/>
            <p:nvPr/>
          </p:nvGrpSpPr>
          <p:grpSpPr bwMode="auto">
            <a:xfrm>
              <a:off x="1296" y="1776"/>
              <a:ext cx="2976" cy="240"/>
              <a:chOff x="1296" y="1776"/>
              <a:chExt cx="2976" cy="240"/>
            </a:xfrm>
          </p:grpSpPr>
          <p:sp>
            <p:nvSpPr>
              <p:cNvPr id="146461" name="Rectangle 36"/>
              <p:cNvSpPr>
                <a:spLocks noChangeArrowheads="1"/>
              </p:cNvSpPr>
              <p:nvPr/>
            </p:nvSpPr>
            <p:spPr bwMode="auto">
              <a:xfrm>
                <a:off x="1296" y="1776"/>
                <a:ext cx="1344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SKP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   DZ 1</a:t>
                </a:r>
                <a:r>
                  <a:rPr lang="en-US" altLang="zh-CN" sz="2400" baseline="30000">
                    <a:latin typeface="Times New Roman" panose="02020603050405020304" pitchFamily="18" charset="0"/>
                  </a:rPr>
                  <a:t>#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462" name="Rectangle 37"/>
              <p:cNvSpPr>
                <a:spLocks noChangeArrowheads="1"/>
              </p:cNvSpPr>
              <p:nvPr/>
            </p:nvSpPr>
            <p:spPr bwMode="auto">
              <a:xfrm>
                <a:off x="2928" y="1776"/>
                <a:ext cx="1344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400" baseline="30000">
                    <a:latin typeface="Times New Roman" panose="02020603050405020304" pitchFamily="18" charset="0"/>
                  </a:rPr>
                  <a:t>#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D = 0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跳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6460" name="Rectangle 38"/>
            <p:cNvSpPr>
              <a:spLocks noChangeArrowheads="1"/>
            </p:cNvSpPr>
            <p:nvPr/>
          </p:nvSpPr>
          <p:spPr bwMode="auto">
            <a:xfrm>
              <a:off x="3888" y="1745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（D</a:t>
              </a:r>
              <a:r>
                <a:rPr lang="zh-CN" altLang="en-US" sz="2000">
                  <a:latin typeface="Times New Roman" panose="02020603050405020304" pitchFamily="18" charset="0"/>
                </a:rPr>
                <a:t>为完成触发器）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46442" name="AutoShape 39"/>
          <p:cNvSpPr>
            <a:spLocks noChangeArrowheads="1"/>
          </p:cNvSpPr>
          <p:nvPr/>
        </p:nvSpPr>
        <p:spPr bwMode="auto">
          <a:xfrm>
            <a:off x="6858000" y="2209800"/>
            <a:ext cx="2209800" cy="5334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63247" name="Group 47"/>
          <p:cNvGrpSpPr/>
          <p:nvPr/>
        </p:nvGrpSpPr>
        <p:grpSpPr bwMode="auto">
          <a:xfrm>
            <a:off x="2286000" y="1676400"/>
            <a:ext cx="7553325" cy="4648200"/>
            <a:chOff x="480" y="1056"/>
            <a:chExt cx="4758" cy="2928"/>
          </a:xfrm>
        </p:grpSpPr>
        <p:grpSp>
          <p:nvGrpSpPr>
            <p:cNvPr id="146444" name="Group 45"/>
            <p:cNvGrpSpPr/>
            <p:nvPr/>
          </p:nvGrpSpPr>
          <p:grpSpPr bwMode="auto">
            <a:xfrm>
              <a:off x="480" y="1056"/>
              <a:ext cx="4758" cy="2928"/>
              <a:chOff x="480" y="1056"/>
              <a:chExt cx="4758" cy="2928"/>
            </a:xfrm>
          </p:grpSpPr>
          <p:sp>
            <p:nvSpPr>
              <p:cNvPr id="146448" name="Rectangle 4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1584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中断识别程序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（入口地址 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）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6449" name="Group 44"/>
              <p:cNvGrpSpPr/>
              <p:nvPr/>
            </p:nvGrpSpPr>
            <p:grpSpPr bwMode="auto">
              <a:xfrm>
                <a:off x="480" y="1368"/>
                <a:ext cx="4758" cy="2616"/>
                <a:chOff x="480" y="1368"/>
                <a:chExt cx="4758" cy="2616"/>
              </a:xfrm>
            </p:grpSpPr>
            <p:sp>
              <p:nvSpPr>
                <p:cNvPr id="146450" name="Freeform 6"/>
                <p:cNvSpPr/>
                <p:nvPr/>
              </p:nvSpPr>
              <p:spPr bwMode="auto">
                <a:xfrm>
                  <a:off x="480" y="3980"/>
                  <a:ext cx="4752" cy="4"/>
                </a:xfrm>
                <a:custGeom>
                  <a:avLst/>
                  <a:gdLst>
                    <a:gd name="T0" fmla="*/ 0 w 4752"/>
                    <a:gd name="T1" fmla="*/ 4 h 4"/>
                    <a:gd name="T2" fmla="*/ 4752 w 4752"/>
                    <a:gd name="T3" fmla="*/ 0 h 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752" h="4">
                      <a:moveTo>
                        <a:pt x="0" y="4"/>
                      </a:moveTo>
                      <a:lnTo>
                        <a:pt x="4752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6451" name="Group 43"/>
                <p:cNvGrpSpPr/>
                <p:nvPr/>
              </p:nvGrpSpPr>
              <p:grpSpPr bwMode="auto">
                <a:xfrm>
                  <a:off x="480" y="1368"/>
                  <a:ext cx="4758" cy="2616"/>
                  <a:chOff x="480" y="1368"/>
                  <a:chExt cx="4758" cy="2616"/>
                </a:xfrm>
              </p:grpSpPr>
              <p:sp>
                <p:nvSpPr>
                  <p:cNvPr id="146452" name="Freeform 8"/>
                  <p:cNvSpPr/>
                  <p:nvPr/>
                </p:nvSpPr>
                <p:spPr bwMode="auto">
                  <a:xfrm>
                    <a:off x="480" y="1368"/>
                    <a:ext cx="4758" cy="6"/>
                  </a:xfrm>
                  <a:custGeom>
                    <a:avLst/>
                    <a:gdLst>
                      <a:gd name="T0" fmla="*/ 0 w 4758"/>
                      <a:gd name="T1" fmla="*/ 6 h 6"/>
                      <a:gd name="T2" fmla="*/ 4758 w 4758"/>
                      <a:gd name="T3" fmla="*/ 0 h 6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758" h="6">
                        <a:moveTo>
                          <a:pt x="0" y="6"/>
                        </a:moveTo>
                        <a:lnTo>
                          <a:pt x="4758" y="0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53" name="Freeform 9"/>
                  <p:cNvSpPr/>
                  <p:nvPr/>
                </p:nvSpPr>
                <p:spPr bwMode="auto">
                  <a:xfrm>
                    <a:off x="480" y="1688"/>
                    <a:ext cx="4752" cy="1"/>
                  </a:xfrm>
                  <a:custGeom>
                    <a:avLst/>
                    <a:gdLst>
                      <a:gd name="T0" fmla="*/ 0 w 4752"/>
                      <a:gd name="T1" fmla="*/ 1 h 1"/>
                      <a:gd name="T2" fmla="*/ 4752 w 4752"/>
                      <a:gd name="T3" fmla="*/ 0 h 1"/>
                      <a:gd name="T4" fmla="*/ 0 60000 65536"/>
                      <a:gd name="T5" fmla="*/ 0 60000 6553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0" t="0" r="r" b="b"/>
                    <a:pathLst>
                      <a:path w="4752" h="1">
                        <a:moveTo>
                          <a:pt x="0" y="1"/>
                        </a:moveTo>
                        <a:lnTo>
                          <a:pt x="4752" y="0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5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1419"/>
                    <a:ext cx="672" cy="2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400">
                        <a:latin typeface="Times New Roman" panose="02020603050405020304" pitchFamily="18" charset="0"/>
                      </a:rPr>
                      <a:t>地  址</a:t>
                    </a: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6455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840" y="1419"/>
                    <a:ext cx="768" cy="2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400">
                        <a:latin typeface="Times New Roman" panose="02020603050405020304" pitchFamily="18" charset="0"/>
                      </a:rPr>
                      <a:t>说   明</a:t>
                    </a: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6456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1419"/>
                    <a:ext cx="816" cy="2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400">
                        <a:latin typeface="Times New Roman" panose="02020603050405020304" pitchFamily="18" charset="0"/>
                      </a:rPr>
                      <a:t>指   令</a:t>
                    </a: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645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74"/>
                    <a:ext cx="0" cy="26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5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374"/>
                    <a:ext cx="0" cy="261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46445" name="Group 46"/>
            <p:cNvGrpSpPr/>
            <p:nvPr/>
          </p:nvGrpSpPr>
          <p:grpSpPr bwMode="auto">
            <a:xfrm>
              <a:off x="485" y="1374"/>
              <a:ext cx="4744" cy="2610"/>
              <a:chOff x="485" y="1374"/>
              <a:chExt cx="4744" cy="2610"/>
            </a:xfrm>
          </p:grpSpPr>
          <p:sp>
            <p:nvSpPr>
              <p:cNvPr id="146446" name="Line 41"/>
              <p:cNvSpPr>
                <a:spLocks noChangeShapeType="1"/>
              </p:cNvSpPr>
              <p:nvPr/>
            </p:nvSpPr>
            <p:spPr bwMode="auto">
              <a:xfrm>
                <a:off x="485" y="1374"/>
                <a:ext cx="0" cy="26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47" name="Line 42"/>
              <p:cNvSpPr>
                <a:spLocks noChangeShapeType="1"/>
              </p:cNvSpPr>
              <p:nvPr/>
            </p:nvSpPr>
            <p:spPr bwMode="auto">
              <a:xfrm>
                <a:off x="5229" y="1374"/>
                <a:ext cx="0" cy="26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6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56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1905000" y="381000"/>
            <a:ext cx="6324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四、中断响应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4227" name="Rectangle 3"/>
          <p:cNvSpPr>
            <a:spLocks noChangeArrowheads="1"/>
          </p:cNvSpPr>
          <p:nvPr/>
        </p:nvSpPr>
        <p:spPr bwMode="auto">
          <a:xfrm>
            <a:off x="2286000" y="10668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1. 响应中断的 </a:t>
            </a:r>
            <a:r>
              <a:rPr lang="zh-CN" altLang="en-US" sz="3000">
                <a:solidFill>
                  <a:schemeClr val="folHlink"/>
                </a:solidFill>
                <a:latin typeface="Times New Roman" panose="02020603050405020304" pitchFamily="18" charset="0"/>
              </a:rPr>
              <a:t>条件</a:t>
            </a:r>
            <a:endParaRPr lang="zh-CN" altLang="en-US" sz="3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28" name="Rectangle 4"/>
          <p:cNvSpPr>
            <a:spLocks noChangeArrowheads="1"/>
          </p:cNvSpPr>
          <p:nvPr/>
        </p:nvSpPr>
        <p:spPr bwMode="auto">
          <a:xfrm>
            <a:off x="2667000" y="16510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允许中断触发器  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EINT = 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29" name="Rectangle 5"/>
          <p:cNvSpPr>
            <a:spLocks noChangeArrowheads="1"/>
          </p:cNvSpPr>
          <p:nvPr/>
        </p:nvSpPr>
        <p:spPr bwMode="auto">
          <a:xfrm>
            <a:off x="2286000" y="22352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000">
                <a:latin typeface="Times New Roman" panose="02020603050405020304" pitchFamily="18" charset="0"/>
              </a:rPr>
              <a:t>2. 响应中断的 </a:t>
            </a:r>
            <a:r>
              <a:rPr lang="zh-CN" altLang="en-US" sz="300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endParaRPr lang="zh-CN" altLang="en-US" sz="3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30" name="Rectangle 6"/>
          <p:cNvSpPr>
            <a:spLocks noChangeArrowheads="1"/>
          </p:cNvSpPr>
          <p:nvPr/>
        </p:nvSpPr>
        <p:spPr bwMode="auto">
          <a:xfrm>
            <a:off x="2667000" y="2819400"/>
            <a:ext cx="6705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指令执行周期结束时刻由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发查询信号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4231" name="Group 7"/>
          <p:cNvGrpSpPr/>
          <p:nvPr/>
        </p:nvGrpSpPr>
        <p:grpSpPr bwMode="auto">
          <a:xfrm>
            <a:off x="3962400" y="4083050"/>
            <a:ext cx="4495800" cy="457200"/>
            <a:chOff x="1536" y="2572"/>
            <a:chExt cx="2832" cy="288"/>
          </a:xfrm>
        </p:grpSpPr>
        <p:sp>
          <p:nvSpPr>
            <p:cNvPr id="147495" name="Line 8"/>
            <p:cNvSpPr>
              <a:spLocks noChangeShapeType="1"/>
            </p:cNvSpPr>
            <p:nvPr/>
          </p:nvSpPr>
          <p:spPr bwMode="auto">
            <a:xfrm flipV="1">
              <a:off x="1536" y="25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96" name="Line 9"/>
            <p:cNvSpPr>
              <a:spLocks noChangeShapeType="1"/>
            </p:cNvSpPr>
            <p:nvPr/>
          </p:nvSpPr>
          <p:spPr bwMode="auto">
            <a:xfrm flipV="1">
              <a:off x="2688" y="25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97" name="Line 10"/>
            <p:cNvSpPr>
              <a:spLocks noChangeShapeType="1"/>
            </p:cNvSpPr>
            <p:nvPr/>
          </p:nvSpPr>
          <p:spPr bwMode="auto">
            <a:xfrm flipV="1">
              <a:off x="4368" y="25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4235" name="Group 11"/>
          <p:cNvGrpSpPr/>
          <p:nvPr/>
        </p:nvGrpSpPr>
        <p:grpSpPr bwMode="auto">
          <a:xfrm>
            <a:off x="3276600" y="5360988"/>
            <a:ext cx="5715000" cy="357187"/>
            <a:chOff x="1104" y="3377"/>
            <a:chExt cx="3600" cy="225"/>
          </a:xfrm>
        </p:grpSpPr>
        <p:sp>
          <p:nvSpPr>
            <p:cNvPr id="147492" name="Freeform 12"/>
            <p:cNvSpPr/>
            <p:nvPr/>
          </p:nvSpPr>
          <p:spPr bwMode="auto">
            <a:xfrm>
              <a:off x="1104" y="3380"/>
              <a:ext cx="3600" cy="222"/>
            </a:xfrm>
            <a:custGeom>
              <a:avLst/>
              <a:gdLst>
                <a:gd name="T0" fmla="*/ 0 w 3600"/>
                <a:gd name="T1" fmla="*/ 222 h 222"/>
                <a:gd name="T2" fmla="*/ 3600 w 3600"/>
                <a:gd name="T3" fmla="*/ 222 h 222"/>
                <a:gd name="T4" fmla="*/ 3600 w 3600"/>
                <a:gd name="T5" fmla="*/ 0 h 2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0" h="222">
                  <a:moveTo>
                    <a:pt x="0" y="222"/>
                  </a:moveTo>
                  <a:lnTo>
                    <a:pt x="3600" y="222"/>
                  </a:lnTo>
                  <a:lnTo>
                    <a:pt x="360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93" name="Freeform 13"/>
            <p:cNvSpPr/>
            <p:nvPr/>
          </p:nvSpPr>
          <p:spPr bwMode="auto">
            <a:xfrm>
              <a:off x="1872" y="3383"/>
              <a:ext cx="1" cy="219"/>
            </a:xfrm>
            <a:custGeom>
              <a:avLst/>
              <a:gdLst>
                <a:gd name="T0" fmla="*/ 0 w 1"/>
                <a:gd name="T1" fmla="*/ 0 h 219"/>
                <a:gd name="T2" fmla="*/ 1 w 1"/>
                <a:gd name="T3" fmla="*/ 219 h 2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9">
                  <a:moveTo>
                    <a:pt x="0" y="0"/>
                  </a:moveTo>
                  <a:lnTo>
                    <a:pt x="1" y="219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94" name="Freeform 14"/>
            <p:cNvSpPr/>
            <p:nvPr/>
          </p:nvSpPr>
          <p:spPr bwMode="auto">
            <a:xfrm>
              <a:off x="3024" y="3377"/>
              <a:ext cx="1" cy="225"/>
            </a:xfrm>
            <a:custGeom>
              <a:avLst/>
              <a:gdLst>
                <a:gd name="T0" fmla="*/ 0 w 1"/>
                <a:gd name="T1" fmla="*/ 0 h 225"/>
                <a:gd name="T2" fmla="*/ 1 w 1"/>
                <a:gd name="T3" fmla="*/ 225 h 2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1" y="225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4239" name="Text Box 15"/>
          <p:cNvSpPr txBox="1">
            <a:spLocks noChangeArrowheads="1"/>
          </p:cNvSpPr>
          <p:nvPr/>
        </p:nvSpPr>
        <p:spPr bwMode="auto">
          <a:xfrm>
            <a:off x="2209800" y="5427663"/>
            <a:ext cx="121761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     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  <a:endParaRPr lang="en-US" altLang="zh-CN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中断查询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40" name="AutoShape 16"/>
          <p:cNvSpPr/>
          <p:nvPr/>
        </p:nvSpPr>
        <p:spPr bwMode="auto">
          <a:xfrm rot="5400000">
            <a:off x="6096000" y="1679575"/>
            <a:ext cx="228600" cy="4495800"/>
          </a:xfrm>
          <a:prstGeom prst="leftBrace">
            <a:avLst>
              <a:gd name="adj1" fmla="val 16388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800">
              <a:latin typeface="宋体" panose="02010600030101010101" pitchFamily="2" charset="-122"/>
            </a:endParaRPr>
          </a:p>
        </p:txBody>
      </p:sp>
      <p:grpSp>
        <p:nvGrpSpPr>
          <p:cNvPr id="564241" name="Group 17"/>
          <p:cNvGrpSpPr/>
          <p:nvPr/>
        </p:nvGrpSpPr>
        <p:grpSpPr bwMode="auto">
          <a:xfrm>
            <a:off x="3489325" y="4498975"/>
            <a:ext cx="5807075" cy="2228850"/>
            <a:chOff x="1238" y="2834"/>
            <a:chExt cx="3658" cy="1404"/>
          </a:xfrm>
        </p:grpSpPr>
        <p:sp>
          <p:nvSpPr>
            <p:cNvPr id="147470" name="Text Box 18"/>
            <p:cNvSpPr txBox="1">
              <a:spLocks noChangeArrowheads="1"/>
            </p:cNvSpPr>
            <p:nvPr/>
          </p:nvSpPr>
          <p:spPr bwMode="auto">
            <a:xfrm>
              <a:off x="1478" y="2998"/>
              <a:ext cx="5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7471" name="Rectangle 19"/>
            <p:cNvSpPr>
              <a:spLocks noChangeArrowheads="1"/>
            </p:cNvSpPr>
            <p:nvPr/>
          </p:nvSpPr>
          <p:spPr bwMode="auto">
            <a:xfrm>
              <a:off x="1392" y="2854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72" name="Text Box 20"/>
            <p:cNvSpPr txBox="1">
              <a:spLocks noChangeArrowheads="1"/>
            </p:cNvSpPr>
            <p:nvPr/>
          </p:nvSpPr>
          <p:spPr bwMode="auto">
            <a:xfrm>
              <a:off x="1424" y="3190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D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73" name="Text Box 21"/>
            <p:cNvSpPr txBox="1">
              <a:spLocks noChangeArrowheads="1"/>
            </p:cNvSpPr>
            <p:nvPr/>
          </p:nvSpPr>
          <p:spPr bwMode="auto">
            <a:xfrm>
              <a:off x="1440" y="283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74" name="AutoShape 22"/>
            <p:cNvSpPr>
              <a:spLocks noChangeArrowheads="1"/>
            </p:cNvSpPr>
            <p:nvPr/>
          </p:nvSpPr>
          <p:spPr bwMode="auto">
            <a:xfrm>
              <a:off x="1824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75" name="Text Box 23"/>
            <p:cNvSpPr txBox="1">
              <a:spLocks noChangeArrowheads="1"/>
            </p:cNvSpPr>
            <p:nvPr/>
          </p:nvSpPr>
          <p:spPr bwMode="auto">
            <a:xfrm>
              <a:off x="2630" y="2998"/>
              <a:ext cx="5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7476" name="Rectangle 24"/>
            <p:cNvSpPr>
              <a:spLocks noChangeArrowheads="1"/>
            </p:cNvSpPr>
            <p:nvPr/>
          </p:nvSpPr>
          <p:spPr bwMode="auto">
            <a:xfrm>
              <a:off x="2544" y="2854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77" name="Text Box 25"/>
            <p:cNvSpPr txBox="1">
              <a:spLocks noChangeArrowheads="1"/>
            </p:cNvSpPr>
            <p:nvPr/>
          </p:nvSpPr>
          <p:spPr bwMode="auto">
            <a:xfrm>
              <a:off x="2576" y="3190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D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78" name="Text Box 26"/>
            <p:cNvSpPr txBox="1">
              <a:spLocks noChangeArrowheads="1"/>
            </p:cNvSpPr>
            <p:nvPr/>
          </p:nvSpPr>
          <p:spPr bwMode="auto">
            <a:xfrm>
              <a:off x="2592" y="283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79" name="AutoShape 27"/>
            <p:cNvSpPr>
              <a:spLocks noChangeArrowheads="1"/>
            </p:cNvSpPr>
            <p:nvPr/>
          </p:nvSpPr>
          <p:spPr bwMode="auto">
            <a:xfrm>
              <a:off x="297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80" name="Text Box 28"/>
            <p:cNvSpPr txBox="1">
              <a:spLocks noChangeArrowheads="1"/>
            </p:cNvSpPr>
            <p:nvPr/>
          </p:nvSpPr>
          <p:spPr bwMode="auto">
            <a:xfrm>
              <a:off x="4310" y="2998"/>
              <a:ext cx="58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INTR</a:t>
              </a:r>
              <a:r>
                <a:rPr lang="en-US" altLang="zh-CN" sz="2000" i="1" baseline="-25000">
                  <a:latin typeface="Times New Roman" panose="02020603050405020304" pitchFamily="18" charset="0"/>
                </a:rPr>
                <a:t>n</a:t>
              </a:r>
              <a:endParaRPr lang="en-US" altLang="zh-CN" sz="20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7481" name="Rectangle 29"/>
            <p:cNvSpPr>
              <a:spLocks noChangeArrowheads="1"/>
            </p:cNvSpPr>
            <p:nvPr/>
          </p:nvSpPr>
          <p:spPr bwMode="auto">
            <a:xfrm>
              <a:off x="4224" y="2854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82" name="Text Box 30"/>
            <p:cNvSpPr txBox="1">
              <a:spLocks noChangeArrowheads="1"/>
            </p:cNvSpPr>
            <p:nvPr/>
          </p:nvSpPr>
          <p:spPr bwMode="auto">
            <a:xfrm>
              <a:off x="4256" y="3190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D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83" name="Text Box 31"/>
            <p:cNvSpPr txBox="1">
              <a:spLocks noChangeArrowheads="1"/>
            </p:cNvSpPr>
            <p:nvPr/>
          </p:nvSpPr>
          <p:spPr bwMode="auto">
            <a:xfrm>
              <a:off x="4272" y="283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7484" name="AutoShape 32"/>
            <p:cNvSpPr>
              <a:spLocks noChangeArrowheads="1"/>
            </p:cNvSpPr>
            <p:nvPr/>
          </p:nvSpPr>
          <p:spPr bwMode="auto">
            <a:xfrm>
              <a:off x="465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7485" name="Freeform 33"/>
            <p:cNvSpPr/>
            <p:nvPr/>
          </p:nvSpPr>
          <p:spPr bwMode="auto">
            <a:xfrm>
              <a:off x="1532" y="3386"/>
              <a:ext cx="1" cy="602"/>
            </a:xfrm>
            <a:custGeom>
              <a:avLst/>
              <a:gdLst>
                <a:gd name="T0" fmla="*/ 1 w 1"/>
                <a:gd name="T1" fmla="*/ 0 h 602"/>
                <a:gd name="T2" fmla="*/ 0 w 1"/>
                <a:gd name="T3" fmla="*/ 602 h 6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02">
                  <a:moveTo>
                    <a:pt x="1" y="0"/>
                  </a:moveTo>
                  <a:lnTo>
                    <a:pt x="0" y="60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86" name="Freeform 34"/>
            <p:cNvSpPr/>
            <p:nvPr/>
          </p:nvSpPr>
          <p:spPr bwMode="auto">
            <a:xfrm>
              <a:off x="2684" y="3383"/>
              <a:ext cx="1" cy="601"/>
            </a:xfrm>
            <a:custGeom>
              <a:avLst/>
              <a:gdLst>
                <a:gd name="T0" fmla="*/ 1 w 1"/>
                <a:gd name="T1" fmla="*/ 0 h 601"/>
                <a:gd name="T2" fmla="*/ 0 w 1"/>
                <a:gd name="T3" fmla="*/ 601 h 6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87" name="Freeform 35"/>
            <p:cNvSpPr/>
            <p:nvPr/>
          </p:nvSpPr>
          <p:spPr bwMode="auto">
            <a:xfrm>
              <a:off x="4364" y="3383"/>
              <a:ext cx="1" cy="601"/>
            </a:xfrm>
            <a:custGeom>
              <a:avLst/>
              <a:gdLst>
                <a:gd name="T0" fmla="*/ 1 w 1"/>
                <a:gd name="T1" fmla="*/ 0 h 601"/>
                <a:gd name="T2" fmla="*/ 0 w 1"/>
                <a:gd name="T3" fmla="*/ 601 h 60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88" name="Text Box 36"/>
            <p:cNvSpPr txBox="1">
              <a:spLocks noChangeArrowheads="1"/>
            </p:cNvSpPr>
            <p:nvPr/>
          </p:nvSpPr>
          <p:spPr bwMode="auto">
            <a:xfrm>
              <a:off x="1238" y="3976"/>
              <a:ext cx="72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中断源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7489" name="Text Box 37"/>
            <p:cNvSpPr txBox="1">
              <a:spLocks noChangeArrowheads="1"/>
            </p:cNvSpPr>
            <p:nvPr/>
          </p:nvSpPr>
          <p:spPr bwMode="auto">
            <a:xfrm>
              <a:off x="2401" y="3986"/>
              <a:ext cx="72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中断源 2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7490" name="Text Box 38"/>
            <p:cNvSpPr txBox="1">
              <a:spLocks noChangeArrowheads="1"/>
            </p:cNvSpPr>
            <p:nvPr/>
          </p:nvSpPr>
          <p:spPr bwMode="auto">
            <a:xfrm>
              <a:off x="3985" y="3986"/>
              <a:ext cx="73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中断源 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endParaRPr lang="en-US" altLang="zh-CN"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47491" name="Text Box 39"/>
            <p:cNvSpPr txBox="1">
              <a:spLocks noChangeArrowheads="1"/>
            </p:cNvSpPr>
            <p:nvPr/>
          </p:nvSpPr>
          <p:spPr bwMode="auto">
            <a:xfrm>
              <a:off x="3494" y="298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4264" name="Text Box 40"/>
          <p:cNvSpPr txBox="1">
            <a:spLocks noChangeArrowheads="1"/>
          </p:cNvSpPr>
          <p:nvPr/>
        </p:nvSpPr>
        <p:spPr bwMode="auto">
          <a:xfrm>
            <a:off x="5651500" y="3352800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至排队器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147469" name="圆角矩形标注 1"/>
          <p:cNvSpPr>
            <a:spLocks noChangeArrowheads="1"/>
          </p:cNvSpPr>
          <p:nvPr/>
        </p:nvSpPr>
        <p:spPr bwMode="auto">
          <a:xfrm>
            <a:off x="9056688" y="3581400"/>
            <a:ext cx="1317625" cy="511175"/>
          </a:xfrm>
          <a:prstGeom prst="wedgeRoundRectCallout">
            <a:avLst>
              <a:gd name="adj1" fmla="val -48741"/>
              <a:gd name="adj2" fmla="val 119773"/>
              <a:gd name="adj3" fmla="val 16667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2400">
                <a:solidFill>
                  <a:schemeClr val="bg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400">
                <a:solidFill>
                  <a:schemeClr val="bg2"/>
                </a:solidFill>
                <a:latin typeface="宋体" panose="02010600030101010101" pitchFamily="2" charset="-122"/>
              </a:rPr>
              <a:t>触发器</a:t>
            </a:r>
            <a:endParaRPr lang="en-US" altLang="zh-CN" sz="240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6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56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5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56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7" grpId="0" autoUpdateAnimBg="0"/>
      <p:bldP spid="564228" grpId="0" autoUpdateAnimBg="0"/>
      <p:bldP spid="564229" grpId="0" autoUpdateAnimBg="0"/>
      <p:bldP spid="564230" grpId="0" autoUpdateAnimBg="0"/>
      <p:bldP spid="564239" grpId="0" autoUpdateAnimBg="0"/>
      <p:bldP spid="564240" grpId="0" animBg="1"/>
      <p:bldP spid="56426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2057400" y="1524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3. 中断隐指令（中断周期）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65251" name="Rectangle 3"/>
          <p:cNvSpPr>
            <a:spLocks noChangeArrowheads="1"/>
          </p:cNvSpPr>
          <p:nvPr/>
        </p:nvSpPr>
        <p:spPr bwMode="auto">
          <a:xfrm>
            <a:off x="2133600" y="685800"/>
            <a:ext cx="601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保护程序断点（</a:t>
            </a:r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65252" name="Rectangle 4"/>
          <p:cNvSpPr>
            <a:spLocks noChangeArrowheads="1"/>
          </p:cNvSpPr>
          <p:nvPr/>
        </p:nvSpPr>
        <p:spPr bwMode="auto">
          <a:xfrm>
            <a:off x="2133600" y="1905000"/>
            <a:ext cx="601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 寻找服务程序入口地址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65253" name="Rectangle 5"/>
          <p:cNvSpPr>
            <a:spLocks noChangeArrowheads="1"/>
          </p:cNvSpPr>
          <p:nvPr/>
        </p:nvSpPr>
        <p:spPr bwMode="auto">
          <a:xfrm>
            <a:off x="2133600" y="3581400"/>
            <a:ext cx="2667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(3) 硬件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关中断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5254" name="Group 6"/>
          <p:cNvGrpSpPr/>
          <p:nvPr/>
        </p:nvGrpSpPr>
        <p:grpSpPr bwMode="auto">
          <a:xfrm>
            <a:off x="5181600" y="4419600"/>
            <a:ext cx="1295400" cy="762000"/>
            <a:chOff x="2304" y="2784"/>
            <a:chExt cx="816" cy="480"/>
          </a:xfrm>
        </p:grpSpPr>
        <p:sp>
          <p:nvSpPr>
            <p:cNvPr id="148548" name="Text Box 7"/>
            <p:cNvSpPr txBox="1">
              <a:spLocks noChangeArrowheads="1"/>
            </p:cNvSpPr>
            <p:nvPr/>
          </p:nvSpPr>
          <p:spPr bwMode="auto">
            <a:xfrm>
              <a:off x="2364" y="2812"/>
              <a:ext cx="6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向量地址</a:t>
              </a:r>
              <a:endParaRPr lang="zh-CN" altLang="en-US" sz="18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形成部件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48549" name="Rectangle 8"/>
            <p:cNvSpPr>
              <a:spLocks noChangeArrowheads="1"/>
            </p:cNvSpPr>
            <p:nvPr/>
          </p:nvSpPr>
          <p:spPr bwMode="auto">
            <a:xfrm>
              <a:off x="2304" y="2784"/>
              <a:ext cx="81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65257" name="Group 9"/>
          <p:cNvGrpSpPr/>
          <p:nvPr/>
        </p:nvGrpSpPr>
        <p:grpSpPr bwMode="auto">
          <a:xfrm>
            <a:off x="7620000" y="3733800"/>
            <a:ext cx="1066800" cy="908050"/>
            <a:chOff x="3840" y="2352"/>
            <a:chExt cx="672" cy="572"/>
          </a:xfrm>
        </p:grpSpPr>
        <p:sp>
          <p:nvSpPr>
            <p:cNvPr id="148543" name="Text Box 10"/>
            <p:cNvSpPr txBox="1">
              <a:spLocks noChangeArrowheads="1"/>
            </p:cNvSpPr>
            <p:nvPr/>
          </p:nvSpPr>
          <p:spPr bwMode="auto">
            <a:xfrm>
              <a:off x="4015" y="2516"/>
              <a:ext cx="4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INT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8544" name="Rectangle 11"/>
            <p:cNvSpPr>
              <a:spLocks noChangeArrowheads="1"/>
            </p:cNvSpPr>
            <p:nvPr/>
          </p:nvSpPr>
          <p:spPr bwMode="auto">
            <a:xfrm>
              <a:off x="3840" y="2372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45" name="Text Box 12"/>
            <p:cNvSpPr txBox="1">
              <a:spLocks noChangeArrowheads="1"/>
            </p:cNvSpPr>
            <p:nvPr/>
          </p:nvSpPr>
          <p:spPr bwMode="auto">
            <a:xfrm>
              <a:off x="3888" y="26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48546" name="Text Box 13"/>
            <p:cNvSpPr txBox="1">
              <a:spLocks noChangeArrowheads="1"/>
            </p:cNvSpPr>
            <p:nvPr/>
          </p:nvSpPr>
          <p:spPr bwMode="auto">
            <a:xfrm>
              <a:off x="3888" y="2352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8547" name="Text Box 14"/>
            <p:cNvSpPr txBox="1">
              <a:spLocks noChangeArrowheads="1"/>
            </p:cNvSpPr>
            <p:nvPr/>
          </p:nvSpPr>
          <p:spPr bwMode="auto">
            <a:xfrm>
              <a:off x="4272" y="269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R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5263" name="Group 15"/>
          <p:cNvGrpSpPr/>
          <p:nvPr/>
        </p:nvGrpSpPr>
        <p:grpSpPr bwMode="auto">
          <a:xfrm>
            <a:off x="9339263" y="3733800"/>
            <a:ext cx="1066800" cy="920750"/>
            <a:chOff x="4923" y="2352"/>
            <a:chExt cx="672" cy="580"/>
          </a:xfrm>
        </p:grpSpPr>
        <p:sp>
          <p:nvSpPr>
            <p:cNvPr id="148538" name="Text Box 16"/>
            <p:cNvSpPr txBox="1">
              <a:spLocks noChangeArrowheads="1"/>
            </p:cNvSpPr>
            <p:nvPr/>
          </p:nvSpPr>
          <p:spPr bwMode="auto">
            <a:xfrm>
              <a:off x="5012" y="2516"/>
              <a:ext cx="5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EINT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8539" name="Rectangle 17"/>
            <p:cNvSpPr>
              <a:spLocks noChangeArrowheads="1"/>
            </p:cNvSpPr>
            <p:nvPr/>
          </p:nvSpPr>
          <p:spPr bwMode="auto">
            <a:xfrm>
              <a:off x="4923" y="2372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40" name="Text Box 18"/>
            <p:cNvSpPr txBox="1">
              <a:spLocks noChangeArrowheads="1"/>
            </p:cNvSpPr>
            <p:nvPr/>
          </p:nvSpPr>
          <p:spPr bwMode="auto">
            <a:xfrm>
              <a:off x="4971" y="26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48541" name="Text Box 19"/>
            <p:cNvSpPr txBox="1">
              <a:spLocks noChangeArrowheads="1"/>
            </p:cNvSpPr>
            <p:nvPr/>
          </p:nvSpPr>
          <p:spPr bwMode="auto">
            <a:xfrm>
              <a:off x="4971" y="2352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8542" name="Text Box 20"/>
            <p:cNvSpPr txBox="1">
              <a:spLocks noChangeArrowheads="1"/>
            </p:cNvSpPr>
            <p:nvPr/>
          </p:nvSpPr>
          <p:spPr bwMode="auto">
            <a:xfrm>
              <a:off x="5328" y="2701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R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565269" name="Rectangle 21"/>
          <p:cNvSpPr>
            <a:spLocks noChangeArrowheads="1"/>
          </p:cNvSpPr>
          <p:nvPr/>
        </p:nvSpPr>
        <p:spPr bwMode="auto">
          <a:xfrm>
            <a:off x="5181600" y="3810000"/>
            <a:ext cx="1295400" cy="304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PC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565270" name="Group 22"/>
          <p:cNvGrpSpPr/>
          <p:nvPr/>
        </p:nvGrpSpPr>
        <p:grpSpPr bwMode="auto">
          <a:xfrm>
            <a:off x="9829800" y="4868863"/>
            <a:ext cx="609600" cy="377825"/>
            <a:chOff x="5232" y="3067"/>
            <a:chExt cx="384" cy="238"/>
          </a:xfrm>
        </p:grpSpPr>
        <p:sp>
          <p:nvSpPr>
            <p:cNvPr id="148535" name="Oval 23"/>
            <p:cNvSpPr>
              <a:spLocks noChangeArrowheads="1"/>
            </p:cNvSpPr>
            <p:nvPr/>
          </p:nvSpPr>
          <p:spPr bwMode="auto">
            <a:xfrm>
              <a:off x="5384" y="3067"/>
              <a:ext cx="48" cy="35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36" name="Rectangle 24"/>
            <p:cNvSpPr>
              <a:spLocks noChangeArrowheads="1"/>
            </p:cNvSpPr>
            <p:nvPr/>
          </p:nvSpPr>
          <p:spPr bwMode="auto">
            <a:xfrm>
              <a:off x="5232" y="3105"/>
              <a:ext cx="384" cy="177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37" name="Text Box 25"/>
            <p:cNvSpPr txBox="1">
              <a:spLocks noChangeArrowheads="1"/>
            </p:cNvSpPr>
            <p:nvPr/>
          </p:nvSpPr>
          <p:spPr bwMode="auto">
            <a:xfrm>
              <a:off x="5284" y="3074"/>
              <a:ext cx="2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1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5274" name="Freeform 26"/>
          <p:cNvSpPr/>
          <p:nvPr/>
        </p:nvSpPr>
        <p:spPr bwMode="auto">
          <a:xfrm>
            <a:off x="10125075" y="4610100"/>
            <a:ext cx="1588" cy="280988"/>
          </a:xfrm>
          <a:custGeom>
            <a:avLst/>
            <a:gdLst>
              <a:gd name="T0" fmla="*/ 0 w 1"/>
              <a:gd name="T1" fmla="*/ 0 h 177"/>
              <a:gd name="T2" fmla="*/ 0 w 1"/>
              <a:gd name="T3" fmla="*/ 2147483646 h 17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77">
                <a:moveTo>
                  <a:pt x="0" y="0"/>
                </a:moveTo>
                <a:lnTo>
                  <a:pt x="0" y="177"/>
                </a:lnTo>
              </a:path>
            </a:pathLst>
          </a:custGeom>
          <a:noFill/>
          <a:ln w="28575" cmpd="sng">
            <a:solidFill>
              <a:schemeClr val="folHlink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5275" name="Group 27"/>
          <p:cNvGrpSpPr/>
          <p:nvPr/>
        </p:nvGrpSpPr>
        <p:grpSpPr bwMode="auto">
          <a:xfrm>
            <a:off x="7620000" y="4868863"/>
            <a:ext cx="609600" cy="373062"/>
            <a:chOff x="3840" y="3067"/>
            <a:chExt cx="384" cy="235"/>
          </a:xfrm>
        </p:grpSpPr>
        <p:sp>
          <p:nvSpPr>
            <p:cNvPr id="148532" name="Oval 28"/>
            <p:cNvSpPr>
              <a:spLocks noChangeArrowheads="1"/>
            </p:cNvSpPr>
            <p:nvPr/>
          </p:nvSpPr>
          <p:spPr bwMode="auto">
            <a:xfrm>
              <a:off x="4007" y="3067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33" name="Rectangle 29"/>
            <p:cNvSpPr>
              <a:spLocks noChangeArrowheads="1"/>
            </p:cNvSpPr>
            <p:nvPr/>
          </p:nvSpPr>
          <p:spPr bwMode="auto">
            <a:xfrm>
              <a:off x="3840" y="3105"/>
              <a:ext cx="384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48534" name="Text Box 30"/>
            <p:cNvSpPr txBox="1">
              <a:spLocks noChangeArrowheads="1"/>
            </p:cNvSpPr>
            <p:nvPr/>
          </p:nvSpPr>
          <p:spPr bwMode="auto">
            <a:xfrm>
              <a:off x="3888" y="3071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&amp;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565279" name="Freeform 31"/>
          <p:cNvSpPr/>
          <p:nvPr/>
        </p:nvSpPr>
        <p:spPr bwMode="auto">
          <a:xfrm>
            <a:off x="7923213" y="4595813"/>
            <a:ext cx="1587" cy="290512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3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5280" name="Group 32"/>
          <p:cNvGrpSpPr/>
          <p:nvPr/>
        </p:nvGrpSpPr>
        <p:grpSpPr bwMode="auto">
          <a:xfrm>
            <a:off x="7315200" y="5459413"/>
            <a:ext cx="914400" cy="369887"/>
            <a:chOff x="3648" y="3439"/>
            <a:chExt cx="576" cy="233"/>
          </a:xfrm>
        </p:grpSpPr>
        <p:sp>
          <p:nvSpPr>
            <p:cNvPr id="148530" name="Text Box 33"/>
            <p:cNvSpPr txBox="1">
              <a:spLocks noChangeArrowheads="1"/>
            </p:cNvSpPr>
            <p:nvPr/>
          </p:nvSpPr>
          <p:spPr bwMode="auto">
            <a:xfrm>
              <a:off x="3785" y="3439"/>
              <a:ext cx="26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≥1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48531" name="Rectangle 34"/>
            <p:cNvSpPr>
              <a:spLocks noChangeArrowheads="1"/>
            </p:cNvSpPr>
            <p:nvPr/>
          </p:nvSpPr>
          <p:spPr bwMode="auto">
            <a:xfrm>
              <a:off x="3648" y="3456"/>
              <a:ext cx="576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grpSp>
        <p:nvGrpSpPr>
          <p:cNvPr id="565283" name="Group 35"/>
          <p:cNvGrpSpPr/>
          <p:nvPr/>
        </p:nvGrpSpPr>
        <p:grpSpPr bwMode="auto">
          <a:xfrm>
            <a:off x="7354888" y="6384925"/>
            <a:ext cx="950912" cy="396875"/>
            <a:chOff x="3673" y="4070"/>
            <a:chExt cx="599" cy="250"/>
          </a:xfrm>
        </p:grpSpPr>
        <p:sp>
          <p:nvSpPr>
            <p:cNvPr id="148528" name="Text Box 36"/>
            <p:cNvSpPr txBox="1">
              <a:spLocks noChangeArrowheads="1"/>
            </p:cNvSpPr>
            <p:nvPr/>
          </p:nvSpPr>
          <p:spPr bwMode="auto">
            <a:xfrm>
              <a:off x="3673" y="4070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排队器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8529" name="Rectangle 37"/>
            <p:cNvSpPr>
              <a:spLocks noChangeArrowheads="1"/>
            </p:cNvSpPr>
            <p:nvPr/>
          </p:nvSpPr>
          <p:spPr bwMode="auto">
            <a:xfrm>
              <a:off x="3683" y="4070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</p:grpSp>
      <p:sp>
        <p:nvSpPr>
          <p:cNvPr id="565286" name="AutoShape 38"/>
          <p:cNvSpPr>
            <a:spLocks noChangeArrowheads="1"/>
          </p:cNvSpPr>
          <p:nvPr/>
        </p:nvSpPr>
        <p:spPr bwMode="auto">
          <a:xfrm>
            <a:off x="5715000" y="4114800"/>
            <a:ext cx="152400" cy="3048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800">
              <a:latin typeface="宋体" panose="02010600030101010101" pitchFamily="2" charset="-122"/>
            </a:endParaRPr>
          </a:p>
        </p:txBody>
      </p:sp>
      <p:grpSp>
        <p:nvGrpSpPr>
          <p:cNvPr id="565287" name="Group 39"/>
          <p:cNvGrpSpPr/>
          <p:nvPr/>
        </p:nvGrpSpPr>
        <p:grpSpPr bwMode="auto">
          <a:xfrm>
            <a:off x="5334000" y="5181600"/>
            <a:ext cx="2800350" cy="1066800"/>
            <a:chOff x="2400" y="3312"/>
            <a:chExt cx="1764" cy="672"/>
          </a:xfrm>
        </p:grpSpPr>
        <p:sp>
          <p:nvSpPr>
            <p:cNvPr id="148524" name="Freeform 40"/>
            <p:cNvSpPr/>
            <p:nvPr/>
          </p:nvSpPr>
          <p:spPr bwMode="auto">
            <a:xfrm>
              <a:off x="2976" y="3312"/>
              <a:ext cx="1188" cy="480"/>
            </a:xfrm>
            <a:custGeom>
              <a:avLst/>
              <a:gdLst>
                <a:gd name="T0" fmla="*/ 0 w 1188"/>
                <a:gd name="T1" fmla="*/ 0 h 480"/>
                <a:gd name="T2" fmla="*/ 0 w 1188"/>
                <a:gd name="T3" fmla="*/ 480 h 480"/>
                <a:gd name="T4" fmla="*/ 1188 w 1188"/>
                <a:gd name="T5" fmla="*/ 477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8" h="480">
                  <a:moveTo>
                    <a:pt x="0" y="0"/>
                  </a:moveTo>
                  <a:lnTo>
                    <a:pt x="0" y="480"/>
                  </a:lnTo>
                  <a:lnTo>
                    <a:pt x="1188" y="47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stealth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5" name="Freeform 41"/>
            <p:cNvSpPr/>
            <p:nvPr/>
          </p:nvSpPr>
          <p:spPr bwMode="auto">
            <a:xfrm>
              <a:off x="2544" y="3312"/>
              <a:ext cx="1332" cy="576"/>
            </a:xfrm>
            <a:custGeom>
              <a:avLst/>
              <a:gdLst>
                <a:gd name="T0" fmla="*/ 0 w 1332"/>
                <a:gd name="T1" fmla="*/ 0 h 576"/>
                <a:gd name="T2" fmla="*/ 0 w 1332"/>
                <a:gd name="T3" fmla="*/ 576 h 576"/>
                <a:gd name="T4" fmla="*/ 1332 w 1332"/>
                <a:gd name="T5" fmla="*/ 576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2" h="576">
                  <a:moveTo>
                    <a:pt x="0" y="0"/>
                  </a:moveTo>
                  <a:lnTo>
                    <a:pt x="0" y="576"/>
                  </a:lnTo>
                  <a:lnTo>
                    <a:pt x="1332" y="57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stealth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6" name="Freeform 42"/>
            <p:cNvSpPr/>
            <p:nvPr/>
          </p:nvSpPr>
          <p:spPr bwMode="auto">
            <a:xfrm>
              <a:off x="2400" y="3312"/>
              <a:ext cx="1377" cy="672"/>
            </a:xfrm>
            <a:custGeom>
              <a:avLst/>
              <a:gdLst>
                <a:gd name="T0" fmla="*/ 0 w 1377"/>
                <a:gd name="T1" fmla="*/ 0 h 672"/>
                <a:gd name="T2" fmla="*/ 0 w 1377"/>
                <a:gd name="T3" fmla="*/ 672 h 672"/>
                <a:gd name="T4" fmla="*/ 1377 w 1377"/>
                <a:gd name="T5" fmla="*/ 672 h 6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77" h="672">
                  <a:moveTo>
                    <a:pt x="0" y="0"/>
                  </a:moveTo>
                  <a:lnTo>
                    <a:pt x="0" y="672"/>
                  </a:lnTo>
                  <a:lnTo>
                    <a:pt x="1377" y="67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stealth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7" name="Text Box 43"/>
            <p:cNvSpPr txBox="1">
              <a:spLocks noChangeArrowheads="1"/>
            </p:cNvSpPr>
            <p:nvPr/>
          </p:nvSpPr>
          <p:spPr bwMode="auto">
            <a:xfrm>
              <a:off x="2630" y="346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5292" name="Group 44"/>
          <p:cNvGrpSpPr/>
          <p:nvPr/>
        </p:nvGrpSpPr>
        <p:grpSpPr bwMode="auto">
          <a:xfrm>
            <a:off x="7519988" y="5786438"/>
            <a:ext cx="614362" cy="600075"/>
            <a:chOff x="3777" y="3645"/>
            <a:chExt cx="387" cy="378"/>
          </a:xfrm>
        </p:grpSpPr>
        <p:sp>
          <p:nvSpPr>
            <p:cNvPr id="148520" name="Freeform 45"/>
            <p:cNvSpPr/>
            <p:nvPr/>
          </p:nvSpPr>
          <p:spPr bwMode="auto">
            <a:xfrm>
              <a:off x="3777" y="3645"/>
              <a:ext cx="2" cy="375"/>
            </a:xfrm>
            <a:custGeom>
              <a:avLst/>
              <a:gdLst>
                <a:gd name="T0" fmla="*/ 0 w 2"/>
                <a:gd name="T1" fmla="*/ 0 h 375"/>
                <a:gd name="T2" fmla="*/ 2 w 2"/>
                <a:gd name="T3" fmla="*/ 375 h 3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75">
                  <a:moveTo>
                    <a:pt x="0" y="0"/>
                  </a:moveTo>
                  <a:lnTo>
                    <a:pt x="2" y="37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1" name="Freeform 46"/>
            <p:cNvSpPr/>
            <p:nvPr/>
          </p:nvSpPr>
          <p:spPr bwMode="auto">
            <a:xfrm>
              <a:off x="3875" y="3648"/>
              <a:ext cx="1" cy="375"/>
            </a:xfrm>
            <a:custGeom>
              <a:avLst/>
              <a:gdLst>
                <a:gd name="T0" fmla="*/ 1 w 1"/>
                <a:gd name="T1" fmla="*/ 0 h 375"/>
                <a:gd name="T2" fmla="*/ 0 w 1"/>
                <a:gd name="T3" fmla="*/ 375 h 3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75">
                  <a:moveTo>
                    <a:pt x="1" y="0"/>
                  </a:moveTo>
                  <a:lnTo>
                    <a:pt x="0" y="37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2" name="Freeform 47"/>
            <p:cNvSpPr/>
            <p:nvPr/>
          </p:nvSpPr>
          <p:spPr bwMode="auto">
            <a:xfrm>
              <a:off x="4160" y="3651"/>
              <a:ext cx="4" cy="372"/>
            </a:xfrm>
            <a:custGeom>
              <a:avLst/>
              <a:gdLst>
                <a:gd name="T0" fmla="*/ 4 w 4"/>
                <a:gd name="T1" fmla="*/ 0 h 372"/>
                <a:gd name="T2" fmla="*/ 0 w 4"/>
                <a:gd name="T3" fmla="*/ 372 h 3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72">
                  <a:moveTo>
                    <a:pt x="4" y="0"/>
                  </a:moveTo>
                  <a:lnTo>
                    <a:pt x="0" y="37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3" name="Text Box 48"/>
            <p:cNvSpPr txBox="1">
              <a:spLocks noChangeArrowheads="1"/>
            </p:cNvSpPr>
            <p:nvPr/>
          </p:nvSpPr>
          <p:spPr bwMode="auto">
            <a:xfrm>
              <a:off x="3888" y="375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5297" name="Freeform 49"/>
          <p:cNvSpPr/>
          <p:nvPr/>
        </p:nvSpPr>
        <p:spPr bwMode="auto">
          <a:xfrm>
            <a:off x="7772400" y="5210175"/>
            <a:ext cx="1588" cy="276225"/>
          </a:xfrm>
          <a:custGeom>
            <a:avLst/>
            <a:gdLst>
              <a:gd name="T0" fmla="*/ 0 w 1"/>
              <a:gd name="T1" fmla="*/ 0 h 174"/>
              <a:gd name="T2" fmla="*/ 2147483646 w 1"/>
              <a:gd name="T3" fmla="*/ 2147483646 h 17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74">
                <a:moveTo>
                  <a:pt x="0" y="0"/>
                </a:moveTo>
                <a:lnTo>
                  <a:pt x="1" y="174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298" name="Freeform 50"/>
          <p:cNvSpPr/>
          <p:nvPr/>
        </p:nvSpPr>
        <p:spPr bwMode="auto">
          <a:xfrm>
            <a:off x="8077200" y="3509963"/>
            <a:ext cx="1528763" cy="1828800"/>
          </a:xfrm>
          <a:custGeom>
            <a:avLst/>
            <a:gdLst>
              <a:gd name="T0" fmla="*/ 0 w 963"/>
              <a:gd name="T1" fmla="*/ 2147483646 h 1152"/>
              <a:gd name="T2" fmla="*/ 0 w 963"/>
              <a:gd name="T3" fmla="*/ 2147483646 h 1152"/>
              <a:gd name="T4" fmla="*/ 2147483646 w 963"/>
              <a:gd name="T5" fmla="*/ 2147483646 h 1152"/>
              <a:gd name="T6" fmla="*/ 2147483646 w 963"/>
              <a:gd name="T7" fmla="*/ 2147483646 h 1152"/>
              <a:gd name="T8" fmla="*/ 2147483646 w 963"/>
              <a:gd name="T9" fmla="*/ 0 h 1152"/>
              <a:gd name="T10" fmla="*/ 2147483646 w 963"/>
              <a:gd name="T11" fmla="*/ 2147483646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63" h="1152">
                <a:moveTo>
                  <a:pt x="0" y="1071"/>
                </a:moveTo>
                <a:lnTo>
                  <a:pt x="0" y="1152"/>
                </a:lnTo>
                <a:lnTo>
                  <a:pt x="693" y="1149"/>
                </a:lnTo>
                <a:lnTo>
                  <a:pt x="693" y="3"/>
                </a:lnTo>
                <a:lnTo>
                  <a:pt x="963" y="0"/>
                </a:lnTo>
                <a:lnTo>
                  <a:pt x="963" y="15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299" name="Freeform 51"/>
          <p:cNvSpPr/>
          <p:nvPr/>
        </p:nvSpPr>
        <p:spPr bwMode="auto">
          <a:xfrm>
            <a:off x="7848600" y="3505200"/>
            <a:ext cx="2286000" cy="2133600"/>
          </a:xfrm>
          <a:custGeom>
            <a:avLst/>
            <a:gdLst>
              <a:gd name="T0" fmla="*/ 2147483646 w 1440"/>
              <a:gd name="T1" fmla="*/ 2147483646 h 1344"/>
              <a:gd name="T2" fmla="*/ 2147483646 w 1440"/>
              <a:gd name="T3" fmla="*/ 2147483646 h 1344"/>
              <a:gd name="T4" fmla="*/ 2147483646 w 1440"/>
              <a:gd name="T5" fmla="*/ 2147483646 h 1344"/>
              <a:gd name="T6" fmla="*/ 2147483646 w 1440"/>
              <a:gd name="T7" fmla="*/ 0 h 1344"/>
              <a:gd name="T8" fmla="*/ 0 w 1440"/>
              <a:gd name="T9" fmla="*/ 0 h 1344"/>
              <a:gd name="T10" fmla="*/ 0 w 1440"/>
              <a:gd name="T11" fmla="*/ 2147483646 h 13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1344">
                <a:moveTo>
                  <a:pt x="1440" y="1080"/>
                </a:moveTo>
                <a:lnTo>
                  <a:pt x="1440" y="1344"/>
                </a:lnTo>
                <a:lnTo>
                  <a:pt x="672" y="1344"/>
                </a:lnTo>
                <a:lnTo>
                  <a:pt x="672" y="0"/>
                </a:lnTo>
                <a:lnTo>
                  <a:pt x="0" y="0"/>
                </a:lnTo>
                <a:lnTo>
                  <a:pt x="0" y="168"/>
                </a:lnTo>
              </a:path>
            </a:pathLst>
          </a:custGeom>
          <a:noFill/>
          <a:ln w="28575" cmpd="sng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300" name="Text Box 52"/>
          <p:cNvSpPr txBox="1">
            <a:spLocks noChangeArrowheads="1"/>
          </p:cNvSpPr>
          <p:nvPr/>
        </p:nvSpPr>
        <p:spPr bwMode="auto">
          <a:xfrm>
            <a:off x="2590800" y="12954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断点存于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特定地址</a:t>
            </a:r>
            <a:r>
              <a:rPr lang="zh-CN" altLang="en-US" sz="2400">
                <a:latin typeface="Times New Roman" panose="02020603050405020304" pitchFamily="18" charset="0"/>
              </a:rPr>
              <a:t>（ 0 号地址） 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5301" name="Text Box 53"/>
          <p:cNvSpPr txBox="1">
            <a:spLocks noChangeArrowheads="1"/>
          </p:cNvSpPr>
          <p:nvPr/>
        </p:nvSpPr>
        <p:spPr bwMode="auto">
          <a:xfrm>
            <a:off x="7772400" y="130651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断点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进栈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5302" name="Text Box 54"/>
          <p:cNvSpPr txBox="1">
            <a:spLocks noChangeArrowheads="1"/>
          </p:cNvSpPr>
          <p:nvPr/>
        </p:nvSpPr>
        <p:spPr bwMode="auto">
          <a:xfrm>
            <a:off x="2590800" y="4738688"/>
            <a:ext cx="1722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INT </a:t>
            </a:r>
            <a:r>
              <a:rPr lang="zh-CN" altLang="en-US" sz="2000">
                <a:latin typeface="Times New Roman" panose="02020603050405020304" pitchFamily="18" charset="0"/>
              </a:rPr>
              <a:t>中断标记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65303" name="Text Box 55"/>
          <p:cNvSpPr txBox="1">
            <a:spLocks noChangeArrowheads="1"/>
          </p:cNvSpPr>
          <p:nvPr/>
        </p:nvSpPr>
        <p:spPr bwMode="auto">
          <a:xfrm>
            <a:off x="2590800" y="5310188"/>
            <a:ext cx="1892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EINT </a:t>
            </a:r>
            <a:r>
              <a:rPr lang="zh-CN" altLang="en-US" sz="2000">
                <a:latin typeface="Times New Roman" panose="02020603050405020304" pitchFamily="18" charset="0"/>
              </a:rPr>
              <a:t>允许中断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65304" name="Text Box 56"/>
          <p:cNvSpPr txBox="1">
            <a:spLocks noChangeArrowheads="1"/>
          </p:cNvSpPr>
          <p:nvPr/>
        </p:nvSpPr>
        <p:spPr bwMode="auto">
          <a:xfrm>
            <a:off x="2590800" y="5856288"/>
            <a:ext cx="16081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触发器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565306" name="Group 58"/>
          <p:cNvGrpSpPr/>
          <p:nvPr/>
        </p:nvGrpSpPr>
        <p:grpSpPr bwMode="auto">
          <a:xfrm>
            <a:off x="2667000" y="2438400"/>
            <a:ext cx="6723063" cy="533400"/>
            <a:chOff x="720" y="1536"/>
            <a:chExt cx="4235" cy="336"/>
          </a:xfrm>
        </p:grpSpPr>
        <p:grpSp>
          <p:nvGrpSpPr>
            <p:cNvPr id="148515" name="Group 59"/>
            <p:cNvGrpSpPr/>
            <p:nvPr/>
          </p:nvGrpSpPr>
          <p:grpSpPr bwMode="auto">
            <a:xfrm>
              <a:off x="720" y="1536"/>
              <a:ext cx="1488" cy="336"/>
              <a:chOff x="720" y="1536"/>
              <a:chExt cx="1488" cy="336"/>
            </a:xfrm>
          </p:grpSpPr>
          <p:sp>
            <p:nvSpPr>
              <p:cNvPr id="148517" name="Rectangle 60"/>
              <p:cNvSpPr>
                <a:spLocks noChangeArrowheads="1"/>
              </p:cNvSpPr>
              <p:nvPr/>
            </p:nvSpPr>
            <p:spPr bwMode="auto">
              <a:xfrm>
                <a:off x="720" y="1536"/>
                <a:ext cx="81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向量地址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518" name="Rectangle 61"/>
              <p:cNvSpPr>
                <a:spLocks noChangeArrowheads="1"/>
              </p:cNvSpPr>
              <p:nvPr/>
            </p:nvSpPr>
            <p:spPr bwMode="auto">
              <a:xfrm>
                <a:off x="1920" y="153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519" name="Line 62"/>
              <p:cNvSpPr>
                <a:spLocks noChangeShapeType="1"/>
              </p:cNvSpPr>
              <p:nvPr/>
            </p:nvSpPr>
            <p:spPr bwMode="auto">
              <a:xfrm>
                <a:off x="1536" y="1728"/>
                <a:ext cx="295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8516" name="Text Box 63"/>
            <p:cNvSpPr txBox="1">
              <a:spLocks noChangeArrowheads="1"/>
            </p:cNvSpPr>
            <p:nvPr/>
          </p:nvSpPr>
          <p:spPr bwMode="auto">
            <a:xfrm>
              <a:off x="2267" y="1564"/>
              <a:ext cx="26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（硬件向量法）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5312" name="Group 64"/>
          <p:cNvGrpSpPr/>
          <p:nvPr/>
        </p:nvGrpSpPr>
        <p:grpSpPr bwMode="auto">
          <a:xfrm>
            <a:off x="2667000" y="2933700"/>
            <a:ext cx="8991600" cy="571500"/>
            <a:chOff x="720" y="1848"/>
            <a:chExt cx="5664" cy="360"/>
          </a:xfrm>
        </p:grpSpPr>
        <p:grpSp>
          <p:nvGrpSpPr>
            <p:cNvPr id="148509" name="Group 65"/>
            <p:cNvGrpSpPr/>
            <p:nvPr/>
          </p:nvGrpSpPr>
          <p:grpSpPr bwMode="auto">
            <a:xfrm>
              <a:off x="720" y="1848"/>
              <a:ext cx="2976" cy="360"/>
              <a:chOff x="816" y="1872"/>
              <a:chExt cx="2976" cy="360"/>
            </a:xfrm>
          </p:grpSpPr>
          <p:sp>
            <p:nvSpPr>
              <p:cNvPr id="148511" name="Rectangle 66"/>
              <p:cNvSpPr>
                <a:spLocks noChangeArrowheads="1"/>
              </p:cNvSpPr>
              <p:nvPr/>
            </p:nvSpPr>
            <p:spPr bwMode="auto">
              <a:xfrm>
                <a:off x="816" y="1872"/>
                <a:ext cx="201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中断识别程序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入口地址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512" name="Rectangle 67"/>
              <p:cNvSpPr>
                <a:spLocks noChangeArrowheads="1"/>
              </p:cNvSpPr>
              <p:nvPr/>
            </p:nvSpPr>
            <p:spPr bwMode="auto">
              <a:xfrm>
                <a:off x="2880" y="189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513" name="Rectangle 68"/>
              <p:cNvSpPr>
                <a:spLocks noChangeArrowheads="1"/>
              </p:cNvSpPr>
              <p:nvPr/>
            </p:nvSpPr>
            <p:spPr bwMode="auto">
              <a:xfrm>
                <a:off x="3504" y="189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8514" name="Line 69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295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8510" name="Text Box 70"/>
            <p:cNvSpPr txBox="1">
              <a:spLocks noChangeArrowheads="1"/>
            </p:cNvSpPr>
            <p:nvPr/>
          </p:nvSpPr>
          <p:spPr bwMode="auto">
            <a:xfrm>
              <a:off x="3696" y="1872"/>
              <a:ext cx="26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（软件查询法）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56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6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56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56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6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6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56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56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56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56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56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56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5" dur="500"/>
                                        <p:tgtEl>
                                          <p:spTgt spid="56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5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5" dur="500"/>
                                        <p:tgtEl>
                                          <p:spTgt spid="56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56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1" grpId="0" autoUpdateAnimBg="0"/>
      <p:bldP spid="565252" grpId="0" autoUpdateAnimBg="0"/>
      <p:bldP spid="565253" grpId="0" autoUpdateAnimBg="0"/>
      <p:bldP spid="565269" grpId="0" animBg="1" autoUpdateAnimBg="0"/>
      <p:bldP spid="565286" grpId="0" animBg="1"/>
      <p:bldP spid="565300" grpId="0" autoUpdateAnimBg="0"/>
      <p:bldP spid="565301" grpId="0" autoUpdateAnimBg="0"/>
      <p:bldP spid="565302" grpId="0" autoUpdateAnimBg="0"/>
      <p:bldP spid="565303" grpId="0" autoUpdateAnimBg="0"/>
      <p:bldP spid="56530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1828800" y="228600"/>
            <a:ext cx="6324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五、保护现场和恢复现场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6275" name="Rectangle 3"/>
          <p:cNvSpPr>
            <a:spLocks noChangeArrowheads="1"/>
          </p:cNvSpPr>
          <p:nvPr/>
        </p:nvSpPr>
        <p:spPr bwMode="auto">
          <a:xfrm>
            <a:off x="2514600" y="1143000"/>
            <a:ext cx="1752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1. 保护现场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6276" name="Rectangle 4"/>
          <p:cNvSpPr>
            <a:spLocks noChangeArrowheads="1"/>
          </p:cNvSpPr>
          <p:nvPr/>
        </p:nvSpPr>
        <p:spPr bwMode="auto">
          <a:xfrm>
            <a:off x="2514600" y="2057400"/>
            <a:ext cx="1828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2. 恢复现场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66277" name="Group 5"/>
          <p:cNvGrpSpPr/>
          <p:nvPr/>
        </p:nvGrpSpPr>
        <p:grpSpPr bwMode="auto">
          <a:xfrm>
            <a:off x="4343400" y="914400"/>
            <a:ext cx="1981200" cy="1066800"/>
            <a:chOff x="1776" y="576"/>
            <a:chExt cx="1248" cy="672"/>
          </a:xfrm>
        </p:grpSpPr>
        <p:sp>
          <p:nvSpPr>
            <p:cNvPr id="149524" name="Rectangle 6"/>
            <p:cNvSpPr>
              <a:spLocks noChangeArrowheads="1"/>
            </p:cNvSpPr>
            <p:nvPr/>
          </p:nvSpPr>
          <p:spPr bwMode="auto">
            <a:xfrm>
              <a:off x="1776" y="912"/>
              <a:ext cx="124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寄存器 </a:t>
              </a:r>
              <a:r>
                <a:rPr lang="zh-CN" altLang="en-US" sz="2400">
                  <a:latin typeface="Times New Roman" panose="02020603050405020304" pitchFamily="18" charset="0"/>
                </a:rPr>
                <a:t>内容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9525" name="Rectangle 7"/>
            <p:cNvSpPr>
              <a:spLocks noChangeArrowheads="1"/>
            </p:cNvSpPr>
            <p:nvPr/>
          </p:nvSpPr>
          <p:spPr bwMode="auto">
            <a:xfrm>
              <a:off x="1776" y="576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断点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566280" name="AutoShape 8"/>
          <p:cNvSpPr/>
          <p:nvPr/>
        </p:nvSpPr>
        <p:spPr bwMode="auto">
          <a:xfrm>
            <a:off x="4121150" y="1066800"/>
            <a:ext cx="146050" cy="685800"/>
          </a:xfrm>
          <a:prstGeom prst="leftBrace">
            <a:avLst>
              <a:gd name="adj1" fmla="val 3913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800">
              <a:latin typeface="宋体" panose="02010600030101010101" pitchFamily="2" charset="-122"/>
            </a:endParaRPr>
          </a:p>
        </p:txBody>
      </p:sp>
      <p:sp>
        <p:nvSpPr>
          <p:cNvPr id="566288" name="Text Box 16"/>
          <p:cNvSpPr txBox="1">
            <a:spLocks noChangeArrowheads="1"/>
          </p:cNvSpPr>
          <p:nvPr/>
        </p:nvSpPr>
        <p:spPr bwMode="auto">
          <a:xfrm>
            <a:off x="4267200" y="2078038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中断服务程序 </a:t>
            </a:r>
            <a:r>
              <a:rPr lang="zh-CN" altLang="en-US" sz="2400">
                <a:latin typeface="Times New Roman" panose="02020603050405020304" pitchFamily="18" charset="0"/>
              </a:rPr>
              <a:t>完成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6291" name="Text Box 19"/>
          <p:cNvSpPr txBox="1">
            <a:spLocks noChangeArrowheads="1"/>
          </p:cNvSpPr>
          <p:nvPr/>
        </p:nvSpPr>
        <p:spPr bwMode="auto">
          <a:xfrm>
            <a:off x="6400800" y="9144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 sz="2400">
                <a:latin typeface="Times New Roman" panose="02020603050405020304" pitchFamily="18" charset="0"/>
              </a:rPr>
              <a:t>完成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6292" name="Rectangle 20"/>
          <p:cNvSpPr>
            <a:spLocks noChangeArrowheads="1"/>
          </p:cNvSpPr>
          <p:nvPr/>
        </p:nvSpPr>
        <p:spPr bwMode="auto">
          <a:xfrm>
            <a:off x="6486525" y="1447800"/>
            <a:ext cx="3810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中断服务程序 </a:t>
            </a:r>
            <a:r>
              <a:rPr lang="zh-CN" altLang="en-US" sz="2400">
                <a:latin typeface="Times New Roman" panose="02020603050405020304" pitchFamily="18" charset="0"/>
              </a:rPr>
              <a:t>完成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3962400" y="2933701"/>
            <a:ext cx="1979613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保护现场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3962400" y="3962401"/>
            <a:ext cx="1979613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Times New Roman" panose="02020603050405020304" pitchFamily="18" charset="0"/>
              </a:rPr>
              <a:t>其它服务程序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3962400" y="4953001"/>
            <a:ext cx="1979613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恢复现场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3962400" y="5943601"/>
            <a:ext cx="1979613" cy="647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Times New Roman" panose="02020603050405020304" pitchFamily="18" charset="0"/>
              </a:rPr>
              <a:t>中断返回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400800" y="3009901"/>
            <a:ext cx="190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PUSH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6324600" y="4000501"/>
            <a:ext cx="2590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视不同请求源而定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6400800" y="4991101"/>
            <a:ext cx="190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POP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014663" y="3619501"/>
            <a:ext cx="490537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中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断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服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务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程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AutoShape 18"/>
          <p:cNvSpPr/>
          <p:nvPr/>
        </p:nvSpPr>
        <p:spPr bwMode="auto">
          <a:xfrm>
            <a:off x="3581400" y="2933701"/>
            <a:ext cx="304800" cy="3657600"/>
          </a:xfrm>
          <a:prstGeom prst="leftBrace">
            <a:avLst>
              <a:gd name="adj1" fmla="val 10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6400800" y="5981701"/>
            <a:ext cx="190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</a:rPr>
              <a:t>IRET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56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6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6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6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autoUpdateAnimBg="0"/>
      <p:bldP spid="566276" grpId="0" autoUpdateAnimBg="0"/>
      <p:bldP spid="566280" grpId="0" animBg="1"/>
      <p:bldP spid="566288" grpId="0" autoUpdateAnimBg="0"/>
      <p:bldP spid="566291" grpId="0" autoUpdateAnimBg="0"/>
      <p:bldP spid="566292" grpId="0" autoUpdateAnimBg="0"/>
      <p:bldP spid="2" grpId="0" animBg="1" autoUpdateAnimBg="0"/>
      <p:bldP spid="3" grpId="0" animBg="1" autoUpdateAnimBg="0"/>
      <p:bldP spid="4" grpId="0" animBg="1" autoUpdateAnimBg="0"/>
      <p:bldP spid="5" grpId="0" animBg="1" autoUpdateAnimBg="0"/>
      <p:bldP spid="6" grpId="0" autoUpdateAnimBg="0"/>
      <p:bldP spid="7" grpId="0" autoUpdateAnimBg="0"/>
      <p:bldP spid="8" grpId="0" autoUpdateAnimBg="0"/>
      <p:bldP spid="9" grpId="0" autoUpdateAnimBg="0"/>
      <p:bldP spid="1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ChangeArrowheads="1"/>
          </p:cNvSpPr>
          <p:nvPr/>
        </p:nvSpPr>
        <p:spPr bwMode="auto">
          <a:xfrm>
            <a:off x="2628900" y="1244600"/>
            <a:ext cx="32385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1. 多重中断的概念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67299" name="Line 3"/>
          <p:cNvSpPr>
            <a:spLocks noChangeShapeType="1"/>
          </p:cNvSpPr>
          <p:nvPr/>
        </p:nvSpPr>
        <p:spPr bwMode="auto">
          <a:xfrm>
            <a:off x="4648200" y="21939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0" name="Line 4"/>
          <p:cNvSpPr>
            <a:spLocks noChangeShapeType="1"/>
          </p:cNvSpPr>
          <p:nvPr/>
        </p:nvSpPr>
        <p:spPr bwMode="auto">
          <a:xfrm>
            <a:off x="5562600" y="21939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1" name="Line 5"/>
          <p:cNvSpPr>
            <a:spLocks noChangeShapeType="1"/>
          </p:cNvSpPr>
          <p:nvPr/>
        </p:nvSpPr>
        <p:spPr bwMode="auto">
          <a:xfrm flipV="1">
            <a:off x="4648200" y="21939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2" name="Line 6"/>
          <p:cNvSpPr>
            <a:spLocks noChangeShapeType="1"/>
          </p:cNvSpPr>
          <p:nvPr/>
        </p:nvSpPr>
        <p:spPr bwMode="auto">
          <a:xfrm>
            <a:off x="6477000" y="21939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3" name="Line 7"/>
          <p:cNvSpPr>
            <a:spLocks noChangeShapeType="1"/>
          </p:cNvSpPr>
          <p:nvPr/>
        </p:nvSpPr>
        <p:spPr bwMode="auto">
          <a:xfrm flipV="1">
            <a:off x="5562600" y="21939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4" name="Line 8"/>
          <p:cNvSpPr>
            <a:spLocks noChangeShapeType="1"/>
          </p:cNvSpPr>
          <p:nvPr/>
        </p:nvSpPr>
        <p:spPr bwMode="auto">
          <a:xfrm>
            <a:off x="7391400" y="2193925"/>
            <a:ext cx="0" cy="2209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5" name="Line 9"/>
          <p:cNvSpPr>
            <a:spLocks noChangeShapeType="1"/>
          </p:cNvSpPr>
          <p:nvPr/>
        </p:nvSpPr>
        <p:spPr bwMode="auto">
          <a:xfrm flipV="1">
            <a:off x="6477000" y="21939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6" name="Line 10"/>
          <p:cNvSpPr>
            <a:spLocks noChangeShapeType="1"/>
          </p:cNvSpPr>
          <p:nvPr/>
        </p:nvSpPr>
        <p:spPr bwMode="auto">
          <a:xfrm rot="16200000" flipV="1">
            <a:off x="6477000" y="34893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7" name="Line 11"/>
          <p:cNvSpPr>
            <a:spLocks noChangeShapeType="1"/>
          </p:cNvSpPr>
          <p:nvPr/>
        </p:nvSpPr>
        <p:spPr bwMode="auto">
          <a:xfrm>
            <a:off x="6477000" y="34893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8" name="Line 12"/>
          <p:cNvSpPr>
            <a:spLocks noChangeShapeType="1"/>
          </p:cNvSpPr>
          <p:nvPr/>
        </p:nvSpPr>
        <p:spPr bwMode="auto">
          <a:xfrm rot="16200000" flipV="1">
            <a:off x="5562600" y="34893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09" name="Line 13"/>
          <p:cNvSpPr>
            <a:spLocks noChangeShapeType="1"/>
          </p:cNvSpPr>
          <p:nvPr/>
        </p:nvSpPr>
        <p:spPr bwMode="auto">
          <a:xfrm>
            <a:off x="5562600" y="34893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10" name="Line 14"/>
          <p:cNvSpPr>
            <a:spLocks noChangeShapeType="1"/>
          </p:cNvSpPr>
          <p:nvPr/>
        </p:nvSpPr>
        <p:spPr bwMode="auto">
          <a:xfrm rot="16200000" flipV="1">
            <a:off x="4648200" y="3489325"/>
            <a:ext cx="9144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11" name="Line 15"/>
          <p:cNvSpPr>
            <a:spLocks noChangeShapeType="1"/>
          </p:cNvSpPr>
          <p:nvPr/>
        </p:nvSpPr>
        <p:spPr bwMode="auto">
          <a:xfrm>
            <a:off x="4648200" y="34893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7312" name="Text Box 16"/>
          <p:cNvSpPr txBox="1">
            <a:spLocks noChangeArrowheads="1"/>
          </p:cNvSpPr>
          <p:nvPr/>
        </p:nvSpPr>
        <p:spPr bwMode="auto">
          <a:xfrm>
            <a:off x="4267200" y="28940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Times New Roman" panose="02020603050405020304" pitchFamily="18" charset="0"/>
              </a:rPr>
              <a:t>k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567313" name="Text Box 17"/>
          <p:cNvSpPr txBox="1">
            <a:spLocks noChangeArrowheads="1"/>
          </p:cNvSpPr>
          <p:nvPr/>
        </p:nvSpPr>
        <p:spPr bwMode="auto">
          <a:xfrm>
            <a:off x="5241925" y="289401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567314" name="Text Box 18"/>
          <p:cNvSpPr txBox="1">
            <a:spLocks noChangeArrowheads="1"/>
          </p:cNvSpPr>
          <p:nvPr/>
        </p:nvSpPr>
        <p:spPr bwMode="auto">
          <a:xfrm>
            <a:off x="6156325" y="2894013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Times New Roman" panose="02020603050405020304" pitchFamily="18" charset="0"/>
              </a:rPr>
              <a:t>m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567315" name="Text Box 19"/>
          <p:cNvSpPr txBox="1">
            <a:spLocks noChangeArrowheads="1"/>
          </p:cNvSpPr>
          <p:nvPr/>
        </p:nvSpPr>
        <p:spPr bwMode="auto">
          <a:xfrm>
            <a:off x="4051300" y="3351213"/>
            <a:ext cx="633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800" i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316" name="Text Box 20"/>
          <p:cNvSpPr txBox="1">
            <a:spLocks noChangeArrowheads="1"/>
          </p:cNvSpPr>
          <p:nvPr/>
        </p:nvSpPr>
        <p:spPr bwMode="auto">
          <a:xfrm>
            <a:off x="5013325" y="3351213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800" i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317" name="Text Box 21"/>
          <p:cNvSpPr txBox="1">
            <a:spLocks noChangeArrowheads="1"/>
          </p:cNvSpPr>
          <p:nvPr/>
        </p:nvSpPr>
        <p:spPr bwMode="auto">
          <a:xfrm>
            <a:off x="5867400" y="3351213"/>
            <a:ext cx="703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800" i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7318" name="Group 22"/>
          <p:cNvGrpSpPr/>
          <p:nvPr/>
        </p:nvGrpSpPr>
        <p:grpSpPr bwMode="auto">
          <a:xfrm>
            <a:off x="4191000" y="4476750"/>
            <a:ext cx="3008313" cy="704850"/>
            <a:chOff x="1680" y="2820"/>
            <a:chExt cx="1895" cy="444"/>
          </a:xfrm>
        </p:grpSpPr>
        <p:sp>
          <p:nvSpPr>
            <p:cNvPr id="150553" name="Text Box 23"/>
            <p:cNvSpPr txBox="1">
              <a:spLocks noChangeArrowheads="1"/>
            </p:cNvSpPr>
            <p:nvPr/>
          </p:nvSpPr>
          <p:spPr bwMode="auto">
            <a:xfrm>
              <a:off x="1680" y="2820"/>
              <a:ext cx="59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第一次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中断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0554" name="Text Box 24"/>
            <p:cNvSpPr txBox="1">
              <a:spLocks noChangeArrowheads="1"/>
            </p:cNvSpPr>
            <p:nvPr/>
          </p:nvSpPr>
          <p:spPr bwMode="auto">
            <a:xfrm>
              <a:off x="2329" y="2822"/>
              <a:ext cx="59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第二次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中断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0555" name="Text Box 25"/>
            <p:cNvSpPr txBox="1">
              <a:spLocks noChangeArrowheads="1"/>
            </p:cNvSpPr>
            <p:nvPr/>
          </p:nvSpPr>
          <p:spPr bwMode="auto">
            <a:xfrm>
              <a:off x="2976" y="2822"/>
              <a:ext cx="59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第三次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中断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7322" name="Text Box 26"/>
          <p:cNvSpPr txBox="1">
            <a:spLocks noChangeArrowheads="1"/>
          </p:cNvSpPr>
          <p:nvPr/>
        </p:nvSpPr>
        <p:spPr bwMode="auto">
          <a:xfrm>
            <a:off x="3817938" y="5410200"/>
            <a:ext cx="441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程序断点  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+1 ,  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+1 ,  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52" name="Text Box 27"/>
          <p:cNvSpPr txBox="1">
            <a:spLocks noChangeArrowheads="1"/>
          </p:cNvSpPr>
          <p:nvPr/>
        </p:nvSpPr>
        <p:spPr bwMode="auto">
          <a:xfrm>
            <a:off x="2057400" y="349250"/>
            <a:ext cx="3854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六、中断屏蔽技术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6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56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7" dur="500"/>
                                        <p:tgtEl>
                                          <p:spTgt spid="5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56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1" dur="500"/>
                                        <p:tgtEl>
                                          <p:spTgt spid="56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6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5" dur="500"/>
                                        <p:tgtEl>
                                          <p:spTgt spid="56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6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5" dur="500"/>
                                        <p:tgtEl>
                                          <p:spTgt spid="56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56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6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 autoUpdateAnimBg="0"/>
      <p:bldP spid="567312" grpId="0" autoUpdateAnimBg="0"/>
      <p:bldP spid="567313" grpId="0" autoUpdateAnimBg="0"/>
      <p:bldP spid="567314" grpId="0" autoUpdateAnimBg="0"/>
      <p:bldP spid="567315" grpId="0" autoUpdateAnimBg="0"/>
      <p:bldP spid="567316" grpId="0" autoUpdateAnimBg="0"/>
      <p:bldP spid="567317" grpId="0" autoUpdateAnimBg="0"/>
      <p:bldP spid="56732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1905000" y="254000"/>
            <a:ext cx="53990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 实现多重中断的条件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8323" name="Line 3"/>
          <p:cNvSpPr>
            <a:spLocks noChangeShapeType="1"/>
          </p:cNvSpPr>
          <p:nvPr/>
        </p:nvSpPr>
        <p:spPr bwMode="auto">
          <a:xfrm>
            <a:off x="3581400" y="3170238"/>
            <a:ext cx="0" cy="654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8324" name="Group 4"/>
          <p:cNvGrpSpPr/>
          <p:nvPr/>
        </p:nvGrpSpPr>
        <p:grpSpPr bwMode="auto">
          <a:xfrm>
            <a:off x="3581400" y="3824288"/>
            <a:ext cx="2743200" cy="0"/>
            <a:chOff x="1296" y="2409"/>
            <a:chExt cx="1728" cy="0"/>
          </a:xfrm>
        </p:grpSpPr>
        <p:sp>
          <p:nvSpPr>
            <p:cNvPr id="151614" name="Line 5"/>
            <p:cNvSpPr>
              <a:spLocks noChangeShapeType="1"/>
            </p:cNvSpPr>
            <p:nvPr/>
          </p:nvSpPr>
          <p:spPr bwMode="auto">
            <a:xfrm>
              <a:off x="1296" y="2409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15" name="Line 6"/>
            <p:cNvSpPr>
              <a:spLocks noChangeShapeType="1"/>
            </p:cNvSpPr>
            <p:nvPr/>
          </p:nvSpPr>
          <p:spPr bwMode="auto">
            <a:xfrm>
              <a:off x="2160" y="24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8327" name="Group 7"/>
          <p:cNvGrpSpPr/>
          <p:nvPr/>
        </p:nvGrpSpPr>
        <p:grpSpPr bwMode="auto">
          <a:xfrm>
            <a:off x="3581400" y="4217988"/>
            <a:ext cx="2743200" cy="0"/>
            <a:chOff x="1296" y="2657"/>
            <a:chExt cx="1728" cy="0"/>
          </a:xfrm>
        </p:grpSpPr>
        <p:sp>
          <p:nvSpPr>
            <p:cNvPr id="151612" name="Line 8"/>
            <p:cNvSpPr>
              <a:spLocks noChangeShapeType="1"/>
            </p:cNvSpPr>
            <p:nvPr/>
          </p:nvSpPr>
          <p:spPr bwMode="auto">
            <a:xfrm>
              <a:off x="1296" y="2657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13" name="Line 9"/>
            <p:cNvSpPr>
              <a:spLocks noChangeShapeType="1"/>
            </p:cNvSpPr>
            <p:nvPr/>
          </p:nvSpPr>
          <p:spPr bwMode="auto">
            <a:xfrm rot="10800000">
              <a:off x="2352" y="265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8330" name="Group 10"/>
          <p:cNvGrpSpPr/>
          <p:nvPr/>
        </p:nvGrpSpPr>
        <p:grpSpPr bwMode="auto">
          <a:xfrm>
            <a:off x="3581400" y="4545013"/>
            <a:ext cx="4114800" cy="0"/>
            <a:chOff x="1296" y="2863"/>
            <a:chExt cx="2592" cy="0"/>
          </a:xfrm>
        </p:grpSpPr>
        <p:sp>
          <p:nvSpPr>
            <p:cNvPr id="151610" name="Line 11"/>
            <p:cNvSpPr>
              <a:spLocks noChangeShapeType="1"/>
            </p:cNvSpPr>
            <p:nvPr/>
          </p:nvSpPr>
          <p:spPr bwMode="auto">
            <a:xfrm>
              <a:off x="1296" y="2863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11" name="Line 12"/>
            <p:cNvSpPr>
              <a:spLocks noChangeShapeType="1"/>
            </p:cNvSpPr>
            <p:nvPr/>
          </p:nvSpPr>
          <p:spPr bwMode="auto">
            <a:xfrm>
              <a:off x="3024" y="286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8333" name="Group 13"/>
          <p:cNvGrpSpPr/>
          <p:nvPr/>
        </p:nvGrpSpPr>
        <p:grpSpPr bwMode="auto">
          <a:xfrm>
            <a:off x="3581400" y="4937125"/>
            <a:ext cx="4114800" cy="0"/>
            <a:chOff x="1296" y="3110"/>
            <a:chExt cx="2592" cy="0"/>
          </a:xfrm>
        </p:grpSpPr>
        <p:sp>
          <p:nvSpPr>
            <p:cNvPr id="151608" name="Line 14"/>
            <p:cNvSpPr>
              <a:spLocks noChangeShapeType="1"/>
            </p:cNvSpPr>
            <p:nvPr/>
          </p:nvSpPr>
          <p:spPr bwMode="auto">
            <a:xfrm>
              <a:off x="1296" y="3110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09" name="Line 15"/>
            <p:cNvSpPr>
              <a:spLocks noChangeShapeType="1"/>
            </p:cNvSpPr>
            <p:nvPr/>
          </p:nvSpPr>
          <p:spPr bwMode="auto">
            <a:xfrm rot="10800000">
              <a:off x="3216" y="311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68336" name="Freeform 16"/>
          <p:cNvSpPr/>
          <p:nvPr/>
        </p:nvSpPr>
        <p:spPr bwMode="auto">
          <a:xfrm>
            <a:off x="3589338" y="4217988"/>
            <a:ext cx="1587" cy="315912"/>
          </a:xfrm>
          <a:custGeom>
            <a:avLst/>
            <a:gdLst>
              <a:gd name="T0" fmla="*/ 0 w 1"/>
              <a:gd name="T1" fmla="*/ 0 h 199"/>
              <a:gd name="T2" fmla="*/ 0 w 1"/>
              <a:gd name="T3" fmla="*/ 2147483646 h 19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8337" name="Group 17"/>
          <p:cNvGrpSpPr/>
          <p:nvPr/>
        </p:nvGrpSpPr>
        <p:grpSpPr bwMode="auto">
          <a:xfrm>
            <a:off x="3581400" y="5265738"/>
            <a:ext cx="5486400" cy="0"/>
            <a:chOff x="1296" y="3317"/>
            <a:chExt cx="3456" cy="0"/>
          </a:xfrm>
        </p:grpSpPr>
        <p:sp>
          <p:nvSpPr>
            <p:cNvPr id="151606" name="Line 18"/>
            <p:cNvSpPr>
              <a:spLocks noChangeShapeType="1"/>
            </p:cNvSpPr>
            <p:nvPr/>
          </p:nvSpPr>
          <p:spPr bwMode="auto">
            <a:xfrm>
              <a:off x="1296" y="3317"/>
              <a:ext cx="3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07" name="Line 19"/>
            <p:cNvSpPr>
              <a:spLocks noChangeShapeType="1"/>
            </p:cNvSpPr>
            <p:nvPr/>
          </p:nvSpPr>
          <p:spPr bwMode="auto">
            <a:xfrm>
              <a:off x="3888" y="331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8340" name="Group 20"/>
          <p:cNvGrpSpPr/>
          <p:nvPr/>
        </p:nvGrpSpPr>
        <p:grpSpPr bwMode="auto">
          <a:xfrm>
            <a:off x="4953000" y="5657850"/>
            <a:ext cx="4114800" cy="0"/>
            <a:chOff x="2160" y="3564"/>
            <a:chExt cx="2592" cy="0"/>
          </a:xfrm>
        </p:grpSpPr>
        <p:sp>
          <p:nvSpPr>
            <p:cNvPr id="151604" name="Line 21"/>
            <p:cNvSpPr>
              <a:spLocks noChangeShapeType="1"/>
            </p:cNvSpPr>
            <p:nvPr/>
          </p:nvSpPr>
          <p:spPr bwMode="auto">
            <a:xfrm>
              <a:off x="2160" y="3564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05" name="Line 22"/>
            <p:cNvSpPr>
              <a:spLocks noChangeShapeType="1"/>
            </p:cNvSpPr>
            <p:nvPr/>
          </p:nvSpPr>
          <p:spPr bwMode="auto">
            <a:xfrm rot="10800000">
              <a:off x="3888" y="356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68343" name="Freeform 23"/>
          <p:cNvSpPr/>
          <p:nvPr/>
        </p:nvSpPr>
        <p:spPr bwMode="auto">
          <a:xfrm>
            <a:off x="3589338" y="4937125"/>
            <a:ext cx="1587" cy="315913"/>
          </a:xfrm>
          <a:custGeom>
            <a:avLst/>
            <a:gdLst>
              <a:gd name="T0" fmla="*/ 0 w 1"/>
              <a:gd name="T1" fmla="*/ 0 h 199"/>
              <a:gd name="T2" fmla="*/ 0 w 1"/>
              <a:gd name="T3" fmla="*/ 2147483646 h 19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8344" name="Group 24"/>
          <p:cNvGrpSpPr/>
          <p:nvPr/>
        </p:nvGrpSpPr>
        <p:grpSpPr bwMode="auto">
          <a:xfrm>
            <a:off x="4953000" y="5984875"/>
            <a:ext cx="4114800" cy="0"/>
            <a:chOff x="2160" y="3770"/>
            <a:chExt cx="2592" cy="0"/>
          </a:xfrm>
        </p:grpSpPr>
        <p:sp>
          <p:nvSpPr>
            <p:cNvPr id="151602" name="Line 25"/>
            <p:cNvSpPr>
              <a:spLocks noChangeShapeType="1"/>
            </p:cNvSpPr>
            <p:nvPr/>
          </p:nvSpPr>
          <p:spPr bwMode="auto">
            <a:xfrm>
              <a:off x="2160" y="3770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03" name="Line 26"/>
            <p:cNvSpPr>
              <a:spLocks noChangeShapeType="1"/>
            </p:cNvSpPr>
            <p:nvPr/>
          </p:nvSpPr>
          <p:spPr bwMode="auto">
            <a:xfrm>
              <a:off x="3024" y="377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8347" name="Group 27"/>
          <p:cNvGrpSpPr/>
          <p:nvPr/>
        </p:nvGrpSpPr>
        <p:grpSpPr bwMode="auto">
          <a:xfrm>
            <a:off x="3581400" y="6378575"/>
            <a:ext cx="5486400" cy="0"/>
            <a:chOff x="1296" y="4018"/>
            <a:chExt cx="3456" cy="0"/>
          </a:xfrm>
        </p:grpSpPr>
        <p:sp>
          <p:nvSpPr>
            <p:cNvPr id="151600" name="Line 28"/>
            <p:cNvSpPr>
              <a:spLocks noChangeShapeType="1"/>
            </p:cNvSpPr>
            <p:nvPr/>
          </p:nvSpPr>
          <p:spPr bwMode="auto">
            <a:xfrm>
              <a:off x="1296" y="4018"/>
              <a:ext cx="3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601" name="Line 29"/>
            <p:cNvSpPr>
              <a:spLocks noChangeShapeType="1"/>
            </p:cNvSpPr>
            <p:nvPr/>
          </p:nvSpPr>
          <p:spPr bwMode="auto">
            <a:xfrm rot="10800000">
              <a:off x="3216" y="401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68350" name="Freeform 30"/>
          <p:cNvSpPr/>
          <p:nvPr/>
        </p:nvSpPr>
        <p:spPr bwMode="auto">
          <a:xfrm>
            <a:off x="3589338" y="6388100"/>
            <a:ext cx="1587" cy="298450"/>
          </a:xfrm>
          <a:custGeom>
            <a:avLst/>
            <a:gdLst>
              <a:gd name="T0" fmla="*/ 0 w 1"/>
              <a:gd name="T1" fmla="*/ 0 h 188"/>
              <a:gd name="T2" fmla="*/ 0 w 1"/>
              <a:gd name="T3" fmla="*/ 2147483646 h 18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88">
                <a:moveTo>
                  <a:pt x="0" y="0"/>
                </a:moveTo>
                <a:lnTo>
                  <a:pt x="0" y="188"/>
                </a:lnTo>
              </a:path>
            </a:pathLst>
          </a:custGeom>
          <a:noFill/>
          <a:ln w="57150" cmpd="sng">
            <a:solidFill>
              <a:schemeClr val="tx1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8386" name="Group 66"/>
          <p:cNvGrpSpPr/>
          <p:nvPr/>
        </p:nvGrpSpPr>
        <p:grpSpPr bwMode="auto">
          <a:xfrm>
            <a:off x="2117725" y="3640138"/>
            <a:ext cx="1296988" cy="396875"/>
            <a:chOff x="374" y="2293"/>
            <a:chExt cx="817" cy="250"/>
          </a:xfrm>
        </p:grpSpPr>
        <p:sp>
          <p:nvSpPr>
            <p:cNvPr id="151598" name="Line 32"/>
            <p:cNvSpPr>
              <a:spLocks noChangeShapeType="1"/>
            </p:cNvSpPr>
            <p:nvPr/>
          </p:nvSpPr>
          <p:spPr bwMode="auto">
            <a:xfrm>
              <a:off x="903" y="24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99" name="Text Box 33"/>
            <p:cNvSpPr txBox="1">
              <a:spLocks noChangeArrowheads="1"/>
            </p:cNvSpPr>
            <p:nvPr/>
          </p:nvSpPr>
          <p:spPr bwMode="auto">
            <a:xfrm>
              <a:off x="374" y="2293"/>
              <a:ext cx="5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zh-CN" altLang="en-US" sz="2000"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8354" name="Group 34"/>
          <p:cNvGrpSpPr/>
          <p:nvPr/>
        </p:nvGrpSpPr>
        <p:grpSpPr bwMode="auto">
          <a:xfrm>
            <a:off x="2590800" y="5562600"/>
            <a:ext cx="2362200" cy="396875"/>
            <a:chOff x="672" y="3504"/>
            <a:chExt cx="1488" cy="250"/>
          </a:xfrm>
        </p:grpSpPr>
        <p:sp>
          <p:nvSpPr>
            <p:cNvPr id="151594" name="Line 35"/>
            <p:cNvSpPr>
              <a:spLocks noChangeShapeType="1"/>
            </p:cNvSpPr>
            <p:nvPr/>
          </p:nvSpPr>
          <p:spPr bwMode="auto">
            <a:xfrm flipH="1">
              <a:off x="1296" y="35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1595" name="Group 36"/>
            <p:cNvGrpSpPr/>
            <p:nvPr/>
          </p:nvGrpSpPr>
          <p:grpSpPr bwMode="auto">
            <a:xfrm>
              <a:off x="672" y="3504"/>
              <a:ext cx="528" cy="250"/>
              <a:chOff x="672" y="3489"/>
              <a:chExt cx="528" cy="250"/>
            </a:xfrm>
          </p:grpSpPr>
          <p:sp>
            <p:nvSpPr>
              <p:cNvPr id="151596" name="Line 37"/>
              <p:cNvSpPr>
                <a:spLocks noChangeShapeType="1"/>
              </p:cNvSpPr>
              <p:nvPr/>
            </p:nvSpPr>
            <p:spPr bwMode="auto">
              <a:xfrm>
                <a:off x="912" y="356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1597" name="Text Box 38"/>
              <p:cNvSpPr txBox="1">
                <a:spLocks noChangeArrowheads="1"/>
              </p:cNvSpPr>
              <p:nvPr/>
            </p:nvSpPr>
            <p:spPr bwMode="auto">
              <a:xfrm>
                <a:off x="672" y="3489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A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68359" name="Text Box 39"/>
          <p:cNvSpPr txBox="1">
            <a:spLocks noChangeArrowheads="1"/>
          </p:cNvSpPr>
          <p:nvPr/>
        </p:nvSpPr>
        <p:spPr bwMode="auto">
          <a:xfrm>
            <a:off x="2166938" y="2955925"/>
            <a:ext cx="695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中断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请求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68360" name="Text Box 40"/>
          <p:cNvSpPr txBox="1">
            <a:spLocks noChangeArrowheads="1"/>
          </p:cNvSpPr>
          <p:nvPr/>
        </p:nvSpPr>
        <p:spPr bwMode="auto">
          <a:xfrm>
            <a:off x="3087688" y="2133600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主程序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68361" name="Text Box 41"/>
          <p:cNvSpPr txBox="1">
            <a:spLocks noChangeArrowheads="1"/>
          </p:cNvSpPr>
          <p:nvPr/>
        </p:nvSpPr>
        <p:spPr bwMode="auto">
          <a:xfrm>
            <a:off x="2065338" y="1524000"/>
            <a:ext cx="8145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优先级别高 </a:t>
            </a:r>
            <a:r>
              <a:rPr lang="zh-CN" altLang="en-US" sz="2400">
                <a:latin typeface="Times New Roman" panose="02020603050405020304" pitchFamily="18" charset="0"/>
              </a:rPr>
              <a:t>的中断源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有权中断优先级别低 </a:t>
            </a:r>
            <a:r>
              <a:rPr lang="zh-CN" altLang="en-US" sz="2400">
                <a:latin typeface="Times New Roman" panose="02020603050405020304" pitchFamily="18" charset="0"/>
              </a:rPr>
              <a:t>的中断源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8362" name="Text Box 42"/>
          <p:cNvSpPr txBox="1">
            <a:spLocks noChangeArrowheads="1"/>
          </p:cNvSpPr>
          <p:nvPr/>
        </p:nvSpPr>
        <p:spPr bwMode="auto">
          <a:xfrm>
            <a:off x="2065338" y="914400"/>
            <a:ext cx="4106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提前 </a:t>
            </a:r>
            <a:r>
              <a:rPr lang="zh-CN" altLang="en-US" sz="2400">
                <a:latin typeface="Times New Roman" panose="02020603050405020304" pitchFamily="18" charset="0"/>
              </a:rPr>
              <a:t>设置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开中断 </a:t>
            </a:r>
            <a:r>
              <a:rPr lang="zh-CN" altLang="en-US" sz="2400">
                <a:latin typeface="Times New Roman" panose="02020603050405020304" pitchFamily="18" charset="0"/>
              </a:rPr>
              <a:t>指令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68363" name="Group 43"/>
          <p:cNvGrpSpPr/>
          <p:nvPr/>
        </p:nvGrpSpPr>
        <p:grpSpPr bwMode="auto">
          <a:xfrm>
            <a:off x="4724400" y="2133600"/>
            <a:ext cx="4610100" cy="3883025"/>
            <a:chOff x="2016" y="1344"/>
            <a:chExt cx="2904" cy="2446"/>
          </a:xfrm>
        </p:grpSpPr>
        <p:sp>
          <p:nvSpPr>
            <p:cNvPr id="151583" name="Line 44"/>
            <p:cNvSpPr>
              <a:spLocks noChangeShapeType="1"/>
            </p:cNvSpPr>
            <p:nvPr/>
          </p:nvSpPr>
          <p:spPr bwMode="auto">
            <a:xfrm>
              <a:off x="2160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84" name="Line 45"/>
            <p:cNvSpPr>
              <a:spLocks noChangeShapeType="1"/>
            </p:cNvSpPr>
            <p:nvPr/>
          </p:nvSpPr>
          <p:spPr bwMode="auto">
            <a:xfrm>
              <a:off x="3024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85" name="Line 46"/>
            <p:cNvSpPr>
              <a:spLocks noChangeShapeType="1"/>
            </p:cNvSpPr>
            <p:nvPr/>
          </p:nvSpPr>
          <p:spPr bwMode="auto">
            <a:xfrm>
              <a:off x="3888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86" name="Line 47"/>
            <p:cNvSpPr>
              <a:spLocks noChangeShapeType="1"/>
            </p:cNvSpPr>
            <p:nvPr/>
          </p:nvSpPr>
          <p:spPr bwMode="auto">
            <a:xfrm>
              <a:off x="4752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87" name="Text Box 48"/>
            <p:cNvSpPr txBox="1">
              <a:spLocks noChangeArrowheads="1"/>
            </p:cNvSpPr>
            <p:nvPr/>
          </p:nvSpPr>
          <p:spPr bwMode="auto">
            <a:xfrm>
              <a:off x="2024" y="196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51588" name="Text Box 49"/>
            <p:cNvSpPr txBox="1">
              <a:spLocks noChangeArrowheads="1"/>
            </p:cNvSpPr>
            <p:nvPr/>
          </p:nvSpPr>
          <p:spPr bwMode="auto">
            <a:xfrm>
              <a:off x="2928" y="1963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51589" name="Text Box 50"/>
            <p:cNvSpPr txBox="1">
              <a:spLocks noChangeArrowheads="1"/>
            </p:cNvSpPr>
            <p:nvPr/>
          </p:nvSpPr>
          <p:spPr bwMode="auto">
            <a:xfrm>
              <a:off x="3782" y="196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51590" name="Text Box 51"/>
            <p:cNvSpPr txBox="1">
              <a:spLocks noChangeArrowheads="1"/>
            </p:cNvSpPr>
            <p:nvPr/>
          </p:nvSpPr>
          <p:spPr bwMode="auto">
            <a:xfrm>
              <a:off x="4616" y="196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51591" name="AutoShape 52"/>
            <p:cNvSpPr/>
            <p:nvPr/>
          </p:nvSpPr>
          <p:spPr bwMode="auto">
            <a:xfrm rot="5400000">
              <a:off x="3394" y="598"/>
              <a:ext cx="123" cy="2592"/>
            </a:xfrm>
            <a:prstGeom prst="leftBrace">
              <a:avLst>
                <a:gd name="adj1" fmla="val 17561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1592" name="Text Box 53"/>
            <p:cNvSpPr txBox="1">
              <a:spLocks noChangeArrowheads="1"/>
            </p:cNvSpPr>
            <p:nvPr/>
          </p:nvSpPr>
          <p:spPr bwMode="auto">
            <a:xfrm>
              <a:off x="2902" y="1344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中断服务程序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1593" name="Text Box 54"/>
            <p:cNvSpPr txBox="1">
              <a:spLocks noChangeArrowheads="1"/>
            </p:cNvSpPr>
            <p:nvPr/>
          </p:nvSpPr>
          <p:spPr bwMode="auto">
            <a:xfrm>
              <a:off x="2016" y="1584"/>
              <a:ext cx="29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 </a:t>
              </a:r>
              <a:r>
                <a:rPr lang="en-US" altLang="zh-CN" sz="2000">
                  <a:latin typeface="Times New Roman" panose="02020603050405020304" pitchFamily="18" charset="0"/>
                </a:rPr>
                <a:t>A、B、 C、 D </a:t>
              </a:r>
              <a:r>
                <a:rPr lang="zh-CN" altLang="en-US" sz="2000">
                  <a:latin typeface="Times New Roman" panose="02020603050405020304" pitchFamily="18" charset="0"/>
                </a:rPr>
                <a:t>优先级按 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000">
                  <a:latin typeface="Times New Roman" panose="02020603050405020304" pitchFamily="18" charset="0"/>
                </a:rPr>
                <a:t>排列）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8375" name="Line 55"/>
          <p:cNvSpPr>
            <a:spLocks noChangeShapeType="1"/>
          </p:cNvSpPr>
          <p:nvPr/>
        </p:nvSpPr>
        <p:spPr bwMode="auto">
          <a:xfrm>
            <a:off x="6324600" y="3824288"/>
            <a:ext cx="0" cy="3937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8376" name="Line 56"/>
          <p:cNvSpPr>
            <a:spLocks noChangeShapeType="1"/>
          </p:cNvSpPr>
          <p:nvPr/>
        </p:nvSpPr>
        <p:spPr bwMode="auto">
          <a:xfrm>
            <a:off x="9067800" y="5265738"/>
            <a:ext cx="0" cy="392112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8377" name="Freeform 57"/>
          <p:cNvSpPr/>
          <p:nvPr/>
        </p:nvSpPr>
        <p:spPr bwMode="auto">
          <a:xfrm>
            <a:off x="4953000" y="5657850"/>
            <a:ext cx="1588" cy="319088"/>
          </a:xfrm>
          <a:custGeom>
            <a:avLst/>
            <a:gdLst>
              <a:gd name="T0" fmla="*/ 0 w 1"/>
              <a:gd name="T1" fmla="*/ 0 h 201"/>
              <a:gd name="T2" fmla="*/ 0 w 1"/>
              <a:gd name="T3" fmla="*/ 2147483646 h 20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01">
                <a:moveTo>
                  <a:pt x="0" y="0"/>
                </a:moveTo>
                <a:lnTo>
                  <a:pt x="0" y="201"/>
                </a:ln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none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8378" name="Line 58"/>
          <p:cNvSpPr>
            <a:spLocks noChangeShapeType="1"/>
          </p:cNvSpPr>
          <p:nvPr/>
        </p:nvSpPr>
        <p:spPr bwMode="auto">
          <a:xfrm>
            <a:off x="9067800" y="5984875"/>
            <a:ext cx="0" cy="3937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8379" name="Line 59"/>
          <p:cNvSpPr>
            <a:spLocks noChangeShapeType="1"/>
          </p:cNvSpPr>
          <p:nvPr/>
        </p:nvSpPr>
        <p:spPr bwMode="auto">
          <a:xfrm>
            <a:off x="7696200" y="4724400"/>
            <a:ext cx="0" cy="24765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8380" name="Group 60"/>
          <p:cNvGrpSpPr/>
          <p:nvPr/>
        </p:nvGrpSpPr>
        <p:grpSpPr bwMode="auto">
          <a:xfrm>
            <a:off x="2590800" y="4556125"/>
            <a:ext cx="838200" cy="396875"/>
            <a:chOff x="672" y="2870"/>
            <a:chExt cx="528" cy="250"/>
          </a:xfrm>
        </p:grpSpPr>
        <p:sp>
          <p:nvSpPr>
            <p:cNvPr id="151581" name="Line 61"/>
            <p:cNvSpPr>
              <a:spLocks noChangeShapeType="1"/>
            </p:cNvSpPr>
            <p:nvPr/>
          </p:nvSpPr>
          <p:spPr bwMode="auto">
            <a:xfrm>
              <a:off x="912" y="29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582" name="Text Box 62"/>
            <p:cNvSpPr txBox="1">
              <a:spLocks noChangeArrowheads="1"/>
            </p:cNvSpPr>
            <p:nvPr/>
          </p:nvSpPr>
          <p:spPr bwMode="auto">
            <a:xfrm>
              <a:off x="672" y="2870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8383" name="Freeform 63"/>
          <p:cNvSpPr/>
          <p:nvPr/>
        </p:nvSpPr>
        <p:spPr bwMode="auto">
          <a:xfrm>
            <a:off x="7696200" y="4548188"/>
            <a:ext cx="1588" cy="176212"/>
          </a:xfrm>
          <a:custGeom>
            <a:avLst/>
            <a:gdLst>
              <a:gd name="T0" fmla="*/ 0 w 1"/>
              <a:gd name="T1" fmla="*/ 0 h 111"/>
              <a:gd name="T2" fmla="*/ 2147483646 w 1"/>
              <a:gd name="T3" fmla="*/ 2147483646 h 11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1">
                <a:moveTo>
                  <a:pt x="0" y="0"/>
                </a:moveTo>
                <a:lnTo>
                  <a:pt x="1" y="111"/>
                </a:ln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6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56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6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5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56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56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56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56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56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6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56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500"/>
                                        <p:tgtEl>
                                          <p:spTgt spid="56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56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56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56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3" dur="500"/>
                                        <p:tgtEl>
                                          <p:spTgt spid="56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56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56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56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3" dur="500"/>
                                        <p:tgtEl>
                                          <p:spTgt spid="56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56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59" grpId="0" autoUpdateAnimBg="0"/>
      <p:bldP spid="568360" grpId="0" autoUpdateAnimBg="0"/>
      <p:bldP spid="568361" grpId="0" autoUpdateAnimBg="0"/>
      <p:bldP spid="56836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346" name="Group 2"/>
          <p:cNvGrpSpPr/>
          <p:nvPr/>
        </p:nvGrpSpPr>
        <p:grpSpPr bwMode="auto">
          <a:xfrm>
            <a:off x="2557463" y="3817938"/>
            <a:ext cx="685800" cy="398462"/>
            <a:chOff x="651" y="2405"/>
            <a:chExt cx="432" cy="251"/>
          </a:xfrm>
        </p:grpSpPr>
        <p:sp>
          <p:nvSpPr>
            <p:cNvPr id="152680" name="Text Box 3"/>
            <p:cNvSpPr txBox="1">
              <a:spLocks noChangeArrowheads="1"/>
            </p:cNvSpPr>
            <p:nvPr/>
          </p:nvSpPr>
          <p:spPr bwMode="auto">
            <a:xfrm>
              <a:off x="689" y="2425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latin typeface="Times New Roman" panose="02020603050405020304" pitchFamily="18" charset="0"/>
                </a:rPr>
                <a:t>&amp;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2681" name="Rectangle 4"/>
            <p:cNvSpPr>
              <a:spLocks noChangeArrowheads="1"/>
            </p:cNvSpPr>
            <p:nvPr/>
          </p:nvSpPr>
          <p:spPr bwMode="auto">
            <a:xfrm>
              <a:off x="651" y="2459"/>
              <a:ext cx="432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82" name="Oval 5"/>
            <p:cNvSpPr>
              <a:spLocks noChangeArrowheads="1"/>
            </p:cNvSpPr>
            <p:nvPr/>
          </p:nvSpPr>
          <p:spPr bwMode="auto">
            <a:xfrm>
              <a:off x="843" y="2405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2579" name="Rectangle 6"/>
          <p:cNvSpPr>
            <a:spLocks noChangeArrowheads="1"/>
          </p:cNvSpPr>
          <p:nvPr/>
        </p:nvSpPr>
        <p:spPr bwMode="auto">
          <a:xfrm>
            <a:off x="2030413" y="330200"/>
            <a:ext cx="32385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屏蔽技术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69351" name="Rectangle 7"/>
          <p:cNvSpPr>
            <a:spLocks noChangeArrowheads="1"/>
          </p:cNvSpPr>
          <p:nvPr/>
        </p:nvSpPr>
        <p:spPr bwMode="auto">
          <a:xfrm>
            <a:off x="1992313" y="1066800"/>
            <a:ext cx="53990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屏蔽触发器的作用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69352" name="Rectangle 8"/>
          <p:cNvSpPr>
            <a:spLocks noChangeArrowheads="1"/>
          </p:cNvSpPr>
          <p:nvPr/>
        </p:nvSpPr>
        <p:spPr bwMode="auto">
          <a:xfrm>
            <a:off x="2514600" y="5588000"/>
            <a:ext cx="3429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MASK = 0（</a:t>
            </a:r>
            <a:r>
              <a:rPr lang="zh-CN" altLang="en-US" sz="2400">
                <a:latin typeface="Times New Roman" panose="02020603050405020304" pitchFamily="18" charset="0"/>
              </a:rPr>
              <a:t>未屏蔽）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9353" name="Rectangle 9"/>
          <p:cNvSpPr>
            <a:spLocks noChangeArrowheads="1"/>
          </p:cNvSpPr>
          <p:nvPr/>
        </p:nvSpPr>
        <p:spPr bwMode="auto">
          <a:xfrm>
            <a:off x="2514600" y="6096000"/>
            <a:ext cx="28797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INTR   </a:t>
            </a:r>
            <a:r>
              <a:rPr lang="zh-CN" altLang="en-US" sz="2400">
                <a:latin typeface="Times New Roman" panose="02020603050405020304" pitchFamily="18" charset="0"/>
              </a:rPr>
              <a:t>能被置 “1”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69354" name="Group 10"/>
          <p:cNvGrpSpPr/>
          <p:nvPr/>
        </p:nvGrpSpPr>
        <p:grpSpPr bwMode="auto">
          <a:xfrm>
            <a:off x="4984750" y="1776413"/>
            <a:ext cx="5075238" cy="2933700"/>
            <a:chOff x="2180" y="1119"/>
            <a:chExt cx="3197" cy="1848"/>
          </a:xfrm>
        </p:grpSpPr>
        <p:sp>
          <p:nvSpPr>
            <p:cNvPr id="152630" name="Freeform 11"/>
            <p:cNvSpPr/>
            <p:nvPr/>
          </p:nvSpPr>
          <p:spPr bwMode="auto">
            <a:xfrm>
              <a:off x="4245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31" name="Rectangle 12"/>
            <p:cNvSpPr>
              <a:spLocks noChangeArrowheads="1"/>
            </p:cNvSpPr>
            <p:nvPr/>
          </p:nvSpPr>
          <p:spPr bwMode="auto">
            <a:xfrm>
              <a:off x="4082" y="2055"/>
              <a:ext cx="323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32" name="Freeform 13"/>
            <p:cNvSpPr/>
            <p:nvPr/>
          </p:nvSpPr>
          <p:spPr bwMode="auto">
            <a:xfrm>
              <a:off x="3452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33" name="Rectangle 14"/>
            <p:cNvSpPr>
              <a:spLocks noChangeArrowheads="1"/>
            </p:cNvSpPr>
            <p:nvPr/>
          </p:nvSpPr>
          <p:spPr bwMode="auto">
            <a:xfrm>
              <a:off x="3289" y="2055"/>
              <a:ext cx="323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34" name="Rectangle 15"/>
            <p:cNvSpPr>
              <a:spLocks noChangeArrowheads="1"/>
            </p:cNvSpPr>
            <p:nvPr/>
          </p:nvSpPr>
          <p:spPr bwMode="auto">
            <a:xfrm>
              <a:off x="2510" y="2055"/>
              <a:ext cx="322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35" name="Freeform 16"/>
            <p:cNvSpPr/>
            <p:nvPr/>
          </p:nvSpPr>
          <p:spPr bwMode="auto">
            <a:xfrm>
              <a:off x="2673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36" name="Text Box 17"/>
            <p:cNvSpPr txBox="1">
              <a:spLocks noChangeArrowheads="1"/>
            </p:cNvSpPr>
            <p:nvPr/>
          </p:nvSpPr>
          <p:spPr bwMode="auto">
            <a:xfrm>
              <a:off x="2469" y="2040"/>
              <a:ext cx="3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800">
                  <a:latin typeface="Times New Roman" panose="02020603050405020304" pitchFamily="18" charset="0"/>
                </a:rPr>
                <a:t>       </a:t>
              </a:r>
              <a:r>
                <a:rPr lang="zh-CN" altLang="en-US" sz="1600">
                  <a:latin typeface="Times New Roman" panose="02020603050405020304" pitchFamily="18" charset="0"/>
                </a:rPr>
                <a:t>&amp;</a:t>
              </a:r>
              <a:endParaRPr lang="zh-CN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2637" name="Text Box 18"/>
            <p:cNvSpPr txBox="1">
              <a:spLocks noChangeArrowheads="1"/>
            </p:cNvSpPr>
            <p:nvPr/>
          </p:nvSpPr>
          <p:spPr bwMode="auto">
            <a:xfrm>
              <a:off x="3249" y="2023"/>
              <a:ext cx="3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latin typeface="Times New Roman" panose="02020603050405020304" pitchFamily="18" charset="0"/>
                </a:rPr>
                <a:t>&amp;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2638" name="Text Box 19"/>
            <p:cNvSpPr txBox="1">
              <a:spLocks noChangeArrowheads="1"/>
            </p:cNvSpPr>
            <p:nvPr/>
          </p:nvSpPr>
          <p:spPr bwMode="auto">
            <a:xfrm>
              <a:off x="4035" y="200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latin typeface="Times New Roman" panose="02020603050405020304" pitchFamily="18" charset="0"/>
                </a:rPr>
                <a:t>&amp;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2639" name="Freeform 20"/>
            <p:cNvSpPr/>
            <p:nvPr/>
          </p:nvSpPr>
          <p:spPr bwMode="auto">
            <a:xfrm>
              <a:off x="5052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 h 3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40" name="Rectangle 21"/>
            <p:cNvSpPr>
              <a:spLocks noChangeArrowheads="1"/>
            </p:cNvSpPr>
            <p:nvPr/>
          </p:nvSpPr>
          <p:spPr bwMode="auto">
            <a:xfrm>
              <a:off x="4889" y="2055"/>
              <a:ext cx="322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41" name="Text Box 22"/>
            <p:cNvSpPr txBox="1">
              <a:spLocks noChangeArrowheads="1"/>
            </p:cNvSpPr>
            <p:nvPr/>
          </p:nvSpPr>
          <p:spPr bwMode="auto">
            <a:xfrm>
              <a:off x="4848" y="2023"/>
              <a:ext cx="3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latin typeface="Times New Roman" panose="02020603050405020304" pitchFamily="18" charset="0"/>
                </a:rPr>
                <a:t>&amp;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2642" name="Oval 23"/>
            <p:cNvSpPr>
              <a:spLocks noChangeArrowheads="1"/>
            </p:cNvSpPr>
            <p:nvPr/>
          </p:nvSpPr>
          <p:spPr bwMode="auto">
            <a:xfrm>
              <a:off x="2650" y="2017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43" name="Rectangle 24"/>
            <p:cNvSpPr>
              <a:spLocks noChangeArrowheads="1"/>
            </p:cNvSpPr>
            <p:nvPr/>
          </p:nvSpPr>
          <p:spPr bwMode="auto">
            <a:xfrm>
              <a:off x="2510" y="1597"/>
              <a:ext cx="322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44" name="Text Box 25"/>
            <p:cNvSpPr txBox="1">
              <a:spLocks noChangeArrowheads="1"/>
            </p:cNvSpPr>
            <p:nvPr/>
          </p:nvSpPr>
          <p:spPr bwMode="auto">
            <a:xfrm>
              <a:off x="2469" y="1555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2645" name="Oval 26"/>
            <p:cNvSpPr>
              <a:spLocks noChangeArrowheads="1"/>
            </p:cNvSpPr>
            <p:nvPr/>
          </p:nvSpPr>
          <p:spPr bwMode="auto">
            <a:xfrm>
              <a:off x="2650" y="1562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46" name="Freeform 27"/>
            <p:cNvSpPr/>
            <p:nvPr/>
          </p:nvSpPr>
          <p:spPr bwMode="auto">
            <a:xfrm>
              <a:off x="2670" y="1344"/>
              <a:ext cx="3" cy="218"/>
            </a:xfrm>
            <a:custGeom>
              <a:avLst/>
              <a:gdLst>
                <a:gd name="T0" fmla="*/ 0 w 3"/>
                <a:gd name="T1" fmla="*/ 1 h 294"/>
                <a:gd name="T2" fmla="*/ 3 w 3"/>
                <a:gd name="T3" fmla="*/ 0 h 2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47" name="Line 28"/>
            <p:cNvSpPr>
              <a:spLocks noChangeShapeType="1"/>
            </p:cNvSpPr>
            <p:nvPr/>
          </p:nvSpPr>
          <p:spPr bwMode="auto">
            <a:xfrm>
              <a:off x="2590" y="2234"/>
              <a:ext cx="0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48" name="Oval 29"/>
            <p:cNvSpPr>
              <a:spLocks noChangeArrowheads="1"/>
            </p:cNvSpPr>
            <p:nvPr/>
          </p:nvSpPr>
          <p:spPr bwMode="auto">
            <a:xfrm>
              <a:off x="3430" y="2017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49" name="Rectangle 30"/>
            <p:cNvSpPr>
              <a:spLocks noChangeArrowheads="1"/>
            </p:cNvSpPr>
            <p:nvPr/>
          </p:nvSpPr>
          <p:spPr bwMode="auto">
            <a:xfrm>
              <a:off x="3289" y="1597"/>
              <a:ext cx="323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0" name="Text Box 31"/>
            <p:cNvSpPr txBox="1">
              <a:spLocks noChangeArrowheads="1"/>
            </p:cNvSpPr>
            <p:nvPr/>
          </p:nvSpPr>
          <p:spPr bwMode="auto">
            <a:xfrm>
              <a:off x="3249" y="1555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2651" name="Oval 32"/>
            <p:cNvSpPr>
              <a:spLocks noChangeArrowheads="1"/>
            </p:cNvSpPr>
            <p:nvPr/>
          </p:nvSpPr>
          <p:spPr bwMode="auto">
            <a:xfrm>
              <a:off x="3430" y="1562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2" name="Freeform 33"/>
            <p:cNvSpPr/>
            <p:nvPr/>
          </p:nvSpPr>
          <p:spPr bwMode="auto">
            <a:xfrm>
              <a:off x="3450" y="1344"/>
              <a:ext cx="2" cy="218"/>
            </a:xfrm>
            <a:custGeom>
              <a:avLst/>
              <a:gdLst>
                <a:gd name="T0" fmla="*/ 0 w 3"/>
                <a:gd name="T1" fmla="*/ 1 h 294"/>
                <a:gd name="T2" fmla="*/ 1 w 3"/>
                <a:gd name="T3" fmla="*/ 0 h 2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53" name="Oval 34"/>
            <p:cNvSpPr>
              <a:spLocks noChangeArrowheads="1"/>
            </p:cNvSpPr>
            <p:nvPr/>
          </p:nvSpPr>
          <p:spPr bwMode="auto">
            <a:xfrm>
              <a:off x="4223" y="2017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4" name="Rectangle 35"/>
            <p:cNvSpPr>
              <a:spLocks noChangeArrowheads="1"/>
            </p:cNvSpPr>
            <p:nvPr/>
          </p:nvSpPr>
          <p:spPr bwMode="auto">
            <a:xfrm>
              <a:off x="4082" y="1597"/>
              <a:ext cx="323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5" name="Text Box 36"/>
            <p:cNvSpPr txBox="1">
              <a:spLocks noChangeArrowheads="1"/>
            </p:cNvSpPr>
            <p:nvPr/>
          </p:nvSpPr>
          <p:spPr bwMode="auto">
            <a:xfrm>
              <a:off x="4042" y="1555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2656" name="Oval 37"/>
            <p:cNvSpPr>
              <a:spLocks noChangeArrowheads="1"/>
            </p:cNvSpPr>
            <p:nvPr/>
          </p:nvSpPr>
          <p:spPr bwMode="auto">
            <a:xfrm>
              <a:off x="4223" y="1562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7" name="Freeform 38"/>
            <p:cNvSpPr/>
            <p:nvPr/>
          </p:nvSpPr>
          <p:spPr bwMode="auto">
            <a:xfrm>
              <a:off x="4243" y="1344"/>
              <a:ext cx="2" cy="218"/>
            </a:xfrm>
            <a:custGeom>
              <a:avLst/>
              <a:gdLst>
                <a:gd name="T0" fmla="*/ 0 w 3"/>
                <a:gd name="T1" fmla="*/ 1 h 294"/>
                <a:gd name="T2" fmla="*/ 1 w 3"/>
                <a:gd name="T3" fmla="*/ 0 h 2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58" name="Oval 39"/>
            <p:cNvSpPr>
              <a:spLocks noChangeArrowheads="1"/>
            </p:cNvSpPr>
            <p:nvPr/>
          </p:nvSpPr>
          <p:spPr bwMode="auto">
            <a:xfrm>
              <a:off x="5029" y="2017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59" name="Rectangle 40"/>
            <p:cNvSpPr>
              <a:spLocks noChangeArrowheads="1"/>
            </p:cNvSpPr>
            <p:nvPr/>
          </p:nvSpPr>
          <p:spPr bwMode="auto">
            <a:xfrm>
              <a:off x="4889" y="1597"/>
              <a:ext cx="322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60" name="Text Box 41"/>
            <p:cNvSpPr txBox="1">
              <a:spLocks noChangeArrowheads="1"/>
            </p:cNvSpPr>
            <p:nvPr/>
          </p:nvSpPr>
          <p:spPr bwMode="auto">
            <a:xfrm>
              <a:off x="4848" y="1555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2661" name="Oval 42"/>
            <p:cNvSpPr>
              <a:spLocks noChangeArrowheads="1"/>
            </p:cNvSpPr>
            <p:nvPr/>
          </p:nvSpPr>
          <p:spPr bwMode="auto">
            <a:xfrm>
              <a:off x="5029" y="1562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62" name="Freeform 43"/>
            <p:cNvSpPr/>
            <p:nvPr/>
          </p:nvSpPr>
          <p:spPr bwMode="auto">
            <a:xfrm>
              <a:off x="5049" y="1344"/>
              <a:ext cx="3" cy="218"/>
            </a:xfrm>
            <a:custGeom>
              <a:avLst/>
              <a:gdLst>
                <a:gd name="T0" fmla="*/ 0 w 3"/>
                <a:gd name="T1" fmla="*/ 1 h 294"/>
                <a:gd name="T2" fmla="*/ 3 w 3"/>
                <a:gd name="T3" fmla="*/ 0 h 2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63" name="Freeform 44"/>
            <p:cNvSpPr/>
            <p:nvPr/>
          </p:nvSpPr>
          <p:spPr bwMode="auto">
            <a:xfrm>
              <a:off x="2671" y="1920"/>
              <a:ext cx="2249" cy="480"/>
            </a:xfrm>
            <a:custGeom>
              <a:avLst/>
              <a:gdLst>
                <a:gd name="T0" fmla="*/ 0 w 2249"/>
                <a:gd name="T1" fmla="*/ 0 h 480"/>
                <a:gd name="T2" fmla="*/ 370 w 2249"/>
                <a:gd name="T3" fmla="*/ 0 h 480"/>
                <a:gd name="T4" fmla="*/ 370 w 2249"/>
                <a:gd name="T5" fmla="*/ 480 h 480"/>
                <a:gd name="T6" fmla="*/ 2249 w 2249"/>
                <a:gd name="T7" fmla="*/ 474 h 480"/>
                <a:gd name="T8" fmla="*/ 2249 w 2249"/>
                <a:gd name="T9" fmla="*/ 312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9" h="480">
                  <a:moveTo>
                    <a:pt x="0" y="0"/>
                  </a:moveTo>
                  <a:lnTo>
                    <a:pt x="370" y="0"/>
                  </a:lnTo>
                  <a:lnTo>
                    <a:pt x="370" y="480"/>
                  </a:lnTo>
                  <a:lnTo>
                    <a:pt x="2249" y="474"/>
                  </a:lnTo>
                  <a:lnTo>
                    <a:pt x="2249" y="31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4" name="Freeform 45"/>
            <p:cNvSpPr/>
            <p:nvPr/>
          </p:nvSpPr>
          <p:spPr bwMode="auto">
            <a:xfrm>
              <a:off x="3357" y="2229"/>
              <a:ext cx="1" cy="171"/>
            </a:xfrm>
            <a:custGeom>
              <a:avLst/>
              <a:gdLst>
                <a:gd name="T0" fmla="*/ 1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5" name="Freeform 46"/>
            <p:cNvSpPr/>
            <p:nvPr/>
          </p:nvSpPr>
          <p:spPr bwMode="auto">
            <a:xfrm>
              <a:off x="4121" y="2229"/>
              <a:ext cx="2" cy="171"/>
            </a:xfrm>
            <a:custGeom>
              <a:avLst/>
              <a:gdLst>
                <a:gd name="T0" fmla="*/ 2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6" name="Freeform 47"/>
            <p:cNvSpPr/>
            <p:nvPr/>
          </p:nvSpPr>
          <p:spPr bwMode="auto">
            <a:xfrm>
              <a:off x="3450" y="1920"/>
              <a:ext cx="1530" cy="624"/>
            </a:xfrm>
            <a:custGeom>
              <a:avLst/>
              <a:gdLst>
                <a:gd name="T0" fmla="*/ 0 w 1821"/>
                <a:gd name="T1" fmla="*/ 0 h 624"/>
                <a:gd name="T2" fmla="*/ 3 w 1821"/>
                <a:gd name="T3" fmla="*/ 0 h 624"/>
                <a:gd name="T4" fmla="*/ 3 w 1821"/>
                <a:gd name="T5" fmla="*/ 624 h 624"/>
                <a:gd name="T6" fmla="*/ 3 w 1821"/>
                <a:gd name="T7" fmla="*/ 624 h 624"/>
                <a:gd name="T8" fmla="*/ 3 w 1821"/>
                <a:gd name="T9" fmla="*/ 315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21" h="624">
                  <a:moveTo>
                    <a:pt x="0" y="0"/>
                  </a:moveTo>
                  <a:lnTo>
                    <a:pt x="417" y="0"/>
                  </a:lnTo>
                  <a:lnTo>
                    <a:pt x="417" y="624"/>
                  </a:lnTo>
                  <a:lnTo>
                    <a:pt x="1821" y="624"/>
                  </a:lnTo>
                  <a:lnTo>
                    <a:pt x="1821" y="31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7" name="Freeform 48"/>
            <p:cNvSpPr/>
            <p:nvPr/>
          </p:nvSpPr>
          <p:spPr bwMode="auto">
            <a:xfrm>
              <a:off x="4244" y="1920"/>
              <a:ext cx="799" cy="720"/>
            </a:xfrm>
            <a:custGeom>
              <a:avLst/>
              <a:gdLst>
                <a:gd name="T0" fmla="*/ 0 w 799"/>
                <a:gd name="T1" fmla="*/ 0 h 720"/>
                <a:gd name="T2" fmla="*/ 403 w 799"/>
                <a:gd name="T3" fmla="*/ 0 h 720"/>
                <a:gd name="T4" fmla="*/ 403 w 799"/>
                <a:gd name="T5" fmla="*/ 720 h 720"/>
                <a:gd name="T6" fmla="*/ 799 w 799"/>
                <a:gd name="T7" fmla="*/ 720 h 720"/>
                <a:gd name="T8" fmla="*/ 799 w 799"/>
                <a:gd name="T9" fmla="*/ 315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9" h="720">
                  <a:moveTo>
                    <a:pt x="0" y="0"/>
                  </a:moveTo>
                  <a:lnTo>
                    <a:pt x="403" y="0"/>
                  </a:lnTo>
                  <a:lnTo>
                    <a:pt x="403" y="720"/>
                  </a:lnTo>
                  <a:lnTo>
                    <a:pt x="799" y="720"/>
                  </a:lnTo>
                  <a:lnTo>
                    <a:pt x="799" y="31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8" name="Freeform 49"/>
            <p:cNvSpPr/>
            <p:nvPr/>
          </p:nvSpPr>
          <p:spPr bwMode="auto">
            <a:xfrm>
              <a:off x="4202" y="2232"/>
              <a:ext cx="1" cy="312"/>
            </a:xfrm>
            <a:custGeom>
              <a:avLst/>
              <a:gdLst>
                <a:gd name="T0" fmla="*/ 1 w 2"/>
                <a:gd name="T1" fmla="*/ 0 h 312"/>
                <a:gd name="T2" fmla="*/ 0 w 2"/>
                <a:gd name="T3" fmla="*/ 312 h 3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12">
                  <a:moveTo>
                    <a:pt x="2" y="0"/>
                  </a:moveTo>
                  <a:lnTo>
                    <a:pt x="0" y="31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69" name="Freeform 50"/>
            <p:cNvSpPr/>
            <p:nvPr/>
          </p:nvSpPr>
          <p:spPr bwMode="auto">
            <a:xfrm>
              <a:off x="3435" y="2238"/>
              <a:ext cx="3" cy="562"/>
            </a:xfrm>
            <a:custGeom>
              <a:avLst/>
              <a:gdLst>
                <a:gd name="T0" fmla="*/ 0 w 3"/>
                <a:gd name="T1" fmla="*/ 0 h 562"/>
                <a:gd name="T2" fmla="*/ 3 w 3"/>
                <a:gd name="T3" fmla="*/ 562 h 5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62">
                  <a:moveTo>
                    <a:pt x="0" y="0"/>
                  </a:moveTo>
                  <a:lnTo>
                    <a:pt x="3" y="56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70" name="Line 51"/>
            <p:cNvSpPr>
              <a:spLocks noChangeShapeType="1"/>
            </p:cNvSpPr>
            <p:nvPr/>
          </p:nvSpPr>
          <p:spPr bwMode="auto">
            <a:xfrm>
              <a:off x="4284" y="2242"/>
              <a:ext cx="0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71" name="Line 52"/>
            <p:cNvSpPr>
              <a:spLocks noChangeShapeType="1"/>
            </p:cNvSpPr>
            <p:nvPr/>
          </p:nvSpPr>
          <p:spPr bwMode="auto">
            <a:xfrm>
              <a:off x="5109" y="2242"/>
              <a:ext cx="0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72" name="Text Box 53"/>
            <p:cNvSpPr txBox="1">
              <a:spLocks noChangeArrowheads="1"/>
            </p:cNvSpPr>
            <p:nvPr/>
          </p:nvSpPr>
          <p:spPr bwMode="auto">
            <a:xfrm>
              <a:off x="2429" y="1128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INTP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3" name="Text Box 54"/>
            <p:cNvSpPr txBox="1">
              <a:spLocks noChangeArrowheads="1"/>
            </p:cNvSpPr>
            <p:nvPr/>
          </p:nvSpPr>
          <p:spPr bwMode="auto">
            <a:xfrm>
              <a:off x="3236" y="1119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INTP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2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4" name="Text Box 55"/>
            <p:cNvSpPr txBox="1">
              <a:spLocks noChangeArrowheads="1"/>
            </p:cNvSpPr>
            <p:nvPr/>
          </p:nvSpPr>
          <p:spPr bwMode="auto">
            <a:xfrm>
              <a:off x="4042" y="1119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INTP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3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5" name="Text Box 56"/>
            <p:cNvSpPr txBox="1">
              <a:spLocks noChangeArrowheads="1"/>
            </p:cNvSpPr>
            <p:nvPr/>
          </p:nvSpPr>
          <p:spPr bwMode="auto">
            <a:xfrm>
              <a:off x="4869" y="1119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INTP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6" name="Text Box 57"/>
            <p:cNvSpPr txBox="1">
              <a:spLocks noChangeArrowheads="1"/>
            </p:cNvSpPr>
            <p:nvPr/>
          </p:nvSpPr>
          <p:spPr bwMode="auto">
            <a:xfrm>
              <a:off x="2180" y="2736"/>
              <a:ext cx="5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INTR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7" name="Text Box 58"/>
            <p:cNvSpPr txBox="1">
              <a:spLocks noChangeArrowheads="1"/>
            </p:cNvSpPr>
            <p:nvPr/>
          </p:nvSpPr>
          <p:spPr bwMode="auto">
            <a:xfrm>
              <a:off x="2996" y="2736"/>
              <a:ext cx="5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INTR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2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8" name="Text Box 59"/>
            <p:cNvSpPr txBox="1">
              <a:spLocks noChangeArrowheads="1"/>
            </p:cNvSpPr>
            <p:nvPr/>
          </p:nvSpPr>
          <p:spPr bwMode="auto">
            <a:xfrm>
              <a:off x="3860" y="2736"/>
              <a:ext cx="5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INTR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3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2679" name="Text Box 60"/>
            <p:cNvSpPr txBox="1">
              <a:spLocks noChangeArrowheads="1"/>
            </p:cNvSpPr>
            <p:nvPr/>
          </p:nvSpPr>
          <p:spPr bwMode="auto">
            <a:xfrm>
              <a:off x="4676" y="2736"/>
              <a:ext cx="5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INTR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9405" name="Group 61"/>
          <p:cNvGrpSpPr/>
          <p:nvPr/>
        </p:nvGrpSpPr>
        <p:grpSpPr bwMode="auto">
          <a:xfrm>
            <a:off x="5638800" y="3546475"/>
            <a:ext cx="4953000" cy="1787525"/>
            <a:chOff x="2592" y="2234"/>
            <a:chExt cx="3120" cy="1126"/>
          </a:xfrm>
        </p:grpSpPr>
        <p:sp>
          <p:nvSpPr>
            <p:cNvPr id="152618" name="Line 62"/>
            <p:cNvSpPr>
              <a:spLocks noChangeShapeType="1"/>
            </p:cNvSpPr>
            <p:nvPr/>
          </p:nvSpPr>
          <p:spPr bwMode="auto">
            <a:xfrm>
              <a:off x="3518" y="2234"/>
              <a:ext cx="0" cy="86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19" name="Freeform 63"/>
            <p:cNvSpPr/>
            <p:nvPr/>
          </p:nvSpPr>
          <p:spPr bwMode="auto">
            <a:xfrm>
              <a:off x="4365" y="2234"/>
              <a:ext cx="0" cy="861"/>
            </a:xfrm>
            <a:custGeom>
              <a:avLst/>
              <a:gdLst>
                <a:gd name="T0" fmla="*/ 0 w 1"/>
                <a:gd name="T1" fmla="*/ 0 h 499"/>
                <a:gd name="T2" fmla="*/ 0 w 1"/>
                <a:gd name="T3" fmla="*/ 2147483646 h 4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99">
                  <a:moveTo>
                    <a:pt x="0" y="0"/>
                  </a:moveTo>
                  <a:lnTo>
                    <a:pt x="0" y="499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20" name="Freeform 64"/>
            <p:cNvSpPr/>
            <p:nvPr/>
          </p:nvSpPr>
          <p:spPr bwMode="auto">
            <a:xfrm>
              <a:off x="5169" y="2234"/>
              <a:ext cx="2" cy="861"/>
            </a:xfrm>
            <a:custGeom>
              <a:avLst/>
              <a:gdLst>
                <a:gd name="T0" fmla="*/ 1 w 3"/>
                <a:gd name="T1" fmla="*/ 0 h 499"/>
                <a:gd name="T2" fmla="*/ 0 w 3"/>
                <a:gd name="T3" fmla="*/ 2147483646 h 4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99">
                  <a:moveTo>
                    <a:pt x="3" y="0"/>
                  </a:moveTo>
                  <a:lnTo>
                    <a:pt x="0" y="499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21" name="Line 65"/>
            <p:cNvSpPr>
              <a:spLocks noChangeShapeType="1"/>
            </p:cNvSpPr>
            <p:nvPr/>
          </p:nvSpPr>
          <p:spPr bwMode="auto">
            <a:xfrm>
              <a:off x="2752" y="2242"/>
              <a:ext cx="0" cy="86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22" name="Text Box 66"/>
            <p:cNvSpPr txBox="1">
              <a:spLocks noChangeArrowheads="1"/>
            </p:cNvSpPr>
            <p:nvPr/>
          </p:nvSpPr>
          <p:spPr bwMode="auto">
            <a:xfrm>
              <a:off x="2592" y="3129"/>
              <a:ext cx="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sz="18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623" name="Line 67"/>
            <p:cNvSpPr>
              <a:spLocks noChangeShapeType="1"/>
            </p:cNvSpPr>
            <p:nvPr/>
          </p:nvSpPr>
          <p:spPr bwMode="auto">
            <a:xfrm>
              <a:off x="2619" y="3153"/>
              <a:ext cx="45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24" name="Text Box 68"/>
            <p:cNvSpPr txBox="1">
              <a:spLocks noChangeArrowheads="1"/>
            </p:cNvSpPr>
            <p:nvPr/>
          </p:nvSpPr>
          <p:spPr bwMode="auto">
            <a:xfrm>
              <a:off x="3423" y="3120"/>
              <a:ext cx="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sz="18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625" name="Line 69"/>
            <p:cNvSpPr>
              <a:spLocks noChangeShapeType="1"/>
            </p:cNvSpPr>
            <p:nvPr/>
          </p:nvSpPr>
          <p:spPr bwMode="auto">
            <a:xfrm>
              <a:off x="3449" y="3144"/>
              <a:ext cx="45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26" name="Text Box 70"/>
            <p:cNvSpPr txBox="1">
              <a:spLocks noChangeArrowheads="1"/>
            </p:cNvSpPr>
            <p:nvPr/>
          </p:nvSpPr>
          <p:spPr bwMode="auto">
            <a:xfrm>
              <a:off x="4245" y="3120"/>
              <a:ext cx="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sz="18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8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627" name="Line 71"/>
            <p:cNvSpPr>
              <a:spLocks noChangeShapeType="1"/>
            </p:cNvSpPr>
            <p:nvPr/>
          </p:nvSpPr>
          <p:spPr bwMode="auto">
            <a:xfrm>
              <a:off x="4272" y="3144"/>
              <a:ext cx="45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628" name="Text Box 72"/>
            <p:cNvSpPr txBox="1">
              <a:spLocks noChangeArrowheads="1"/>
            </p:cNvSpPr>
            <p:nvPr/>
          </p:nvSpPr>
          <p:spPr bwMode="auto">
            <a:xfrm>
              <a:off x="5116" y="3120"/>
              <a:ext cx="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MASK</a:t>
              </a:r>
              <a:r>
                <a:rPr lang="en-US" altLang="zh-CN" sz="18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629" name="Line 73"/>
            <p:cNvSpPr>
              <a:spLocks noChangeShapeType="1"/>
            </p:cNvSpPr>
            <p:nvPr/>
          </p:nvSpPr>
          <p:spPr bwMode="auto">
            <a:xfrm>
              <a:off x="5142" y="3144"/>
              <a:ext cx="45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9418" name="Group 74"/>
          <p:cNvGrpSpPr/>
          <p:nvPr/>
        </p:nvGrpSpPr>
        <p:grpSpPr bwMode="auto">
          <a:xfrm>
            <a:off x="2557463" y="4572000"/>
            <a:ext cx="1008062" cy="565150"/>
            <a:chOff x="1488" y="3504"/>
            <a:chExt cx="635" cy="356"/>
          </a:xfrm>
        </p:grpSpPr>
        <p:sp>
          <p:nvSpPr>
            <p:cNvPr id="152615" name="Rectangle 75"/>
            <p:cNvSpPr>
              <a:spLocks noChangeArrowheads="1"/>
            </p:cNvSpPr>
            <p:nvPr/>
          </p:nvSpPr>
          <p:spPr bwMode="auto">
            <a:xfrm>
              <a:off x="1488" y="3520"/>
              <a:ext cx="635" cy="3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16" name="Text Box 76"/>
            <p:cNvSpPr txBox="1">
              <a:spLocks noChangeArrowheads="1"/>
            </p:cNvSpPr>
            <p:nvPr/>
          </p:nvSpPr>
          <p:spPr bwMode="auto">
            <a:xfrm>
              <a:off x="1738" y="3620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2617" name="Text Box 77"/>
            <p:cNvSpPr txBox="1">
              <a:spLocks noChangeArrowheads="1"/>
            </p:cNvSpPr>
            <p:nvPr/>
          </p:nvSpPr>
          <p:spPr bwMode="auto">
            <a:xfrm>
              <a:off x="1512" y="350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Q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569422" name="Freeform 78"/>
          <p:cNvSpPr/>
          <p:nvPr/>
        </p:nvSpPr>
        <p:spPr bwMode="auto">
          <a:xfrm>
            <a:off x="2784475" y="4191000"/>
            <a:ext cx="1588" cy="409575"/>
          </a:xfrm>
          <a:custGeom>
            <a:avLst/>
            <a:gdLst>
              <a:gd name="T0" fmla="*/ 0 w 1"/>
              <a:gd name="T1" fmla="*/ 0 h 258"/>
              <a:gd name="T2" fmla="*/ 2147483646 w 1"/>
              <a:gd name="T3" fmla="*/ 2147483646 h 25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1" y="258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9423" name="Group 79"/>
          <p:cNvGrpSpPr/>
          <p:nvPr/>
        </p:nvGrpSpPr>
        <p:grpSpPr bwMode="auto">
          <a:xfrm>
            <a:off x="2557463" y="3200400"/>
            <a:ext cx="685800" cy="396875"/>
            <a:chOff x="651" y="2016"/>
            <a:chExt cx="432" cy="250"/>
          </a:xfrm>
        </p:grpSpPr>
        <p:sp>
          <p:nvSpPr>
            <p:cNvPr id="152612" name="Text Box 80"/>
            <p:cNvSpPr txBox="1">
              <a:spLocks noChangeArrowheads="1"/>
            </p:cNvSpPr>
            <p:nvPr/>
          </p:nvSpPr>
          <p:spPr bwMode="auto">
            <a:xfrm>
              <a:off x="695" y="2035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 1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2613" name="Rectangle 81"/>
            <p:cNvSpPr>
              <a:spLocks noChangeArrowheads="1"/>
            </p:cNvSpPr>
            <p:nvPr/>
          </p:nvSpPr>
          <p:spPr bwMode="auto">
            <a:xfrm>
              <a:off x="651" y="2068"/>
              <a:ext cx="432" cy="1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14" name="Oval 82"/>
            <p:cNvSpPr>
              <a:spLocks noChangeArrowheads="1"/>
            </p:cNvSpPr>
            <p:nvPr/>
          </p:nvSpPr>
          <p:spPr bwMode="auto">
            <a:xfrm>
              <a:off x="843" y="201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9427" name="Freeform 83"/>
          <p:cNvSpPr/>
          <p:nvPr/>
        </p:nvSpPr>
        <p:spPr bwMode="auto">
          <a:xfrm>
            <a:off x="2901950" y="2890838"/>
            <a:ext cx="1588" cy="333375"/>
          </a:xfrm>
          <a:custGeom>
            <a:avLst/>
            <a:gdLst>
              <a:gd name="T0" fmla="*/ 0 w 1"/>
              <a:gd name="T1" fmla="*/ 0 h 210"/>
              <a:gd name="T2" fmla="*/ 0 w 1"/>
              <a:gd name="T3" fmla="*/ 2147483646 h 2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10">
                <a:moveTo>
                  <a:pt x="0" y="0"/>
                </a:moveTo>
                <a:lnTo>
                  <a:pt x="0" y="21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9428" name="Freeform 84"/>
          <p:cNvSpPr/>
          <p:nvPr/>
        </p:nvSpPr>
        <p:spPr bwMode="auto">
          <a:xfrm>
            <a:off x="2901950" y="3562350"/>
            <a:ext cx="1588" cy="266700"/>
          </a:xfrm>
          <a:custGeom>
            <a:avLst/>
            <a:gdLst>
              <a:gd name="T0" fmla="*/ 0 w 1"/>
              <a:gd name="T1" fmla="*/ 0 h 168"/>
              <a:gd name="T2" fmla="*/ 0 w 1"/>
              <a:gd name="T3" fmla="*/ 2147483646 h 16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68">
                <a:moveTo>
                  <a:pt x="0" y="0"/>
                </a:moveTo>
                <a:lnTo>
                  <a:pt x="0" y="168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9429" name="Freeform 85"/>
          <p:cNvSpPr/>
          <p:nvPr/>
        </p:nvSpPr>
        <p:spPr bwMode="auto">
          <a:xfrm>
            <a:off x="3021013" y="1981200"/>
            <a:ext cx="1749425" cy="2438400"/>
          </a:xfrm>
          <a:custGeom>
            <a:avLst/>
            <a:gdLst>
              <a:gd name="T0" fmla="*/ 0 w 1102"/>
              <a:gd name="T1" fmla="*/ 2147483646 h 1536"/>
              <a:gd name="T2" fmla="*/ 2147483646 w 1102"/>
              <a:gd name="T3" fmla="*/ 2147483646 h 1536"/>
              <a:gd name="T4" fmla="*/ 2147483646 w 1102"/>
              <a:gd name="T5" fmla="*/ 2147483646 h 1536"/>
              <a:gd name="T6" fmla="*/ 2147483646 w 1102"/>
              <a:gd name="T7" fmla="*/ 0 h 1536"/>
              <a:gd name="T8" fmla="*/ 2147483646 w 1102"/>
              <a:gd name="T9" fmla="*/ 0 h 1536"/>
              <a:gd name="T10" fmla="*/ 2147483646 w 1102"/>
              <a:gd name="T11" fmla="*/ 2147483646 h 15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02" h="1536">
                <a:moveTo>
                  <a:pt x="0" y="1392"/>
                </a:moveTo>
                <a:lnTo>
                  <a:pt x="1" y="1536"/>
                </a:lnTo>
                <a:lnTo>
                  <a:pt x="483" y="1536"/>
                </a:lnTo>
                <a:lnTo>
                  <a:pt x="482" y="0"/>
                </a:lnTo>
                <a:lnTo>
                  <a:pt x="1102" y="0"/>
                </a:lnTo>
                <a:lnTo>
                  <a:pt x="1101" y="189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69430" name="Group 86"/>
          <p:cNvGrpSpPr/>
          <p:nvPr/>
        </p:nvGrpSpPr>
        <p:grpSpPr bwMode="auto">
          <a:xfrm>
            <a:off x="2557463" y="2328863"/>
            <a:ext cx="1008062" cy="598487"/>
            <a:chOff x="651" y="1467"/>
            <a:chExt cx="635" cy="377"/>
          </a:xfrm>
        </p:grpSpPr>
        <p:sp>
          <p:nvSpPr>
            <p:cNvPr id="152606" name="Text Box 87"/>
            <p:cNvSpPr txBox="1">
              <a:spLocks noChangeArrowheads="1"/>
            </p:cNvSpPr>
            <p:nvPr/>
          </p:nvSpPr>
          <p:spPr bwMode="auto">
            <a:xfrm>
              <a:off x="715" y="1632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 D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grpSp>
          <p:nvGrpSpPr>
            <p:cNvPr id="152607" name="Group 88"/>
            <p:cNvGrpSpPr/>
            <p:nvPr/>
          </p:nvGrpSpPr>
          <p:grpSpPr bwMode="auto">
            <a:xfrm>
              <a:off x="651" y="1467"/>
              <a:ext cx="635" cy="352"/>
              <a:chOff x="651" y="1467"/>
              <a:chExt cx="635" cy="352"/>
            </a:xfrm>
          </p:grpSpPr>
          <p:grpSp>
            <p:nvGrpSpPr>
              <p:cNvPr id="152608" name="Group 89"/>
              <p:cNvGrpSpPr/>
              <p:nvPr/>
            </p:nvGrpSpPr>
            <p:grpSpPr bwMode="auto">
              <a:xfrm>
                <a:off x="651" y="1467"/>
                <a:ext cx="635" cy="352"/>
                <a:chOff x="651" y="1467"/>
                <a:chExt cx="635" cy="352"/>
              </a:xfrm>
            </p:grpSpPr>
            <p:sp>
              <p:nvSpPr>
                <p:cNvPr id="152610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751" y="1467"/>
                  <a:ext cx="47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INTR</a:t>
                  </a:r>
                  <a:endParaRPr lang="en-US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2611" name="Rectangle 91"/>
                <p:cNvSpPr>
                  <a:spLocks noChangeArrowheads="1"/>
                </p:cNvSpPr>
                <p:nvPr/>
              </p:nvSpPr>
              <p:spPr bwMode="auto">
                <a:xfrm>
                  <a:off x="651" y="1479"/>
                  <a:ext cx="635" cy="3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2000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152609" name="AutoShape 92"/>
              <p:cNvSpPr>
                <a:spLocks noChangeArrowheads="1"/>
              </p:cNvSpPr>
              <p:nvPr/>
            </p:nvSpPr>
            <p:spPr bwMode="auto">
              <a:xfrm>
                <a:off x="1083" y="1707"/>
                <a:ext cx="120" cy="11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2000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569437" name="Group 93"/>
          <p:cNvGrpSpPr/>
          <p:nvPr/>
        </p:nvGrpSpPr>
        <p:grpSpPr bwMode="auto">
          <a:xfrm>
            <a:off x="3929063" y="2273300"/>
            <a:ext cx="1023937" cy="619125"/>
            <a:chOff x="1382" y="1344"/>
            <a:chExt cx="645" cy="390"/>
          </a:xfrm>
        </p:grpSpPr>
        <p:sp>
          <p:nvSpPr>
            <p:cNvPr id="152598" name="Text Box 94"/>
            <p:cNvSpPr txBox="1">
              <a:spLocks noChangeArrowheads="1"/>
            </p:cNvSpPr>
            <p:nvPr/>
          </p:nvSpPr>
          <p:spPr bwMode="auto">
            <a:xfrm>
              <a:off x="1403" y="1503"/>
              <a:ext cx="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800">
                  <a:latin typeface="Times New Roman" panose="02020603050405020304" pitchFamily="18" charset="0"/>
                </a:rPr>
                <a:t> </a:t>
              </a:r>
              <a:r>
                <a:rPr lang="en-US" altLang="zh-CN" sz="1800">
                  <a:latin typeface="Times New Roman" panose="02020603050405020304" pitchFamily="18" charset="0"/>
                </a:rPr>
                <a:t>MASK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52599" name="Rectangle 95"/>
            <p:cNvSpPr>
              <a:spLocks noChangeArrowheads="1"/>
            </p:cNvSpPr>
            <p:nvPr/>
          </p:nvSpPr>
          <p:spPr bwMode="auto">
            <a:xfrm>
              <a:off x="1382" y="1392"/>
              <a:ext cx="635" cy="3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52600" name="Oval 96"/>
            <p:cNvSpPr>
              <a:spLocks noChangeArrowheads="1"/>
            </p:cNvSpPr>
            <p:nvPr/>
          </p:nvSpPr>
          <p:spPr bwMode="auto">
            <a:xfrm>
              <a:off x="1884" y="1344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2601" name="Group 97"/>
            <p:cNvGrpSpPr/>
            <p:nvPr/>
          </p:nvGrpSpPr>
          <p:grpSpPr bwMode="auto">
            <a:xfrm>
              <a:off x="1811" y="1392"/>
              <a:ext cx="216" cy="212"/>
              <a:chOff x="3096" y="1660"/>
              <a:chExt cx="216" cy="212"/>
            </a:xfrm>
          </p:grpSpPr>
          <p:grpSp>
            <p:nvGrpSpPr>
              <p:cNvPr id="152602" name="Group 98"/>
              <p:cNvGrpSpPr/>
              <p:nvPr/>
            </p:nvGrpSpPr>
            <p:grpSpPr bwMode="auto">
              <a:xfrm>
                <a:off x="3096" y="1660"/>
                <a:ext cx="216" cy="212"/>
                <a:chOff x="3120" y="2044"/>
                <a:chExt cx="216" cy="212"/>
              </a:xfrm>
            </p:grpSpPr>
            <p:sp>
              <p:nvSpPr>
                <p:cNvPr id="152604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3120" y="2044"/>
                  <a:ext cx="2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>
                      <a:latin typeface="Times New Roman" panose="02020603050405020304" pitchFamily="18" charset="0"/>
                    </a:rPr>
                    <a:t>Q</a:t>
                  </a:r>
                  <a:endParaRPr lang="en-US" altLang="zh-CN" sz="16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2605" name="Line 100"/>
                <p:cNvSpPr>
                  <a:spLocks noChangeShapeType="1"/>
                </p:cNvSpPr>
                <p:nvPr/>
              </p:nvSpPr>
              <p:spPr bwMode="auto">
                <a:xfrm>
                  <a:off x="3168" y="2064"/>
                  <a:ext cx="144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52603" name="Line 101"/>
              <p:cNvSpPr>
                <a:spLocks noChangeShapeType="1"/>
              </p:cNvSpPr>
              <p:nvPr/>
            </p:nvSpPr>
            <p:spPr bwMode="auto">
              <a:xfrm>
                <a:off x="3144" y="170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569446" name="Group 102"/>
          <p:cNvGrpSpPr/>
          <p:nvPr/>
        </p:nvGrpSpPr>
        <p:grpSpPr bwMode="auto">
          <a:xfrm>
            <a:off x="1887538" y="2649538"/>
            <a:ext cx="1466850" cy="777875"/>
            <a:chOff x="229" y="1669"/>
            <a:chExt cx="924" cy="490"/>
          </a:xfrm>
        </p:grpSpPr>
        <p:sp>
          <p:nvSpPr>
            <p:cNvPr id="152596" name="Freeform 103"/>
            <p:cNvSpPr/>
            <p:nvPr/>
          </p:nvSpPr>
          <p:spPr bwMode="auto">
            <a:xfrm>
              <a:off x="325" y="1818"/>
              <a:ext cx="828" cy="105"/>
            </a:xfrm>
            <a:custGeom>
              <a:avLst/>
              <a:gdLst>
                <a:gd name="T0" fmla="*/ 0 w 828"/>
                <a:gd name="T1" fmla="*/ 102 h 105"/>
                <a:gd name="T2" fmla="*/ 825 w 828"/>
                <a:gd name="T3" fmla="*/ 105 h 105"/>
                <a:gd name="T4" fmla="*/ 828 w 828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8" h="105">
                  <a:moveTo>
                    <a:pt x="0" y="102"/>
                  </a:moveTo>
                  <a:lnTo>
                    <a:pt x="825" y="105"/>
                  </a:lnTo>
                  <a:lnTo>
                    <a:pt x="828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597" name="Text Box 104"/>
            <p:cNvSpPr txBox="1">
              <a:spLocks noChangeArrowheads="1"/>
            </p:cNvSpPr>
            <p:nvPr/>
          </p:nvSpPr>
          <p:spPr bwMode="auto">
            <a:xfrm>
              <a:off x="229" y="1669"/>
              <a:ext cx="412" cy="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1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查询</a:t>
              </a:r>
              <a:endParaRPr lang="zh-CN" altLang="en-US" sz="1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69449" name="Text Box 105"/>
          <p:cNvSpPr txBox="1">
            <a:spLocks noChangeArrowheads="1"/>
          </p:cNvSpPr>
          <p:nvPr/>
        </p:nvSpPr>
        <p:spPr bwMode="auto">
          <a:xfrm>
            <a:off x="6096000" y="55880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MASK</a:t>
            </a:r>
            <a:r>
              <a:rPr lang="en-US" altLang="zh-CN" sz="2400" i="1" baseline="-15000">
                <a:latin typeface="Times New Roman" panose="02020603050405020304" pitchFamily="18" charset="0"/>
              </a:rPr>
              <a:t>i</a:t>
            </a:r>
            <a:r>
              <a:rPr lang="en-US" altLang="zh-CN" sz="2400" i="1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= 1 （</a:t>
            </a:r>
            <a:r>
              <a:rPr lang="zh-CN" altLang="en-US" sz="2400">
                <a:latin typeface="Times New Roman" panose="02020603050405020304" pitchFamily="18" charset="0"/>
              </a:rPr>
              <a:t>屏蔽）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69450" name="Text Box 106"/>
          <p:cNvSpPr txBox="1">
            <a:spLocks noChangeArrowheads="1"/>
          </p:cNvSpPr>
          <p:nvPr/>
        </p:nvSpPr>
        <p:spPr bwMode="auto">
          <a:xfrm>
            <a:off x="6096000" y="60960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INTP</a:t>
            </a:r>
            <a:r>
              <a:rPr lang="en-US" altLang="zh-CN" sz="2400" i="1" baseline="-15000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   </a:t>
            </a:r>
            <a:r>
              <a:rPr lang="en-US" altLang="zh-CN" sz="1200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= 0 （</a:t>
            </a:r>
            <a:r>
              <a:rPr lang="zh-CN" altLang="en-US" sz="2400">
                <a:latin typeface="Times New Roman" panose="02020603050405020304" pitchFamily="18" charset="0"/>
              </a:rPr>
              <a:t>不能被排队选中）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6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6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6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56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6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6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56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56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56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56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6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56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56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6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56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51" grpId="0" autoUpdateAnimBg="0"/>
      <p:bldP spid="569352" grpId="0" autoUpdateAnimBg="0"/>
      <p:bldP spid="569353" grpId="0" autoUpdateAnimBg="0"/>
      <p:bldP spid="569449" grpId="0" autoUpdateAnimBg="0"/>
      <p:bldP spid="56945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1981200" y="457200"/>
            <a:ext cx="53990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(2)  屏蔽字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70406" name="Group 38"/>
          <p:cNvGrpSpPr/>
          <p:nvPr/>
        </p:nvGrpSpPr>
        <p:grpSpPr bwMode="auto">
          <a:xfrm>
            <a:off x="2743200" y="1893888"/>
            <a:ext cx="6848475" cy="4583112"/>
            <a:chOff x="768" y="1193"/>
            <a:chExt cx="4314" cy="2887"/>
          </a:xfrm>
        </p:grpSpPr>
        <p:grpSp>
          <p:nvGrpSpPr>
            <p:cNvPr id="154631" name="Group 37"/>
            <p:cNvGrpSpPr/>
            <p:nvPr/>
          </p:nvGrpSpPr>
          <p:grpSpPr bwMode="auto">
            <a:xfrm>
              <a:off x="768" y="1193"/>
              <a:ext cx="4314" cy="2887"/>
              <a:chOff x="768" y="1193"/>
              <a:chExt cx="4314" cy="2887"/>
            </a:xfrm>
          </p:grpSpPr>
          <p:sp>
            <p:nvSpPr>
              <p:cNvPr id="154634" name="Text Box 4"/>
              <p:cNvSpPr txBox="1">
                <a:spLocks noChangeArrowheads="1"/>
              </p:cNvSpPr>
              <p:nvPr/>
            </p:nvSpPr>
            <p:spPr bwMode="auto">
              <a:xfrm>
                <a:off x="790" y="1213"/>
                <a:ext cx="76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800">
                    <a:latin typeface="Times New Roman" panose="02020603050405020304" pitchFamily="18" charset="0"/>
                  </a:rPr>
                  <a:t>　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优先级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35" name="Text Box 5"/>
              <p:cNvSpPr txBox="1">
                <a:spLocks noChangeArrowheads="1"/>
              </p:cNvSpPr>
              <p:nvPr/>
            </p:nvSpPr>
            <p:spPr bwMode="auto">
              <a:xfrm>
                <a:off x="2390" y="1226"/>
                <a:ext cx="205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屏              蔽             字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36" name="Line 6"/>
              <p:cNvSpPr>
                <a:spLocks noChangeShapeType="1"/>
              </p:cNvSpPr>
              <p:nvPr/>
            </p:nvSpPr>
            <p:spPr bwMode="auto">
              <a:xfrm>
                <a:off x="768" y="1193"/>
                <a:ext cx="43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637" name="Text Box 7"/>
              <p:cNvSpPr txBox="1">
                <a:spLocks noChangeArrowheads="1"/>
              </p:cNvSpPr>
              <p:nvPr/>
            </p:nvSpPr>
            <p:spPr bwMode="auto">
              <a:xfrm>
                <a:off x="1831" y="150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1  1  1  1  1  1  1  1  1  1  1  1  1  1  1  1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38" name="Text Box 8"/>
              <p:cNvSpPr txBox="1">
                <a:spLocks noChangeArrowheads="1"/>
              </p:cNvSpPr>
              <p:nvPr/>
            </p:nvSpPr>
            <p:spPr bwMode="auto">
              <a:xfrm>
                <a:off x="1831" y="1771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1  1  1  1  1  1  1  1  1  1  1  1  1  1  1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39" name="Text Box 9"/>
              <p:cNvSpPr txBox="1">
                <a:spLocks noChangeArrowheads="1"/>
              </p:cNvSpPr>
              <p:nvPr/>
            </p:nvSpPr>
            <p:spPr bwMode="auto">
              <a:xfrm>
                <a:off x="1831" y="204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1  1  1  1  1  1  1  1  1  1  1  1  1  1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0" name="Text Box 10"/>
              <p:cNvSpPr txBox="1">
                <a:spLocks noChangeArrowheads="1"/>
              </p:cNvSpPr>
              <p:nvPr/>
            </p:nvSpPr>
            <p:spPr bwMode="auto">
              <a:xfrm>
                <a:off x="1831" y="230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1" name="Text Box 11"/>
              <p:cNvSpPr txBox="1">
                <a:spLocks noChangeArrowheads="1"/>
              </p:cNvSpPr>
              <p:nvPr/>
            </p:nvSpPr>
            <p:spPr bwMode="auto">
              <a:xfrm>
                <a:off x="1831" y="257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2" name="Text Box 12"/>
              <p:cNvSpPr txBox="1">
                <a:spLocks noChangeArrowheads="1"/>
              </p:cNvSpPr>
              <p:nvPr/>
            </p:nvSpPr>
            <p:spPr bwMode="auto">
              <a:xfrm>
                <a:off x="1831" y="2839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1  1  1  1  1  1  1  1  1  1  1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3" name="Text Box 13"/>
              <p:cNvSpPr txBox="1">
                <a:spLocks noChangeArrowheads="1"/>
              </p:cNvSpPr>
              <p:nvPr/>
            </p:nvSpPr>
            <p:spPr bwMode="auto">
              <a:xfrm>
                <a:off x="3364" y="3218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4" name="Text Box 14"/>
              <p:cNvSpPr txBox="1">
                <a:spLocks noChangeArrowheads="1"/>
              </p:cNvSpPr>
              <p:nvPr/>
            </p:nvSpPr>
            <p:spPr bwMode="auto">
              <a:xfrm>
                <a:off x="1831" y="355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0  0  0  0  0  0  0  0  0  0  0  0  0  0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5" name="Text Box 15"/>
              <p:cNvSpPr txBox="1">
                <a:spLocks noChangeArrowheads="1"/>
              </p:cNvSpPr>
              <p:nvPr/>
            </p:nvSpPr>
            <p:spPr bwMode="auto">
              <a:xfrm>
                <a:off x="1831" y="378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0  0  0  0  0  0  0  0  0  0  0  0  0  0  0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 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46" name="Line 16"/>
              <p:cNvSpPr>
                <a:spLocks noChangeShapeType="1"/>
              </p:cNvSpPr>
              <p:nvPr/>
            </p:nvSpPr>
            <p:spPr bwMode="auto">
              <a:xfrm>
                <a:off x="768" y="1529"/>
                <a:ext cx="43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647" name="Line 17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3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648" name="Freeform 18"/>
              <p:cNvSpPr/>
              <p:nvPr/>
            </p:nvSpPr>
            <p:spPr bwMode="auto">
              <a:xfrm>
                <a:off x="1644" y="1200"/>
                <a:ext cx="1" cy="2880"/>
              </a:xfrm>
              <a:custGeom>
                <a:avLst/>
                <a:gdLst>
                  <a:gd name="T0" fmla="*/ 1 w 1"/>
                  <a:gd name="T1" fmla="*/ 0 h 2880"/>
                  <a:gd name="T2" fmla="*/ 0 w 1"/>
                  <a:gd name="T3" fmla="*/ 2880 h 28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880">
                    <a:moveTo>
                      <a:pt x="1" y="0"/>
                    </a:moveTo>
                    <a:lnTo>
                      <a:pt x="0" y="288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649" name="Text Box 19"/>
              <p:cNvSpPr txBox="1">
                <a:spLocks noChangeArrowheads="1"/>
              </p:cNvSpPr>
              <p:nvPr/>
            </p:nvSpPr>
            <p:spPr bwMode="auto">
              <a:xfrm>
                <a:off x="1082" y="150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0" name="Text Box 20"/>
              <p:cNvSpPr txBox="1">
                <a:spLocks noChangeArrowheads="1"/>
              </p:cNvSpPr>
              <p:nvPr/>
            </p:nvSpPr>
            <p:spPr bwMode="auto">
              <a:xfrm>
                <a:off x="1082" y="177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2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1" name="Text Box 21"/>
              <p:cNvSpPr txBox="1">
                <a:spLocks noChangeArrowheads="1"/>
              </p:cNvSpPr>
              <p:nvPr/>
            </p:nvSpPr>
            <p:spPr bwMode="auto">
              <a:xfrm>
                <a:off x="1082" y="20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3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2" name="Text Box 22"/>
              <p:cNvSpPr txBox="1">
                <a:spLocks noChangeArrowheads="1"/>
              </p:cNvSpPr>
              <p:nvPr/>
            </p:nvSpPr>
            <p:spPr bwMode="auto">
              <a:xfrm>
                <a:off x="1082" y="230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4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3" name="Text Box 23"/>
              <p:cNvSpPr txBox="1">
                <a:spLocks noChangeArrowheads="1"/>
              </p:cNvSpPr>
              <p:nvPr/>
            </p:nvSpPr>
            <p:spPr bwMode="auto">
              <a:xfrm>
                <a:off x="1082" y="257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5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4" name="Text Box 24"/>
              <p:cNvSpPr txBox="1">
                <a:spLocks noChangeArrowheads="1"/>
              </p:cNvSpPr>
              <p:nvPr/>
            </p:nvSpPr>
            <p:spPr bwMode="auto">
              <a:xfrm>
                <a:off x="1082" y="283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6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5" name="Text Box 25"/>
              <p:cNvSpPr txBox="1">
                <a:spLocks noChangeArrowheads="1"/>
              </p:cNvSpPr>
              <p:nvPr/>
            </p:nvSpPr>
            <p:spPr bwMode="auto">
              <a:xfrm>
                <a:off x="1044" y="355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15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6" name="Text Box 26"/>
              <p:cNvSpPr txBox="1">
                <a:spLocks noChangeArrowheads="1"/>
              </p:cNvSpPr>
              <p:nvPr/>
            </p:nvSpPr>
            <p:spPr bwMode="auto">
              <a:xfrm>
                <a:off x="1044" y="379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16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657" name="Text Box 27"/>
              <p:cNvSpPr txBox="1">
                <a:spLocks noChangeArrowheads="1"/>
              </p:cNvSpPr>
              <p:nvPr/>
            </p:nvSpPr>
            <p:spPr bwMode="auto">
              <a:xfrm>
                <a:off x="1062" y="3218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4632" name="Freeform 31"/>
            <p:cNvSpPr/>
            <p:nvPr/>
          </p:nvSpPr>
          <p:spPr bwMode="auto">
            <a:xfrm>
              <a:off x="775" y="1200"/>
              <a:ext cx="1" cy="2880"/>
            </a:xfrm>
            <a:custGeom>
              <a:avLst/>
              <a:gdLst>
                <a:gd name="T0" fmla="*/ 1 w 1"/>
                <a:gd name="T1" fmla="*/ 0 h 2880"/>
                <a:gd name="T2" fmla="*/ 0 w 1"/>
                <a:gd name="T3" fmla="*/ 2880 h 28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633" name="Freeform 32"/>
            <p:cNvSpPr/>
            <p:nvPr/>
          </p:nvSpPr>
          <p:spPr bwMode="auto">
            <a:xfrm>
              <a:off x="5074" y="1200"/>
              <a:ext cx="1" cy="2880"/>
            </a:xfrm>
            <a:custGeom>
              <a:avLst/>
              <a:gdLst>
                <a:gd name="T0" fmla="*/ 1 w 1"/>
                <a:gd name="T1" fmla="*/ 0 h 2880"/>
                <a:gd name="T2" fmla="*/ 0 w 1"/>
                <a:gd name="T3" fmla="*/ 2880 h 28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70408" name="Group 40"/>
          <p:cNvGrpSpPr/>
          <p:nvPr/>
        </p:nvGrpSpPr>
        <p:grpSpPr bwMode="auto">
          <a:xfrm>
            <a:off x="2895600" y="1017588"/>
            <a:ext cx="6781800" cy="628650"/>
            <a:chOff x="864" y="641"/>
            <a:chExt cx="4272" cy="396"/>
          </a:xfrm>
        </p:grpSpPr>
        <p:sp>
          <p:nvSpPr>
            <p:cNvPr id="154629" name="Text Box 28"/>
            <p:cNvSpPr txBox="1">
              <a:spLocks noChangeArrowheads="1"/>
            </p:cNvSpPr>
            <p:nvPr/>
          </p:nvSpPr>
          <p:spPr bwMode="auto">
            <a:xfrm>
              <a:off x="864" y="672"/>
              <a:ext cx="4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16</a:t>
              </a:r>
              <a:r>
                <a:rPr lang="zh-CN" altLang="en-US" sz="2400">
                  <a:latin typeface="Times New Roman" panose="02020603050405020304" pitchFamily="18" charset="0"/>
                </a:rPr>
                <a:t>个中断源 1，2，3 ，</a:t>
              </a:r>
              <a:r>
                <a:rPr lang="zh-CN" altLang="en-US" sz="3200">
                  <a:latin typeface="Times New Roman" panose="02020603050405020304" pitchFamily="18" charset="0"/>
                </a:rPr>
                <a:t>   </a:t>
              </a:r>
              <a:r>
                <a:rPr lang="zh-CN" altLang="en-US" sz="2400" baseline="180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16 按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降序 </a:t>
              </a:r>
              <a:r>
                <a:rPr lang="zh-CN" altLang="en-US" sz="2400">
                  <a:latin typeface="Times New Roman" panose="02020603050405020304" pitchFamily="18" charset="0"/>
                </a:rPr>
                <a:t>排列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4630" name="Text Box 39"/>
            <p:cNvSpPr txBox="1">
              <a:spLocks noChangeArrowheads="1"/>
            </p:cNvSpPr>
            <p:nvPr/>
          </p:nvSpPr>
          <p:spPr bwMode="auto">
            <a:xfrm>
              <a:off x="2734" y="641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…</a:t>
              </a:r>
              <a:endParaRPr lang="en-US" altLang="zh-CN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7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6"/>
          <p:cNvSpPr>
            <a:spLocks noChangeArrowheads="1"/>
          </p:cNvSpPr>
          <p:nvPr/>
        </p:nvSpPr>
        <p:spPr bwMode="auto">
          <a:xfrm>
            <a:off x="1870075" y="109538"/>
            <a:ext cx="71342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</a:rPr>
              <a:t>3)  </a:t>
            </a:r>
            <a:r>
              <a:rPr lang="zh-CN" altLang="en-US" sz="3200">
                <a:latin typeface="Times New Roman" panose="02020603050405020304" pitchFamily="18" charset="0"/>
              </a:rPr>
              <a:t>新屏蔽字的设置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667697" name="Group 49"/>
          <p:cNvGrpSpPr/>
          <p:nvPr/>
        </p:nvGrpSpPr>
        <p:grpSpPr bwMode="auto">
          <a:xfrm>
            <a:off x="7175500" y="1011238"/>
            <a:ext cx="1728788" cy="5630862"/>
            <a:chOff x="2154" y="637"/>
            <a:chExt cx="1089" cy="3547"/>
          </a:xfrm>
        </p:grpSpPr>
        <p:sp>
          <p:nvSpPr>
            <p:cNvPr id="155709" name="Text Box 26"/>
            <p:cNvSpPr txBox="1">
              <a:spLocks noChangeArrowheads="1"/>
            </p:cNvSpPr>
            <p:nvPr/>
          </p:nvSpPr>
          <p:spPr bwMode="auto">
            <a:xfrm>
              <a:off x="2154" y="637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保护现场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0" name="Text Box 27"/>
            <p:cNvSpPr txBox="1">
              <a:spLocks noChangeArrowheads="1"/>
            </p:cNvSpPr>
            <p:nvPr/>
          </p:nvSpPr>
          <p:spPr bwMode="auto">
            <a:xfrm>
              <a:off x="2154" y="1050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置屏蔽字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1" name="Text Box 28"/>
            <p:cNvSpPr txBox="1">
              <a:spLocks noChangeArrowheads="1"/>
            </p:cNvSpPr>
            <p:nvPr/>
          </p:nvSpPr>
          <p:spPr bwMode="auto">
            <a:xfrm>
              <a:off x="2154" y="1464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 开中断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2" name="Text Box 29"/>
            <p:cNvSpPr txBox="1">
              <a:spLocks noChangeArrowheads="1"/>
            </p:cNvSpPr>
            <p:nvPr/>
          </p:nvSpPr>
          <p:spPr bwMode="auto">
            <a:xfrm>
              <a:off x="2154" y="1878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中断服务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3" name="Text Box 30"/>
            <p:cNvSpPr txBox="1">
              <a:spLocks noChangeArrowheads="1"/>
            </p:cNvSpPr>
            <p:nvPr/>
          </p:nvSpPr>
          <p:spPr bwMode="auto">
            <a:xfrm>
              <a:off x="2154" y="2292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 关中断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4" name="Text Box 31"/>
            <p:cNvSpPr txBox="1">
              <a:spLocks noChangeArrowheads="1"/>
            </p:cNvSpPr>
            <p:nvPr/>
          </p:nvSpPr>
          <p:spPr bwMode="auto">
            <a:xfrm>
              <a:off x="2154" y="2705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恢复现场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5" name="Text Box 32"/>
            <p:cNvSpPr txBox="1">
              <a:spLocks noChangeArrowheads="1"/>
            </p:cNvSpPr>
            <p:nvPr/>
          </p:nvSpPr>
          <p:spPr bwMode="auto">
            <a:xfrm>
              <a:off x="2154" y="3119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恢复屏蔽字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6" name="Text Box 33"/>
            <p:cNvSpPr txBox="1">
              <a:spLocks noChangeArrowheads="1"/>
            </p:cNvSpPr>
            <p:nvPr/>
          </p:nvSpPr>
          <p:spPr bwMode="auto">
            <a:xfrm>
              <a:off x="2154" y="3533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 开中断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7" name="Text Box 34"/>
            <p:cNvSpPr txBox="1">
              <a:spLocks noChangeArrowheads="1"/>
            </p:cNvSpPr>
            <p:nvPr/>
          </p:nvSpPr>
          <p:spPr bwMode="auto">
            <a:xfrm>
              <a:off x="2154" y="3947"/>
              <a:ext cx="1089" cy="2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160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宋体" panose="02010600030101010101" pitchFamily="2" charset="-122"/>
                </a:rPr>
                <a:t>  中断返回</a:t>
              </a:r>
              <a:endParaRPr lang="zh-CN" altLang="en-US" sz="2000">
                <a:latin typeface="宋体" panose="02010600030101010101" pitchFamily="2" charset="-122"/>
              </a:endParaRPr>
            </a:p>
          </p:txBody>
        </p:sp>
        <p:sp>
          <p:nvSpPr>
            <p:cNvPr id="155718" name="Freeform 35"/>
            <p:cNvSpPr/>
            <p:nvPr/>
          </p:nvSpPr>
          <p:spPr bwMode="auto">
            <a:xfrm>
              <a:off x="2707" y="896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19" name="Freeform 36"/>
            <p:cNvSpPr/>
            <p:nvPr/>
          </p:nvSpPr>
          <p:spPr bwMode="auto">
            <a:xfrm>
              <a:off x="2707" y="1298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0" name="Freeform 37"/>
            <p:cNvSpPr/>
            <p:nvPr/>
          </p:nvSpPr>
          <p:spPr bwMode="auto">
            <a:xfrm>
              <a:off x="2707" y="1715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1" name="Freeform 38"/>
            <p:cNvSpPr/>
            <p:nvPr/>
          </p:nvSpPr>
          <p:spPr bwMode="auto">
            <a:xfrm>
              <a:off x="2707" y="2133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2" name="Freeform 40"/>
            <p:cNvSpPr/>
            <p:nvPr/>
          </p:nvSpPr>
          <p:spPr bwMode="auto">
            <a:xfrm>
              <a:off x="2707" y="2550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3" name="Freeform 41"/>
            <p:cNvSpPr/>
            <p:nvPr/>
          </p:nvSpPr>
          <p:spPr bwMode="auto">
            <a:xfrm>
              <a:off x="2707" y="2967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4" name="Freeform 42"/>
            <p:cNvSpPr/>
            <p:nvPr/>
          </p:nvSpPr>
          <p:spPr bwMode="auto">
            <a:xfrm>
              <a:off x="2707" y="3376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5725" name="Freeform 43"/>
            <p:cNvSpPr/>
            <p:nvPr/>
          </p:nvSpPr>
          <p:spPr bwMode="auto">
            <a:xfrm>
              <a:off x="2707" y="3793"/>
              <a:ext cx="3" cy="136"/>
            </a:xfrm>
            <a:custGeom>
              <a:avLst/>
              <a:gdLst>
                <a:gd name="T0" fmla="*/ 0 w 3"/>
                <a:gd name="T1" fmla="*/ 0 h 157"/>
                <a:gd name="T2" fmla="*/ 3 w 3"/>
                <a:gd name="T3" fmla="*/ 118 h 1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57">
                  <a:moveTo>
                    <a:pt x="0" y="0"/>
                  </a:moveTo>
                  <a:lnTo>
                    <a:pt x="3" y="15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67692" name="Text Box 44"/>
          <p:cNvSpPr txBox="1">
            <a:spLocks noChangeArrowheads="1"/>
          </p:cNvSpPr>
          <p:nvPr/>
        </p:nvSpPr>
        <p:spPr bwMode="auto">
          <a:xfrm>
            <a:off x="7177088" y="1666875"/>
            <a:ext cx="1728787" cy="376238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2160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</a:rPr>
              <a:t>  置屏蔽字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667693" name="Text Box 45"/>
          <p:cNvSpPr txBox="1">
            <a:spLocks noChangeArrowheads="1"/>
          </p:cNvSpPr>
          <p:nvPr/>
        </p:nvSpPr>
        <p:spPr bwMode="auto">
          <a:xfrm>
            <a:off x="7175500" y="4951413"/>
            <a:ext cx="1728788" cy="376237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2160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</a:rPr>
              <a:t> 恢复屏蔽字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667694" name="Text Box 46"/>
          <p:cNvSpPr txBox="1">
            <a:spLocks noChangeArrowheads="1"/>
          </p:cNvSpPr>
          <p:nvPr/>
        </p:nvSpPr>
        <p:spPr bwMode="auto">
          <a:xfrm>
            <a:off x="7175500" y="3638550"/>
            <a:ext cx="1728788" cy="376238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2160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</a:rPr>
              <a:t>   关中断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667695" name="Text Box 47"/>
          <p:cNvSpPr txBox="1">
            <a:spLocks noChangeArrowheads="1"/>
          </p:cNvSpPr>
          <p:nvPr/>
        </p:nvSpPr>
        <p:spPr bwMode="auto">
          <a:xfrm>
            <a:off x="7175500" y="5608638"/>
            <a:ext cx="1728788" cy="376237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2160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</a:rPr>
              <a:t>   开中断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grpSp>
        <p:nvGrpSpPr>
          <p:cNvPr id="155656" name="组合 26"/>
          <p:cNvGrpSpPr/>
          <p:nvPr/>
        </p:nvGrpSpPr>
        <p:grpSpPr bwMode="auto">
          <a:xfrm>
            <a:off x="1835150" y="769938"/>
            <a:ext cx="4306888" cy="6080125"/>
            <a:chOff x="4124001" y="771525"/>
            <a:chExt cx="3724599" cy="6010275"/>
          </a:xfrm>
        </p:grpSpPr>
        <p:grpSp>
          <p:nvGrpSpPr>
            <p:cNvPr id="155661" name="Group 38"/>
            <p:cNvGrpSpPr/>
            <p:nvPr/>
          </p:nvGrpSpPr>
          <p:grpSpPr bwMode="auto">
            <a:xfrm>
              <a:off x="5334000" y="4224339"/>
              <a:ext cx="1828800" cy="2419350"/>
              <a:chOff x="3360" y="2661"/>
              <a:chExt cx="1152" cy="1524"/>
            </a:xfrm>
          </p:grpSpPr>
          <p:sp>
            <p:nvSpPr>
              <p:cNvPr id="155696" name="Text Box 39"/>
              <p:cNvSpPr txBox="1">
                <a:spLocks noChangeArrowheads="1"/>
              </p:cNvSpPr>
              <p:nvPr/>
            </p:nvSpPr>
            <p:spPr bwMode="auto">
              <a:xfrm>
                <a:off x="3552" y="3936"/>
                <a:ext cx="663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中断返回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97" name="Line 40"/>
              <p:cNvSpPr>
                <a:spLocks noChangeShapeType="1"/>
              </p:cNvSpPr>
              <p:nvPr/>
            </p:nvSpPr>
            <p:spPr bwMode="auto">
              <a:xfrm>
                <a:off x="3936" y="322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55698" name="Group 41"/>
              <p:cNvGrpSpPr/>
              <p:nvPr/>
            </p:nvGrpSpPr>
            <p:grpSpPr bwMode="auto">
              <a:xfrm>
                <a:off x="3360" y="2661"/>
                <a:ext cx="1152" cy="1519"/>
                <a:chOff x="3360" y="2661"/>
                <a:chExt cx="1152" cy="1519"/>
              </a:xfrm>
            </p:grpSpPr>
            <p:sp>
              <p:nvSpPr>
                <p:cNvPr id="155699" name="Rectangle 42"/>
                <p:cNvSpPr>
                  <a:spLocks noChangeArrowheads="1"/>
                </p:cNvSpPr>
                <p:nvPr/>
              </p:nvSpPr>
              <p:spPr bwMode="auto">
                <a:xfrm>
                  <a:off x="3360" y="2661"/>
                  <a:ext cx="1152" cy="25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保护现场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700" name="Rectangle 43"/>
                <p:cNvSpPr>
                  <a:spLocks noChangeArrowheads="1"/>
                </p:cNvSpPr>
                <p:nvPr/>
              </p:nvSpPr>
              <p:spPr bwMode="auto">
                <a:xfrm>
                  <a:off x="3360" y="3295"/>
                  <a:ext cx="1152" cy="25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设备服务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701" name="Rectangle 44"/>
                <p:cNvSpPr>
                  <a:spLocks noChangeArrowheads="1"/>
                </p:cNvSpPr>
                <p:nvPr/>
              </p:nvSpPr>
              <p:spPr bwMode="auto">
                <a:xfrm>
                  <a:off x="3360" y="3629"/>
                  <a:ext cx="1152" cy="257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恢复现场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702" name="Rectangle 45"/>
                <p:cNvSpPr>
                  <a:spLocks noChangeArrowheads="1"/>
                </p:cNvSpPr>
                <p:nvPr/>
              </p:nvSpPr>
              <p:spPr bwMode="auto">
                <a:xfrm>
                  <a:off x="3360" y="3964"/>
                  <a:ext cx="1152" cy="21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  <p:grpSp>
              <p:nvGrpSpPr>
                <p:cNvPr id="155703" name="Group 46"/>
                <p:cNvGrpSpPr/>
                <p:nvPr/>
              </p:nvGrpSpPr>
              <p:grpSpPr bwMode="auto">
                <a:xfrm>
                  <a:off x="3360" y="2976"/>
                  <a:ext cx="1152" cy="249"/>
                  <a:chOff x="3360" y="2976"/>
                  <a:chExt cx="1152" cy="249"/>
                </a:xfrm>
              </p:grpSpPr>
              <p:sp>
                <p:nvSpPr>
                  <p:cNvPr id="155707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3" y="2976"/>
                    <a:ext cx="522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>
                        <a:latin typeface="Times New Roman" panose="02020603050405020304" pitchFamily="18" charset="0"/>
                      </a:rPr>
                      <a:t>开中断</a:t>
                    </a:r>
                    <a:endParaRPr lang="zh-CN" altLang="en-US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708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2997"/>
                    <a:ext cx="1152" cy="21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zh-CN" altLang="en-US" sz="800">
                      <a:latin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55704" name="Line 49"/>
                <p:cNvSpPr>
                  <a:spLocks noChangeShapeType="1"/>
                </p:cNvSpPr>
                <p:nvPr/>
              </p:nvSpPr>
              <p:spPr bwMode="auto">
                <a:xfrm>
                  <a:off x="3936" y="2922"/>
                  <a:ext cx="0" cy="8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stealth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5705" name="Line 50"/>
                <p:cNvSpPr>
                  <a:spLocks noChangeShapeType="1"/>
                </p:cNvSpPr>
                <p:nvPr/>
              </p:nvSpPr>
              <p:spPr bwMode="auto">
                <a:xfrm>
                  <a:off x="3936" y="3544"/>
                  <a:ext cx="0" cy="8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stealth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5706" name="Line 51"/>
                <p:cNvSpPr>
                  <a:spLocks noChangeShapeType="1"/>
                </p:cNvSpPr>
                <p:nvPr/>
              </p:nvSpPr>
              <p:spPr bwMode="auto">
                <a:xfrm>
                  <a:off x="3936" y="3887"/>
                  <a:ext cx="0" cy="8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stealth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5662" name="AutoShape 56"/>
            <p:cNvSpPr>
              <a:spLocks noChangeArrowheads="1"/>
            </p:cNvSpPr>
            <p:nvPr/>
          </p:nvSpPr>
          <p:spPr bwMode="auto">
            <a:xfrm>
              <a:off x="4124001" y="2589213"/>
              <a:ext cx="527376" cy="1634802"/>
            </a:xfrm>
            <a:prstGeom prst="wedgeRoundRectCallout">
              <a:avLst>
                <a:gd name="adj1" fmla="val 81454"/>
                <a:gd name="adj2" fmla="val 227"/>
                <a:gd name="adj3" fmla="val 16667"/>
              </a:avLst>
            </a:prstGeom>
            <a:noFill/>
            <a:ln w="1905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126000" rIns="54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中断隐指令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55663" name="Group 60"/>
            <p:cNvGrpSpPr/>
            <p:nvPr/>
          </p:nvGrpSpPr>
          <p:grpSpPr bwMode="auto">
            <a:xfrm>
              <a:off x="5334000" y="771525"/>
              <a:ext cx="1828800" cy="1389063"/>
              <a:chOff x="912" y="486"/>
              <a:chExt cx="1152" cy="875"/>
            </a:xfrm>
          </p:grpSpPr>
          <p:sp>
            <p:nvSpPr>
              <p:cNvPr id="155691" name="Rectangle 61"/>
              <p:cNvSpPr>
                <a:spLocks noChangeArrowheads="1"/>
              </p:cNvSpPr>
              <p:nvPr/>
            </p:nvSpPr>
            <p:spPr bwMode="auto">
              <a:xfrm>
                <a:off x="912" y="633"/>
                <a:ext cx="1152" cy="2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取指令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92" name="Rectangle 62"/>
              <p:cNvSpPr>
                <a:spLocks noChangeArrowheads="1"/>
              </p:cNvSpPr>
              <p:nvPr/>
            </p:nvSpPr>
            <p:spPr bwMode="auto">
              <a:xfrm>
                <a:off x="912" y="999"/>
                <a:ext cx="1152" cy="2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执行指令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93" name="Line 63"/>
              <p:cNvSpPr>
                <a:spLocks noChangeShapeType="1"/>
              </p:cNvSpPr>
              <p:nvPr/>
            </p:nvSpPr>
            <p:spPr bwMode="auto">
              <a:xfrm>
                <a:off x="1488" y="1256"/>
                <a:ext cx="0" cy="1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94" name="Line 64"/>
              <p:cNvSpPr>
                <a:spLocks noChangeShapeType="1"/>
              </p:cNvSpPr>
              <p:nvPr/>
            </p:nvSpPr>
            <p:spPr bwMode="auto">
              <a:xfrm>
                <a:off x="1488" y="890"/>
                <a:ext cx="0" cy="1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95" name="Freeform 65"/>
              <p:cNvSpPr/>
              <p:nvPr/>
            </p:nvSpPr>
            <p:spPr bwMode="auto">
              <a:xfrm>
                <a:off x="1488" y="486"/>
                <a:ext cx="1" cy="147"/>
              </a:xfrm>
              <a:custGeom>
                <a:avLst/>
                <a:gdLst>
                  <a:gd name="T0" fmla="*/ 0 w 1"/>
                  <a:gd name="T1" fmla="*/ 0 h 147"/>
                  <a:gd name="T2" fmla="*/ 0 w 1"/>
                  <a:gd name="T3" fmla="*/ 147 h 14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47">
                    <a:moveTo>
                      <a:pt x="0" y="0"/>
                    </a:moveTo>
                    <a:lnTo>
                      <a:pt x="0" y="14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55664" name="Group 66"/>
            <p:cNvGrpSpPr/>
            <p:nvPr/>
          </p:nvGrpSpPr>
          <p:grpSpPr bwMode="auto">
            <a:xfrm>
              <a:off x="5410200" y="2166938"/>
              <a:ext cx="1676400" cy="542925"/>
              <a:chOff x="960" y="1365"/>
              <a:chExt cx="1056" cy="342"/>
            </a:xfrm>
          </p:grpSpPr>
          <p:sp>
            <p:nvSpPr>
              <p:cNvPr id="155689" name="Text Box 67"/>
              <p:cNvSpPr txBox="1">
                <a:spLocks noChangeArrowheads="1"/>
              </p:cNvSpPr>
              <p:nvPr/>
            </p:nvSpPr>
            <p:spPr bwMode="auto">
              <a:xfrm>
                <a:off x="1142" y="1406"/>
                <a:ext cx="663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中断否？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90" name="AutoShape 68"/>
              <p:cNvSpPr>
                <a:spLocks noChangeArrowheads="1"/>
              </p:cNvSpPr>
              <p:nvPr/>
            </p:nvSpPr>
            <p:spPr bwMode="auto">
              <a:xfrm>
                <a:off x="960" y="1365"/>
                <a:ext cx="1056" cy="342"/>
              </a:xfrm>
              <a:prstGeom prst="diamond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55665" name="Group 69"/>
            <p:cNvGrpSpPr/>
            <p:nvPr/>
          </p:nvGrpSpPr>
          <p:grpSpPr bwMode="auto">
            <a:xfrm>
              <a:off x="6248400" y="838200"/>
              <a:ext cx="1600200" cy="1600200"/>
              <a:chOff x="1488" y="528"/>
              <a:chExt cx="1008" cy="1008"/>
            </a:xfrm>
          </p:grpSpPr>
          <p:sp>
            <p:nvSpPr>
              <p:cNvPr id="155687" name="Text Box 70"/>
              <p:cNvSpPr txBox="1">
                <a:spLocks noChangeArrowheads="1"/>
              </p:cNvSpPr>
              <p:nvPr/>
            </p:nvSpPr>
            <p:spPr bwMode="auto">
              <a:xfrm>
                <a:off x="2016" y="1305"/>
                <a:ext cx="22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否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8" name="Freeform 71"/>
              <p:cNvSpPr/>
              <p:nvPr/>
            </p:nvSpPr>
            <p:spPr bwMode="auto">
              <a:xfrm>
                <a:off x="1488" y="528"/>
                <a:ext cx="1008" cy="1008"/>
              </a:xfrm>
              <a:custGeom>
                <a:avLst/>
                <a:gdLst>
                  <a:gd name="T0" fmla="*/ 528 w 1008"/>
                  <a:gd name="T1" fmla="*/ 1008 h 1008"/>
                  <a:gd name="T2" fmla="*/ 1008 w 1008"/>
                  <a:gd name="T3" fmla="*/ 1008 h 1008"/>
                  <a:gd name="T4" fmla="*/ 1008 w 1008"/>
                  <a:gd name="T5" fmla="*/ 0 h 1008"/>
                  <a:gd name="T6" fmla="*/ 0 w 1008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1008">
                    <a:moveTo>
                      <a:pt x="528" y="1008"/>
                    </a:moveTo>
                    <a:lnTo>
                      <a:pt x="1008" y="1008"/>
                    </a:lnTo>
                    <a:lnTo>
                      <a:pt x="1008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55666" name="Group 72"/>
            <p:cNvGrpSpPr/>
            <p:nvPr/>
          </p:nvGrpSpPr>
          <p:grpSpPr bwMode="auto">
            <a:xfrm>
              <a:off x="5486400" y="2852738"/>
              <a:ext cx="1530350" cy="1217612"/>
              <a:chOff x="3456" y="1797"/>
              <a:chExt cx="964" cy="767"/>
            </a:xfrm>
          </p:grpSpPr>
          <p:sp>
            <p:nvSpPr>
              <p:cNvPr id="155685" name="Text Box 73"/>
              <p:cNvSpPr txBox="1">
                <a:spLocks noChangeArrowheads="1"/>
              </p:cNvSpPr>
              <p:nvPr/>
            </p:nvSpPr>
            <p:spPr bwMode="auto">
              <a:xfrm>
                <a:off x="3456" y="1797"/>
                <a:ext cx="964" cy="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中断响应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 程序断点进栈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      关中断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向量地址  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PC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6" name="Line 74"/>
              <p:cNvSpPr>
                <a:spLocks noChangeShapeType="1"/>
              </p:cNvSpPr>
              <p:nvPr/>
            </p:nvSpPr>
            <p:spPr bwMode="auto">
              <a:xfrm>
                <a:off x="4017" y="2448"/>
                <a:ext cx="1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55667" name="Group 75"/>
            <p:cNvGrpSpPr/>
            <p:nvPr/>
          </p:nvGrpSpPr>
          <p:grpSpPr bwMode="auto">
            <a:xfrm>
              <a:off x="4864100" y="2528888"/>
              <a:ext cx="2346325" cy="1700212"/>
              <a:chOff x="596" y="1593"/>
              <a:chExt cx="1478" cy="1071"/>
            </a:xfrm>
          </p:grpSpPr>
          <p:sp>
            <p:nvSpPr>
              <p:cNvPr id="155678" name="Line 76"/>
              <p:cNvSpPr>
                <a:spLocks noChangeShapeType="1"/>
              </p:cNvSpPr>
              <p:nvPr/>
            </p:nvSpPr>
            <p:spPr bwMode="auto">
              <a:xfrm>
                <a:off x="1488" y="2538"/>
                <a:ext cx="0" cy="1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stealth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55679" name="Group 77"/>
              <p:cNvGrpSpPr/>
              <p:nvPr/>
            </p:nvGrpSpPr>
            <p:grpSpPr bwMode="auto">
              <a:xfrm>
                <a:off x="596" y="1593"/>
                <a:ext cx="1478" cy="970"/>
                <a:chOff x="596" y="1593"/>
                <a:chExt cx="1478" cy="970"/>
              </a:xfrm>
            </p:grpSpPr>
            <p:sp>
              <p:nvSpPr>
                <p:cNvPr id="155680" name="Rectangle 78"/>
                <p:cNvSpPr>
                  <a:spLocks noChangeArrowheads="1"/>
                </p:cNvSpPr>
                <p:nvPr/>
              </p:nvSpPr>
              <p:spPr bwMode="auto">
                <a:xfrm>
                  <a:off x="922" y="1818"/>
                  <a:ext cx="1152" cy="727"/>
                </a:xfrm>
                <a:prstGeom prst="rect">
                  <a:avLst/>
                </a:prstGeom>
                <a:noFill/>
                <a:ln w="28575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55681" name="Line 79"/>
                <p:cNvSpPr>
                  <a:spLocks noChangeShapeType="1"/>
                </p:cNvSpPr>
                <p:nvPr/>
              </p:nvSpPr>
              <p:spPr bwMode="auto">
                <a:xfrm>
                  <a:off x="1488" y="1703"/>
                  <a:ext cx="0" cy="10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stealth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568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596" y="1875"/>
                  <a:ext cx="268" cy="6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>
                      <a:latin typeface="Times New Roman" panose="02020603050405020304" pitchFamily="18" charset="0"/>
                    </a:rPr>
                    <a:t>中断周期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683" name="AutoShape 81"/>
                <p:cNvSpPr/>
                <p:nvPr/>
              </p:nvSpPr>
              <p:spPr bwMode="auto">
                <a:xfrm>
                  <a:off x="816" y="1789"/>
                  <a:ext cx="96" cy="771"/>
                </a:xfrm>
                <a:prstGeom prst="leftBrace">
                  <a:avLst>
                    <a:gd name="adj1" fmla="val 66927"/>
                    <a:gd name="adj2" fmla="val 50000"/>
                  </a:avLst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80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5568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632" y="1593"/>
                  <a:ext cx="227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是</a:t>
                  </a: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5668" name="Group 83"/>
            <p:cNvGrpSpPr/>
            <p:nvPr/>
          </p:nvGrpSpPr>
          <p:grpSpPr bwMode="auto">
            <a:xfrm>
              <a:off x="4724400" y="4198938"/>
              <a:ext cx="533400" cy="2379662"/>
              <a:chOff x="528" y="2645"/>
              <a:chExt cx="336" cy="1499"/>
            </a:xfrm>
          </p:grpSpPr>
          <p:sp>
            <p:nvSpPr>
              <p:cNvPr id="155673" name="Line 84"/>
              <p:cNvSpPr>
                <a:spLocks noChangeShapeType="1"/>
              </p:cNvSpPr>
              <p:nvPr/>
            </p:nvSpPr>
            <p:spPr bwMode="auto">
              <a:xfrm flipH="1">
                <a:off x="528" y="2645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74" name="Line 85"/>
              <p:cNvSpPr>
                <a:spLocks noChangeShapeType="1"/>
              </p:cNvSpPr>
              <p:nvPr/>
            </p:nvSpPr>
            <p:spPr bwMode="auto">
              <a:xfrm flipH="1">
                <a:off x="528" y="414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75" name="Text Box 86"/>
              <p:cNvSpPr txBox="1">
                <a:spLocks noChangeArrowheads="1"/>
              </p:cNvSpPr>
              <p:nvPr/>
            </p:nvSpPr>
            <p:spPr bwMode="auto">
              <a:xfrm>
                <a:off x="579" y="2880"/>
                <a:ext cx="268" cy="10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中断服务程序</a:t>
                </a:r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76" name="Line 87"/>
              <p:cNvSpPr>
                <a:spLocks noChangeShapeType="1"/>
              </p:cNvSpPr>
              <p:nvPr/>
            </p:nvSpPr>
            <p:spPr bwMode="auto">
              <a:xfrm>
                <a:off x="672" y="3930"/>
                <a:ext cx="0" cy="21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77" name="Line 88"/>
              <p:cNvSpPr>
                <a:spLocks noChangeShapeType="1"/>
              </p:cNvSpPr>
              <p:nvPr/>
            </p:nvSpPr>
            <p:spPr bwMode="auto">
              <a:xfrm rot="10800000">
                <a:off x="672" y="2645"/>
                <a:ext cx="0" cy="21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5669" name="Text Box 95"/>
            <p:cNvSpPr txBox="1">
              <a:spLocks noChangeArrowheads="1"/>
            </p:cNvSpPr>
            <p:nvPr/>
          </p:nvSpPr>
          <p:spPr bwMode="auto">
            <a:xfrm>
              <a:off x="4343400" y="990600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多重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55670" name="Group 96"/>
            <p:cNvGrpSpPr/>
            <p:nvPr/>
          </p:nvGrpSpPr>
          <p:grpSpPr bwMode="auto">
            <a:xfrm>
              <a:off x="6248400" y="838200"/>
              <a:ext cx="1600200" cy="5943600"/>
              <a:chOff x="3936" y="528"/>
              <a:chExt cx="1008" cy="3744"/>
            </a:xfrm>
          </p:grpSpPr>
          <p:sp>
            <p:nvSpPr>
              <p:cNvPr id="155671" name="Freeform 97"/>
              <p:cNvSpPr/>
              <p:nvPr/>
            </p:nvSpPr>
            <p:spPr bwMode="auto">
              <a:xfrm>
                <a:off x="3936" y="528"/>
                <a:ext cx="1008" cy="3744"/>
              </a:xfrm>
              <a:custGeom>
                <a:avLst/>
                <a:gdLst>
                  <a:gd name="T0" fmla="*/ 0 w 1008"/>
                  <a:gd name="T1" fmla="*/ 3648 h 3744"/>
                  <a:gd name="T2" fmla="*/ 0 w 1008"/>
                  <a:gd name="T3" fmla="*/ 3744 h 3744"/>
                  <a:gd name="T4" fmla="*/ 1008 w 1008"/>
                  <a:gd name="T5" fmla="*/ 3744 h 3744"/>
                  <a:gd name="T6" fmla="*/ 1008 w 1008"/>
                  <a:gd name="T7" fmla="*/ 0 h 3744"/>
                  <a:gd name="T8" fmla="*/ 0 w 1008"/>
                  <a:gd name="T9" fmla="*/ 0 h 37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8" h="3744">
                    <a:moveTo>
                      <a:pt x="0" y="3648"/>
                    </a:moveTo>
                    <a:lnTo>
                      <a:pt x="0" y="3744"/>
                    </a:lnTo>
                    <a:lnTo>
                      <a:pt x="1008" y="3744"/>
                    </a:lnTo>
                    <a:lnTo>
                      <a:pt x="1008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5672" name="Line 98"/>
              <p:cNvSpPr>
                <a:spLocks noChangeShapeType="1"/>
              </p:cNvSpPr>
              <p:nvPr/>
            </p:nvSpPr>
            <p:spPr bwMode="auto">
              <a:xfrm>
                <a:off x="4848" y="153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cxnSp>
        <p:nvCxnSpPr>
          <p:cNvPr id="155657" name="直接箭头连接符 2"/>
          <p:cNvCxnSpPr>
            <a:cxnSpLocks noChangeShapeType="1"/>
            <a:endCxn id="155709" idx="1"/>
          </p:cNvCxnSpPr>
          <p:nvPr/>
        </p:nvCxnSpPr>
        <p:spPr bwMode="auto">
          <a:xfrm flipV="1">
            <a:off x="5348288" y="1200150"/>
            <a:ext cx="1827212" cy="3062288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658" name="直接箭头连接符 4"/>
          <p:cNvCxnSpPr>
            <a:cxnSpLocks noChangeShapeType="1"/>
          </p:cNvCxnSpPr>
          <p:nvPr/>
        </p:nvCxnSpPr>
        <p:spPr bwMode="auto">
          <a:xfrm flipV="1">
            <a:off x="5348288" y="1006475"/>
            <a:ext cx="1827212" cy="3287713"/>
          </a:xfrm>
          <a:prstGeom prst="straightConnector1">
            <a:avLst/>
          </a:prstGeom>
          <a:noFill/>
          <a:ln w="19050" algn="ctr">
            <a:solidFill>
              <a:schemeClr val="fol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659" name="直接箭头连接符 6"/>
          <p:cNvCxnSpPr>
            <a:cxnSpLocks noChangeShapeType="1"/>
          </p:cNvCxnSpPr>
          <p:nvPr/>
        </p:nvCxnSpPr>
        <p:spPr bwMode="auto">
          <a:xfrm>
            <a:off x="6888163" y="1773238"/>
            <a:ext cx="914400" cy="9144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660" name="直接箭头连接符 10"/>
          <p:cNvCxnSpPr>
            <a:cxnSpLocks noChangeShapeType="1"/>
          </p:cNvCxnSpPr>
          <p:nvPr/>
        </p:nvCxnSpPr>
        <p:spPr bwMode="auto">
          <a:xfrm flipV="1">
            <a:off x="5348288" y="6667500"/>
            <a:ext cx="1827212" cy="44450"/>
          </a:xfrm>
          <a:prstGeom prst="straightConnector1">
            <a:avLst/>
          </a:prstGeom>
          <a:noFill/>
          <a:ln w="19050" algn="ctr">
            <a:solidFill>
              <a:schemeClr val="fol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6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6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6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6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6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92" grpId="0" animBg="1"/>
      <p:bldP spid="667693" grpId="0" animBg="1"/>
      <p:bldP spid="667694" grpId="0" animBg="1"/>
      <p:bldP spid="66769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2057400" y="333375"/>
            <a:ext cx="684688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>
                <a:latin typeface="Times New Roman" panose="02020603050405020304" pitchFamily="18" charset="0"/>
              </a:rPr>
              <a:t>)  屏蔽技术可改变处理优先等级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71395" name="Rectangle 3"/>
          <p:cNvSpPr>
            <a:spLocks noChangeArrowheads="1"/>
          </p:cNvSpPr>
          <p:nvPr/>
        </p:nvSpPr>
        <p:spPr bwMode="auto">
          <a:xfrm>
            <a:off x="2782888" y="1196975"/>
            <a:ext cx="2143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响应优先级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1396" name="Rectangle 4"/>
          <p:cNvSpPr>
            <a:spLocks noChangeArrowheads="1"/>
          </p:cNvSpPr>
          <p:nvPr/>
        </p:nvSpPr>
        <p:spPr bwMode="auto">
          <a:xfrm>
            <a:off x="2782888" y="5229225"/>
            <a:ext cx="63373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响应优先级 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A→B→C→D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降序排列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1398" name="Rectangle 6"/>
          <p:cNvSpPr>
            <a:spLocks noChangeArrowheads="1"/>
          </p:cNvSpPr>
          <p:nvPr/>
        </p:nvSpPr>
        <p:spPr bwMode="auto">
          <a:xfrm>
            <a:off x="5303838" y="1196975"/>
            <a:ext cx="2143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不可改变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1399" name="Rectangle 7"/>
          <p:cNvSpPr>
            <a:spLocks noChangeArrowheads="1"/>
          </p:cNvSpPr>
          <p:nvPr/>
        </p:nvSpPr>
        <p:spPr bwMode="auto">
          <a:xfrm>
            <a:off x="2782888" y="1917700"/>
            <a:ext cx="2143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处理优先级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1400" name="Rectangle 8"/>
          <p:cNvSpPr>
            <a:spLocks noChangeArrowheads="1"/>
          </p:cNvSpPr>
          <p:nvPr/>
        </p:nvSpPr>
        <p:spPr bwMode="auto">
          <a:xfrm>
            <a:off x="5303838" y="1917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可改变（通过重新设置屏蔽字）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71427" name="Group 35"/>
          <p:cNvGraphicFramePr>
            <a:graphicFrameLocks noGrp="1"/>
          </p:cNvGraphicFramePr>
          <p:nvPr/>
        </p:nvGraphicFramePr>
        <p:xfrm>
          <a:off x="3503613" y="2854325"/>
          <a:ext cx="5184775" cy="1943100"/>
        </p:xfrm>
        <a:graphic>
          <a:graphicData uri="http://schemas.openxmlformats.org/drawingml/2006/table">
            <a:tbl>
              <a:tblPr/>
              <a:tblGrid>
                <a:gridCol w="1384300"/>
                <a:gridCol w="1900237"/>
                <a:gridCol w="1900238"/>
              </a:tblGrid>
              <a:tr h="503238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中断源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原屏蔽字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新屏蔽字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9862"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 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1416" name="Rectangle 24"/>
          <p:cNvSpPr>
            <a:spLocks noChangeArrowheads="1"/>
          </p:cNvSpPr>
          <p:nvPr/>
        </p:nvSpPr>
        <p:spPr bwMode="auto">
          <a:xfrm>
            <a:off x="2782888" y="6021388"/>
            <a:ext cx="65532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处理优先级 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A→D→C→B </a:t>
            </a:r>
            <a:r>
              <a:rPr lang="zh-CN" altLang="en-US">
                <a:latin typeface="Times New Roman" panose="02020603050405020304" pitchFamily="18" charset="0"/>
              </a:rPr>
              <a:t>降序排列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7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5" grpId="0" autoUpdateAnimBg="0"/>
      <p:bldP spid="571396" grpId="0" autoUpdateAnimBg="0"/>
      <p:bldP spid="571398" grpId="0" autoUpdateAnimBg="0"/>
      <p:bldP spid="571399" grpId="0" autoUpdateAnimBg="0"/>
      <p:bldP spid="571400" grpId="0" autoUpdateAnimBg="0"/>
      <p:bldP spid="57141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2057400" y="404813"/>
            <a:ext cx="66309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>
                <a:latin typeface="Times New Roman" panose="02020603050405020304" pitchFamily="18" charset="0"/>
              </a:rPr>
              <a:t>)  屏蔽技术可改变处理优先等级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72420" name="Group 4"/>
          <p:cNvGrpSpPr/>
          <p:nvPr/>
        </p:nvGrpSpPr>
        <p:grpSpPr bwMode="auto">
          <a:xfrm>
            <a:off x="2711450" y="1484313"/>
            <a:ext cx="6913563" cy="4130675"/>
            <a:chOff x="748" y="935"/>
            <a:chExt cx="4355" cy="2602"/>
          </a:xfrm>
        </p:grpSpPr>
        <p:grpSp>
          <p:nvGrpSpPr>
            <p:cNvPr id="157700" name="Group 5"/>
            <p:cNvGrpSpPr/>
            <p:nvPr/>
          </p:nvGrpSpPr>
          <p:grpSpPr bwMode="auto">
            <a:xfrm>
              <a:off x="748" y="935"/>
              <a:ext cx="4355" cy="1912"/>
              <a:chOff x="748" y="935"/>
              <a:chExt cx="4355" cy="1912"/>
            </a:xfrm>
          </p:grpSpPr>
          <p:sp>
            <p:nvSpPr>
              <p:cNvPr id="157702" name="Text Box 6"/>
              <p:cNvSpPr txBox="1">
                <a:spLocks noChangeArrowheads="1"/>
              </p:cNvSpPr>
              <p:nvPr/>
            </p:nvSpPr>
            <p:spPr bwMode="auto">
              <a:xfrm>
                <a:off x="1050" y="935"/>
                <a:ext cx="787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服务程序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3" name="Text Box 7"/>
              <p:cNvSpPr txBox="1">
                <a:spLocks noChangeArrowheads="1"/>
              </p:cNvSpPr>
              <p:nvPr/>
            </p:nvSpPr>
            <p:spPr bwMode="auto">
              <a:xfrm>
                <a:off x="2971" y="2341"/>
                <a:ext cx="702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处理完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4" name="Text Box 8"/>
              <p:cNvSpPr txBox="1">
                <a:spLocks noChangeArrowheads="1"/>
              </p:cNvSpPr>
              <p:nvPr/>
            </p:nvSpPr>
            <p:spPr bwMode="auto">
              <a:xfrm>
                <a:off x="3540" y="2516"/>
                <a:ext cx="692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处理完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5" name="Text Box 9"/>
              <p:cNvSpPr txBox="1">
                <a:spLocks noChangeArrowheads="1"/>
              </p:cNvSpPr>
              <p:nvPr/>
            </p:nvSpPr>
            <p:spPr bwMode="auto">
              <a:xfrm>
                <a:off x="4124" y="2341"/>
                <a:ext cx="630" cy="2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处理完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6" name="Text Box 10"/>
              <p:cNvSpPr txBox="1">
                <a:spLocks noChangeArrowheads="1"/>
              </p:cNvSpPr>
              <p:nvPr/>
            </p:nvSpPr>
            <p:spPr bwMode="auto">
              <a:xfrm>
                <a:off x="2165" y="2341"/>
                <a:ext cx="630" cy="2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处理完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7" name="Text Box 11"/>
              <p:cNvSpPr txBox="1">
                <a:spLocks noChangeArrowheads="1"/>
              </p:cNvSpPr>
              <p:nvPr/>
            </p:nvSpPr>
            <p:spPr bwMode="auto">
              <a:xfrm>
                <a:off x="4811" y="2206"/>
                <a:ext cx="2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t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08" name="Line 12"/>
              <p:cNvSpPr>
                <a:spLocks noChangeShapeType="1"/>
              </p:cNvSpPr>
              <p:nvPr/>
            </p:nvSpPr>
            <p:spPr bwMode="auto">
              <a:xfrm>
                <a:off x="1289" y="2341"/>
                <a:ext cx="35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09" name="Line 13"/>
              <p:cNvSpPr>
                <a:spLocks noChangeShapeType="1"/>
              </p:cNvSpPr>
              <p:nvPr/>
            </p:nvSpPr>
            <p:spPr bwMode="auto">
              <a:xfrm>
                <a:off x="1289" y="1099"/>
                <a:ext cx="0" cy="12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0" name="Line 14"/>
              <p:cNvSpPr>
                <a:spLocks noChangeShapeType="1"/>
              </p:cNvSpPr>
              <p:nvPr/>
            </p:nvSpPr>
            <p:spPr bwMode="auto">
              <a:xfrm>
                <a:off x="800" y="1372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1" name="Text Box 15"/>
              <p:cNvSpPr txBox="1">
                <a:spLocks noChangeArrowheads="1"/>
              </p:cNvSpPr>
              <p:nvPr/>
            </p:nvSpPr>
            <p:spPr bwMode="auto">
              <a:xfrm>
                <a:off x="748" y="2165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主程序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12" name="Text Box 16"/>
              <p:cNvSpPr txBox="1">
                <a:spLocks noChangeArrowheads="1"/>
              </p:cNvSpPr>
              <p:nvPr/>
            </p:nvSpPr>
            <p:spPr bwMode="auto">
              <a:xfrm>
                <a:off x="748" y="1868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13" name="Text Box 17"/>
              <p:cNvSpPr txBox="1">
                <a:spLocks noChangeArrowheads="1"/>
              </p:cNvSpPr>
              <p:nvPr/>
            </p:nvSpPr>
            <p:spPr bwMode="auto">
              <a:xfrm>
                <a:off x="748" y="1649"/>
                <a:ext cx="511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14" name="Text Box 18"/>
              <p:cNvSpPr txBox="1">
                <a:spLocks noChangeArrowheads="1"/>
              </p:cNvSpPr>
              <p:nvPr/>
            </p:nvSpPr>
            <p:spPr bwMode="auto">
              <a:xfrm>
                <a:off x="748" y="1411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15" name="Text Box 19"/>
              <p:cNvSpPr txBox="1">
                <a:spLocks noChangeArrowheads="1"/>
              </p:cNvSpPr>
              <p:nvPr/>
            </p:nvSpPr>
            <p:spPr bwMode="auto">
              <a:xfrm>
                <a:off x="748" y="1158"/>
                <a:ext cx="511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程序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16" name="Line 20"/>
              <p:cNvSpPr>
                <a:spLocks noChangeShapeType="1"/>
              </p:cNvSpPr>
              <p:nvPr/>
            </p:nvSpPr>
            <p:spPr bwMode="auto">
              <a:xfrm>
                <a:off x="1842" y="2081"/>
                <a:ext cx="0" cy="2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7" name="Line 21"/>
              <p:cNvSpPr>
                <a:spLocks noChangeShapeType="1"/>
              </p:cNvSpPr>
              <p:nvPr/>
            </p:nvSpPr>
            <p:spPr bwMode="auto">
              <a:xfrm>
                <a:off x="2434" y="2081"/>
                <a:ext cx="0" cy="2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8" name="Line 22"/>
              <p:cNvSpPr>
                <a:spLocks noChangeShapeType="1"/>
              </p:cNvSpPr>
              <p:nvPr/>
            </p:nvSpPr>
            <p:spPr bwMode="auto">
              <a:xfrm rot="-5400000">
                <a:off x="2136" y="1787"/>
                <a:ext cx="0" cy="5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9" name="Line 23"/>
              <p:cNvSpPr>
                <a:spLocks noChangeShapeType="1"/>
              </p:cNvSpPr>
              <p:nvPr/>
            </p:nvSpPr>
            <p:spPr bwMode="auto">
              <a:xfrm>
                <a:off x="2468" y="1849"/>
                <a:ext cx="0" cy="4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0" name="Line 24"/>
              <p:cNvSpPr>
                <a:spLocks noChangeShapeType="1"/>
              </p:cNvSpPr>
              <p:nvPr/>
            </p:nvSpPr>
            <p:spPr bwMode="auto">
              <a:xfrm>
                <a:off x="3290" y="1851"/>
                <a:ext cx="0" cy="4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1" name="Line 25"/>
              <p:cNvSpPr>
                <a:spLocks noChangeShapeType="1"/>
              </p:cNvSpPr>
              <p:nvPr/>
            </p:nvSpPr>
            <p:spPr bwMode="auto">
              <a:xfrm rot="-5400000">
                <a:off x="2879" y="1441"/>
                <a:ext cx="0" cy="8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2" name="Line 26"/>
              <p:cNvSpPr>
                <a:spLocks noChangeShapeType="1"/>
              </p:cNvSpPr>
              <p:nvPr/>
            </p:nvSpPr>
            <p:spPr bwMode="auto">
              <a:xfrm rot="-5400000">
                <a:off x="3537" y="1402"/>
                <a:ext cx="0" cy="4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3" name="Line 27"/>
              <p:cNvSpPr>
                <a:spLocks noChangeShapeType="1"/>
              </p:cNvSpPr>
              <p:nvPr/>
            </p:nvSpPr>
            <p:spPr bwMode="auto">
              <a:xfrm>
                <a:off x="3757" y="1615"/>
                <a:ext cx="0" cy="7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4" name="Line 28"/>
              <p:cNvSpPr>
                <a:spLocks noChangeShapeType="1"/>
              </p:cNvSpPr>
              <p:nvPr/>
            </p:nvSpPr>
            <p:spPr bwMode="auto">
              <a:xfrm>
                <a:off x="3330" y="1615"/>
                <a:ext cx="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5" name="Line 29"/>
              <p:cNvSpPr>
                <a:spLocks noChangeShapeType="1"/>
              </p:cNvSpPr>
              <p:nvPr/>
            </p:nvSpPr>
            <p:spPr bwMode="auto">
              <a:xfrm rot="-5400000">
                <a:off x="4065" y="1100"/>
                <a:ext cx="0" cy="5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6" name="Line 30"/>
              <p:cNvSpPr>
                <a:spLocks noChangeShapeType="1"/>
              </p:cNvSpPr>
              <p:nvPr/>
            </p:nvSpPr>
            <p:spPr bwMode="auto">
              <a:xfrm>
                <a:off x="4343" y="1374"/>
                <a:ext cx="0" cy="9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7" name="Line 31"/>
              <p:cNvSpPr>
                <a:spLocks noChangeShapeType="1"/>
              </p:cNvSpPr>
              <p:nvPr/>
            </p:nvSpPr>
            <p:spPr bwMode="auto">
              <a:xfrm>
                <a:off x="3791" y="1374"/>
                <a:ext cx="0" cy="9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8" name="Line 32"/>
              <p:cNvSpPr>
                <a:spLocks noChangeShapeType="1"/>
              </p:cNvSpPr>
              <p:nvPr/>
            </p:nvSpPr>
            <p:spPr bwMode="auto">
              <a:xfrm>
                <a:off x="1842" y="2343"/>
                <a:ext cx="0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9" name="Text Box 33"/>
              <p:cNvSpPr txBox="1">
                <a:spLocks noChangeArrowheads="1"/>
              </p:cNvSpPr>
              <p:nvPr/>
            </p:nvSpPr>
            <p:spPr bwMode="auto">
              <a:xfrm>
                <a:off x="1435" y="2516"/>
                <a:ext cx="876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D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同时请求中断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7730" name="Line 34"/>
              <p:cNvSpPr>
                <a:spLocks noChangeShapeType="1"/>
              </p:cNvSpPr>
              <p:nvPr/>
            </p:nvSpPr>
            <p:spPr bwMode="auto">
              <a:xfrm>
                <a:off x="3748" y="2343"/>
                <a:ext cx="0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31" name="Line 35"/>
              <p:cNvSpPr>
                <a:spLocks noChangeShapeType="1"/>
              </p:cNvSpPr>
              <p:nvPr/>
            </p:nvSpPr>
            <p:spPr bwMode="auto">
              <a:xfrm>
                <a:off x="800" y="207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32" name="Line 36"/>
              <p:cNvSpPr>
                <a:spLocks noChangeShapeType="1"/>
              </p:cNvSpPr>
              <p:nvPr/>
            </p:nvSpPr>
            <p:spPr bwMode="auto">
              <a:xfrm>
                <a:off x="800" y="1851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33" name="Line 37"/>
              <p:cNvSpPr>
                <a:spLocks noChangeShapeType="1"/>
              </p:cNvSpPr>
              <p:nvPr/>
            </p:nvSpPr>
            <p:spPr bwMode="auto">
              <a:xfrm>
                <a:off x="800" y="1621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7701" name="Text Box 38"/>
            <p:cNvSpPr txBox="1">
              <a:spLocks noChangeArrowheads="1"/>
            </p:cNvSpPr>
            <p:nvPr/>
          </p:nvSpPr>
          <p:spPr bwMode="auto">
            <a:xfrm>
              <a:off x="1475" y="3249"/>
              <a:ext cx="3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zh-CN" altLang="en-US" sz="2400">
                  <a:latin typeface="Times New Roman" panose="02020603050405020304" pitchFamily="18" charset="0"/>
                </a:rPr>
                <a:t>执行程序轨迹（原屏蔽字）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2201863" y="404813"/>
            <a:ext cx="69183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>
                <a:latin typeface="Times New Roman" panose="02020603050405020304" pitchFamily="18" charset="0"/>
              </a:rPr>
              <a:t>)  屏蔽技术可改变处理优先等级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73443" name="Rectangle 3"/>
          <p:cNvSpPr>
            <a:spLocks noChangeArrowheads="1"/>
          </p:cNvSpPr>
          <p:nvPr/>
        </p:nvSpPr>
        <p:spPr bwMode="auto">
          <a:xfrm>
            <a:off x="2201863" y="5084763"/>
            <a:ext cx="53990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</a:rPr>
              <a:t>5</a:t>
            </a:r>
            <a:r>
              <a:rPr lang="zh-CN" altLang="en-US" sz="3200">
                <a:latin typeface="Times New Roman" panose="02020603050405020304" pitchFamily="18" charset="0"/>
              </a:rPr>
              <a:t>)  屏蔽技术的其他作用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73445" name="Text Box 5"/>
          <p:cNvSpPr txBox="1">
            <a:spLocks noChangeArrowheads="1"/>
          </p:cNvSpPr>
          <p:nvPr/>
        </p:nvSpPr>
        <p:spPr bwMode="auto">
          <a:xfrm>
            <a:off x="2927350" y="6213475"/>
            <a:ext cx="402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便于程序控制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3446" name="Text Box 6"/>
          <p:cNvSpPr txBox="1">
            <a:spLocks noChangeArrowheads="1"/>
          </p:cNvSpPr>
          <p:nvPr/>
        </p:nvSpPr>
        <p:spPr bwMode="auto">
          <a:xfrm>
            <a:off x="2927350" y="5708650"/>
            <a:ext cx="6313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可以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人为地屏蔽 </a:t>
            </a:r>
            <a:r>
              <a:rPr lang="zh-CN" altLang="en-US" sz="2400">
                <a:latin typeface="Times New Roman" panose="02020603050405020304" pitchFamily="18" charset="0"/>
              </a:rPr>
              <a:t>某个中断源的请求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73447" name="Group 7"/>
          <p:cNvGrpSpPr/>
          <p:nvPr/>
        </p:nvGrpSpPr>
        <p:grpSpPr bwMode="auto">
          <a:xfrm>
            <a:off x="2927350" y="1268413"/>
            <a:ext cx="6337300" cy="3625850"/>
            <a:chOff x="793" y="799"/>
            <a:chExt cx="3992" cy="2284"/>
          </a:xfrm>
        </p:grpSpPr>
        <p:grpSp>
          <p:nvGrpSpPr>
            <p:cNvPr id="158727" name="Group 8"/>
            <p:cNvGrpSpPr/>
            <p:nvPr/>
          </p:nvGrpSpPr>
          <p:grpSpPr bwMode="auto">
            <a:xfrm>
              <a:off x="793" y="799"/>
              <a:ext cx="3992" cy="1859"/>
              <a:chOff x="793" y="890"/>
              <a:chExt cx="3992" cy="1859"/>
            </a:xfrm>
          </p:grpSpPr>
          <p:sp>
            <p:nvSpPr>
              <p:cNvPr id="158729" name="Text Box 9"/>
              <p:cNvSpPr txBox="1">
                <a:spLocks noChangeArrowheads="1"/>
              </p:cNvSpPr>
              <p:nvPr/>
            </p:nvSpPr>
            <p:spPr bwMode="auto">
              <a:xfrm>
                <a:off x="1071" y="890"/>
                <a:ext cx="675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>
                    <a:latin typeface="Times New Roman" panose="02020603050405020304" pitchFamily="18" charset="0"/>
                  </a:rPr>
                  <a:t>服务程序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0" name="Text Box 10"/>
              <p:cNvSpPr txBox="1">
                <a:spLocks noChangeArrowheads="1"/>
              </p:cNvSpPr>
              <p:nvPr/>
            </p:nvSpPr>
            <p:spPr bwMode="auto">
              <a:xfrm>
                <a:off x="2847" y="2257"/>
                <a:ext cx="577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处理完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1" name="Text Box 11"/>
              <p:cNvSpPr txBox="1">
                <a:spLocks noChangeArrowheads="1"/>
              </p:cNvSpPr>
              <p:nvPr/>
            </p:nvSpPr>
            <p:spPr bwMode="auto">
              <a:xfrm>
                <a:off x="3190" y="2426"/>
                <a:ext cx="552" cy="1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处理完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2" name="Text Box 12"/>
              <p:cNvSpPr txBox="1">
                <a:spLocks noChangeArrowheads="1"/>
              </p:cNvSpPr>
              <p:nvPr/>
            </p:nvSpPr>
            <p:spPr bwMode="auto">
              <a:xfrm>
                <a:off x="3763" y="2257"/>
                <a:ext cx="659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处理完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3" name="Text Box 13"/>
              <p:cNvSpPr txBox="1">
                <a:spLocks noChangeArrowheads="1"/>
              </p:cNvSpPr>
              <p:nvPr/>
            </p:nvSpPr>
            <p:spPr bwMode="auto">
              <a:xfrm>
                <a:off x="2092" y="2257"/>
                <a:ext cx="607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处理完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4" name="Text Box 14"/>
              <p:cNvSpPr txBox="1">
                <a:spLocks noChangeArrowheads="1"/>
              </p:cNvSpPr>
              <p:nvPr/>
            </p:nvSpPr>
            <p:spPr bwMode="auto">
              <a:xfrm>
                <a:off x="4518" y="2126"/>
                <a:ext cx="26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Times New Roman" panose="02020603050405020304" pitchFamily="18" charset="0"/>
                  </a:rPr>
                  <a:t>t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5" name="Line 15"/>
              <p:cNvSpPr>
                <a:spLocks noChangeShapeType="1"/>
              </p:cNvSpPr>
              <p:nvPr/>
            </p:nvSpPr>
            <p:spPr bwMode="auto">
              <a:xfrm>
                <a:off x="1290" y="2257"/>
                <a:ext cx="3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36" name="Line 16"/>
              <p:cNvSpPr>
                <a:spLocks noChangeShapeType="1"/>
              </p:cNvSpPr>
              <p:nvPr/>
            </p:nvSpPr>
            <p:spPr bwMode="auto">
              <a:xfrm>
                <a:off x="1290" y="1049"/>
                <a:ext cx="0" cy="12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37" name="Text Box 17"/>
              <p:cNvSpPr txBox="1">
                <a:spLocks noChangeArrowheads="1"/>
              </p:cNvSpPr>
              <p:nvPr/>
            </p:nvSpPr>
            <p:spPr bwMode="auto">
              <a:xfrm>
                <a:off x="793" y="2095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>
                    <a:latin typeface="Times New Roman" panose="02020603050405020304" pitchFamily="18" charset="0"/>
                  </a:rPr>
                  <a:t>主程序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8" name="Text Box 18"/>
              <p:cNvSpPr txBox="1">
                <a:spLocks noChangeArrowheads="1"/>
              </p:cNvSpPr>
              <p:nvPr/>
            </p:nvSpPr>
            <p:spPr bwMode="auto">
              <a:xfrm>
                <a:off x="793" y="1806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39" name="Text Box 19"/>
              <p:cNvSpPr txBox="1">
                <a:spLocks noChangeArrowheads="1"/>
              </p:cNvSpPr>
              <p:nvPr/>
            </p:nvSpPr>
            <p:spPr bwMode="auto">
              <a:xfrm>
                <a:off x="793" y="1593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40" name="Text Box 20"/>
              <p:cNvSpPr txBox="1">
                <a:spLocks noChangeArrowheads="1"/>
              </p:cNvSpPr>
              <p:nvPr/>
            </p:nvSpPr>
            <p:spPr bwMode="auto">
              <a:xfrm>
                <a:off x="793" y="1362"/>
                <a:ext cx="468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41" name="Text Box 21"/>
              <p:cNvSpPr txBox="1">
                <a:spLocks noChangeArrowheads="1"/>
              </p:cNvSpPr>
              <p:nvPr/>
            </p:nvSpPr>
            <p:spPr bwMode="auto">
              <a:xfrm>
                <a:off x="793" y="1130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程序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42" name="Line 22"/>
              <p:cNvSpPr>
                <a:spLocks noChangeShapeType="1"/>
              </p:cNvSpPr>
              <p:nvPr/>
            </p:nvSpPr>
            <p:spPr bwMode="auto">
              <a:xfrm>
                <a:off x="1796" y="2004"/>
                <a:ext cx="0" cy="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3" name="Line 23"/>
              <p:cNvSpPr>
                <a:spLocks noChangeShapeType="1"/>
              </p:cNvSpPr>
              <p:nvPr/>
            </p:nvSpPr>
            <p:spPr bwMode="auto">
              <a:xfrm>
                <a:off x="2339" y="2004"/>
                <a:ext cx="0" cy="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4" name="Line 24"/>
              <p:cNvSpPr>
                <a:spLocks noChangeShapeType="1"/>
              </p:cNvSpPr>
              <p:nvPr/>
            </p:nvSpPr>
            <p:spPr bwMode="auto">
              <a:xfrm rot="-5400000">
                <a:off x="2065" y="1724"/>
                <a:ext cx="0" cy="5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5" name="Line 25"/>
              <p:cNvSpPr>
                <a:spLocks noChangeShapeType="1"/>
              </p:cNvSpPr>
              <p:nvPr/>
            </p:nvSpPr>
            <p:spPr bwMode="auto">
              <a:xfrm>
                <a:off x="2369" y="1766"/>
                <a:ext cx="0" cy="4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6" name="Line 26"/>
              <p:cNvSpPr>
                <a:spLocks noChangeShapeType="1"/>
              </p:cNvSpPr>
              <p:nvPr/>
            </p:nvSpPr>
            <p:spPr bwMode="auto">
              <a:xfrm>
                <a:off x="2455" y="1553"/>
                <a:ext cx="0" cy="2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7" name="Line 27"/>
              <p:cNvSpPr>
                <a:spLocks noChangeShapeType="1"/>
              </p:cNvSpPr>
              <p:nvPr/>
            </p:nvSpPr>
            <p:spPr bwMode="auto">
              <a:xfrm rot="-5400000">
                <a:off x="2411" y="1720"/>
                <a:ext cx="0" cy="10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8" name="Line 28"/>
              <p:cNvSpPr>
                <a:spLocks noChangeShapeType="1"/>
              </p:cNvSpPr>
              <p:nvPr/>
            </p:nvSpPr>
            <p:spPr bwMode="auto">
              <a:xfrm rot="-5400000">
                <a:off x="3222" y="1387"/>
                <a:ext cx="0" cy="3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49" name="Line 29"/>
              <p:cNvSpPr>
                <a:spLocks noChangeShapeType="1"/>
              </p:cNvSpPr>
              <p:nvPr/>
            </p:nvSpPr>
            <p:spPr bwMode="auto">
              <a:xfrm rot="-5400000">
                <a:off x="2804" y="1071"/>
                <a:ext cx="0" cy="5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0" name="Line 30"/>
              <p:cNvSpPr>
                <a:spLocks noChangeShapeType="1"/>
              </p:cNvSpPr>
              <p:nvPr/>
            </p:nvSpPr>
            <p:spPr bwMode="auto">
              <a:xfrm>
                <a:off x="3973" y="1773"/>
                <a:ext cx="0" cy="4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1" name="Line 31"/>
              <p:cNvSpPr>
                <a:spLocks noChangeShapeType="1"/>
              </p:cNvSpPr>
              <p:nvPr/>
            </p:nvSpPr>
            <p:spPr bwMode="auto">
              <a:xfrm>
                <a:off x="1796" y="225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2" name="Text Box 32"/>
              <p:cNvSpPr txBox="1">
                <a:spLocks noChangeArrowheads="1"/>
              </p:cNvSpPr>
              <p:nvPr/>
            </p:nvSpPr>
            <p:spPr bwMode="auto">
              <a:xfrm>
                <a:off x="1424" y="2426"/>
                <a:ext cx="912" cy="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1600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>
                    <a:latin typeface="Times New Roman" panose="02020603050405020304" pitchFamily="18" charset="0"/>
                  </a:rPr>
                  <a:t>同时请求中断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8753" name="Line 33"/>
              <p:cNvSpPr>
                <a:spLocks noChangeShapeType="1"/>
              </p:cNvSpPr>
              <p:nvPr/>
            </p:nvSpPr>
            <p:spPr bwMode="auto">
              <a:xfrm>
                <a:off x="3391" y="225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4" name="Line 34"/>
              <p:cNvSpPr>
                <a:spLocks noChangeShapeType="1"/>
              </p:cNvSpPr>
              <p:nvPr/>
            </p:nvSpPr>
            <p:spPr bwMode="auto">
              <a:xfrm rot="-5400000">
                <a:off x="2509" y="1506"/>
                <a:ext cx="0" cy="10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5" name="Line 35"/>
              <p:cNvSpPr>
                <a:spLocks noChangeShapeType="1"/>
              </p:cNvSpPr>
              <p:nvPr/>
            </p:nvSpPr>
            <p:spPr bwMode="auto">
              <a:xfrm>
                <a:off x="2551" y="1326"/>
                <a:ext cx="0" cy="2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6" name="Line 36"/>
              <p:cNvSpPr>
                <a:spLocks noChangeShapeType="1"/>
              </p:cNvSpPr>
              <p:nvPr/>
            </p:nvSpPr>
            <p:spPr bwMode="auto">
              <a:xfrm>
                <a:off x="3057" y="1326"/>
                <a:ext cx="0" cy="2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7" name="Line 37"/>
              <p:cNvSpPr>
                <a:spLocks noChangeShapeType="1"/>
              </p:cNvSpPr>
              <p:nvPr/>
            </p:nvSpPr>
            <p:spPr bwMode="auto">
              <a:xfrm>
                <a:off x="3381" y="1553"/>
                <a:ext cx="0" cy="2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8" name="Line 38"/>
              <p:cNvSpPr>
                <a:spLocks noChangeShapeType="1"/>
              </p:cNvSpPr>
              <p:nvPr/>
            </p:nvSpPr>
            <p:spPr bwMode="auto">
              <a:xfrm rot="-5400000">
                <a:off x="3682" y="1475"/>
                <a:ext cx="0" cy="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59" name="Line 39"/>
              <p:cNvSpPr>
                <a:spLocks noChangeShapeType="1"/>
              </p:cNvSpPr>
              <p:nvPr/>
            </p:nvSpPr>
            <p:spPr bwMode="auto">
              <a:xfrm>
                <a:off x="3391" y="1783"/>
                <a:ext cx="0" cy="4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60" name="Line 40"/>
              <p:cNvSpPr>
                <a:spLocks noChangeShapeType="1"/>
              </p:cNvSpPr>
              <p:nvPr/>
            </p:nvSpPr>
            <p:spPr bwMode="auto">
              <a:xfrm>
                <a:off x="3059" y="1543"/>
                <a:ext cx="0" cy="7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61" name="Line 41"/>
              <p:cNvSpPr>
                <a:spLocks noChangeShapeType="1"/>
              </p:cNvSpPr>
              <p:nvPr/>
            </p:nvSpPr>
            <p:spPr bwMode="auto">
              <a:xfrm>
                <a:off x="839" y="2002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62" name="Line 42"/>
              <p:cNvSpPr>
                <a:spLocks noChangeShapeType="1"/>
              </p:cNvSpPr>
              <p:nvPr/>
            </p:nvSpPr>
            <p:spPr bwMode="auto">
              <a:xfrm>
                <a:off x="839" y="1780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63" name="Line 43"/>
              <p:cNvSpPr>
                <a:spLocks noChangeShapeType="1"/>
              </p:cNvSpPr>
              <p:nvPr/>
            </p:nvSpPr>
            <p:spPr bwMode="auto">
              <a:xfrm>
                <a:off x="839" y="1557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764" name="Line 44"/>
              <p:cNvSpPr>
                <a:spLocks noChangeShapeType="1"/>
              </p:cNvSpPr>
              <p:nvPr/>
            </p:nvSpPr>
            <p:spPr bwMode="auto">
              <a:xfrm>
                <a:off x="839" y="1314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8728" name="Text Box 45"/>
            <p:cNvSpPr txBox="1">
              <a:spLocks noChangeArrowheads="1"/>
            </p:cNvSpPr>
            <p:nvPr/>
          </p:nvSpPr>
          <p:spPr bwMode="auto">
            <a:xfrm>
              <a:off x="1293" y="2795"/>
              <a:ext cx="3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CPU </a:t>
              </a:r>
              <a:r>
                <a:rPr lang="zh-CN" altLang="en-US" sz="2400">
                  <a:latin typeface="Times New Roman" panose="02020603050405020304" pitchFamily="18" charset="0"/>
                </a:rPr>
                <a:t>执行程序轨迹（新屏蔽字）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autoUpdateAnimBg="0"/>
      <p:bldP spid="573445" grpId="0" autoUpdateAnimBg="0"/>
      <p:bldP spid="57344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ChangeArrowheads="1"/>
          </p:cNvSpPr>
          <p:nvPr/>
        </p:nvSpPr>
        <p:spPr bwMode="auto">
          <a:xfrm>
            <a:off x="2220913" y="1295400"/>
            <a:ext cx="53990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断点进栈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4467" name="Rectangle 3"/>
          <p:cNvSpPr>
            <a:spLocks noChangeArrowheads="1"/>
          </p:cNvSpPr>
          <p:nvPr/>
        </p:nvSpPr>
        <p:spPr bwMode="auto">
          <a:xfrm>
            <a:off x="2220913" y="1981200"/>
            <a:ext cx="4318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 断点存入“ 0 ” 地址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4468" name="Rectangle 4"/>
          <p:cNvSpPr>
            <a:spLocks noChangeArrowheads="1"/>
          </p:cNvSpPr>
          <p:nvPr/>
        </p:nvSpPr>
        <p:spPr bwMode="auto">
          <a:xfrm>
            <a:off x="6477000" y="1981200"/>
            <a:ext cx="28797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>
                <a:latin typeface="Times New Roman" panose="02020603050405020304" pitchFamily="18" charset="0"/>
              </a:rPr>
              <a:t>完成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4469" name="Rectangle 5"/>
          <p:cNvSpPr>
            <a:spLocks noChangeArrowheads="1"/>
          </p:cNvSpPr>
          <p:nvPr/>
        </p:nvSpPr>
        <p:spPr bwMode="auto">
          <a:xfrm>
            <a:off x="2743200" y="2819400"/>
            <a:ext cx="18002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中断周期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74470" name="Rectangle 6"/>
          <p:cNvSpPr>
            <a:spLocks noChangeArrowheads="1"/>
          </p:cNvSpPr>
          <p:nvPr/>
        </p:nvSpPr>
        <p:spPr bwMode="auto">
          <a:xfrm>
            <a:off x="4648200" y="3411538"/>
            <a:ext cx="2159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命令存储器写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74471" name="Group 7"/>
          <p:cNvGrpSpPr/>
          <p:nvPr/>
        </p:nvGrpSpPr>
        <p:grpSpPr bwMode="auto">
          <a:xfrm>
            <a:off x="4648200" y="2819400"/>
            <a:ext cx="1800225" cy="431800"/>
            <a:chOff x="1968" y="1776"/>
            <a:chExt cx="1134" cy="272"/>
          </a:xfrm>
        </p:grpSpPr>
        <p:sp>
          <p:nvSpPr>
            <p:cNvPr id="159767" name="Rectangle 8"/>
            <p:cNvSpPr>
              <a:spLocks noChangeArrowheads="1"/>
            </p:cNvSpPr>
            <p:nvPr/>
          </p:nvSpPr>
          <p:spPr bwMode="auto">
            <a:xfrm>
              <a:off x="1968" y="1776"/>
              <a:ext cx="113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        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endParaRPr lang="en-US" altLang="zh-CN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9768" name="Line 9"/>
            <p:cNvSpPr>
              <a:spLocks noChangeShapeType="1"/>
            </p:cNvSpPr>
            <p:nvPr/>
          </p:nvSpPr>
          <p:spPr bwMode="auto">
            <a:xfrm>
              <a:off x="2201" y="1908"/>
              <a:ext cx="295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74474" name="Group 10"/>
          <p:cNvGrpSpPr/>
          <p:nvPr/>
        </p:nvGrpSpPr>
        <p:grpSpPr bwMode="auto">
          <a:xfrm>
            <a:off x="4648200" y="4003675"/>
            <a:ext cx="2159000" cy="431800"/>
            <a:chOff x="1968" y="2522"/>
            <a:chExt cx="1360" cy="272"/>
          </a:xfrm>
        </p:grpSpPr>
        <p:sp>
          <p:nvSpPr>
            <p:cNvPr id="159765" name="Rectangle 11"/>
            <p:cNvSpPr>
              <a:spLocks noChangeArrowheads="1"/>
            </p:cNvSpPr>
            <p:nvPr/>
          </p:nvSpPr>
          <p:spPr bwMode="auto">
            <a:xfrm>
              <a:off x="1968" y="2522"/>
              <a:ext cx="136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         MDR</a:t>
              </a:r>
              <a:endParaRPr lang="en-US" altLang="zh-CN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9766" name="Line 12"/>
            <p:cNvSpPr>
              <a:spLocks noChangeShapeType="1"/>
            </p:cNvSpPr>
            <p:nvPr/>
          </p:nvSpPr>
          <p:spPr bwMode="auto">
            <a:xfrm>
              <a:off x="2393" y="2654"/>
              <a:ext cx="295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74477" name="Group 13"/>
          <p:cNvGrpSpPr/>
          <p:nvPr/>
        </p:nvGrpSpPr>
        <p:grpSpPr bwMode="auto">
          <a:xfrm>
            <a:off x="4648200" y="4597400"/>
            <a:ext cx="4318000" cy="431800"/>
            <a:chOff x="1968" y="2896"/>
            <a:chExt cx="2720" cy="272"/>
          </a:xfrm>
        </p:grpSpPr>
        <p:sp>
          <p:nvSpPr>
            <p:cNvPr id="159763" name="Rectangle 14"/>
            <p:cNvSpPr>
              <a:spLocks noChangeArrowheads="1"/>
            </p:cNvSpPr>
            <p:nvPr/>
          </p:nvSpPr>
          <p:spPr bwMode="auto">
            <a:xfrm>
              <a:off x="1968" y="2896"/>
              <a:ext cx="272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MDR)      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存入存储器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9764" name="Line 15"/>
            <p:cNvSpPr>
              <a:spLocks noChangeShapeType="1"/>
            </p:cNvSpPr>
            <p:nvPr/>
          </p:nvSpPr>
          <p:spPr bwMode="auto">
            <a:xfrm>
              <a:off x="2729" y="3028"/>
              <a:ext cx="295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74480" name="Rectangle 16"/>
          <p:cNvSpPr>
            <a:spLocks noChangeArrowheads="1"/>
          </p:cNvSpPr>
          <p:nvPr/>
        </p:nvSpPr>
        <p:spPr bwMode="auto">
          <a:xfrm>
            <a:off x="2743200" y="5283200"/>
            <a:ext cx="64785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三次中断，三个断点都存入 “ 0 ” 地址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59755" name="Text Box 17"/>
          <p:cNvSpPr txBox="1">
            <a:spLocks noChangeArrowheads="1"/>
          </p:cNvSpPr>
          <p:nvPr/>
        </p:nvSpPr>
        <p:spPr bwMode="auto">
          <a:xfrm>
            <a:off x="1752600" y="425450"/>
            <a:ext cx="563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4. 多重中断的断点保护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574482" name="Group 18"/>
          <p:cNvGrpSpPr/>
          <p:nvPr/>
        </p:nvGrpSpPr>
        <p:grpSpPr bwMode="auto">
          <a:xfrm>
            <a:off x="7146925" y="4003675"/>
            <a:ext cx="2232025" cy="461963"/>
            <a:chOff x="3542" y="2522"/>
            <a:chExt cx="1406" cy="291"/>
          </a:xfrm>
        </p:grpSpPr>
        <p:sp>
          <p:nvSpPr>
            <p:cNvPr id="159761" name="Text Box 19"/>
            <p:cNvSpPr txBox="1">
              <a:spLocks noChangeArrowheads="1"/>
            </p:cNvSpPr>
            <p:nvPr/>
          </p:nvSpPr>
          <p:spPr bwMode="auto">
            <a:xfrm>
              <a:off x="3542" y="2522"/>
              <a:ext cx="14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断点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MDR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59762" name="Line 20"/>
            <p:cNvSpPr>
              <a:spLocks noChangeShapeType="1"/>
            </p:cNvSpPr>
            <p:nvPr/>
          </p:nvSpPr>
          <p:spPr bwMode="auto">
            <a:xfrm>
              <a:off x="4032" y="2663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74485" name="Group 21"/>
          <p:cNvGrpSpPr/>
          <p:nvPr/>
        </p:nvGrpSpPr>
        <p:grpSpPr bwMode="auto">
          <a:xfrm>
            <a:off x="2743200" y="5881688"/>
            <a:ext cx="4289425" cy="519112"/>
            <a:chOff x="768" y="3705"/>
            <a:chExt cx="2702" cy="327"/>
          </a:xfrm>
        </p:grpSpPr>
        <p:sp>
          <p:nvSpPr>
            <p:cNvPr id="159759" name="Rectangle 22"/>
            <p:cNvSpPr>
              <a:spLocks noChangeArrowheads="1"/>
            </p:cNvSpPr>
            <p:nvPr/>
          </p:nvSpPr>
          <p:spPr bwMode="auto">
            <a:xfrm>
              <a:off x="768" y="3760"/>
              <a:ext cx="38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4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？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9760" name="Text Box 23"/>
            <p:cNvSpPr txBox="1">
              <a:spLocks noChangeArrowheads="1"/>
            </p:cNvSpPr>
            <p:nvPr/>
          </p:nvSpPr>
          <p:spPr bwMode="auto">
            <a:xfrm>
              <a:off x="1104" y="3705"/>
              <a:ext cx="2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如何保证断点不丢失？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574488" name="Rectangle 24"/>
          <p:cNvSpPr>
            <a:spLocks noChangeArrowheads="1"/>
          </p:cNvSpPr>
          <p:nvPr/>
        </p:nvSpPr>
        <p:spPr bwMode="auto">
          <a:xfrm>
            <a:off x="6477000" y="1295400"/>
            <a:ext cx="28797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 </a:t>
            </a:r>
            <a:r>
              <a:rPr lang="zh-CN" altLang="en-US">
                <a:latin typeface="Times New Roman" panose="02020603050405020304" pitchFamily="18" charset="0"/>
              </a:rPr>
              <a:t>完成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7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7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7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6" grpId="0" autoUpdateAnimBg="0"/>
      <p:bldP spid="574467" grpId="0" autoUpdateAnimBg="0"/>
      <p:bldP spid="574468" grpId="0" autoUpdateAnimBg="0"/>
      <p:bldP spid="574469" grpId="0" autoUpdateAnimBg="0"/>
      <p:bldP spid="574470" grpId="0" autoUpdateAnimBg="0"/>
      <p:bldP spid="574480" grpId="0" autoUpdateAnimBg="0"/>
      <p:bldP spid="57448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/>
          <p:cNvSpPr txBox="1">
            <a:spLocks noChangeArrowheads="1"/>
          </p:cNvSpPr>
          <p:nvPr/>
        </p:nvSpPr>
        <p:spPr bwMode="auto">
          <a:xfrm>
            <a:off x="1905000" y="32385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(3)  程序断点存入 “ 0 ” 地址的断点保护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575491" name="Group 3"/>
          <p:cNvGrpSpPr/>
          <p:nvPr/>
        </p:nvGrpSpPr>
        <p:grpSpPr bwMode="auto">
          <a:xfrm>
            <a:off x="2936875" y="1571625"/>
            <a:ext cx="3200400" cy="381000"/>
            <a:chOff x="890" y="1008"/>
            <a:chExt cx="2016" cy="240"/>
          </a:xfrm>
        </p:grpSpPr>
        <p:sp>
          <p:nvSpPr>
            <p:cNvPr id="160822" name="Rectangle 4"/>
            <p:cNvSpPr>
              <a:spLocks noChangeArrowheads="1"/>
            </p:cNvSpPr>
            <p:nvPr/>
          </p:nvSpPr>
          <p:spPr bwMode="auto">
            <a:xfrm>
              <a:off x="1562" y="1008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0823" name="Rectangle 5"/>
            <p:cNvSpPr>
              <a:spLocks noChangeArrowheads="1"/>
            </p:cNvSpPr>
            <p:nvPr/>
          </p:nvSpPr>
          <p:spPr bwMode="auto">
            <a:xfrm>
              <a:off x="890" y="1008"/>
              <a:ext cx="45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494" name="Group 6"/>
          <p:cNvGrpSpPr/>
          <p:nvPr/>
        </p:nvGrpSpPr>
        <p:grpSpPr bwMode="auto">
          <a:xfrm>
            <a:off x="2936875" y="1905000"/>
            <a:ext cx="3200400" cy="381000"/>
            <a:chOff x="890" y="1200"/>
            <a:chExt cx="2016" cy="240"/>
          </a:xfrm>
        </p:grpSpPr>
        <p:sp>
          <p:nvSpPr>
            <p:cNvPr id="160820" name="Rectangle 7"/>
            <p:cNvSpPr>
              <a:spLocks noChangeArrowheads="1"/>
            </p:cNvSpPr>
            <p:nvPr/>
          </p:nvSpPr>
          <p:spPr bwMode="auto">
            <a:xfrm>
              <a:off x="890" y="1200"/>
              <a:ext cx="45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0821" name="Rectangle 8"/>
            <p:cNvSpPr>
              <a:spLocks noChangeArrowheads="1"/>
            </p:cNvSpPr>
            <p:nvPr/>
          </p:nvSpPr>
          <p:spPr bwMode="auto">
            <a:xfrm>
              <a:off x="1562" y="1200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JMP   SERVE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497" name="Group 9"/>
          <p:cNvGrpSpPr/>
          <p:nvPr/>
        </p:nvGrpSpPr>
        <p:grpSpPr bwMode="auto">
          <a:xfrm>
            <a:off x="2479675" y="5791200"/>
            <a:ext cx="3581400" cy="457200"/>
            <a:chOff x="602" y="3648"/>
            <a:chExt cx="2256" cy="288"/>
          </a:xfrm>
        </p:grpSpPr>
        <p:sp>
          <p:nvSpPr>
            <p:cNvPr id="160818" name="Rectangle 10"/>
            <p:cNvSpPr>
              <a:spLocks noChangeArrowheads="1"/>
            </p:cNvSpPr>
            <p:nvPr/>
          </p:nvSpPr>
          <p:spPr bwMode="auto">
            <a:xfrm>
              <a:off x="1514" y="3696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0819" name="Rectangle 11"/>
            <p:cNvSpPr>
              <a:spLocks noChangeArrowheads="1"/>
            </p:cNvSpPr>
            <p:nvPr/>
          </p:nvSpPr>
          <p:spPr bwMode="auto">
            <a:xfrm>
              <a:off x="602" y="3648"/>
              <a:ext cx="79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SAVE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500" name="Group 12"/>
          <p:cNvGrpSpPr/>
          <p:nvPr/>
        </p:nvGrpSpPr>
        <p:grpSpPr bwMode="auto">
          <a:xfrm>
            <a:off x="2403475" y="6161088"/>
            <a:ext cx="3657600" cy="415925"/>
            <a:chOff x="554" y="3888"/>
            <a:chExt cx="2304" cy="262"/>
          </a:xfrm>
        </p:grpSpPr>
        <p:sp>
          <p:nvSpPr>
            <p:cNvPr id="160816" name="Rectangle 13"/>
            <p:cNvSpPr>
              <a:spLocks noChangeArrowheads="1"/>
            </p:cNvSpPr>
            <p:nvPr/>
          </p:nvSpPr>
          <p:spPr bwMode="auto">
            <a:xfrm>
              <a:off x="1514" y="3910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 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0817" name="Rectangle 14"/>
            <p:cNvSpPr>
              <a:spLocks noChangeArrowheads="1"/>
            </p:cNvSpPr>
            <p:nvPr/>
          </p:nvSpPr>
          <p:spPr bwMode="auto">
            <a:xfrm>
              <a:off x="554" y="3888"/>
              <a:ext cx="79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RETURN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503" name="Group 15"/>
          <p:cNvGrpSpPr/>
          <p:nvPr/>
        </p:nvGrpSpPr>
        <p:grpSpPr bwMode="auto">
          <a:xfrm>
            <a:off x="4003675" y="2438400"/>
            <a:ext cx="2133600" cy="841375"/>
            <a:chOff x="1562" y="1536"/>
            <a:chExt cx="1344" cy="530"/>
          </a:xfrm>
        </p:grpSpPr>
        <p:sp>
          <p:nvSpPr>
            <p:cNvPr id="160814" name="Rectangle 16"/>
            <p:cNvSpPr>
              <a:spLocks noChangeArrowheads="1"/>
            </p:cNvSpPr>
            <p:nvPr/>
          </p:nvSpPr>
          <p:spPr bwMode="auto">
            <a:xfrm>
              <a:off x="1562" y="1536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STA   SAVE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0815" name="Text Box 17"/>
            <p:cNvSpPr txBox="1">
              <a:spLocks noChangeArrowheads="1"/>
            </p:cNvSpPr>
            <p:nvPr/>
          </p:nvSpPr>
          <p:spPr bwMode="auto">
            <a:xfrm>
              <a:off x="1715" y="1814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506" name="Group 18"/>
          <p:cNvGrpSpPr/>
          <p:nvPr/>
        </p:nvGrpSpPr>
        <p:grpSpPr bwMode="auto">
          <a:xfrm>
            <a:off x="6888163" y="3354388"/>
            <a:ext cx="2338387" cy="608012"/>
            <a:chOff x="3379" y="2113"/>
            <a:chExt cx="1473" cy="383"/>
          </a:xfrm>
        </p:grpSpPr>
        <p:sp>
          <p:nvSpPr>
            <p:cNvPr id="160812" name="AutoShape 19"/>
            <p:cNvSpPr/>
            <p:nvPr/>
          </p:nvSpPr>
          <p:spPr bwMode="auto">
            <a:xfrm>
              <a:off x="3379" y="2113"/>
              <a:ext cx="70" cy="383"/>
            </a:xfrm>
            <a:prstGeom prst="rightBrace">
              <a:avLst>
                <a:gd name="adj1" fmla="val 4559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60813" name="Text Box 20"/>
            <p:cNvSpPr txBox="1">
              <a:spLocks noChangeArrowheads="1"/>
            </p:cNvSpPr>
            <p:nvPr/>
          </p:nvSpPr>
          <p:spPr bwMode="auto">
            <a:xfrm>
              <a:off x="3542" y="2179"/>
              <a:ext cx="13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地址内容转存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509" name="Group 21"/>
          <p:cNvGrpSpPr/>
          <p:nvPr/>
        </p:nvGrpSpPr>
        <p:grpSpPr bwMode="auto">
          <a:xfrm>
            <a:off x="6888163" y="4419600"/>
            <a:ext cx="2146300" cy="533400"/>
            <a:chOff x="3379" y="2784"/>
            <a:chExt cx="1352" cy="336"/>
          </a:xfrm>
        </p:grpSpPr>
        <p:sp>
          <p:nvSpPr>
            <p:cNvPr id="160810" name="AutoShape 22"/>
            <p:cNvSpPr/>
            <p:nvPr/>
          </p:nvSpPr>
          <p:spPr bwMode="auto">
            <a:xfrm>
              <a:off x="3379" y="2784"/>
              <a:ext cx="70" cy="336"/>
            </a:xfrm>
            <a:prstGeom prst="rightBrace">
              <a:avLst>
                <a:gd name="adj1" fmla="val 4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en-US" sz="800">
                <a:latin typeface="宋体" panose="02010600030101010101" pitchFamily="2" charset="-122"/>
              </a:endParaRPr>
            </a:p>
          </p:txBody>
        </p:sp>
        <p:sp>
          <p:nvSpPr>
            <p:cNvPr id="160811" name="Text Box 23"/>
            <p:cNvSpPr txBox="1">
              <a:spLocks noChangeArrowheads="1"/>
            </p:cNvSpPr>
            <p:nvPr/>
          </p:nvSpPr>
          <p:spPr bwMode="auto">
            <a:xfrm>
              <a:off x="3542" y="2803"/>
              <a:ext cx="118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其他服务内容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575521" name="Rectangle 33"/>
          <p:cNvSpPr>
            <a:spLocks noChangeArrowheads="1"/>
          </p:cNvSpPr>
          <p:nvPr/>
        </p:nvSpPr>
        <p:spPr bwMode="auto">
          <a:xfrm>
            <a:off x="2479675" y="2438400"/>
            <a:ext cx="12588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SERVE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5522" name="Rectangle 34"/>
          <p:cNvSpPr>
            <a:spLocks noChangeArrowheads="1"/>
          </p:cNvSpPr>
          <p:nvPr/>
        </p:nvSpPr>
        <p:spPr bwMode="auto">
          <a:xfrm>
            <a:off x="4003675" y="4983163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LDA   SAVE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75523" name="Rectangle 35"/>
          <p:cNvSpPr>
            <a:spLocks noChangeArrowheads="1"/>
          </p:cNvSpPr>
          <p:nvPr/>
        </p:nvSpPr>
        <p:spPr bwMode="auto">
          <a:xfrm>
            <a:off x="4003675" y="5410200"/>
            <a:ext cx="251936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JMP  @  RETURN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5524" name="Text Box 36"/>
          <p:cNvSpPr txBox="1">
            <a:spLocks noChangeArrowheads="1"/>
          </p:cNvSpPr>
          <p:nvPr/>
        </p:nvSpPr>
        <p:spPr bwMode="auto">
          <a:xfrm>
            <a:off x="7146925" y="1524000"/>
            <a:ext cx="160337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存程序断点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575525" name="Text Box 37"/>
          <p:cNvSpPr txBox="1">
            <a:spLocks noChangeArrowheads="1"/>
          </p:cNvSpPr>
          <p:nvPr/>
        </p:nvSpPr>
        <p:spPr bwMode="auto">
          <a:xfrm>
            <a:off x="7146925" y="1905000"/>
            <a:ext cx="17986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5 为向量地址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575526" name="Text Box 38"/>
          <p:cNvSpPr txBox="1">
            <a:spLocks noChangeArrowheads="1"/>
          </p:cNvSpPr>
          <p:nvPr/>
        </p:nvSpPr>
        <p:spPr bwMode="auto">
          <a:xfrm>
            <a:off x="4246563" y="4479925"/>
            <a:ext cx="5540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…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5527" name="Text Box 39"/>
          <p:cNvSpPr txBox="1">
            <a:spLocks noChangeArrowheads="1"/>
          </p:cNvSpPr>
          <p:nvPr/>
        </p:nvSpPr>
        <p:spPr bwMode="auto">
          <a:xfrm>
            <a:off x="7146925" y="2392363"/>
            <a:ext cx="13081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保护现场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5528" name="Text Box 40"/>
          <p:cNvSpPr txBox="1">
            <a:spLocks noChangeArrowheads="1"/>
          </p:cNvSpPr>
          <p:nvPr/>
        </p:nvSpPr>
        <p:spPr bwMode="auto">
          <a:xfrm>
            <a:off x="7146925" y="4983163"/>
            <a:ext cx="13081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恢复现场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5529" name="Text Box 41"/>
          <p:cNvSpPr txBox="1">
            <a:spLocks noChangeArrowheads="1"/>
          </p:cNvSpPr>
          <p:nvPr/>
        </p:nvSpPr>
        <p:spPr bwMode="auto">
          <a:xfrm>
            <a:off x="7146925" y="5410200"/>
            <a:ext cx="13081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间址返回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5530" name="Text Box 42"/>
          <p:cNvSpPr txBox="1">
            <a:spLocks noChangeArrowheads="1"/>
          </p:cNvSpPr>
          <p:nvPr/>
        </p:nvSpPr>
        <p:spPr bwMode="auto">
          <a:xfrm>
            <a:off x="7146925" y="5791200"/>
            <a:ext cx="26066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存放 </a:t>
            </a:r>
            <a:r>
              <a:rPr lang="en-US" altLang="zh-CN" sz="2200">
                <a:latin typeface="Times New Roman" panose="02020603050405020304" pitchFamily="18" charset="0"/>
              </a:rPr>
              <a:t>ACC </a:t>
            </a:r>
            <a:r>
              <a:rPr lang="zh-CN" altLang="en-US" sz="2200">
                <a:latin typeface="Times New Roman" panose="02020603050405020304" pitchFamily="18" charset="0"/>
              </a:rPr>
              <a:t>内容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5531" name="Text Box 43"/>
          <p:cNvSpPr txBox="1">
            <a:spLocks noChangeArrowheads="1"/>
          </p:cNvSpPr>
          <p:nvPr/>
        </p:nvSpPr>
        <p:spPr bwMode="auto">
          <a:xfrm>
            <a:off x="7146925" y="6161088"/>
            <a:ext cx="2149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转存 0 地址内容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5532" name="Text Box 44"/>
          <p:cNvSpPr txBox="1">
            <a:spLocks noChangeArrowheads="1"/>
          </p:cNvSpPr>
          <p:nvPr/>
        </p:nvSpPr>
        <p:spPr bwMode="auto">
          <a:xfrm>
            <a:off x="7146925" y="3992563"/>
            <a:ext cx="1036638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开中断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5533" name="Text Box 45"/>
          <p:cNvSpPr txBox="1">
            <a:spLocks noChangeArrowheads="1"/>
          </p:cNvSpPr>
          <p:nvPr/>
        </p:nvSpPr>
        <p:spPr bwMode="auto">
          <a:xfrm>
            <a:off x="3886200" y="3992563"/>
            <a:ext cx="72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ENI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75534" name="Group 46"/>
          <p:cNvGrpSpPr/>
          <p:nvPr/>
        </p:nvGrpSpPr>
        <p:grpSpPr bwMode="auto">
          <a:xfrm>
            <a:off x="3886200" y="3276600"/>
            <a:ext cx="2295525" cy="800100"/>
            <a:chOff x="1488" y="2064"/>
            <a:chExt cx="1446" cy="504"/>
          </a:xfrm>
        </p:grpSpPr>
        <p:sp>
          <p:nvSpPr>
            <p:cNvPr id="160808" name="Rectangle 47"/>
            <p:cNvSpPr>
              <a:spLocks noChangeArrowheads="1"/>
            </p:cNvSpPr>
            <p:nvPr/>
          </p:nvSpPr>
          <p:spPr bwMode="auto">
            <a:xfrm>
              <a:off x="1536" y="2064"/>
              <a:ext cx="134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LDA   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0809" name="Text Box 48"/>
            <p:cNvSpPr txBox="1">
              <a:spLocks noChangeArrowheads="1"/>
            </p:cNvSpPr>
            <p:nvPr/>
          </p:nvSpPr>
          <p:spPr bwMode="auto">
            <a:xfrm>
              <a:off x="1488" y="2280"/>
              <a:ext cx="1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STA   RETURN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5537" name="Group 49"/>
          <p:cNvGrpSpPr/>
          <p:nvPr/>
        </p:nvGrpSpPr>
        <p:grpSpPr bwMode="auto">
          <a:xfrm>
            <a:off x="2362200" y="3505200"/>
            <a:ext cx="1981200" cy="533400"/>
            <a:chOff x="528" y="2208"/>
            <a:chExt cx="1248" cy="336"/>
          </a:xfrm>
        </p:grpSpPr>
        <p:sp>
          <p:nvSpPr>
            <p:cNvPr id="160806" name="Text Box 50"/>
            <p:cNvSpPr txBox="1">
              <a:spLocks noChangeArrowheads="1"/>
            </p:cNvSpPr>
            <p:nvPr/>
          </p:nvSpPr>
          <p:spPr bwMode="auto">
            <a:xfrm>
              <a:off x="528" y="2208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置屏蔽字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0807" name="Line 51"/>
            <p:cNvSpPr>
              <a:spLocks noChangeShapeType="1"/>
            </p:cNvSpPr>
            <p:nvPr/>
          </p:nvSpPr>
          <p:spPr bwMode="auto">
            <a:xfrm>
              <a:off x="1056" y="2544"/>
              <a:ext cx="52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75548" name="Group 60"/>
          <p:cNvGrpSpPr/>
          <p:nvPr/>
        </p:nvGrpSpPr>
        <p:grpSpPr bwMode="auto">
          <a:xfrm>
            <a:off x="2133600" y="990600"/>
            <a:ext cx="7845425" cy="5664200"/>
            <a:chOff x="384" y="624"/>
            <a:chExt cx="4942" cy="3568"/>
          </a:xfrm>
        </p:grpSpPr>
        <p:grpSp>
          <p:nvGrpSpPr>
            <p:cNvPr id="160794" name="Group 59"/>
            <p:cNvGrpSpPr/>
            <p:nvPr/>
          </p:nvGrpSpPr>
          <p:grpSpPr bwMode="auto">
            <a:xfrm>
              <a:off x="384" y="624"/>
              <a:ext cx="4942" cy="3559"/>
              <a:chOff x="384" y="624"/>
              <a:chExt cx="4942" cy="3559"/>
            </a:xfrm>
          </p:grpSpPr>
          <p:sp>
            <p:nvSpPr>
              <p:cNvPr id="160798" name="Rectangle 25"/>
              <p:cNvSpPr>
                <a:spLocks noChangeArrowheads="1"/>
              </p:cNvSpPr>
              <p:nvPr/>
            </p:nvSpPr>
            <p:spPr bwMode="auto">
              <a:xfrm>
                <a:off x="672" y="672"/>
                <a:ext cx="52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地   址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799" name="Rectangle 26"/>
              <p:cNvSpPr>
                <a:spLocks noChangeArrowheads="1"/>
              </p:cNvSpPr>
              <p:nvPr/>
            </p:nvSpPr>
            <p:spPr bwMode="auto">
              <a:xfrm>
                <a:off x="1968" y="672"/>
                <a:ext cx="52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内     容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60800" name="Group 58"/>
              <p:cNvGrpSpPr/>
              <p:nvPr/>
            </p:nvGrpSpPr>
            <p:grpSpPr bwMode="auto">
              <a:xfrm>
                <a:off x="384" y="624"/>
                <a:ext cx="4942" cy="3559"/>
                <a:chOff x="384" y="624"/>
                <a:chExt cx="4942" cy="3559"/>
              </a:xfrm>
            </p:grpSpPr>
            <p:sp>
              <p:nvSpPr>
                <p:cNvPr id="160802" name="Line 28"/>
                <p:cNvSpPr>
                  <a:spLocks noChangeShapeType="1"/>
                </p:cNvSpPr>
                <p:nvPr/>
              </p:nvSpPr>
              <p:spPr bwMode="auto">
                <a:xfrm>
                  <a:off x="384" y="624"/>
                  <a:ext cx="49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803" name="Line 29"/>
                <p:cNvSpPr>
                  <a:spLocks noChangeShapeType="1"/>
                </p:cNvSpPr>
                <p:nvPr/>
              </p:nvSpPr>
              <p:spPr bwMode="auto">
                <a:xfrm>
                  <a:off x="384" y="960"/>
                  <a:ext cx="494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804" name="Line 30"/>
                <p:cNvSpPr>
                  <a:spLocks noChangeShapeType="1"/>
                </p:cNvSpPr>
                <p:nvPr/>
              </p:nvSpPr>
              <p:spPr bwMode="auto">
                <a:xfrm>
                  <a:off x="1440" y="624"/>
                  <a:ext cx="0" cy="355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805" name="Line 31"/>
                <p:cNvSpPr>
                  <a:spLocks noChangeShapeType="1"/>
                </p:cNvSpPr>
                <p:nvPr/>
              </p:nvSpPr>
              <p:spPr bwMode="auto">
                <a:xfrm>
                  <a:off x="3216" y="624"/>
                  <a:ext cx="0" cy="355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0801" name="Text Box 32"/>
              <p:cNvSpPr txBox="1">
                <a:spLocks noChangeArrowheads="1"/>
              </p:cNvSpPr>
              <p:nvPr/>
            </p:nvSpPr>
            <p:spPr bwMode="auto">
              <a:xfrm>
                <a:off x="3861" y="669"/>
                <a:ext cx="79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说      明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0795" name="Line 55"/>
            <p:cNvSpPr>
              <a:spLocks noChangeShapeType="1"/>
            </p:cNvSpPr>
            <p:nvPr/>
          </p:nvSpPr>
          <p:spPr bwMode="auto">
            <a:xfrm>
              <a:off x="384" y="4192"/>
              <a:ext cx="49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796" name="Line 56"/>
            <p:cNvSpPr>
              <a:spLocks noChangeShapeType="1"/>
            </p:cNvSpPr>
            <p:nvPr/>
          </p:nvSpPr>
          <p:spPr bwMode="auto">
            <a:xfrm>
              <a:off x="395" y="624"/>
              <a:ext cx="0" cy="35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797" name="Line 57"/>
            <p:cNvSpPr>
              <a:spLocks noChangeShapeType="1"/>
            </p:cNvSpPr>
            <p:nvPr/>
          </p:nvSpPr>
          <p:spPr bwMode="auto">
            <a:xfrm>
              <a:off x="5320" y="624"/>
              <a:ext cx="0" cy="35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7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7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7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7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7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7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7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7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7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7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57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5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5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21" grpId="0" autoUpdateAnimBg="0"/>
      <p:bldP spid="575522" grpId="0" autoUpdateAnimBg="0"/>
      <p:bldP spid="575523" grpId="0" autoUpdateAnimBg="0"/>
      <p:bldP spid="575524" grpId="0" autoUpdateAnimBg="0"/>
      <p:bldP spid="575525" grpId="0" autoUpdateAnimBg="0"/>
      <p:bldP spid="575526" grpId="0" autoUpdateAnimBg="0"/>
      <p:bldP spid="575527" grpId="0" autoUpdateAnimBg="0"/>
      <p:bldP spid="575528" grpId="0" autoUpdateAnimBg="0"/>
      <p:bldP spid="575529" grpId="0" autoUpdateAnimBg="0"/>
      <p:bldP spid="575530" grpId="0" autoUpdateAnimBg="0"/>
      <p:bldP spid="575531" grpId="0" autoUpdateAnimBg="0"/>
      <p:bldP spid="575532" grpId="0" autoUpdateAnimBg="0"/>
      <p:bldP spid="575533" grpId="0" autoUpdateAnimBg="0"/>
    </p:bldLst>
  </p:timing>
</p:sld>
</file>

<file path=ppt/tags/tag1.xml><?xml version="1.0" encoding="utf-8"?>
<p:tagLst xmlns:p="http://schemas.openxmlformats.org/presentationml/2006/main">
  <p:tag name="commondata" val="eyJoZGlkIjoiNTljZWNkZDNmZTUzOGJiYjliZWIwMTU3MjhkNmIyMGY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4882</Words>
  <Application>WPS 演示</Application>
  <PresentationFormat>宽屏</PresentationFormat>
  <Paragraphs>1270</Paragraphs>
  <Slides>37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Calibri Light</vt:lpstr>
      <vt:lpstr>Times New Roman</vt:lpstr>
      <vt:lpstr>等线 Light</vt:lpstr>
      <vt:lpstr>等线</vt:lpstr>
      <vt:lpstr>微软雅黑</vt:lpstr>
      <vt:lpstr>Arial Unicode MS</vt:lpstr>
      <vt:lpstr>黑体</vt:lpstr>
      <vt:lpstr>Tahoma</vt:lpstr>
      <vt:lpstr>Arial</vt:lpstr>
      <vt:lpstr>Office 主题​​</vt:lpstr>
      <vt:lpstr>计算机原理</vt:lpstr>
      <vt:lpstr>PowerPoint 演示文稿</vt:lpstr>
      <vt:lpstr>8.1   CPU 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  指 令 周 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中断系统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Guannan QU</dc:creator>
  <cp:lastModifiedBy>Q</cp:lastModifiedBy>
  <cp:revision>1832</cp:revision>
  <dcterms:created xsi:type="dcterms:W3CDTF">2113-01-01T00:00:00Z</dcterms:created>
  <dcterms:modified xsi:type="dcterms:W3CDTF">2024-09-23T11:20:03Z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AF00DB8056A24CE4B978546E5CFA9B0B_12</vt:lpwstr>
  </property>
  <property fmtid="{D5CDD505-2E9C-101B-9397-08002B2CF9AE}" pid="3" name="KSOProductBuildVer">
    <vt:lpwstr>2052-12.1.0.18276</vt:lpwstr>
  </property>
</Properties>
</file>