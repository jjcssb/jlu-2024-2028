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4245" r:id="rId2"/>
    <p:sldMasterId id="2147489049" r:id="rId3"/>
    <p:sldMasterId id="2147489099" r:id="rId4"/>
    <p:sldMasterId id="2147489111" r:id="rId5"/>
  </p:sldMasterIdLst>
  <p:notesMasterIdLst>
    <p:notesMasterId r:id="rId47"/>
  </p:notesMasterIdLst>
  <p:handoutMasterIdLst>
    <p:handoutMasterId r:id="rId48"/>
  </p:handoutMasterIdLst>
  <p:sldIdLst>
    <p:sldId id="367" r:id="rId6"/>
    <p:sldId id="418" r:id="rId7"/>
    <p:sldId id="269" r:id="rId8"/>
    <p:sldId id="453" r:id="rId9"/>
    <p:sldId id="454" r:id="rId10"/>
    <p:sldId id="257" r:id="rId11"/>
    <p:sldId id="368" r:id="rId12"/>
    <p:sldId id="259" r:id="rId13"/>
    <p:sldId id="260" r:id="rId14"/>
    <p:sldId id="271" r:id="rId15"/>
    <p:sldId id="291" r:id="rId16"/>
    <p:sldId id="419" r:id="rId17"/>
    <p:sldId id="369" r:id="rId18"/>
    <p:sldId id="263" r:id="rId19"/>
    <p:sldId id="262" r:id="rId20"/>
    <p:sldId id="370" r:id="rId21"/>
    <p:sldId id="265" r:id="rId22"/>
    <p:sldId id="371" r:id="rId23"/>
    <p:sldId id="267" r:id="rId24"/>
    <p:sldId id="390" r:id="rId25"/>
    <p:sldId id="273" r:id="rId26"/>
    <p:sldId id="272" r:id="rId27"/>
    <p:sldId id="274" r:id="rId28"/>
    <p:sldId id="275" r:id="rId29"/>
    <p:sldId id="276" r:id="rId30"/>
    <p:sldId id="278" r:id="rId31"/>
    <p:sldId id="324" r:id="rId32"/>
    <p:sldId id="450" r:id="rId33"/>
    <p:sldId id="316" r:id="rId34"/>
    <p:sldId id="456" r:id="rId35"/>
    <p:sldId id="318" r:id="rId36"/>
    <p:sldId id="317" r:id="rId37"/>
    <p:sldId id="457" r:id="rId38"/>
    <p:sldId id="329" r:id="rId39"/>
    <p:sldId id="325" r:id="rId40"/>
    <p:sldId id="326" r:id="rId41"/>
    <p:sldId id="458" r:id="rId42"/>
    <p:sldId id="315" r:id="rId43"/>
    <p:sldId id="428" r:id="rId44"/>
    <p:sldId id="429" r:id="rId45"/>
    <p:sldId id="452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00FF"/>
    <a:srgbClr val="996600"/>
    <a:srgbClr val="00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3" autoAdjust="0"/>
  </p:normalViewPr>
  <p:slideViewPr>
    <p:cSldViewPr>
      <p:cViewPr varScale="1">
        <p:scale>
          <a:sx n="93" d="100"/>
          <a:sy n="93" d="100"/>
        </p:scale>
        <p:origin x="10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xmlns="" id="{15828562-B06D-44B0-8381-033AA4C39F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xmlns="" id="{5C14D0B7-FFD6-4123-A1D9-8B57529B3E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xmlns="" id="{8E88E621-F9CD-4D13-ADC4-0EA0BB7B02A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xmlns="" id="{BE3062E1-2F94-4541-865E-C699D8BCADF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fld id="{CF7A9248-0DC7-4D9B-8CB6-F21DDE01BF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28A4D65E-F865-4263-9F1A-2B77B15451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楷体_GB231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65EC98C8-21BC-4637-B425-B91CA99C3C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楷体_GB2312" charset="-122"/>
              </a:defRPr>
            </a:lvl1pPr>
          </a:lstStyle>
          <a:p>
            <a:pPr>
              <a:defRPr/>
            </a:pPr>
            <a:fld id="{619C4F9D-8005-438E-9DDA-4E10D743602E}" type="datetimeFigureOut">
              <a:rPr lang="zh-CN" altLang="en-US"/>
              <a:pPr>
                <a:defRPr/>
              </a:pPr>
              <a:t>2024/10/12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69152D4C-5D37-4113-A8EF-43556AD4C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32F4B298-B275-493C-88B8-A9C7E4010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1BCB334D-D2DF-4377-B177-8BF4692428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楷体_GB231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78058958-C589-4BBB-B983-E084F5ECE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21C0CF7-4674-41D2-8D5A-582F058DC1B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2481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39C2FD36-1408-4626-A5B9-0B5F527D86F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815D33D5-1479-44D4-972A-41AE0850A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AF6D48A7-889E-4A75-A40F-F1CB82F14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167CA7B7-8C9B-4CE5-B4B3-5A1E5C3EF8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320CA212-81F9-4FEB-8E7F-2B6E3E503E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2E4CB9B5-6463-427A-BAF9-D6D8ABBEF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A2618E6-A39E-4F34-B80B-3B04B9C54B0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648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3E0401F1-A4C7-493B-87FD-DF08A6550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B7EEB346-5EF4-4678-8574-B9F9BA8F06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48F17DD2-5E7B-4B01-B2E9-EE17FF8FA2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71C651-517A-432B-B2F3-542F0489B3E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724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39D8DB2-414F-48DE-AF6F-D5F002F646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3356B4E-6949-42D8-99F4-DB06851D0A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ADE5E8AB-D3F8-4CC2-952D-E5C22E187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D8A60-E197-4CCC-9583-378B5AE354A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390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F7822611-4E5C-4705-B9D8-BF990CF68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4BA1476-FBC2-4B3B-B4C2-D3DFD87175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5B57A02-7995-4C89-B0D5-831326A9F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ED8802-DA7B-4E7C-B3A9-9B3DC9FEB9D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966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98CD6FE8-E2A9-4C1F-B216-141D95ACD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49D06009-1857-4580-8E52-A1DE5A7A1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55B98041-7C2E-457C-B8BF-73E5174F9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608B82-4ECF-4CE1-BB7F-B85AA803439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38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98B2C50E-A311-4989-B61F-0512C1DC3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921D8802-59AD-472A-8446-3124AE8BD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78BB4D85-07E5-45FC-BA16-B420FA5F56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72754-604E-42EC-9C0E-7F81D9FE375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129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F4964749-D033-4C42-8827-58A587920F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1CEA6538-3059-4814-B888-F90F18F3FD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E9BA2DE8-BD7D-45F9-84C5-7D03D8C423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4718CD-98B4-40C4-8F7E-0F11718593B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733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A729CB4-F40E-4F64-82F1-F0FE5310B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B281A3A-3633-4DFE-B90E-3A0FDD8EC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9E76ECB5-30DC-4825-87AB-622D20A0C0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4C913B-1FF8-4EB3-B2D6-E9DFDE1C525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867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B1C7C0C-D35C-4032-BBBC-A3C3936F10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7415AAE3-1C89-4CAB-9F90-BB80B6B8B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99F423A9-D753-411A-A91E-2CB1F5F208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59EAF5-4ACA-46C3-8875-9AD853737E2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759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A13F916E-398E-4BA3-AE92-95CB101D9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AFFA650-5AA5-4BD5-A60F-F719865A36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7E796AA5-FE72-4D2D-B6AF-6BA82C8D4C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30CD04-A9C8-46C5-BAB4-19F7BA5620C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062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D7D64E63-43C9-4F44-B2B7-CA936BC35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A6DCC6F-DAF1-47B8-AED6-F7191E317F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45C914D-5F66-4F48-AF68-E2983A9C25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05BA44-89F7-454B-8902-AE9D4194250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1694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8E796E79-47C7-4835-8284-5C4BE250EFE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C1F6108D-1484-4C18-B496-281DC8A4F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25401CFF-FE86-47AE-B06F-5491F2BA9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C918896-1C2E-47F2-8949-AEC7B68E6A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679860FB-C52D-402E-BF18-D21B99E032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A189DE1E-B776-4631-A266-32406B93D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B973279-CF2F-419D-8CA6-860279988D2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6925454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C68B41F2-D478-4A14-BF09-D704F61CA4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82FB5BF7-61EB-4E65-8FEF-728CA26EA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CB6E2B1E-104A-4802-ADBC-83700E922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B879D-D3D8-415F-9C81-6C9800AD104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9172131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1A44732E-EB3C-43F0-B5C9-40B42A83D2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CB9035A7-C6D8-45D0-A259-C4E42A85B0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2C31BA6C-7611-4FD5-A20D-938FFB0227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D44DE-24B3-4460-97C7-10A5AA9F0F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9388366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C1EC4C6E-D379-4AA5-A78B-37C1893B93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0147973-C760-4BD6-B60A-20BDC41E84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792FFBCB-203D-4CEF-A945-D0A5E00BF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474EB6-981A-425A-8509-2B07E9CACFB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2285833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03B5B5A1-D644-435E-B0D5-A2C4141C8F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4F9C6621-DA66-4BFE-8F2B-1E80BCE86D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FE0A60BE-76B0-40B0-9358-DED894739D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957016-0830-422A-9578-144E7296593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337488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F281A35F-8B06-4261-8FD8-914E742ED7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2D0119F4-1FD3-4F4B-A784-F02B4C2EC5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5015EB23-99E5-43CC-8CAA-880E472882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2D85F0-08EA-4198-99BB-B33D05ADF85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5546623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FB53629B-91F0-4641-964F-A3F96631E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3AF33F5D-E7ED-4125-8737-451284C1AE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1CFEC118-C851-409E-8748-ABC4D25D08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40AAF4-102E-4776-AEFB-83C1236013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988174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BCC7C615-A321-4C35-80B2-8E5B272FAD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CD8A8AB5-06C0-4F09-BECF-630E11299C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3626363-1CAD-4D6B-9E2A-3C6A0BCD5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397586-D7CB-4BCA-AC50-CB1AC1C291A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772200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5FE471E-0943-4AE0-B131-AB7BDAF1D6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EB2BC468-A991-4727-8A6A-EF4F268AD5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EAC023EB-20F0-488E-8B7B-D9AB57EE0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8281BC-EC40-4901-AF99-D82AC60492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8684760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158243AB-C601-4DA6-972B-93A63133E9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9A8A5BF6-C294-4992-962D-46CD581B8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7E94F3A-C036-4C99-9DA5-ED8610BBA7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2E7B30-865E-4383-9BB5-0F33C8407BD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1759473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201C6961-AFD8-4E6B-9A13-1A094BEF48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636B5FD7-EE9D-4832-A346-A77FEA14C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307365CD-E68B-42F7-BD82-D81D31E57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1AE313-7566-4DC8-A73F-2C953FC7E57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2592350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5B4380B-7BC3-4B72-9B3F-569D4C03CF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91BCC71B-852C-4020-9D7F-ABBAC4755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C33640B8-E7A9-46A9-AAFE-EB4A2D79A3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948187-FDA2-4332-AB78-DF3E2B71F5D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6670229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204C48D-3173-4407-9D0C-D67808871A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B2A196EC-3838-4C8F-A1FA-3346FE07BC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D5526EBF-9D84-49D8-9AEB-71E598E0BE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57003-4C03-4680-9617-D93E46C10E2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5240097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DD331062-20A3-49EE-8C2F-8246B40B0AF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423BFBE9-7AD2-4D8F-A0AE-3EC4BD91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D1CF940E-863C-4579-90F5-70CF0B278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F032F0E3-2ACC-4965-B8AA-9E1394BFF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30D23E88-BAF1-4016-A9B6-2B41684DA4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A3E4763C-CB34-4CF7-9325-127694E88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DD99FBC-5244-45AB-9B8B-EF7E9BA07B5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8323484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901ACDE0-6509-4450-B70F-4D82EBA39E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2FCF3112-27D6-414D-808C-3A29BE98C7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AC05FB41-38A7-4E62-A77B-626CCB5974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0B869-0AA1-49F5-9033-BF6CEED82BD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1168330"/>
      </p:ext>
    </p:extLst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9E284BA1-4E94-4791-B928-F37C63F5C6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C011BE5D-42A6-4479-8FE6-D9F82DF3ED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46F017DB-274F-4ABF-95D7-6A44998F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B7CC2E-DB34-442C-8624-D9641A92A8E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4295741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48380E9-2474-44EA-9F31-7882FB177D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E2BC7676-9ED2-4C05-B0B7-A4048DD1FA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7C429543-EAD4-433A-98D6-11132F399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798EFA-38B7-49AB-8DEF-15A4AB50D83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7231307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77D90F5-EEA1-42F5-949F-42133BF969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B4133486-54B9-4E85-AC5E-E0F8988082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9B31AEE6-293C-476C-A727-7675BC7765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8C362E-C659-40FA-800C-A812FF082E7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3775359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54F91159-A91E-4B64-8757-4BA75ECA84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16D4022-CAA2-4260-9CEF-74BB998F8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B833CF46-282D-486E-A48B-152CAF47B5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C0D98E-FE3D-4B82-9D5E-88FDCF1D47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0722504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C96A7CFC-3302-4111-8A67-1DB10C5C94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8125931F-1A5F-4237-B0AA-CC0CD32FE5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A81FDAE1-EDE7-4BB0-BEF0-4FB7CB8A82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A974BE-713F-42D2-8793-DAF1538D4E8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7859424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096D2F1-D06A-4D91-BF83-F8A40B797E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7BCDA0B6-6C46-4925-A2B4-20B29C89A5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DA2A7A87-8EE7-4BC4-B8BD-C46BC4AC6F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776D1D-BAFA-4469-A748-8B58C032BC2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6176591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22C2270-9957-45A6-95BB-50854EB1CF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02942C23-FDC8-4580-94ED-F6A0BC0BB0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29975886-E6C6-4395-B4B9-C3EE46DCF9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82935-6F42-4A32-9D8B-D70F5823193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76295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A54341CB-DCA4-4B2C-8339-5696553F8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79B8B6A-65AF-4FAD-90F7-D7960E5014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0815E203-90A4-4B3E-A696-2AE3EAAD5B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777D8B-0026-4A21-B150-4570C0342E2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6066571"/>
      </p:ext>
    </p:extLst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D3DB799-172D-4D41-8B73-03DB32F76A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02F9EB2D-61F2-4F21-B04E-4178F55F38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64C70431-6289-44D1-A373-A5EF6AF679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988E44-7847-4B00-88C2-CA3C31E3F7F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4730165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panose="02010600030101010101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panose="02010600030101010101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816C9-2E4F-4FD0-9B88-43E3A66A74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3304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70AB4-C7B2-4A84-9C29-9B680AE4E4B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42350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72AF4-CB7E-49AA-ABB7-23A10C7DDC6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56517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45445-6020-498E-9F34-C6692C54EEA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36802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242C6A-CE43-433D-A92C-A667E1F41B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98003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15B52-1459-4803-BF99-5132126968E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7815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6C026-2E99-42E4-B7DD-F3FF76308A9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1817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7D95E-FB51-460E-80A7-0C997930709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66787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A03BE-4866-4485-8D8E-825CD54DC7B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52796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59124-DBE1-4390-AE21-4C0D7AF61C5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469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0F076-3729-4AC7-AF2E-1B5B8B1499F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17492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39C2FD36-1408-4626-A5B9-0B5F527D86F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815D33D5-1479-44D4-972A-41AE0850A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AF6D48A7-889E-4A75-A40F-F1CB82F14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167CA7B7-8C9B-4CE5-B4B3-5A1E5C3EF8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320CA212-81F9-4FEB-8E7F-2B6E3E503E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2E4CB9B5-6463-427A-BAF9-D6D8ABBEF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A2618E6-A39E-4F34-B80B-3B04B9C54B09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738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3E0401F1-A4C7-493B-87FD-DF08A6550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B7EEB346-5EF4-4678-8574-B9F9BA8F06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48F17DD2-5E7B-4B01-B2E9-EE17FF8FA2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71C651-517A-432B-B2F3-542F0489B3E5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8108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39D8DB2-414F-48DE-AF6F-D5F002F646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3356B4E-6949-42D8-99F4-DB06851D0A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ADE5E8AB-D3F8-4CC2-952D-E5C22E187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D8A60-E197-4CCC-9583-378B5AE354AA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0297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F7822611-4E5C-4705-B9D8-BF990CF68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4BA1476-FBC2-4B3B-B4C2-D3DFD87175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5B57A02-7995-4C89-B0D5-831326A9F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ED8802-DA7B-4E7C-B3A9-9B3DC9FEB9D5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712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98CD6FE8-E2A9-4C1F-B216-141D95ACD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49D06009-1857-4580-8E52-A1DE5A7A1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55B98041-7C2E-457C-B8BF-73E5174F9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608B82-4ECF-4CE1-BB7F-B85AA8034390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825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98B2C50E-A311-4989-B61F-0512C1DC3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921D8802-59AD-472A-8446-3124AE8BD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78BB4D85-07E5-45FC-BA16-B420FA5F56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72754-604E-42EC-9C0E-7F81D9FE375F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496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F4964749-D033-4C42-8827-58A587920F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1CEA6538-3059-4814-B888-F90F18F3FD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E9BA2DE8-BD7D-45F9-84C5-7D03D8C423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4718CD-98B4-40C4-8F7E-0F11718593B3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8724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A729CB4-F40E-4F64-82F1-F0FE5310B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B281A3A-3633-4DFE-B90E-3A0FDD8EC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9E76ECB5-30DC-4825-87AB-622D20A0C0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4C913B-1FF8-4EB3-B2D6-E9DFDE1C5253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914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B1C7C0C-D35C-4032-BBBC-A3C3936F10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7415AAE3-1C89-4CAB-9F90-BB80B6B8B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99F423A9-D753-411A-A91E-2CB1F5F208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59EAF5-4ACA-46C3-8875-9AD853737E2F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6176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A13F916E-398E-4BA3-AE92-95CB101D9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EAFFA650-5AA5-4BD5-A60F-F719865A36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7E796AA5-FE72-4D2D-B6AF-6BA82C8D4C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30CD04-A9C8-46C5-BAB4-19F7BA5620CC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7517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D7D64E63-43C9-4F44-B2B7-CA936BC35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A6DCC6F-DAF1-47B8-AED6-F7191E317F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45C914D-5F66-4F48-AF68-E2983A9C25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05BA44-89F7-454B-8902-AE9D41942503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80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:a16="http://schemas.microsoft.com/office/drawing/2014/main" xmlns="" id="{CAC37742-30ED-4D72-B4BD-15802F71B3A5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A5D290D2-0588-43A8-98E8-404C04503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730103F6-54BD-4CC9-80E3-03C94F47D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xmlns="" id="{9E985A31-77D8-4F50-A2AD-28D4CB8A9E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xmlns="" id="{8B6615BF-CC16-48CC-9D13-0A850E62A6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xmlns="" id="{802BD7F1-E76D-4EBF-93E5-8E7877AEEA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fld id="{5ACBDAF1-CEEF-42DC-AE0C-1A1C5096E2BC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096" r:id="rId1"/>
    <p:sldLayoutId id="2147489064" r:id="rId2"/>
    <p:sldLayoutId id="2147489065" r:id="rId3"/>
    <p:sldLayoutId id="2147489066" r:id="rId4"/>
    <p:sldLayoutId id="2147489067" r:id="rId5"/>
    <p:sldLayoutId id="2147489068" r:id="rId6"/>
    <p:sldLayoutId id="2147489069" r:id="rId7"/>
    <p:sldLayoutId id="2147489070" r:id="rId8"/>
    <p:sldLayoutId id="2147489071" r:id="rId9"/>
    <p:sldLayoutId id="2147489072" r:id="rId10"/>
    <p:sldLayoutId id="2147489073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>
            <a:extLst>
              <a:ext uri="{FF2B5EF4-FFF2-40B4-BE49-F238E27FC236}">
                <a16:creationId xmlns:a16="http://schemas.microsoft.com/office/drawing/2014/main" xmlns="" id="{28C08D85-FD47-4927-B7D3-0F6D259F89C3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xmlns="" id="{34494B85-97CB-4721-BFCD-96D9BB8A1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xmlns="" id="{D4A848D8-29CD-420E-BB1A-499A6875B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:a16="http://schemas.microsoft.com/office/drawing/2014/main" xmlns="" id="{D0D6759B-4F4E-4856-ADA2-22E8B1945E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:a16="http://schemas.microsoft.com/office/drawing/2014/main" xmlns="" id="{9D93D7BC-4A07-4342-ABAA-20CF1133CD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:a16="http://schemas.microsoft.com/office/drawing/2014/main" xmlns="" id="{E18A1043-A588-4D21-AAF5-09C49E4E83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fld id="{31671156-E454-4439-9339-B08E296C55F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097" r:id="rId1"/>
    <p:sldLayoutId id="2147489074" r:id="rId2"/>
    <p:sldLayoutId id="2147489075" r:id="rId3"/>
    <p:sldLayoutId id="2147489076" r:id="rId4"/>
    <p:sldLayoutId id="2147489077" r:id="rId5"/>
    <p:sldLayoutId id="2147489078" r:id="rId6"/>
    <p:sldLayoutId id="2147489079" r:id="rId7"/>
    <p:sldLayoutId id="2147489080" r:id="rId8"/>
    <p:sldLayoutId id="2147489081" r:id="rId9"/>
    <p:sldLayoutId id="2147489082" r:id="rId10"/>
    <p:sldLayoutId id="2147489083" r:id="rId11"/>
    <p:sldLayoutId id="2147489084" r:id="rId12"/>
    <p:sldLayoutId id="2147489085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>
            <a:extLst>
              <a:ext uri="{FF2B5EF4-FFF2-40B4-BE49-F238E27FC236}">
                <a16:creationId xmlns:a16="http://schemas.microsoft.com/office/drawing/2014/main" xmlns="" id="{DC57A01A-C9FF-422D-B99F-F86A4AEFC729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xmlns="" id="{87FA076C-4845-4AF5-9751-F5E30D05B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257FB82F-2B3B-4519-AB00-BCE930644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xmlns="" id="{C5FF718B-D9FD-419A-92D3-598C200819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>
            <a:extLst>
              <a:ext uri="{FF2B5EF4-FFF2-40B4-BE49-F238E27FC236}">
                <a16:creationId xmlns:a16="http://schemas.microsoft.com/office/drawing/2014/main" xmlns="" id="{983F2851-423F-4888-8180-16A782DBF4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xmlns="" id="{F6634C65-CD37-4FCE-A533-7AFF93DE38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fld id="{FE2E7389-275E-462F-A7EB-D931E499FC9C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098" r:id="rId1"/>
    <p:sldLayoutId id="2147489086" r:id="rId2"/>
    <p:sldLayoutId id="2147489087" r:id="rId3"/>
    <p:sldLayoutId id="2147489088" r:id="rId4"/>
    <p:sldLayoutId id="2147489089" r:id="rId5"/>
    <p:sldLayoutId id="2147489090" r:id="rId6"/>
    <p:sldLayoutId id="2147489091" r:id="rId7"/>
    <p:sldLayoutId id="2147489092" r:id="rId8"/>
    <p:sldLayoutId id="2147489093" r:id="rId9"/>
    <p:sldLayoutId id="2147489094" r:id="rId10"/>
    <p:sldLayoutId id="2147489095" r:id="rId11"/>
  </p:sldLayoutIdLst>
  <p:transition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3F17E4D1-A271-4B2D-A3E8-F2D2F0BF229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470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100" r:id="rId1"/>
    <p:sldLayoutId id="2147489101" r:id="rId2"/>
    <p:sldLayoutId id="2147489102" r:id="rId3"/>
    <p:sldLayoutId id="2147489103" r:id="rId4"/>
    <p:sldLayoutId id="2147489104" r:id="rId5"/>
    <p:sldLayoutId id="2147489105" r:id="rId6"/>
    <p:sldLayoutId id="2147489106" r:id="rId7"/>
    <p:sldLayoutId id="2147489107" r:id="rId8"/>
    <p:sldLayoutId id="2147489108" r:id="rId9"/>
    <p:sldLayoutId id="2147489109" r:id="rId10"/>
    <p:sldLayoutId id="2147489110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:a16="http://schemas.microsoft.com/office/drawing/2014/main" xmlns="" id="{CAC37742-30ED-4D72-B4BD-15802F71B3A5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A5D290D2-0588-43A8-98E8-404C04503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730103F6-54BD-4CC9-80E3-03C94F47D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xmlns="" id="{9E985A31-77D8-4F50-A2AD-28D4CB8A9E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xmlns="" id="{8B6615BF-CC16-48CC-9D13-0A850E62A6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xmlns="" id="{802BD7F1-E76D-4EBF-93E5-8E7877AEEA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fld id="{5ACBDAF1-CEEF-42DC-AE0C-1A1C5096E2BC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82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112" r:id="rId1"/>
    <p:sldLayoutId id="2147489113" r:id="rId2"/>
    <p:sldLayoutId id="2147489114" r:id="rId3"/>
    <p:sldLayoutId id="2147489115" r:id="rId4"/>
    <p:sldLayoutId id="2147489116" r:id="rId5"/>
    <p:sldLayoutId id="2147489117" r:id="rId6"/>
    <p:sldLayoutId id="2147489118" r:id="rId7"/>
    <p:sldLayoutId id="2147489119" r:id="rId8"/>
    <p:sldLayoutId id="2147489120" r:id="rId9"/>
    <p:sldLayoutId id="2147489121" r:id="rId10"/>
    <p:sldLayoutId id="2147489122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C8384A80-BA2D-4AEC-AE77-976E7E8F9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第六章   群 、环、域</a:t>
            </a:r>
          </a:p>
        </p:txBody>
      </p:sp>
      <p:grpSp>
        <p:nvGrpSpPr>
          <p:cNvPr id="9219" name="Group 3">
            <a:extLst>
              <a:ext uri="{FF2B5EF4-FFF2-40B4-BE49-F238E27FC236}">
                <a16:creationId xmlns:a16="http://schemas.microsoft.com/office/drawing/2014/main" xmlns="" id="{160FFCCA-DFC4-45C5-B767-006341B706DE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2032000"/>
            <a:ext cx="762000" cy="665163"/>
            <a:chOff x="1110" y="2656"/>
            <a:chExt cx="1549" cy="1351"/>
          </a:xfrm>
        </p:grpSpPr>
        <p:sp>
          <p:nvSpPr>
            <p:cNvPr id="9273" name="AutoShape 4">
              <a:extLst>
                <a:ext uri="{FF2B5EF4-FFF2-40B4-BE49-F238E27FC236}">
                  <a16:creationId xmlns:a16="http://schemas.microsoft.com/office/drawing/2014/main" xmlns="" id="{F3F0C955-0CC1-4B9B-A38B-CEBF183B0A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74" name="AutoShape 5">
              <a:extLst>
                <a:ext uri="{FF2B5EF4-FFF2-40B4-BE49-F238E27FC236}">
                  <a16:creationId xmlns:a16="http://schemas.microsoft.com/office/drawing/2014/main" xmlns="" id="{E449A554-10DE-412D-8B21-A38A199B962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26" name="AutoShape 6">
              <a:extLst>
                <a:ext uri="{FF2B5EF4-FFF2-40B4-BE49-F238E27FC236}">
                  <a16:creationId xmlns:a16="http://schemas.microsoft.com/office/drawing/2014/main" xmlns="" id="{0F0414E9-DA61-46B7-8A9E-328E860D5D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grpSp>
        <p:nvGrpSpPr>
          <p:cNvPr id="9220" name="Group 7">
            <a:extLst>
              <a:ext uri="{FF2B5EF4-FFF2-40B4-BE49-F238E27FC236}">
                <a16:creationId xmlns:a16="http://schemas.microsoft.com/office/drawing/2014/main" xmlns="" id="{F509CB13-3702-475B-856B-1DD291A859AA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3001963"/>
            <a:ext cx="762000" cy="665162"/>
            <a:chOff x="3174" y="2656"/>
            <a:chExt cx="1549" cy="1351"/>
          </a:xfrm>
        </p:grpSpPr>
        <p:sp>
          <p:nvSpPr>
            <p:cNvPr id="9270" name="AutoShape 8">
              <a:extLst>
                <a:ext uri="{FF2B5EF4-FFF2-40B4-BE49-F238E27FC236}">
                  <a16:creationId xmlns:a16="http://schemas.microsoft.com/office/drawing/2014/main" xmlns="" id="{864E45E2-81E9-4703-8562-9499376DF2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71" name="AutoShape 9">
              <a:extLst>
                <a:ext uri="{FF2B5EF4-FFF2-40B4-BE49-F238E27FC236}">
                  <a16:creationId xmlns:a16="http://schemas.microsoft.com/office/drawing/2014/main" xmlns="" id="{844EE224-9CAF-49A0-80B7-856F6B6457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30" name="AutoShape 10">
              <a:extLst>
                <a:ext uri="{FF2B5EF4-FFF2-40B4-BE49-F238E27FC236}">
                  <a16:creationId xmlns:a16="http://schemas.microsoft.com/office/drawing/2014/main" xmlns="" id="{ADBC599C-83AC-48D3-8225-B1587580C8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9221" name="Line 11">
            <a:extLst>
              <a:ext uri="{FF2B5EF4-FFF2-40B4-BE49-F238E27FC236}">
                <a16:creationId xmlns:a16="http://schemas.microsoft.com/office/drawing/2014/main" xmlns="" id="{E2E632BC-E59F-470A-ADD8-54B1B1ABF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Text Box 12">
            <a:extLst>
              <a:ext uri="{FF2B5EF4-FFF2-40B4-BE49-F238E27FC236}">
                <a16:creationId xmlns:a16="http://schemas.microsoft.com/office/drawing/2014/main" xmlns="" id="{10B8CC86-8784-4161-B422-F0DE133F9C6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2509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223" name="Line 13">
            <a:extLst>
              <a:ext uri="{FF2B5EF4-FFF2-40B4-BE49-F238E27FC236}">
                <a16:creationId xmlns:a16="http://schemas.microsoft.com/office/drawing/2014/main" xmlns="" id="{D32FAB35-17B6-4D53-9754-05824A2F2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Text Box 14">
            <a:extLst>
              <a:ext uri="{FF2B5EF4-FFF2-40B4-BE49-F238E27FC236}">
                <a16:creationId xmlns:a16="http://schemas.microsoft.com/office/drawing/2014/main" xmlns="" id="{A84C72D4-6546-4F4C-91E7-4FDBC0852F0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2509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grpSp>
        <p:nvGrpSpPr>
          <p:cNvPr id="9225" name="Group 15">
            <a:extLst>
              <a:ext uri="{FF2B5EF4-FFF2-40B4-BE49-F238E27FC236}">
                <a16:creationId xmlns:a16="http://schemas.microsoft.com/office/drawing/2014/main" xmlns="" id="{ECFEA113-7159-4AE9-B150-18B012AD2570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3965575"/>
            <a:ext cx="762000" cy="665163"/>
            <a:chOff x="1110" y="2656"/>
            <a:chExt cx="1549" cy="1351"/>
          </a:xfrm>
        </p:grpSpPr>
        <p:sp>
          <p:nvSpPr>
            <p:cNvPr id="9267" name="AutoShape 16">
              <a:extLst>
                <a:ext uri="{FF2B5EF4-FFF2-40B4-BE49-F238E27FC236}">
                  <a16:creationId xmlns:a16="http://schemas.microsoft.com/office/drawing/2014/main" xmlns="" id="{138C118F-52A4-4EF1-AD15-F4CA39C6F1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68" name="AutoShape 17">
              <a:extLst>
                <a:ext uri="{FF2B5EF4-FFF2-40B4-BE49-F238E27FC236}">
                  <a16:creationId xmlns:a16="http://schemas.microsoft.com/office/drawing/2014/main" xmlns="" id="{F6D5A9F1-2F35-4ADB-997B-4C01E9FD4C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38" name="AutoShape 18">
              <a:extLst>
                <a:ext uri="{FF2B5EF4-FFF2-40B4-BE49-F238E27FC236}">
                  <a16:creationId xmlns:a16="http://schemas.microsoft.com/office/drawing/2014/main" xmlns="" id="{F4A570B3-E8B3-40E4-8205-3AA6ADAC5D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9226" name="Line 19">
            <a:extLst>
              <a:ext uri="{FF2B5EF4-FFF2-40B4-BE49-F238E27FC236}">
                <a16:creationId xmlns:a16="http://schemas.microsoft.com/office/drawing/2014/main" xmlns="" id="{8C3431A9-4670-4C2E-BF9A-7BB228410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Text Box 20">
            <a:extLst>
              <a:ext uri="{FF2B5EF4-FFF2-40B4-BE49-F238E27FC236}">
                <a16:creationId xmlns:a16="http://schemas.microsoft.com/office/drawing/2014/main" xmlns="" id="{03FA465C-FDE6-4AA8-9223-C4ED06E7340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2509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3141" name="Text Box 21">
            <a:extLst>
              <a:ext uri="{FF2B5EF4-FFF2-40B4-BE49-F238E27FC236}">
                <a16:creationId xmlns:a16="http://schemas.microsoft.com/office/drawing/2014/main" xmlns="" id="{9CC249B5-59B3-4C00-83D5-CE702266D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2122488"/>
            <a:ext cx="16764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代数系统</a:t>
            </a:r>
          </a:p>
        </p:txBody>
      </p:sp>
      <p:sp>
        <p:nvSpPr>
          <p:cNvPr id="133142" name="Text Box 22">
            <a:hlinkClick r:id="rId2" action="ppaction://hlinksldjump"/>
            <a:extLst>
              <a:ext uri="{FF2B5EF4-FFF2-40B4-BE49-F238E27FC236}">
                <a16:creationId xmlns:a16="http://schemas.microsoft.com/office/drawing/2014/main" xmlns="" id="{D529D251-1AA8-4EFC-A00B-2C13EF75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916113"/>
            <a:ext cx="2520950" cy="701675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40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环</a:t>
            </a:r>
          </a:p>
        </p:txBody>
      </p:sp>
      <p:sp>
        <p:nvSpPr>
          <p:cNvPr id="9230" name="Line 23">
            <a:extLst>
              <a:ext uri="{FF2B5EF4-FFF2-40B4-BE49-F238E27FC236}">
                <a16:creationId xmlns:a16="http://schemas.microsoft.com/office/drawing/2014/main" xmlns="" id="{450E5BEB-30A1-4250-80D8-91FF6CC22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54911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4" name="Text Box 24">
            <a:extLst>
              <a:ext uri="{FF2B5EF4-FFF2-40B4-BE49-F238E27FC236}">
                <a16:creationId xmlns:a16="http://schemas.microsoft.com/office/drawing/2014/main" xmlns="" id="{15F365FD-842A-4E90-8098-D50E22D1E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933825"/>
            <a:ext cx="25146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子群及其陪集</a:t>
            </a:r>
          </a:p>
        </p:txBody>
      </p:sp>
      <p:grpSp>
        <p:nvGrpSpPr>
          <p:cNvPr id="9232" name="Group 25">
            <a:extLst>
              <a:ext uri="{FF2B5EF4-FFF2-40B4-BE49-F238E27FC236}">
                <a16:creationId xmlns:a16="http://schemas.microsoft.com/office/drawing/2014/main" xmlns="" id="{AFF329D4-2637-4F0D-8B87-91596B80762F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2032000"/>
            <a:ext cx="762000" cy="665163"/>
            <a:chOff x="1110" y="2656"/>
            <a:chExt cx="1549" cy="1351"/>
          </a:xfrm>
        </p:grpSpPr>
        <p:sp>
          <p:nvSpPr>
            <p:cNvPr id="9264" name="AutoShape 26">
              <a:extLst>
                <a:ext uri="{FF2B5EF4-FFF2-40B4-BE49-F238E27FC236}">
                  <a16:creationId xmlns:a16="http://schemas.microsoft.com/office/drawing/2014/main" xmlns="" id="{8483E37B-C854-4CE2-8C95-BD0586BE775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65" name="AutoShape 27">
              <a:extLst>
                <a:ext uri="{FF2B5EF4-FFF2-40B4-BE49-F238E27FC236}">
                  <a16:creationId xmlns:a16="http://schemas.microsoft.com/office/drawing/2014/main" xmlns="" id="{A70C4003-2E91-4E72-AD5E-42FC821A695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48" name="AutoShape 28">
              <a:extLst>
                <a:ext uri="{FF2B5EF4-FFF2-40B4-BE49-F238E27FC236}">
                  <a16:creationId xmlns:a16="http://schemas.microsoft.com/office/drawing/2014/main" xmlns="" id="{E62AC985-FF07-4278-84CA-70E2156F0D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grpSp>
        <p:nvGrpSpPr>
          <p:cNvPr id="9233" name="Group 29">
            <a:extLst>
              <a:ext uri="{FF2B5EF4-FFF2-40B4-BE49-F238E27FC236}">
                <a16:creationId xmlns:a16="http://schemas.microsoft.com/office/drawing/2014/main" xmlns="" id="{8799CEF7-59DA-41B3-BF69-3F1B62E46917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3001963"/>
            <a:ext cx="762000" cy="665162"/>
            <a:chOff x="3174" y="2656"/>
            <a:chExt cx="1549" cy="1351"/>
          </a:xfrm>
        </p:grpSpPr>
        <p:sp>
          <p:nvSpPr>
            <p:cNvPr id="9261" name="AutoShape 30">
              <a:extLst>
                <a:ext uri="{FF2B5EF4-FFF2-40B4-BE49-F238E27FC236}">
                  <a16:creationId xmlns:a16="http://schemas.microsoft.com/office/drawing/2014/main" xmlns="" id="{8F5A9BA1-8B50-4A80-B29B-5AE9085EEE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62" name="AutoShape 31">
              <a:extLst>
                <a:ext uri="{FF2B5EF4-FFF2-40B4-BE49-F238E27FC236}">
                  <a16:creationId xmlns:a16="http://schemas.microsoft.com/office/drawing/2014/main" xmlns="" id="{27EAD59C-9F58-4CBF-942A-371D494839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52" name="AutoShape 32">
              <a:extLst>
                <a:ext uri="{FF2B5EF4-FFF2-40B4-BE49-F238E27FC236}">
                  <a16:creationId xmlns:a16="http://schemas.microsoft.com/office/drawing/2014/main" xmlns="" id="{B636213D-88CE-4E3C-B5BA-F3F5062BFC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9234" name="Line 33">
            <a:extLst>
              <a:ext uri="{FF2B5EF4-FFF2-40B4-BE49-F238E27FC236}">
                <a16:creationId xmlns:a16="http://schemas.microsoft.com/office/drawing/2014/main" xmlns="" id="{34282191-C16D-48AF-8CE9-4BCC5BFBD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5" name="Text Box 34">
            <a:extLst>
              <a:ext uri="{FF2B5EF4-FFF2-40B4-BE49-F238E27FC236}">
                <a16:creationId xmlns:a16="http://schemas.microsoft.com/office/drawing/2014/main" xmlns="" id="{0123E401-E12C-4ED1-A4CC-AA8D06622E2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133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236" name="Line 35">
            <a:extLst>
              <a:ext uri="{FF2B5EF4-FFF2-40B4-BE49-F238E27FC236}">
                <a16:creationId xmlns:a16="http://schemas.microsoft.com/office/drawing/2014/main" xmlns="" id="{FA5AF703-830D-4E1E-A6C5-B83CB20D5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7" name="Text Box 36">
            <a:extLst>
              <a:ext uri="{FF2B5EF4-FFF2-40B4-BE49-F238E27FC236}">
                <a16:creationId xmlns:a16="http://schemas.microsoft.com/office/drawing/2014/main" xmlns="" id="{8E438CAE-0656-4E5B-B72C-6BCE1F89AF7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133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9238" name="Group 37">
            <a:extLst>
              <a:ext uri="{FF2B5EF4-FFF2-40B4-BE49-F238E27FC236}">
                <a16:creationId xmlns:a16="http://schemas.microsoft.com/office/drawing/2014/main" xmlns="" id="{FBB87B5A-3479-4182-B230-851678128EF6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3965575"/>
            <a:ext cx="762000" cy="665163"/>
            <a:chOff x="1110" y="2656"/>
            <a:chExt cx="1549" cy="1351"/>
          </a:xfrm>
        </p:grpSpPr>
        <p:sp>
          <p:nvSpPr>
            <p:cNvPr id="9258" name="AutoShape 38">
              <a:extLst>
                <a:ext uri="{FF2B5EF4-FFF2-40B4-BE49-F238E27FC236}">
                  <a16:creationId xmlns:a16="http://schemas.microsoft.com/office/drawing/2014/main" xmlns="" id="{B65A73A5-AE2E-493E-BAEA-A991CD1636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59" name="AutoShape 39">
              <a:extLst>
                <a:ext uri="{FF2B5EF4-FFF2-40B4-BE49-F238E27FC236}">
                  <a16:creationId xmlns:a16="http://schemas.microsoft.com/office/drawing/2014/main" xmlns="" id="{AA12A776-3C97-4D49-8AA1-02154511E8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60" name="AutoShape 40">
              <a:extLst>
                <a:ext uri="{FF2B5EF4-FFF2-40B4-BE49-F238E27FC236}">
                  <a16:creationId xmlns:a16="http://schemas.microsoft.com/office/drawing/2014/main" xmlns="" id="{B3BA27C8-4B4C-433E-85CE-EC7A14A152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9239" name="Line 41">
            <a:extLst>
              <a:ext uri="{FF2B5EF4-FFF2-40B4-BE49-F238E27FC236}">
                <a16:creationId xmlns:a16="http://schemas.microsoft.com/office/drawing/2014/main" xmlns="" id="{29DAB754-294B-4562-8646-23583607A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0" name="Text Box 42">
            <a:extLst>
              <a:ext uri="{FF2B5EF4-FFF2-40B4-BE49-F238E27FC236}">
                <a16:creationId xmlns:a16="http://schemas.microsoft.com/office/drawing/2014/main" xmlns="" id="{27AB5D70-45E9-4170-8850-0204B9A693B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133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3163" name="Text Box 43">
            <a:extLst>
              <a:ext uri="{FF2B5EF4-FFF2-40B4-BE49-F238E27FC236}">
                <a16:creationId xmlns:a16="http://schemas.microsoft.com/office/drawing/2014/main" xmlns="" id="{0E639A6C-DF46-4E6C-A5A2-C9AB6B8DE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941888"/>
            <a:ext cx="27368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群的同态及同构</a:t>
            </a:r>
          </a:p>
        </p:txBody>
      </p:sp>
      <p:sp>
        <p:nvSpPr>
          <p:cNvPr id="133164" name="Text Box 44">
            <a:extLst>
              <a:ext uri="{FF2B5EF4-FFF2-40B4-BE49-F238E27FC236}">
                <a16:creationId xmlns:a16="http://schemas.microsoft.com/office/drawing/2014/main" xmlns="" id="{A4E88832-D927-4546-8DC8-A4667C16F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997200"/>
            <a:ext cx="1905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群的定义</a:t>
            </a:r>
          </a:p>
        </p:txBody>
      </p:sp>
      <p:sp>
        <p:nvSpPr>
          <p:cNvPr id="133165" name="Text Box 45">
            <a:extLst>
              <a:ext uri="{FF2B5EF4-FFF2-40B4-BE49-F238E27FC236}">
                <a16:creationId xmlns:a16="http://schemas.microsoft.com/office/drawing/2014/main" xmlns="" id="{39A22881-692C-440E-9F25-24AAFF91C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997200"/>
            <a:ext cx="266541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域的特征 素域</a:t>
            </a:r>
          </a:p>
        </p:txBody>
      </p:sp>
      <p:grpSp>
        <p:nvGrpSpPr>
          <p:cNvPr id="9244" name="Group 46">
            <a:extLst>
              <a:ext uri="{FF2B5EF4-FFF2-40B4-BE49-F238E27FC236}">
                <a16:creationId xmlns:a16="http://schemas.microsoft.com/office/drawing/2014/main" xmlns="" id="{3B968162-6A26-4FB4-B88A-86DD76FBA230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4924425"/>
            <a:ext cx="762000" cy="665163"/>
            <a:chOff x="3174" y="2656"/>
            <a:chExt cx="1549" cy="1351"/>
          </a:xfrm>
        </p:grpSpPr>
        <p:sp>
          <p:nvSpPr>
            <p:cNvPr id="9255" name="AutoShape 47">
              <a:extLst>
                <a:ext uri="{FF2B5EF4-FFF2-40B4-BE49-F238E27FC236}">
                  <a16:creationId xmlns:a16="http://schemas.microsoft.com/office/drawing/2014/main" xmlns="" id="{546F02A3-6684-4FDB-BD8D-80034A94B1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56" name="AutoShape 48">
              <a:extLst>
                <a:ext uri="{FF2B5EF4-FFF2-40B4-BE49-F238E27FC236}">
                  <a16:creationId xmlns:a16="http://schemas.microsoft.com/office/drawing/2014/main" xmlns="" id="{4C61F1D5-904E-42FC-89B5-A55F599FEC6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69" name="AutoShape 49">
              <a:extLst>
                <a:ext uri="{FF2B5EF4-FFF2-40B4-BE49-F238E27FC236}">
                  <a16:creationId xmlns:a16="http://schemas.microsoft.com/office/drawing/2014/main" xmlns="" id="{D175201F-021F-4607-90D8-92BDAA77CAC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9245" name="Text Box 50">
            <a:extLst>
              <a:ext uri="{FF2B5EF4-FFF2-40B4-BE49-F238E27FC236}">
                <a16:creationId xmlns:a16="http://schemas.microsoft.com/office/drawing/2014/main" xmlns="" id="{47031AFA-0373-484F-A63F-7AC11579AF1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250950" y="50355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33171" name="Text Box 51">
            <a:extLst>
              <a:ext uri="{FF2B5EF4-FFF2-40B4-BE49-F238E27FC236}">
                <a16:creationId xmlns:a16="http://schemas.microsoft.com/office/drawing/2014/main" xmlns="" id="{214754E1-BD6A-4014-81FB-B0F52AA73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005263"/>
            <a:ext cx="26654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多项式</a:t>
            </a:r>
          </a:p>
        </p:txBody>
      </p:sp>
      <p:sp>
        <p:nvSpPr>
          <p:cNvPr id="9247" name="Line 52">
            <a:extLst>
              <a:ext uri="{FF2B5EF4-FFF2-40B4-BE49-F238E27FC236}">
                <a16:creationId xmlns:a16="http://schemas.microsoft.com/office/drawing/2014/main" xmlns="" id="{E174A3C2-B073-44E5-8751-BC39C2C07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5950" y="5435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3" name="Text Box 53">
            <a:extLst>
              <a:ext uri="{FF2B5EF4-FFF2-40B4-BE49-F238E27FC236}">
                <a16:creationId xmlns:a16="http://schemas.microsoft.com/office/drawing/2014/main" xmlns="" id="{C19B5C08-EE4C-4896-BDBB-616144A27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886325"/>
            <a:ext cx="2736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有限域</a:t>
            </a:r>
          </a:p>
        </p:txBody>
      </p:sp>
      <p:grpSp>
        <p:nvGrpSpPr>
          <p:cNvPr id="9249" name="Group 54">
            <a:extLst>
              <a:ext uri="{FF2B5EF4-FFF2-40B4-BE49-F238E27FC236}">
                <a16:creationId xmlns:a16="http://schemas.microsoft.com/office/drawing/2014/main" xmlns="" id="{7820ACEA-6D91-4810-9756-DFA1750087CC}"/>
              </a:ext>
            </a:extLst>
          </p:cNvPr>
          <p:cNvGrpSpPr>
            <a:grpSpLocks/>
          </p:cNvGrpSpPr>
          <p:nvPr/>
        </p:nvGrpSpPr>
        <p:grpSpPr bwMode="auto">
          <a:xfrm>
            <a:off x="5086350" y="4868863"/>
            <a:ext cx="762000" cy="665162"/>
            <a:chOff x="3174" y="2656"/>
            <a:chExt cx="1549" cy="1351"/>
          </a:xfrm>
        </p:grpSpPr>
        <p:sp>
          <p:nvSpPr>
            <p:cNvPr id="9252" name="AutoShape 55">
              <a:extLst>
                <a:ext uri="{FF2B5EF4-FFF2-40B4-BE49-F238E27FC236}">
                  <a16:creationId xmlns:a16="http://schemas.microsoft.com/office/drawing/2014/main" xmlns="" id="{1A6F8BE1-E855-4005-B3E4-CF9C8457B1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53" name="AutoShape 56">
              <a:extLst>
                <a:ext uri="{FF2B5EF4-FFF2-40B4-BE49-F238E27FC236}">
                  <a16:creationId xmlns:a16="http://schemas.microsoft.com/office/drawing/2014/main" xmlns="" id="{690F8788-C398-4B50-83FB-C5D6CB5113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77" name="AutoShape 57">
              <a:extLst>
                <a:ext uri="{FF2B5EF4-FFF2-40B4-BE49-F238E27FC236}">
                  <a16:creationId xmlns:a16="http://schemas.microsoft.com/office/drawing/2014/main" xmlns="" id="{CDA6ECE4-8D1B-499E-B0FC-9AA897B3FA2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9250" name="Text Box 58">
            <a:extLst>
              <a:ext uri="{FF2B5EF4-FFF2-40B4-BE49-F238E27FC236}">
                <a16:creationId xmlns:a16="http://schemas.microsoft.com/office/drawing/2014/main" xmlns="" id="{9B8CAE22-7CBE-4527-967A-FEFFD364EA9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283200" y="49799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9251" name="灯片编号占位符 1">
            <a:extLst>
              <a:ext uri="{FF2B5EF4-FFF2-40B4-BE49-F238E27FC236}">
                <a16:creationId xmlns:a16="http://schemas.microsoft.com/office/drawing/2014/main" xmlns="" id="{53D0A249-93F1-46F0-B069-1B78AF7E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18A5E6-0461-46AD-AA7D-4AE91418A72B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3EF3949-C81D-4848-BAA2-3A100971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6.5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环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xmlns="" id="{DB85FAF6-2C63-4A52-8D1F-5E1D93B6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6.5.1</a:t>
            </a:r>
            <a:r>
              <a:rPr lang="en-US" altLang="zh-CN" sz="3600" b="1"/>
              <a:t> </a:t>
            </a:r>
            <a:r>
              <a:rPr lang="zh-CN" altLang="en-US" sz="3600" b="1"/>
              <a:t>环的定义及性质</a:t>
            </a:r>
            <a:endParaRPr lang="en-US" altLang="zh-CN" sz="3600" b="1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6.5.2</a:t>
            </a:r>
            <a:r>
              <a:rPr lang="en-US" altLang="zh-CN" sz="3600" b="1"/>
              <a:t> </a:t>
            </a:r>
            <a:r>
              <a:rPr lang="zh-CN" altLang="en-US" sz="3600" b="1"/>
              <a:t>环同态 （不讲）</a:t>
            </a:r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xmlns="" id="{0BA83755-3BA9-4C26-B852-14812FB4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AC9BFF-6BCD-4A50-928F-9D99EFB4F7CE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xmlns="" id="{1FFAFE30-54C7-4A7F-89BB-DF1DC0BC8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6.5.1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环的定义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27AC6703-D357-4065-928D-1D0A8799C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537575" cy="5040312"/>
          </a:xfrm>
        </p:spPr>
        <p:txBody>
          <a:bodyPr/>
          <a:lstStyle/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</a:t>
            </a:r>
            <a:r>
              <a:rPr lang="zh-CN" altLang="en-US" sz="29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非空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其中有加“</a:t>
            </a:r>
            <a:r>
              <a:rPr lang="en-US" altLang="zh-CN" sz="29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、乘“</a:t>
            </a:r>
            <a:r>
              <a:rPr lang="en-US" altLang="zh-CN" sz="29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两种二元代数运算，称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(R, +, •)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为一个环，如果</a:t>
            </a: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 a+b=b+a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 a+(b+c)=(a+b)+c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R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中有一个元素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，适合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a+0=a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4) 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适合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a+(-a)=0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5) a • (b • c)=(a • b) • c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6) a • (b+c)=(a • b)+(a • c)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(a+b) • c=(a • c)+(b • c)</a:t>
            </a: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11268" name="灯片编号占位符 1">
            <a:extLst>
              <a:ext uri="{FF2B5EF4-FFF2-40B4-BE49-F238E27FC236}">
                <a16:creationId xmlns:a16="http://schemas.microsoft.com/office/drawing/2014/main" xmlns="" id="{BD638678-682B-4B65-AB18-125E438C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1C1794-9341-4692-ADF5-D08AFC5A19CC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xmlns="" id="{4BA00F61-A859-4072-A331-9FC3DF22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(R,+,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•)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是环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xmlns="" id="{E8B910CF-0957-4170-AD2E-F18EFD5C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389063"/>
            <a:ext cx="8301037" cy="4776787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方法一）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1.R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非空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满足封闭性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•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满足封闭性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满足交换律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满足结合律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6.R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中有加法单位元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7.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中任意元素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，存在加法逆元素。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 •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满足结合律 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 •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满足左分配律，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满足右分配律。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xmlns="" id="{C05E7657-1CF3-40B1-9ACD-11F5DE6E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1DB298-1BB1-478D-917D-392DF2FCEA21}" type="slidenum">
              <a:rPr lang="ko-KR" altLang="en-US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xmlns="" id="{FE876A28-8FA4-419F-A8DB-4DCD3279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(R,+,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•)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是环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xmlns="" id="{FFF644AC-06B4-4AEF-B3DD-AFF4ACA2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389063"/>
            <a:ext cx="8301037" cy="4572000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方法二）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R,+)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是交换群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•</a:t>
            </a:r>
            <a:r>
              <a:rPr lang="en-US" altLang="zh-CN" sz="3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是半群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满足左分配律，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满足右分配律。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xmlns="" id="{D022FBBD-4A5D-4261-998D-83E85A6F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5BFBED-D568-4B67-B756-1C6CA148D0A9}" type="slidenum">
              <a:rPr lang="ko-KR" altLang="en-US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ABA15ADA-D6F2-41FF-B0F9-B9D4705BB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41438"/>
            <a:ext cx="8151813" cy="4392612"/>
          </a:xfrm>
        </p:spPr>
        <p:txBody>
          <a:bodyPr/>
          <a:lstStyle/>
          <a:p>
            <a:pPr algn="just" eaLnBrk="1" hangingPunct="1">
              <a:lnSpc>
                <a:spcPct val="12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所有整数在整数的加法与乘法下作成一个环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(Z,+,×)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，叫做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整数环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2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矩阵在矩阵的加法与乘法下作成一个环，叫做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</a:t>
            </a: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矩阵环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4339" name="灯片编号占位符 1">
            <a:extLst>
              <a:ext uri="{FF2B5EF4-FFF2-40B4-BE49-F238E27FC236}">
                <a16:creationId xmlns:a16="http://schemas.microsoft.com/office/drawing/2014/main" xmlns="" id="{2E0722FC-4674-48FC-8892-4EAD1A00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B90272-9CF8-4635-875A-C329D5BABFC0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xmlns="" id="{C872506B-281C-4962-988F-F5BA8CADF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>
            <a:extLst>
              <a:ext uri="{FF2B5EF4-FFF2-40B4-BE49-F238E27FC236}">
                <a16:creationId xmlns:a16="http://schemas.microsoft.com/office/drawing/2014/main" xmlns="" id="{FBCD9012-42E5-4D65-B8B1-E9802A93B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整数模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的所有剩余类集合在剩余类加法与乘法下作成一个环。</a:t>
            </a:r>
          </a:p>
          <a:p>
            <a:pPr algn="just" eaLnBrk="1" hangingPunct="1">
              <a:lnSpc>
                <a:spcPct val="110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所有有理数、所有实数、所有复数在数的加法与乘法下都分别作成环，常称为</a:t>
            </a: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有理数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</a:t>
            </a: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、实数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</a:t>
            </a: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、复数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zh-CN" altLang="en-US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3" name="灯片编号占位符 1">
            <a:extLst>
              <a:ext uri="{FF2B5EF4-FFF2-40B4-BE49-F238E27FC236}">
                <a16:creationId xmlns:a16="http://schemas.microsoft.com/office/drawing/2014/main" xmlns="" id="{9A59A4B1-6936-49BD-8D28-7C41BD99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09C65E-8C32-4C19-A135-004C123B3616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xmlns="" id="{DD966403-6AA1-4359-B0D1-0FC6F022F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xmlns="" id="{71B09C5F-1BBC-444B-97C6-47B5B5CE40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57338"/>
            <a:ext cx="8382000" cy="4919662"/>
          </a:xfrm>
        </p:spPr>
        <p:txBody>
          <a:bodyPr/>
          <a:lstStyle/>
          <a:p>
            <a:pPr marL="361950" indent="-361950" algn="just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用数学归纳法，分配律可以推广如下：</a:t>
            </a:r>
          </a:p>
          <a:p>
            <a:pPr marL="361950" indent="-361950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a(b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+…+b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)=(ab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+…+(ab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61950" indent="-361950"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+…+a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)b= (a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b)+…+(a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61950" indent="-36195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9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6387" name="Object 7">
            <a:extLst>
              <a:ext uri="{FF2B5EF4-FFF2-40B4-BE49-F238E27FC236}">
                <a16:creationId xmlns:a16="http://schemas.microsoft.com/office/drawing/2014/main" xmlns="" id="{373AAED6-890B-4C36-B379-0A92B7B7CB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789363"/>
          <a:ext cx="384175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3" imgW="1219200" imgH="457200" progId="Equation.3">
                  <p:embed/>
                </p:oleObj>
              </mc:Choice>
              <mc:Fallback>
                <p:oleObj name="Equation" r:id="rId3" imgW="12192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789363"/>
                        <a:ext cx="384175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灯片编号占位符 1">
            <a:extLst>
              <a:ext uri="{FF2B5EF4-FFF2-40B4-BE49-F238E27FC236}">
                <a16:creationId xmlns:a16="http://schemas.microsoft.com/office/drawing/2014/main" xmlns="" id="{A7A6D7D8-2715-4F49-9C91-6DA6A23E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B1874E-22DB-44F5-9132-EF625D4F6122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xmlns="" id="{03346D79-0849-4519-8F7E-66BD71FC6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环的性质</a:t>
            </a:r>
          </a:p>
        </p:txBody>
      </p:sp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xmlns="" id="{86C22D72-1346-47EF-9EE2-875833D55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3" y="1341438"/>
            <a:ext cx="8147050" cy="482282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a(c-b)=ac-ab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(c-b)a=ca-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a(c-b)+ab=a(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c-b+b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)=ac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b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a(c-b)=ac-ab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。同理，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(c-b)a=ca-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a0=0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0a=0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由性质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，令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b=c=0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</a:t>
            </a:r>
            <a:b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a(0-0)=(a0)-(a0)=0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(0-0)a=(0a)-(0a)=0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b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a0=0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0a=0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 </a:t>
            </a:r>
          </a:p>
        </p:txBody>
      </p:sp>
      <p:sp>
        <p:nvSpPr>
          <p:cNvPr id="17411" name="灯片编号占位符 1">
            <a:extLst>
              <a:ext uri="{FF2B5EF4-FFF2-40B4-BE49-F238E27FC236}">
                <a16:creationId xmlns:a16="http://schemas.microsoft.com/office/drawing/2014/main" xmlns="" id="{19AB4396-CBFC-4E8C-9EBD-E0DB7A31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D1F52B-B778-45BA-B8D4-6521054EBC87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xmlns="" id="{A6389D77-1476-4AF0-80DD-B55C1BC1E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9223D186-F8F7-4662-8A4B-D6F7D0318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563" y="1412875"/>
            <a:ext cx="7715250" cy="4537075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  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a(-b)= -(ab)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(-a)b = -(ab)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(-a)(-b)=ab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由性质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</a:t>
            </a:r>
            <a:b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a(-b)=a(0-b)=a0 -ab = -(ab)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(-a)b =(0-a)b=0b -ab=-(ab)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b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(-a)(-b) =-((-a)b)= -(-(ab))=ab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435" name="灯片编号占位符 1">
            <a:extLst>
              <a:ext uri="{FF2B5EF4-FFF2-40B4-BE49-F238E27FC236}">
                <a16:creationId xmlns:a16="http://schemas.microsoft.com/office/drawing/2014/main" xmlns="" id="{A469BF29-546F-4101-8961-CCF1D326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8FF1E4-BC12-4CA4-BBF5-E9BC46C0BAC1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xmlns="" id="{2BC0B183-C5A5-4CD8-80F9-F0F2FF4C2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xmlns="" id="{9D0B0A01-2C62-4AB0-9854-FB22672C5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362075"/>
            <a:ext cx="8007350" cy="4154488"/>
          </a:xfrm>
        </p:spPr>
        <p:txBody>
          <a:bodyPr/>
          <a:lstStyle/>
          <a:p>
            <a:pPr marL="387350" indent="-387350"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对任意整数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，都有</a:t>
            </a:r>
            <a:b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mb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(ma)b = m(ab)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   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m+n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87350" indent="-387350" algn="just" eaLnBrk="1" hangingPunct="1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87350" indent="-387350" algn="just" eaLnBrk="1" hangingPunct="1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xmlns="" id="{220939C0-76E1-439A-8F57-7BC4B6580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9363"/>
            <a:ext cx="8382000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7350" indent="-3873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19460" name="灯片编号占位符 1">
            <a:extLst>
              <a:ext uri="{FF2B5EF4-FFF2-40B4-BE49-F238E27FC236}">
                <a16:creationId xmlns:a16="http://schemas.microsoft.com/office/drawing/2014/main" xmlns="" id="{A18EF7CE-C73C-4693-82B5-759B6CB6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A4E07C-84AC-4E2A-B94F-464507104031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xmlns="" id="{48002973-7258-4139-9053-BC2F3209D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>
            <a:extLst>
              <a:ext uri="{FF2B5EF4-FFF2-40B4-BE49-F238E27FC236}">
                <a16:creationId xmlns:a16="http://schemas.microsoft.com/office/drawing/2014/main" xmlns="" id="{141108CD-2F57-4BAF-8F4C-9F91719A0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乘法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适合交换律：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ab=ba,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是一个交换环。</a:t>
            </a: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3" name="灯片编号占位符 3">
            <a:extLst>
              <a:ext uri="{FF2B5EF4-FFF2-40B4-BE49-F238E27FC236}">
                <a16:creationId xmlns:a16="http://schemas.microsoft.com/office/drawing/2014/main" xmlns="" id="{6060FD9C-C6E6-4A6D-9D41-05C99896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5AF257-707D-4A29-8410-1BBF78697A20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xmlns="" id="{A8133532-B892-4263-9B22-7781A0D23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交换环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2E136E4-AF31-4882-A937-53822F147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  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交换环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中，有第三指数律：</a:t>
            </a:r>
            <a:b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lang="en-US" altLang="zh-CN" sz="32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baseline="300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3200" b="1" baseline="300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lang="en-US" altLang="zh-CN" sz="32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defRPr/>
            </a:pPr>
            <a:endParaRPr lang="en-US" altLang="zh-CN" sz="32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87350" indent="-387350"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  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在交换环中二项式定理成立：</a:t>
            </a:r>
          </a:p>
          <a:p>
            <a:pPr marL="387350" indent="-387350" algn="just" eaLnBrk="1" hangingPunct="1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a+b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lang="en-US" altLang="zh-CN" sz="32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 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a</a:t>
            </a:r>
            <a:r>
              <a:rPr lang="en-US" altLang="zh-CN" sz="32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 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 na</a:t>
            </a:r>
            <a:r>
              <a:rPr lang="en-US" altLang="zh-CN" sz="32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n-1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b+          a</a:t>
            </a:r>
            <a:r>
              <a:rPr lang="en-US" altLang="zh-CN" sz="32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n-2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32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 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 … + 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3200" b="1" baseline="300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</a:p>
          <a:p>
            <a:pPr eaLnBrk="1" hangingPunct="1">
              <a:defRPr/>
            </a:pPr>
            <a:endParaRPr lang="zh-CN" altLang="en-US" b="1" dirty="0">
              <a:latin typeface="Times New Roman" pitchFamily="18" charset="0"/>
            </a:endParaRPr>
          </a:p>
          <a:p>
            <a:pPr eaLnBrk="1" hangingPunct="1">
              <a:defRPr/>
            </a:pPr>
            <a:endParaRPr lang="zh-CN" altLang="en-US" dirty="0"/>
          </a:p>
        </p:txBody>
      </p:sp>
      <p:graphicFrame>
        <p:nvGraphicFramePr>
          <p:cNvPr id="21507" name="Object 2">
            <a:extLst>
              <a:ext uri="{FF2B5EF4-FFF2-40B4-BE49-F238E27FC236}">
                <a16:creationId xmlns:a16="http://schemas.microsoft.com/office/drawing/2014/main" xmlns="" id="{99C7BD01-5BD0-47B5-A71A-F621595F8F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4076700"/>
          <a:ext cx="9445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公式" r:id="rId3" imgW="944962" imgH="719390" progId="Equation.3">
                  <p:embed/>
                </p:oleObj>
              </mc:Choice>
              <mc:Fallback>
                <p:oleObj name="公式" r:id="rId3" imgW="944962" imgH="71939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076700"/>
                        <a:ext cx="944562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灯片编号占位符 1">
            <a:extLst>
              <a:ext uri="{FF2B5EF4-FFF2-40B4-BE49-F238E27FC236}">
                <a16:creationId xmlns:a16="http://schemas.microsoft.com/office/drawing/2014/main" xmlns="" id="{6D24ADED-E489-430F-AD9B-1857610A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750DF1-6645-4C43-A6EB-3EE566605C11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xmlns="" id="{0B0D641B-D622-4F1A-A261-0F66DCC56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环的性质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xmlns="" id="{C767CC91-96FC-4E18-9AB8-8B4BCF1D6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84313"/>
            <a:ext cx="8382000" cy="4992687"/>
          </a:xfrm>
        </p:spPr>
        <p:txBody>
          <a:bodyPr/>
          <a:lstStyle/>
          <a:p>
            <a:pPr marL="0" indent="0" eaLnBrk="1" hangingPunct="1">
              <a:lnSpc>
                <a:spcPct val="115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如果环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不只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有一个元素而且有一个元素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适合对任意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b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1a = a1 = a           </a:t>
            </a:r>
            <a:b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为含单位元环。</a:t>
            </a:r>
            <a:b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 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整数环为含单位元环，所有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偶数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在数的加法和乘法下作成的环不是含单位元环。 </a:t>
            </a:r>
          </a:p>
        </p:txBody>
      </p:sp>
      <p:sp>
        <p:nvSpPr>
          <p:cNvPr id="22531" name="灯片编号占位符 1">
            <a:extLst>
              <a:ext uri="{FF2B5EF4-FFF2-40B4-BE49-F238E27FC236}">
                <a16:creationId xmlns:a16="http://schemas.microsoft.com/office/drawing/2014/main" xmlns="" id="{8D2D2150-BCDC-4F69-ACF2-F6D85DB0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1A172D-1164-4F70-9D0B-C7BF51C1B370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xmlns="" id="{7CE02E2C-FF61-4B75-A9E7-31D7FF847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含单位元环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77F3639B-EFFD-41EC-BE1D-2B2FB862C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424862" cy="3671888"/>
          </a:xfrm>
        </p:spPr>
        <p:txBody>
          <a:bodyPr/>
          <a:lstStyle/>
          <a:p>
            <a:pPr marL="363538" indent="-363538" algn="just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 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含单位元环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的单位元是唯一确定的。</a:t>
            </a:r>
          </a:p>
          <a:p>
            <a:pPr marL="363538" indent="-363538" algn="just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1′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的两个单位元，则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1′=11′=1</a:t>
            </a:r>
          </a:p>
          <a:p>
            <a:pPr marL="363538" indent="-363538" algn="just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</a:p>
          <a:p>
            <a:pPr marL="363538" indent="-363538" algn="just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 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设环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1≠0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63538" indent="-363538" algn="just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a∈R,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a≠0,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a0=0,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a1=a,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1≠0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      </a:t>
            </a:r>
          </a:p>
        </p:txBody>
      </p:sp>
      <p:sp>
        <p:nvSpPr>
          <p:cNvPr id="23555" name="灯片编号占位符 1">
            <a:extLst>
              <a:ext uri="{FF2B5EF4-FFF2-40B4-BE49-F238E27FC236}">
                <a16:creationId xmlns:a16="http://schemas.microsoft.com/office/drawing/2014/main" xmlns="" id="{12928F4F-6D2A-40F8-9878-126406A1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10F495-F7CB-4BD7-95EE-A89D9650518D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xmlns="" id="{A23A03E6-3038-4AB4-B256-3529DE5EA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含单位元环性质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0B76997-28B5-4E4F-94E4-EF4CBDE5F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性质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  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任意环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均可扩充成一个含单位元环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sz="30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</a:p>
          <a:p>
            <a:pPr marL="363538" indent="-363538" eaLnBrk="1" hangingPunct="1">
              <a:lnSpc>
                <a:spcPct val="135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证明：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令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sz="30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={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a+m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| 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a∈R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m∈I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整数环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)}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。规定：</a:t>
            </a:r>
            <a:endParaRPr lang="en-US" altLang="zh-CN" sz="3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63538" indent="-363538" eaLnBrk="1" hangingPunct="1">
              <a:lnSpc>
                <a:spcPct val="135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a+m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)+(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b+n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)=(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a+b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)+(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m+n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);</a:t>
            </a:r>
          </a:p>
          <a:p>
            <a:pPr marL="363538" indent="-363538" eaLnBrk="1" hangingPunct="1">
              <a:lnSpc>
                <a:spcPct val="135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a+m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b+n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)=(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ab+na+mb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)+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mn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lang="en-US" altLang="zh-CN" sz="3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63538" indent="-363538" eaLnBrk="1" hangingPunct="1">
              <a:lnSpc>
                <a:spcPct val="135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则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sz="30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为环，其单位元为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0+1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 </a:t>
            </a:r>
            <a:endParaRPr lang="en-US" altLang="zh-CN" sz="3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35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sz="30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anose="05050102010706020507" pitchFamily="18" charset="2"/>
              </a:rPr>
              <a:t> {a+0|a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∈R}=R+0 , R</a:t>
            </a:r>
            <a:r>
              <a:rPr lang="en-US" altLang="zh-CN" sz="3000" b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的加法和乘法是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的运算的扩充。</a:t>
            </a:r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24579" name="灯片编号占位符 1">
            <a:extLst>
              <a:ext uri="{FF2B5EF4-FFF2-40B4-BE49-F238E27FC236}">
                <a16:creationId xmlns:a16="http://schemas.microsoft.com/office/drawing/2014/main" xmlns="" id="{F21EA694-89DF-4589-A7C2-8F16CF08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F3E385-B6D8-4DAB-B43A-989EFADB1FA4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xmlns="" id="{5FCAC397-DBBF-4B70-94D8-B28A32CA3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含单位元环性质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xmlns="" id="{7FDCB3C7-9E97-4E31-A86C-DC521D7A8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382000" cy="508635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定义：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若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是环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的非空子集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若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的加法和乘法下仍是环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则称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的子环。</a:t>
            </a:r>
          </a:p>
          <a:p>
            <a:pPr marL="361950" indent="-361950" eaLnBrk="1" hangingPunct="1">
              <a:lnSpc>
                <a:spcPct val="13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结论：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本身以及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{0}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的两个平凡子环。</a:t>
            </a:r>
          </a:p>
          <a:p>
            <a:pPr marL="361950" indent="-361950" eaLnBrk="1" hangingPunct="1">
              <a:lnSpc>
                <a:spcPct val="13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定理</a:t>
            </a:r>
            <a:r>
              <a:rPr lang="en-US" altLang="zh-CN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6.5.1  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的子集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作成子环必要而且只要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/>
            </a:r>
            <a:b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（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  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非空；</a:t>
            </a:r>
            <a:b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（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  若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a∈S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b∈S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，则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a-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b∈S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;</a:t>
            </a:r>
            <a:b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 若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a∈S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b∈S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，则</a:t>
            </a:r>
            <a:r>
              <a:rPr lang="en-US" altLang="zh-CN" sz="32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ab∈S</a:t>
            </a: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 </a:t>
            </a:r>
          </a:p>
        </p:txBody>
      </p:sp>
      <p:sp>
        <p:nvSpPr>
          <p:cNvPr id="25603" name="灯片编号占位符 1">
            <a:extLst>
              <a:ext uri="{FF2B5EF4-FFF2-40B4-BE49-F238E27FC236}">
                <a16:creationId xmlns:a16="http://schemas.microsoft.com/office/drawing/2014/main" xmlns="" id="{786019BF-8AEE-48F8-9C05-F7E9BD4E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4E3997-2351-4BB2-B190-B72D57C838C7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xmlns="" id="{E5F97C0F-A7C9-4986-9280-751DA3A81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子环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56EBD41-E744-4DCD-A7F0-23E162208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476375"/>
            <a:ext cx="8301038" cy="4772025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对于环来说，若大环有单位元，子环未必有单位元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</a:t>
            </a:r>
          </a:p>
          <a:p>
            <a:pPr marL="0" indent="0" eaLnBrk="1" hangingPunct="1"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如，整数环含单位元，但其子环偶数环不含单位元。</a:t>
            </a:r>
            <a:endParaRPr lang="en-US" altLang="zh-CN" sz="32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即使子环有单位元，其单位元未必与大环的单位元一致</a:t>
            </a: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</a:t>
            </a:r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26627" name="灯片编号占位符 1">
            <a:extLst>
              <a:ext uri="{FF2B5EF4-FFF2-40B4-BE49-F238E27FC236}">
                <a16:creationId xmlns:a16="http://schemas.microsoft.com/office/drawing/2014/main" xmlns="" id="{10BFA678-13B0-4297-B463-21CD1851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83121F-DA09-43FC-AB0B-519E06FF4C4D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xmlns="" id="{105E738A-83CC-45DF-A471-4E00F5678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子环与大环的关系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xmlns="" id="{0D840A64-9CC9-467B-B0E7-34643EFC9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96975"/>
            <a:ext cx="8382000" cy="528002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定义：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是环，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a,b∈R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a≠0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b≠0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，但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ab=0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零因子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。如果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没有这样的元素，则说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无零因子。无零因子的环称为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消去环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整数环是消去环，矩阵环不是消去环，有零因子。比如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n=2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 algn="just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651" name="Object 4">
            <a:extLst>
              <a:ext uri="{FF2B5EF4-FFF2-40B4-BE49-F238E27FC236}">
                <a16:creationId xmlns:a16="http://schemas.microsoft.com/office/drawing/2014/main" xmlns="" id="{BE5C1541-D790-4C0A-BE8A-D8E6B31B05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797425"/>
          <a:ext cx="3738562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Equation" r:id="rId3" imgW="1498600" imgH="457200" progId="Equation.3">
                  <p:embed/>
                </p:oleObj>
              </mc:Choice>
              <mc:Fallback>
                <p:oleObj name="Equation" r:id="rId3" imgW="14986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797425"/>
                        <a:ext cx="3738562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灯片编号占位符 1">
            <a:extLst>
              <a:ext uri="{FF2B5EF4-FFF2-40B4-BE49-F238E27FC236}">
                <a16:creationId xmlns:a16="http://schemas.microsoft.com/office/drawing/2014/main" xmlns="" id="{C0FCA93E-A65D-4D7E-9EF1-7AAB20DA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2B3614-D9FF-44E3-AA65-E2DD5D379888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xmlns="" id="{90C7399E-DBF4-487B-BCD6-0983E47C9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内容占位符 2">
            <a:extLst>
              <a:ext uri="{FF2B5EF4-FFF2-40B4-BE49-F238E27FC236}">
                <a16:creationId xmlns:a16="http://schemas.microsoft.com/office/drawing/2014/main" xmlns="" id="{216F75E7-10DE-4DA6-886B-E54FED68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00FF"/>
                </a:solidFill>
              </a:rPr>
              <a:t>例</a:t>
            </a:r>
            <a:r>
              <a:rPr lang="en-US" altLang="zh-CN" sz="3200" b="1">
                <a:solidFill>
                  <a:srgbClr val="0000FF"/>
                </a:solidFill>
              </a:rPr>
              <a:t>.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剩余类环是消去环吗？若不是，给出其所有零因子。</a:t>
            </a: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 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不是消去环。所有零因子如下：</a:t>
            </a: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77681A4F-58C7-4481-9A4C-2B4EBFB968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73463"/>
          <a:ext cx="33337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公式" r:id="rId3" imgW="939392" imgH="241195" progId="Equation.3">
                  <p:embed/>
                </p:oleObj>
              </mc:Choice>
              <mc:Fallback>
                <p:oleObj name="公式" r:id="rId3" imgW="939392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33337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灯片编号占位符 1">
            <a:extLst>
              <a:ext uri="{FF2B5EF4-FFF2-40B4-BE49-F238E27FC236}">
                <a16:creationId xmlns:a16="http://schemas.microsoft.com/office/drawing/2014/main" xmlns="" id="{16403D1E-2E11-4399-971E-B194DC4E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4B01AF-2CB2-4F00-A6FD-1E13003604AB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xmlns="" id="{C08D4B00-BD8B-42CA-86EF-4AABE4330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5DDE23B2-83AF-4BBC-84CA-16681768E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705850" cy="5184775"/>
          </a:xfrm>
        </p:spPr>
        <p:txBody>
          <a:bodyPr/>
          <a:lstStyle/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性质</a:t>
            </a:r>
            <a:r>
              <a:rPr lang="en-US" altLang="zh-CN" sz="2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  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环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是消去环当且仅当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中非零元消去律成立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证明：</a:t>
            </a:r>
            <a:endParaRPr lang="en-US" altLang="zh-CN" sz="2900" b="1" dirty="0">
              <a:solidFill>
                <a:srgbClr val="0000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i="1" u="sng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必要性</a:t>
            </a:r>
            <a:r>
              <a:rPr lang="zh-CN" altLang="en-US" sz="29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br>
              <a:rPr lang="zh-CN" altLang="en-US" sz="29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如果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，且</a:t>
            </a:r>
            <a:r>
              <a:rPr lang="en-US" altLang="zh-CN" sz="29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ac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，那么</a:t>
            </a:r>
            <a:r>
              <a:rPr lang="en-US" altLang="zh-CN" sz="29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-ac = 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  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a(b-c)= 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。因环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中无零因子，而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，故必有  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b-c= 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 = c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，因此，左消去律成立，同理可证右消去律也成立。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i="1" u="sng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充分性</a:t>
            </a:r>
            <a:r>
              <a:rPr lang="zh-CN" altLang="en-US" sz="29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lang="en-US" altLang="zh-CN" sz="2900" b="1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设消去律成立，即由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9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ac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可推出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 = c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。若 </a:t>
            </a:r>
            <a:r>
              <a:rPr lang="en-US" altLang="zh-CN" sz="29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，而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，则</a:t>
            </a:r>
            <a:r>
              <a:rPr lang="en-US" altLang="zh-CN" sz="29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a0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，因而由消去律可得 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 = 0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。故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无零因子，</a:t>
            </a:r>
            <a:r>
              <a:rPr lang="en-US" altLang="zh-CN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9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是消去环。 </a:t>
            </a:r>
          </a:p>
        </p:txBody>
      </p:sp>
      <p:sp>
        <p:nvSpPr>
          <p:cNvPr id="29699" name="灯片编号占位符 1">
            <a:extLst>
              <a:ext uri="{FF2B5EF4-FFF2-40B4-BE49-F238E27FC236}">
                <a16:creationId xmlns:a16="http://schemas.microsoft.com/office/drawing/2014/main" xmlns="" id="{F65FCA98-A0D1-4AE9-B87B-DFAF53A1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332714-B074-4A13-B5EA-27E883F44888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xmlns="" id="{01E5B7A1-1A7D-4B12-A78A-07986DCCA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xmlns="" id="{FD5E0562-9850-404E-A543-511E55F73F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80400" cy="5256212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13 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在消去环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中，不为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的元素在加法下的周期相同。</a:t>
            </a:r>
            <a:endParaRPr lang="zh-CN" altLang="en-US" sz="3000" b="1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证明：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(1) 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若不为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的元素在加法下的周期都为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0,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得证。</a:t>
            </a:r>
            <a:endParaRPr lang="en-US" altLang="zh-CN" sz="3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514350" indent="-514350" algn="just" eaLnBrk="1" hangingPunct="1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AutoNum type="arabicParenBoth" startAt="2"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否则，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中存在非零元素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的周期不是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，设为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 = 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 任取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中非零元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，则</a:t>
            </a:r>
            <a:endParaRPr lang="en-US" altLang="zh-CN" sz="3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514350" indent="-514350" algn="just" eaLnBrk="1" hangingPunct="1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a(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mb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= (ma)b = 0b = 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又由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，且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无零因子知，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mb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，所以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的周期不是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，设为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，则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n|m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30723" name="灯片编号占位符 1">
            <a:extLst>
              <a:ext uri="{FF2B5EF4-FFF2-40B4-BE49-F238E27FC236}">
                <a16:creationId xmlns:a16="http://schemas.microsoft.com/office/drawing/2014/main" xmlns="" id="{EBCC8D4B-29C3-43DA-AB89-E1ED1331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F58AEA-E963-417A-A61A-21C5AC234857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xmlns="" id="{B3B304B3-69AF-4E9D-94AE-60FED3898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C2173AF3-4F2C-42D0-A546-994714845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6713" y="1412875"/>
            <a:ext cx="8382000" cy="496887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另一方面，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(na)b=a(nb)=a0=0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，又由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b≠0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无零因子知，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na=0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m|n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。因此，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m=n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的任意性知，在消去环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中，不为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的元素在加法下的周期都与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的周期相同。 </a:t>
            </a:r>
          </a:p>
        </p:txBody>
      </p:sp>
      <p:sp>
        <p:nvSpPr>
          <p:cNvPr id="31747" name="灯片编号占位符 1">
            <a:extLst>
              <a:ext uri="{FF2B5EF4-FFF2-40B4-BE49-F238E27FC236}">
                <a16:creationId xmlns:a16="http://schemas.microsoft.com/office/drawing/2014/main" xmlns="" id="{5DC287A8-74C7-47EE-82F1-4E3702B5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253998-454E-433A-8123-D05A0ED1E3D6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xmlns="" id="{B43BC6FB-A8D1-4F89-A190-5597676BA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xmlns="" id="{7D6819A7-511B-4190-9D5E-090676272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19200"/>
            <a:ext cx="8569325" cy="48006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14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在消去环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中，不为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的元素在加法下的周期或为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或为质数。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任取元素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a∈R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a≠0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  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，则得证。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  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否则，只需证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是质数。</a:t>
            </a:r>
          </a:p>
        </p:txBody>
      </p:sp>
      <p:sp>
        <p:nvSpPr>
          <p:cNvPr id="32771" name="灯片编号占位符 1">
            <a:extLst>
              <a:ext uri="{FF2B5EF4-FFF2-40B4-BE49-F238E27FC236}">
                <a16:creationId xmlns:a16="http://schemas.microsoft.com/office/drawing/2014/main" xmlns="" id="{8DA60A52-CA43-4CBE-A564-3396A949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1F3293-9695-4F59-A309-93CA1B2E3FC9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xmlns="" id="{B83D5D72-A527-4F5B-916D-685954841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2A82375C-BBCF-40CD-98F3-323296464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520112" cy="5327650"/>
          </a:xfrm>
        </p:spPr>
        <p:txBody>
          <a:bodyPr/>
          <a:lstStyle/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用反证法。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不是质数，则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= 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且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≠1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≠1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。故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1&lt;n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1&lt;n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 显然， 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∈ 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知， </a:t>
            </a:r>
          </a:p>
          <a:p>
            <a:pPr marL="387350" indent="-387350" algn="ctr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a≠0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a≠0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。而</a:t>
            </a:r>
          </a:p>
          <a:p>
            <a:pPr marL="387350" indent="-38735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a)(n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a) =(n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)(aa)</a:t>
            </a:r>
          </a:p>
          <a:p>
            <a:pPr marL="387350" indent="-38735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= (na)a = 0a = 0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87350" indent="-38735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baseline="-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为零因子，与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无零因子矛盾。</a:t>
            </a:r>
          </a:p>
          <a:p>
            <a:pPr marL="387350" indent="-38735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因此，原假设不对，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是质数。 </a:t>
            </a:r>
          </a:p>
        </p:txBody>
      </p:sp>
      <p:sp>
        <p:nvSpPr>
          <p:cNvPr id="33795" name="灯片编号占位符 1">
            <a:extLst>
              <a:ext uri="{FF2B5EF4-FFF2-40B4-BE49-F238E27FC236}">
                <a16:creationId xmlns:a16="http://schemas.microsoft.com/office/drawing/2014/main" xmlns="" id="{9856EFAD-ACF2-441A-AE42-7D444EDE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F9267E-CD77-4610-9DFB-C60413DE5B51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xmlns="" id="{51C4F014-FBAB-439D-ACD4-0E0FAD406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消去环的性质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xmlns="" id="{EFF4E14C-0D38-4F4C-9780-7563061BE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9888" y="1412875"/>
            <a:ext cx="8497887" cy="4751388"/>
          </a:xfrm>
        </p:spPr>
        <p:txBody>
          <a:bodyPr/>
          <a:lstStyle/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有单位元无零因子的交换环叫做整区。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理解整区定义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是含单位元环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至少两元素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消去环、交换环。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想证明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(R, +, •)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是整区，需要证明：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(R,+)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Abel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(R,•)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是半群，有单位元，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且交换律、消去律成立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无零因子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387350" indent="-38735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• 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有分配律。</a:t>
            </a:r>
          </a:p>
        </p:txBody>
      </p:sp>
      <p:sp>
        <p:nvSpPr>
          <p:cNvPr id="34819" name="灯片编号占位符 1">
            <a:extLst>
              <a:ext uri="{FF2B5EF4-FFF2-40B4-BE49-F238E27FC236}">
                <a16:creationId xmlns:a16="http://schemas.microsoft.com/office/drawing/2014/main" xmlns="" id="{C568C58B-FEA4-41F0-8EE2-E8272645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3F3BE3-C93F-4566-BFF6-E8FC7F782C07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xmlns="" id="{83C072E0-1D78-45BB-859B-7B927BE20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整区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>
            <a:extLst>
              <a:ext uri="{FF2B5EF4-FFF2-40B4-BE49-F238E27FC236}">
                <a16:creationId xmlns:a16="http://schemas.microsoft.com/office/drawing/2014/main" xmlns="" id="{B7115982-F199-41D2-BD45-CC11E2054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518477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整数环、有理数环、实数环、复数环都是整区。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实数域上的所有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阶矩阵在矩阵的加法与乘法下作成的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阶矩阵环不是整区：</a:t>
            </a:r>
            <a:endParaRPr lang="en-US" altLang="zh-CN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不是交换环，不是消去环。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整数模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的所有剩余类集合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32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在剩余类加法与乘法下作成一个有单位元的交换环，</a:t>
            </a:r>
            <a:endParaRPr lang="en-US" altLang="zh-CN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但不是整区：不是消去环。</a:t>
            </a:r>
          </a:p>
        </p:txBody>
      </p:sp>
      <p:sp>
        <p:nvSpPr>
          <p:cNvPr id="35843" name="灯片编号占位符 1">
            <a:extLst>
              <a:ext uri="{FF2B5EF4-FFF2-40B4-BE49-F238E27FC236}">
                <a16:creationId xmlns:a16="http://schemas.microsoft.com/office/drawing/2014/main" xmlns="" id="{E656D00D-DE10-4F36-AE01-9110802F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1FB41F-A204-4F85-B429-4C46FD6495D7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xmlns="" id="{450094C4-AD11-4F19-B6EC-B4F192CB5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7F3501E-799B-45EF-986A-75DDF3CC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96975"/>
            <a:ext cx="8112125" cy="504031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3000" b="1" dirty="0">
                <a:ea typeface="宋体" pitchFamily="2" charset="-122"/>
              </a:rPr>
              <a:t>设</a:t>
            </a:r>
            <a:r>
              <a:rPr lang="en-US" altLang="zh-CN" sz="3000" b="1" dirty="0">
                <a:ea typeface="宋体" pitchFamily="2" charset="-122"/>
              </a:rPr>
              <a:t>R={0,1,2,…,8}</a:t>
            </a:r>
            <a:r>
              <a:rPr lang="zh-CN" altLang="zh-CN" sz="3000" b="1" dirty="0">
                <a:ea typeface="宋体" pitchFamily="2" charset="-122"/>
              </a:rPr>
              <a:t>，</a:t>
            </a:r>
            <a:r>
              <a:rPr lang="en-US" altLang="zh-CN" sz="3000" b="1" dirty="0">
                <a:ea typeface="宋体" pitchFamily="2" charset="-122"/>
                <a:sym typeface="Symbol"/>
              </a:rPr>
              <a:t></a:t>
            </a:r>
            <a:r>
              <a:rPr lang="zh-CN" altLang="zh-CN" sz="3000" b="1" dirty="0">
                <a:ea typeface="宋体" pitchFamily="2" charset="-122"/>
              </a:rPr>
              <a:t>是模</a:t>
            </a:r>
            <a:r>
              <a:rPr lang="en-US" altLang="zh-CN" sz="3000" b="1" dirty="0">
                <a:ea typeface="宋体" pitchFamily="2" charset="-122"/>
              </a:rPr>
              <a:t>9</a:t>
            </a:r>
            <a:r>
              <a:rPr lang="zh-CN" altLang="zh-CN" sz="3000" b="1" dirty="0">
                <a:ea typeface="宋体" pitchFamily="2" charset="-122"/>
              </a:rPr>
              <a:t>加法，</a:t>
            </a:r>
            <a:r>
              <a:rPr lang="en-US" altLang="zh-CN" sz="3000" b="1" dirty="0">
                <a:ea typeface="宋体" pitchFamily="2" charset="-122"/>
                <a:sym typeface="Symbol"/>
              </a:rPr>
              <a:t></a:t>
            </a:r>
            <a:r>
              <a:rPr lang="zh-CN" altLang="zh-CN" sz="3000" b="1" dirty="0">
                <a:ea typeface="宋体" pitchFamily="2" charset="-122"/>
              </a:rPr>
              <a:t>是模</a:t>
            </a:r>
            <a:r>
              <a:rPr lang="en-US" altLang="zh-CN" sz="3000" b="1" dirty="0">
                <a:ea typeface="宋体" pitchFamily="2" charset="-122"/>
              </a:rPr>
              <a:t>9</a:t>
            </a:r>
            <a:r>
              <a:rPr lang="zh-CN" altLang="zh-CN" sz="3000" b="1" dirty="0">
                <a:ea typeface="宋体" pitchFamily="2" charset="-122"/>
              </a:rPr>
              <a:t>乘法，则</a:t>
            </a:r>
            <a:r>
              <a:rPr lang="en-US" altLang="zh-CN" sz="3000" b="1" dirty="0">
                <a:ea typeface="宋体" pitchFamily="2" charset="-122"/>
              </a:rPr>
              <a:t>(R, </a:t>
            </a:r>
            <a:r>
              <a:rPr lang="en-US" altLang="zh-CN" sz="3000" b="1" dirty="0">
                <a:ea typeface="宋体" pitchFamily="2" charset="-122"/>
                <a:sym typeface="Symbol"/>
              </a:rPr>
              <a:t></a:t>
            </a:r>
            <a:r>
              <a:rPr lang="en-US" altLang="zh-CN" sz="3000" b="1" dirty="0">
                <a:ea typeface="宋体" pitchFamily="2" charset="-122"/>
              </a:rPr>
              <a:t>, </a:t>
            </a:r>
            <a:r>
              <a:rPr lang="en-US" altLang="zh-CN" sz="3000" b="1" dirty="0">
                <a:ea typeface="宋体" pitchFamily="2" charset="-122"/>
                <a:sym typeface="Symbol"/>
              </a:rPr>
              <a:t></a:t>
            </a:r>
            <a:r>
              <a:rPr lang="en-US" altLang="zh-CN" sz="3000" b="1" dirty="0">
                <a:ea typeface="宋体" pitchFamily="2" charset="-122"/>
              </a:rPr>
              <a:t>)</a:t>
            </a:r>
            <a:r>
              <a:rPr lang="zh-CN" altLang="zh-CN" sz="3000" b="1" dirty="0">
                <a:ea typeface="宋体" pitchFamily="2" charset="-122"/>
              </a:rPr>
              <a:t>是环，请问：</a:t>
            </a:r>
            <a:r>
              <a:rPr lang="en-US" altLang="zh-CN" sz="3000" b="1" dirty="0">
                <a:ea typeface="宋体" pitchFamily="2" charset="-122"/>
              </a:rPr>
              <a:t/>
            </a:r>
            <a:br>
              <a:rPr lang="en-US" altLang="zh-CN" sz="3000" b="1" dirty="0">
                <a:ea typeface="宋体" pitchFamily="2" charset="-122"/>
              </a:rPr>
            </a:br>
            <a:r>
              <a:rPr lang="en-US" altLang="zh-CN" sz="3000" b="1" dirty="0">
                <a:ea typeface="宋体" pitchFamily="2" charset="-122"/>
              </a:rPr>
              <a:t>(1)</a:t>
            </a:r>
            <a:r>
              <a:rPr lang="zh-CN" altLang="zh-CN" sz="3000" b="1" dirty="0">
                <a:ea typeface="宋体" pitchFamily="2" charset="-122"/>
              </a:rPr>
              <a:t>环</a:t>
            </a:r>
            <a:r>
              <a:rPr lang="en-US" altLang="zh-CN" sz="3000" b="1" dirty="0">
                <a:ea typeface="宋体" pitchFamily="2" charset="-122"/>
              </a:rPr>
              <a:t>R</a:t>
            </a:r>
            <a:r>
              <a:rPr lang="zh-CN" altLang="zh-CN" sz="3000" b="1" dirty="0">
                <a:ea typeface="宋体" pitchFamily="2" charset="-122"/>
              </a:rPr>
              <a:t>是消去环吗？若不是，请找出其中的零因子</a:t>
            </a:r>
            <a:r>
              <a:rPr lang="en-US" altLang="zh-CN" sz="3000" b="1" dirty="0">
                <a:ea typeface="宋体" pitchFamily="2" charset="-122"/>
              </a:rPr>
              <a:t/>
            </a:r>
            <a:br>
              <a:rPr lang="en-US" altLang="zh-CN" sz="3000" b="1" dirty="0">
                <a:ea typeface="宋体" pitchFamily="2" charset="-122"/>
              </a:rPr>
            </a:br>
            <a:r>
              <a:rPr lang="en-US" altLang="zh-CN" sz="3000" b="1" dirty="0">
                <a:ea typeface="宋体" pitchFamily="2" charset="-122"/>
              </a:rPr>
              <a:t>(2)</a:t>
            </a:r>
            <a:r>
              <a:rPr lang="zh-CN" altLang="zh-CN" sz="3000" b="1" dirty="0">
                <a:ea typeface="宋体" pitchFamily="2" charset="-122"/>
              </a:rPr>
              <a:t>环</a:t>
            </a:r>
            <a:r>
              <a:rPr lang="en-US" altLang="zh-CN" sz="3000" b="1" dirty="0">
                <a:ea typeface="宋体" pitchFamily="2" charset="-122"/>
              </a:rPr>
              <a:t>R</a:t>
            </a:r>
            <a:r>
              <a:rPr lang="zh-CN" altLang="zh-CN" sz="3000" b="1" dirty="0">
                <a:ea typeface="宋体" pitchFamily="2" charset="-122"/>
              </a:rPr>
              <a:t>是整区吗？</a:t>
            </a:r>
            <a:endParaRPr lang="en-US" altLang="zh-CN" sz="3000" b="1" dirty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itchFamily="2" charset="-122"/>
              </a:rPr>
              <a:t>(3)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求出加法周期为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的元素</a:t>
            </a:r>
            <a:r>
              <a:rPr lang="en-US" altLang="zh-CN" sz="3000" b="1" dirty="0">
                <a:ea typeface="宋体" pitchFamily="2" charset="-122"/>
              </a:rPr>
              <a:t/>
            </a:r>
            <a:br>
              <a:rPr lang="en-US" altLang="zh-CN" sz="3000" b="1" dirty="0">
                <a:ea typeface="宋体" pitchFamily="2" charset="-122"/>
              </a:rPr>
            </a:br>
            <a:r>
              <a:rPr lang="zh-CN" altLang="en-US" sz="3000" b="1" dirty="0">
                <a:solidFill>
                  <a:srgbClr val="0000FF"/>
                </a:solidFill>
                <a:ea typeface="宋体" pitchFamily="2" charset="-122"/>
              </a:rPr>
              <a:t>解：</a:t>
            </a:r>
            <a:endParaRPr lang="en-US" altLang="zh-CN" sz="3000" b="1" dirty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itchFamily="2" charset="-122"/>
              </a:rPr>
              <a:t>(1)</a:t>
            </a:r>
            <a:r>
              <a:rPr lang="zh-CN" altLang="en-US" sz="3000" b="1" dirty="0">
                <a:ea typeface="宋体" pitchFamily="2" charset="-122"/>
              </a:rPr>
              <a:t>不是，</a:t>
            </a:r>
            <a:r>
              <a:rPr lang="en-US" altLang="zh-CN" sz="3000" b="1" dirty="0">
                <a:ea typeface="宋体" pitchFamily="2" charset="-122"/>
              </a:rPr>
              <a:t>3</a:t>
            </a:r>
            <a:r>
              <a:rPr lang="zh-CN" altLang="en-US" sz="3000" b="1" dirty="0">
                <a:ea typeface="宋体" pitchFamily="2" charset="-122"/>
              </a:rPr>
              <a:t>和</a:t>
            </a:r>
            <a:r>
              <a:rPr lang="en-US" altLang="zh-CN" sz="3000" b="1" dirty="0">
                <a:ea typeface="宋体" pitchFamily="2" charset="-122"/>
              </a:rPr>
              <a:t>6</a:t>
            </a:r>
            <a:r>
              <a:rPr lang="zh-CN" altLang="en-US" sz="3000" b="1" dirty="0">
                <a:ea typeface="宋体" pitchFamily="2" charset="-122"/>
              </a:rPr>
              <a:t>是</a:t>
            </a:r>
            <a:r>
              <a:rPr lang="zh-CN" altLang="zh-CN" sz="3000" b="1" dirty="0">
                <a:ea typeface="宋体" pitchFamily="2" charset="-122"/>
              </a:rPr>
              <a:t>零因子</a:t>
            </a:r>
            <a:endParaRPr lang="en-US" altLang="zh-CN" sz="3000" b="1" dirty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itchFamily="2" charset="-122"/>
              </a:rPr>
              <a:t>(2)</a:t>
            </a:r>
            <a:r>
              <a:rPr lang="zh-CN" altLang="en-US" sz="3000" b="1" dirty="0">
                <a:ea typeface="宋体" pitchFamily="2" charset="-122"/>
              </a:rPr>
              <a:t>不是整区</a:t>
            </a:r>
            <a:endParaRPr lang="en-US" altLang="zh-CN" sz="3000" b="1" dirty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itchFamily="2" charset="-122"/>
              </a:rPr>
              <a:t>(3)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周期为</a:t>
            </a:r>
            <a:r>
              <a:rPr lang="en-US" altLang="zh-CN" sz="3000" b="1" kern="100" dirty="0">
                <a:ea typeface="宋体" panose="02010600030101010101" pitchFamily="2" charset="-122"/>
              </a:rPr>
              <a:t>3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的元素是：</a:t>
            </a:r>
            <a:r>
              <a:rPr lang="en-US" altLang="zh-CN" sz="3000" b="1" kern="100" dirty="0">
                <a:ea typeface="宋体" panose="02010600030101010101" pitchFamily="2" charset="-122"/>
              </a:rPr>
              <a:t>3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kern="100" dirty="0">
                <a:ea typeface="宋体" panose="02010600030101010101" pitchFamily="2" charset="-122"/>
              </a:rPr>
              <a:t>6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 dirty="0">
              <a:ea typeface="宋体" pitchFamily="2" charset="-122"/>
            </a:endParaRPr>
          </a:p>
          <a:p>
            <a:pPr>
              <a:defRPr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36867" name="灯片编号占位符 1">
            <a:extLst>
              <a:ext uri="{FF2B5EF4-FFF2-40B4-BE49-F238E27FC236}">
                <a16:creationId xmlns:a16="http://schemas.microsoft.com/office/drawing/2014/main" xmlns="" id="{85EE1AB9-2412-43C5-AE3A-DCE6EB26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9D890C-4F55-4452-9806-92B5FA3AEEA9}" type="slidenum">
              <a:rPr lang="en-US" altLang="ko-KR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60DF50A1-DEF5-4B16-9C7C-E8EE2DAAD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4927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>
            <a:extLst>
              <a:ext uri="{FF2B5EF4-FFF2-40B4-BE49-F238E27FC236}">
                <a16:creationId xmlns:a16="http://schemas.microsoft.com/office/drawing/2014/main" xmlns="" id="{5ED74551-7D2C-4ABF-AB17-0A3D14C91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497887" cy="5327650"/>
          </a:xfrm>
        </p:spPr>
        <p:txBody>
          <a:bodyPr/>
          <a:lstStyle/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的非零元素作成一个乘法群，称环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为体。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理解体的定义：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是含单位元环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至少两个元素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、消去环，任意非零元素在乘法下有逆，未必是交换环，因此体未必是整区。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想证明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(R, +, •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）是体，需要证明：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(R,+)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Abel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R*,•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）是群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•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有左右分配律。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整数环不是体。有理数环、实数环、复数环都是体。可见，整区未必是体。</a:t>
            </a:r>
          </a:p>
        </p:txBody>
      </p:sp>
      <p:sp>
        <p:nvSpPr>
          <p:cNvPr id="37891" name="灯片编号占位符 1">
            <a:extLst>
              <a:ext uri="{FF2B5EF4-FFF2-40B4-BE49-F238E27FC236}">
                <a16:creationId xmlns:a16="http://schemas.microsoft.com/office/drawing/2014/main" xmlns="" id="{B2251E48-9FD9-4AC5-845B-2F71EC9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BF784E-B20F-4754-8A93-4FA98275080E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xmlns="" id="{4BB06AF5-E0AF-4499-A45F-06A128700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76375"/>
            <a:ext cx="8892480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判断对错：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消去环中，任意非零元素都存在乘法逆元素。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中非零元素都存在乘法逆元素，则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是消去环。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体恒无零因子。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C651-517A-432B-B2F3-542F0489B3E5}" type="slidenum">
              <a:rPr lang="ko-KR" altLang="en-US" smtClean="0">
                <a:solidFill>
                  <a:srgbClr val="000000"/>
                </a:solidFill>
              </a:rPr>
              <a:pPr/>
              <a:t>30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BB06AF5-E0AF-4499-A45F-06A128700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思考：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179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xmlns="" id="{D738EC6F-A077-4036-AB8E-EF4A01662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5450" y="1196975"/>
            <a:ext cx="8539163" cy="5256213"/>
          </a:xfrm>
        </p:spPr>
        <p:txBody>
          <a:bodyPr/>
          <a:lstStyle/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假定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是无零因子的有限环，且不只有一个元素，则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必是一个体。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证明：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只需证明环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中所有非零元素做成乘法群。</a:t>
            </a:r>
            <a:endParaRPr lang="zh-CN" altLang="en-US" sz="3000" b="1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中不只有一个元素，知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R*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非空。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任取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a,b∈R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b≠0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，由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无零因子，知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ab≠0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</a:t>
            </a:r>
            <a:r>
              <a:rPr lang="en-US" altLang="zh-CN" sz="3000" b="1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ab∈R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 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  <a:defRPr/>
            </a:pP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由环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对乘法适合结合律知，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R*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对乘法适合结合律。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无零因子知，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R*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中消去律成立。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有限，知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R*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有限。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所以环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中所有非零元做成乘法群，因而是体。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38915" name="灯片编号占位符 1">
            <a:extLst>
              <a:ext uri="{FF2B5EF4-FFF2-40B4-BE49-F238E27FC236}">
                <a16:creationId xmlns:a16="http://schemas.microsoft.com/office/drawing/2014/main" xmlns="" id="{D41685FD-470B-40FD-8FA2-FB73828B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03E806-EBD1-4C02-8D79-65D0191A983B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xmlns="" id="{4FA65BC1-A72B-4C33-83F0-0E984BB72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1027">
            <a:extLst>
              <a:ext uri="{FF2B5EF4-FFF2-40B4-BE49-F238E27FC236}">
                <a16:creationId xmlns:a16="http://schemas.microsoft.com/office/drawing/2014/main" xmlns="" id="{812C75A9-9D71-4147-82FE-52A366832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3538" y="1125538"/>
            <a:ext cx="8780462" cy="5483225"/>
          </a:xfrm>
        </p:spPr>
        <p:txBody>
          <a:bodyPr/>
          <a:lstStyle/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定义</a:t>
            </a: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lang="en-US" altLang="zh-CN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  <a:r>
              <a:rPr lang="zh-CN" altLang="en-US" sz="30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域是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交换体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理解域的定义：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是含单位元环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至少两个元素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、消去环、交换环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想证明</a:t>
            </a:r>
            <a:r>
              <a:rPr lang="en-US" altLang="zh-CN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(R,+,•</a:t>
            </a: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）是域，需要证明：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(R,+)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Abel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群；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(R*,•)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Abel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群；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•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</a:t>
            </a:r>
            <a:r>
              <a:rPr lang="en-US" altLang="zh-CN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有分配律。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在域中每一个非零元素都具有两个与之相联系的周期，一个是在加法群中的加法周期，一个是在乘法群中的乘法周期。</a:t>
            </a:r>
          </a:p>
        </p:txBody>
      </p:sp>
      <p:sp>
        <p:nvSpPr>
          <p:cNvPr id="39939" name="灯片编号占位符 1">
            <a:extLst>
              <a:ext uri="{FF2B5EF4-FFF2-40B4-BE49-F238E27FC236}">
                <a16:creationId xmlns:a16="http://schemas.microsoft.com/office/drawing/2014/main" xmlns="" id="{65496064-882E-49E5-89CB-64944D1A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869AEB-D320-4D7A-9A78-57A504CA6784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xmlns="" id="{F743FFEE-78A6-49FC-8F4C-AA080C4D8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395288" y="1219200"/>
            <a:ext cx="8569325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1463" indent="-271463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anose="02010600030101010101" charset="-122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000" b="1" i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四元数</a:t>
            </a:r>
            <a:r>
              <a:rPr lang="zh-CN" altLang="en-US" sz="3000" b="1" i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取三个符号</a:t>
            </a:r>
            <a:r>
              <a:rPr lang="en-US" altLang="zh-CN" sz="3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，以实数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为系数而作形式的线组合</a:t>
            </a:r>
          </a:p>
          <a:p>
            <a:pPr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+ bi + </a:t>
            </a:r>
            <a:r>
              <a:rPr lang="en-US" altLang="zh-CN" sz="3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cj</a:t>
            </a:r>
            <a:r>
              <a:rPr lang="en-US" altLang="zh-CN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3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zh-CN" altLang="en-US" sz="3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四元数间运算的规定：</a:t>
            </a:r>
          </a:p>
          <a:p>
            <a:pPr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）加法</a:t>
            </a:r>
            <a:r>
              <a:rPr lang="zh-CN" altLang="en-US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运算</a:t>
            </a:r>
            <a:endParaRPr lang="en-US" altLang="zh-CN" sz="3000" b="1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None/>
            </a:pPr>
            <a:r>
              <a:rPr lang="zh-CN" altLang="en-US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）乘法运算</a:t>
            </a:r>
            <a:endParaRPr lang="zh-CN" altLang="en-US" sz="3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None/>
            </a:pPr>
            <a:endParaRPr lang="zh-CN" altLang="en-US" sz="3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latinLnBrk="0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Pct val="80000"/>
              <a:buNone/>
            </a:pPr>
            <a:endParaRPr lang="zh-CN" altLang="en-US" sz="3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304800" y="341313"/>
            <a:ext cx="824071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四元数体</a:t>
            </a:r>
            <a:r>
              <a:rPr lang="en-US" altLang="zh-CN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--</a:t>
            </a:r>
            <a:r>
              <a:rPr lang="zh-C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是体但不是域的例</a:t>
            </a:r>
          </a:p>
        </p:txBody>
      </p:sp>
    </p:spTree>
    <p:extLst>
      <p:ext uri="{BB962C8B-B14F-4D97-AF65-F5344CB8AC3E}">
        <p14:creationId xmlns:p14="http://schemas.microsoft.com/office/powerpoint/2010/main" val="117161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>
            <a:extLst>
              <a:ext uri="{FF2B5EF4-FFF2-40B4-BE49-F238E27FC236}">
                <a16:creationId xmlns:a16="http://schemas.microsoft.com/office/drawing/2014/main" xmlns="" id="{D0DD7E44-7BDA-4884-AABE-61008900CF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7675" y="1341438"/>
            <a:ext cx="8588375" cy="511175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有理数域、实数域、复数域都是域。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其中每一非零元素的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加法周期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0(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无穷大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的乘法周期是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的乘法周期是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此外，其它非零元的乘法周期为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在域中，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可以写成      。</a:t>
            </a:r>
          </a:p>
          <a:p>
            <a:pPr marL="0" indent="0"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域中所有非零元素都有相同的加法周期，且或为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，或为质数。</a:t>
            </a:r>
          </a:p>
          <a:p>
            <a:pPr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域是整区。</a:t>
            </a:r>
          </a:p>
        </p:txBody>
      </p:sp>
      <p:graphicFrame>
        <p:nvGraphicFramePr>
          <p:cNvPr id="40963" name="Object 4">
            <a:extLst>
              <a:ext uri="{FF2B5EF4-FFF2-40B4-BE49-F238E27FC236}">
                <a16:creationId xmlns:a16="http://schemas.microsoft.com/office/drawing/2014/main" xmlns="" id="{50FED919-2660-4B75-AE02-BABBD09C5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6763" y="3468688"/>
          <a:ext cx="3317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Equation" r:id="rId3" imgW="152334" imgH="393529" progId="Equation.3">
                  <p:embed/>
                </p:oleObj>
              </mc:Choice>
              <mc:Fallback>
                <p:oleObj name="Equation" r:id="rId3" imgW="152334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3468688"/>
                        <a:ext cx="3317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灯片编号占位符 1">
            <a:extLst>
              <a:ext uri="{FF2B5EF4-FFF2-40B4-BE49-F238E27FC236}">
                <a16:creationId xmlns:a16="http://schemas.microsoft.com/office/drawing/2014/main" xmlns="" id="{107130A3-21D1-4D12-8239-0C93764B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856A53-42C2-4960-A205-B8E8A9615901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xmlns="" id="{BC418B07-A189-4441-A4C5-F0630DD62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>
            <a:extLst>
              <a:ext uri="{FF2B5EF4-FFF2-40B4-BE49-F238E27FC236}">
                <a16:creationId xmlns:a16="http://schemas.microsoft.com/office/drawing/2014/main" xmlns="" id="{AC2496A0-6981-433A-A2EF-979FB4AF9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70900" cy="5184775"/>
          </a:xfrm>
        </p:spPr>
        <p:txBody>
          <a:bodyPr/>
          <a:lstStyle/>
          <a:p>
            <a:pPr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结论：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有限整区是域。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证法一：</a:t>
            </a:r>
            <a:r>
              <a:rPr lang="zh-CN" altLang="en-US" sz="3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因为有限整区是无零因子的有限环，且不只有一个元素，所以有限整区是体。再由整区是交换环，知，有限整区是交换体，因此是域。</a:t>
            </a:r>
          </a:p>
        </p:txBody>
      </p:sp>
      <p:sp>
        <p:nvSpPr>
          <p:cNvPr id="41987" name="灯片编号占位符 1">
            <a:extLst>
              <a:ext uri="{FF2B5EF4-FFF2-40B4-BE49-F238E27FC236}">
                <a16:creationId xmlns:a16="http://schemas.microsoft.com/office/drawing/2014/main" xmlns="" id="{95F4A2C1-9E31-47BC-A00A-7AAD0B82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9F6682-9115-474C-B931-3D0FD8E7AB0B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xmlns="" id="{93CCCE40-46AF-48F9-836F-D27F6CF42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7">
            <a:extLst>
              <a:ext uri="{FF2B5EF4-FFF2-40B4-BE49-F238E27FC236}">
                <a16:creationId xmlns:a16="http://schemas.microsoft.com/office/drawing/2014/main" xmlns="" id="{878EE031-F996-4014-AD2F-D71A6E136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765175"/>
            <a:ext cx="8748713" cy="5759450"/>
          </a:xfrm>
        </p:spPr>
        <p:txBody>
          <a:bodyPr/>
          <a:lstStyle/>
          <a:p>
            <a:pPr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证法二：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只需证明整区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中非零元素做成乘法群。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(1)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是整区，知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R*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非空：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1∈R*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(2)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任取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a,b∈R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a≠0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b≠0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，由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无零因子，知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ab≠0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，即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ab∈R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对乘法适合结合律知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对乘法亦适合结合律。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有乘法单位元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a∈R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无零因子知，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中消去律成立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，再由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有限，知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*=R*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。由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1∈R*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1∈aR*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，即有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∈R*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，使得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sz="2800" b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，即每个非零元在乘法下有逆。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所以有限整区中非零元做成乘法群，因而是体，</a:t>
            </a:r>
          </a:p>
          <a:p>
            <a:pPr marL="0" indent="0" algn="just" eaLnBrk="1" hangingPunct="1">
              <a:lnSpc>
                <a:spcPct val="114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再由整区是交换环，知，有限整区是域。</a:t>
            </a:r>
          </a:p>
        </p:txBody>
      </p:sp>
      <p:sp>
        <p:nvSpPr>
          <p:cNvPr id="43011" name="灯片编号占位符 1">
            <a:extLst>
              <a:ext uri="{FF2B5EF4-FFF2-40B4-BE49-F238E27FC236}">
                <a16:creationId xmlns:a16="http://schemas.microsoft.com/office/drawing/2014/main" xmlns="" id="{4E91BF1F-CBA6-4114-A5D7-761B186E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61F5B6-A785-48A8-BE48-94CF8B6CCCF5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xmlns="" id="{858F77AA-F4B6-448F-96AC-2C55FB17D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marL="387350" indent="-38735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900" b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Rectangle 4">
                <a:extLst>
                  <a:ext uri="{FF2B5EF4-FFF2-40B4-BE49-F238E27FC236}">
                    <a16:creationId xmlns:a16="http://schemas.microsoft.com/office/drawing/2014/main" xmlns="" id="{65B039AC-EB41-420C-BF90-C4EE4A5B2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975" y="1263132"/>
                <a:ext cx="8178800" cy="5334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latinLnBrk="0" hangingPunct="1">
                  <a:buClr>
                    <a:srgbClr val="3333CC"/>
                  </a:buClr>
                  <a:buSzPct val="80000"/>
                </a:pP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R={0,1,2,3,4}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，定义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上的运算如下：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3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⊕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sz="30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a+b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(mod 5)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</a:t>
                </a:r>
                <a:r>
                  <a:rPr lang="en-US" altLang="zh-CN" sz="30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3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⊙</a:t>
                </a:r>
                <a:r>
                  <a:rPr lang="en-US" altLang="zh-CN" sz="30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=ab(mod 5)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则可以证明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(R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，⊕，⊙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是域。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证明作为练习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的加法周期是？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的乘法周期分别是？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1 , 4, 4, </a:t>
                </a:r>
                <a:r>
                  <a:rPr lang="en-US" altLang="zh-CN" sz="30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(-2)</a:t>
                </a:r>
                <a:r>
                  <a:rPr lang="en-US" altLang="zh-CN" sz="3000" b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000" b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⊕ </a:t>
                </a:r>
                <a:r>
                  <a:rPr lang="en-US" altLang="zh-CN" sz="30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30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0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zh-CN" sz="30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  <a:r>
                  <a:rPr lang="en-US" altLang="zh-CN" sz="3000" b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30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3200" b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altLang="zh-CN" sz="32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=</a:t>
                </a:r>
                <a:r>
                  <a:rPr lang="zh-CN" altLang="en-US" sz="32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  <a:r>
                  <a:rPr lang="en-US" altLang="zh-CN" sz="32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endParaRPr lang="zh-CN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latinLnBrk="0" hangingPunct="1">
                  <a:buClr>
                    <a:srgbClr val="3333CC"/>
                  </a:buClr>
                  <a:buSzPct val="80000"/>
                  <a:buFont typeface="Wingdings" panose="05000000000000000000" pitchFamily="2" charset="2"/>
                  <a:buNone/>
                </a:pPr>
                <a:endPara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820" name="Rectangle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5B039AC-EB41-420C-BF90-C4EE4A5B2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975" y="1263132"/>
                <a:ext cx="8178800" cy="5334220"/>
              </a:xfrm>
              <a:prstGeom prst="rect">
                <a:avLst/>
              </a:prstGeom>
              <a:blipFill rotWithShape="0">
                <a:blip r:embed="rId2"/>
                <a:stretch>
                  <a:fillRect l="-1714" t="-18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6" name="灯片编号占位符 1">
            <a:extLst>
              <a:ext uri="{FF2B5EF4-FFF2-40B4-BE49-F238E27FC236}">
                <a16:creationId xmlns:a16="http://schemas.microsoft.com/office/drawing/2014/main" xmlns="" id="{B9E92DDE-C281-4E26-B688-89535FA2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F20B40-720C-42D3-8D89-8D529CE0EE8C}" type="slidenum">
              <a:rPr lang="ko-KR" altLang="en-US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xmlns="" id="{F858DD31-4EFC-4F5E-AE24-AC538ADBA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有限域的例</a:t>
            </a:r>
          </a:p>
        </p:txBody>
      </p:sp>
    </p:spTree>
    <p:extLst>
      <p:ext uri="{BB962C8B-B14F-4D97-AF65-F5344CB8AC3E}">
        <p14:creationId xmlns:p14="http://schemas.microsoft.com/office/powerpoint/2010/main" val="129435852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xmlns="" id="{D9F371C7-7432-404F-8E00-E5327EE11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62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子体、子域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xmlns="" id="{0D371914-79B2-469D-AF15-DBE8D2413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28775"/>
            <a:ext cx="835342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  <a:cs typeface="Times New Roman" pitchFamily="18" charset="0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  <a:cs typeface="Times New Roman" pitchFamily="18" charset="0"/>
              </a:rPr>
              <a:t>: 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体</a:t>
            </a:r>
            <a:r>
              <a:rPr lang="en-US" altLang="zh-CN" sz="3000" b="1" dirty="0">
                <a:ea typeface="宋体" pitchFamily="2" charset="-122"/>
                <a:cs typeface="Times New Roman" pitchFamily="18" charset="0"/>
              </a:rPr>
              <a:t>K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的一个子环，若仍为体，则叫子体；</a:t>
            </a:r>
            <a:endParaRPr lang="en-US" altLang="zh-CN" sz="3000" b="1" dirty="0">
              <a:ea typeface="宋体" pitchFamily="2" charset="-122"/>
              <a:cs typeface="Times New Roman" pitchFamily="18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000" b="1" dirty="0">
                <a:ea typeface="宋体" pitchFamily="2" charset="-122"/>
                <a:cs typeface="Times New Roman" pitchFamily="18" charset="0"/>
              </a:rPr>
              <a:t>          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若又为域，则叫</a:t>
            </a:r>
            <a:r>
              <a:rPr lang="en-US" altLang="zh-CN" sz="3000" b="1" dirty="0">
                <a:ea typeface="宋体" pitchFamily="2" charset="-122"/>
                <a:cs typeface="Times New Roman" pitchFamily="18" charset="0"/>
              </a:rPr>
              <a:t>K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的子域。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          对于域</a:t>
            </a:r>
            <a:r>
              <a:rPr lang="en-US" altLang="zh-CN" sz="3000" b="1" dirty="0">
                <a:ea typeface="宋体" pitchFamily="2" charset="-122"/>
                <a:cs typeface="Times New Roman" pitchFamily="18" charset="0"/>
              </a:rPr>
              <a:t>F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，也可以有</a:t>
            </a:r>
            <a:r>
              <a:rPr lang="en-US" altLang="zh-CN" sz="3000" b="1" dirty="0">
                <a:ea typeface="宋体" pitchFamily="2" charset="-122"/>
                <a:cs typeface="Times New Roman" pitchFamily="18" charset="0"/>
              </a:rPr>
              <a:t>F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的子环和子域。</a:t>
            </a:r>
            <a:endParaRPr lang="en-US" altLang="zh-CN" sz="3000" b="1" dirty="0">
              <a:ea typeface="宋体" pitchFamily="2" charset="-122"/>
              <a:cs typeface="Times New Roman" pitchFamily="18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endParaRPr lang="zh-CN" altLang="en-US" sz="3000" b="1" dirty="0">
              <a:ea typeface="宋体" pitchFamily="2" charset="-122"/>
              <a:cs typeface="Times New Roman" pitchFamily="18" charset="0"/>
            </a:endParaRPr>
          </a:p>
          <a:p>
            <a:pPr marL="538163" indent="-538163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  <a:cs typeface="Times New Roman" pitchFamily="18" charset="0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  <a:cs typeface="Times New Roman" pitchFamily="18" charset="0"/>
              </a:rPr>
              <a:t>.</a:t>
            </a:r>
            <a:r>
              <a:rPr lang="en-US" altLang="zh-CN" sz="3000" b="1" dirty="0">
                <a:solidFill>
                  <a:schemeClr val="tx2"/>
                </a:solidFill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3000" b="1" dirty="0">
                <a:ea typeface="宋体" pitchFamily="2" charset="-122"/>
                <a:cs typeface="Times New Roman" pitchFamily="18" charset="0"/>
              </a:rPr>
              <a:t>整数环是实数域的子环，实数域是复数域的 子域。</a:t>
            </a:r>
          </a:p>
        </p:txBody>
      </p:sp>
      <p:sp>
        <p:nvSpPr>
          <p:cNvPr id="45060" name="灯片编号占位符 1">
            <a:extLst>
              <a:ext uri="{FF2B5EF4-FFF2-40B4-BE49-F238E27FC236}">
                <a16:creationId xmlns:a16="http://schemas.microsoft.com/office/drawing/2014/main" xmlns="" id="{FE7DC5D1-D1EE-46B6-A94F-4911E862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F806EA-9E30-4F13-AD06-2AB0623B73B4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>
            <a:extLst>
              <a:ext uri="{FF2B5EF4-FFF2-40B4-BE49-F238E27FC236}">
                <a16:creationId xmlns:a16="http://schemas.microsoft.com/office/drawing/2014/main" xmlns="" id="{A8F07E25-1CB6-404E-A2BB-BD5F4324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689F88-00A2-40A6-88B6-7FE4DB73F022}" type="slidenum">
              <a:rPr lang="ko-KR" altLang="en-US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pic>
        <p:nvPicPr>
          <p:cNvPr id="46083" name="内容占位符 2">
            <a:extLst>
              <a:ext uri="{FF2B5EF4-FFF2-40B4-BE49-F238E27FC236}">
                <a16:creationId xmlns:a16="http://schemas.microsoft.com/office/drawing/2014/main" xmlns="" id="{6C2C5AEE-A534-48BC-A7AA-7F3A61E0A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938213"/>
            <a:ext cx="8183562" cy="5310187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>
            <a:extLst>
              <a:ext uri="{FF2B5EF4-FFF2-40B4-BE49-F238E27FC236}">
                <a16:creationId xmlns:a16="http://schemas.microsoft.com/office/drawing/2014/main" xmlns="" id="{6C99BE8E-5324-4F19-933F-4536DF96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45093F-4BC8-42CA-B3EF-59C789072A0B}" type="slidenum">
              <a:rPr lang="ko-KR" altLang="en-US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pic>
        <p:nvPicPr>
          <p:cNvPr id="47107" name="内容占位符 2">
            <a:extLst>
              <a:ext uri="{FF2B5EF4-FFF2-40B4-BE49-F238E27FC236}">
                <a16:creationId xmlns:a16="http://schemas.microsoft.com/office/drawing/2014/main" xmlns="" id="{657A040B-6E5E-46F7-9673-FC76889FC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030288"/>
            <a:ext cx="7848600" cy="4846637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EFC682F-EFD8-435F-8598-F6CCF7578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196975"/>
            <a:ext cx="8301038" cy="5184775"/>
          </a:xfrm>
        </p:spPr>
        <p:txBody>
          <a:bodyPr/>
          <a:lstStyle/>
          <a:p>
            <a:pPr marL="0" indent="0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剩余类环是否为域？是否为消去环，若不是给出所有零因子。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不是域，因为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不是质数。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剩余类环中非零元素在剩余类乘法下，无法构成群）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不是消去环，所有零因子为</a:t>
            </a:r>
            <a:r>
              <a:rPr lang="zh-CN" altLang="en-US" dirty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剩余类环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整数环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，当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为质数时，为消去环，并且为域。</a:t>
            </a:r>
            <a:endParaRPr lang="en-US" altLang="zh-CN" sz="3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剩余类加法群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整数加法群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是循环群，共有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(n)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个生成元。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31" name="灯片编号占位符 3">
            <a:extLst>
              <a:ext uri="{FF2B5EF4-FFF2-40B4-BE49-F238E27FC236}">
                <a16:creationId xmlns:a16="http://schemas.microsoft.com/office/drawing/2014/main" xmlns="" id="{3B322296-9A6E-4EBC-976C-B287AB20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DF5384-10F4-4DA9-8664-5ADCFF822849}" type="slidenum">
              <a:rPr lang="ko-KR" altLang="en-US" sz="140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xmlns="" id="{03B53EFE-CBDB-4C75-A206-8C72A93FE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A7F423C9-121F-4E13-8274-28D69661F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406775"/>
            <a:ext cx="17335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7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13782</TotalTime>
  <Words>2555</Words>
  <Application>Microsoft Office PowerPoint</Application>
  <PresentationFormat>全屏显示(4:3)</PresentationFormat>
  <Paragraphs>281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黑体</vt:lpstr>
      <vt:lpstr>华文中宋</vt:lpstr>
      <vt:lpstr>楷体_GB2312</vt:lpstr>
      <vt:lpstr>宋体</vt:lpstr>
      <vt:lpstr>-윤명조140</vt:lpstr>
      <vt:lpstr>Arial</vt:lpstr>
      <vt:lpstr>Calibri</vt:lpstr>
      <vt:lpstr>Cambria Math</vt:lpstr>
      <vt:lpstr>Symbol</vt:lpstr>
      <vt:lpstr>Times New Roman</vt:lpstr>
      <vt:lpstr>Wingdings</vt:lpstr>
      <vt:lpstr>B075</vt:lpstr>
      <vt:lpstr>6_B075</vt:lpstr>
      <vt:lpstr>7_B075</vt:lpstr>
      <vt:lpstr>22_B075</vt:lpstr>
      <vt:lpstr>5_B075</vt:lpstr>
      <vt:lpstr>Equation</vt:lpstr>
      <vt:lpstr>公式</vt:lpstr>
      <vt:lpstr>第六章   群 、环、域</vt:lpstr>
      <vt:lpstr>6.5 环</vt:lpstr>
      <vt:lpstr>6.5.1  环的定义</vt:lpstr>
      <vt:lpstr>证明(R,+, •)是环</vt:lpstr>
      <vt:lpstr>证明(R,+, •)是环</vt:lpstr>
      <vt:lpstr> 环的例</vt:lpstr>
      <vt:lpstr> 环的例</vt:lpstr>
      <vt:lpstr> 环的性质</vt:lpstr>
      <vt:lpstr> 环的性质</vt:lpstr>
      <vt:lpstr> 环的性质</vt:lpstr>
      <vt:lpstr> 环的性质</vt:lpstr>
      <vt:lpstr> 交换环</vt:lpstr>
      <vt:lpstr> 环的性质</vt:lpstr>
      <vt:lpstr> 含单位元环</vt:lpstr>
      <vt:lpstr> 含单位元环性质</vt:lpstr>
      <vt:lpstr> 含单位元环性质</vt:lpstr>
      <vt:lpstr>子环</vt:lpstr>
      <vt:lpstr>子环与大环的关系</vt:lpstr>
      <vt:lpstr>消去环</vt:lpstr>
      <vt:lpstr>消去环</vt:lpstr>
      <vt:lpstr>消去环的性质</vt:lpstr>
      <vt:lpstr>消去环的性质</vt:lpstr>
      <vt:lpstr>消去环的性质</vt:lpstr>
      <vt:lpstr>消去环的性质</vt:lpstr>
      <vt:lpstr>消去环的性质</vt:lpstr>
      <vt:lpstr>整区</vt:lpstr>
      <vt:lpstr>例</vt:lpstr>
      <vt:lpstr>PowerPoint 演示文稿</vt:lpstr>
      <vt:lpstr>体</vt:lpstr>
      <vt:lpstr>思考：</vt:lpstr>
      <vt:lpstr>例</vt:lpstr>
      <vt:lpstr>域</vt:lpstr>
      <vt:lpstr>PowerPoint 演示文稿</vt:lpstr>
      <vt:lpstr>域</vt:lpstr>
      <vt:lpstr>例</vt:lpstr>
      <vt:lpstr>PowerPoint 演示文稿</vt:lpstr>
      <vt:lpstr>有限域的例</vt:lpstr>
      <vt:lpstr>PowerPoint 演示文稿</vt:lpstr>
      <vt:lpstr>PowerPoint 演示文稿</vt:lpstr>
      <vt:lpstr>PowerPoint 演示文稿</vt:lpstr>
      <vt:lpstr>例</vt:lpstr>
    </vt:vector>
  </TitlesOfParts>
  <Company>吉林大学计算机系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离散数学（二）</dc:title>
  <dc:creator>Administrator</dc:creator>
  <cp:lastModifiedBy>Windows 用户</cp:lastModifiedBy>
  <cp:revision>713</cp:revision>
  <dcterms:created xsi:type="dcterms:W3CDTF">2002-08-08T08:47:10Z</dcterms:created>
  <dcterms:modified xsi:type="dcterms:W3CDTF">2024-10-12T01:39:01Z</dcterms:modified>
</cp:coreProperties>
</file>