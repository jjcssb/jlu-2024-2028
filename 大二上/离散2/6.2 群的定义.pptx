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6.xml" ContentType="application/vnd.openxmlformats-officedocument.theme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7.xml" ContentType="application/vnd.openxmlformats-officedocument.theme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theme/theme8.xml" ContentType="application/vnd.openxmlformats-officedocument.theme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theme/theme9.xml" ContentType="application/vnd.openxmlformats-officedocument.theme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theme/theme10.xml" ContentType="application/vnd.openxmlformats-officedocument.theme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theme/theme11.xml" ContentType="application/vnd.openxmlformats-officedocument.theme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theme/theme12.xml" ContentType="application/vnd.openxmlformats-officedocument.theme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theme/theme13.xml" ContentType="application/vnd.openxmlformats-officedocument.theme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952" r:id="rId1"/>
    <p:sldMasterId id="2147484677" r:id="rId2"/>
    <p:sldMasterId id="2147484815" r:id="rId3"/>
    <p:sldMasterId id="2147485114" r:id="rId4"/>
    <p:sldMasterId id="2147485198" r:id="rId5"/>
    <p:sldMasterId id="2147485212" r:id="rId6"/>
    <p:sldMasterId id="2147485850" r:id="rId7"/>
    <p:sldMasterId id="2147485863" r:id="rId8"/>
    <p:sldMasterId id="2147486006" r:id="rId9"/>
    <p:sldMasterId id="2147487046" r:id="rId10"/>
    <p:sldMasterId id="2147487445" r:id="rId11"/>
    <p:sldMasterId id="2147487458" r:id="rId12"/>
    <p:sldMasterId id="2147487471" r:id="rId13"/>
    <p:sldMasterId id="2147487483" r:id="rId14"/>
  </p:sldMasterIdLst>
  <p:notesMasterIdLst>
    <p:notesMasterId r:id="rId156"/>
  </p:notesMasterIdLst>
  <p:handoutMasterIdLst>
    <p:handoutMasterId r:id="rId157"/>
  </p:handoutMasterIdLst>
  <p:sldIdLst>
    <p:sldId id="454" r:id="rId15"/>
    <p:sldId id="490" r:id="rId16"/>
    <p:sldId id="455" r:id="rId17"/>
    <p:sldId id="456" r:id="rId18"/>
    <p:sldId id="457" r:id="rId19"/>
    <p:sldId id="458" r:id="rId20"/>
    <p:sldId id="489" r:id="rId21"/>
    <p:sldId id="459" r:id="rId22"/>
    <p:sldId id="460" r:id="rId23"/>
    <p:sldId id="481" r:id="rId24"/>
    <p:sldId id="482" r:id="rId25"/>
    <p:sldId id="462" r:id="rId26"/>
    <p:sldId id="463" r:id="rId27"/>
    <p:sldId id="464" r:id="rId28"/>
    <p:sldId id="465" r:id="rId29"/>
    <p:sldId id="466" r:id="rId30"/>
    <p:sldId id="488" r:id="rId31"/>
    <p:sldId id="467" r:id="rId32"/>
    <p:sldId id="468" r:id="rId33"/>
    <p:sldId id="487" r:id="rId34"/>
    <p:sldId id="485" r:id="rId35"/>
    <p:sldId id="469" r:id="rId36"/>
    <p:sldId id="470" r:id="rId37"/>
    <p:sldId id="496" r:id="rId38"/>
    <p:sldId id="471" r:id="rId39"/>
    <p:sldId id="472" r:id="rId40"/>
    <p:sldId id="473" r:id="rId41"/>
    <p:sldId id="474" r:id="rId42"/>
    <p:sldId id="475" r:id="rId43"/>
    <p:sldId id="476" r:id="rId44"/>
    <p:sldId id="477" r:id="rId45"/>
    <p:sldId id="478" r:id="rId46"/>
    <p:sldId id="279" r:id="rId47"/>
    <p:sldId id="299" r:id="rId48"/>
    <p:sldId id="419" r:id="rId49"/>
    <p:sldId id="497" r:id="rId50"/>
    <p:sldId id="498" r:id="rId51"/>
    <p:sldId id="396" r:id="rId52"/>
    <p:sldId id="418" r:id="rId53"/>
    <p:sldId id="280" r:id="rId54"/>
    <p:sldId id="372" r:id="rId55"/>
    <p:sldId id="316" r:id="rId56"/>
    <p:sldId id="282" r:id="rId57"/>
    <p:sldId id="283" r:id="rId58"/>
    <p:sldId id="374" r:id="rId59"/>
    <p:sldId id="510" r:id="rId60"/>
    <p:sldId id="509" r:id="rId61"/>
    <p:sldId id="284" r:id="rId62"/>
    <p:sldId id="375" r:id="rId63"/>
    <p:sldId id="317" r:id="rId64"/>
    <p:sldId id="376" r:id="rId65"/>
    <p:sldId id="420" r:id="rId66"/>
    <p:sldId id="378" r:id="rId67"/>
    <p:sldId id="395" r:id="rId68"/>
    <p:sldId id="543" r:id="rId69"/>
    <p:sldId id="319" r:id="rId70"/>
    <p:sldId id="495" r:id="rId71"/>
    <p:sldId id="512" r:id="rId72"/>
    <p:sldId id="513" r:id="rId73"/>
    <p:sldId id="519" r:id="rId74"/>
    <p:sldId id="516" r:id="rId75"/>
    <p:sldId id="514" r:id="rId76"/>
    <p:sldId id="320" r:id="rId77"/>
    <p:sldId id="321" r:id="rId78"/>
    <p:sldId id="492" r:id="rId79"/>
    <p:sldId id="381" r:id="rId80"/>
    <p:sldId id="383" r:id="rId81"/>
    <p:sldId id="323" r:id="rId82"/>
    <p:sldId id="384" r:id="rId83"/>
    <p:sldId id="385" r:id="rId84"/>
    <p:sldId id="493" r:id="rId85"/>
    <p:sldId id="386" r:id="rId86"/>
    <p:sldId id="387" r:id="rId87"/>
    <p:sldId id="392" r:id="rId88"/>
    <p:sldId id="425" r:id="rId89"/>
    <p:sldId id="325" r:id="rId90"/>
    <p:sldId id="326" r:id="rId91"/>
    <p:sldId id="388" r:id="rId92"/>
    <p:sldId id="389" r:id="rId93"/>
    <p:sldId id="390" r:id="rId94"/>
    <p:sldId id="499" r:id="rId95"/>
    <p:sldId id="327" r:id="rId96"/>
    <p:sldId id="328" r:id="rId97"/>
    <p:sldId id="329" r:id="rId98"/>
    <p:sldId id="391" r:id="rId99"/>
    <p:sldId id="330" r:id="rId100"/>
    <p:sldId id="331" r:id="rId101"/>
    <p:sldId id="393" r:id="rId102"/>
    <p:sldId id="394" r:id="rId103"/>
    <p:sldId id="332" r:id="rId104"/>
    <p:sldId id="500" r:id="rId105"/>
    <p:sldId id="501" r:id="rId106"/>
    <p:sldId id="502" r:id="rId107"/>
    <p:sldId id="503" r:id="rId108"/>
    <p:sldId id="408" r:id="rId109"/>
    <p:sldId id="409" r:id="rId110"/>
    <p:sldId id="334" r:id="rId111"/>
    <p:sldId id="336" r:id="rId112"/>
    <p:sldId id="422" r:id="rId113"/>
    <p:sldId id="423" r:id="rId114"/>
    <p:sldId id="440" r:id="rId115"/>
    <p:sldId id="520" r:id="rId116"/>
    <p:sldId id="521" r:id="rId117"/>
    <p:sldId id="522" r:id="rId118"/>
    <p:sldId id="523" r:id="rId119"/>
    <p:sldId id="524" r:id="rId120"/>
    <p:sldId id="525" r:id="rId121"/>
    <p:sldId id="526" r:id="rId122"/>
    <p:sldId id="527" r:id="rId123"/>
    <p:sldId id="528" r:id="rId124"/>
    <p:sldId id="529" r:id="rId125"/>
    <p:sldId id="530" r:id="rId126"/>
    <p:sldId id="531" r:id="rId127"/>
    <p:sldId id="532" r:id="rId128"/>
    <p:sldId id="533" r:id="rId129"/>
    <p:sldId id="534" r:id="rId130"/>
    <p:sldId id="535" r:id="rId131"/>
    <p:sldId id="536" r:id="rId132"/>
    <p:sldId id="537" r:id="rId133"/>
    <p:sldId id="538" r:id="rId134"/>
    <p:sldId id="539" r:id="rId135"/>
    <p:sldId id="540" r:id="rId136"/>
    <p:sldId id="541" r:id="rId137"/>
    <p:sldId id="542" r:id="rId138"/>
    <p:sldId id="448" r:id="rId139"/>
    <p:sldId id="449" r:id="rId140"/>
    <p:sldId id="450" r:id="rId141"/>
    <p:sldId id="451" r:id="rId142"/>
    <p:sldId id="439" r:id="rId143"/>
    <p:sldId id="447" r:id="rId144"/>
    <p:sldId id="433" r:id="rId145"/>
    <p:sldId id="434" r:id="rId146"/>
    <p:sldId id="435" r:id="rId147"/>
    <p:sldId id="437" r:id="rId148"/>
    <p:sldId id="438" r:id="rId149"/>
    <p:sldId id="441" r:id="rId150"/>
    <p:sldId id="442" r:id="rId151"/>
    <p:sldId id="443" r:id="rId152"/>
    <p:sldId id="445" r:id="rId153"/>
    <p:sldId id="506" r:id="rId154"/>
    <p:sldId id="517" r:id="rId155"/>
  </p:sldIdLst>
  <p:sldSz cx="9144000" cy="6858000" type="screen4x3"/>
  <p:notesSz cx="6858000" cy="9144000"/>
  <p:embeddedFontLst>
    <p:embeddedFont>
      <p:font typeface="-윤명조140" panose="020B0604020202020204" charset="-127"/>
      <p:regular r:id="rId158"/>
    </p:embeddedFont>
    <p:embeddedFont>
      <p:font typeface="黑体" panose="02010609060101010101" pitchFamily="49" charset="-122"/>
      <p:regular r:id="rId159"/>
    </p:embeddedFont>
    <p:embeddedFont>
      <p:font typeface="楷体" panose="02010609060101010101" pitchFamily="49" charset="-122"/>
      <p:regular r:id="rId160"/>
    </p:embeddedFont>
    <p:embeddedFont>
      <p:font typeface="华文中宋" panose="02010600040101010101" pitchFamily="2" charset="-122"/>
      <p:regular r:id="rId161"/>
    </p:embeddedFont>
    <p:embeddedFont>
      <p:font typeface="Malgun Gothic" panose="020B0503020000020004" pitchFamily="34" charset="-127"/>
      <p:regular r:id="rId162"/>
      <p:bold r:id="rId163"/>
    </p:embeddedFont>
    <p:embeddedFont>
      <p:font typeface="楷体_GB2312" panose="02010600030101010101" charset="-122"/>
      <p:regular r:id="rId164"/>
      <p:bold r:id="rId165"/>
      <p:italic r:id="rId166"/>
      <p:boldItalic r:id="rId167"/>
    </p:embeddedFont>
    <p:embeddedFont>
      <p:font typeface="Calibri" panose="020F0502020204030204" pitchFamily="34" charset="0"/>
      <p:regular r:id="rId168"/>
      <p:bold r:id="rId169"/>
      <p:italic r:id="rId170"/>
      <p:boldItalic r:id="rId171"/>
    </p:embeddedFont>
    <p:embeddedFont>
      <p:font typeface="华文新魏" panose="02010800040101010101" pitchFamily="2" charset="-122"/>
      <p:regular r:id="rId172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panose="02010600030101010101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panose="02010600030101010101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panose="02010600030101010101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panose="02010600030101010101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panose="02010600030101010101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panose="02010600030101010101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panose="02010600030101010101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panose="02010600030101010101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panose="02010600030101010101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8FDCB"/>
    <a:srgbClr val="000099"/>
    <a:srgbClr val="FFFFFF"/>
    <a:srgbClr val="FF9900"/>
    <a:srgbClr val="C9FFF1"/>
    <a:srgbClr val="0099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 autoAdjust="0"/>
    <p:restoredTop sz="92849" autoAdjust="0"/>
  </p:normalViewPr>
  <p:slideViewPr>
    <p:cSldViewPr>
      <p:cViewPr varScale="1">
        <p:scale>
          <a:sx n="91" d="100"/>
          <a:sy n="91" d="100"/>
        </p:scale>
        <p:origin x="113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03.xml"/><Relationship Id="rId21" Type="http://schemas.openxmlformats.org/officeDocument/2006/relationships/slide" Target="slides/slide7.xml"/><Relationship Id="rId42" Type="http://schemas.openxmlformats.org/officeDocument/2006/relationships/slide" Target="slides/slide28.xml"/><Relationship Id="rId63" Type="http://schemas.openxmlformats.org/officeDocument/2006/relationships/slide" Target="slides/slide49.xml"/><Relationship Id="rId84" Type="http://schemas.openxmlformats.org/officeDocument/2006/relationships/slide" Target="slides/slide70.xml"/><Relationship Id="rId138" Type="http://schemas.openxmlformats.org/officeDocument/2006/relationships/slide" Target="slides/slide124.xml"/><Relationship Id="rId159" Type="http://schemas.openxmlformats.org/officeDocument/2006/relationships/font" Target="fonts/font2.fntdata"/><Relationship Id="rId170" Type="http://schemas.openxmlformats.org/officeDocument/2006/relationships/font" Target="fonts/font13.fntdata"/><Relationship Id="rId107" Type="http://schemas.openxmlformats.org/officeDocument/2006/relationships/slide" Target="slides/slide93.xml"/><Relationship Id="rId11" Type="http://schemas.openxmlformats.org/officeDocument/2006/relationships/slideMaster" Target="slideMasters/slideMaster11.xml"/><Relationship Id="rId32" Type="http://schemas.openxmlformats.org/officeDocument/2006/relationships/slide" Target="slides/slide18.xml"/><Relationship Id="rId53" Type="http://schemas.openxmlformats.org/officeDocument/2006/relationships/slide" Target="slides/slide39.xml"/><Relationship Id="rId74" Type="http://schemas.openxmlformats.org/officeDocument/2006/relationships/slide" Target="slides/slide60.xml"/><Relationship Id="rId128" Type="http://schemas.openxmlformats.org/officeDocument/2006/relationships/slide" Target="slides/slide114.xml"/><Relationship Id="rId149" Type="http://schemas.openxmlformats.org/officeDocument/2006/relationships/slide" Target="slides/slide135.xml"/><Relationship Id="rId5" Type="http://schemas.openxmlformats.org/officeDocument/2006/relationships/slideMaster" Target="slideMasters/slideMaster5.xml"/><Relationship Id="rId95" Type="http://schemas.openxmlformats.org/officeDocument/2006/relationships/slide" Target="slides/slide81.xml"/><Relationship Id="rId160" Type="http://schemas.openxmlformats.org/officeDocument/2006/relationships/font" Target="fonts/font3.fntdata"/><Relationship Id="rId22" Type="http://schemas.openxmlformats.org/officeDocument/2006/relationships/slide" Target="slides/slide8.xml"/><Relationship Id="rId43" Type="http://schemas.openxmlformats.org/officeDocument/2006/relationships/slide" Target="slides/slide29.xml"/><Relationship Id="rId64" Type="http://schemas.openxmlformats.org/officeDocument/2006/relationships/slide" Target="slides/slide50.xml"/><Relationship Id="rId118" Type="http://schemas.openxmlformats.org/officeDocument/2006/relationships/slide" Target="slides/slide104.xml"/><Relationship Id="rId139" Type="http://schemas.openxmlformats.org/officeDocument/2006/relationships/slide" Target="slides/slide125.xml"/><Relationship Id="rId85" Type="http://schemas.openxmlformats.org/officeDocument/2006/relationships/slide" Target="slides/slide71.xml"/><Relationship Id="rId150" Type="http://schemas.openxmlformats.org/officeDocument/2006/relationships/slide" Target="slides/slide136.xml"/><Relationship Id="rId171" Type="http://schemas.openxmlformats.org/officeDocument/2006/relationships/font" Target="fonts/font14.fntdata"/><Relationship Id="rId12" Type="http://schemas.openxmlformats.org/officeDocument/2006/relationships/slideMaster" Target="slideMasters/slideMaster12.xml"/><Relationship Id="rId33" Type="http://schemas.openxmlformats.org/officeDocument/2006/relationships/slide" Target="slides/slide19.xml"/><Relationship Id="rId108" Type="http://schemas.openxmlformats.org/officeDocument/2006/relationships/slide" Target="slides/slide94.xml"/><Relationship Id="rId129" Type="http://schemas.openxmlformats.org/officeDocument/2006/relationships/slide" Target="slides/slide115.xml"/><Relationship Id="rId54" Type="http://schemas.openxmlformats.org/officeDocument/2006/relationships/slide" Target="slides/slide40.xml"/><Relationship Id="rId75" Type="http://schemas.openxmlformats.org/officeDocument/2006/relationships/slide" Target="slides/slide61.xml"/><Relationship Id="rId96" Type="http://schemas.openxmlformats.org/officeDocument/2006/relationships/slide" Target="slides/slide82.xml"/><Relationship Id="rId140" Type="http://schemas.openxmlformats.org/officeDocument/2006/relationships/slide" Target="slides/slide126.xml"/><Relationship Id="rId16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23" Type="http://schemas.openxmlformats.org/officeDocument/2006/relationships/slide" Target="slides/slide9.xml"/><Relationship Id="rId28" Type="http://schemas.openxmlformats.org/officeDocument/2006/relationships/slide" Target="slides/slide14.xml"/><Relationship Id="rId49" Type="http://schemas.openxmlformats.org/officeDocument/2006/relationships/slide" Target="slides/slide35.xml"/><Relationship Id="rId114" Type="http://schemas.openxmlformats.org/officeDocument/2006/relationships/slide" Target="slides/slide100.xml"/><Relationship Id="rId119" Type="http://schemas.openxmlformats.org/officeDocument/2006/relationships/slide" Target="slides/slide105.xml"/><Relationship Id="rId44" Type="http://schemas.openxmlformats.org/officeDocument/2006/relationships/slide" Target="slides/slide30.xml"/><Relationship Id="rId60" Type="http://schemas.openxmlformats.org/officeDocument/2006/relationships/slide" Target="slides/slide46.xml"/><Relationship Id="rId65" Type="http://schemas.openxmlformats.org/officeDocument/2006/relationships/slide" Target="slides/slide51.xml"/><Relationship Id="rId81" Type="http://schemas.openxmlformats.org/officeDocument/2006/relationships/slide" Target="slides/slide67.xml"/><Relationship Id="rId86" Type="http://schemas.openxmlformats.org/officeDocument/2006/relationships/slide" Target="slides/slide72.xml"/><Relationship Id="rId130" Type="http://schemas.openxmlformats.org/officeDocument/2006/relationships/slide" Target="slides/slide116.xml"/><Relationship Id="rId135" Type="http://schemas.openxmlformats.org/officeDocument/2006/relationships/slide" Target="slides/slide121.xml"/><Relationship Id="rId151" Type="http://schemas.openxmlformats.org/officeDocument/2006/relationships/slide" Target="slides/slide137.xml"/><Relationship Id="rId156" Type="http://schemas.openxmlformats.org/officeDocument/2006/relationships/notesMaster" Target="notesMasters/notesMaster1.xml"/><Relationship Id="rId172" Type="http://schemas.openxmlformats.org/officeDocument/2006/relationships/font" Target="fonts/font15.fntdata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4.xml"/><Relationship Id="rId39" Type="http://schemas.openxmlformats.org/officeDocument/2006/relationships/slide" Target="slides/slide25.xml"/><Relationship Id="rId109" Type="http://schemas.openxmlformats.org/officeDocument/2006/relationships/slide" Target="slides/slide95.xml"/><Relationship Id="rId34" Type="http://schemas.openxmlformats.org/officeDocument/2006/relationships/slide" Target="slides/slide20.xml"/><Relationship Id="rId50" Type="http://schemas.openxmlformats.org/officeDocument/2006/relationships/slide" Target="slides/slide36.xml"/><Relationship Id="rId55" Type="http://schemas.openxmlformats.org/officeDocument/2006/relationships/slide" Target="slides/slide41.xml"/><Relationship Id="rId76" Type="http://schemas.openxmlformats.org/officeDocument/2006/relationships/slide" Target="slides/slide62.xml"/><Relationship Id="rId97" Type="http://schemas.openxmlformats.org/officeDocument/2006/relationships/slide" Target="slides/slide83.xml"/><Relationship Id="rId104" Type="http://schemas.openxmlformats.org/officeDocument/2006/relationships/slide" Target="slides/slide90.xml"/><Relationship Id="rId120" Type="http://schemas.openxmlformats.org/officeDocument/2006/relationships/slide" Target="slides/slide106.xml"/><Relationship Id="rId125" Type="http://schemas.openxmlformats.org/officeDocument/2006/relationships/slide" Target="slides/slide111.xml"/><Relationship Id="rId141" Type="http://schemas.openxmlformats.org/officeDocument/2006/relationships/slide" Target="slides/slide127.xml"/><Relationship Id="rId146" Type="http://schemas.openxmlformats.org/officeDocument/2006/relationships/slide" Target="slides/slide132.xml"/><Relationship Id="rId167" Type="http://schemas.openxmlformats.org/officeDocument/2006/relationships/font" Target="fonts/font10.fntdata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57.xml"/><Relationship Id="rId92" Type="http://schemas.openxmlformats.org/officeDocument/2006/relationships/slide" Target="slides/slide78.xml"/><Relationship Id="rId162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15.xml"/><Relationship Id="rId24" Type="http://schemas.openxmlformats.org/officeDocument/2006/relationships/slide" Target="slides/slide10.xml"/><Relationship Id="rId40" Type="http://schemas.openxmlformats.org/officeDocument/2006/relationships/slide" Target="slides/slide26.xml"/><Relationship Id="rId45" Type="http://schemas.openxmlformats.org/officeDocument/2006/relationships/slide" Target="slides/slide31.xml"/><Relationship Id="rId66" Type="http://schemas.openxmlformats.org/officeDocument/2006/relationships/slide" Target="slides/slide52.xml"/><Relationship Id="rId87" Type="http://schemas.openxmlformats.org/officeDocument/2006/relationships/slide" Target="slides/slide73.xml"/><Relationship Id="rId110" Type="http://schemas.openxmlformats.org/officeDocument/2006/relationships/slide" Target="slides/slide96.xml"/><Relationship Id="rId115" Type="http://schemas.openxmlformats.org/officeDocument/2006/relationships/slide" Target="slides/slide101.xml"/><Relationship Id="rId131" Type="http://schemas.openxmlformats.org/officeDocument/2006/relationships/slide" Target="slides/slide117.xml"/><Relationship Id="rId136" Type="http://schemas.openxmlformats.org/officeDocument/2006/relationships/slide" Target="slides/slide122.xml"/><Relationship Id="rId157" Type="http://schemas.openxmlformats.org/officeDocument/2006/relationships/handoutMaster" Target="handoutMasters/handoutMaster1.xml"/><Relationship Id="rId61" Type="http://schemas.openxmlformats.org/officeDocument/2006/relationships/slide" Target="slides/slide47.xml"/><Relationship Id="rId82" Type="http://schemas.openxmlformats.org/officeDocument/2006/relationships/slide" Target="slides/slide68.xml"/><Relationship Id="rId152" Type="http://schemas.openxmlformats.org/officeDocument/2006/relationships/slide" Target="slides/slide138.xml"/><Relationship Id="rId173" Type="http://schemas.openxmlformats.org/officeDocument/2006/relationships/presProps" Target="presProps.xml"/><Relationship Id="rId19" Type="http://schemas.openxmlformats.org/officeDocument/2006/relationships/slide" Target="slides/slide5.xml"/><Relationship Id="rId14" Type="http://schemas.openxmlformats.org/officeDocument/2006/relationships/slideMaster" Target="slideMasters/slideMaster14.xml"/><Relationship Id="rId30" Type="http://schemas.openxmlformats.org/officeDocument/2006/relationships/slide" Target="slides/slide16.xml"/><Relationship Id="rId35" Type="http://schemas.openxmlformats.org/officeDocument/2006/relationships/slide" Target="slides/slide21.xml"/><Relationship Id="rId56" Type="http://schemas.openxmlformats.org/officeDocument/2006/relationships/slide" Target="slides/slide42.xml"/><Relationship Id="rId77" Type="http://schemas.openxmlformats.org/officeDocument/2006/relationships/slide" Target="slides/slide63.xml"/><Relationship Id="rId100" Type="http://schemas.openxmlformats.org/officeDocument/2006/relationships/slide" Target="slides/slide86.xml"/><Relationship Id="rId105" Type="http://schemas.openxmlformats.org/officeDocument/2006/relationships/slide" Target="slides/slide91.xml"/><Relationship Id="rId126" Type="http://schemas.openxmlformats.org/officeDocument/2006/relationships/slide" Target="slides/slide112.xml"/><Relationship Id="rId147" Type="http://schemas.openxmlformats.org/officeDocument/2006/relationships/slide" Target="slides/slide133.xml"/><Relationship Id="rId168" Type="http://schemas.openxmlformats.org/officeDocument/2006/relationships/font" Target="fonts/font11.fntdata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7.xml"/><Relationship Id="rId72" Type="http://schemas.openxmlformats.org/officeDocument/2006/relationships/slide" Target="slides/slide58.xml"/><Relationship Id="rId93" Type="http://schemas.openxmlformats.org/officeDocument/2006/relationships/slide" Target="slides/slide79.xml"/><Relationship Id="rId98" Type="http://schemas.openxmlformats.org/officeDocument/2006/relationships/slide" Target="slides/slide84.xml"/><Relationship Id="rId121" Type="http://schemas.openxmlformats.org/officeDocument/2006/relationships/slide" Target="slides/slide107.xml"/><Relationship Id="rId142" Type="http://schemas.openxmlformats.org/officeDocument/2006/relationships/slide" Target="slides/slide128.xml"/><Relationship Id="rId163" Type="http://schemas.openxmlformats.org/officeDocument/2006/relationships/font" Target="fonts/font6.fntdata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1.xml"/><Relationship Id="rId46" Type="http://schemas.openxmlformats.org/officeDocument/2006/relationships/slide" Target="slides/slide32.xml"/><Relationship Id="rId67" Type="http://schemas.openxmlformats.org/officeDocument/2006/relationships/slide" Target="slides/slide53.xml"/><Relationship Id="rId116" Type="http://schemas.openxmlformats.org/officeDocument/2006/relationships/slide" Target="slides/slide102.xml"/><Relationship Id="rId137" Type="http://schemas.openxmlformats.org/officeDocument/2006/relationships/slide" Target="slides/slide123.xml"/><Relationship Id="rId158" Type="http://schemas.openxmlformats.org/officeDocument/2006/relationships/font" Target="fonts/font1.fntdata"/><Relationship Id="rId20" Type="http://schemas.openxmlformats.org/officeDocument/2006/relationships/slide" Target="slides/slide6.xml"/><Relationship Id="rId41" Type="http://schemas.openxmlformats.org/officeDocument/2006/relationships/slide" Target="slides/slide27.xml"/><Relationship Id="rId62" Type="http://schemas.openxmlformats.org/officeDocument/2006/relationships/slide" Target="slides/slide48.xml"/><Relationship Id="rId83" Type="http://schemas.openxmlformats.org/officeDocument/2006/relationships/slide" Target="slides/slide69.xml"/><Relationship Id="rId88" Type="http://schemas.openxmlformats.org/officeDocument/2006/relationships/slide" Target="slides/slide74.xml"/><Relationship Id="rId111" Type="http://schemas.openxmlformats.org/officeDocument/2006/relationships/slide" Target="slides/slide97.xml"/><Relationship Id="rId132" Type="http://schemas.openxmlformats.org/officeDocument/2006/relationships/slide" Target="slides/slide118.xml"/><Relationship Id="rId153" Type="http://schemas.openxmlformats.org/officeDocument/2006/relationships/slide" Target="slides/slide139.xml"/><Relationship Id="rId174" Type="http://schemas.openxmlformats.org/officeDocument/2006/relationships/viewProps" Target="viewProps.xml"/><Relationship Id="rId15" Type="http://schemas.openxmlformats.org/officeDocument/2006/relationships/slide" Target="slides/slide1.xml"/><Relationship Id="rId36" Type="http://schemas.openxmlformats.org/officeDocument/2006/relationships/slide" Target="slides/slide22.xml"/><Relationship Id="rId57" Type="http://schemas.openxmlformats.org/officeDocument/2006/relationships/slide" Target="slides/slide43.xml"/><Relationship Id="rId106" Type="http://schemas.openxmlformats.org/officeDocument/2006/relationships/slide" Target="slides/slide92.xml"/><Relationship Id="rId127" Type="http://schemas.openxmlformats.org/officeDocument/2006/relationships/slide" Target="slides/slide113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17.xml"/><Relationship Id="rId52" Type="http://schemas.openxmlformats.org/officeDocument/2006/relationships/slide" Target="slides/slide38.xml"/><Relationship Id="rId73" Type="http://schemas.openxmlformats.org/officeDocument/2006/relationships/slide" Target="slides/slide59.xml"/><Relationship Id="rId78" Type="http://schemas.openxmlformats.org/officeDocument/2006/relationships/slide" Target="slides/slide64.xml"/><Relationship Id="rId94" Type="http://schemas.openxmlformats.org/officeDocument/2006/relationships/slide" Target="slides/slide80.xml"/><Relationship Id="rId99" Type="http://schemas.openxmlformats.org/officeDocument/2006/relationships/slide" Target="slides/slide85.xml"/><Relationship Id="rId101" Type="http://schemas.openxmlformats.org/officeDocument/2006/relationships/slide" Target="slides/slide87.xml"/><Relationship Id="rId122" Type="http://schemas.openxmlformats.org/officeDocument/2006/relationships/slide" Target="slides/slide108.xml"/><Relationship Id="rId143" Type="http://schemas.openxmlformats.org/officeDocument/2006/relationships/slide" Target="slides/slide129.xml"/><Relationship Id="rId148" Type="http://schemas.openxmlformats.org/officeDocument/2006/relationships/slide" Target="slides/slide134.xml"/><Relationship Id="rId164" Type="http://schemas.openxmlformats.org/officeDocument/2006/relationships/font" Target="fonts/font7.fntdata"/><Relationship Id="rId169" Type="http://schemas.openxmlformats.org/officeDocument/2006/relationships/font" Target="fonts/font12.fntdata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26" Type="http://schemas.openxmlformats.org/officeDocument/2006/relationships/slide" Target="slides/slide12.xml"/><Relationship Id="rId47" Type="http://schemas.openxmlformats.org/officeDocument/2006/relationships/slide" Target="slides/slide33.xml"/><Relationship Id="rId68" Type="http://schemas.openxmlformats.org/officeDocument/2006/relationships/slide" Target="slides/slide54.xml"/><Relationship Id="rId89" Type="http://schemas.openxmlformats.org/officeDocument/2006/relationships/slide" Target="slides/slide75.xml"/><Relationship Id="rId112" Type="http://schemas.openxmlformats.org/officeDocument/2006/relationships/slide" Target="slides/slide98.xml"/><Relationship Id="rId133" Type="http://schemas.openxmlformats.org/officeDocument/2006/relationships/slide" Target="slides/slide119.xml"/><Relationship Id="rId154" Type="http://schemas.openxmlformats.org/officeDocument/2006/relationships/slide" Target="slides/slide140.xml"/><Relationship Id="rId175" Type="http://schemas.openxmlformats.org/officeDocument/2006/relationships/theme" Target="theme/theme1.xml"/><Relationship Id="rId16" Type="http://schemas.openxmlformats.org/officeDocument/2006/relationships/slide" Target="slides/slide2.xml"/><Relationship Id="rId37" Type="http://schemas.openxmlformats.org/officeDocument/2006/relationships/slide" Target="slides/slide23.xml"/><Relationship Id="rId58" Type="http://schemas.openxmlformats.org/officeDocument/2006/relationships/slide" Target="slides/slide44.xml"/><Relationship Id="rId79" Type="http://schemas.openxmlformats.org/officeDocument/2006/relationships/slide" Target="slides/slide65.xml"/><Relationship Id="rId102" Type="http://schemas.openxmlformats.org/officeDocument/2006/relationships/slide" Target="slides/slide88.xml"/><Relationship Id="rId123" Type="http://schemas.openxmlformats.org/officeDocument/2006/relationships/slide" Target="slides/slide109.xml"/><Relationship Id="rId144" Type="http://schemas.openxmlformats.org/officeDocument/2006/relationships/slide" Target="slides/slide130.xml"/><Relationship Id="rId90" Type="http://schemas.openxmlformats.org/officeDocument/2006/relationships/slide" Target="slides/slide76.xml"/><Relationship Id="rId165" Type="http://schemas.openxmlformats.org/officeDocument/2006/relationships/font" Target="fonts/font8.fntdata"/><Relationship Id="rId27" Type="http://schemas.openxmlformats.org/officeDocument/2006/relationships/slide" Target="slides/slide13.xml"/><Relationship Id="rId48" Type="http://schemas.openxmlformats.org/officeDocument/2006/relationships/slide" Target="slides/slide34.xml"/><Relationship Id="rId69" Type="http://schemas.openxmlformats.org/officeDocument/2006/relationships/slide" Target="slides/slide55.xml"/><Relationship Id="rId113" Type="http://schemas.openxmlformats.org/officeDocument/2006/relationships/slide" Target="slides/slide99.xml"/><Relationship Id="rId134" Type="http://schemas.openxmlformats.org/officeDocument/2006/relationships/slide" Target="slides/slide120.xml"/><Relationship Id="rId80" Type="http://schemas.openxmlformats.org/officeDocument/2006/relationships/slide" Target="slides/slide66.xml"/><Relationship Id="rId155" Type="http://schemas.openxmlformats.org/officeDocument/2006/relationships/slide" Target="slides/slide141.xml"/><Relationship Id="rId176" Type="http://schemas.openxmlformats.org/officeDocument/2006/relationships/tableStyles" Target="tableStyles.xml"/><Relationship Id="rId17" Type="http://schemas.openxmlformats.org/officeDocument/2006/relationships/slide" Target="slides/slide3.xml"/><Relationship Id="rId38" Type="http://schemas.openxmlformats.org/officeDocument/2006/relationships/slide" Target="slides/slide24.xml"/><Relationship Id="rId59" Type="http://schemas.openxmlformats.org/officeDocument/2006/relationships/slide" Target="slides/slide45.xml"/><Relationship Id="rId103" Type="http://schemas.openxmlformats.org/officeDocument/2006/relationships/slide" Target="slides/slide89.xml"/><Relationship Id="rId124" Type="http://schemas.openxmlformats.org/officeDocument/2006/relationships/slide" Target="slides/slide110.xml"/><Relationship Id="rId70" Type="http://schemas.openxmlformats.org/officeDocument/2006/relationships/slide" Target="slides/slide56.xml"/><Relationship Id="rId91" Type="http://schemas.openxmlformats.org/officeDocument/2006/relationships/slide" Target="slides/slide77.xml"/><Relationship Id="rId145" Type="http://schemas.openxmlformats.org/officeDocument/2006/relationships/slide" Target="slides/slide131.xml"/><Relationship Id="rId166" Type="http://schemas.openxmlformats.org/officeDocument/2006/relationships/font" Target="fonts/font9.fntdata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fld id="{839E61BA-B515-4E03-AFF3-65AC7CE27AD6}" type="datetimeFigureOut">
              <a:rPr lang="zh-CN" altLang="en-US"/>
              <a:pPr>
                <a:defRPr/>
              </a:pPr>
              <a:t>2025/9/9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fld id="{A5500FE0-A276-4FBB-8D34-5CCEAD359A2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7609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fld id="{2CD5B6F9-F6AC-4563-866A-FCD97B3325B4}" type="datetimeFigureOut">
              <a:rPr lang="zh-CN" altLang="en-US"/>
              <a:pPr>
                <a:defRPr/>
              </a:pPr>
              <a:t>2025/9/9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fld id="{4ADC5E21-0C80-42C5-A73A-6503B072930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7502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algun Gothic" panose="020B0503020000020004" pitchFamily="34" charset="-127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algun Gothic" panose="020B0503020000020004" pitchFamily="34" charset="-127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algun Gothic" panose="020B0503020000020004" pitchFamily="34" charset="-127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algun Gothic" panose="020B0503020000020004" pitchFamily="34" charset="-127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algun Gothic" panose="020B0503020000020004" pitchFamily="34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fld id="{5323D501-169D-453A-9B0C-E8E52E23D0D3}" type="slidenum">
              <a:rPr lang="zh-CN" altLang="en-US" sz="1200" smtClean="0"/>
              <a:pPr/>
              <a:t>15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355495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1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fld id="{E2993382-F4C7-4906-BF77-CAF1507DBEF8}" type="slidenum">
              <a:rPr lang="zh-CN" altLang="en-US" sz="1200" smtClean="0">
                <a:solidFill>
                  <a:srgbClr val="000000"/>
                </a:solidFill>
              </a:rPr>
              <a:pPr/>
              <a:t>30</a:t>
            </a:fld>
            <a:endParaRPr lang="zh-CN" altLang="en-US" sz="1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4290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083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3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fld id="{88CD875F-7680-40C8-B97F-31F12D48DD6F}" type="slidenum">
              <a:rPr lang="zh-CN" altLang="en-US" sz="1200" smtClean="0"/>
              <a:pPr/>
              <a:t>65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666006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fld id="{D4E32129-188E-4F82-BD06-0C47ABC5C283}" type="slidenum">
              <a:rPr lang="zh-CN" altLang="en-US" sz="1200" smtClean="0"/>
              <a:pPr/>
              <a:t>68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7173729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697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698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algun Gothic" panose="020B0503020000020004" pitchFamily="34" charset="-127"/>
              </a:defRPr>
            </a:lvl9pPr>
          </a:lstStyle>
          <a:p>
            <a:pPr>
              <a:spcBef>
                <a:spcPct val="0"/>
              </a:spcBef>
            </a:pPr>
            <a:fld id="{E6615562-6419-4813-BA73-B322F7B660BD}" type="slidenum">
              <a:rPr lang="zh-CN" altLang="en-US" smtClean="0">
                <a:latin typeface="Times New Roman" panose="02020603050405020304" pitchFamily="18" charset="0"/>
                <a:ea typeface="楷体_GB2312" panose="02010600030101010101" charset="-122"/>
              </a:rPr>
              <a:pPr>
                <a:spcBef>
                  <a:spcPct val="0"/>
                </a:spcBef>
              </a:pPr>
              <a:t>69</a:t>
            </a:fld>
            <a:endParaRPr lang="zh-CN" altLang="en-US">
              <a:latin typeface="Times New Roman" panose="02020603050405020304" pitchFamily="18" charset="0"/>
              <a:ea typeface="楷体_GB2312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4828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155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155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fld id="{1757511E-4B79-4D8C-8BBC-16561E093A7E}" type="slidenum">
              <a:rPr lang="zh-CN" altLang="en-US" sz="1200" smtClean="0"/>
              <a:pPr/>
              <a:t>91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9235906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DC5E21-0C80-42C5-A73A-6503B072930C}" type="slidenum">
              <a:rPr lang="zh-CN" altLang="en-US" smtClean="0"/>
              <a:pPr>
                <a:defRPr/>
              </a:pPr>
              <a:t>112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5187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0FBB69-27E6-4070-9872-65D7682911A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11625784"/>
      </p:ext>
    </p:extLst>
  </p:cSld>
  <p:clrMapOvr>
    <a:masterClrMapping/>
  </p:clrMapOvr>
  <p:transition spd="med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4F540F-9CD7-44FB-A48B-56CCA15CD8D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22020329"/>
      </p:ext>
    </p:extLst>
  </p:cSld>
  <p:clrMapOvr>
    <a:masterClrMapping/>
  </p:clrMapOvr>
  <p:transition spd="med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7CA3CF-570D-4E2B-A612-EFBE9E15F2A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01446073"/>
      </p:ext>
    </p:extLst>
  </p:cSld>
  <p:clrMapOvr>
    <a:masterClrMapping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BE487E-D359-4A0D-B3EC-1A0FA7BD013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03248528"/>
      </p:ext>
    </p:extLst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2998FF-4C83-463B-9149-6F632CC1BD4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77971344"/>
      </p:ext>
    </p:extLst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391339-4090-45F1-A244-03E8CD7E767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90366291"/>
      </p:ext>
    </p:extLst>
  </p:cSld>
  <p:clrMapOvr>
    <a:masterClrMapping/>
  </p:clrMapOvr>
  <p:transition spd="med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88DEDD-FD7E-44A4-B650-7EBC6DB63B6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00783321"/>
      </p:ext>
    </p:extLst>
  </p:cSld>
  <p:clrMapOvr>
    <a:masterClrMapping/>
  </p:clrMapOvr>
  <p:transition spd="med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0AD6EE-33F2-4667-B424-2A0918FDF47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47021344"/>
      </p:ext>
    </p:extLst>
  </p:cSld>
  <p:clrMapOvr>
    <a:masterClrMapping/>
  </p:clrMapOvr>
  <p:transition spd="med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6DC799-D2B4-4475-B63B-3AAB2215094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0577715"/>
      </p:ext>
    </p:extLst>
  </p:cSld>
  <p:clrMapOvr>
    <a:masterClrMapping/>
  </p:clrMapOvr>
  <p:transition spd="med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20C699-6021-431C-920B-7AB4C1D5B03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80254193"/>
      </p:ext>
    </p:extLst>
  </p:cSld>
  <p:clrMapOvr>
    <a:masterClrMapping/>
  </p:clrMapOvr>
  <p:transition spd="med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4A5475-09B5-408C-AF3D-4FA6384322D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56318295"/>
      </p:ext>
    </p:extLst>
  </p:cSld>
  <p:clrMapOvr>
    <a:masterClrMapping/>
  </p:clrMapOvr>
  <p:transition spd="med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A2E85C-1006-457E-9406-7B06AAD0C63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8479881"/>
      </p:ext>
    </p:extLst>
  </p:cSld>
  <p:clrMapOvr>
    <a:masterClrMapping/>
  </p:clrMapOvr>
  <p:transition spd="med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zh-CN" altLang="en-US" noProof="1"/>
              <a:t>单击此处编辑母版标题样式</a:t>
            </a:r>
            <a:endParaRPr lang="ko-KR" altLang="en-US" noProof="1"/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zh-CN" altLang="en-US" noProof="1"/>
              <a:t>单击此处编辑母版副标题样式</a:t>
            </a:r>
            <a:endParaRPr lang="ko-KR" altLang="en-US" noProof="1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1F2E42A9-1DFA-4960-9104-8B416F84B65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55388320"/>
      </p:ext>
    </p:extLst>
  </p:cSld>
  <p:clrMapOvr>
    <a:masterClrMapping/>
  </p:clrMapOvr>
  <p:transition spd="med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5DEC5A8A-F240-4C27-95FC-E0521022B01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55297790"/>
      </p:ext>
    </p:extLst>
  </p:cSld>
  <p:clrMapOvr>
    <a:masterClrMapping/>
  </p:clrMapOvr>
  <p:transition spd="med"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82D82E2C-94B6-4E93-87F7-8455B0C85EE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50125017"/>
      </p:ext>
    </p:extLst>
  </p:cSld>
  <p:clrMapOvr>
    <a:masterClrMapping/>
  </p:clrMapOvr>
  <p:transition spd="med"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746E6048-A5E0-4B3C-A0A2-702F795E23D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89799264"/>
      </p:ext>
    </p:extLst>
  </p:cSld>
  <p:clrMapOvr>
    <a:masterClrMapping/>
  </p:clrMapOvr>
  <p:transition spd="med"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2FB57705-3AE7-4106-8F56-59E8F27F88B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1758927"/>
      </p:ext>
    </p:extLst>
  </p:cSld>
  <p:clrMapOvr>
    <a:masterClrMapping/>
  </p:clrMapOvr>
  <p:transition spd="med"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262FF6D3-1EC7-46E9-B3BE-1A74694AFBE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48015583"/>
      </p:ext>
    </p:extLst>
  </p:cSld>
  <p:clrMapOvr>
    <a:masterClrMapping/>
  </p:clrMapOvr>
  <p:transition spd="med"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126BD77E-7405-423F-ABD2-0D87F136C26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38901560"/>
      </p:ext>
    </p:extLst>
  </p:cSld>
  <p:clrMapOvr>
    <a:masterClrMapping/>
  </p:clrMapOvr>
  <p:transition spd="med"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DF90CA87-85AB-4F59-A5C4-87B0C50D900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59052137"/>
      </p:ext>
    </p:extLst>
  </p:cSld>
  <p:clrMapOvr>
    <a:masterClrMapping/>
  </p:clrMapOvr>
  <p:transition spd="med"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17F22CF8-43A7-4E01-8768-7EC032C0821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67084463"/>
      </p:ext>
    </p:extLst>
  </p:cSld>
  <p:clrMapOvr>
    <a:masterClrMapping/>
  </p:clrMapOvr>
  <p:transition spd="med"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4F6FC368-7DDD-49A8-8B75-D37C009ECED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04367252"/>
      </p:ext>
    </p:extLst>
  </p:cSld>
  <p:clrMapOvr>
    <a:masterClrMapping/>
  </p:clrMapOvr>
  <p:transition spd="med">
    <p:rand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6BCB3574-D73A-418E-8457-6D161AF3E01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13351395"/>
      </p:ext>
    </p:extLst>
  </p:cSld>
  <p:clrMapOvr>
    <a:masterClrMapping/>
  </p:clrMapOvr>
  <p:transition spd="med">
    <p:rand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39F5C33D-CFDD-4590-86FF-796A50F4403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17096090"/>
      </p:ext>
    </p:extLst>
  </p:cSld>
  <p:clrMapOvr>
    <a:masterClrMapping/>
  </p:clrMapOvr>
  <p:transition spd="med"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BCAA8691-9061-468A-8C65-6C4C1C84A3F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46944651"/>
      </p:ext>
    </p:extLst>
  </p:cSld>
  <p:clrMapOvr>
    <a:masterClrMapping/>
  </p:clrMapOvr>
  <p:transition spd="med"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825625"/>
            <a:ext cx="3886200" cy="20986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29150" y="4076700"/>
            <a:ext cx="3886200" cy="21002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B8B22AD2-C0C1-4675-B715-FA803D3695F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752074"/>
      </p:ext>
    </p:extLst>
  </p:cSld>
  <p:clrMapOvr>
    <a:masterClrMapping/>
  </p:clrMapOvr>
  <p:transition spd="med">
    <p:random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FA49E2-AFAA-41A1-AA40-1C347BA7C83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38117806"/>
      </p:ext>
    </p:extLst>
  </p:cSld>
  <p:clrMapOvr>
    <a:masterClrMapping/>
  </p:clrMapOvr>
  <p:transition spd="med">
    <p:random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A8C4DF-DA78-4FF1-94FF-B9514A13004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6825461"/>
      </p:ext>
    </p:extLst>
  </p:cSld>
  <p:clrMapOvr>
    <a:masterClrMapping/>
  </p:clrMapOvr>
  <p:transition spd="med">
    <p:random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C86FD9-BF1F-4178-85B0-1299F5C26BF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3198512"/>
      </p:ext>
    </p:extLst>
  </p:cSld>
  <p:clrMapOvr>
    <a:masterClrMapping/>
  </p:clrMapOvr>
  <p:transition spd="med">
    <p:random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8C6C11-3087-458B-B8F9-67445EB7829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04853003"/>
      </p:ext>
    </p:extLst>
  </p:cSld>
  <p:clrMapOvr>
    <a:masterClrMapping/>
  </p:clrMapOvr>
  <p:transition spd="med">
    <p:random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B5AC58-DBFF-409A-8B77-09F060F01C3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83989694"/>
      </p:ext>
    </p:extLst>
  </p:cSld>
  <p:clrMapOvr>
    <a:masterClrMapping/>
  </p:clrMapOvr>
  <p:transition spd="med">
    <p:random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2368F5-CD8A-4DEB-AB30-9009F6100A6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13159796"/>
      </p:ext>
    </p:extLst>
  </p:cSld>
  <p:clrMapOvr>
    <a:masterClrMapping/>
  </p:clrMapOvr>
  <p:transition spd="med">
    <p:random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B449AD-009A-4F03-80FD-E3C5EE36183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57573831"/>
      </p:ext>
    </p:extLst>
  </p:cSld>
  <p:clrMapOvr>
    <a:masterClrMapping/>
  </p:clrMapOvr>
  <p:transition spd="med">
    <p:random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8D1EF2-A787-4385-A941-0CADF995936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97253086"/>
      </p:ext>
    </p:extLst>
  </p:cSld>
  <p:clrMapOvr>
    <a:masterClrMapping/>
  </p:clrMapOvr>
  <p:transition spd="med">
    <p:random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06833-34D8-44D9-BD95-FBE81C4DEFE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20243605"/>
      </p:ext>
    </p:extLst>
  </p:cSld>
  <p:clrMapOvr>
    <a:masterClrMapping/>
  </p:clrMapOvr>
  <p:transition spd="med">
    <p:random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549253-81E8-4C3D-9508-F9DD984F715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87967372"/>
      </p:ext>
    </p:extLst>
  </p:cSld>
  <p:clrMapOvr>
    <a:masterClrMapping/>
  </p:clrMapOvr>
  <p:transition spd="med">
    <p:random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963DF5-9C31-40AA-86AE-7052E7A8D16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04458167"/>
      </p:ext>
    </p:extLst>
  </p:cSld>
  <p:clrMapOvr>
    <a:masterClrMapping/>
  </p:clrMapOvr>
  <p:transition spd="med">
    <p:random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B86F6C-7414-4F5F-9DE9-9EA1123B372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21949813"/>
      </p:ext>
    </p:extLst>
  </p:cSld>
  <p:clrMapOvr>
    <a:masterClrMapping/>
  </p:clrMapOvr>
  <p:transition spd="med">
    <p:random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707683-4485-4643-926A-D815C336A9B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257322"/>
      </p:ext>
    </p:extLst>
  </p:cSld>
  <p:clrMapOvr>
    <a:masterClrMapping/>
  </p:clrMapOvr>
  <p:transition spd="med">
    <p:random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793E2E-2DD9-423F-9F78-9CD77BB4DC9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77564"/>
      </p:ext>
    </p:extLst>
  </p:cSld>
  <p:clrMapOvr>
    <a:masterClrMapping/>
  </p:clrMapOvr>
  <p:transition spd="med">
    <p:random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8EC423-3288-469A-982B-1F789C4E042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7203887"/>
      </p:ext>
    </p:extLst>
  </p:cSld>
  <p:clrMapOvr>
    <a:masterClrMapping/>
  </p:clrMapOvr>
  <p:transition spd="med">
    <p:random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DE5CC5-EABC-484B-B29A-6164B07FB37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933595"/>
      </p:ext>
    </p:extLst>
  </p:cSld>
  <p:clrMapOvr>
    <a:masterClrMapping/>
  </p:clrMapOvr>
  <p:transition spd="med">
    <p:random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400B9A-235C-44C5-9259-2385546AC5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615728"/>
      </p:ext>
    </p:extLst>
  </p:cSld>
  <p:clrMapOvr>
    <a:masterClrMapping/>
  </p:clrMapOvr>
  <p:transition spd="med">
    <p:random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962775" y="6248400"/>
            <a:ext cx="1905000" cy="457200"/>
          </a:xfrm>
        </p:spPr>
        <p:txBody>
          <a:bodyPr/>
          <a:lstStyle>
            <a:lvl1pPr algn="r">
              <a:defRPr sz="1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fld id="{1DA8BF0C-E15D-4B05-BA3F-2435390A9B9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60214223"/>
      </p:ext>
    </p:extLst>
  </p:cSld>
  <p:clrMapOvr>
    <a:masterClrMapping/>
  </p:clrMapOvr>
  <p:transition spd="med">
    <p:random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sz="1800"/>
            </a:lvl1pPr>
          </a:lstStyle>
          <a:p>
            <a:pPr>
              <a:defRPr/>
            </a:pPr>
            <a:fld id="{476DAF39-7B56-4430-B0F0-FAA65408F46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99328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01DA8F-F1C0-4F84-9A85-B3C5B4F4011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91728281"/>
      </p:ext>
    </p:extLst>
  </p:cSld>
  <p:clrMapOvr>
    <a:masterClrMapping/>
  </p:clrMapOvr>
  <p:transition spd="med">
    <p:random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00C5AA-92A3-4524-A693-5EA000F78E7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37872049"/>
      </p:ext>
    </p:extLst>
  </p:cSld>
  <p:clrMapOvr>
    <a:masterClrMapping/>
  </p:clrMapOvr>
  <p:transition spd="med">
    <p:random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C7A30D-D03B-49FE-B49D-9DE3A4FA0A6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27140433"/>
      </p:ext>
    </p:extLst>
  </p:cSld>
  <p:clrMapOvr>
    <a:masterClrMapping/>
  </p:clrMapOvr>
  <p:transition spd="med">
    <p:random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F41329-006F-4B9F-A0B1-98C2C431966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66934621"/>
      </p:ext>
    </p:extLst>
  </p:cSld>
  <p:clrMapOvr>
    <a:masterClrMapping/>
  </p:clrMapOvr>
  <p:transition spd="med">
    <p:random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43008C-4376-4597-823A-9A93FF3112A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41959427"/>
      </p:ext>
    </p:extLst>
  </p:cSld>
  <p:clrMapOvr>
    <a:masterClrMapping/>
  </p:clrMapOvr>
  <p:transition spd="med">
    <p:random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39A36E-8F8A-4DD3-9BB1-66E33D61499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23349682"/>
      </p:ext>
    </p:extLst>
  </p:cSld>
  <p:clrMapOvr>
    <a:masterClrMapping/>
  </p:clrMapOvr>
  <p:transition spd="med">
    <p:random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04FA9D-B4FA-4929-A928-3E6821F21C6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443539"/>
      </p:ext>
    </p:extLst>
  </p:cSld>
  <p:clrMapOvr>
    <a:masterClrMapping/>
  </p:clrMapOvr>
  <p:transition spd="med">
    <p:random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3C41C0-4C01-42A6-99B3-318F8C928B8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42890299"/>
      </p:ext>
    </p:extLst>
  </p:cSld>
  <p:clrMapOvr>
    <a:masterClrMapping/>
  </p:clrMapOvr>
  <p:transition spd="med">
    <p:random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BF761B-954F-486E-9F22-E208E0026CC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19752749"/>
      </p:ext>
    </p:extLst>
  </p:cSld>
  <p:clrMapOvr>
    <a:masterClrMapping/>
  </p:clrMapOvr>
  <p:transition spd="med">
    <p:random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8616BB-2E8D-44C2-BBB4-85FF597D773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73592254"/>
      </p:ext>
    </p:extLst>
  </p:cSld>
  <p:clrMapOvr>
    <a:masterClrMapping/>
  </p:clrMapOvr>
  <p:transition spd="med">
    <p:random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87E65F-0A93-478A-B1BF-D8BED58E3A2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44889331"/>
      </p:ext>
    </p:extLst>
  </p:cSld>
  <p:clrMapOvr>
    <a:masterClrMapping/>
  </p:clrMapOvr>
  <p:transition spd="med">
    <p:random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861D5-9ACC-44A4-8DBE-6E992E8AB32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32208627"/>
      </p:ext>
    </p:extLst>
  </p:cSld>
  <p:clrMapOvr>
    <a:masterClrMapping/>
  </p:clrMapOvr>
  <p:transition spd="med">
    <p:random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3D60B5-27F6-47E5-BCB0-054C158E269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27102964"/>
      </p:ext>
    </p:extLst>
  </p:cSld>
  <p:clrMapOvr>
    <a:masterClrMapping/>
  </p:clrMapOvr>
  <p:transition spd="med">
    <p:random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331909-1DF8-46AC-919A-FB7F29E75CC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32712501"/>
      </p:ext>
    </p:extLst>
  </p:cSld>
  <p:clrMapOvr>
    <a:masterClrMapping/>
  </p:clrMapOvr>
  <p:transition spd="med">
    <p:random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354C63-B4F6-4AC1-A66E-82804BF27CE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28520374"/>
      </p:ext>
    </p:extLst>
  </p:cSld>
  <p:clrMapOvr>
    <a:masterClrMapping/>
  </p:clrMapOvr>
  <p:transition spd="med">
    <p:random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7BEE1D-178D-4DFC-BCB3-169DC1D4ED2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27755076"/>
      </p:ext>
    </p:extLst>
  </p:cSld>
  <p:clrMapOvr>
    <a:masterClrMapping/>
  </p:clrMapOvr>
  <p:transition spd="med">
    <p:random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4469FF-8AAD-412F-9EC6-0F8B1CCE7C2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57102600"/>
      </p:ext>
    </p:extLst>
  </p:cSld>
  <p:clrMapOvr>
    <a:masterClrMapping/>
  </p:clrMapOvr>
  <p:transition spd="med">
    <p:random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443ABD-6EEB-414D-9F5F-EA23D473A1A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2755758"/>
      </p:ext>
    </p:extLst>
  </p:cSld>
  <p:clrMapOvr>
    <a:masterClrMapping/>
  </p:clrMapOvr>
  <p:transition spd="med">
    <p:random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341598-ECBF-45ED-A5B3-9A8BB37F34A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22113789"/>
      </p:ext>
    </p:extLst>
  </p:cSld>
  <p:clrMapOvr>
    <a:masterClrMapping/>
  </p:clrMapOvr>
  <p:transition spd="med">
    <p:random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488E73-4485-4D53-91AC-5EBD57B093C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2361276"/>
      </p:ext>
    </p:extLst>
  </p:cSld>
  <p:clrMapOvr>
    <a:masterClrMapping/>
  </p:clrMapOvr>
  <p:transition spd="med">
    <p:random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4D193A-255B-4389-B7C2-303BCA23395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95398549"/>
      </p:ext>
    </p:extLst>
  </p:cSld>
  <p:clrMapOvr>
    <a:masterClrMapping/>
  </p:clrMapOvr>
  <p:transition spd="med">
    <p:random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3FE9E4-514D-4A4C-A85E-903CD52B26E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85819084"/>
      </p:ext>
    </p:extLst>
  </p:cSld>
  <p:clrMapOvr>
    <a:masterClrMapping/>
  </p:clrMapOvr>
  <p:transition spd="med">
    <p:random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8283BA-806C-4DA8-B7D4-79D9278A2B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9721676"/>
      </p:ext>
    </p:extLst>
  </p:cSld>
  <p:clrMapOvr>
    <a:masterClrMapping/>
  </p:clrMapOvr>
  <p:transition spd="med">
    <p:random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FD16CA-96A0-486B-BB7B-E326458BB25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88213829"/>
      </p:ext>
    </p:extLst>
  </p:cSld>
  <p:clrMapOvr>
    <a:masterClrMapping/>
  </p:clrMapOvr>
  <p:transition spd="med">
    <p:random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D99BC8-3B48-4E00-B332-9B8AA5ED8D4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72371609"/>
      </p:ext>
    </p:extLst>
  </p:cSld>
  <p:clrMapOvr>
    <a:masterClrMapping/>
  </p:clrMapOvr>
  <p:transition spd="med">
    <p:random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C087BE-B267-41D0-8607-8360D304E71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59218700"/>
      </p:ext>
    </p:extLst>
  </p:cSld>
  <p:clrMapOvr>
    <a:masterClrMapping/>
  </p:clrMapOvr>
  <p:transition spd="med">
    <p:random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58731B-9EF0-4AEC-9C6C-D72AAAB901F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90657888"/>
      </p:ext>
    </p:extLst>
  </p:cSld>
  <p:clrMapOvr>
    <a:masterClrMapping/>
  </p:clrMapOvr>
  <p:transition spd="med">
    <p:random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4DC2D7-8867-4943-AD30-3148F606F9A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18169159"/>
      </p:ext>
    </p:extLst>
  </p:cSld>
  <p:clrMapOvr>
    <a:masterClrMapping/>
  </p:clrMapOvr>
  <p:transition spd="med">
    <p:random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CFE276-B1C0-4F35-9421-CDBE746D375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98202346"/>
      </p:ext>
    </p:extLst>
  </p:cSld>
  <p:clrMapOvr>
    <a:masterClrMapping/>
  </p:clrMapOvr>
  <p:transition spd="med">
    <p:random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7B14C0-5613-4B8D-B6FD-39F62B463DD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5780005"/>
      </p:ext>
    </p:extLst>
  </p:cSld>
  <p:clrMapOvr>
    <a:masterClrMapping/>
  </p:clrMapOvr>
  <p:transition spd="med">
    <p:random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E68432-C720-45FE-8F25-64D5D245193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97034807"/>
      </p:ext>
    </p:extLst>
  </p:cSld>
  <p:clrMapOvr>
    <a:masterClrMapping/>
  </p:clrMapOvr>
  <p:transition spd="med">
    <p:random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1A8798-AD2D-4A3B-8E5C-F802045EE60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45435764"/>
      </p:ext>
    </p:extLst>
  </p:cSld>
  <p:clrMapOvr>
    <a:masterClrMapping/>
  </p:clrMapOvr>
  <p:transition spd="med">
    <p:random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681497-52C0-4B7B-8842-5BF07C18197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79880595"/>
      </p:ext>
    </p:extLst>
  </p:cSld>
  <p:clrMapOvr>
    <a:masterClrMapping/>
  </p:clrMapOvr>
  <p:transition spd="med">
    <p:random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C48179-1A36-4A25-ADB1-31C382F102D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77945145"/>
      </p:ext>
    </p:extLst>
  </p:cSld>
  <p:clrMapOvr>
    <a:masterClrMapping/>
  </p:clrMapOvr>
  <p:transition spd="med">
    <p:random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5FD856-703C-45AF-9902-9F2D96ECFE6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9639474"/>
      </p:ext>
    </p:extLst>
  </p:cSld>
  <p:clrMapOvr>
    <a:masterClrMapping/>
  </p:clrMapOvr>
  <p:transition spd="med">
    <p:random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609552-CAB8-4E6E-A14B-8BFBA424A8C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57578421"/>
      </p:ext>
    </p:extLst>
  </p:cSld>
  <p:clrMapOvr>
    <a:masterClrMapping/>
  </p:clrMapOvr>
  <p:transition spd="med">
    <p:random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ED539C-4073-45B5-A5B6-40ABBBE9A8A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46378558"/>
      </p:ext>
    </p:extLst>
  </p:cSld>
  <p:clrMapOvr>
    <a:masterClrMapping/>
  </p:clrMapOvr>
  <p:transition spd="med">
    <p:random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B68358-FC17-45F1-8708-C8F03B4F792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01645991"/>
      </p:ext>
    </p:extLst>
  </p:cSld>
  <p:clrMapOvr>
    <a:masterClrMapping/>
  </p:clrMapOvr>
  <p:transition spd="med">
    <p:random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AB3709-1508-4371-A35A-72CBBC3D945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96286940"/>
      </p:ext>
    </p:extLst>
  </p:cSld>
  <p:clrMapOvr>
    <a:masterClrMapping/>
  </p:clrMapOvr>
  <p:transition spd="med">
    <p:random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A34138-3727-4CE6-AB77-81DCF87CD82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47741131"/>
      </p:ext>
    </p:extLst>
  </p:cSld>
  <p:clrMapOvr>
    <a:masterClrMapping/>
  </p:clrMapOvr>
  <p:transition spd="med">
    <p:random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10F584-9122-4944-A930-919A1242244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28724743"/>
      </p:ext>
    </p:extLst>
  </p:cSld>
  <p:clrMapOvr>
    <a:masterClrMapping/>
  </p:clrMapOvr>
  <p:transition spd="med">
    <p:random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1E31D9-EECA-479A-97E7-54685C36E06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42202203"/>
      </p:ext>
    </p:extLst>
  </p:cSld>
  <p:clrMapOvr>
    <a:masterClrMapping/>
  </p:clrMapOvr>
  <p:transition spd="med">
    <p:random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678703-58A0-4359-B35F-FA59CA88469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41121831"/>
      </p:ext>
    </p:extLst>
  </p:cSld>
  <p:clrMapOvr>
    <a:masterClrMapping/>
  </p:clrMapOvr>
  <p:transition spd="med">
    <p:random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19289-6896-4A4A-AD33-5AC1C668C7A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27025849"/>
      </p:ext>
    </p:extLst>
  </p:cSld>
  <p:clrMapOvr>
    <a:masterClrMapping/>
  </p:clrMapOvr>
  <p:transition spd="med">
    <p:random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2A0C76-352E-49C9-8A04-3B3A5255E4B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89472222"/>
      </p:ext>
    </p:extLst>
  </p:cSld>
  <p:clrMapOvr>
    <a:masterClrMapping/>
  </p:clrMapOvr>
  <p:transition spd="med">
    <p:random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FF77FE-6F18-4907-9172-1ADB0A20F89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23608577"/>
      </p:ext>
    </p:extLst>
  </p:cSld>
  <p:clrMapOvr>
    <a:masterClrMapping/>
  </p:clrMapOvr>
  <p:transition spd="med">
    <p:random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6A7AA7-4A54-4D1E-857B-81A5C2B06FF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36136306"/>
      </p:ext>
    </p:extLst>
  </p:cSld>
  <p:clrMapOvr>
    <a:masterClrMapping/>
  </p:clrMapOvr>
  <p:transition spd="med">
    <p:random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227695-1A3A-4A71-9A19-523BD117120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23744045"/>
      </p:ext>
    </p:extLst>
  </p:cSld>
  <p:clrMapOvr>
    <a:masterClrMapping/>
  </p:clrMapOvr>
  <p:transition spd="med">
    <p:random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91FD13-31E7-4A11-99DF-39144AB16A1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65803649"/>
      </p:ext>
    </p:extLst>
  </p:cSld>
  <p:clrMapOvr>
    <a:masterClrMapping/>
  </p:clrMapOvr>
  <p:transition spd="med">
    <p:random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B8B3A1-8E62-445B-8D2F-289D04B8B8E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46935864"/>
      </p:ext>
    </p:extLst>
  </p:cSld>
  <p:clrMapOvr>
    <a:masterClrMapping/>
  </p:clrMapOvr>
  <p:transition spd="med">
    <p:random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2F0721-7BD6-45DC-8A04-B1BA5A1D09A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9063219"/>
      </p:ext>
    </p:extLst>
  </p:cSld>
  <p:clrMapOvr>
    <a:masterClrMapping/>
  </p:clrMapOvr>
  <p:transition spd="med">
    <p:random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279674-2EAF-4A63-8974-DF6C75C0C45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60186126"/>
      </p:ext>
    </p:extLst>
  </p:cSld>
  <p:clrMapOvr>
    <a:masterClrMapping/>
  </p:clrMapOvr>
  <p:transition spd="med">
    <p:random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5B114B-FAFF-4EAB-A98C-C5662529ADB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26702652"/>
      </p:ext>
    </p:extLst>
  </p:cSld>
  <p:clrMapOvr>
    <a:masterClrMapping/>
  </p:clrMapOvr>
  <p:transition spd="med">
    <p:random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B64D89-4E7B-48F1-87FE-C43DB76891A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80561077"/>
      </p:ext>
    </p:extLst>
  </p:cSld>
  <p:clrMapOvr>
    <a:masterClrMapping/>
  </p:clrMapOvr>
  <p:transition spd="med">
    <p:random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54371A-6F6C-4F9C-861F-A0909181B6F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57159130"/>
      </p:ext>
    </p:extLst>
  </p:cSld>
  <p:clrMapOvr>
    <a:masterClrMapping/>
  </p:clrMapOvr>
  <p:transition spd="med">
    <p:random/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203E3-5F1A-424C-B6BF-FD71B1798CB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30618348"/>
      </p:ext>
    </p:extLst>
  </p:cSld>
  <p:clrMapOvr>
    <a:masterClrMapping/>
  </p:clrMapOvr>
  <p:transition spd="med">
    <p:random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1BB054-DBF8-4516-8A5F-E831A253196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16051415"/>
      </p:ext>
    </p:extLst>
  </p:cSld>
  <p:clrMapOvr>
    <a:masterClrMapping/>
  </p:clrMapOvr>
  <p:transition spd="med">
    <p:random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1539CC-C796-40C8-92E2-BFD2AB602A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55258419"/>
      </p:ext>
    </p:extLst>
  </p:cSld>
  <p:clrMapOvr>
    <a:masterClrMapping/>
  </p:clrMapOvr>
  <p:transition spd="med">
    <p:random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23C461-7708-496E-B2B0-2E5266E72EA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83802745"/>
      </p:ext>
    </p:extLst>
  </p:cSld>
  <p:clrMapOvr>
    <a:masterClrMapping/>
  </p:clrMapOvr>
  <p:transition spd="med">
    <p:random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A2C129-FBA9-49C0-B95A-560C7B8053B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80253562"/>
      </p:ext>
    </p:extLst>
  </p:cSld>
  <p:clrMapOvr>
    <a:masterClrMapping/>
  </p:clrMapOvr>
  <p:transition spd="med">
    <p:random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4E25BD-B66E-4B9B-8E27-0D043ED1F8E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71697268"/>
      </p:ext>
    </p:extLst>
  </p:cSld>
  <p:clrMapOvr>
    <a:masterClrMapping/>
  </p:clrMapOvr>
  <p:transition spd="med">
    <p:random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1E141A-1452-4689-A0B7-467EBBE16A2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52820333"/>
      </p:ext>
    </p:extLst>
  </p:cSld>
  <p:clrMapOvr>
    <a:masterClrMapping/>
  </p:clrMapOvr>
  <p:transition spd="med">
    <p:random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7EC7192D-CAD6-4776-9851-3D6A93BBEF0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4641563"/>
      </p:ext>
    </p:extLst>
  </p:cSld>
  <p:clrMapOvr>
    <a:masterClrMapping/>
  </p:clrMapOvr>
  <p:transition spd="med">
    <p:random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79A70268-075A-43B8-B7A6-60FA36BC457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69075021"/>
      </p:ext>
    </p:extLst>
  </p:cSld>
  <p:clrMapOvr>
    <a:masterClrMapping/>
  </p:clrMapOvr>
  <p:transition spd="med">
    <p:random/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44C5B9A7-E694-40C5-AD2A-A7E470FDB7A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33035082"/>
      </p:ext>
    </p:extLst>
  </p:cSld>
  <p:clrMapOvr>
    <a:masterClrMapping/>
  </p:clrMapOvr>
  <p:transition spd="med">
    <p:random/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42B6BEF6-3CFB-4315-9E09-F750333942D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17850385"/>
      </p:ext>
    </p:extLst>
  </p:cSld>
  <p:clrMapOvr>
    <a:masterClrMapping/>
  </p:clrMapOvr>
  <p:transition spd="med">
    <p:random/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5A297CBD-6299-42C1-AB1C-98FE492D724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79381573"/>
      </p:ext>
    </p:extLst>
  </p:cSld>
  <p:clrMapOvr>
    <a:masterClrMapping/>
  </p:clrMapOvr>
  <p:transition spd="med">
    <p:random/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90E61C7E-6C00-4F4E-9EA6-E9C66632962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77834104"/>
      </p:ext>
    </p:extLst>
  </p:cSld>
  <p:clrMapOvr>
    <a:masterClrMapping/>
  </p:clrMapOvr>
  <p:transition spd="med">
    <p:random/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50A91B3A-8512-4E3C-8D19-B3716CD4568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4410381"/>
      </p:ext>
    </p:extLst>
  </p:cSld>
  <p:clrMapOvr>
    <a:masterClrMapping/>
  </p:clrMapOvr>
  <p:transition spd="med">
    <p:random/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595BC94C-B46B-40C7-8AA9-CE9018DAA51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6172780"/>
      </p:ext>
    </p:extLst>
  </p:cSld>
  <p:clrMapOvr>
    <a:masterClrMapping/>
  </p:clrMapOvr>
  <p:transition spd="med">
    <p:random/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4C685EA5-5580-499B-A451-AD10D9514C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5957620"/>
      </p:ext>
    </p:extLst>
  </p:cSld>
  <p:clrMapOvr>
    <a:masterClrMapping/>
  </p:clrMapOvr>
  <p:transition spd="med">
    <p:random/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817F4506-E5FA-4506-A313-330168DB07D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06284937"/>
      </p:ext>
    </p:extLst>
  </p:cSld>
  <p:clrMapOvr>
    <a:masterClrMapping/>
  </p:clrMapOvr>
  <p:transition spd="med">
    <p:random/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75630AB4-A4F8-4E9C-9DC4-F57226EC037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31382799"/>
      </p:ext>
    </p:extLst>
  </p:cSld>
  <p:clrMapOvr>
    <a:masterClrMapping/>
  </p:clrMapOvr>
  <p:transition spd="med">
    <p:random/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FA179F36-FEDF-4405-912E-AD55E634DAA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78890023"/>
      </p:ext>
    </p:extLst>
  </p:cSld>
  <p:clrMapOvr>
    <a:masterClrMapping/>
  </p:clrMapOvr>
  <p:transition spd="med">
    <p:random/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9ECBF3-843F-4138-89A2-736F97B0B1FE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7547811"/>
      </p:ext>
    </p:extLst>
  </p:cSld>
  <p:clrMapOvr>
    <a:masterClrMapping/>
  </p:clrMapOvr>
  <p:transition spd="med">
    <p:random/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959B38-BAF5-4868-9D1D-DCDE4A8F7DAC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8208963"/>
      </p:ext>
    </p:extLst>
  </p:cSld>
  <p:clrMapOvr>
    <a:masterClrMapping/>
  </p:clrMapOvr>
  <p:transition spd="med">
    <p:random/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F11AC2-DA14-4505-AF9A-323D9F361A3E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911272"/>
      </p:ext>
    </p:extLst>
  </p:cSld>
  <p:clrMapOvr>
    <a:masterClrMapping/>
  </p:clrMapOvr>
  <p:transition spd="med">
    <p:random/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E9C3BF-7CB0-47E2-A756-04FF943DB228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962736"/>
      </p:ext>
    </p:extLst>
  </p:cSld>
  <p:clrMapOvr>
    <a:masterClrMapping/>
  </p:clrMapOvr>
  <p:transition spd="med">
    <p:random/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21131F-D160-4C8B-A7EC-2CFADF3AC321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9129264"/>
      </p:ext>
    </p:extLst>
  </p:cSld>
  <p:clrMapOvr>
    <a:masterClrMapping/>
  </p:clrMapOvr>
  <p:transition spd="med">
    <p:random/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564C8C-4FE1-4FB4-84F4-E60F6034B4DC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5532447"/>
      </p:ext>
    </p:extLst>
  </p:cSld>
  <p:clrMapOvr>
    <a:masterClrMapping/>
  </p:clrMapOvr>
  <p:transition spd="med">
    <p:random/>
  </p:transition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2EF288-F750-4F72-88F5-75B902875235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920273"/>
      </p:ext>
    </p:extLst>
  </p:cSld>
  <p:clrMapOvr>
    <a:masterClrMapping/>
  </p:clrMapOvr>
  <p:transition spd="med">
    <p:random/>
  </p:transition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408DC5-7793-4F97-BA43-678BE5321D1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596359"/>
      </p:ext>
    </p:extLst>
  </p:cSld>
  <p:clrMapOvr>
    <a:masterClrMapping/>
  </p:clrMapOvr>
  <p:transition spd="med">
    <p:random/>
  </p:transition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A4F59E-8965-49B9-9C6F-0361DF3E944D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70291"/>
      </p:ext>
    </p:extLst>
  </p:cSld>
  <p:clrMapOvr>
    <a:masterClrMapping/>
  </p:clrMapOvr>
  <p:transition spd="med">
    <p:random/>
  </p:transition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178585-128E-44E3-8714-C1A93324C4E1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714712"/>
      </p:ext>
    </p:extLst>
  </p:cSld>
  <p:clrMapOvr>
    <a:masterClrMapping/>
  </p:clrMapOvr>
  <p:transition spd="med">
    <p:random/>
  </p:transition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5E950D-A0B1-46D2-9536-1BDB584523D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73189"/>
      </p:ext>
    </p:extLst>
  </p:cSld>
  <p:clrMapOvr>
    <a:masterClrMapping/>
  </p:clrMapOvr>
  <p:transition spd="med">
    <p:random/>
  </p:transition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6927AF-CF1F-4D2A-B9EC-CAECC911C922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9812906"/>
      </p:ext>
    </p:extLst>
  </p:cSld>
  <p:clrMapOvr>
    <a:masterClrMapping/>
  </p:clrMapOvr>
  <p:transition spd="med">
    <p:random/>
  </p:transition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A213B1-FE99-42EE-8CC3-9F8283C6581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75075100"/>
      </p:ext>
    </p:extLst>
  </p:cSld>
  <p:clrMapOvr>
    <a:masterClrMapping/>
  </p:clrMapOvr>
  <p:transition spd="med">
    <p:random/>
  </p:transition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9FBFA5-2D71-497C-9EE0-51C80C14A7E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19914646"/>
      </p:ext>
    </p:extLst>
  </p:cSld>
  <p:clrMapOvr>
    <a:masterClrMapping/>
  </p:clrMapOvr>
  <p:transition spd="med">
    <p:random/>
  </p:transition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605826-3F95-4FE8-96AC-986F7BA9581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59833630"/>
      </p:ext>
    </p:extLst>
  </p:cSld>
  <p:clrMapOvr>
    <a:masterClrMapping/>
  </p:clrMapOvr>
  <p:transition spd="med">
    <p:random/>
  </p:transition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81466B-69FA-4B09-A91E-1B886B7C0DA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60544512"/>
      </p:ext>
    </p:extLst>
  </p:cSld>
  <p:clrMapOvr>
    <a:masterClrMapping/>
  </p:clrMapOvr>
  <p:transition spd="med">
    <p:random/>
  </p:transition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6FAED7-DAC9-4CFE-9668-1E485D9CA1B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11518493"/>
      </p:ext>
    </p:extLst>
  </p:cSld>
  <p:clrMapOvr>
    <a:masterClrMapping/>
  </p:clrMapOvr>
  <p:transition spd="med">
    <p:random/>
  </p:transition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A4973B-4A5A-44B6-8B60-D205E308596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94165123"/>
      </p:ext>
    </p:extLst>
  </p:cSld>
  <p:clrMapOvr>
    <a:masterClrMapping/>
  </p:clrMapOvr>
  <p:transition spd="med">
    <p:random/>
  </p:transition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DDC852-6983-47A2-8E48-0046A8C8EEB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65487185"/>
      </p:ext>
    </p:extLst>
  </p:cSld>
  <p:clrMapOvr>
    <a:masterClrMapping/>
  </p:clrMapOvr>
  <p:transition spd="med">
    <p:random/>
  </p:transition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643578-997E-46B7-AB7E-3B720C5F5EF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78371557"/>
      </p:ext>
    </p:extLst>
  </p:cSld>
  <p:clrMapOvr>
    <a:masterClrMapping/>
  </p:clrMapOvr>
  <p:transition spd="med">
    <p:random/>
  </p:transition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A71923-D133-4B47-B644-F4BD1F5BE5C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27520578"/>
      </p:ext>
    </p:extLst>
  </p:cSld>
  <p:clrMapOvr>
    <a:masterClrMapping/>
  </p:clrMapOvr>
  <p:transition spd="med">
    <p:random/>
  </p:transition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83FBB2-DEDC-4AAB-A04D-70D7E69BBC5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62920398"/>
      </p:ext>
    </p:extLst>
  </p:cSld>
  <p:clrMapOvr>
    <a:masterClrMapping/>
  </p:clrMapOvr>
  <p:transition spd="med">
    <p:random/>
  </p:transition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1DBCE-5927-4DDD-8BCC-2609F53B036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89604736"/>
      </p:ext>
    </p:extLst>
  </p:cSld>
  <p:clrMapOvr>
    <a:masterClrMapping/>
  </p:clrMapOvr>
  <p:transition spd="med">
    <p:random/>
  </p:transition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3A5D70-6DFA-4C60-8401-A934888D0F3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09273155"/>
      </p:ext>
    </p:extLst>
  </p:cSld>
  <p:clrMapOvr>
    <a:masterClrMapping/>
  </p:clrMapOvr>
  <p:transition spd="med">
    <p:random/>
  </p:transition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28EB4A-FDE0-4354-B5AB-C842DB5962F8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529494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2BE0B6-33ED-4271-BA60-4214A05283CD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1682164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7DF3D-D505-4921-A94B-BE3A4F2C867E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879718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6501F0-CF88-4066-9ED9-BDF7A630D8EA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38865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98FA79-816C-42F3-A850-BFAD7541DA2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9582643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95BADC-DF17-40CC-9BDA-6091E860DA32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7177796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BE1A2-4FB8-4B93-AD84-BB6052BC3D52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40102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D2C2F3-0813-4448-A8C6-1A1A7738B26A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2098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E55CCF-61C2-474B-8F7B-64EEA7A6E68E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116236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D74793-17C9-47E6-B4B6-C786CBF4652F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558434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E0A357-FD51-4798-8B0C-C735F717E5EE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9065211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A93FF9-E1CE-477C-8401-8D3BF03604A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24534003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E6AE1E-1B84-4623-B32D-89DAE5F54D8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66679102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9A47F6-72A1-4484-84F9-A02136E9012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12012040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C978E7-470B-49A2-8E50-18AFBC5D477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4331330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7EF370-59F7-4164-9E16-6F0BC9669A0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96246968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5D5B6E-460C-4412-8651-06028BEC7F1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17111710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9D991D-8B37-47BC-9C64-8171012FB93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74062965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4070AF-6863-4579-AED2-9083A8463D7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5970709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8781E4-A120-415A-8393-A5E6B2527A1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75177935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C92A2F-7AC1-481E-A54F-5D0701B2937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36312073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583FFE-D8AA-4F13-8979-EC319CF7369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39636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2.xml"/><Relationship Id="rId9" Type="http://schemas.openxmlformats.org/officeDocument/2006/relationships/image" Target="../media/image1.jpe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71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70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83.xml"/><Relationship Id="rId2" Type="http://schemas.openxmlformats.org/officeDocument/2006/relationships/slideLayout" Target="../slideLayouts/slideLayout73.xml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82.xml"/><Relationship Id="rId5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81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Relationship Id="rId14" Type="http://schemas.openxmlformats.org/officeDocument/2006/relationships/image" Target="../media/image1.jpe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1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6.xml"/><Relationship Id="rId7" Type="http://schemas.openxmlformats.org/officeDocument/2006/relationships/slideLayout" Target="../slideLayouts/slideLayout90.xml"/><Relationship Id="rId12" Type="http://schemas.openxmlformats.org/officeDocument/2006/relationships/slideLayout" Target="../slideLayouts/slideLayout95.xml"/><Relationship Id="rId2" Type="http://schemas.openxmlformats.org/officeDocument/2006/relationships/slideLayout" Target="../slideLayouts/slideLayout85.xml"/><Relationship Id="rId1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9.xml"/><Relationship Id="rId11" Type="http://schemas.openxmlformats.org/officeDocument/2006/relationships/slideLayout" Target="../slideLayouts/slideLayout94.xml"/><Relationship Id="rId5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93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Relationship Id="rId14" Type="http://schemas.openxmlformats.org/officeDocument/2006/relationships/image" Target="../media/image1.jpe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3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98.xml"/><Relationship Id="rId7" Type="http://schemas.openxmlformats.org/officeDocument/2006/relationships/slideLayout" Target="../slideLayouts/slideLayout102.xml"/><Relationship Id="rId12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97.xml"/><Relationship Id="rId1" Type="http://schemas.openxmlformats.org/officeDocument/2006/relationships/slideLayout" Target="../slideLayouts/slideLayout96.xml"/><Relationship Id="rId6" Type="http://schemas.openxmlformats.org/officeDocument/2006/relationships/slideLayout" Target="../slideLayouts/slideLayout101.xml"/><Relationship Id="rId11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100.xml"/><Relationship Id="rId10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99.xml"/><Relationship Id="rId9" Type="http://schemas.openxmlformats.org/officeDocument/2006/relationships/slideLayout" Target="../slideLayouts/slideLayout104.xml"/><Relationship Id="rId14" Type="http://schemas.openxmlformats.org/officeDocument/2006/relationships/image" Target="../media/image1.jpe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5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14.xml"/><Relationship Id="rId12" Type="http://schemas.openxmlformats.org/officeDocument/2006/relationships/slideLayout" Target="../slideLayouts/slideLayout119.xml"/><Relationship Id="rId2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108.xml"/><Relationship Id="rId6" Type="http://schemas.openxmlformats.org/officeDocument/2006/relationships/slideLayout" Target="../slideLayouts/slideLayout113.xml"/><Relationship Id="rId11" Type="http://schemas.openxmlformats.org/officeDocument/2006/relationships/slideLayout" Target="../slideLayouts/slideLayout118.xml"/><Relationship Id="rId5" Type="http://schemas.openxmlformats.org/officeDocument/2006/relationships/slideLayout" Target="../slideLayouts/slideLayout112.xml"/><Relationship Id="rId10" Type="http://schemas.openxmlformats.org/officeDocument/2006/relationships/slideLayout" Target="../slideLayouts/slideLayout117.xml"/><Relationship Id="rId4" Type="http://schemas.openxmlformats.org/officeDocument/2006/relationships/slideLayout" Target="../slideLayouts/slideLayout111.xml"/><Relationship Id="rId9" Type="http://schemas.openxmlformats.org/officeDocument/2006/relationships/slideLayout" Target="../slideLayouts/slideLayout116.xml"/><Relationship Id="rId14" Type="http://schemas.openxmlformats.org/officeDocument/2006/relationships/image" Target="../media/image1.jpe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7.xml"/><Relationship Id="rId13" Type="http://schemas.openxmlformats.org/officeDocument/2006/relationships/theme" Target="../theme/theme11.xml"/><Relationship Id="rId3" Type="http://schemas.openxmlformats.org/officeDocument/2006/relationships/slideLayout" Target="../slideLayouts/slideLayout122.xml"/><Relationship Id="rId7" Type="http://schemas.openxmlformats.org/officeDocument/2006/relationships/slideLayout" Target="../slideLayouts/slideLayout126.xml"/><Relationship Id="rId12" Type="http://schemas.openxmlformats.org/officeDocument/2006/relationships/slideLayout" Target="../slideLayouts/slideLayout131.xml"/><Relationship Id="rId2" Type="http://schemas.openxmlformats.org/officeDocument/2006/relationships/slideLayout" Target="../slideLayouts/slideLayout121.xml"/><Relationship Id="rId1" Type="http://schemas.openxmlformats.org/officeDocument/2006/relationships/slideLayout" Target="../slideLayouts/slideLayout120.xml"/><Relationship Id="rId6" Type="http://schemas.openxmlformats.org/officeDocument/2006/relationships/slideLayout" Target="../slideLayouts/slideLayout125.xml"/><Relationship Id="rId11" Type="http://schemas.openxmlformats.org/officeDocument/2006/relationships/slideLayout" Target="../slideLayouts/slideLayout130.xml"/><Relationship Id="rId5" Type="http://schemas.openxmlformats.org/officeDocument/2006/relationships/slideLayout" Target="../slideLayouts/slideLayout124.xml"/><Relationship Id="rId10" Type="http://schemas.openxmlformats.org/officeDocument/2006/relationships/slideLayout" Target="../slideLayouts/slideLayout129.xml"/><Relationship Id="rId4" Type="http://schemas.openxmlformats.org/officeDocument/2006/relationships/slideLayout" Target="../slideLayouts/slideLayout123.xml"/><Relationship Id="rId9" Type="http://schemas.openxmlformats.org/officeDocument/2006/relationships/slideLayout" Target="../slideLayouts/slideLayout128.xml"/><Relationship Id="rId14" Type="http://schemas.openxmlformats.org/officeDocument/2006/relationships/image" Target="../media/image1.jpe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9.xml"/><Relationship Id="rId13" Type="http://schemas.openxmlformats.org/officeDocument/2006/relationships/theme" Target="../theme/theme12.xml"/><Relationship Id="rId3" Type="http://schemas.openxmlformats.org/officeDocument/2006/relationships/slideLayout" Target="../slideLayouts/slideLayout134.xml"/><Relationship Id="rId7" Type="http://schemas.openxmlformats.org/officeDocument/2006/relationships/slideLayout" Target="../slideLayouts/slideLayout138.xml"/><Relationship Id="rId12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33.xml"/><Relationship Id="rId1" Type="http://schemas.openxmlformats.org/officeDocument/2006/relationships/slideLayout" Target="../slideLayouts/slideLayout132.xml"/><Relationship Id="rId6" Type="http://schemas.openxmlformats.org/officeDocument/2006/relationships/slideLayout" Target="../slideLayouts/slideLayout137.xml"/><Relationship Id="rId11" Type="http://schemas.openxmlformats.org/officeDocument/2006/relationships/slideLayout" Target="../slideLayouts/slideLayout142.xml"/><Relationship Id="rId5" Type="http://schemas.openxmlformats.org/officeDocument/2006/relationships/slideLayout" Target="../slideLayouts/slideLayout136.xml"/><Relationship Id="rId10" Type="http://schemas.openxmlformats.org/officeDocument/2006/relationships/slideLayout" Target="../slideLayouts/slideLayout141.xml"/><Relationship Id="rId4" Type="http://schemas.openxmlformats.org/officeDocument/2006/relationships/slideLayout" Target="../slideLayouts/slideLayout135.xml"/><Relationship Id="rId9" Type="http://schemas.openxmlformats.org/officeDocument/2006/relationships/slideLayout" Target="../slideLayouts/slideLayout140.xml"/><Relationship Id="rId14" Type="http://schemas.openxmlformats.org/officeDocument/2006/relationships/image" Target="../media/image1.jpeg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50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48.xml"/><Relationship Id="rId10" Type="http://schemas.openxmlformats.org/officeDocument/2006/relationships/slideLayout" Target="../slideLayouts/slideLayout153.xml"/><Relationship Id="rId4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152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2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7.xml"/><Relationship Id="rId7" Type="http://schemas.openxmlformats.org/officeDocument/2006/relationships/slideLayout" Target="../slideLayouts/slideLayout161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56.xml"/><Relationship Id="rId1" Type="http://schemas.openxmlformats.org/officeDocument/2006/relationships/slideLayout" Target="../slideLayouts/slideLayout155.xml"/><Relationship Id="rId6" Type="http://schemas.openxmlformats.org/officeDocument/2006/relationships/slideLayout" Target="../slideLayouts/slideLayout160.xml"/><Relationship Id="rId11" Type="http://schemas.openxmlformats.org/officeDocument/2006/relationships/slideLayout" Target="../slideLayouts/slideLayout165.xml"/><Relationship Id="rId5" Type="http://schemas.openxmlformats.org/officeDocument/2006/relationships/slideLayout" Target="../slideLayouts/slideLayout159.xml"/><Relationship Id="rId10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58.xml"/><Relationship Id="rId9" Type="http://schemas.openxmlformats.org/officeDocument/2006/relationships/slideLayout" Target="../slideLayouts/slideLayout16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과학(일러)1-3"/>
          <p:cNvPicPr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040BF633-0A9E-4C48-A266-AB322BCCEC1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407" r:id="rId1"/>
    <p:sldLayoutId id="2147487290" r:id="rId2"/>
    <p:sldLayoutId id="2147487291" r:id="rId3"/>
    <p:sldLayoutId id="2147487292" r:id="rId4"/>
    <p:sldLayoutId id="2147487293" r:id="rId5"/>
    <p:sldLayoutId id="2147487294" r:id="rId6"/>
    <p:sldLayoutId id="2147487295" r:id="rId7"/>
    <p:sldLayoutId id="2147487296" r:id="rId8"/>
    <p:sldLayoutId id="2147487297" r:id="rId9"/>
    <p:sldLayoutId id="2147487298" r:id="rId10"/>
    <p:sldLayoutId id="2147487299" r:id="rId11"/>
    <p:sldLayoutId id="2147487300" r:id="rId12"/>
  </p:sldLayoutIdLst>
  <p:transition spd="med">
    <p:rand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과학(일러)1-3"/>
          <p:cNvPicPr>
            <a:picLocks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3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latinLnBrk="1" hangingPunct="1">
              <a:buFontTx/>
              <a:buNone/>
              <a:defRPr kumimoji="1"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latinLnBrk="1" hangingPunct="1">
              <a:buFontTx/>
              <a:buNone/>
              <a:defRPr kumimoji="1"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latinLnBrk="1" hangingPunct="1">
              <a:buFont typeface="Arial" panose="020B0604020202020204" pitchFamily="34" charset="0"/>
              <a:buNone/>
              <a:defRPr kumimoji="0" sz="1400" noProof="1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1512B49B-B98E-478F-8431-CED7403D51C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408" r:id="rId1"/>
    <p:sldLayoutId id="2147487409" r:id="rId2"/>
    <p:sldLayoutId id="2147487410" r:id="rId3"/>
    <p:sldLayoutId id="2147487411" r:id="rId4"/>
    <p:sldLayoutId id="2147487412" r:id="rId5"/>
    <p:sldLayoutId id="2147487413" r:id="rId6"/>
    <p:sldLayoutId id="2147487414" r:id="rId7"/>
    <p:sldLayoutId id="2147487415" r:id="rId8"/>
    <p:sldLayoutId id="2147487416" r:id="rId9"/>
    <p:sldLayoutId id="2147487417" r:id="rId10"/>
    <p:sldLayoutId id="2147487418" r:id="rId11"/>
    <p:sldLayoutId id="2147487419" r:id="rId12"/>
    <p:sldLayoutId id="2147487420" r:id="rId13"/>
    <p:sldLayoutId id="2147487421" r:id="rId14"/>
  </p:sldLayoutIdLst>
  <p:transition spd="med">
    <p:rand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华文中宋" panose="02010600040101010101" pitchFamily="2" charset="-122"/>
          <a:ea typeface="华文中宋" panose="02010600040101010101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华文中宋" panose="02010600040101010101" pitchFamily="2" charset="-122"/>
          <a:ea typeface="华文中宋" panose="02010600040101010101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华文中宋" panose="02010600040101010101" pitchFamily="2" charset="-122"/>
          <a:ea typeface="华文中宋" panose="02010600040101010101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华文中宋" panose="02010600040101010101" pitchFamily="2" charset="-122"/>
          <a:ea typeface="华文中宋" panose="02010600040101010101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anose="02010600040101010101" pitchFamily="2" charset="-122"/>
          <a:ea typeface="华文中宋" panose="02010600040101010101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anose="02010600040101010101" pitchFamily="2" charset="-122"/>
          <a:ea typeface="华文中宋" panose="02010600040101010101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anose="02010600040101010101" pitchFamily="2" charset="-122"/>
          <a:ea typeface="华文中宋" panose="02010600040101010101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anose="02010600040101010101" pitchFamily="2" charset="-122"/>
          <a:ea typeface="华文中宋" panose="02010600040101010101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과학(일러)1-3"/>
          <p:cNvPicPr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2BFBB472-A9B5-4261-BCDA-F39A9E1B6C7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422" r:id="rId1"/>
    <p:sldLayoutId id="2147487301" r:id="rId2"/>
    <p:sldLayoutId id="2147487302" r:id="rId3"/>
    <p:sldLayoutId id="2147487303" r:id="rId4"/>
    <p:sldLayoutId id="2147487304" r:id="rId5"/>
    <p:sldLayoutId id="2147487305" r:id="rId6"/>
    <p:sldLayoutId id="2147487306" r:id="rId7"/>
    <p:sldLayoutId id="2147487307" r:id="rId8"/>
    <p:sldLayoutId id="2147487308" r:id="rId9"/>
    <p:sldLayoutId id="2147487309" r:id="rId10"/>
    <p:sldLayoutId id="2147487310" r:id="rId11"/>
    <p:sldLayoutId id="2147487311" r:id="rId12"/>
  </p:sldLayoutIdLst>
  <p:transition spd="med">
    <p:rand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과학(일러)1-3"/>
          <p:cNvPicPr>
            <a:picLocks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740525" y="6329363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1800">
                <a:solidFill>
                  <a:srgbClr val="000000"/>
                </a:solidFill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fld id="{5C5C698C-1C03-45CF-9BC2-6432EB7F69D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312" r:id="rId1"/>
    <p:sldLayoutId id="2147487313" r:id="rId2"/>
    <p:sldLayoutId id="2147487314" r:id="rId3"/>
    <p:sldLayoutId id="2147487315" r:id="rId4"/>
    <p:sldLayoutId id="2147487316" r:id="rId5"/>
    <p:sldLayoutId id="2147487423" r:id="rId6"/>
    <p:sldLayoutId id="2147487424" r:id="rId7"/>
  </p:sldLayoutIdLst>
  <p:transition spd="med">
    <p:rand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굴림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Arial" panose="020B0604020202020204" pitchFamily="34" charset="0"/>
          <a:ea typeface="굴림"/>
          <a:cs typeface="굴림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Arial" panose="020B0604020202020204" pitchFamily="34" charset="0"/>
          <a:ea typeface="굴림"/>
          <a:cs typeface="굴림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Arial" panose="020B0604020202020204" pitchFamily="34" charset="0"/>
          <a:ea typeface="굴림"/>
          <a:cs typeface="굴림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Arial" panose="020B0604020202020204" pitchFamily="34" charset="0"/>
          <a:ea typeface="굴림"/>
          <a:cs typeface="굴림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굴림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  <a:cs typeface="굴림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  <a:cs typeface="굴림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  <a:cs typeface="굴림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  <a:cs typeface="굴림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과학(일러)1-3"/>
          <p:cNvPicPr>
            <a:picLocks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A3B67AE9-E0C8-4196-89AB-D0CB3CC0858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426" r:id="rId1"/>
    <p:sldLayoutId id="2147487328" r:id="rId2"/>
    <p:sldLayoutId id="2147487329" r:id="rId3"/>
    <p:sldLayoutId id="2147487330" r:id="rId4"/>
    <p:sldLayoutId id="2147487331" r:id="rId5"/>
    <p:sldLayoutId id="2147487332" r:id="rId6"/>
    <p:sldLayoutId id="2147487333" r:id="rId7"/>
    <p:sldLayoutId id="2147487334" r:id="rId8"/>
    <p:sldLayoutId id="2147487335" r:id="rId9"/>
    <p:sldLayoutId id="2147487336" r:id="rId10"/>
    <p:sldLayoutId id="2147487337" r:id="rId11"/>
    <p:sldLayoutId id="2147487338" r:id="rId12"/>
    <p:sldLayoutId id="2147487339" r:id="rId13"/>
  </p:sldLayoutIdLst>
  <p:transition spd="med">
    <p:rand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굴림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Arial" panose="020B0604020202020204" pitchFamily="34" charset="0"/>
          <a:ea typeface="굴림"/>
          <a:cs typeface="굴림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Arial" panose="020B0604020202020204" pitchFamily="34" charset="0"/>
          <a:ea typeface="굴림"/>
          <a:cs typeface="굴림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Arial" panose="020B0604020202020204" pitchFamily="34" charset="0"/>
          <a:ea typeface="굴림"/>
          <a:cs typeface="굴림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Arial" panose="020B0604020202020204" pitchFamily="34" charset="0"/>
          <a:ea typeface="굴림"/>
          <a:cs typeface="굴림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굴림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  <a:cs typeface="굴림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  <a:cs typeface="굴림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  <a:cs typeface="굴림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  <a:cs typeface="굴림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과학(일러)1-3"/>
          <p:cNvPicPr>
            <a:picLocks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1E0202C4-CFF5-48B8-9FB1-1ED76D3B219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427" r:id="rId1"/>
    <p:sldLayoutId id="2147487340" r:id="rId2"/>
    <p:sldLayoutId id="2147487341" r:id="rId3"/>
    <p:sldLayoutId id="2147487342" r:id="rId4"/>
    <p:sldLayoutId id="2147487343" r:id="rId5"/>
    <p:sldLayoutId id="2147487344" r:id="rId6"/>
    <p:sldLayoutId id="2147487345" r:id="rId7"/>
    <p:sldLayoutId id="2147487346" r:id="rId8"/>
    <p:sldLayoutId id="2147487347" r:id="rId9"/>
    <p:sldLayoutId id="2147487348" r:id="rId10"/>
    <p:sldLayoutId id="2147487349" r:id="rId11"/>
    <p:sldLayoutId id="2147487350" r:id="rId12"/>
    <p:sldLayoutId id="2147487351" r:id="rId13"/>
  </p:sldLayoutIdLst>
  <p:transition spd="med">
    <p:rand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굴림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Arial" panose="020B0604020202020204" pitchFamily="34" charset="0"/>
          <a:ea typeface="굴림"/>
          <a:cs typeface="굴림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Arial" panose="020B0604020202020204" pitchFamily="34" charset="0"/>
          <a:ea typeface="굴림"/>
          <a:cs typeface="굴림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Arial" panose="020B0604020202020204" pitchFamily="34" charset="0"/>
          <a:ea typeface="굴림"/>
          <a:cs typeface="굴림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Arial" panose="020B0604020202020204" pitchFamily="34" charset="0"/>
          <a:ea typeface="굴림"/>
          <a:cs typeface="굴림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굴림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  <a:cs typeface="굴림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  <a:cs typeface="굴림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  <a:cs typeface="굴림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  <a:cs typeface="굴림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과학(일러)1-3"/>
          <p:cNvPicPr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295555BE-9D9B-4357-833D-5323EDDC884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428" r:id="rId1"/>
    <p:sldLayoutId id="2147487352" r:id="rId2"/>
    <p:sldLayoutId id="2147487353" r:id="rId3"/>
    <p:sldLayoutId id="2147487354" r:id="rId4"/>
    <p:sldLayoutId id="2147487355" r:id="rId5"/>
    <p:sldLayoutId id="2147487356" r:id="rId6"/>
    <p:sldLayoutId id="2147487357" r:id="rId7"/>
    <p:sldLayoutId id="2147487358" r:id="rId8"/>
    <p:sldLayoutId id="2147487359" r:id="rId9"/>
    <p:sldLayoutId id="2147487360" r:id="rId10"/>
    <p:sldLayoutId id="2147487361" r:id="rId11"/>
    <p:sldLayoutId id="2147487362" r:id="rId12"/>
  </p:sldLayoutIdLst>
  <p:transition spd="med">
    <p:rand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과학(일러)1-3"/>
          <p:cNvPicPr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02BEE1AA-28DF-4492-9C01-FD34EFD9A4B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429" r:id="rId1"/>
    <p:sldLayoutId id="2147487363" r:id="rId2"/>
    <p:sldLayoutId id="2147487364" r:id="rId3"/>
    <p:sldLayoutId id="2147487365" r:id="rId4"/>
    <p:sldLayoutId id="2147487366" r:id="rId5"/>
    <p:sldLayoutId id="2147487367" r:id="rId6"/>
    <p:sldLayoutId id="2147487368" r:id="rId7"/>
    <p:sldLayoutId id="2147487369" r:id="rId8"/>
    <p:sldLayoutId id="2147487370" r:id="rId9"/>
    <p:sldLayoutId id="2147487371" r:id="rId10"/>
    <p:sldLayoutId id="2147487372" r:id="rId11"/>
    <p:sldLayoutId id="2147487373" r:id="rId12"/>
  </p:sldLayoutIdLst>
  <p:transition spd="med">
    <p:rand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과학(일러)1-3"/>
          <p:cNvPicPr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C23DA7D4-1F3E-46DF-BDCD-8E3BE0E8EB1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430" r:id="rId1"/>
    <p:sldLayoutId id="2147487374" r:id="rId2"/>
    <p:sldLayoutId id="2147487375" r:id="rId3"/>
    <p:sldLayoutId id="2147487376" r:id="rId4"/>
    <p:sldLayoutId id="2147487377" r:id="rId5"/>
    <p:sldLayoutId id="2147487378" r:id="rId6"/>
    <p:sldLayoutId id="2147487379" r:id="rId7"/>
    <p:sldLayoutId id="2147487380" r:id="rId8"/>
    <p:sldLayoutId id="2147487381" r:id="rId9"/>
    <p:sldLayoutId id="2147487382" r:id="rId10"/>
    <p:sldLayoutId id="2147487383" r:id="rId11"/>
    <p:sldLayoutId id="2147487384" r:id="rId12"/>
  </p:sldLayoutIdLst>
  <p:transition spd="med">
    <p:rand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과학(일러)1-3"/>
          <p:cNvPicPr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panose="02020603050405020304" pitchFamily="18" charset="-127"/>
                <a:ea typeface="-윤명조140" panose="02020603050405020304" pitchFamily="18" charset="-127"/>
              </a:defRPr>
            </a:lvl1pPr>
          </a:lstStyle>
          <a:p>
            <a:pPr>
              <a:defRPr/>
            </a:pPr>
            <a:fld id="{653163E8-9ED9-44EA-A296-1305EAF04DB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432" r:id="rId1"/>
    <p:sldLayoutId id="2147487433" r:id="rId2"/>
    <p:sldLayoutId id="2147487434" r:id="rId3"/>
    <p:sldLayoutId id="2147487435" r:id="rId4"/>
    <p:sldLayoutId id="2147487436" r:id="rId5"/>
    <p:sldLayoutId id="2147487437" r:id="rId6"/>
    <p:sldLayoutId id="2147487438" r:id="rId7"/>
    <p:sldLayoutId id="2147487439" r:id="rId8"/>
    <p:sldLayoutId id="2147487440" r:id="rId9"/>
    <p:sldLayoutId id="2147487441" r:id="rId10"/>
    <p:sldLayoutId id="2147487442" r:id="rId11"/>
    <p:sldLayoutId id="2147487443" r:id="rId12"/>
  </p:sldLayoutIdLst>
  <p:transition spd="med">
    <p:random/>
  </p:transition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과학(일러)1-3"/>
          <p:cNvPicPr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DC184A94-C834-413C-8B63-8B07F723374F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707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446" r:id="rId1"/>
    <p:sldLayoutId id="2147487447" r:id="rId2"/>
    <p:sldLayoutId id="2147487448" r:id="rId3"/>
    <p:sldLayoutId id="2147487449" r:id="rId4"/>
    <p:sldLayoutId id="2147487450" r:id="rId5"/>
    <p:sldLayoutId id="2147487451" r:id="rId6"/>
    <p:sldLayoutId id="2147487452" r:id="rId7"/>
    <p:sldLayoutId id="2147487453" r:id="rId8"/>
    <p:sldLayoutId id="2147487454" r:id="rId9"/>
    <p:sldLayoutId id="2147487455" r:id="rId10"/>
    <p:sldLayoutId id="2147487456" r:id="rId11"/>
    <p:sldLayoutId id="2147487457" r:id="rId12"/>
  </p:sldLayoutIdLst>
  <p:transition spd="med">
    <p:random/>
  </p:transition>
  <p:timing>
    <p:tnLst>
      <p:par>
        <p:cTn id="1" dur="indefinite" restart="never" nodeType="tmRoot"/>
      </p:par>
    </p:tnLst>
  </p:timing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과학(일러)1-3"/>
          <p:cNvPicPr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073F6626-38A5-4FDD-A441-6D88A486768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80641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459" r:id="rId1"/>
    <p:sldLayoutId id="2147487460" r:id="rId2"/>
    <p:sldLayoutId id="2147487461" r:id="rId3"/>
    <p:sldLayoutId id="2147487462" r:id="rId4"/>
    <p:sldLayoutId id="2147487463" r:id="rId5"/>
    <p:sldLayoutId id="2147487464" r:id="rId6"/>
    <p:sldLayoutId id="2147487465" r:id="rId7"/>
    <p:sldLayoutId id="2147487466" r:id="rId8"/>
    <p:sldLayoutId id="2147487467" r:id="rId9"/>
    <p:sldLayoutId id="2147487468" r:id="rId10"/>
    <p:sldLayoutId id="2147487469" r:id="rId11"/>
    <p:sldLayoutId id="2147487470" r:id="rId12"/>
  </p:sldLayoutIdLst>
  <p:transition spd="med">
    <p:rand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과학(일러)1-3"/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2CAA4763-404C-45FA-9BE4-C57D06105D9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7566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472" r:id="rId1"/>
    <p:sldLayoutId id="2147487473" r:id="rId2"/>
    <p:sldLayoutId id="2147487474" r:id="rId3"/>
    <p:sldLayoutId id="2147487475" r:id="rId4"/>
    <p:sldLayoutId id="2147487476" r:id="rId5"/>
    <p:sldLayoutId id="2147487477" r:id="rId6"/>
    <p:sldLayoutId id="2147487478" r:id="rId7"/>
    <p:sldLayoutId id="2147487479" r:id="rId8"/>
    <p:sldLayoutId id="2147487480" r:id="rId9"/>
    <p:sldLayoutId id="2147487481" r:id="rId10"/>
    <p:sldLayoutId id="2147487482" r:id="rId1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Times New Roman" pitchFamily="18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Times New Roman" pitchFamily="18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Times New Roman" pitchFamily="18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과학(일러)1-3"/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2D346EE4-05C4-4CF5-BC32-C55647D2368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14515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484" r:id="rId1"/>
    <p:sldLayoutId id="2147487485" r:id="rId2"/>
    <p:sldLayoutId id="2147487486" r:id="rId3"/>
    <p:sldLayoutId id="2147487487" r:id="rId4"/>
    <p:sldLayoutId id="2147487488" r:id="rId5"/>
    <p:sldLayoutId id="2147487489" r:id="rId6"/>
    <p:sldLayoutId id="2147487490" r:id="rId7"/>
    <p:sldLayoutId id="2147487491" r:id="rId8"/>
    <p:sldLayoutId id="2147487492" r:id="rId9"/>
    <p:sldLayoutId id="2147487493" r:id="rId10"/>
    <p:sldLayoutId id="2147487494" r:id="rId1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Times New Roman" pitchFamily="18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Times New Roman" pitchFamily="18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Times New Roman" pitchFamily="18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4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0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4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4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7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12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7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21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0.wmf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3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oleObject" Target="../embeddings/oleObject12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7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9.wmf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18.bin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2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21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23.wmf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9.bin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6.wmf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9.wmf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30.wmf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35.wmf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36.wmf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" Target="slide115.xml"/><Relationship Id="rId1" Type="http://schemas.openxmlformats.org/officeDocument/2006/relationships/slideLayout" Target="../slideLayouts/slideLayout145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5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5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5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5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5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5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5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5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5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5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5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5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5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5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5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5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5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5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5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9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b="0">
                <a:latin typeface="黑体" panose="02010609060101010101" pitchFamily="49" charset="-122"/>
                <a:sym typeface="Symbol" panose="05050102010706020507" pitchFamily="18" charset="2"/>
              </a:rPr>
              <a:t>第六章   群 、环、域</a:t>
            </a:r>
          </a:p>
        </p:txBody>
      </p:sp>
      <p:grpSp>
        <p:nvGrpSpPr>
          <p:cNvPr id="55299" name="Group 3"/>
          <p:cNvGrpSpPr>
            <a:grpSpLocks/>
          </p:cNvGrpSpPr>
          <p:nvPr/>
        </p:nvGrpSpPr>
        <p:grpSpPr bwMode="auto">
          <a:xfrm>
            <a:off x="1054100" y="2032000"/>
            <a:ext cx="762000" cy="665163"/>
            <a:chOff x="1110" y="2656"/>
            <a:chExt cx="1549" cy="1351"/>
          </a:xfrm>
        </p:grpSpPr>
        <p:sp>
          <p:nvSpPr>
            <p:cNvPr id="55353" name="AutoShape 4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9pPr>
            </a:lstStyle>
            <a:p>
              <a:pPr eaLnBrk="1" latinLnBrk="1" hangingPunct="1"/>
              <a:endParaRPr lang="zh-CN" altLang="en-US">
                <a:solidFill>
                  <a:srgbClr val="000000"/>
                </a:solidFill>
                <a:ea typeface="굴림"/>
                <a:cs typeface="굴림"/>
              </a:endParaRPr>
            </a:p>
          </p:txBody>
        </p:sp>
        <p:sp>
          <p:nvSpPr>
            <p:cNvPr id="55354" name="AutoShape 5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9pPr>
            </a:lstStyle>
            <a:p>
              <a:pPr eaLnBrk="1" latinLnBrk="1" hangingPunct="1"/>
              <a:endParaRPr lang="zh-CN" altLang="en-US">
                <a:solidFill>
                  <a:srgbClr val="000000"/>
                </a:solidFill>
                <a:ea typeface="굴림"/>
                <a:cs typeface="굴림"/>
              </a:endParaRPr>
            </a:p>
          </p:txBody>
        </p:sp>
        <p:sp>
          <p:nvSpPr>
            <p:cNvPr id="368646" name="AutoShape 6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>
                <a:solidFill>
                  <a:srgbClr val="000000"/>
                </a:solidFill>
                <a:ea typeface="楷体_GB2312" panose="02010609030101010101" pitchFamily="49" charset="-122"/>
              </a:endParaRPr>
            </a:p>
          </p:txBody>
        </p:sp>
      </p:grpSp>
      <p:grpSp>
        <p:nvGrpSpPr>
          <p:cNvPr id="55300" name="Group 7"/>
          <p:cNvGrpSpPr>
            <a:grpSpLocks/>
          </p:cNvGrpSpPr>
          <p:nvPr/>
        </p:nvGrpSpPr>
        <p:grpSpPr bwMode="auto">
          <a:xfrm>
            <a:off x="1054100" y="3001963"/>
            <a:ext cx="762000" cy="665162"/>
            <a:chOff x="3174" y="2656"/>
            <a:chExt cx="1549" cy="1351"/>
          </a:xfrm>
        </p:grpSpPr>
        <p:sp>
          <p:nvSpPr>
            <p:cNvPr id="55350" name="AutoShape 8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9pPr>
            </a:lstStyle>
            <a:p>
              <a:pPr eaLnBrk="1" latinLnBrk="1" hangingPunct="1"/>
              <a:endParaRPr lang="zh-CN" altLang="en-US">
                <a:solidFill>
                  <a:srgbClr val="000000"/>
                </a:solidFill>
                <a:ea typeface="굴림"/>
                <a:cs typeface="굴림"/>
              </a:endParaRPr>
            </a:p>
          </p:txBody>
        </p:sp>
        <p:sp>
          <p:nvSpPr>
            <p:cNvPr id="55351" name="AutoShape 9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9pPr>
            </a:lstStyle>
            <a:p>
              <a:pPr eaLnBrk="1" latinLnBrk="1" hangingPunct="1"/>
              <a:endParaRPr lang="zh-CN" altLang="en-US">
                <a:solidFill>
                  <a:srgbClr val="000000"/>
                </a:solidFill>
                <a:ea typeface="굴림"/>
                <a:cs typeface="굴림"/>
              </a:endParaRPr>
            </a:p>
          </p:txBody>
        </p:sp>
        <p:sp>
          <p:nvSpPr>
            <p:cNvPr id="368650" name="AutoShape 10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>
                <a:solidFill>
                  <a:srgbClr val="000000"/>
                </a:solidFill>
                <a:ea typeface="楷体_GB2312" panose="02010609030101010101" pitchFamily="49" charset="-122"/>
              </a:endParaRPr>
            </a:p>
          </p:txBody>
        </p:sp>
      </p:grpSp>
      <p:sp>
        <p:nvSpPr>
          <p:cNvPr id="55301" name="Line 11"/>
          <p:cNvSpPr>
            <a:spLocks noChangeShapeType="1"/>
          </p:cNvSpPr>
          <p:nvPr/>
        </p:nvSpPr>
        <p:spPr bwMode="auto">
          <a:xfrm>
            <a:off x="1663700" y="2641600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02" name="Text Box 12"/>
          <p:cNvSpPr txBox="1">
            <a:spLocks noChangeArrowheads="1"/>
          </p:cNvSpPr>
          <p:nvPr/>
        </p:nvSpPr>
        <p:spPr bwMode="gray">
          <a:xfrm>
            <a:off x="1250950" y="2130425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algn="ctr"/>
            <a:r>
              <a:rPr kumimoji="0" lang="en-US" altLang="zh-CN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굴림"/>
              </a:rPr>
              <a:t>1</a:t>
            </a:r>
          </a:p>
        </p:txBody>
      </p:sp>
      <p:sp>
        <p:nvSpPr>
          <p:cNvPr id="55303" name="Line 13"/>
          <p:cNvSpPr>
            <a:spLocks noChangeShapeType="1"/>
          </p:cNvSpPr>
          <p:nvPr/>
        </p:nvSpPr>
        <p:spPr bwMode="auto">
          <a:xfrm>
            <a:off x="1663700" y="3611563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04" name="Text Box 14"/>
          <p:cNvSpPr txBox="1">
            <a:spLocks noChangeArrowheads="1"/>
          </p:cNvSpPr>
          <p:nvPr/>
        </p:nvSpPr>
        <p:spPr bwMode="gray">
          <a:xfrm>
            <a:off x="1250950" y="3100388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algn="ctr"/>
            <a:r>
              <a:rPr kumimoji="0" lang="en-US" altLang="zh-CN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굴림"/>
              </a:rPr>
              <a:t>2</a:t>
            </a:r>
          </a:p>
        </p:txBody>
      </p:sp>
      <p:grpSp>
        <p:nvGrpSpPr>
          <p:cNvPr id="55305" name="Group 15"/>
          <p:cNvGrpSpPr>
            <a:grpSpLocks/>
          </p:cNvGrpSpPr>
          <p:nvPr/>
        </p:nvGrpSpPr>
        <p:grpSpPr bwMode="auto">
          <a:xfrm>
            <a:off x="1054100" y="3965575"/>
            <a:ext cx="762000" cy="665163"/>
            <a:chOff x="1110" y="2656"/>
            <a:chExt cx="1549" cy="1351"/>
          </a:xfrm>
        </p:grpSpPr>
        <p:sp>
          <p:nvSpPr>
            <p:cNvPr id="55347" name="AutoShape 16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9pPr>
            </a:lstStyle>
            <a:p>
              <a:pPr eaLnBrk="1" latinLnBrk="1" hangingPunct="1"/>
              <a:endParaRPr lang="zh-CN" altLang="en-US">
                <a:solidFill>
                  <a:srgbClr val="000000"/>
                </a:solidFill>
                <a:ea typeface="굴림"/>
                <a:cs typeface="굴림"/>
              </a:endParaRPr>
            </a:p>
          </p:txBody>
        </p:sp>
        <p:sp>
          <p:nvSpPr>
            <p:cNvPr id="55348" name="AutoShape 17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9pPr>
            </a:lstStyle>
            <a:p>
              <a:pPr eaLnBrk="1" latinLnBrk="1" hangingPunct="1"/>
              <a:endParaRPr lang="zh-CN" altLang="en-US">
                <a:solidFill>
                  <a:srgbClr val="000000"/>
                </a:solidFill>
                <a:ea typeface="굴림"/>
                <a:cs typeface="굴림"/>
              </a:endParaRPr>
            </a:p>
          </p:txBody>
        </p:sp>
        <p:sp>
          <p:nvSpPr>
            <p:cNvPr id="368658" name="AutoShape 18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>
                <a:solidFill>
                  <a:srgbClr val="000000"/>
                </a:solidFill>
                <a:ea typeface="楷体_GB2312" panose="02010609030101010101" pitchFamily="49" charset="-122"/>
              </a:endParaRPr>
            </a:p>
          </p:txBody>
        </p:sp>
      </p:grpSp>
      <p:sp>
        <p:nvSpPr>
          <p:cNvPr id="55306" name="Line 19"/>
          <p:cNvSpPr>
            <a:spLocks noChangeShapeType="1"/>
          </p:cNvSpPr>
          <p:nvPr/>
        </p:nvSpPr>
        <p:spPr bwMode="auto">
          <a:xfrm>
            <a:off x="1663700" y="4575175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07" name="Text Box 20"/>
          <p:cNvSpPr txBox="1">
            <a:spLocks noChangeArrowheads="1"/>
          </p:cNvSpPr>
          <p:nvPr/>
        </p:nvSpPr>
        <p:spPr bwMode="gray">
          <a:xfrm>
            <a:off x="1250950" y="40640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algn="ctr"/>
            <a:r>
              <a:rPr kumimoji="0" lang="en-US" altLang="zh-CN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굴림"/>
              </a:rPr>
              <a:t>3</a:t>
            </a:r>
          </a:p>
        </p:txBody>
      </p:sp>
      <p:sp>
        <p:nvSpPr>
          <p:cNvPr id="368661" name="Text Box 21"/>
          <p:cNvSpPr txBox="1">
            <a:spLocks noChangeArrowheads="1"/>
          </p:cNvSpPr>
          <p:nvPr/>
        </p:nvSpPr>
        <p:spPr bwMode="auto">
          <a:xfrm>
            <a:off x="2197100" y="2122488"/>
            <a:ext cx="1676400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sz="2800" b="1">
                <a:solidFill>
                  <a:srgbClr val="8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anose="02010609030101010101" pitchFamily="49" charset="-122"/>
              </a:rPr>
              <a:t>代数系统</a:t>
            </a:r>
            <a:endParaRPr kumimoji="0" lang="en-US" altLang="zh-CN" sz="2800" b="1">
              <a:solidFill>
                <a:srgbClr val="80808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anose="02010609030101010101" pitchFamily="49" charset="-122"/>
            </a:endParaRPr>
          </a:p>
        </p:txBody>
      </p:sp>
      <p:sp>
        <p:nvSpPr>
          <p:cNvPr id="368662" name="Text Box 2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835150" y="2924175"/>
            <a:ext cx="2520950" cy="701675"/>
          </a:xfrm>
          <a:prstGeom prst="rect">
            <a:avLst/>
          </a:prstGeom>
          <a:solidFill>
            <a:srgbClr val="FF9900"/>
          </a:solidFill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kumimoji="0" lang="zh-CN" altLang="en-US" sz="4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anose="02010609030101010101" pitchFamily="49" charset="-122"/>
              </a:rPr>
              <a:t>群的定义</a:t>
            </a:r>
            <a:endParaRPr kumimoji="0" lang="en-US" altLang="zh-CN" sz="4000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ea typeface="楷体_GB2312" panose="02010609030101010101" pitchFamily="49" charset="-122"/>
            </a:endParaRPr>
          </a:p>
        </p:txBody>
      </p:sp>
      <p:sp>
        <p:nvSpPr>
          <p:cNvPr id="55310" name="Line 24"/>
          <p:cNvSpPr>
            <a:spLocks noChangeShapeType="1"/>
          </p:cNvSpPr>
          <p:nvPr/>
        </p:nvSpPr>
        <p:spPr bwMode="auto">
          <a:xfrm>
            <a:off x="1663700" y="5491163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665" name="Text Box 25"/>
          <p:cNvSpPr txBox="1">
            <a:spLocks noChangeArrowheads="1"/>
          </p:cNvSpPr>
          <p:nvPr/>
        </p:nvSpPr>
        <p:spPr bwMode="auto">
          <a:xfrm>
            <a:off x="1908175" y="3933825"/>
            <a:ext cx="25146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sz="2800" b="1">
                <a:solidFill>
                  <a:srgbClr val="8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anose="02010609030101010101" pitchFamily="49" charset="-122"/>
              </a:rPr>
              <a:t>子群及其陪集</a:t>
            </a:r>
          </a:p>
        </p:txBody>
      </p:sp>
      <p:grpSp>
        <p:nvGrpSpPr>
          <p:cNvPr id="55312" name="Group 26"/>
          <p:cNvGrpSpPr>
            <a:grpSpLocks/>
          </p:cNvGrpSpPr>
          <p:nvPr/>
        </p:nvGrpSpPr>
        <p:grpSpPr bwMode="auto">
          <a:xfrm>
            <a:off x="5016500" y="2032000"/>
            <a:ext cx="762000" cy="665163"/>
            <a:chOff x="1110" y="2656"/>
            <a:chExt cx="1549" cy="1351"/>
          </a:xfrm>
        </p:grpSpPr>
        <p:sp>
          <p:nvSpPr>
            <p:cNvPr id="55344" name="AutoShape 27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9pPr>
            </a:lstStyle>
            <a:p>
              <a:pPr eaLnBrk="1" latinLnBrk="1" hangingPunct="1"/>
              <a:endParaRPr lang="zh-CN" altLang="en-US">
                <a:solidFill>
                  <a:srgbClr val="000000"/>
                </a:solidFill>
                <a:ea typeface="굴림"/>
                <a:cs typeface="굴림"/>
              </a:endParaRPr>
            </a:p>
          </p:txBody>
        </p:sp>
        <p:sp>
          <p:nvSpPr>
            <p:cNvPr id="55345" name="AutoShape 28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9pPr>
            </a:lstStyle>
            <a:p>
              <a:pPr eaLnBrk="1" latinLnBrk="1" hangingPunct="1"/>
              <a:endParaRPr lang="zh-CN" altLang="en-US">
                <a:solidFill>
                  <a:srgbClr val="000000"/>
                </a:solidFill>
                <a:ea typeface="굴림"/>
                <a:cs typeface="굴림"/>
              </a:endParaRPr>
            </a:p>
          </p:txBody>
        </p:sp>
        <p:sp>
          <p:nvSpPr>
            <p:cNvPr id="368669" name="AutoShape 29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>
                <a:solidFill>
                  <a:srgbClr val="000000"/>
                </a:solidFill>
                <a:ea typeface="楷体_GB2312" panose="02010609030101010101" pitchFamily="49" charset="-122"/>
              </a:endParaRPr>
            </a:p>
          </p:txBody>
        </p:sp>
      </p:grpSp>
      <p:grpSp>
        <p:nvGrpSpPr>
          <p:cNvPr id="55313" name="Group 30"/>
          <p:cNvGrpSpPr>
            <a:grpSpLocks/>
          </p:cNvGrpSpPr>
          <p:nvPr/>
        </p:nvGrpSpPr>
        <p:grpSpPr bwMode="auto">
          <a:xfrm>
            <a:off x="5016500" y="3001963"/>
            <a:ext cx="762000" cy="665162"/>
            <a:chOff x="3174" y="2656"/>
            <a:chExt cx="1549" cy="1351"/>
          </a:xfrm>
        </p:grpSpPr>
        <p:sp>
          <p:nvSpPr>
            <p:cNvPr id="55341" name="AutoShape 31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9pPr>
            </a:lstStyle>
            <a:p>
              <a:pPr eaLnBrk="1" latinLnBrk="1" hangingPunct="1"/>
              <a:endParaRPr lang="zh-CN" altLang="en-US">
                <a:solidFill>
                  <a:srgbClr val="000000"/>
                </a:solidFill>
                <a:ea typeface="굴림"/>
                <a:cs typeface="굴림"/>
              </a:endParaRPr>
            </a:p>
          </p:txBody>
        </p:sp>
        <p:sp>
          <p:nvSpPr>
            <p:cNvPr id="55342" name="AutoShape 32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9pPr>
            </a:lstStyle>
            <a:p>
              <a:pPr eaLnBrk="1" latinLnBrk="1" hangingPunct="1"/>
              <a:endParaRPr lang="zh-CN" altLang="en-US">
                <a:solidFill>
                  <a:srgbClr val="000000"/>
                </a:solidFill>
                <a:ea typeface="굴림"/>
                <a:cs typeface="굴림"/>
              </a:endParaRPr>
            </a:p>
          </p:txBody>
        </p:sp>
        <p:sp>
          <p:nvSpPr>
            <p:cNvPr id="368673" name="AutoShape 33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>
                <a:solidFill>
                  <a:srgbClr val="000000"/>
                </a:solidFill>
                <a:ea typeface="楷体_GB2312" panose="02010609030101010101" pitchFamily="49" charset="-122"/>
              </a:endParaRPr>
            </a:p>
          </p:txBody>
        </p:sp>
      </p:grpSp>
      <p:sp>
        <p:nvSpPr>
          <p:cNvPr id="55314" name="Line 34"/>
          <p:cNvSpPr>
            <a:spLocks noChangeShapeType="1"/>
          </p:cNvSpPr>
          <p:nvPr/>
        </p:nvSpPr>
        <p:spPr bwMode="auto">
          <a:xfrm>
            <a:off x="5626100" y="2641600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15" name="Text Box 35"/>
          <p:cNvSpPr txBox="1">
            <a:spLocks noChangeArrowheads="1"/>
          </p:cNvSpPr>
          <p:nvPr/>
        </p:nvSpPr>
        <p:spPr bwMode="gray">
          <a:xfrm>
            <a:off x="5213350" y="2130425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algn="ctr"/>
            <a:r>
              <a:rPr kumimoji="0" lang="en-US" altLang="zh-CN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굴림"/>
              </a:rPr>
              <a:t>5</a:t>
            </a:r>
          </a:p>
        </p:txBody>
      </p:sp>
      <p:sp>
        <p:nvSpPr>
          <p:cNvPr id="55316" name="Line 36"/>
          <p:cNvSpPr>
            <a:spLocks noChangeShapeType="1"/>
          </p:cNvSpPr>
          <p:nvPr/>
        </p:nvSpPr>
        <p:spPr bwMode="auto">
          <a:xfrm>
            <a:off x="5626100" y="3611563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17" name="Text Box 37"/>
          <p:cNvSpPr txBox="1">
            <a:spLocks noChangeArrowheads="1"/>
          </p:cNvSpPr>
          <p:nvPr/>
        </p:nvSpPr>
        <p:spPr bwMode="gray">
          <a:xfrm>
            <a:off x="5213350" y="3100388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algn="ctr"/>
            <a:r>
              <a:rPr kumimoji="0" lang="en-US" altLang="zh-CN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굴림"/>
              </a:rPr>
              <a:t>6</a:t>
            </a:r>
          </a:p>
        </p:txBody>
      </p:sp>
      <p:grpSp>
        <p:nvGrpSpPr>
          <p:cNvPr id="55318" name="Group 38"/>
          <p:cNvGrpSpPr>
            <a:grpSpLocks/>
          </p:cNvGrpSpPr>
          <p:nvPr/>
        </p:nvGrpSpPr>
        <p:grpSpPr bwMode="auto">
          <a:xfrm>
            <a:off x="5016500" y="3965575"/>
            <a:ext cx="762000" cy="665163"/>
            <a:chOff x="1110" y="2656"/>
            <a:chExt cx="1549" cy="1351"/>
          </a:xfrm>
        </p:grpSpPr>
        <p:sp>
          <p:nvSpPr>
            <p:cNvPr id="55338" name="AutoShape 39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9pPr>
            </a:lstStyle>
            <a:p>
              <a:pPr eaLnBrk="1" latinLnBrk="1" hangingPunct="1"/>
              <a:endParaRPr lang="zh-CN" altLang="en-US">
                <a:solidFill>
                  <a:srgbClr val="000000"/>
                </a:solidFill>
                <a:ea typeface="굴림"/>
                <a:cs typeface="굴림"/>
              </a:endParaRPr>
            </a:p>
          </p:txBody>
        </p:sp>
        <p:sp>
          <p:nvSpPr>
            <p:cNvPr id="55339" name="AutoShape 40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9pPr>
            </a:lstStyle>
            <a:p>
              <a:pPr eaLnBrk="1" latinLnBrk="1" hangingPunct="1"/>
              <a:endParaRPr lang="zh-CN" altLang="en-US">
                <a:solidFill>
                  <a:srgbClr val="000000"/>
                </a:solidFill>
                <a:ea typeface="굴림"/>
                <a:cs typeface="굴림"/>
              </a:endParaRPr>
            </a:p>
          </p:txBody>
        </p:sp>
        <p:sp>
          <p:nvSpPr>
            <p:cNvPr id="368681" name="AutoShape 41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>
                <a:solidFill>
                  <a:srgbClr val="000000"/>
                </a:solidFill>
                <a:ea typeface="楷体_GB2312" panose="02010609030101010101" pitchFamily="49" charset="-122"/>
              </a:endParaRPr>
            </a:p>
          </p:txBody>
        </p:sp>
      </p:grpSp>
      <p:sp>
        <p:nvSpPr>
          <p:cNvPr id="55319" name="Line 42"/>
          <p:cNvSpPr>
            <a:spLocks noChangeShapeType="1"/>
          </p:cNvSpPr>
          <p:nvPr/>
        </p:nvSpPr>
        <p:spPr bwMode="auto">
          <a:xfrm>
            <a:off x="5626100" y="4575175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20" name="Text Box 43"/>
          <p:cNvSpPr txBox="1">
            <a:spLocks noChangeArrowheads="1"/>
          </p:cNvSpPr>
          <p:nvPr/>
        </p:nvSpPr>
        <p:spPr bwMode="gray">
          <a:xfrm>
            <a:off x="5213350" y="40640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algn="ctr"/>
            <a:r>
              <a:rPr kumimoji="0" lang="en-US" altLang="zh-CN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굴림"/>
              </a:rPr>
              <a:t>7</a:t>
            </a:r>
          </a:p>
        </p:txBody>
      </p:sp>
      <p:sp>
        <p:nvSpPr>
          <p:cNvPr id="368684" name="Text Box 44"/>
          <p:cNvSpPr txBox="1">
            <a:spLocks noChangeArrowheads="1"/>
          </p:cNvSpPr>
          <p:nvPr/>
        </p:nvSpPr>
        <p:spPr bwMode="auto">
          <a:xfrm>
            <a:off x="1979613" y="4941888"/>
            <a:ext cx="2736850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sz="2800" b="1">
                <a:solidFill>
                  <a:srgbClr val="8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anose="02010609030101010101" pitchFamily="49" charset="-122"/>
              </a:rPr>
              <a:t>群的同态及同构</a:t>
            </a:r>
            <a:endParaRPr kumimoji="0" lang="en-US" altLang="zh-CN" sz="2800" b="1">
              <a:solidFill>
                <a:srgbClr val="80808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anose="02010609030101010101" pitchFamily="49" charset="-122"/>
            </a:endParaRPr>
          </a:p>
        </p:txBody>
      </p:sp>
      <p:sp>
        <p:nvSpPr>
          <p:cNvPr id="368685" name="Text Box 45"/>
          <p:cNvSpPr txBox="1">
            <a:spLocks noChangeArrowheads="1"/>
          </p:cNvSpPr>
          <p:nvPr/>
        </p:nvSpPr>
        <p:spPr bwMode="auto">
          <a:xfrm>
            <a:off x="5940425" y="2060575"/>
            <a:ext cx="19050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kumimoji="0" lang="zh-CN" altLang="en-US" sz="2800" b="1">
                <a:solidFill>
                  <a:srgbClr val="8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anose="02010609030101010101" pitchFamily="49" charset="-122"/>
              </a:rPr>
              <a:t>环</a:t>
            </a:r>
            <a:endParaRPr kumimoji="0" lang="en-US" altLang="zh-CN" sz="2800" b="1">
              <a:solidFill>
                <a:srgbClr val="80808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anose="02010609030101010101" pitchFamily="49" charset="-122"/>
            </a:endParaRPr>
          </a:p>
        </p:txBody>
      </p:sp>
      <p:sp>
        <p:nvSpPr>
          <p:cNvPr id="368686" name="Text Box 46"/>
          <p:cNvSpPr txBox="1">
            <a:spLocks noChangeArrowheads="1"/>
          </p:cNvSpPr>
          <p:nvPr/>
        </p:nvSpPr>
        <p:spPr bwMode="auto">
          <a:xfrm>
            <a:off x="5867400" y="2997200"/>
            <a:ext cx="2665413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sz="2800" b="1">
                <a:solidFill>
                  <a:srgbClr val="8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anose="02010609030101010101" pitchFamily="49" charset="-122"/>
              </a:rPr>
              <a:t>域的特征 素域</a:t>
            </a:r>
          </a:p>
        </p:txBody>
      </p:sp>
      <p:grpSp>
        <p:nvGrpSpPr>
          <p:cNvPr id="55324" name="Group 47"/>
          <p:cNvGrpSpPr>
            <a:grpSpLocks/>
          </p:cNvGrpSpPr>
          <p:nvPr/>
        </p:nvGrpSpPr>
        <p:grpSpPr bwMode="auto">
          <a:xfrm>
            <a:off x="1054100" y="4924425"/>
            <a:ext cx="762000" cy="665163"/>
            <a:chOff x="3174" y="2656"/>
            <a:chExt cx="1549" cy="1351"/>
          </a:xfrm>
        </p:grpSpPr>
        <p:sp>
          <p:nvSpPr>
            <p:cNvPr id="55335" name="AutoShape 48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9pPr>
            </a:lstStyle>
            <a:p>
              <a:pPr eaLnBrk="1" latinLnBrk="1" hangingPunct="1"/>
              <a:endParaRPr lang="zh-CN" altLang="en-US">
                <a:solidFill>
                  <a:srgbClr val="000000"/>
                </a:solidFill>
                <a:ea typeface="굴림"/>
                <a:cs typeface="굴림"/>
              </a:endParaRPr>
            </a:p>
          </p:txBody>
        </p:sp>
        <p:sp>
          <p:nvSpPr>
            <p:cNvPr id="55336" name="AutoShape 49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9pPr>
            </a:lstStyle>
            <a:p>
              <a:pPr eaLnBrk="1" latinLnBrk="1" hangingPunct="1"/>
              <a:endParaRPr lang="zh-CN" altLang="en-US">
                <a:solidFill>
                  <a:srgbClr val="000000"/>
                </a:solidFill>
                <a:ea typeface="굴림"/>
                <a:cs typeface="굴림"/>
              </a:endParaRPr>
            </a:p>
          </p:txBody>
        </p:sp>
        <p:sp>
          <p:nvSpPr>
            <p:cNvPr id="368690" name="AutoShape 50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>
                <a:solidFill>
                  <a:srgbClr val="000000"/>
                </a:solidFill>
                <a:ea typeface="楷体_GB2312" panose="02010609030101010101" pitchFamily="49" charset="-122"/>
              </a:endParaRPr>
            </a:p>
          </p:txBody>
        </p:sp>
      </p:grpSp>
      <p:sp>
        <p:nvSpPr>
          <p:cNvPr id="55325" name="Text Box 51"/>
          <p:cNvSpPr txBox="1">
            <a:spLocks noChangeArrowheads="1"/>
          </p:cNvSpPr>
          <p:nvPr/>
        </p:nvSpPr>
        <p:spPr bwMode="gray">
          <a:xfrm>
            <a:off x="1250950" y="503555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algn="ctr"/>
            <a:r>
              <a:rPr kumimoji="0" lang="en-US" altLang="zh-CN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굴림"/>
              </a:rPr>
              <a:t>4</a:t>
            </a:r>
          </a:p>
        </p:txBody>
      </p:sp>
      <p:sp>
        <p:nvSpPr>
          <p:cNvPr id="368692" name="Text Box 52"/>
          <p:cNvSpPr txBox="1">
            <a:spLocks noChangeArrowheads="1"/>
          </p:cNvSpPr>
          <p:nvPr/>
        </p:nvSpPr>
        <p:spPr bwMode="auto">
          <a:xfrm>
            <a:off x="5940425" y="4005263"/>
            <a:ext cx="2665413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sz="2800" b="1">
                <a:solidFill>
                  <a:srgbClr val="8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anose="02010609030101010101" pitchFamily="49" charset="-122"/>
              </a:rPr>
              <a:t>多项式</a:t>
            </a:r>
          </a:p>
        </p:txBody>
      </p:sp>
      <p:sp>
        <p:nvSpPr>
          <p:cNvPr id="55327" name="Line 53"/>
          <p:cNvSpPr>
            <a:spLocks noChangeShapeType="1"/>
          </p:cNvSpPr>
          <p:nvPr/>
        </p:nvSpPr>
        <p:spPr bwMode="auto">
          <a:xfrm>
            <a:off x="5695950" y="5435600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694" name="Text Box 54"/>
          <p:cNvSpPr txBox="1">
            <a:spLocks noChangeArrowheads="1"/>
          </p:cNvSpPr>
          <p:nvPr/>
        </p:nvSpPr>
        <p:spPr bwMode="auto">
          <a:xfrm>
            <a:off x="6011863" y="4886325"/>
            <a:ext cx="273685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sz="2800" b="1">
                <a:solidFill>
                  <a:srgbClr val="8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anose="02010609030101010101" pitchFamily="49" charset="-122"/>
              </a:rPr>
              <a:t>有限域</a:t>
            </a:r>
            <a:endParaRPr kumimoji="0" lang="en-US" altLang="zh-CN" sz="2800" b="1">
              <a:solidFill>
                <a:srgbClr val="80808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anose="02010609030101010101" pitchFamily="49" charset="-122"/>
            </a:endParaRPr>
          </a:p>
        </p:txBody>
      </p:sp>
      <p:grpSp>
        <p:nvGrpSpPr>
          <p:cNvPr id="55329" name="Group 55"/>
          <p:cNvGrpSpPr>
            <a:grpSpLocks/>
          </p:cNvGrpSpPr>
          <p:nvPr/>
        </p:nvGrpSpPr>
        <p:grpSpPr bwMode="auto">
          <a:xfrm>
            <a:off x="5086350" y="4868863"/>
            <a:ext cx="762000" cy="665162"/>
            <a:chOff x="3174" y="2656"/>
            <a:chExt cx="1549" cy="1351"/>
          </a:xfrm>
        </p:grpSpPr>
        <p:sp>
          <p:nvSpPr>
            <p:cNvPr id="55332" name="AutoShape 56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9pPr>
            </a:lstStyle>
            <a:p>
              <a:pPr eaLnBrk="1" latinLnBrk="1" hangingPunct="1"/>
              <a:endParaRPr lang="zh-CN" altLang="en-US">
                <a:solidFill>
                  <a:srgbClr val="000000"/>
                </a:solidFill>
                <a:ea typeface="굴림"/>
                <a:cs typeface="굴림"/>
              </a:endParaRPr>
            </a:p>
          </p:txBody>
        </p:sp>
        <p:sp>
          <p:nvSpPr>
            <p:cNvPr id="55333" name="AutoShape 57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9pPr>
            </a:lstStyle>
            <a:p>
              <a:pPr eaLnBrk="1" latinLnBrk="1" hangingPunct="1"/>
              <a:endParaRPr lang="zh-CN" altLang="en-US">
                <a:solidFill>
                  <a:srgbClr val="000000"/>
                </a:solidFill>
                <a:ea typeface="굴림"/>
                <a:cs typeface="굴림"/>
              </a:endParaRPr>
            </a:p>
          </p:txBody>
        </p:sp>
        <p:sp>
          <p:nvSpPr>
            <p:cNvPr id="368698" name="AutoShape 58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>
                <a:solidFill>
                  <a:srgbClr val="000000"/>
                </a:solidFill>
                <a:ea typeface="楷体_GB2312" panose="02010609030101010101" pitchFamily="49" charset="-122"/>
              </a:endParaRPr>
            </a:p>
          </p:txBody>
        </p:sp>
      </p:grpSp>
      <p:sp>
        <p:nvSpPr>
          <p:cNvPr id="55330" name="Text Box 59"/>
          <p:cNvSpPr txBox="1">
            <a:spLocks noChangeArrowheads="1"/>
          </p:cNvSpPr>
          <p:nvPr/>
        </p:nvSpPr>
        <p:spPr bwMode="gray">
          <a:xfrm>
            <a:off x="5283200" y="4979988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algn="ctr"/>
            <a:r>
              <a:rPr kumimoji="0" lang="en-US" altLang="zh-CN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굴림"/>
              </a:rPr>
              <a:t>8</a:t>
            </a:r>
          </a:p>
        </p:txBody>
      </p:sp>
      <p:sp>
        <p:nvSpPr>
          <p:cNvPr id="55331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fld id="{DA9484D9-5797-4A3E-BDA3-C77FD9DB926B}" type="slidenum">
              <a:rPr lang="zh-CN" altLang="en-US" sz="1800" smtClean="0">
                <a:solidFill>
                  <a:srgbClr val="000000"/>
                </a:solidFill>
              </a:rPr>
              <a:pPr/>
              <a:t>1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 </a:t>
            </a:r>
            <a:r>
              <a:rPr lang="zh-CN" altLang="en-US" dirty="0"/>
              <a:t>群的定义</a:t>
            </a:r>
          </a:p>
        </p:txBody>
      </p:sp>
      <p:sp>
        <p:nvSpPr>
          <p:cNvPr id="56323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 半群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 群的定义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 群的性质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 置换群</a:t>
            </a:r>
          </a:p>
        </p:txBody>
      </p:sp>
      <p:sp>
        <p:nvSpPr>
          <p:cNvPr id="5632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77CE88C-6CBB-4F93-8DC3-0A39CC0700CD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39750" y="571500"/>
            <a:ext cx="7772400" cy="67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zh-CN" sz="3800">
                <a:latin typeface="Times New Roman" panose="02020603050405020304" pitchFamily="18" charset="0"/>
                <a:sym typeface="Symbol" panose="05050102010706020507" pitchFamily="18" charset="2"/>
              </a:rPr>
              <a:t>6.2.1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半群</a:t>
            </a:r>
            <a:endParaRPr lang="zh-CN" altLang="zh-CN">
              <a:latin typeface="Times New Roman" panose="02020603050405020304" pitchFamily="18" charset="0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1484313"/>
            <a:ext cx="8280400" cy="4968875"/>
          </a:xfrm>
          <a:prstGeom prst="rect">
            <a:avLst/>
          </a:prstGeom>
        </p:spPr>
        <p:txBody>
          <a:bodyPr/>
          <a:lstStyle/>
          <a:p>
            <a:pPr marL="0" indent="0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olidFill>
                  <a:srgbClr val="0000FF"/>
                </a:solidFill>
                <a:cs typeface="+mn-cs"/>
                <a:sym typeface="Symbol" pitchFamily="18" charset="2"/>
              </a:rPr>
              <a:t> 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  <a:sym typeface="Symbol" pitchFamily="18" charset="2"/>
              </a:rPr>
              <a:t>定义</a:t>
            </a: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  <a:sym typeface="Symbol" pitchFamily="18" charset="2"/>
              </a:rPr>
              <a:t>6.2.1 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设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G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是一个非空集合，若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·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为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G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上的二元代数运算，且满足结合律，则称该代数系统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（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G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，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·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）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为半群</a:t>
            </a:r>
            <a:r>
              <a:rPr lang="zh-CN" altLang="en-US" sz="3200" b="1" dirty="0">
                <a:cs typeface="+mn-cs"/>
                <a:sym typeface="Symbol" pitchFamily="18" charset="2"/>
              </a:rPr>
              <a:t>。</a:t>
            </a:r>
          </a:p>
          <a:p>
            <a:pPr marL="0" indent="0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zh-CN" altLang="en-US" sz="2800" b="1" dirty="0">
              <a:cs typeface="+mn-cs"/>
              <a:sym typeface="Symbol" pitchFamily="18" charset="2"/>
            </a:endParaRPr>
          </a:p>
          <a:p>
            <a:pPr marL="0" indent="0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cs typeface="+mn-cs"/>
                <a:sym typeface="Symbol" pitchFamily="18" charset="2"/>
              </a:rPr>
              <a:t> </a:t>
            </a:r>
          </a:p>
        </p:txBody>
      </p:sp>
      <p:sp>
        <p:nvSpPr>
          <p:cNvPr id="57348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fld id="{B53B0674-ABD4-47F3-9B2D-4DBC0B4C57F5}" type="slidenum">
              <a:rPr lang="zh-CN" altLang="en-US" sz="1800" smtClean="0">
                <a:solidFill>
                  <a:srgbClr val="000000"/>
                </a:solidFill>
              </a:rPr>
              <a:pPr/>
              <a:t>3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newsfla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561975" y="1476375"/>
            <a:ext cx="8301038" cy="4572000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是一个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非空集合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ρ(S)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的幂集，∩和∪是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ρ(S)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上的交运算和并运算，则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(ρ(S)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，∩），（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ρ(S)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，∪）都为半群。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为整数集，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·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是数的加法、减法和乘法，则（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）、（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）都是半群；（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）不是半群。 </a:t>
            </a:r>
          </a:p>
          <a:p>
            <a:pPr eaLnBrk="1" hangingPunct="1">
              <a:lnSpc>
                <a:spcPct val="120000"/>
              </a:lnSpc>
              <a:defRPr/>
            </a:pPr>
            <a:endParaRPr lang="zh-CN" altLang="en-US" sz="2800" b="1" dirty="0">
              <a:cs typeface="+mn-cs"/>
            </a:endParaRPr>
          </a:p>
          <a:p>
            <a:pPr eaLnBrk="1" hangingPunct="1">
              <a:defRPr/>
            </a:pPr>
            <a:endParaRPr lang="zh-CN" altLang="en-US" dirty="0">
              <a:cs typeface="+mn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39750" y="571500"/>
            <a:ext cx="7772400" cy="67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굴림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半群的例</a:t>
            </a:r>
            <a:endParaRPr lang="zh-CN" altLang="zh-CN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72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fld id="{38EA1EDC-DE5F-42AF-8AFB-450092A597BF}" type="slidenum">
              <a:rPr lang="zh-CN" altLang="en-US" sz="1800" smtClean="0">
                <a:solidFill>
                  <a:srgbClr val="000000"/>
                </a:solidFill>
              </a:rPr>
              <a:pPr/>
              <a:t>4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/>
          <p:cNvSpPr>
            <a:spLocks noGrp="1"/>
          </p:cNvSpPr>
          <p:nvPr>
            <p:ph type="title" idx="4294967295"/>
          </p:nvPr>
        </p:nvSpPr>
        <p:spPr bwMode="auto">
          <a:xfrm>
            <a:off x="505224" y="561008"/>
            <a:ext cx="8020050" cy="88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半群的例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505224" y="1221371"/>
            <a:ext cx="8301038" cy="5257254"/>
          </a:xfrm>
          <a:prstGeom prst="rect">
            <a:avLst/>
          </a:prstGeom>
        </p:spPr>
        <p:txBody>
          <a:bodyPr/>
          <a:lstStyle/>
          <a:p>
            <a:pPr marL="0" eaLnBrk="1" hangingPunct="1"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为正整数集，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上的运算“⊙”如下：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a ⊙ b = a + b + a·b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，问：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，⊙）是否为</a:t>
            </a:r>
            <a:r>
              <a:rPr lang="zh-CN" altLang="en-US" sz="30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半群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？</a:t>
            </a:r>
            <a:endParaRPr lang="en-US" altLang="zh-CN" sz="30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8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  <a:sym typeface="Wingdings" pitchFamily="2" charset="2"/>
              </a:rPr>
              <a:t>(1)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 ⊙为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上二元代数运算</a:t>
            </a:r>
            <a:endParaRPr lang="en-US" altLang="zh-CN" sz="28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90000"/>
              </a:lnSpc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      (2)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 任取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a, </a:t>
            </a:r>
            <a:r>
              <a:rPr lang="en-US" altLang="zh-CN" sz="2800" dirty="0" err="1">
                <a:ea typeface="宋体" panose="02010600030101010101" pitchFamily="2" charset="-122"/>
                <a:cs typeface="Times New Roman" panose="02020603050405020304" pitchFamily="18" charset="0"/>
              </a:rPr>
              <a:t>b,c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0" indent="0" algn="just" eaLnBrk="1" hangingPunct="1">
              <a:lnSpc>
                <a:spcPct val="90000"/>
              </a:lnSpc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dirty="0" err="1">
                <a:ea typeface="宋体" panose="02010600030101010101" pitchFamily="2" charset="-122"/>
                <a:cs typeface="Times New Roman" panose="02020603050405020304" pitchFamily="18" charset="0"/>
              </a:rPr>
              <a:t>a⊙b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⊙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c = 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a + b + </a:t>
            </a:r>
            <a:r>
              <a:rPr lang="en-US" altLang="zh-CN" sz="2800" dirty="0" err="1">
                <a:ea typeface="宋体" panose="02010600030101010101" pitchFamily="2" charset="-122"/>
                <a:cs typeface="Times New Roman" panose="02020603050405020304" pitchFamily="18" charset="0"/>
              </a:rPr>
              <a:t>a·b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 ⊙ 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</a:p>
          <a:p>
            <a:pPr marL="0" indent="0" eaLnBrk="1" hangingPunct="1">
              <a:lnSpc>
                <a:spcPct val="90000"/>
              </a:lnSpc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    = (a + b + </a:t>
            </a:r>
            <a:r>
              <a:rPr lang="en-US" altLang="zh-CN" sz="2800" dirty="0" err="1">
                <a:ea typeface="宋体" panose="02010600030101010101" pitchFamily="2" charset="-122"/>
                <a:cs typeface="Times New Roman" panose="02020603050405020304" pitchFamily="18" charset="0"/>
              </a:rPr>
              <a:t>a·b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)+c+(a + b + </a:t>
            </a:r>
            <a:r>
              <a:rPr lang="en-US" altLang="zh-CN" sz="2800" dirty="0" err="1">
                <a:ea typeface="宋体" panose="02010600030101010101" pitchFamily="2" charset="-122"/>
                <a:cs typeface="Times New Roman" panose="02020603050405020304" pitchFamily="18" charset="0"/>
              </a:rPr>
              <a:t>a·b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)·c</a:t>
            </a:r>
          </a:p>
          <a:p>
            <a:pPr marL="0" indent="0" eaLnBrk="1" hangingPunct="1">
              <a:lnSpc>
                <a:spcPct val="90000"/>
              </a:lnSpc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    =a + b + c + </a:t>
            </a:r>
            <a:r>
              <a:rPr lang="en-US" altLang="zh-CN" sz="2800" dirty="0" err="1">
                <a:ea typeface="宋体" panose="02010600030101010101" pitchFamily="2" charset="-122"/>
                <a:cs typeface="Times New Roman" panose="02020603050405020304" pitchFamily="18" charset="0"/>
              </a:rPr>
              <a:t>a·b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 + </a:t>
            </a:r>
            <a:r>
              <a:rPr lang="en-US" altLang="zh-CN" sz="2800" dirty="0" err="1">
                <a:ea typeface="宋体" panose="02010600030101010101" pitchFamily="2" charset="-122"/>
                <a:cs typeface="Times New Roman" panose="02020603050405020304" pitchFamily="18" charset="0"/>
              </a:rPr>
              <a:t>b·c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 + </a:t>
            </a:r>
            <a:r>
              <a:rPr lang="en-US" altLang="zh-CN" sz="2800" dirty="0" err="1">
                <a:ea typeface="宋体" panose="02010600030101010101" pitchFamily="2" charset="-122"/>
                <a:cs typeface="Times New Roman" panose="02020603050405020304" pitchFamily="18" charset="0"/>
              </a:rPr>
              <a:t>a·c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 + </a:t>
            </a:r>
            <a:r>
              <a:rPr lang="en-US" altLang="zh-CN" sz="2800" dirty="0" err="1">
                <a:ea typeface="宋体" panose="02010600030101010101" pitchFamily="2" charset="-122"/>
                <a:cs typeface="Times New Roman" panose="02020603050405020304" pitchFamily="18" charset="0"/>
              </a:rPr>
              <a:t>a·b·c</a:t>
            </a:r>
            <a:endParaRPr lang="en-US" altLang="zh-CN" sz="28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387350" algn="just" eaLnBrk="1" hangingPunct="1">
              <a:lnSpc>
                <a:spcPct val="90000"/>
              </a:lnSpc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a⊙(</a:t>
            </a:r>
            <a:r>
              <a:rPr lang="en-US" altLang="zh-CN" sz="2800" dirty="0" err="1">
                <a:ea typeface="宋体" panose="02010600030101010101" pitchFamily="2" charset="-122"/>
                <a:cs typeface="Times New Roman" panose="02020603050405020304" pitchFamily="18" charset="0"/>
              </a:rPr>
              <a:t>b⊙c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)= a⊙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b + c + </a:t>
            </a:r>
            <a:r>
              <a:rPr lang="en-US" altLang="zh-CN" sz="2800" dirty="0" err="1">
                <a:ea typeface="宋体" panose="02010600030101010101" pitchFamily="2" charset="-122"/>
                <a:cs typeface="Times New Roman" panose="02020603050405020304" pitchFamily="18" charset="0"/>
              </a:rPr>
              <a:t>b·c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2800" dirty="0">
              <a:solidFill>
                <a:srgbClr val="C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387350" algn="just" eaLnBrk="1" hangingPunct="1">
              <a:lnSpc>
                <a:spcPct val="90000"/>
              </a:lnSpc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=a+(</a:t>
            </a:r>
            <a:r>
              <a:rPr lang="en-US" altLang="zh-CN" sz="2800" dirty="0" err="1">
                <a:ea typeface="宋体" panose="02010600030101010101" pitchFamily="2" charset="-122"/>
                <a:cs typeface="Times New Roman" panose="02020603050405020304" pitchFamily="18" charset="0"/>
              </a:rPr>
              <a:t>b+c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+ </a:t>
            </a:r>
            <a:r>
              <a:rPr lang="en-US" altLang="zh-CN" sz="2800" dirty="0" err="1">
                <a:ea typeface="宋体" panose="02010600030101010101" pitchFamily="2" charset="-122"/>
                <a:cs typeface="Times New Roman" panose="02020603050405020304" pitchFamily="18" charset="0"/>
              </a:rPr>
              <a:t>b·c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)+a·(</a:t>
            </a:r>
            <a:r>
              <a:rPr lang="en-US" altLang="zh-CN" sz="2800" dirty="0" err="1">
                <a:ea typeface="宋体" panose="02010600030101010101" pitchFamily="2" charset="-122"/>
                <a:cs typeface="Times New Roman" panose="02020603050405020304" pitchFamily="18" charset="0"/>
              </a:rPr>
              <a:t>b+c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+ </a:t>
            </a:r>
            <a:r>
              <a:rPr lang="en-US" altLang="zh-CN" sz="2800" dirty="0" err="1">
                <a:ea typeface="宋体" panose="02010600030101010101" pitchFamily="2" charset="-122"/>
                <a:cs typeface="Times New Roman" panose="02020603050405020304" pitchFamily="18" charset="0"/>
              </a:rPr>
              <a:t>b·c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28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387350" algn="just" eaLnBrk="1" hangingPunct="1">
              <a:lnSpc>
                <a:spcPct val="90000"/>
              </a:lnSpc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= a + b + c + </a:t>
            </a:r>
            <a:r>
              <a:rPr lang="en-US" altLang="zh-CN" sz="2800" dirty="0" err="1">
                <a:ea typeface="宋体" panose="02010600030101010101" pitchFamily="2" charset="-122"/>
                <a:cs typeface="Times New Roman" panose="02020603050405020304" pitchFamily="18" charset="0"/>
              </a:rPr>
              <a:t>a·b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 + </a:t>
            </a:r>
            <a:r>
              <a:rPr lang="en-US" altLang="zh-CN" sz="2800" dirty="0" err="1">
                <a:ea typeface="宋体" panose="02010600030101010101" pitchFamily="2" charset="-122"/>
                <a:cs typeface="Times New Roman" panose="02020603050405020304" pitchFamily="18" charset="0"/>
              </a:rPr>
              <a:t>b·c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 + </a:t>
            </a:r>
            <a:r>
              <a:rPr lang="en-US" altLang="zh-CN" sz="2800" dirty="0" err="1">
                <a:ea typeface="宋体" panose="02010600030101010101" pitchFamily="2" charset="-122"/>
                <a:cs typeface="Times New Roman" panose="02020603050405020304" pitchFamily="18" charset="0"/>
              </a:rPr>
              <a:t>a·c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 + </a:t>
            </a:r>
            <a:r>
              <a:rPr lang="en-US" altLang="zh-CN" sz="2800" dirty="0" err="1">
                <a:ea typeface="宋体" panose="02010600030101010101" pitchFamily="2" charset="-122"/>
                <a:cs typeface="Times New Roman" panose="02020603050405020304" pitchFamily="18" charset="0"/>
              </a:rPr>
              <a:t>a·b·c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sz="28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90000"/>
              </a:lnSpc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dirty="0" err="1">
                <a:ea typeface="宋体" panose="02010600030101010101" pitchFamily="2" charset="-122"/>
                <a:cs typeface="Times New Roman" panose="02020603050405020304" pitchFamily="18" charset="0"/>
              </a:rPr>
              <a:t>a⊙b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⊙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c =a⊙(</a:t>
            </a:r>
            <a:r>
              <a:rPr lang="en-US" altLang="zh-CN" sz="2800" dirty="0" err="1">
                <a:ea typeface="宋体" panose="02010600030101010101" pitchFamily="2" charset="-122"/>
                <a:cs typeface="Times New Roman" panose="02020603050405020304" pitchFamily="18" charset="0"/>
              </a:rPr>
              <a:t>b⊙c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因此，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(A,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⊙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为半群</a:t>
            </a:r>
            <a:r>
              <a:rPr lang="zh-CN" altLang="en-US" sz="2800" b="1" dirty="0"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800" b="1" dirty="0">
              <a:solidFill>
                <a:srgbClr val="0000FF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zh-CN" altLang="en-US" b="1" dirty="0">
              <a:cs typeface="+mn-cs"/>
            </a:endParaRPr>
          </a:p>
          <a:p>
            <a:pPr eaLnBrk="1" hangingPunct="1">
              <a:defRPr/>
            </a:pPr>
            <a:endParaRPr lang="zh-CN" altLang="en-US" dirty="0">
              <a:cs typeface="+mn-cs"/>
            </a:endParaRPr>
          </a:p>
        </p:txBody>
      </p:sp>
      <p:sp>
        <p:nvSpPr>
          <p:cNvPr id="59396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fld id="{C8FC59EA-A762-404B-9048-6EC86E2D702F}" type="slidenum">
              <a:rPr lang="zh-CN" altLang="en-US" sz="1800" smtClean="0">
                <a:solidFill>
                  <a:srgbClr val="000000"/>
                </a:solidFill>
              </a:rPr>
              <a:pPr/>
              <a:t>5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395536" y="1243013"/>
            <a:ext cx="8550794" cy="4979987"/>
          </a:xfrm>
          <a:prstGeom prst="rect">
            <a:avLst/>
          </a:prstGeom>
        </p:spPr>
        <p:txBody>
          <a:bodyPr/>
          <a:lstStyle/>
          <a:p>
            <a:pPr marL="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设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是一个非空集合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规定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上的运算如下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en-US" altLang="zh-CN" sz="3000" dirty="0" err="1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ab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=b,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其中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中任意元素。问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: (S, )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是否为半群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?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解</a:t>
            </a:r>
            <a:r>
              <a:rPr lang="en-US" altLang="zh-CN" sz="30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1) S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非空</a:t>
            </a:r>
            <a:endParaRPr lang="en-US" altLang="zh-CN" sz="3000" dirty="0">
              <a:ea typeface="宋体" panose="02010600030101010101" pitchFamily="2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(2)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任取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a, b S, a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b=</a:t>
            </a:r>
            <a:r>
              <a:rPr lang="en-US" altLang="zh-CN" sz="3000" dirty="0" err="1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bS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en-US" altLang="zh-CN" sz="3000" dirty="0"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(3)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对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中任意三个元素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有： 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000" dirty="0" err="1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ab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c = </a:t>
            </a:r>
            <a:r>
              <a:rPr lang="en-US" altLang="zh-CN" sz="3000" dirty="0" err="1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bc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=c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 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a(</a:t>
            </a:r>
            <a:r>
              <a:rPr lang="en-US" altLang="zh-CN" sz="3000" dirty="0" err="1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bc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)= </a:t>
            </a:r>
            <a:r>
              <a:rPr lang="en-US" altLang="zh-CN" sz="3000" dirty="0" err="1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ac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=c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故，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000" dirty="0" err="1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ab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c = a (</a:t>
            </a:r>
            <a:r>
              <a:rPr lang="en-US" altLang="zh-CN" sz="3000" dirty="0" err="1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bc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，满足结合律，</a:t>
            </a:r>
            <a:endParaRPr lang="en-US" altLang="zh-CN" sz="3000" dirty="0"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因此，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(S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，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为半群。</a:t>
            </a:r>
          </a:p>
          <a:p>
            <a:pPr>
              <a:defRPr/>
            </a:pPr>
            <a:endParaRPr lang="zh-CN" altLang="en-US" dirty="0">
              <a:ea typeface="楷体" panose="02010609060101010101" pitchFamily="49" charset="-122"/>
              <a:cs typeface="+mn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39750" y="571500"/>
            <a:ext cx="7772400" cy="67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굴림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半群的例</a:t>
            </a:r>
            <a:endParaRPr lang="zh-CN" altLang="zh-CN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20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fld id="{FE27786B-ECA1-42B7-BC74-3D2B156BCD22}" type="slidenum">
              <a:rPr lang="zh-CN" altLang="en-US" sz="1800" smtClean="0">
                <a:solidFill>
                  <a:srgbClr val="000000"/>
                </a:solidFill>
              </a:rPr>
              <a:pPr/>
              <a:t>6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561975" y="1268413"/>
            <a:ext cx="8402638" cy="4979987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14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000" dirty="0">
                <a:solidFill>
                  <a:srgbClr val="0000FF"/>
                </a:solidFill>
                <a:ea typeface="宋体" panose="02010600030101010101" pitchFamily="2" charset="-122"/>
                <a:cs typeface="+mn-cs"/>
              </a:rPr>
              <a:t>例：</a:t>
            </a:r>
            <a:r>
              <a:rPr lang="zh-CN" altLang="en-US" sz="3000" dirty="0">
                <a:ea typeface="宋体" panose="02010600030101010101" pitchFamily="2" charset="-122"/>
                <a:cs typeface="+mn-cs"/>
              </a:rPr>
              <a:t>设</a:t>
            </a:r>
            <a:r>
              <a:rPr lang="en-US" altLang="zh-CN" sz="3000" dirty="0" smtClean="0">
                <a:ea typeface="宋体" panose="02010600030101010101" pitchFamily="2" charset="-122"/>
                <a:cs typeface="+mn-cs"/>
              </a:rPr>
              <a:t>S</a:t>
            </a:r>
            <a:r>
              <a:rPr lang="zh-CN" altLang="en-US" sz="3000" dirty="0" smtClean="0">
                <a:ea typeface="宋体" panose="02010600030101010101" pitchFamily="2" charset="-122"/>
                <a:cs typeface="+mn-cs"/>
              </a:rPr>
              <a:t>是非</a:t>
            </a:r>
            <a:r>
              <a:rPr lang="zh-CN" altLang="en-US" sz="3000" dirty="0">
                <a:ea typeface="宋体" panose="02010600030101010101" pitchFamily="2" charset="-122"/>
                <a:cs typeface="+mn-cs"/>
              </a:rPr>
              <a:t>空集合</a:t>
            </a:r>
            <a:r>
              <a:rPr lang="en-US" altLang="zh-CN" sz="3000" dirty="0" smtClean="0">
                <a:ea typeface="宋体" panose="02010600030101010101" pitchFamily="2" charset="-122"/>
                <a:cs typeface="+mn-cs"/>
              </a:rPr>
              <a:t>A</a:t>
            </a:r>
            <a:r>
              <a:rPr lang="zh-CN" altLang="en-US" sz="3000" dirty="0">
                <a:ea typeface="宋体" panose="02010600030101010101" pitchFamily="2" charset="-122"/>
                <a:cs typeface="+mn-cs"/>
              </a:rPr>
              <a:t>上所有二元关系组成的集合</a:t>
            </a:r>
            <a:r>
              <a:rPr lang="en-US" altLang="zh-CN" sz="3000" dirty="0">
                <a:ea typeface="宋体" panose="02010600030101010101" pitchFamily="2" charset="-122"/>
                <a:cs typeface="+mn-cs"/>
              </a:rPr>
              <a:t>,</a:t>
            </a:r>
            <a:r>
              <a:rPr lang="zh-CN" altLang="en-US" sz="3000" dirty="0">
                <a:ea typeface="宋体" panose="02010600030101010101" pitchFamily="2" charset="-122"/>
                <a:cs typeface="+mn-cs"/>
              </a:rPr>
              <a:t>“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3000" dirty="0">
                <a:ea typeface="宋体" panose="02010600030101010101" pitchFamily="2" charset="-122"/>
                <a:cs typeface="+mn-cs"/>
              </a:rPr>
              <a:t>”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是关系乘积运算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(S, ·)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是否为半群？</a:t>
            </a:r>
            <a:endParaRPr lang="en-US" altLang="zh-CN" sz="30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解：</a:t>
            </a:r>
            <a:endParaRPr lang="en-US" altLang="zh-CN" sz="3000" dirty="0">
              <a:solidFill>
                <a:srgbClr val="0000FF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(1)S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非空</a:t>
            </a:r>
            <a:endParaRPr lang="en-US" altLang="zh-CN" sz="30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任取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3000" baseline="-25000" dirty="0"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30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, R</a:t>
            </a:r>
            <a:r>
              <a:rPr lang="en-US" altLang="zh-CN" sz="3000" baseline="-250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S,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则</a:t>
            </a:r>
            <a:r>
              <a:rPr lang="en-US" altLang="zh-CN" sz="30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3000" baseline="-250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30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·R</a:t>
            </a:r>
            <a:r>
              <a:rPr lang="en-US" altLang="zh-CN" sz="3000" baseline="-250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30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000" dirty="0" smtClean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 S</a:t>
            </a:r>
            <a:endParaRPr lang="en-US" altLang="zh-CN" sz="3000" dirty="0"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(3)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关系乘积运算满足结合律</a:t>
            </a:r>
            <a:endParaRPr lang="en-US" altLang="zh-CN" sz="3000" dirty="0"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因此，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(S, ·)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是半群。</a:t>
            </a:r>
            <a:endParaRPr lang="en-US" altLang="zh-CN" sz="30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>
              <a:lnSpc>
                <a:spcPct val="114000"/>
              </a:lnSpc>
              <a:spcBef>
                <a:spcPts val="0"/>
              </a:spcBef>
              <a:defRPr/>
            </a:pPr>
            <a:endParaRPr lang="zh-CN" altLang="en-US" sz="3000" dirty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39750" y="571500"/>
            <a:ext cx="7772400" cy="67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굴림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半群的例</a:t>
            </a:r>
            <a:endParaRPr lang="zh-CN" altLang="zh-CN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44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fld id="{5A14817E-0AFF-4E61-8FCA-9F19E9B62EE1}" type="slidenum">
              <a:rPr lang="zh-CN" altLang="en-US" sz="1800" smtClean="0">
                <a:solidFill>
                  <a:srgbClr val="000000"/>
                </a:solidFill>
              </a:rPr>
              <a:pPr/>
              <a:t>7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536" y="1243013"/>
            <a:ext cx="8569325" cy="5332413"/>
          </a:xfrm>
          <a:prstGeom prst="rect">
            <a:avLst/>
          </a:prstGeom>
        </p:spPr>
        <p:txBody>
          <a:bodyPr/>
          <a:lstStyle/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  <a:sym typeface="Symbol" pitchFamily="18" charset="2"/>
              </a:rPr>
              <a:t>定义</a:t>
            </a:r>
            <a:r>
              <a:rPr lang="en-US" altLang="zh-CN" sz="3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  <a:sym typeface="Symbol" pitchFamily="18" charset="2"/>
              </a:rPr>
              <a:t>6.2.2  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设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(G,  ·)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为</a:t>
            </a:r>
            <a:r>
              <a:rPr lang="zh-CN" altLang="en-US" sz="3000" u="sng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半群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，如果满足下面条件：</a:t>
            </a:r>
          </a:p>
          <a:p>
            <a:pPr marL="363538" indent="-363538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(1)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有</a:t>
            </a:r>
            <a:r>
              <a:rPr lang="zh-CN" altLang="en-US" sz="3000" dirty="0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壹</a:t>
            </a:r>
            <a:r>
              <a:rPr lang="en-US" altLang="zh-CN" sz="3000" dirty="0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zh-CN" altLang="en-US" sz="3000" dirty="0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单位元</a:t>
            </a:r>
            <a:r>
              <a:rPr lang="en-US" altLang="zh-CN" sz="3000" dirty="0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zh-CN" altLang="en-US" sz="3000" dirty="0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：</a:t>
            </a:r>
            <a:r>
              <a:rPr lang="en-US" altLang="zh-CN" sz="3000" dirty="0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G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中有一个元素</a:t>
            </a:r>
            <a:r>
              <a:rPr lang="en-US" altLang="zh-CN" sz="30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，适合对于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G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中任意元素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，都 有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1·a = a·1 = a;</a:t>
            </a:r>
          </a:p>
          <a:p>
            <a:pPr marL="363538" indent="-363538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(2) 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有逆：对于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G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中任意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，都可找到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G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中一个元素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sz="3000" baseline="30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-1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，满足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a·a</a:t>
            </a:r>
            <a:r>
              <a:rPr lang="en-US" altLang="zh-CN" sz="3000" baseline="30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-1 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= a</a:t>
            </a:r>
            <a:r>
              <a:rPr lang="en-US" altLang="zh-CN" sz="3000" baseline="30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-1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·a = 1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</a:p>
          <a:p>
            <a:pPr marL="363538" indent="-363538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   则</a:t>
            </a:r>
            <a:r>
              <a:rPr lang="zh-CN" altLang="en-US" sz="3000" dirty="0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称</a:t>
            </a:r>
            <a:r>
              <a:rPr lang="en-US" altLang="zh-CN" sz="3000" dirty="0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(G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en-US" altLang="zh-CN" sz="3000" dirty="0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·)</a:t>
            </a:r>
            <a:r>
              <a:rPr lang="zh-CN" altLang="en-US" sz="3000" dirty="0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为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群。</a:t>
            </a:r>
            <a:endParaRPr lang="en-US" altLang="zh-CN" sz="3000" dirty="0">
              <a:ea typeface="宋体" panose="02010600030101010101" pitchFamily="2" charset="-122"/>
              <a:cs typeface="Times New Roman" panose="02020603050405020304" pitchFamily="18" charset="0"/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如果群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包含的元素个数有限，则称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zh-CN" altLang="en-US" sz="30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有限群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，否则称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zh-CN" altLang="en-US" sz="30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无限群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sz="3000" dirty="0">
                <a:ea typeface="楷体" panose="02010609060101010101" pitchFamily="49" charset="-122"/>
                <a:cs typeface="+mn-cs"/>
                <a:sym typeface="Symbol" pitchFamily="18" charset="2"/>
              </a:rPr>
              <a:t>   </a:t>
            </a:r>
            <a:endParaRPr lang="en-US" altLang="zh-CN" sz="3000" dirty="0">
              <a:ea typeface="楷体" panose="02010609060101010101" pitchFamily="49" charset="-122"/>
              <a:cs typeface="+mn-cs"/>
              <a:sym typeface="Symbol" pitchFamily="18" charset="2"/>
            </a:endParaRPr>
          </a:p>
          <a:p>
            <a:pPr marL="363538" indent="-363538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注：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单位元有时也用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e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表示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39750" y="571500"/>
            <a:ext cx="7772400" cy="67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굴림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 6.2.2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群</a:t>
            </a:r>
            <a:endParaRPr lang="zh-CN" altLang="zh-CN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68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fld id="{5F136641-005E-431D-8421-D6EDCAD1D9D2}" type="slidenum">
              <a:rPr lang="zh-CN" altLang="en-US" sz="1800" smtClean="0">
                <a:solidFill>
                  <a:srgbClr val="000000"/>
                </a:solidFill>
              </a:rPr>
              <a:pPr/>
              <a:t>8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539750" y="1125538"/>
            <a:ext cx="8301038" cy="4967287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设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Q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为所有有理数组成的集合，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为所有实数组成的集合，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为所有复数组成的集合，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Q</a:t>
            </a:r>
            <a:r>
              <a:rPr lang="en-US" altLang="zh-CN" sz="2800" baseline="30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*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为所有非零有理数组成的集合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,R</a:t>
            </a:r>
            <a:r>
              <a:rPr lang="en-US" altLang="zh-CN" sz="2800" baseline="30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*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为所有非零实数组成的集合，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en-US" altLang="zh-CN" sz="2800" baseline="30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*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为所有非零复数组成的集合，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+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、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·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是数的加法和乘法，则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:</a:t>
            </a:r>
            <a:endParaRPr lang="zh-CN" altLang="en-US" sz="2800" dirty="0">
              <a:ea typeface="宋体" panose="02010600030101010101" pitchFamily="2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(Q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+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）、（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+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）、（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+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）都是群吗？</a:t>
            </a:r>
            <a:endParaRPr lang="en-US" altLang="zh-CN" sz="3000" dirty="0">
              <a:ea typeface="宋体" panose="02010600030101010101" pitchFamily="2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30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(Q,     ·)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、（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， 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·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）、（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·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）都是群吗？</a:t>
            </a:r>
            <a:endParaRPr lang="en-US" altLang="zh-CN" sz="3000" dirty="0">
              <a:ea typeface="宋体" panose="02010600030101010101" pitchFamily="2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(Q</a:t>
            </a:r>
            <a:r>
              <a:rPr lang="en-US" altLang="zh-CN" sz="3000" baseline="30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*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,    ·)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、（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sz="3000" baseline="30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*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， 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·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）、（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en-US" altLang="zh-CN" sz="3000" baseline="30000" dirty="0">
                <a:ea typeface="楷体" panose="02010609060101010101" pitchFamily="49" charset="-122"/>
                <a:cs typeface="+mn-cs"/>
                <a:sym typeface="Symbol" pitchFamily="18" charset="2"/>
              </a:rPr>
              <a:t>*</a:t>
            </a:r>
            <a:r>
              <a:rPr lang="zh-CN" altLang="en-US" sz="3000" dirty="0">
                <a:ea typeface="楷体" panose="02010609060101010101" pitchFamily="49" charset="-122"/>
                <a:cs typeface="+mn-cs"/>
                <a:sym typeface="Symbol" pitchFamily="18" charset="2"/>
              </a:rPr>
              <a:t>，</a:t>
            </a:r>
            <a:r>
              <a:rPr lang="en-US" altLang="zh-CN" sz="3000" dirty="0">
                <a:ea typeface="楷体" panose="02010609060101010101" pitchFamily="49" charset="-122"/>
                <a:cs typeface="+mn-cs"/>
                <a:sym typeface="Symbol" pitchFamily="18" charset="2"/>
              </a:rPr>
              <a:t>·)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都是群吗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?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(Q</a:t>
            </a:r>
            <a:r>
              <a:rPr lang="en-US" altLang="zh-CN" sz="3000" baseline="30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*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,    +) 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是群吗？</a:t>
            </a:r>
          </a:p>
          <a:p>
            <a:pPr>
              <a:defRPr/>
            </a:pPr>
            <a:endParaRPr lang="zh-CN" altLang="en-US" dirty="0">
              <a:ea typeface="楷体" panose="02010609060101010101" pitchFamily="49" charset="-122"/>
              <a:cs typeface="+mn-cs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39750" y="571500"/>
            <a:ext cx="7772400" cy="67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굴림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 6.2.2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群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—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群的例</a:t>
            </a:r>
            <a:endParaRPr lang="zh-CN" altLang="zh-CN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492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fld id="{0360F789-1014-448F-91A6-00E98C88A849}" type="slidenum">
              <a:rPr lang="zh-CN" altLang="en-US" sz="1800" smtClean="0">
                <a:solidFill>
                  <a:srgbClr val="000000"/>
                </a:solidFill>
              </a:rPr>
              <a:pPr/>
              <a:t>9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125538"/>
            <a:ext cx="8301037" cy="5255790"/>
          </a:xfrm>
        </p:spPr>
        <p:txBody>
          <a:bodyPr/>
          <a:lstStyle/>
          <a:p>
            <a:pPr marL="0" indent="0" algn="just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ea typeface="宋体" panose="02010600030101010101" pitchFamily="2" charset="-122"/>
                <a:cs typeface="+mn-cs"/>
              </a:rPr>
              <a:t>设</a:t>
            </a:r>
            <a:r>
              <a:rPr lang="en-US" altLang="zh-CN" sz="3000" dirty="0">
                <a:ea typeface="宋体" panose="02010600030101010101" pitchFamily="2" charset="-122"/>
                <a:cs typeface="+mn-cs"/>
              </a:rPr>
              <a:t>Z</a:t>
            </a:r>
            <a:r>
              <a:rPr lang="zh-CN" altLang="en-US" sz="3000" dirty="0">
                <a:ea typeface="宋体" panose="02010600030101010101" pitchFamily="2" charset="-122"/>
                <a:cs typeface="+mn-cs"/>
              </a:rPr>
              <a:t>为整数集，</a:t>
            </a:r>
            <a:r>
              <a:rPr lang="en-US" altLang="zh-CN" sz="3000" dirty="0">
                <a:ea typeface="宋体" panose="02010600030101010101" pitchFamily="2" charset="-122"/>
                <a:cs typeface="+mn-cs"/>
              </a:rPr>
              <a:t>+</a:t>
            </a:r>
            <a:r>
              <a:rPr lang="zh-CN" altLang="en-US" sz="3000" dirty="0">
                <a:ea typeface="宋体" panose="02010600030101010101" pitchFamily="2" charset="-122"/>
                <a:cs typeface="+mn-cs"/>
              </a:rPr>
              <a:t>、</a:t>
            </a:r>
            <a:r>
              <a:rPr lang="en-US" altLang="zh-CN" sz="3000" dirty="0">
                <a:ea typeface="宋体" panose="02010600030101010101" pitchFamily="2" charset="-122"/>
                <a:cs typeface="+mn-cs"/>
              </a:rPr>
              <a:t>·</a:t>
            </a:r>
            <a:r>
              <a:rPr lang="zh-CN" altLang="en-US" sz="3000" dirty="0">
                <a:ea typeface="宋体" panose="02010600030101010101" pitchFamily="2" charset="-122"/>
                <a:cs typeface="+mn-cs"/>
              </a:rPr>
              <a:t>是数的加法和乘法，则                      </a:t>
            </a:r>
            <a:r>
              <a:rPr lang="en-US" altLang="zh-CN" sz="3000" dirty="0">
                <a:ea typeface="宋体" panose="02010600030101010101" pitchFamily="2" charset="-122"/>
                <a:cs typeface="+mn-cs"/>
              </a:rPr>
              <a:t>(Z, +)</a:t>
            </a:r>
            <a:r>
              <a:rPr lang="zh-CN" altLang="en-US" sz="3000" dirty="0">
                <a:ea typeface="宋体" panose="02010600030101010101" pitchFamily="2" charset="-122"/>
                <a:cs typeface="+mn-cs"/>
              </a:rPr>
              <a:t>、</a:t>
            </a:r>
            <a:r>
              <a:rPr lang="en-US" altLang="zh-CN" sz="3000" dirty="0">
                <a:ea typeface="宋体" panose="02010600030101010101" pitchFamily="2" charset="-122"/>
                <a:cs typeface="+mn-cs"/>
              </a:rPr>
              <a:t>(Z, ·  )  </a:t>
            </a:r>
            <a:r>
              <a:rPr lang="zh-CN" altLang="en-US" sz="3000" dirty="0">
                <a:ea typeface="宋体" panose="02010600030101010101" pitchFamily="2" charset="-122"/>
                <a:cs typeface="+mn-cs"/>
              </a:rPr>
              <a:t>是否是群？</a:t>
            </a:r>
          </a:p>
          <a:p>
            <a:pPr marL="0" indent="0" algn="just" eaLnBrk="1" hangingPunct="1"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3000" dirty="0">
                <a:solidFill>
                  <a:srgbClr val="0000FF"/>
                </a:solidFill>
                <a:ea typeface="宋体" panose="02010600030101010101" pitchFamily="2" charset="-122"/>
                <a:cs typeface="+mn-cs"/>
              </a:rPr>
              <a:t>（</a:t>
            </a:r>
            <a:r>
              <a:rPr lang="en-US" altLang="zh-CN" sz="3000" dirty="0">
                <a:solidFill>
                  <a:srgbClr val="0000FF"/>
                </a:solidFill>
                <a:ea typeface="宋体" panose="02010600030101010101" pitchFamily="2" charset="-122"/>
                <a:cs typeface="+mn-cs"/>
              </a:rPr>
              <a:t>Z</a:t>
            </a:r>
            <a:r>
              <a:rPr lang="zh-CN" altLang="en-US" sz="3000" dirty="0">
                <a:solidFill>
                  <a:srgbClr val="0000FF"/>
                </a:solidFill>
                <a:ea typeface="宋体" panose="02010600030101010101" pitchFamily="2" charset="-122"/>
                <a:cs typeface="+mn-cs"/>
              </a:rPr>
              <a:t>， </a:t>
            </a:r>
            <a:r>
              <a:rPr lang="en-US" altLang="zh-CN" sz="3000" dirty="0">
                <a:solidFill>
                  <a:srgbClr val="0000FF"/>
                </a:solidFill>
                <a:ea typeface="宋体" panose="02010600030101010101" pitchFamily="2" charset="-122"/>
                <a:cs typeface="+mn-cs"/>
              </a:rPr>
              <a:t>+</a:t>
            </a:r>
            <a:r>
              <a:rPr lang="zh-CN" altLang="en-US" sz="3000" dirty="0">
                <a:solidFill>
                  <a:srgbClr val="0000FF"/>
                </a:solidFill>
                <a:ea typeface="宋体" panose="02010600030101010101" pitchFamily="2" charset="-122"/>
                <a:cs typeface="+mn-cs"/>
              </a:rPr>
              <a:t>）是群</a:t>
            </a:r>
            <a:r>
              <a:rPr lang="zh-CN" altLang="en-US" sz="3000" dirty="0">
                <a:ea typeface="宋体" panose="02010600030101010101" pitchFamily="2" charset="-122"/>
                <a:cs typeface="+mn-cs"/>
              </a:rPr>
              <a:t>，称为整数加法群。            </a:t>
            </a:r>
            <a:endParaRPr lang="en-US" altLang="zh-CN" sz="3000" dirty="0">
              <a:ea typeface="宋体" panose="02010600030101010101" pitchFamily="2" charset="-122"/>
              <a:cs typeface="+mn-cs"/>
            </a:endParaRPr>
          </a:p>
          <a:p>
            <a:pPr marL="0" indent="0" algn="just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ea typeface="宋体" panose="02010600030101010101" pitchFamily="2" charset="-122"/>
                <a:cs typeface="+mn-cs"/>
              </a:rPr>
              <a:t>证明：</a:t>
            </a:r>
            <a:endParaRPr lang="en-US" altLang="zh-CN" sz="3000" dirty="0">
              <a:ea typeface="宋体" panose="02010600030101010101" pitchFamily="2" charset="-122"/>
              <a:cs typeface="+mn-cs"/>
            </a:endParaRPr>
          </a:p>
          <a:p>
            <a:pPr marL="0" indent="0" algn="just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ea typeface="宋体" panose="02010600030101010101" pitchFamily="2" charset="-122"/>
                <a:cs typeface="+mn-cs"/>
              </a:rPr>
              <a:t>(1)0</a:t>
            </a:r>
            <a:r>
              <a:rPr lang="en-US" altLang="zh-CN" sz="3000" dirty="0"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Z</a:t>
            </a:r>
            <a:r>
              <a:rPr lang="zh-CN" altLang="en-US" sz="3000" dirty="0"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，</a:t>
            </a:r>
            <a:r>
              <a:rPr lang="en-US" altLang="zh-CN" sz="3000" dirty="0">
                <a:ea typeface="宋体" panose="02010600030101010101" pitchFamily="2" charset="-122"/>
                <a:cs typeface="+mn-cs"/>
              </a:rPr>
              <a:t>Z</a:t>
            </a:r>
            <a:r>
              <a:rPr lang="zh-CN" altLang="en-US" sz="3000" dirty="0">
                <a:ea typeface="宋体" panose="02010600030101010101" pitchFamily="2" charset="-122"/>
                <a:cs typeface="+mn-cs"/>
              </a:rPr>
              <a:t>非空</a:t>
            </a:r>
            <a:endParaRPr lang="en-US" altLang="zh-CN" sz="3000" dirty="0">
              <a:ea typeface="宋体" panose="02010600030101010101" pitchFamily="2" charset="-122"/>
              <a:cs typeface="+mn-cs"/>
            </a:endParaRPr>
          </a:p>
          <a:p>
            <a:pPr marL="0" indent="0" algn="just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ea typeface="宋体" panose="02010600030101010101" pitchFamily="2" charset="-122"/>
                <a:cs typeface="+mn-cs"/>
              </a:rPr>
              <a:t>(2)</a:t>
            </a:r>
            <a:r>
              <a:rPr lang="zh-CN" altLang="en-US" sz="3000" dirty="0">
                <a:ea typeface="宋体" panose="02010600030101010101" pitchFamily="2" charset="-122"/>
                <a:cs typeface="+mn-cs"/>
              </a:rPr>
              <a:t>任取</a:t>
            </a:r>
            <a:r>
              <a:rPr lang="en-US" altLang="zh-CN" sz="3000" dirty="0">
                <a:ea typeface="宋体" panose="02010600030101010101" pitchFamily="2" charset="-122"/>
                <a:cs typeface="+mn-cs"/>
              </a:rPr>
              <a:t>a, </a:t>
            </a:r>
            <a:r>
              <a:rPr lang="en-US" altLang="zh-CN" sz="3000" dirty="0" err="1">
                <a:ea typeface="宋体" panose="02010600030101010101" pitchFamily="2" charset="-122"/>
                <a:cs typeface="+mn-cs"/>
              </a:rPr>
              <a:t>b</a:t>
            </a:r>
            <a:r>
              <a:rPr lang="en-US" altLang="zh-CN" sz="3000" dirty="0" err="1"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Z</a:t>
            </a:r>
            <a:r>
              <a:rPr lang="zh-CN" altLang="en-US" sz="3000" dirty="0"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，</a:t>
            </a:r>
            <a:r>
              <a:rPr lang="en-US" altLang="zh-CN" sz="3000" dirty="0" err="1"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a+bZ</a:t>
            </a:r>
            <a:endParaRPr lang="en-US" altLang="zh-CN" sz="3000" dirty="0">
              <a:ea typeface="宋体" panose="02010600030101010101" pitchFamily="2" charset="-122"/>
              <a:cs typeface="+mn-cs"/>
            </a:endParaRPr>
          </a:p>
          <a:p>
            <a:pPr marL="0" indent="0" algn="just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ea typeface="宋体" panose="02010600030101010101" pitchFamily="2" charset="-122"/>
                <a:cs typeface="+mn-cs"/>
              </a:rPr>
              <a:t>(3)</a:t>
            </a:r>
            <a:r>
              <a:rPr lang="zh-CN" altLang="en-US" sz="3000" dirty="0">
                <a:ea typeface="宋体" panose="02010600030101010101" pitchFamily="2" charset="-122"/>
              </a:rPr>
              <a:t>整数集合对加法满足结合律</a:t>
            </a:r>
            <a:endParaRPr lang="en-US" altLang="zh-CN" sz="3000" dirty="0">
              <a:ea typeface="宋体" panose="02010600030101010101" pitchFamily="2" charset="-122"/>
              <a:cs typeface="+mn-cs"/>
            </a:endParaRPr>
          </a:p>
          <a:p>
            <a:pPr marL="0" indent="0" algn="just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ea typeface="宋体" panose="02010600030101010101" pitchFamily="2" charset="-122"/>
                <a:cs typeface="+mn-cs"/>
              </a:rPr>
              <a:t>(4)</a:t>
            </a:r>
            <a:r>
              <a:rPr lang="zh-CN" altLang="en-US" sz="3000" dirty="0">
                <a:ea typeface="宋体" panose="02010600030101010101" pitchFamily="2" charset="-122"/>
                <a:cs typeface="+mn-cs"/>
              </a:rPr>
              <a:t>存在元素</a:t>
            </a:r>
            <a:r>
              <a:rPr lang="en-US" altLang="zh-CN" sz="3000" dirty="0">
                <a:ea typeface="宋体" panose="02010600030101010101" pitchFamily="2" charset="-122"/>
                <a:cs typeface="+mn-cs"/>
              </a:rPr>
              <a:t>0</a:t>
            </a:r>
            <a:r>
              <a:rPr lang="en-US" altLang="zh-CN" sz="3000" dirty="0"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Z</a:t>
            </a:r>
            <a:r>
              <a:rPr lang="zh-CN" altLang="en-US" sz="3000" dirty="0">
                <a:ea typeface="宋体" panose="02010600030101010101" pitchFamily="2" charset="-122"/>
                <a:cs typeface="+mn-cs"/>
              </a:rPr>
              <a:t>，适合对于</a:t>
            </a:r>
            <a:r>
              <a:rPr lang="en-US" altLang="zh-CN" sz="3000" dirty="0">
                <a:ea typeface="宋体" panose="02010600030101010101" pitchFamily="2" charset="-122"/>
                <a:cs typeface="+mn-cs"/>
              </a:rPr>
              <a:t>Z</a:t>
            </a:r>
            <a:r>
              <a:rPr lang="zh-CN" altLang="en-US" sz="3000" dirty="0">
                <a:ea typeface="宋体" panose="02010600030101010101" pitchFamily="2" charset="-122"/>
                <a:cs typeface="+mn-cs"/>
              </a:rPr>
              <a:t>中任意元素</a:t>
            </a:r>
            <a:r>
              <a:rPr lang="en-US" altLang="zh-CN" sz="3000" dirty="0">
                <a:ea typeface="宋体" panose="02010600030101010101" pitchFamily="2" charset="-122"/>
                <a:cs typeface="+mn-cs"/>
              </a:rPr>
              <a:t>a</a:t>
            </a:r>
            <a:r>
              <a:rPr lang="zh-CN" altLang="en-US" sz="3000" dirty="0">
                <a:ea typeface="宋体" panose="02010600030101010101" pitchFamily="2" charset="-122"/>
                <a:cs typeface="+mn-cs"/>
              </a:rPr>
              <a:t>，都有</a:t>
            </a:r>
            <a:r>
              <a:rPr lang="en-US" altLang="zh-CN" sz="3000" dirty="0">
                <a:ea typeface="宋体" panose="02010600030101010101" pitchFamily="2" charset="-122"/>
                <a:cs typeface="+mn-cs"/>
              </a:rPr>
              <a:t>0 + a = a + 0= a</a:t>
            </a:r>
            <a:r>
              <a:rPr lang="zh-CN" altLang="en-US" sz="3000" dirty="0">
                <a:ea typeface="宋体" panose="02010600030101010101" pitchFamily="2" charset="-122"/>
                <a:cs typeface="+mn-cs"/>
              </a:rPr>
              <a:t>；</a:t>
            </a:r>
            <a:endParaRPr lang="en-US" altLang="zh-CN" sz="3000" dirty="0">
              <a:ea typeface="宋体" panose="02010600030101010101" pitchFamily="2" charset="-122"/>
              <a:cs typeface="+mn-cs"/>
            </a:endParaRPr>
          </a:p>
          <a:p>
            <a:pPr marL="0" indent="0" algn="just" eaLnBrk="1" hangingPunct="1">
              <a:spcBef>
                <a:spcPts val="0"/>
              </a:spcBef>
              <a:buNone/>
              <a:defRPr/>
            </a:pPr>
            <a:r>
              <a:rPr lang="en-US" altLang="zh-CN" sz="3000" dirty="0">
                <a:ea typeface="宋体" panose="02010600030101010101" pitchFamily="2" charset="-122"/>
                <a:cs typeface="+mn-cs"/>
              </a:rPr>
              <a:t>(5)</a:t>
            </a:r>
            <a:r>
              <a:rPr lang="zh-CN" altLang="en-US" sz="3000" dirty="0">
                <a:ea typeface="宋体" panose="02010600030101010101" pitchFamily="2" charset="-122"/>
                <a:cs typeface="+mn-cs"/>
              </a:rPr>
              <a:t>对于</a:t>
            </a:r>
            <a:r>
              <a:rPr lang="en-US" altLang="zh-CN" sz="3000" dirty="0">
                <a:ea typeface="宋体" panose="02010600030101010101" pitchFamily="2" charset="-122"/>
                <a:cs typeface="+mn-cs"/>
              </a:rPr>
              <a:t>Z</a:t>
            </a:r>
            <a:r>
              <a:rPr lang="zh-CN" altLang="en-US" sz="3000" dirty="0">
                <a:ea typeface="宋体" panose="02010600030101010101" pitchFamily="2" charset="-122"/>
                <a:cs typeface="+mn-cs"/>
              </a:rPr>
              <a:t>中任意</a:t>
            </a:r>
            <a:r>
              <a:rPr lang="en-US" altLang="zh-CN" sz="3000" dirty="0">
                <a:ea typeface="宋体" panose="02010600030101010101" pitchFamily="2" charset="-122"/>
                <a:cs typeface="+mn-cs"/>
              </a:rPr>
              <a:t>a</a:t>
            </a:r>
            <a:r>
              <a:rPr lang="zh-CN" altLang="en-US" sz="3000" dirty="0">
                <a:ea typeface="宋体" panose="02010600030101010101" pitchFamily="2" charset="-122"/>
                <a:cs typeface="+mn-cs"/>
              </a:rPr>
              <a:t>，存在</a:t>
            </a:r>
            <a:r>
              <a:rPr lang="en-US" altLang="zh-CN" sz="3000" dirty="0">
                <a:ea typeface="宋体" panose="02010600030101010101" pitchFamily="2" charset="-122"/>
                <a:cs typeface="+mn-cs"/>
              </a:rPr>
              <a:t>-</a:t>
            </a:r>
            <a:r>
              <a:rPr lang="en-US" altLang="zh-CN" sz="3000" dirty="0" err="1">
                <a:ea typeface="宋体" panose="02010600030101010101" pitchFamily="2" charset="-122"/>
                <a:cs typeface="+mn-cs"/>
              </a:rPr>
              <a:t>a</a:t>
            </a:r>
            <a:r>
              <a:rPr lang="en-US" altLang="zh-CN" sz="3000" dirty="0" err="1"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Z</a:t>
            </a:r>
            <a:r>
              <a:rPr lang="en-US" altLang="zh-CN" sz="3000" dirty="0">
                <a:ea typeface="宋体" panose="02010600030101010101" pitchFamily="2" charset="-122"/>
                <a:cs typeface="+mn-cs"/>
              </a:rPr>
              <a:t>,</a:t>
            </a:r>
            <a:r>
              <a:rPr lang="zh-CN" altLang="en-US" sz="3000" dirty="0">
                <a:ea typeface="宋体" panose="02010600030101010101" pitchFamily="2" charset="-122"/>
                <a:cs typeface="+mn-cs"/>
              </a:rPr>
              <a:t>满足</a:t>
            </a:r>
            <a:r>
              <a:rPr lang="en-US" altLang="zh-CN" sz="3000" dirty="0">
                <a:ea typeface="宋体" panose="02010600030101010101" pitchFamily="2" charset="-122"/>
                <a:cs typeface="+mn-cs"/>
              </a:rPr>
              <a:t> (-a)+a=a+(-a)  = 0</a:t>
            </a:r>
            <a:r>
              <a:rPr lang="zh-CN" altLang="en-US" sz="3000" dirty="0">
                <a:ea typeface="宋体" panose="02010600030101010101" pitchFamily="2" charset="-122"/>
                <a:cs typeface="+mn-cs"/>
              </a:rPr>
              <a:t>。由以上知，</a:t>
            </a:r>
            <a:r>
              <a:rPr lang="en-US" altLang="zh-CN" sz="3000" dirty="0">
                <a:ea typeface="宋体" panose="02010600030101010101" pitchFamily="2" charset="-122"/>
                <a:cs typeface="+mn-cs"/>
              </a:rPr>
              <a:t>G</a:t>
            </a:r>
            <a:r>
              <a:rPr lang="zh-CN" altLang="en-US" sz="3000" dirty="0">
                <a:ea typeface="宋体" panose="02010600030101010101" pitchFamily="2" charset="-122"/>
                <a:cs typeface="+mn-cs"/>
              </a:rPr>
              <a:t>为群。</a:t>
            </a:r>
          </a:p>
          <a:p>
            <a:pPr eaLnBrk="1" hangingPunct="1">
              <a:defRPr/>
            </a:pPr>
            <a:endParaRPr lang="zh-CN" altLang="en-US" dirty="0"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39750" y="571500"/>
            <a:ext cx="7772400" cy="67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굴림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 6.2.2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群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—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群的例</a:t>
            </a:r>
            <a:endParaRPr lang="zh-CN" altLang="zh-CN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1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522D34C-8A41-4941-8665-75BCDF575045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ko-KR" sz="140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39750" y="1341438"/>
            <a:ext cx="8301038" cy="4572000"/>
          </a:xfrm>
        </p:spPr>
        <p:txBody>
          <a:bodyPr/>
          <a:lstStyle/>
          <a:p>
            <a:pPr marL="0" indent="0" algn="just" eaLnBrk="1" hangingPunct="1">
              <a:lnSpc>
                <a:spcPct val="110000"/>
              </a:lnSpc>
              <a:spcBef>
                <a:spcPct val="50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olidFill>
                  <a:srgbClr val="000000"/>
                </a:solidFill>
                <a:ea typeface="宋体" panose="02010600030101010101" pitchFamily="2" charset="-122"/>
                <a:cs typeface="+mn-cs"/>
              </a:rPr>
              <a:t>设</a:t>
            </a:r>
            <a:r>
              <a:rPr lang="en-US" altLang="zh-CN" sz="3200" dirty="0">
                <a:solidFill>
                  <a:srgbClr val="000000"/>
                </a:solidFill>
                <a:ea typeface="宋体" panose="02010600030101010101" pitchFamily="2" charset="-122"/>
                <a:cs typeface="+mn-cs"/>
              </a:rPr>
              <a:t>Z</a:t>
            </a:r>
            <a:r>
              <a:rPr lang="zh-CN" altLang="en-US" sz="3200" dirty="0">
                <a:solidFill>
                  <a:srgbClr val="000000"/>
                </a:solidFill>
                <a:ea typeface="宋体" panose="02010600030101010101" pitchFamily="2" charset="-122"/>
                <a:cs typeface="+mn-cs"/>
              </a:rPr>
              <a:t>为整数集，</a:t>
            </a:r>
            <a:r>
              <a:rPr lang="en-US" altLang="zh-CN" sz="3200" dirty="0">
                <a:solidFill>
                  <a:srgbClr val="000000"/>
                </a:solidFill>
                <a:ea typeface="宋体" panose="02010600030101010101" pitchFamily="2" charset="-122"/>
                <a:cs typeface="+mn-cs"/>
              </a:rPr>
              <a:t>+</a:t>
            </a:r>
            <a:r>
              <a:rPr lang="zh-CN" altLang="en-US" sz="3200" dirty="0">
                <a:solidFill>
                  <a:srgbClr val="000000"/>
                </a:solidFill>
                <a:ea typeface="宋体" panose="02010600030101010101" pitchFamily="2" charset="-122"/>
                <a:cs typeface="+mn-cs"/>
              </a:rPr>
              <a:t>、</a:t>
            </a:r>
            <a:r>
              <a:rPr lang="en-US" altLang="zh-CN" sz="3200" dirty="0">
                <a:solidFill>
                  <a:srgbClr val="000000"/>
                </a:solidFill>
                <a:ea typeface="宋体" panose="02010600030101010101" pitchFamily="2" charset="-122"/>
                <a:cs typeface="+mn-cs"/>
              </a:rPr>
              <a:t>·</a:t>
            </a:r>
            <a:r>
              <a:rPr lang="zh-CN" altLang="en-US" sz="3200" dirty="0">
                <a:solidFill>
                  <a:srgbClr val="000000"/>
                </a:solidFill>
                <a:ea typeface="宋体" panose="02010600030101010101" pitchFamily="2" charset="-122"/>
                <a:cs typeface="+mn-cs"/>
              </a:rPr>
              <a:t>是数的加法和乘法，则                      </a:t>
            </a:r>
            <a:r>
              <a:rPr lang="en-US" altLang="zh-CN" sz="3200" dirty="0">
                <a:solidFill>
                  <a:srgbClr val="000000"/>
                </a:solidFill>
                <a:ea typeface="宋体" panose="02010600030101010101" pitchFamily="2" charset="-122"/>
                <a:cs typeface="+mn-cs"/>
              </a:rPr>
              <a:t>(Z, +)</a:t>
            </a:r>
            <a:r>
              <a:rPr lang="zh-CN" altLang="en-US" sz="3200" dirty="0">
                <a:solidFill>
                  <a:srgbClr val="000000"/>
                </a:solidFill>
                <a:ea typeface="宋体" panose="02010600030101010101" pitchFamily="2" charset="-122"/>
                <a:cs typeface="+mn-cs"/>
              </a:rPr>
              <a:t>、</a:t>
            </a:r>
            <a:r>
              <a:rPr lang="en-US" altLang="zh-CN" sz="3200" dirty="0">
                <a:solidFill>
                  <a:srgbClr val="000000"/>
                </a:solidFill>
                <a:ea typeface="宋体" panose="02010600030101010101" pitchFamily="2" charset="-122"/>
                <a:cs typeface="+mn-cs"/>
              </a:rPr>
              <a:t>(Z, ·  )  </a:t>
            </a:r>
            <a:r>
              <a:rPr lang="zh-CN" altLang="en-US" sz="3200" dirty="0">
                <a:solidFill>
                  <a:srgbClr val="000000"/>
                </a:solidFill>
                <a:ea typeface="宋体" panose="02010600030101010101" pitchFamily="2" charset="-122"/>
                <a:cs typeface="+mn-cs"/>
              </a:rPr>
              <a:t>是否是群？</a:t>
            </a:r>
            <a:endParaRPr lang="en-US" altLang="zh-CN" sz="3200" dirty="0">
              <a:solidFill>
                <a:srgbClr val="000000"/>
              </a:solidFill>
              <a:ea typeface="宋体" panose="02010600030101010101" pitchFamily="2" charset="-122"/>
              <a:cs typeface="+mn-cs"/>
            </a:endParaRPr>
          </a:p>
          <a:p>
            <a:pPr algn="just" eaLnBrk="1" hangingPunct="1">
              <a:lnSpc>
                <a:spcPct val="110000"/>
              </a:lnSpc>
              <a:spcBef>
                <a:spcPct val="50000"/>
              </a:spcBef>
              <a:buClr>
                <a:srgbClr val="3333CC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sz="3200" dirty="0">
                <a:solidFill>
                  <a:srgbClr val="000000"/>
                </a:solidFill>
                <a:ea typeface="宋体" panose="02010600030101010101" pitchFamily="2" charset="-122"/>
                <a:cs typeface="+mn-cs"/>
              </a:rPr>
              <a:t>(Z, ·  )</a:t>
            </a:r>
            <a:r>
              <a:rPr lang="zh-CN" altLang="en-US" sz="3200" dirty="0">
                <a:solidFill>
                  <a:srgbClr val="000000"/>
                </a:solidFill>
                <a:ea typeface="宋体" panose="02010600030101010101" pitchFamily="2" charset="-122"/>
                <a:cs typeface="+mn-cs"/>
              </a:rPr>
              <a:t>是否是群？</a:t>
            </a:r>
            <a:endParaRPr lang="en-US" altLang="zh-CN" sz="3200" dirty="0">
              <a:solidFill>
                <a:srgbClr val="000000"/>
              </a:solidFill>
              <a:ea typeface="宋体" panose="02010600030101010101" pitchFamily="2" charset="-122"/>
              <a:cs typeface="+mn-cs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3333CC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200" dirty="0">
                <a:solidFill>
                  <a:srgbClr val="0000FF"/>
                </a:solidFill>
                <a:ea typeface="宋体" panose="02010600030101010101" pitchFamily="2" charset="-122"/>
              </a:rPr>
              <a:t>半群 </a:t>
            </a:r>
            <a:r>
              <a:rPr lang="en-US" altLang="zh-CN" sz="3200" dirty="0">
                <a:solidFill>
                  <a:srgbClr val="0000FF"/>
                </a:solidFill>
                <a:ea typeface="宋体" panose="02010600030101010101" pitchFamily="2" charset="-122"/>
              </a:rPr>
              <a:t>(Z</a:t>
            </a:r>
            <a:r>
              <a:rPr lang="zh-CN" altLang="en-US" sz="3200" dirty="0">
                <a:solidFill>
                  <a:srgbClr val="0000FF"/>
                </a:solidFill>
                <a:ea typeface="宋体" panose="02010600030101010101" pitchFamily="2" charset="-122"/>
              </a:rPr>
              <a:t>， </a:t>
            </a:r>
            <a:r>
              <a:rPr lang="en-US" altLang="zh-CN" sz="3200" dirty="0">
                <a:solidFill>
                  <a:srgbClr val="0000FF"/>
                </a:solidFill>
                <a:ea typeface="宋体" panose="02010600030101010101" pitchFamily="2" charset="-122"/>
              </a:rPr>
              <a:t>·)</a:t>
            </a:r>
            <a:r>
              <a:rPr lang="zh-CN" altLang="en-US" sz="3200" dirty="0">
                <a:solidFill>
                  <a:srgbClr val="0000FF"/>
                </a:solidFill>
                <a:ea typeface="宋体" panose="02010600030101010101" pitchFamily="2" charset="-122"/>
              </a:rPr>
              <a:t>不是群</a:t>
            </a:r>
            <a:r>
              <a:rPr lang="zh-CN" altLang="en-US" sz="3200" dirty="0">
                <a:ea typeface="宋体" panose="02010600030101010101" pitchFamily="2" charset="-122"/>
              </a:rPr>
              <a:t>。                                         有单位元素</a:t>
            </a:r>
            <a:r>
              <a:rPr lang="en-US" altLang="zh-CN" sz="3200" dirty="0">
                <a:ea typeface="宋体" panose="02010600030101010101" pitchFamily="2" charset="-122"/>
              </a:rPr>
              <a:t>1</a:t>
            </a:r>
            <a:r>
              <a:rPr lang="zh-CN" altLang="en-US" sz="3200" dirty="0">
                <a:ea typeface="宋体" panose="02010600030101010101" pitchFamily="2" charset="-122"/>
              </a:rPr>
              <a:t>，对于</a:t>
            </a:r>
            <a:r>
              <a:rPr lang="en-US" altLang="zh-CN" sz="3200" dirty="0">
                <a:ea typeface="宋体" panose="02010600030101010101" pitchFamily="2" charset="-122"/>
              </a:rPr>
              <a:t>Z</a:t>
            </a:r>
            <a:r>
              <a:rPr lang="zh-CN" altLang="en-US" sz="3200" dirty="0">
                <a:ea typeface="宋体" panose="02010600030101010101" pitchFamily="2" charset="-122"/>
              </a:rPr>
              <a:t>中任意元素</a:t>
            </a:r>
            <a:r>
              <a:rPr lang="en-US" altLang="zh-CN" sz="3200" dirty="0">
                <a:ea typeface="宋体" panose="02010600030101010101" pitchFamily="2" charset="-122"/>
              </a:rPr>
              <a:t>a</a:t>
            </a:r>
            <a:r>
              <a:rPr lang="zh-CN" altLang="en-US" sz="3200" dirty="0">
                <a:ea typeface="宋体" panose="02010600030101010101" pitchFamily="2" charset="-122"/>
              </a:rPr>
              <a:t>，都有</a:t>
            </a:r>
            <a:r>
              <a:rPr lang="en-US" altLang="zh-CN" sz="3200" dirty="0">
                <a:ea typeface="宋体" panose="02010600030101010101" pitchFamily="2" charset="-122"/>
              </a:rPr>
              <a:t>1·a = a·1 = a</a:t>
            </a:r>
            <a:r>
              <a:rPr lang="zh-CN" altLang="en-US" sz="3200" dirty="0">
                <a:ea typeface="宋体" panose="02010600030101010101" pitchFamily="2" charset="-122"/>
              </a:rPr>
              <a:t>，但除了</a:t>
            </a:r>
            <a:r>
              <a:rPr lang="en-US" altLang="zh-CN" sz="3200" dirty="0">
                <a:ea typeface="宋体" panose="02010600030101010101" pitchFamily="2" charset="-122"/>
              </a:rPr>
              <a:t>1</a:t>
            </a:r>
            <a:r>
              <a:rPr lang="zh-CN" altLang="en-US" sz="3200" dirty="0">
                <a:ea typeface="宋体" panose="02010600030101010101" pitchFamily="2" charset="-122"/>
              </a:rPr>
              <a:t>和</a:t>
            </a:r>
            <a:r>
              <a:rPr lang="en-US" altLang="zh-CN" sz="3200" dirty="0">
                <a:ea typeface="宋体" panose="02010600030101010101" pitchFamily="2" charset="-122"/>
              </a:rPr>
              <a:t>-1</a:t>
            </a:r>
            <a:r>
              <a:rPr lang="zh-CN" altLang="en-US" sz="3200" dirty="0">
                <a:ea typeface="宋体" panose="02010600030101010101" pitchFamily="2" charset="-122"/>
              </a:rPr>
              <a:t>外</a:t>
            </a:r>
            <a:r>
              <a:rPr lang="en-US" altLang="zh-CN" sz="3200" dirty="0">
                <a:ea typeface="宋体" panose="02010600030101010101" pitchFamily="2" charset="-122"/>
              </a:rPr>
              <a:t>,</a:t>
            </a:r>
            <a:r>
              <a:rPr lang="zh-CN" altLang="en-US" sz="3200" dirty="0">
                <a:ea typeface="宋体" panose="02010600030101010101" pitchFamily="2" charset="-122"/>
              </a:rPr>
              <a:t>其它元素均无逆元素 。</a:t>
            </a:r>
          </a:p>
          <a:p>
            <a:pPr marL="0" indent="0" algn="just" eaLnBrk="1" hangingPunct="1">
              <a:lnSpc>
                <a:spcPct val="110000"/>
              </a:lnSpc>
              <a:spcBef>
                <a:spcPct val="5000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endParaRPr lang="zh-CN" altLang="en-US" sz="3200" b="1" dirty="0">
              <a:solidFill>
                <a:srgbClr val="000000"/>
              </a:solidFill>
              <a:ea typeface="宋体" panose="02010600030101010101" pitchFamily="2" charset="-122"/>
              <a:cs typeface="+mn-cs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39750" y="571500"/>
            <a:ext cx="7772400" cy="67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굴림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 6.2.2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群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—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群的例</a:t>
            </a:r>
            <a:endParaRPr lang="zh-CN" altLang="zh-CN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540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B3028B3-1632-4B96-8E8C-6CADD2CFE200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ko-KR" sz="140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内容占位符 2"/>
          <p:cNvSpPr>
            <a:spLocks noGrp="1"/>
          </p:cNvSpPr>
          <p:nvPr>
            <p:ph idx="4294967295"/>
          </p:nvPr>
        </p:nvSpPr>
        <p:spPr bwMode="auto">
          <a:xfrm>
            <a:off x="479425" y="1341438"/>
            <a:ext cx="8394700" cy="4572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just" eaLnBrk="1" hangingPunct="1">
              <a:lnSpc>
                <a:spcPct val="125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000" dirty="0">
                <a:ea typeface="宋体" panose="02010600030101010101" pitchFamily="2" charset="-122"/>
              </a:rPr>
              <a:t>设</a:t>
            </a:r>
            <a:r>
              <a:rPr lang="en-US" altLang="zh-CN" sz="3000" dirty="0">
                <a:ea typeface="宋体" panose="02010600030101010101" pitchFamily="2" charset="-122"/>
              </a:rPr>
              <a:t>S</a:t>
            </a:r>
            <a:r>
              <a:rPr lang="zh-CN" altLang="en-US" sz="3000" dirty="0">
                <a:ea typeface="宋体" panose="02010600030101010101" pitchFamily="2" charset="-122"/>
              </a:rPr>
              <a:t>是一个</a:t>
            </a:r>
            <a:r>
              <a:rPr lang="zh-CN" altLang="en-US" sz="3000" dirty="0">
                <a:solidFill>
                  <a:srgbClr val="FF0000"/>
                </a:solidFill>
                <a:ea typeface="宋体" panose="02010600030101010101" pitchFamily="2" charset="-122"/>
              </a:rPr>
              <a:t>非空集合</a:t>
            </a:r>
            <a:r>
              <a:rPr lang="zh-CN" altLang="en-US" sz="3000" dirty="0">
                <a:ea typeface="宋体" panose="02010600030101010101" pitchFamily="2" charset="-122"/>
              </a:rPr>
              <a:t>，</a:t>
            </a:r>
            <a:r>
              <a:rPr lang="en-US" altLang="zh-CN" sz="3000" dirty="0">
                <a:ea typeface="宋体" panose="02010600030101010101" pitchFamily="2" charset="-122"/>
              </a:rPr>
              <a:t>ρ(S)</a:t>
            </a:r>
            <a:r>
              <a:rPr lang="zh-CN" altLang="en-US" sz="3000" dirty="0">
                <a:ea typeface="宋体" panose="02010600030101010101" pitchFamily="2" charset="-122"/>
              </a:rPr>
              <a:t>是</a:t>
            </a:r>
            <a:r>
              <a:rPr lang="en-US" altLang="zh-CN" sz="3000" dirty="0">
                <a:ea typeface="宋体" panose="02010600030101010101" pitchFamily="2" charset="-122"/>
              </a:rPr>
              <a:t>S</a:t>
            </a:r>
            <a:r>
              <a:rPr lang="zh-CN" altLang="en-US" sz="3000" dirty="0">
                <a:ea typeface="宋体" panose="02010600030101010101" pitchFamily="2" charset="-122"/>
              </a:rPr>
              <a:t>的幂集，∩和∪是</a:t>
            </a:r>
            <a:r>
              <a:rPr lang="en-US" altLang="zh-CN" sz="3000" dirty="0">
                <a:ea typeface="宋体" panose="02010600030101010101" pitchFamily="2" charset="-122"/>
              </a:rPr>
              <a:t>ρ(S)</a:t>
            </a:r>
            <a:r>
              <a:rPr lang="zh-CN" altLang="en-US" sz="3000" dirty="0">
                <a:ea typeface="宋体" panose="02010600030101010101" pitchFamily="2" charset="-122"/>
              </a:rPr>
              <a:t>上的交运算和并运算，则</a:t>
            </a:r>
            <a:endParaRPr lang="en-US" altLang="zh-CN" sz="3000" dirty="0">
              <a:ea typeface="宋体" panose="02010600030101010101" pitchFamily="2" charset="-122"/>
            </a:endParaRPr>
          </a:p>
          <a:p>
            <a:pPr marL="0" indent="0" algn="just" eaLnBrk="1" hangingPunct="1">
              <a:lnSpc>
                <a:spcPct val="125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000" dirty="0">
                <a:solidFill>
                  <a:srgbClr val="0000FF"/>
                </a:solidFill>
                <a:ea typeface="宋体" panose="02010600030101010101" pitchFamily="2" charset="-122"/>
              </a:rPr>
              <a:t>半群</a:t>
            </a:r>
            <a:r>
              <a:rPr lang="en-US" altLang="zh-CN" sz="3000" dirty="0">
                <a:solidFill>
                  <a:srgbClr val="0000FF"/>
                </a:solidFill>
                <a:ea typeface="宋体" panose="02010600030101010101" pitchFamily="2" charset="-122"/>
              </a:rPr>
              <a:t>(ρ(S)</a:t>
            </a:r>
            <a:r>
              <a:rPr lang="zh-CN" altLang="en-US" sz="3000" dirty="0">
                <a:solidFill>
                  <a:srgbClr val="0000FF"/>
                </a:solidFill>
                <a:ea typeface="宋体" panose="02010600030101010101" pitchFamily="2" charset="-122"/>
              </a:rPr>
              <a:t>，∩</a:t>
            </a:r>
            <a:r>
              <a:rPr lang="en-US" altLang="zh-CN" sz="3000" dirty="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r>
              <a:rPr lang="zh-CN" altLang="en-US" sz="3000" dirty="0">
                <a:solidFill>
                  <a:srgbClr val="0000FF"/>
                </a:solidFill>
                <a:ea typeface="宋体" panose="02010600030101010101" pitchFamily="2" charset="-122"/>
              </a:rPr>
              <a:t>是否为群？</a:t>
            </a:r>
            <a:endParaRPr lang="zh-CN" altLang="en-US" sz="3000" dirty="0">
              <a:ea typeface="宋体" panose="02010600030101010101" pitchFamily="2" charset="-122"/>
            </a:endParaRPr>
          </a:p>
          <a:p>
            <a:pPr marL="0" indent="0" algn="just"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ea typeface="宋体" panose="02010600030101010101" pitchFamily="2" charset="-122"/>
              </a:rPr>
              <a:t>       半群</a:t>
            </a:r>
            <a:r>
              <a:rPr lang="en-US" altLang="zh-CN" sz="3000" dirty="0">
                <a:ea typeface="宋体" panose="02010600030101010101" pitchFamily="2" charset="-122"/>
              </a:rPr>
              <a:t>(ρ(S)</a:t>
            </a:r>
            <a:r>
              <a:rPr lang="zh-CN" altLang="en-US" sz="3000" dirty="0">
                <a:ea typeface="宋体" panose="02010600030101010101" pitchFamily="2" charset="-122"/>
              </a:rPr>
              <a:t>，∩</a:t>
            </a:r>
            <a:r>
              <a:rPr lang="en-US" altLang="zh-CN" sz="3000" dirty="0">
                <a:ea typeface="宋体" panose="02010600030101010101" pitchFamily="2" charset="-122"/>
              </a:rPr>
              <a:t>)</a:t>
            </a:r>
            <a:r>
              <a:rPr lang="zh-CN" altLang="en-US" sz="3000" dirty="0">
                <a:ea typeface="宋体" panose="02010600030101010101" pitchFamily="2" charset="-122"/>
              </a:rPr>
              <a:t>不是群，</a:t>
            </a:r>
            <a:endParaRPr lang="en-US" altLang="zh-CN" sz="3000" dirty="0">
              <a:ea typeface="宋体" panose="02010600030101010101" pitchFamily="2" charset="-122"/>
            </a:endParaRPr>
          </a:p>
          <a:p>
            <a:pPr marL="0" indent="0" algn="just"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None/>
              <a:defRPr/>
            </a:pPr>
            <a:r>
              <a:rPr lang="zh-CN" altLang="en-US" sz="3000" dirty="0">
                <a:ea typeface="宋体" panose="02010600030101010101" pitchFamily="2" charset="-122"/>
              </a:rPr>
              <a:t>单位元</a:t>
            </a:r>
            <a:r>
              <a:rPr lang="en-US" altLang="zh-CN" sz="3000" dirty="0">
                <a:ea typeface="宋体" panose="02010600030101010101" pitchFamily="2" charset="-122"/>
              </a:rPr>
              <a:t>S</a:t>
            </a:r>
            <a:r>
              <a:rPr lang="zh-CN" altLang="en-US" sz="3000" dirty="0">
                <a:ea typeface="宋体" panose="02010600030101010101" pitchFamily="2" charset="-122"/>
              </a:rPr>
              <a:t>，除了</a:t>
            </a:r>
            <a:r>
              <a:rPr lang="en-US" altLang="zh-CN" sz="3000" dirty="0">
                <a:ea typeface="宋体" panose="02010600030101010101" pitchFamily="2" charset="-122"/>
              </a:rPr>
              <a:t>S</a:t>
            </a:r>
            <a:r>
              <a:rPr lang="zh-CN" altLang="en-US" sz="3000" dirty="0">
                <a:ea typeface="宋体" panose="02010600030101010101" pitchFamily="2" charset="-122"/>
              </a:rPr>
              <a:t>，其它元素都不存在逆元素。</a:t>
            </a:r>
            <a:endParaRPr lang="en-US" altLang="zh-CN" sz="3000" dirty="0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000" dirty="0">
                <a:solidFill>
                  <a:srgbClr val="0000FF"/>
                </a:solidFill>
                <a:ea typeface="宋体" panose="02010600030101010101" pitchFamily="2" charset="-122"/>
              </a:rPr>
              <a:t>半群</a:t>
            </a:r>
            <a:r>
              <a:rPr lang="en-US" altLang="zh-CN" sz="3000" dirty="0">
                <a:solidFill>
                  <a:srgbClr val="0000FF"/>
                </a:solidFill>
                <a:ea typeface="宋体" panose="02010600030101010101" pitchFamily="2" charset="-122"/>
              </a:rPr>
              <a:t>(ρ(S)</a:t>
            </a:r>
            <a:r>
              <a:rPr lang="zh-CN" altLang="en-US" sz="3000" dirty="0">
                <a:solidFill>
                  <a:srgbClr val="0000FF"/>
                </a:solidFill>
                <a:ea typeface="宋体" panose="02010600030101010101" pitchFamily="2" charset="-122"/>
              </a:rPr>
              <a:t>，∪</a:t>
            </a:r>
            <a:r>
              <a:rPr lang="en-US" altLang="zh-CN" sz="3000" dirty="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r>
              <a:rPr lang="zh-CN" altLang="en-US" sz="3000" dirty="0">
                <a:solidFill>
                  <a:srgbClr val="0000FF"/>
                </a:solidFill>
                <a:ea typeface="宋体" panose="02010600030101010101" pitchFamily="2" charset="-122"/>
              </a:rPr>
              <a:t>是否为群？</a:t>
            </a:r>
            <a:endParaRPr lang="zh-CN" altLang="en-US" sz="3000" dirty="0"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ea typeface="宋体" panose="02010600030101010101" pitchFamily="2" charset="-122"/>
              </a:rPr>
              <a:t>       半群</a:t>
            </a:r>
            <a:r>
              <a:rPr lang="en-US" altLang="zh-CN" sz="3000" dirty="0">
                <a:ea typeface="宋体" panose="02010600030101010101" pitchFamily="2" charset="-122"/>
              </a:rPr>
              <a:t>(ρ(S)</a:t>
            </a:r>
            <a:r>
              <a:rPr lang="zh-CN" altLang="en-US" sz="3000" dirty="0">
                <a:ea typeface="宋体" panose="02010600030101010101" pitchFamily="2" charset="-122"/>
              </a:rPr>
              <a:t>，∪</a:t>
            </a:r>
            <a:r>
              <a:rPr lang="en-US" altLang="zh-CN" sz="3000" dirty="0">
                <a:ea typeface="宋体" panose="02010600030101010101" pitchFamily="2" charset="-122"/>
              </a:rPr>
              <a:t>)</a:t>
            </a:r>
            <a:r>
              <a:rPr lang="zh-CN" altLang="en-US" sz="3000" dirty="0">
                <a:ea typeface="宋体" panose="02010600030101010101" pitchFamily="2" charset="-122"/>
              </a:rPr>
              <a:t>也不是群，</a:t>
            </a:r>
            <a:endParaRPr lang="en-US" altLang="zh-CN" sz="3000" dirty="0"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ea typeface="宋体" panose="02010600030101010101" pitchFamily="2" charset="-122"/>
              </a:rPr>
              <a:t>单位元 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</a:t>
            </a:r>
            <a:r>
              <a:rPr lang="zh-CN" altLang="en-US" sz="3000" dirty="0">
                <a:ea typeface="宋体" panose="02010600030101010101" pitchFamily="2" charset="-122"/>
              </a:rPr>
              <a:t> ，除了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</a:t>
            </a:r>
            <a:r>
              <a:rPr lang="zh-CN" altLang="en-US" sz="3000" dirty="0">
                <a:ea typeface="宋体" panose="02010600030101010101" pitchFamily="2" charset="-122"/>
              </a:rPr>
              <a:t> ，其它元素都不存在逆元素。 </a:t>
            </a:r>
          </a:p>
          <a:p>
            <a:pPr marL="0" indent="0" eaLnBrk="1" hangingPunct="1">
              <a:lnSpc>
                <a:spcPct val="125000"/>
              </a:lnSpc>
              <a:defRPr/>
            </a:pPr>
            <a:endParaRPr lang="zh-CN" altLang="en-US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39750" y="571500"/>
            <a:ext cx="7772400" cy="67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굴림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 6.2.2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群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—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群的例</a:t>
            </a:r>
            <a:endParaRPr lang="zh-CN" altLang="zh-CN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64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fld id="{DDE925AE-7DAB-4675-A685-C9999D79B2AC}" type="slidenum">
              <a:rPr lang="zh-CN" altLang="en-US" sz="1800" smtClean="0">
                <a:solidFill>
                  <a:srgbClr val="000000"/>
                </a:solidFill>
              </a:rPr>
              <a:pPr/>
              <a:t>12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3200" dirty="0">
                <a:ea typeface="宋体" panose="02010600030101010101" pitchFamily="2" charset="-122"/>
              </a:rPr>
              <a:t>设</a:t>
            </a:r>
            <a:r>
              <a:rPr lang="en-US" altLang="zh-CN" sz="3200" dirty="0">
                <a:ea typeface="宋体" panose="02010600030101010101" pitchFamily="2" charset="-122"/>
              </a:rPr>
              <a:t>A</a:t>
            </a:r>
            <a:r>
              <a:rPr lang="zh-CN" altLang="en-US" sz="3200" dirty="0">
                <a:ea typeface="宋体" panose="02010600030101010101" pitchFamily="2" charset="-122"/>
              </a:rPr>
              <a:t>为正整数集，运算“⊙”如下：</a:t>
            </a:r>
            <a:r>
              <a:rPr lang="en-US" altLang="zh-CN" sz="3200" dirty="0">
                <a:ea typeface="宋体" panose="02010600030101010101" pitchFamily="2" charset="-122"/>
              </a:rPr>
              <a:t>a ⊙ b = a + b + </a:t>
            </a:r>
            <a:r>
              <a:rPr lang="en-US" altLang="zh-CN" sz="3200" dirty="0" err="1">
                <a:ea typeface="宋体" panose="02010600030101010101" pitchFamily="2" charset="-122"/>
              </a:rPr>
              <a:t>a·b</a:t>
            </a:r>
            <a:r>
              <a:rPr lang="zh-CN" altLang="en-US" sz="3200" dirty="0">
                <a:ea typeface="宋体" panose="02010600030101010101" pitchFamily="2" charset="-122"/>
              </a:rPr>
              <a:t>，已证 </a:t>
            </a:r>
            <a:r>
              <a:rPr lang="en-US" altLang="zh-CN" sz="3200" dirty="0">
                <a:ea typeface="宋体" panose="02010600030101010101" pitchFamily="2" charset="-122"/>
              </a:rPr>
              <a:t>(A</a:t>
            </a:r>
            <a:r>
              <a:rPr lang="zh-CN" altLang="en-US" sz="3200" dirty="0">
                <a:ea typeface="宋体" panose="02010600030101010101" pitchFamily="2" charset="-122"/>
              </a:rPr>
              <a:t>，⊙</a:t>
            </a:r>
            <a:r>
              <a:rPr lang="en-US" altLang="zh-CN" sz="3200" dirty="0">
                <a:ea typeface="宋体" panose="02010600030101010101" pitchFamily="2" charset="-122"/>
              </a:rPr>
              <a:t>)</a:t>
            </a:r>
            <a:r>
              <a:rPr lang="zh-CN" altLang="en-US" sz="3200" dirty="0">
                <a:ea typeface="宋体" panose="02010600030101010101" pitchFamily="2" charset="-122"/>
              </a:rPr>
              <a:t>为半群。但不是群。</a:t>
            </a:r>
            <a:endParaRPr lang="en-US" altLang="zh-CN" sz="32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反证：</a:t>
            </a:r>
            <a: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  <a:t>若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(A</a:t>
            </a:r>
            <a: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  <a:t>， ⊙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  <a:t>是群</a:t>
            </a:r>
            <a:r>
              <a:rPr lang="zh-CN" altLang="en-US" sz="3200" dirty="0" smtClean="0">
                <a:ea typeface="宋体" panose="02010600030101010101" pitchFamily="2" charset="-122"/>
                <a:sym typeface="Symbol" panose="05050102010706020507" pitchFamily="18" charset="2"/>
              </a:rPr>
              <a:t>，则</a:t>
            </a:r>
            <a: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  <a:t>一定有单位元素，设为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  <a:t>，则对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A </a:t>
            </a:r>
            <a: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  <a:t>中任意元素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  <a:t>，都应有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e ⊙ a = a</a:t>
            </a:r>
            <a: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  <a:t>，即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e + a + </a:t>
            </a:r>
            <a:r>
              <a:rPr lang="en-US" altLang="zh-CN" sz="3200" dirty="0" err="1">
                <a:ea typeface="宋体" panose="02010600030101010101" pitchFamily="2" charset="-122"/>
                <a:sym typeface="Symbol" panose="05050102010706020507" pitchFamily="18" charset="2"/>
              </a:rPr>
              <a:t>e·a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 = a</a:t>
            </a:r>
            <a: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  <a:t>，因此，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e=0</a:t>
            </a:r>
            <a: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  <a:t>，但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0A</a:t>
            </a:r>
            <a: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39750" y="571500"/>
            <a:ext cx="7772400" cy="67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굴림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 6.2.2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群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—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群的例</a:t>
            </a:r>
            <a:endParaRPr lang="zh-CN" altLang="zh-CN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588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fld id="{EBFA1259-49C1-43E6-95D5-F24F20706A06}" type="slidenum">
              <a:rPr lang="zh-CN" altLang="en-US" sz="1800" smtClean="0">
                <a:solidFill>
                  <a:srgbClr val="000000"/>
                </a:solidFill>
              </a:rPr>
              <a:pPr/>
              <a:t>13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561975" y="1476375"/>
            <a:ext cx="8301038" cy="4572000"/>
          </a:xfrm>
          <a:prstGeom prst="rect">
            <a:avLst/>
          </a:prstGeom>
        </p:spPr>
        <p:txBody>
          <a:bodyPr/>
          <a:lstStyle/>
          <a:p>
            <a:pPr marL="609600" indent="-609600" algn="just" eaLnBrk="1" hangingPunct="1"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200" dirty="0">
                <a:solidFill>
                  <a:srgbClr val="0000FF"/>
                </a:solidFill>
                <a:ea typeface="宋体" panose="02010600030101010101" pitchFamily="2" charset="-122"/>
                <a:cs typeface="+mn-cs"/>
              </a:rPr>
              <a:t>例</a:t>
            </a:r>
            <a:r>
              <a:rPr lang="en-US" altLang="zh-CN" sz="3200" dirty="0">
                <a:solidFill>
                  <a:srgbClr val="0000FF"/>
                </a:solidFill>
                <a:ea typeface="宋体" panose="02010600030101010101" pitchFamily="2" charset="-122"/>
                <a:cs typeface="+mn-cs"/>
              </a:rPr>
              <a:t>.</a:t>
            </a:r>
            <a:r>
              <a:rPr lang="zh-CN" altLang="en-US" sz="3200" dirty="0">
                <a:ea typeface="宋体" panose="02010600030101010101" pitchFamily="2" charset="-122"/>
                <a:cs typeface="+mn-cs"/>
              </a:rPr>
              <a:t>设</a:t>
            </a:r>
            <a:r>
              <a:rPr lang="en-US" altLang="zh-CN" sz="3200" dirty="0">
                <a:ea typeface="宋体" panose="02010600030101010101" pitchFamily="2" charset="-122"/>
                <a:cs typeface="+mn-cs"/>
              </a:rPr>
              <a:t>S={0</a:t>
            </a:r>
            <a:r>
              <a:rPr lang="zh-CN" altLang="en-US" sz="3200" dirty="0">
                <a:ea typeface="宋体" panose="02010600030101010101" pitchFamily="2" charset="-122"/>
                <a:cs typeface="+mn-cs"/>
              </a:rPr>
              <a:t>，</a:t>
            </a:r>
            <a:r>
              <a:rPr lang="en-US" altLang="zh-CN" sz="3200" dirty="0">
                <a:ea typeface="宋体" panose="02010600030101010101" pitchFamily="2" charset="-122"/>
                <a:cs typeface="+mn-cs"/>
              </a:rPr>
              <a:t>1</a:t>
            </a:r>
            <a:r>
              <a:rPr lang="zh-CN" altLang="en-US" sz="3200" dirty="0">
                <a:ea typeface="宋体" panose="02010600030101010101" pitchFamily="2" charset="-122"/>
                <a:cs typeface="+mn-cs"/>
              </a:rPr>
              <a:t>，</a:t>
            </a:r>
            <a:r>
              <a:rPr lang="en-US" altLang="zh-CN" sz="3200" dirty="0">
                <a:ea typeface="宋体" panose="02010600030101010101" pitchFamily="2" charset="-122"/>
                <a:cs typeface="+mn-cs"/>
              </a:rPr>
              <a:t>2</a:t>
            </a:r>
            <a:r>
              <a:rPr lang="zh-CN" altLang="en-US" sz="3200" dirty="0">
                <a:ea typeface="宋体" panose="02010600030101010101" pitchFamily="2" charset="-122"/>
                <a:cs typeface="+mn-cs"/>
              </a:rPr>
              <a:t>，</a:t>
            </a:r>
            <a:r>
              <a:rPr lang="en-US" altLang="zh-CN" sz="3200" dirty="0">
                <a:ea typeface="宋体" panose="02010600030101010101" pitchFamily="2" charset="-122"/>
                <a:cs typeface="+mn-cs"/>
              </a:rPr>
              <a:t>……m-1}</a:t>
            </a:r>
            <a:r>
              <a:rPr lang="zh-CN" altLang="en-US" sz="3200" dirty="0">
                <a:ea typeface="宋体" panose="02010600030101010101" pitchFamily="2" charset="-122"/>
                <a:cs typeface="+mn-cs"/>
              </a:rPr>
              <a:t>，规定</a:t>
            </a:r>
            <a:r>
              <a:rPr lang="en-US" altLang="zh-CN" sz="3200" dirty="0">
                <a:ea typeface="宋体" panose="02010600030101010101" pitchFamily="2" charset="-122"/>
                <a:cs typeface="+mn-cs"/>
              </a:rPr>
              <a:t>S</a:t>
            </a:r>
            <a:r>
              <a:rPr lang="zh-CN" altLang="en-US" sz="3200" dirty="0">
                <a:ea typeface="宋体" panose="02010600030101010101" pitchFamily="2" charset="-122"/>
                <a:cs typeface="+mn-cs"/>
              </a:rPr>
              <a:t>上的运算</a:t>
            </a:r>
            <a:r>
              <a:rPr lang="zh-CN" altLang="en-US" sz="3200" dirty="0">
                <a:solidFill>
                  <a:srgbClr val="0000FF"/>
                </a:solidFill>
                <a:ea typeface="宋体" panose="02010600030101010101" pitchFamily="2" charset="-122"/>
                <a:cs typeface="+mn-cs"/>
              </a:rPr>
              <a:t>⊕</a:t>
            </a:r>
            <a:r>
              <a:rPr lang="zh-CN" altLang="en-US" sz="3200" dirty="0">
                <a:ea typeface="宋体" panose="02010600030101010101" pitchFamily="2" charset="-122"/>
                <a:cs typeface="+mn-cs"/>
              </a:rPr>
              <a:t>如下：</a:t>
            </a:r>
          </a:p>
          <a:p>
            <a:pPr marL="609600" indent="-609600" algn="just" eaLnBrk="1" hangingPunct="1">
              <a:lnSpc>
                <a:spcPct val="90000"/>
              </a:lnSpc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ea typeface="宋体" panose="02010600030101010101" pitchFamily="2" charset="-122"/>
                <a:cs typeface="+mn-cs"/>
              </a:rPr>
              <a:t>     </a:t>
            </a:r>
            <a:r>
              <a:rPr lang="en-US" altLang="zh-CN" sz="3200" dirty="0">
                <a:ea typeface="宋体" panose="02010600030101010101" pitchFamily="2" charset="-122"/>
                <a:cs typeface="+mn-cs"/>
              </a:rPr>
              <a:t>a ⊕ b= </a:t>
            </a:r>
          </a:p>
          <a:p>
            <a:pPr marL="609600" indent="-609600" algn="just" eaLnBrk="1" hangingPunct="1">
              <a:lnSpc>
                <a:spcPct val="90000"/>
              </a:lnSpc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ea typeface="宋体" panose="02010600030101010101" pitchFamily="2" charset="-122"/>
                <a:cs typeface="+mn-cs"/>
              </a:rPr>
              <a:t>   </a:t>
            </a:r>
          </a:p>
          <a:p>
            <a:pPr marL="0" indent="-609600" eaLnBrk="1" hangingPunct="1">
              <a:lnSpc>
                <a:spcPct val="125000"/>
              </a:lnSpc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ea typeface="宋体" panose="02010600030101010101" pitchFamily="2" charset="-122"/>
                <a:cs typeface="+mn-cs"/>
              </a:rPr>
              <a:t>其中</a:t>
            </a:r>
            <a:r>
              <a:rPr lang="en-US" altLang="zh-CN" sz="3200" dirty="0">
                <a:ea typeface="宋体" panose="02010600030101010101" pitchFamily="2" charset="-122"/>
                <a:cs typeface="+mn-cs"/>
              </a:rPr>
              <a:t>a</a:t>
            </a:r>
            <a:r>
              <a:rPr lang="zh-CN" altLang="en-US" sz="3200" dirty="0">
                <a:ea typeface="宋体" panose="02010600030101010101" pitchFamily="2" charset="-122"/>
                <a:cs typeface="+mn-cs"/>
              </a:rPr>
              <a:t>，</a:t>
            </a:r>
            <a:r>
              <a:rPr lang="en-US" altLang="zh-CN" sz="3200" dirty="0">
                <a:ea typeface="宋体" panose="02010600030101010101" pitchFamily="2" charset="-122"/>
                <a:cs typeface="+mn-cs"/>
              </a:rPr>
              <a:t>b</a:t>
            </a:r>
            <a:r>
              <a:rPr lang="zh-CN" altLang="en-US" sz="3200" dirty="0">
                <a:ea typeface="宋体" panose="02010600030101010101" pitchFamily="2" charset="-122"/>
                <a:cs typeface="+mn-cs"/>
              </a:rPr>
              <a:t>是</a:t>
            </a:r>
            <a:r>
              <a:rPr lang="en-US" altLang="zh-CN" sz="3200" dirty="0">
                <a:ea typeface="宋体" panose="02010600030101010101" pitchFamily="2" charset="-122"/>
                <a:cs typeface="+mn-cs"/>
              </a:rPr>
              <a:t>S</a:t>
            </a:r>
            <a:r>
              <a:rPr lang="zh-CN" altLang="en-US" sz="3200" dirty="0">
                <a:ea typeface="宋体" panose="02010600030101010101" pitchFamily="2" charset="-122"/>
                <a:cs typeface="+mn-cs"/>
              </a:rPr>
              <a:t>中任意元素，</a:t>
            </a:r>
            <a:r>
              <a:rPr lang="en-US" altLang="zh-CN" sz="3200" dirty="0">
                <a:ea typeface="宋体" panose="02010600030101010101" pitchFamily="2" charset="-122"/>
                <a:cs typeface="+mn-cs"/>
              </a:rPr>
              <a:t>+</a:t>
            </a:r>
            <a:r>
              <a:rPr lang="zh-CN" altLang="en-US" sz="3200" dirty="0">
                <a:ea typeface="宋体" panose="02010600030101010101" pitchFamily="2" charset="-122"/>
                <a:cs typeface="+mn-cs"/>
              </a:rPr>
              <a:t>、</a:t>
            </a:r>
            <a:r>
              <a:rPr lang="en-US" altLang="zh-CN" sz="3200" dirty="0">
                <a:ea typeface="宋体" panose="02010600030101010101" pitchFamily="2" charset="-122"/>
                <a:cs typeface="+mn-cs"/>
              </a:rPr>
              <a:t>-</a:t>
            </a:r>
            <a:r>
              <a:rPr lang="zh-CN" altLang="en-US" sz="3200" dirty="0">
                <a:ea typeface="宋体" panose="02010600030101010101" pitchFamily="2" charset="-122"/>
                <a:cs typeface="+mn-cs"/>
              </a:rPr>
              <a:t>为数的加与减。则</a:t>
            </a:r>
            <a:r>
              <a:rPr lang="en-US" altLang="zh-CN" sz="3200" dirty="0">
                <a:ea typeface="宋体" panose="02010600030101010101" pitchFamily="2" charset="-122"/>
                <a:cs typeface="+mn-cs"/>
              </a:rPr>
              <a:t>(S</a:t>
            </a:r>
            <a:r>
              <a:rPr lang="zh-CN" altLang="en-US" sz="3200" dirty="0">
                <a:ea typeface="宋体" panose="02010600030101010101" pitchFamily="2" charset="-122"/>
                <a:cs typeface="+mn-cs"/>
              </a:rPr>
              <a:t>，⊕</a:t>
            </a:r>
            <a:r>
              <a:rPr lang="en-US" altLang="zh-CN" sz="3200" dirty="0">
                <a:ea typeface="宋体" panose="02010600030101010101" pitchFamily="2" charset="-122"/>
                <a:cs typeface="+mn-cs"/>
              </a:rPr>
              <a:t>)</a:t>
            </a:r>
            <a:r>
              <a:rPr lang="zh-CN" altLang="en-US" sz="3200" dirty="0">
                <a:ea typeface="宋体" panose="02010600030101010101" pitchFamily="2" charset="-122"/>
                <a:cs typeface="+mn-cs"/>
              </a:rPr>
              <a:t>是群，称为</a:t>
            </a:r>
            <a:r>
              <a:rPr lang="zh-CN" altLang="en-US" sz="3200" dirty="0">
                <a:solidFill>
                  <a:srgbClr val="0000FF"/>
                </a:solidFill>
                <a:ea typeface="宋体" panose="02010600030101010101" pitchFamily="2" charset="-122"/>
                <a:cs typeface="+mn-cs"/>
              </a:rPr>
              <a:t>模</a:t>
            </a:r>
            <a:r>
              <a:rPr lang="en-US" altLang="zh-CN" sz="3200" dirty="0">
                <a:solidFill>
                  <a:srgbClr val="0000FF"/>
                </a:solidFill>
                <a:ea typeface="宋体" panose="02010600030101010101" pitchFamily="2" charset="-122"/>
                <a:cs typeface="+mn-cs"/>
              </a:rPr>
              <a:t>m</a:t>
            </a:r>
            <a:r>
              <a:rPr lang="zh-CN" altLang="en-US" sz="3200" dirty="0">
                <a:ea typeface="宋体" panose="02010600030101010101" pitchFamily="2" charset="-122"/>
                <a:cs typeface="+mn-cs"/>
              </a:rPr>
              <a:t>的整数加法群。 </a:t>
            </a:r>
            <a:endParaRPr lang="en-US" altLang="zh-CN" sz="3200" dirty="0">
              <a:ea typeface="宋体" panose="02010600030101010101" pitchFamily="2" charset="-122"/>
              <a:cs typeface="+mn-cs"/>
            </a:endParaRPr>
          </a:p>
          <a:p>
            <a:pPr marL="0" indent="-609600" eaLnBrk="1" hangingPunct="1">
              <a:lnSpc>
                <a:spcPct val="125000"/>
              </a:lnSpc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ea typeface="宋体" panose="02010600030101010101" pitchFamily="2" charset="-122"/>
                <a:cs typeface="+mn-cs"/>
              </a:rPr>
              <a:t>注：</a:t>
            </a:r>
          </a:p>
          <a:p>
            <a:pPr eaLnBrk="1" hangingPunct="1">
              <a:defRPr/>
            </a:pPr>
            <a:endParaRPr lang="zh-CN" altLang="en-US" dirty="0">
              <a:cs typeface="+mn-cs"/>
            </a:endParaRPr>
          </a:p>
        </p:txBody>
      </p:sp>
      <p:graphicFrame>
        <p:nvGraphicFramePr>
          <p:cNvPr id="686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7773939"/>
              </p:ext>
            </p:extLst>
          </p:nvPr>
        </p:nvGraphicFramePr>
        <p:xfrm>
          <a:off x="2699792" y="2492896"/>
          <a:ext cx="312420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43" name="公式" r:id="rId3" imgW="3100388" imgH="857250" progId="Equation.3">
                  <p:embed/>
                </p:oleObj>
              </mc:Choice>
              <mc:Fallback>
                <p:oleObj name="公式" r:id="rId3" imgW="3100388" imgH="85725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2492896"/>
                        <a:ext cx="3124200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39750" y="571500"/>
            <a:ext cx="7772400" cy="67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굴림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 6.2.2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群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—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群的例</a:t>
            </a:r>
            <a:endParaRPr lang="zh-CN" altLang="zh-CN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13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fld id="{AB9B91CA-9951-438B-A3DF-A625139E9F73}" type="slidenum">
              <a:rPr lang="zh-CN" altLang="en-US" sz="1800" smtClean="0">
                <a:solidFill>
                  <a:srgbClr val="000000"/>
                </a:solidFill>
              </a:rPr>
              <a:pPr/>
              <a:t>14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 bwMode="auto">
          <a:xfrm>
            <a:off x="611188" y="1268413"/>
            <a:ext cx="8301037" cy="5040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例：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S={0, 1 , 2, 3, 4}, 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运算⊕是模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5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加法运算，</a:t>
            </a:r>
            <a:endParaRPr lang="en-US" altLang="zh-CN" sz="30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dirty="0">
                <a:ea typeface="宋体" panose="02010600030101010101" pitchFamily="2" charset="-122"/>
              </a:rPr>
              <a:t>（</a:t>
            </a:r>
            <a:r>
              <a:rPr lang="en-US" altLang="zh-CN" sz="3000" dirty="0">
                <a:ea typeface="宋体" panose="02010600030101010101" pitchFamily="2" charset="-122"/>
              </a:rPr>
              <a:t>S</a:t>
            </a:r>
            <a:r>
              <a:rPr lang="zh-CN" altLang="en-US" sz="3000" dirty="0">
                <a:ea typeface="宋体" panose="02010600030101010101" pitchFamily="2" charset="-122"/>
              </a:rPr>
              <a:t>，⊕）为模</a:t>
            </a:r>
            <a:r>
              <a:rPr lang="en-US" altLang="zh-CN" sz="3000" dirty="0">
                <a:ea typeface="宋体" panose="02010600030101010101" pitchFamily="2" charset="-122"/>
              </a:rPr>
              <a:t>5</a:t>
            </a:r>
            <a:r>
              <a:rPr lang="zh-CN" altLang="en-US" sz="3000" dirty="0">
                <a:ea typeface="宋体" panose="02010600030101010101" pitchFamily="2" charset="-122"/>
              </a:rPr>
              <a:t>的整数加法群：</a:t>
            </a:r>
            <a:endParaRPr lang="en-US" altLang="zh-CN" sz="30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则单位元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为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endParaRPr lang="zh-CN" altLang="en-US" sz="30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sz="3000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的逆元素是</a:t>
            </a:r>
            <a:r>
              <a:rPr lang="en-US" altLang="zh-CN" sz="3000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；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的逆元素是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4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；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的逆元素是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；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的逆元素是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；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4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的逆元素是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  <a:endParaRPr lang="zh-CN" altLang="en-US" sz="3000" dirty="0">
              <a:ea typeface="宋体" panose="02010600030101010101" pitchFamily="2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39750" y="571500"/>
            <a:ext cx="7772400" cy="67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굴림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 6.2.2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群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—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群的例</a:t>
            </a:r>
            <a:endParaRPr lang="zh-CN" altLang="zh-CN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636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fld id="{05511527-B679-48AD-927B-9D4908B355C3}" type="slidenum">
              <a:rPr lang="zh-CN" altLang="en-US" sz="1800" smtClean="0">
                <a:solidFill>
                  <a:srgbClr val="000000"/>
                </a:solidFill>
              </a:rPr>
              <a:pPr/>
              <a:t>15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561975" y="1365250"/>
            <a:ext cx="8301038" cy="4905375"/>
          </a:xfrm>
          <a:prstGeom prst="rect">
            <a:avLst/>
          </a:prstGeom>
        </p:spPr>
        <p:txBody>
          <a:bodyPr/>
          <a:lstStyle/>
          <a:p>
            <a:pPr marL="609600" indent="-609600"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cs typeface="+mn-cs"/>
              </a:rPr>
              <a:t>      </a:t>
            </a:r>
            <a:r>
              <a:rPr lang="zh-CN" altLang="en-US" sz="3200" dirty="0">
                <a:ea typeface="宋体" panose="02010600030101010101" pitchFamily="2" charset="-122"/>
                <a:cs typeface="+mn-cs"/>
              </a:rPr>
              <a:t>设</a:t>
            </a:r>
            <a:r>
              <a:rPr lang="en-US" altLang="zh-CN" sz="3200" dirty="0">
                <a:ea typeface="宋体" panose="02010600030101010101" pitchFamily="2" charset="-122"/>
                <a:cs typeface="+mn-cs"/>
              </a:rPr>
              <a:t>S={</a:t>
            </a:r>
            <a:r>
              <a:rPr lang="en-US" altLang="zh-CN" sz="3200" dirty="0" err="1">
                <a:ea typeface="宋体" panose="02010600030101010101" pitchFamily="2" charset="-122"/>
                <a:cs typeface="+mn-cs"/>
              </a:rPr>
              <a:t>a,b</a:t>
            </a:r>
            <a:r>
              <a:rPr lang="en-US" altLang="zh-CN" sz="3200" dirty="0">
                <a:ea typeface="宋体" panose="02010600030101010101" pitchFamily="2" charset="-122"/>
                <a:cs typeface="+mn-cs"/>
              </a:rPr>
              <a:t>}</a:t>
            </a:r>
            <a:r>
              <a:rPr lang="zh-CN" altLang="en-US" sz="3200" dirty="0">
                <a:ea typeface="宋体" panose="02010600030101010101" pitchFamily="2" charset="-122"/>
                <a:cs typeface="+mn-cs"/>
              </a:rPr>
              <a:t>，使用</a:t>
            </a:r>
            <a:r>
              <a:rPr lang="zh-CN" altLang="en-US" sz="3200" dirty="0">
                <a:solidFill>
                  <a:srgbClr val="0000FF"/>
                </a:solidFill>
                <a:ea typeface="宋体" panose="02010600030101010101" pitchFamily="2" charset="-122"/>
                <a:cs typeface="+mn-cs"/>
              </a:rPr>
              <a:t>乘法表</a:t>
            </a:r>
            <a:r>
              <a:rPr lang="zh-CN" altLang="en-US" sz="3200" dirty="0">
                <a:ea typeface="宋体" panose="02010600030101010101" pitchFamily="2" charset="-122"/>
                <a:cs typeface="+mn-cs"/>
              </a:rPr>
              <a:t>定义</a:t>
            </a:r>
            <a:r>
              <a:rPr lang="en-US" altLang="zh-CN" sz="3200" dirty="0">
                <a:ea typeface="宋体" panose="02010600030101010101" pitchFamily="2" charset="-122"/>
                <a:cs typeface="+mn-cs"/>
              </a:rPr>
              <a:t>S</a:t>
            </a:r>
            <a:r>
              <a:rPr lang="zh-CN" altLang="en-US" sz="3200" dirty="0">
                <a:ea typeface="宋体" panose="02010600030101010101" pitchFamily="2" charset="-122"/>
                <a:cs typeface="+mn-cs"/>
              </a:rPr>
              <a:t>上的运算 </a:t>
            </a:r>
            <a:r>
              <a:rPr lang="en-US" altLang="zh-CN" dirty="0">
                <a:ea typeface="宋体" panose="02010600030101010101" pitchFamily="2" charset="-122"/>
                <a:cs typeface="+mn-cs"/>
              </a:rPr>
              <a:t> </a:t>
            </a:r>
          </a:p>
          <a:p>
            <a:pPr marL="609600" indent="-609600"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dirty="0">
                <a:ea typeface="宋体" panose="02010600030101010101" pitchFamily="2" charset="-122"/>
                <a:cs typeface="+mn-cs"/>
              </a:rPr>
              <a:t>       </a:t>
            </a:r>
            <a:r>
              <a:rPr lang="zh-CN" altLang="en-US" sz="3200" dirty="0">
                <a:ea typeface="宋体" panose="02010600030101010101" pitchFamily="2" charset="-122"/>
                <a:cs typeface="+mn-cs"/>
              </a:rPr>
              <a:t>如下：</a:t>
            </a:r>
          </a:p>
          <a:p>
            <a:pPr marL="609600" indent="-609600"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ea typeface="宋体" panose="02010600030101010101" pitchFamily="2" charset="-122"/>
                <a:cs typeface="+mn-cs"/>
              </a:rPr>
              <a:t>                                    </a:t>
            </a:r>
            <a:r>
              <a:rPr lang="en-US" altLang="zh-CN" sz="3200" dirty="0">
                <a:ea typeface="宋体" panose="02010600030101010101" pitchFamily="2" charset="-122"/>
                <a:cs typeface="+mn-cs"/>
              </a:rPr>
              <a:t>· </a:t>
            </a:r>
            <a:r>
              <a:rPr lang="en-US" altLang="zh-CN" sz="2800" dirty="0">
                <a:ea typeface="宋体" panose="02010600030101010101" pitchFamily="2" charset="-122"/>
                <a:cs typeface="+mn-cs"/>
              </a:rPr>
              <a:t>     a       b</a:t>
            </a:r>
          </a:p>
          <a:p>
            <a:pPr marL="609600" indent="-609600"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ea typeface="宋体" panose="02010600030101010101" pitchFamily="2" charset="-122"/>
                <a:cs typeface="+mn-cs"/>
              </a:rPr>
              <a:t>                                    a      </a:t>
            </a:r>
            <a:r>
              <a:rPr lang="en-US" altLang="zh-CN" sz="2800" dirty="0" err="1">
                <a:ea typeface="宋体" panose="02010600030101010101" pitchFamily="2" charset="-122"/>
                <a:cs typeface="+mn-cs"/>
              </a:rPr>
              <a:t>a</a:t>
            </a:r>
            <a:r>
              <a:rPr lang="en-US" altLang="zh-CN" sz="2800" dirty="0">
                <a:ea typeface="宋体" panose="02010600030101010101" pitchFamily="2" charset="-122"/>
                <a:cs typeface="+mn-cs"/>
              </a:rPr>
              <a:t>       b</a:t>
            </a:r>
          </a:p>
          <a:p>
            <a:pPr marL="609600" indent="-609600"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ea typeface="宋体" panose="02010600030101010101" pitchFamily="2" charset="-122"/>
                <a:cs typeface="+mn-cs"/>
              </a:rPr>
              <a:t>                                    b      </a:t>
            </a:r>
            <a:r>
              <a:rPr lang="en-US" altLang="zh-CN" sz="2800" dirty="0" err="1">
                <a:ea typeface="宋体" panose="02010600030101010101" pitchFamily="2" charset="-122"/>
                <a:cs typeface="+mn-cs"/>
              </a:rPr>
              <a:t>b</a:t>
            </a:r>
            <a:r>
              <a:rPr lang="en-US" altLang="zh-CN" sz="2800" dirty="0">
                <a:ea typeface="宋体" panose="02010600030101010101" pitchFamily="2" charset="-122"/>
                <a:cs typeface="+mn-cs"/>
              </a:rPr>
              <a:t>       a</a:t>
            </a:r>
          </a:p>
          <a:p>
            <a:pPr marL="609600" indent="-609600"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ea typeface="宋体" panose="02010600030101010101" pitchFamily="2" charset="-122"/>
                <a:cs typeface="+mn-cs"/>
              </a:rPr>
              <a:t>问</a:t>
            </a:r>
            <a:r>
              <a:rPr lang="en-US" altLang="zh-CN" sz="3200" dirty="0">
                <a:ea typeface="宋体" panose="02010600030101010101" pitchFamily="2" charset="-122"/>
                <a:cs typeface="+mn-cs"/>
              </a:rPr>
              <a:t>:</a:t>
            </a:r>
            <a:r>
              <a:rPr lang="zh-CN" altLang="en-US" sz="3200" dirty="0">
                <a:ea typeface="宋体" panose="02010600030101010101" pitchFamily="2" charset="-122"/>
                <a:cs typeface="+mn-cs"/>
              </a:rPr>
              <a:t>（</a:t>
            </a:r>
            <a:r>
              <a:rPr lang="en-US" altLang="zh-CN" sz="3200" dirty="0">
                <a:ea typeface="宋体" panose="02010600030101010101" pitchFamily="2" charset="-122"/>
                <a:cs typeface="+mn-cs"/>
              </a:rPr>
              <a:t>S, · </a:t>
            </a:r>
            <a:r>
              <a:rPr lang="zh-CN" altLang="en-US" sz="3200" dirty="0">
                <a:ea typeface="宋体" panose="02010600030101010101" pitchFamily="2" charset="-122"/>
                <a:cs typeface="+mn-cs"/>
              </a:rPr>
              <a:t>）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是否为群？         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609600" indent="-609600"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解：是</a:t>
            </a:r>
          </a:p>
          <a:p>
            <a:pPr eaLnBrk="1" hangingPunct="1">
              <a:defRPr/>
            </a:pPr>
            <a:endParaRPr lang="zh-CN" altLang="en-US" dirty="0">
              <a:cs typeface="+mn-cs"/>
            </a:endParaRPr>
          </a:p>
        </p:txBody>
      </p:sp>
      <p:pic>
        <p:nvPicPr>
          <p:cNvPr id="71683" name="Picture 8" descr="D:\Program Files\Common Files\Microsoft Shared\Clipart\cagcat50\BD00028_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557338"/>
            <a:ext cx="661987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1684" name="直接连接符 13"/>
          <p:cNvCxnSpPr>
            <a:cxnSpLocks noChangeShapeType="1"/>
          </p:cNvCxnSpPr>
          <p:nvPr/>
        </p:nvCxnSpPr>
        <p:spPr bwMode="auto">
          <a:xfrm flipV="1">
            <a:off x="3708400" y="3357563"/>
            <a:ext cx="2447925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685" name="直接连接符 15"/>
          <p:cNvCxnSpPr>
            <a:cxnSpLocks noChangeShapeType="1"/>
          </p:cNvCxnSpPr>
          <p:nvPr/>
        </p:nvCxnSpPr>
        <p:spPr bwMode="auto">
          <a:xfrm>
            <a:off x="4572000" y="2924944"/>
            <a:ext cx="0" cy="165735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539750" y="571500"/>
            <a:ext cx="7772400" cy="67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굴림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 6.2.2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群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—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群的例</a:t>
            </a:r>
            <a:endParaRPr lang="zh-CN" altLang="zh-CN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687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fld id="{D95B9DDA-4FDB-43AD-9B7D-FD692215C32F}" type="slidenum">
              <a:rPr lang="zh-CN" altLang="en-US" sz="1800" smtClean="0">
                <a:solidFill>
                  <a:srgbClr val="000000"/>
                </a:solidFill>
              </a:rPr>
              <a:pPr/>
              <a:t>16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 bwMode="auto">
          <a:xfrm>
            <a:off x="561975" y="1341438"/>
            <a:ext cx="8301038" cy="4572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3200" dirty="0">
                <a:solidFill>
                  <a:srgbClr val="0000FF"/>
                </a:solidFill>
              </a:rPr>
              <a:t>例：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是实数域上所有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阶非奇异矩阵的集合，</a:t>
            </a:r>
            <a:r>
              <a:rPr lang="zh-CN" altLang="en-US" sz="32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为矩阵的乘法，则不难验证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，*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是群。</a:t>
            </a:r>
            <a:endParaRPr lang="en-US" altLang="zh-CN" sz="32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3200" dirty="0">
                <a:solidFill>
                  <a:srgbClr val="0000FF"/>
                </a:solidFill>
              </a:rPr>
              <a:t>例：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设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是一个非空集合，规定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上的运算如下：</a:t>
            </a:r>
            <a:r>
              <a:rPr lang="en-US" altLang="zh-CN" sz="3200" dirty="0" err="1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ab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=b, 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其中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中任意元素，则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(S,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)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是否是群？</a:t>
            </a:r>
            <a:endParaRPr lang="en-US" altLang="zh-CN" sz="3200" dirty="0"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解：不是，因为没有单位元素。</a:t>
            </a:r>
            <a:endParaRPr lang="en-US" altLang="zh-CN" sz="3200" dirty="0"/>
          </a:p>
          <a:p>
            <a:pPr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endParaRPr lang="zh-CN" altLang="en-US" sz="3200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39750" y="571500"/>
            <a:ext cx="7772400" cy="67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굴림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 6.2.2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群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—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群的例</a:t>
            </a:r>
            <a:endParaRPr lang="zh-CN" altLang="zh-CN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08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fld id="{E129548A-15A8-41AA-80F4-CEB412B09411}" type="slidenum">
              <a:rPr lang="zh-CN" altLang="en-US" sz="1800" smtClean="0">
                <a:solidFill>
                  <a:srgbClr val="000000"/>
                </a:solidFill>
              </a:rPr>
              <a:pPr/>
              <a:t>17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 bwMode="auto">
          <a:xfrm>
            <a:off x="561975" y="1341438"/>
            <a:ext cx="8301038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Clr>
                <a:srgbClr val="FF0066"/>
              </a:buClr>
            </a:pPr>
            <a:endParaRPr lang="en-US" altLang="zh-CN" sz="3200" b="1" dirty="0"/>
          </a:p>
          <a:p>
            <a:pPr eaLnBrk="1" hangingPunct="1">
              <a:buClr>
                <a:srgbClr val="FF0066"/>
              </a:buClr>
              <a:buFont typeface="Wingdings" panose="05000000000000000000" pitchFamily="2" charset="2"/>
              <a:buNone/>
            </a:pPr>
            <a:endParaRPr lang="en-US" altLang="zh-CN" sz="3200" b="1" dirty="0"/>
          </a:p>
          <a:p>
            <a:pPr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3200" dirty="0">
                <a:ea typeface="宋体" panose="02010600030101010101" pitchFamily="2" charset="-122"/>
              </a:rPr>
              <a:t>G={1,-1}</a:t>
            </a:r>
            <a:r>
              <a:rPr lang="zh-CN" altLang="en-US" sz="3200" dirty="0">
                <a:ea typeface="宋体" panose="02010600030101010101" pitchFamily="2" charset="-122"/>
              </a:rPr>
              <a:t>关于普通乘法运算是否构成一个群？</a:t>
            </a:r>
          </a:p>
          <a:p>
            <a:pPr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endParaRPr lang="zh-CN" altLang="en-US" sz="32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25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rgbClr val="FF0066"/>
                </a:solidFill>
                <a:ea typeface="宋体" panose="02010600030101010101" pitchFamily="2" charset="-122"/>
              </a:rPr>
              <a:t> </a:t>
            </a:r>
            <a:r>
              <a:rPr lang="en-US" altLang="zh-CN" sz="3200" dirty="0">
                <a:ea typeface="宋体" panose="02010600030101010101" pitchFamily="2" charset="-122"/>
              </a:rPr>
              <a:t>G={1, -1, </a:t>
            </a:r>
            <a:r>
              <a:rPr lang="en-US" altLang="zh-CN" sz="3200" dirty="0" err="1">
                <a:ea typeface="宋体" panose="02010600030101010101" pitchFamily="2" charset="-122"/>
              </a:rPr>
              <a:t>i</a:t>
            </a:r>
            <a:r>
              <a:rPr lang="en-US" altLang="zh-CN" sz="3200" dirty="0">
                <a:ea typeface="宋体" panose="02010600030101010101" pitchFamily="2" charset="-122"/>
              </a:rPr>
              <a:t>, -</a:t>
            </a:r>
            <a:r>
              <a:rPr lang="en-US" altLang="zh-CN" sz="3200" dirty="0" err="1">
                <a:ea typeface="宋体" panose="02010600030101010101" pitchFamily="2" charset="-122"/>
              </a:rPr>
              <a:t>i</a:t>
            </a:r>
            <a:r>
              <a:rPr lang="en-US" altLang="zh-CN" sz="3200" dirty="0">
                <a:ea typeface="宋体" panose="02010600030101010101" pitchFamily="2" charset="-122"/>
              </a:rPr>
              <a:t>}</a:t>
            </a:r>
            <a:r>
              <a:rPr lang="zh-CN" altLang="en-US" sz="3200" dirty="0">
                <a:ea typeface="宋体" panose="02010600030101010101" pitchFamily="2" charset="-122"/>
              </a:rPr>
              <a:t>关于普通乘法运算是否构成一个群？其中 </a:t>
            </a:r>
            <a:r>
              <a:rPr lang="en-US" altLang="zh-CN" sz="3200" dirty="0" err="1">
                <a:ea typeface="宋体" panose="02010600030101010101" pitchFamily="2" charset="-122"/>
              </a:rPr>
              <a:t>i</a:t>
            </a:r>
            <a:r>
              <a:rPr lang="en-US" altLang="zh-CN" sz="3200" dirty="0">
                <a:ea typeface="宋体" panose="02010600030101010101" pitchFamily="2" charset="-122"/>
              </a:rPr>
              <a:t>=(-1)</a:t>
            </a:r>
            <a:r>
              <a:rPr lang="en-US" altLang="zh-CN" sz="3200" baseline="30000" dirty="0">
                <a:ea typeface="宋体" panose="02010600030101010101" pitchFamily="2" charset="-122"/>
              </a:rPr>
              <a:t>1/2</a:t>
            </a:r>
            <a:r>
              <a:rPr lang="en-US" altLang="zh-CN" sz="3200" dirty="0">
                <a:ea typeface="宋体" panose="02010600030101010101" pitchFamily="2" charset="-122"/>
              </a:rPr>
              <a:t>.</a:t>
            </a:r>
          </a:p>
          <a:p>
            <a:pPr eaLnBrk="1" hangingPunct="1"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zh-CN" altLang="en-US" sz="3200" dirty="0">
                <a:ea typeface="宋体" panose="02010600030101010101" pitchFamily="2" charset="-122"/>
              </a:rPr>
              <a:t>解：是   是</a:t>
            </a:r>
            <a:endParaRPr lang="en-US" altLang="zh-CN" sz="3200" dirty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pic>
        <p:nvPicPr>
          <p:cNvPr id="73731" name="Picture 4" descr="BD00028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557338"/>
            <a:ext cx="6477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39750" y="571500"/>
            <a:ext cx="7772400" cy="67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굴림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 6.2.2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群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—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群的例</a:t>
            </a:r>
            <a:endParaRPr lang="zh-CN" altLang="zh-CN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33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fld id="{45FA7FE8-A961-4096-B88C-3830A2DE3903}" type="slidenum">
              <a:rPr lang="zh-CN" altLang="en-US" sz="1800" smtClean="0">
                <a:solidFill>
                  <a:srgbClr val="000000"/>
                </a:solidFill>
              </a:rPr>
              <a:pPr/>
              <a:t>18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内容占位符 2"/>
          <p:cNvSpPr>
            <a:spLocks noGrp="1"/>
          </p:cNvSpPr>
          <p:nvPr>
            <p:ph idx="4294967295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3200" dirty="0">
                <a:solidFill>
                  <a:srgbClr val="0000FF"/>
                </a:solidFill>
                <a:ea typeface="宋体" panose="02010600030101010101" pitchFamily="2" charset="-122"/>
              </a:rPr>
              <a:t>例：</a:t>
            </a:r>
            <a:r>
              <a:rPr lang="zh-CN" altLang="en-US" sz="32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单位元是群中唯一的幂等元。</a:t>
            </a:r>
            <a:endParaRPr lang="en-US" altLang="zh-CN" sz="3200" dirty="0">
              <a:solidFill>
                <a:srgbClr val="0000FF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证明：设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(G, *)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是群，其单位元是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，显然，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是幂等元。设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中的幂等元，即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x*x= x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         则：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x=1*x=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32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*x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）*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x = x</a:t>
            </a:r>
            <a:r>
              <a:rPr lang="en-US" altLang="zh-CN" sz="32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x*x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 　　　　  ＝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32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*x=1           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（ 或由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x*x= x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，得 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* x*x= x</a:t>
            </a:r>
            <a:r>
              <a:rPr lang="en-US" altLang="zh-CN" sz="28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* x 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，即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x=1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39750" y="571500"/>
            <a:ext cx="7772400" cy="67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굴림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理解群的定义</a:t>
            </a:r>
            <a:endParaRPr lang="zh-CN" altLang="zh-CN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828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fld id="{618407C2-2814-49A9-9492-127EA7D730FC}" type="slidenum">
              <a:rPr lang="zh-CN" altLang="en-US" sz="1800" smtClean="0">
                <a:solidFill>
                  <a:srgbClr val="000000"/>
                </a:solidFill>
              </a:rPr>
              <a:pPr/>
              <a:t>19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538163" y="1196752"/>
            <a:ext cx="8301037" cy="5184576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olidFill>
                  <a:srgbClr val="0000FF"/>
                </a:solidFill>
                <a:ea typeface="宋体" panose="02010600030101010101" pitchFamily="2" charset="-122"/>
              </a:rPr>
              <a:t>零元（补充）</a:t>
            </a:r>
            <a:endParaRPr lang="en-US" altLang="zh-CN" sz="3200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algn="just" eaLnBrk="1" latinLnBrk="0" hangingPunct="1">
              <a:lnSpc>
                <a:spcPct val="110000"/>
              </a:lnSpc>
              <a:spcBef>
                <a:spcPct val="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设 </a:t>
            </a:r>
            <a:r>
              <a:rPr kumimoji="0"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* </a:t>
            </a:r>
            <a:r>
              <a:rPr kumimoji="0" lang="zh-CN" altLang="en-US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是集合</a:t>
            </a:r>
            <a:r>
              <a:rPr kumimoji="0"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S</a:t>
            </a:r>
            <a:r>
              <a:rPr kumimoji="0" lang="zh-CN" altLang="en-US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上的二元代数运算，如果</a:t>
            </a:r>
            <a:r>
              <a:rPr kumimoji="0"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S</a:t>
            </a:r>
            <a:r>
              <a:rPr kumimoji="0" lang="zh-CN" altLang="en-US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中存在元素</a:t>
            </a:r>
            <a:r>
              <a:rPr kumimoji="0"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</a:t>
            </a:r>
            <a:r>
              <a:rPr kumimoji="0"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kumimoji="0" lang="zh-CN" altLang="en-US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，使得对于</a:t>
            </a:r>
            <a:r>
              <a:rPr kumimoji="0"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S</a:t>
            </a:r>
            <a:r>
              <a:rPr kumimoji="0" lang="zh-CN" altLang="en-US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中任意元素</a:t>
            </a:r>
            <a:r>
              <a:rPr kumimoji="0"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kumimoji="0" lang="zh-CN" altLang="en-US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，都有</a:t>
            </a:r>
            <a:r>
              <a:rPr kumimoji="0"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a * </a:t>
            </a:r>
            <a:r>
              <a:rPr kumimoji="0"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</a:t>
            </a:r>
            <a:r>
              <a:rPr kumimoji="0"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 = </a:t>
            </a:r>
            <a:r>
              <a:rPr kumimoji="0"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</a:t>
            </a:r>
            <a:r>
              <a:rPr kumimoji="0"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kumimoji="0" lang="zh-CN" altLang="en-US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， </a:t>
            </a:r>
            <a:r>
              <a:rPr kumimoji="0"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</a:t>
            </a:r>
            <a:r>
              <a:rPr kumimoji="0"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 * a = </a:t>
            </a:r>
            <a:r>
              <a:rPr kumimoji="0"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</a:t>
            </a:r>
            <a:r>
              <a:rPr kumimoji="0"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kumimoji="0" lang="zh-CN" altLang="en-US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，则称</a:t>
            </a:r>
            <a:r>
              <a:rPr kumimoji="0"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</a:t>
            </a:r>
            <a:r>
              <a:rPr kumimoji="0" lang="zh-CN" altLang="en-US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是</a:t>
            </a:r>
            <a:r>
              <a:rPr kumimoji="0"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S</a:t>
            </a:r>
            <a:r>
              <a:rPr kumimoji="0" lang="zh-CN" altLang="en-US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上关于运算</a:t>
            </a:r>
            <a:r>
              <a:rPr kumimoji="0"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*</a:t>
            </a:r>
            <a:r>
              <a:rPr kumimoji="0" lang="zh-CN" altLang="en-US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的零元。</a:t>
            </a:r>
            <a:endParaRPr kumimoji="0" lang="en-US" altLang="zh-CN" sz="3200" kern="12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algn="just" eaLnBrk="1" latinLnBrk="0" hangingPunct="1">
              <a:lnSpc>
                <a:spcPct val="110000"/>
              </a:lnSpc>
              <a:spcBef>
                <a:spcPct val="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例：</a:t>
            </a:r>
            <a:r>
              <a:rPr lang="en-US" altLang="zh-CN" sz="3200" dirty="0">
                <a:ea typeface="宋体" panose="02010600030101010101" pitchFamily="2" charset="-122"/>
              </a:rPr>
              <a:t>S</a:t>
            </a:r>
            <a:r>
              <a:rPr lang="zh-CN" altLang="en-US" sz="3200" dirty="0">
                <a:ea typeface="宋体" panose="02010600030101010101" pitchFamily="2" charset="-122"/>
              </a:rPr>
              <a:t>非空</a:t>
            </a:r>
            <a:r>
              <a:rPr lang="zh-CN" altLang="en-US" sz="3200" dirty="0" smtClean="0">
                <a:ea typeface="宋体" panose="02010600030101010101" pitchFamily="2" charset="-122"/>
              </a:rPr>
              <a:t>，∩是</a:t>
            </a:r>
            <a:r>
              <a:rPr lang="en-US" altLang="zh-CN" sz="3200" dirty="0">
                <a:ea typeface="宋体" panose="02010600030101010101" pitchFamily="2" charset="-122"/>
              </a:rPr>
              <a:t>p(S)</a:t>
            </a:r>
            <a:r>
              <a:rPr lang="zh-CN" altLang="en-US" sz="3200" dirty="0">
                <a:ea typeface="宋体" panose="02010600030101010101" pitchFamily="2" charset="-122"/>
              </a:rPr>
              <a:t>上</a:t>
            </a:r>
            <a:r>
              <a:rPr lang="zh-CN" altLang="en-US" sz="3200" dirty="0" smtClean="0">
                <a:ea typeface="宋体" panose="02010600030101010101" pitchFamily="2" charset="-122"/>
              </a:rPr>
              <a:t>的交运算，</a:t>
            </a:r>
            <a:endParaRPr lang="en-US" altLang="zh-CN" sz="3200" dirty="0" smtClean="0">
              <a:ea typeface="宋体" panose="02010600030101010101" pitchFamily="2" charset="-122"/>
            </a:endParaRPr>
          </a:p>
          <a:p>
            <a:pPr algn="just" eaLnBrk="1" latinLnBrk="0" hangingPunct="1">
              <a:lnSpc>
                <a:spcPct val="110000"/>
              </a:lnSpc>
              <a:spcBef>
                <a:spcPct val="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sz="3200" dirty="0" smtClean="0">
                <a:ea typeface="宋体" panose="02010600030101010101" pitchFamily="2" charset="-122"/>
              </a:rPr>
              <a:t>则</a:t>
            </a:r>
            <a:r>
              <a:rPr lang="en-US" altLang="zh-CN" sz="3200" dirty="0">
                <a:solidFill>
                  <a:srgbClr val="000000"/>
                </a:solidFill>
                <a:ea typeface="宋体" panose="02010600030101010101" pitchFamily="2" charset="-122"/>
                <a:cs typeface="Times New Roman" pitchFamily="18" charset="0"/>
                <a:sym typeface="Symbol" pitchFamily="18" charset="2"/>
              </a:rPr>
              <a:t></a:t>
            </a:r>
            <a:r>
              <a:rPr lang="zh-CN" altLang="en-US" sz="3200" dirty="0">
                <a:solidFill>
                  <a:srgbClr val="000000"/>
                </a:solidFill>
                <a:ea typeface="宋体" panose="02010600030101010101" pitchFamily="2" charset="-122"/>
                <a:cs typeface="Times New Roman" pitchFamily="18" charset="0"/>
                <a:sym typeface="Symbol" pitchFamily="18" charset="2"/>
              </a:rPr>
              <a:t>是</a:t>
            </a:r>
            <a:r>
              <a:rPr lang="en-US" altLang="zh-CN" sz="3200" dirty="0">
                <a:ea typeface="宋体" panose="02010600030101010101" pitchFamily="2" charset="-122"/>
              </a:rPr>
              <a:t>p(S)</a:t>
            </a:r>
            <a:r>
              <a:rPr lang="zh-CN" altLang="en-US" sz="3200" dirty="0">
                <a:ea typeface="宋体" panose="02010600030101010101" pitchFamily="2" charset="-122"/>
              </a:rPr>
              <a:t>上关于运算∩的零元。</a:t>
            </a:r>
            <a:endParaRPr lang="en-US" altLang="zh-CN" sz="3200" dirty="0">
              <a:ea typeface="宋体" panose="02010600030101010101" pitchFamily="2" charset="-122"/>
            </a:endParaRPr>
          </a:p>
          <a:p>
            <a:pPr algn="just" eaLnBrk="1" latinLnBrk="0" hangingPunct="1">
              <a:lnSpc>
                <a:spcPct val="110000"/>
              </a:lnSpc>
              <a:spcBef>
                <a:spcPct val="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例：</a:t>
            </a:r>
            <a:r>
              <a:rPr lang="en-US" altLang="zh-CN" sz="3200" dirty="0">
                <a:ea typeface="宋体" panose="02010600030101010101" pitchFamily="2" charset="-122"/>
              </a:rPr>
              <a:t>S</a:t>
            </a:r>
            <a:r>
              <a:rPr lang="zh-CN" altLang="en-US" sz="3200" dirty="0">
                <a:ea typeface="宋体" panose="02010600030101010101" pitchFamily="2" charset="-122"/>
              </a:rPr>
              <a:t>非空</a:t>
            </a:r>
            <a:r>
              <a:rPr lang="zh-CN" altLang="en-US" sz="3200" dirty="0" smtClean="0">
                <a:ea typeface="宋体" panose="02010600030101010101" pitchFamily="2" charset="-122"/>
              </a:rPr>
              <a:t>，∪是</a:t>
            </a:r>
            <a:r>
              <a:rPr lang="en-US" altLang="zh-CN" sz="3200" dirty="0">
                <a:ea typeface="宋体" panose="02010600030101010101" pitchFamily="2" charset="-122"/>
              </a:rPr>
              <a:t>p(S)</a:t>
            </a:r>
            <a:r>
              <a:rPr lang="zh-CN" altLang="en-US" sz="3200" dirty="0">
                <a:ea typeface="宋体" panose="02010600030101010101" pitchFamily="2" charset="-122"/>
              </a:rPr>
              <a:t>上</a:t>
            </a:r>
            <a:r>
              <a:rPr lang="zh-CN" altLang="en-US" sz="3200" dirty="0" smtClean="0">
                <a:ea typeface="宋体" panose="02010600030101010101" pitchFamily="2" charset="-122"/>
              </a:rPr>
              <a:t>的并运算</a:t>
            </a:r>
            <a:r>
              <a:rPr lang="zh-CN" altLang="en-US" sz="3200" dirty="0">
                <a:ea typeface="宋体" panose="02010600030101010101" pitchFamily="2" charset="-122"/>
              </a:rPr>
              <a:t>，</a:t>
            </a:r>
            <a:endParaRPr lang="en-US" altLang="zh-CN" sz="3200" dirty="0">
              <a:ea typeface="宋体" panose="02010600030101010101" pitchFamily="2" charset="-122"/>
            </a:endParaRPr>
          </a:p>
          <a:p>
            <a:pPr marL="0" indent="0" algn="just" eaLnBrk="1" latinLnBrk="0" hangingPunct="1">
              <a:lnSpc>
                <a:spcPct val="110000"/>
              </a:lnSpc>
              <a:spcBef>
                <a:spcPct val="0"/>
              </a:spcBef>
              <a:buClr>
                <a:srgbClr val="0000FF"/>
              </a:buClr>
              <a:buSzPct val="80000"/>
              <a:buNone/>
              <a:defRPr/>
            </a:pPr>
            <a:r>
              <a:rPr lang="zh-CN" altLang="en-US" sz="3200" dirty="0">
                <a:ea typeface="宋体" panose="02010600030101010101" pitchFamily="2" charset="-122"/>
              </a:rPr>
              <a:t>   则</a:t>
            </a:r>
            <a:r>
              <a:rPr lang="en-US" altLang="zh-CN" sz="3200" dirty="0">
                <a:solidFill>
                  <a:srgbClr val="000000"/>
                </a:solidFill>
                <a:ea typeface="宋体" panose="02010600030101010101" pitchFamily="2" charset="-122"/>
                <a:cs typeface="Times New Roman" pitchFamily="18" charset="0"/>
                <a:sym typeface="Symbol" pitchFamily="18" charset="2"/>
              </a:rPr>
              <a:t>S</a:t>
            </a:r>
            <a:r>
              <a:rPr lang="zh-CN" altLang="en-US" sz="3200" dirty="0">
                <a:solidFill>
                  <a:srgbClr val="000000"/>
                </a:solidFill>
                <a:ea typeface="宋体" panose="02010600030101010101" pitchFamily="2" charset="-122"/>
                <a:cs typeface="Times New Roman" pitchFamily="18" charset="0"/>
                <a:sym typeface="Symbol" pitchFamily="18" charset="2"/>
              </a:rPr>
              <a:t>是</a:t>
            </a:r>
            <a:r>
              <a:rPr lang="en-US" altLang="zh-CN" sz="3200" dirty="0">
                <a:ea typeface="宋体" panose="02010600030101010101" pitchFamily="2" charset="-122"/>
              </a:rPr>
              <a:t>p(S)</a:t>
            </a:r>
            <a:r>
              <a:rPr lang="zh-CN" altLang="en-US" sz="3200" dirty="0">
                <a:ea typeface="宋体" panose="02010600030101010101" pitchFamily="2" charset="-122"/>
              </a:rPr>
              <a:t>上关于运算∪的零元。</a:t>
            </a:r>
            <a:r>
              <a:rPr kumimoji="0"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endParaRPr kumimoji="0" lang="zh-CN" altLang="en-US" sz="3200" kern="12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39750" y="571500"/>
            <a:ext cx="7772400" cy="67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굴림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理解群的定义</a:t>
            </a:r>
            <a:endParaRPr lang="zh-CN" altLang="zh-CN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852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fld id="{D2C210A6-65EE-4C3A-A225-7F6DC8ABB73F}" type="slidenum">
              <a:rPr lang="zh-CN" altLang="en-US" sz="1800" smtClean="0">
                <a:solidFill>
                  <a:srgbClr val="000000"/>
                </a:solidFill>
              </a:rPr>
              <a:pPr/>
              <a:t>20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538163" y="1244600"/>
            <a:ext cx="8301037" cy="4572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32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例：群中无零元。</a:t>
            </a:r>
            <a:endParaRPr lang="en-US" altLang="zh-CN" sz="3200" dirty="0">
              <a:solidFill>
                <a:srgbClr val="0000FF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证明：设（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，*）为群，其单位元为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32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当 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|G|=1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时，它的唯一元素视为单位元。</a:t>
            </a:r>
            <a:endParaRPr lang="en-US" altLang="zh-CN" sz="32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39750" y="571500"/>
            <a:ext cx="7772400" cy="67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굴림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理解群的定义</a:t>
            </a:r>
            <a:endParaRPr lang="zh-CN" altLang="zh-CN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9876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fld id="{D13E3AC1-3ECD-458C-8C3E-5704E0448B93}" type="slidenum">
              <a:rPr lang="zh-CN" altLang="en-US" sz="1800" smtClean="0">
                <a:solidFill>
                  <a:srgbClr val="000000"/>
                </a:solidFill>
              </a:rPr>
              <a:pPr/>
              <a:t>21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529121" y="1124744"/>
            <a:ext cx="8301037" cy="4572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30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例：群中无零元。</a:t>
            </a:r>
            <a:endParaRPr lang="en-US" altLang="zh-CN" sz="300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证明：</a:t>
            </a:r>
            <a:endParaRPr lang="en-US" altLang="zh-CN" sz="30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|G|&gt;1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时，用反证法，</a:t>
            </a:r>
            <a:endParaRPr lang="en-US" altLang="zh-CN" sz="30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先证</a:t>
            </a:r>
            <a:r>
              <a:rPr kumimoji="0"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3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≠1</a:t>
            </a:r>
            <a:r>
              <a:rPr lang="zh-CN" altLang="en-US" sz="3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，假设</a:t>
            </a:r>
            <a:r>
              <a:rPr kumimoji="0"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3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=1, </a:t>
            </a:r>
            <a:r>
              <a:rPr lang="zh-CN" altLang="en-US" sz="3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任取</a:t>
            </a:r>
            <a:r>
              <a:rPr lang="en-US" altLang="zh-CN" sz="3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中元素</a:t>
            </a:r>
            <a:r>
              <a:rPr lang="en-US" altLang="zh-CN" sz="3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3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sz="3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x≠</a:t>
            </a:r>
            <a:r>
              <a:rPr kumimoji="0"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 , </a:t>
            </a:r>
            <a:r>
              <a:rPr kumimoji="0" lang="zh-CN" altLang="en-US" sz="3000" kern="12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则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 x=1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kumimoji="0"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kumimoji="0"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 , </a:t>
            </a:r>
            <a:r>
              <a:rPr kumimoji="0" lang="zh-CN" altLang="en-US" sz="3000" kern="12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矛盾</a:t>
            </a:r>
            <a:r>
              <a:rPr lang="zh-CN" altLang="en-US" sz="3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30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假设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(G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，*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有零元</a:t>
            </a:r>
            <a:r>
              <a:rPr kumimoji="0"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0" lang="zh-CN" altLang="en-US" sz="3000" kern="12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，则对</a:t>
            </a:r>
            <a:r>
              <a:rPr lang="zh-CN" altLang="en-US" sz="3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</a:t>
            </a:r>
            <a:r>
              <a:rPr lang="en-US" altLang="zh-CN" sz="3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3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 </a:t>
            </a:r>
            <a:r>
              <a:rPr kumimoji="0"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zh-CN" altLang="en-US" sz="3000" kern="12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，都有</a:t>
            </a:r>
            <a:r>
              <a:rPr kumimoji="0"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x*=*x=</a:t>
            </a:r>
            <a:r>
              <a:rPr lang="zh-CN" altLang="en-US" sz="3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0"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3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≠1, </a:t>
            </a:r>
            <a:r>
              <a:rPr lang="zh-CN" altLang="en-US" sz="3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即不存在</a:t>
            </a:r>
            <a:r>
              <a:rPr lang="en-US" altLang="zh-CN" sz="3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3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 </a:t>
            </a:r>
            <a:r>
              <a:rPr kumimoji="0"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G, </a:t>
            </a:r>
            <a:r>
              <a:rPr kumimoji="0" lang="zh-CN" altLang="en-US" sz="3000" kern="12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使得</a:t>
            </a:r>
            <a:r>
              <a:rPr kumimoji="0"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x*=*x=1</a:t>
            </a:r>
            <a:r>
              <a:rPr kumimoji="0" lang="zh-CN" altLang="en-US" sz="3000" kern="12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，即</a:t>
            </a:r>
            <a:r>
              <a:rPr kumimoji="0"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3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无逆元素，与</a:t>
            </a:r>
            <a:r>
              <a:rPr lang="en-US" altLang="zh-CN" sz="3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是群矛盾</a:t>
            </a:r>
            <a:r>
              <a:rPr lang="zh-CN" alt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3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39750" y="571500"/>
            <a:ext cx="7772400" cy="67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굴림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理解群的定义</a:t>
            </a:r>
            <a:endParaRPr lang="zh-CN" altLang="zh-CN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900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fld id="{410BF010-4588-433F-9BBB-70F6DA17E13E}" type="slidenum">
              <a:rPr lang="zh-CN" altLang="en-US" sz="1800" smtClean="0">
                <a:solidFill>
                  <a:srgbClr val="000000"/>
                </a:solidFill>
              </a:rPr>
              <a:pPr/>
              <a:t>22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内容占位符 2"/>
          <p:cNvSpPr>
            <a:spLocks noGrp="1"/>
          </p:cNvSpPr>
          <p:nvPr>
            <p:ph idx="4294967295"/>
          </p:nvPr>
        </p:nvSpPr>
        <p:spPr bwMode="auto">
          <a:xfrm>
            <a:off x="539750" y="1268412"/>
            <a:ext cx="8301038" cy="475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例：群中消去律一定成立。</a:t>
            </a:r>
            <a:endParaRPr lang="en-US" altLang="zh-CN" sz="3200" dirty="0">
              <a:solidFill>
                <a:srgbClr val="0000FF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证明：设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(G, *)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是群，其单位元是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，对于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中任意三个元素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）若 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a * b = a * c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，则</a:t>
            </a: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0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 * (a * b) = a</a:t>
            </a:r>
            <a:r>
              <a:rPr lang="en-US" altLang="zh-CN" sz="30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 *( a * c)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，即</a:t>
            </a:r>
          </a:p>
          <a:p>
            <a:pPr algn="ctr"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sz="30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 * a) * b =(a</a:t>
            </a:r>
            <a:r>
              <a:rPr lang="en-US" altLang="zh-CN" sz="30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 * a) * c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，亦即</a:t>
            </a:r>
          </a:p>
          <a:p>
            <a:pPr algn="ctr"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1 * b =1 * c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，  故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b = c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）同理可证：若 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b * a = c * a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，则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b = c</a:t>
            </a:r>
          </a:p>
          <a:p>
            <a:pPr eaLnBrk="1" hangingPunct="1"/>
            <a:endParaRPr lang="zh-CN" altLang="en-US" sz="3000" dirty="0"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39750" y="571500"/>
            <a:ext cx="7772400" cy="67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굴림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理解群的定义</a:t>
            </a:r>
            <a:endParaRPr lang="zh-CN" altLang="zh-CN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24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fld id="{352F6A0C-9C91-48C8-BC5B-456F36BDFB11}" type="slidenum">
              <a:rPr lang="zh-CN" altLang="en-US" sz="1800" smtClean="0">
                <a:solidFill>
                  <a:srgbClr val="000000"/>
                </a:solidFill>
              </a:rPr>
              <a:pPr/>
              <a:t>23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内容占位符 2"/>
          <p:cNvSpPr>
            <a:spLocks noGrp="1"/>
          </p:cNvSpPr>
          <p:nvPr>
            <p:ph idx="4294967295"/>
          </p:nvPr>
        </p:nvSpPr>
        <p:spPr bwMode="auto">
          <a:xfrm>
            <a:off x="395288" y="1268413"/>
            <a:ext cx="8569325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例：设</a:t>
            </a:r>
            <a:r>
              <a:rPr lang="en-US" altLang="zh-CN" sz="32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(G,*)</a:t>
            </a:r>
            <a:r>
              <a:rPr lang="zh-CN" altLang="en-US" sz="32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是群，</a:t>
            </a:r>
            <a:r>
              <a:rPr lang="en-US" altLang="zh-CN" sz="32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 </a:t>
            </a:r>
            <a:r>
              <a:rPr lang="en-US" altLang="zh-CN" sz="3200" dirty="0" err="1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3200" dirty="0" err="1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G</a:t>
            </a:r>
            <a:r>
              <a:rPr lang="zh-CN" altLang="en-US" sz="32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。证明：</a:t>
            </a:r>
            <a:endParaRPr lang="en-US" altLang="zh-CN" sz="3200" dirty="0">
              <a:solidFill>
                <a:srgbClr val="0000FF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5000"/>
              </a:lnSpc>
              <a:buNone/>
            </a:pPr>
            <a:r>
              <a:rPr lang="en-US" altLang="zh-CN" sz="32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       </a:t>
            </a:r>
            <a:r>
              <a:rPr lang="zh-CN" altLang="en-US" sz="32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sz="3200" dirty="0" smtClean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a*b=</a:t>
            </a:r>
            <a:r>
              <a:rPr lang="en-US" altLang="zh-CN" sz="3200" dirty="0" smtClean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200" dirty="0" smtClean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32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sz="3200" dirty="0" smtClean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b*a=1</a:t>
            </a:r>
            <a:r>
              <a:rPr lang="zh-CN" altLang="en-US" sz="3200" dirty="0" smtClean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3200" dirty="0" smtClean="0">
              <a:solidFill>
                <a:srgbClr val="0000FF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5000"/>
              </a:lnSpc>
              <a:buNone/>
            </a:pPr>
            <a:r>
              <a:rPr lang="zh-CN" altLang="en-US" sz="30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证明</a:t>
            </a:r>
            <a:r>
              <a:rPr lang="zh-CN" altLang="en-US" sz="3000" dirty="0"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30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30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b*a=1*(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b*a)=a</a:t>
            </a:r>
            <a:r>
              <a:rPr lang="en-US" altLang="zh-CN" sz="30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*a*(b*a)=a</a:t>
            </a:r>
            <a:r>
              <a:rPr lang="en-US" altLang="zh-CN" sz="30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3000" dirty="0">
                <a:ea typeface="宋体" panose="02010600030101010101" pitchFamily="2" charset="-122"/>
                <a:cs typeface="Times New Roman" panose="02020603050405020304" pitchFamily="18" charset="0"/>
              </a:rPr>
              <a:t>*(a*b) *</a:t>
            </a:r>
            <a:r>
              <a:rPr lang="en-US" altLang="zh-CN" sz="30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a=a</a:t>
            </a:r>
            <a:r>
              <a:rPr lang="en-US" altLang="zh-CN" sz="3000" baseline="300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30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*1*a=1</a:t>
            </a:r>
            <a:endParaRPr lang="zh-CN" altLang="en-US" sz="3000" dirty="0"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39750" y="571500"/>
            <a:ext cx="7772400" cy="67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굴림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理解群的定义</a:t>
            </a:r>
            <a:endParaRPr lang="zh-CN" altLang="zh-CN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948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fld id="{049A88A4-90F5-4DA1-887D-A22ADF493C8E}" type="slidenum">
              <a:rPr lang="zh-CN" altLang="en-US" sz="1800" smtClean="0">
                <a:solidFill>
                  <a:srgbClr val="000000"/>
                </a:solidFill>
              </a:rPr>
              <a:pPr/>
              <a:t>24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内容占位符 2"/>
          <p:cNvSpPr>
            <a:spLocks noGrp="1"/>
          </p:cNvSpPr>
          <p:nvPr>
            <p:ph idx="4294967295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>
              <a:lnSpc>
                <a:spcPct val="90000"/>
              </a:lnSpc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例：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①  </a:t>
            </a:r>
            <a:r>
              <a:rPr lang="zh-CN" altLang="en-US" sz="3200" b="1" dirty="0" smtClean="0">
                <a:ea typeface="宋体" panose="02010600030101010101" pitchFamily="2" charset="-122"/>
              </a:rPr>
              <a:t>元</a:t>
            </a:r>
            <a:r>
              <a:rPr lang="zh-CN" altLang="en-US" sz="3200" b="1" dirty="0">
                <a:ea typeface="宋体" panose="02010600030101010101" pitchFamily="2" charset="-122"/>
              </a:rPr>
              <a:t>数为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200" b="1" dirty="0">
                <a:ea typeface="宋体" panose="02010600030101010101" pitchFamily="2" charset="-122"/>
              </a:rPr>
              <a:t>的</a:t>
            </a: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群</a:t>
            </a:r>
            <a:r>
              <a:rPr lang="zh-CN" altLang="en-US" sz="3200" b="1" dirty="0">
                <a:ea typeface="宋体" panose="02010600030101010101" pitchFamily="2" charset="-122"/>
              </a:rPr>
              <a:t>仅有</a:t>
            </a:r>
            <a:r>
              <a:rPr lang="en-US" altLang="zh-CN" sz="3200" b="1" dirty="0">
                <a:ea typeface="宋体" panose="02010600030101010101" pitchFamily="2" charset="-122"/>
              </a:rPr>
              <a:t>1</a:t>
            </a:r>
            <a:r>
              <a:rPr lang="zh-CN" altLang="en-US" sz="3200" b="1" dirty="0">
                <a:ea typeface="宋体" panose="02010600030101010101" pitchFamily="2" charset="-122"/>
              </a:rPr>
              <a:t>个</a:t>
            </a:r>
            <a:endParaRPr lang="en-US" altLang="zh-CN" sz="3200" b="1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dirty="0">
              <a:ea typeface="楷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b="1" dirty="0">
              <a:ea typeface="楷体" panose="02010609060101010101" pitchFamily="49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endParaRPr lang="zh-CN" altLang="en-US" b="1" dirty="0">
              <a:ea typeface="楷体" panose="02010609060101010101" pitchFamily="49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3200" b="1" dirty="0">
                <a:ea typeface="宋体" panose="02010600030101010101" pitchFamily="2" charset="-122"/>
              </a:rPr>
              <a:t>    </a:t>
            </a:r>
            <a:r>
              <a:rPr lang="zh-CN" altLang="en-US" sz="3200" b="1" dirty="0" smtClean="0">
                <a:ea typeface="宋体" panose="02010600030101010101" pitchFamily="2" charset="-122"/>
              </a:rPr>
              <a:t>     ②</a:t>
            </a:r>
            <a:r>
              <a:rPr lang="zh-CN" altLang="en-US" sz="3200" b="1" dirty="0">
                <a:ea typeface="宋体" panose="02010600030101010101" pitchFamily="2" charset="-122"/>
              </a:rPr>
              <a:t>   元数为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3200" b="1" dirty="0">
                <a:ea typeface="宋体" panose="02010600030101010101" pitchFamily="2" charset="-122"/>
              </a:rPr>
              <a:t>的</a:t>
            </a: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群</a:t>
            </a:r>
            <a:r>
              <a:rPr lang="zh-CN" altLang="en-US" sz="3200" b="1" dirty="0">
                <a:ea typeface="宋体" panose="02010600030101010101" pitchFamily="2" charset="-122"/>
              </a:rPr>
              <a:t>仅有</a:t>
            </a:r>
            <a:r>
              <a:rPr lang="en-US" altLang="zh-CN" sz="3200" b="1" dirty="0">
                <a:ea typeface="宋体" panose="02010600030101010101" pitchFamily="2" charset="-122"/>
              </a:rPr>
              <a:t>1</a:t>
            </a:r>
            <a:r>
              <a:rPr lang="zh-CN" altLang="en-US" sz="3200" b="1" dirty="0">
                <a:ea typeface="宋体" panose="02010600030101010101" pitchFamily="2" charset="-122"/>
              </a:rPr>
              <a:t>个</a:t>
            </a:r>
            <a:endParaRPr lang="en-US" altLang="zh-CN" sz="3200" b="1" dirty="0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b="1" dirty="0">
                <a:ea typeface="楷体" panose="02010609060101010101" pitchFamily="49" charset="-122"/>
              </a:rPr>
              <a:t>                     </a:t>
            </a:r>
            <a:r>
              <a:rPr lang="zh-CN" altLang="en-US" dirty="0">
                <a:ea typeface="楷体" panose="02010609060101010101" pitchFamily="49" charset="-122"/>
              </a:rPr>
              <a:t>	</a:t>
            </a:r>
          </a:p>
          <a:p>
            <a:pPr algn="just"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endParaRPr lang="zh-CN" altLang="en-US" b="1" dirty="0">
              <a:ea typeface="华文新魏" panose="02010800040101010101" pitchFamily="2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endParaRPr lang="zh-CN" altLang="en-US" b="1" dirty="0">
              <a:ea typeface="华文新魏" panose="02010800040101010101" pitchFamily="2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b="1" dirty="0">
                <a:ea typeface="华文新魏" panose="02010800040101010101" pitchFamily="2" charset="-122"/>
              </a:rPr>
              <a:t> 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354527"/>
              </p:ext>
            </p:extLst>
          </p:nvPr>
        </p:nvGraphicFramePr>
        <p:xfrm>
          <a:off x="3230563" y="2205038"/>
          <a:ext cx="1557337" cy="1096972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1438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48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*</a:t>
                      </a:r>
                    </a:p>
                  </a:txBody>
                  <a:tcPr marT="45643" marB="45643"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AF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3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3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643" marB="45643"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4848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3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3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643" marB="45643"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4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3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3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643" marB="45643"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337120"/>
              </p:ext>
            </p:extLst>
          </p:nvPr>
        </p:nvGraphicFramePr>
        <p:xfrm>
          <a:off x="2771775" y="4292600"/>
          <a:ext cx="2736850" cy="1646238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86426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29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3629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48746">
                <a:tc>
                  <a:txBody>
                    <a:bodyPr/>
                    <a:lstStyle/>
                    <a:p>
                      <a:r>
                        <a:rPr lang="en-US" altLang="zh-CN" sz="3000" b="1" dirty="0"/>
                        <a:t>*</a:t>
                      </a:r>
                      <a:endParaRPr lang="zh-CN" altLang="en-US" sz="3000" b="1" dirty="0"/>
                    </a:p>
                  </a:txBody>
                  <a:tcPr marL="91458" marR="91458" marT="45729" marB="45729"/>
                </a:tc>
                <a:tc>
                  <a:txBody>
                    <a:bodyPr/>
                    <a:lstStyle/>
                    <a:p>
                      <a:r>
                        <a:rPr lang="en-US" altLang="zh-CN" sz="3000" b="0" dirty="0"/>
                        <a:t>1</a:t>
                      </a:r>
                      <a:endParaRPr lang="zh-CN" altLang="en-US" sz="3000" b="0" dirty="0"/>
                    </a:p>
                  </a:txBody>
                  <a:tcPr marL="91458" marR="91458" marT="45729" marB="45729"/>
                </a:tc>
                <a:tc>
                  <a:txBody>
                    <a:bodyPr/>
                    <a:lstStyle/>
                    <a:p>
                      <a:r>
                        <a:rPr lang="en-US" altLang="zh-CN" sz="3000" b="0" dirty="0"/>
                        <a:t>a</a:t>
                      </a:r>
                      <a:endParaRPr lang="zh-CN" altLang="en-US" sz="3000" b="0" dirty="0"/>
                    </a:p>
                  </a:txBody>
                  <a:tcPr marL="91458" marR="91458" marT="45729" marB="45729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48746">
                <a:tc>
                  <a:txBody>
                    <a:bodyPr/>
                    <a:lstStyle/>
                    <a:p>
                      <a:r>
                        <a:rPr lang="en-US" altLang="zh-CN" sz="3000" b="0" dirty="0"/>
                        <a:t>1</a:t>
                      </a:r>
                      <a:endParaRPr lang="zh-CN" altLang="en-US" sz="3000" b="0" dirty="0"/>
                    </a:p>
                  </a:txBody>
                  <a:tcPr marL="91458" marR="91458" marT="45729" marB="45729"/>
                </a:tc>
                <a:tc>
                  <a:txBody>
                    <a:bodyPr/>
                    <a:lstStyle/>
                    <a:p>
                      <a:r>
                        <a:rPr lang="en-US" altLang="zh-CN" sz="3000" b="0" dirty="0"/>
                        <a:t>1</a:t>
                      </a:r>
                      <a:endParaRPr lang="zh-CN" altLang="en-US" sz="3000" b="0" dirty="0"/>
                    </a:p>
                  </a:txBody>
                  <a:tcPr marL="91458" marR="91458" marT="45729" marB="45729"/>
                </a:tc>
                <a:tc>
                  <a:txBody>
                    <a:bodyPr/>
                    <a:lstStyle/>
                    <a:p>
                      <a:r>
                        <a:rPr lang="en-US" altLang="zh-CN" sz="3000" b="0" dirty="0"/>
                        <a:t>a</a:t>
                      </a:r>
                      <a:endParaRPr lang="zh-CN" altLang="en-US" sz="3000" b="0" dirty="0"/>
                    </a:p>
                  </a:txBody>
                  <a:tcPr marL="91458" marR="91458" marT="45729" marB="45729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8746">
                <a:tc>
                  <a:txBody>
                    <a:bodyPr/>
                    <a:lstStyle/>
                    <a:p>
                      <a:r>
                        <a:rPr lang="en-US" altLang="zh-CN" sz="3000" b="0" dirty="0"/>
                        <a:t>a</a:t>
                      </a:r>
                      <a:endParaRPr lang="zh-CN" altLang="en-US" sz="3000" b="0" dirty="0"/>
                    </a:p>
                  </a:txBody>
                  <a:tcPr marL="91458" marR="91458" marT="45729" marB="45729"/>
                </a:tc>
                <a:tc>
                  <a:txBody>
                    <a:bodyPr/>
                    <a:lstStyle/>
                    <a:p>
                      <a:r>
                        <a:rPr lang="en-US" altLang="zh-CN" sz="3000" b="0" dirty="0"/>
                        <a:t>a</a:t>
                      </a:r>
                      <a:endParaRPr lang="zh-CN" altLang="en-US" sz="3000" b="0" dirty="0"/>
                    </a:p>
                  </a:txBody>
                  <a:tcPr marL="91458" marR="91458" marT="45729" marB="45729"/>
                </a:tc>
                <a:tc>
                  <a:txBody>
                    <a:bodyPr/>
                    <a:lstStyle/>
                    <a:p>
                      <a:r>
                        <a:rPr lang="en-US" altLang="zh-CN" sz="3000" b="0" dirty="0"/>
                        <a:t>1</a:t>
                      </a:r>
                      <a:endParaRPr lang="zh-CN" altLang="en-US" sz="3000" b="0" dirty="0"/>
                    </a:p>
                  </a:txBody>
                  <a:tcPr marL="91458" marR="91458" marT="45729" marB="45729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39750" y="571500"/>
            <a:ext cx="7772400" cy="67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굴림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理解群的定义</a:t>
            </a:r>
            <a:endParaRPr lang="zh-CN" altLang="zh-CN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001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fld id="{76E55F7C-A673-49B0-9278-24FC1A917FBA}" type="slidenum">
              <a:rPr lang="zh-CN" altLang="en-US" sz="1800" smtClean="0">
                <a:solidFill>
                  <a:srgbClr val="000000"/>
                </a:solidFill>
              </a:rPr>
              <a:pPr/>
              <a:t>25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39750" y="549275"/>
            <a:ext cx="7772400" cy="64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6.2.3 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群 的 性 质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---(1)</a:t>
            </a:r>
            <a:endParaRPr lang="zh-CN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39750" y="1268413"/>
            <a:ext cx="8223250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定理</a:t>
            </a:r>
            <a:r>
              <a:rPr lang="en-US" altLang="zh-CN" sz="3200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6.2.1  </a:t>
            </a:r>
            <a: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  <a:t>设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(G, · )</a:t>
            </a:r>
            <a: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  <a:t>是一个群，则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  <a:t>中恰有一个元素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  <a:t>适合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1·a=a·1=a, </a:t>
            </a:r>
            <a: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  <a:t>而且对于任意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  <a:t>恰有一个元素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200" baseline="30000" dirty="0">
                <a:ea typeface="宋体" panose="02010600030101010101" pitchFamily="2" charset="-122"/>
                <a:sym typeface="Symbol" panose="05050102010706020507" pitchFamily="18" charset="2"/>
              </a:rPr>
              <a:t>-1</a:t>
            </a:r>
            <a:r>
              <a:rPr lang="zh-CN" altLang="en-US" sz="3200" dirty="0">
                <a:latin typeface="+mn-ea"/>
                <a:sym typeface="Symbol" panose="05050102010706020507" pitchFamily="18" charset="2"/>
              </a:rPr>
              <a:t>适合</a:t>
            </a:r>
            <a:r>
              <a:rPr lang="en-US" altLang="zh-CN" sz="3200" dirty="0">
                <a:latin typeface="+mn-ea"/>
                <a:sym typeface="Symbol" panose="05050102010706020507" pitchFamily="18" charset="2"/>
              </a:rPr>
              <a:t>a·a</a:t>
            </a:r>
            <a:r>
              <a:rPr lang="en-US" altLang="zh-CN" sz="3200" baseline="30000" dirty="0">
                <a:latin typeface="+mn-ea"/>
                <a:sym typeface="Symbol" panose="05050102010706020507" pitchFamily="18" charset="2"/>
              </a:rPr>
              <a:t>-1</a:t>
            </a:r>
            <a:r>
              <a:rPr lang="en-US" altLang="zh-CN" sz="3200" dirty="0">
                <a:latin typeface="+mn-ea"/>
                <a:sym typeface="Symbol" panose="05050102010706020507" pitchFamily="18" charset="2"/>
              </a:rPr>
              <a:t>=a</a:t>
            </a:r>
            <a:r>
              <a:rPr lang="en-US" altLang="zh-CN" sz="3200" baseline="30000" dirty="0">
                <a:latin typeface="+mn-ea"/>
                <a:sym typeface="Symbol" panose="05050102010706020507" pitchFamily="18" charset="2"/>
              </a:rPr>
              <a:t>-</a:t>
            </a:r>
            <a:r>
              <a:rPr lang="en-US" altLang="zh-CN" sz="3200" b="1" baseline="30000" dirty="0">
                <a:ea typeface="楷体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CN" sz="3200" b="1" dirty="0">
                <a:ea typeface="楷体" panose="02010609060101010101" pitchFamily="49" charset="-122"/>
                <a:sym typeface="Symbol" panose="05050102010706020507" pitchFamily="18" charset="2"/>
              </a:rPr>
              <a:t>·</a:t>
            </a:r>
            <a:r>
              <a:rPr lang="en-US" altLang="zh-CN" sz="3200" dirty="0">
                <a:ea typeface="楷体" panose="02010609060101010101" pitchFamily="49" charset="-122"/>
                <a:sym typeface="Symbol" panose="05050102010706020507" pitchFamily="18" charset="2"/>
              </a:rPr>
              <a:t>a=1</a:t>
            </a:r>
            <a:r>
              <a:rPr lang="zh-CN" altLang="en-US" sz="3200" b="1" dirty="0">
                <a:ea typeface="楷体" panose="02010609060101010101" pitchFamily="49" charset="-122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325636" name="Rectangle 3"/>
          <p:cNvSpPr>
            <a:spLocks noChangeArrowheads="1"/>
          </p:cNvSpPr>
          <p:nvPr/>
        </p:nvSpPr>
        <p:spPr bwMode="auto">
          <a:xfrm>
            <a:off x="539750" y="2997200"/>
            <a:ext cx="8223250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eaLnBrk="1" latinLnBrk="1" hangingPunct="1">
              <a:lnSpc>
                <a:spcPct val="1300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证明：若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和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1’</a:t>
            </a:r>
            <a:r>
              <a:rPr lang="zh-CN" altLang="en-US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都是单位元素，则</a:t>
            </a:r>
          </a:p>
          <a:p>
            <a:pPr eaLnBrk="1" latinLnBrk="1" hangingPunct="1">
              <a:lnSpc>
                <a:spcPct val="1300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       </a:t>
            </a:r>
            <a:r>
              <a:rPr lang="en-US" altLang="zh-CN" sz="3200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’=1·1’=1</a:t>
            </a:r>
            <a:r>
              <a:rPr lang="zh-CN" altLang="en-US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，故</a:t>
            </a:r>
            <a:r>
              <a:rPr lang="en-US" altLang="zh-CN" sz="320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1’=1</a:t>
            </a:r>
            <a:r>
              <a:rPr lang="zh-CN" altLang="en-US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eaLnBrk="1" latinLnBrk="1" hangingPunct="1">
              <a:lnSpc>
                <a:spcPct val="1300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若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zh-CN" altLang="en-US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和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zh-CN" altLang="en-US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都是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zh-CN" altLang="en-US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的逆元素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则</a:t>
            </a:r>
          </a:p>
          <a:p>
            <a:pPr eaLnBrk="1" latinLnBrk="1" hangingPunct="1">
              <a:lnSpc>
                <a:spcPct val="1300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en-US" altLang="zh-CN" sz="3200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b=b·</a:t>
            </a:r>
            <a:r>
              <a:rPr lang="en-US" altLang="zh-CN" sz="3200" dirty="0" smtClean="0">
                <a:solidFill>
                  <a:srgbClr val="0000FF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3200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=b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·(</a:t>
            </a:r>
            <a:r>
              <a:rPr lang="en-US" altLang="zh-CN" sz="3200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a·c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)=(</a:t>
            </a:r>
            <a:r>
              <a:rPr lang="en-US" altLang="zh-CN" sz="3200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b·a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)·c = </a:t>
            </a:r>
            <a:r>
              <a:rPr lang="en-US" altLang="zh-CN" sz="320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·c = c</a:t>
            </a:r>
            <a:b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zh-CN" altLang="en-US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故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b = c.    </a:t>
            </a:r>
            <a:r>
              <a:rPr lang="en-US" altLang="zh-CN" sz="32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 </a:t>
            </a:r>
            <a:endParaRPr lang="zh-CN" altLang="en-US" sz="3200" dirty="0">
              <a:solidFill>
                <a:srgbClr val="000000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325637" name="Rectangle 5"/>
          <p:cNvSpPr>
            <a:spLocks noChangeArrowheads="1"/>
          </p:cNvSpPr>
          <p:nvPr/>
        </p:nvSpPr>
        <p:spPr bwMode="auto">
          <a:xfrm>
            <a:off x="1691680" y="1276350"/>
            <a:ext cx="6408738" cy="1643062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eaLnBrk="1" latinLnBrk="1" hangingPunct="1">
              <a:lnSpc>
                <a:spcPct val="140000"/>
              </a:lnSpc>
            </a:pPr>
            <a:r>
              <a:rPr lang="zh-CN" altLang="en-US" sz="3600" b="1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  <a:cs typeface="굴림"/>
                <a:sym typeface="Symbol" panose="05050102010706020507" pitchFamily="18" charset="2"/>
              </a:rPr>
              <a:t>群的单位元素是唯一的。</a:t>
            </a:r>
          </a:p>
          <a:p>
            <a:pPr eaLnBrk="1" latinLnBrk="1" hangingPunct="1">
              <a:lnSpc>
                <a:spcPct val="140000"/>
              </a:lnSpc>
            </a:pPr>
            <a:r>
              <a:rPr lang="zh-CN" altLang="en-US" sz="3600" b="1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  <a:cs typeface="굴림"/>
                <a:sym typeface="Symbol" panose="05050102010706020507" pitchFamily="18" charset="2"/>
              </a:rPr>
              <a:t>群中任意元素的逆也是唯一的。</a:t>
            </a:r>
          </a:p>
        </p:txBody>
      </p:sp>
      <p:sp>
        <p:nvSpPr>
          <p:cNvPr id="84998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fld id="{7CB5D11B-3C8B-4E19-AE57-22C6AE299CB6}" type="slidenum">
              <a:rPr lang="zh-CN" altLang="en-US" sz="1800" smtClean="0">
                <a:solidFill>
                  <a:srgbClr val="000000"/>
                </a:solidFill>
              </a:rPr>
              <a:pPr/>
              <a:t>26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5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56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56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56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 decel="100000"/>
                                        <p:tgtEl>
                                          <p:spTgt spid="3256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3256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325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325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25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25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636" grpId="0" build="p"/>
      <p:bldP spid="32563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内容占位符 2"/>
          <p:cNvSpPr>
            <a:spLocks noGrp="1"/>
          </p:cNvSpPr>
          <p:nvPr>
            <p:ph idx="4294967295"/>
          </p:nvPr>
        </p:nvSpPr>
        <p:spPr>
          <a:xfrm>
            <a:off x="539750" y="1268413"/>
            <a:ext cx="8301038" cy="5184775"/>
          </a:xfrm>
          <a:prstGeom prst="rect">
            <a:avLst/>
          </a:prstGeom>
        </p:spPr>
        <p:txBody>
          <a:bodyPr/>
          <a:lstStyle/>
          <a:p>
            <a:pPr marL="180000">
              <a:lnSpc>
                <a:spcPct val="114000"/>
              </a:lnSpc>
              <a:spcBef>
                <a:spcPts val="1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/>
            </a:pPr>
            <a:r>
              <a:rPr lang="en-US" altLang="zh-CN" sz="3000" b="1" dirty="0">
                <a:solidFill>
                  <a:srgbClr val="0000FF"/>
                </a:solidFill>
                <a:cs typeface="+mn-cs"/>
              </a:rPr>
              <a:t> </a:t>
            </a:r>
            <a:r>
              <a:rPr lang="en-US" altLang="zh-CN" sz="3000" dirty="0">
                <a:solidFill>
                  <a:srgbClr val="0000FF"/>
                </a:solidFill>
                <a:ea typeface="宋体" panose="02010600030101010101" pitchFamily="2" charset="-122"/>
                <a:cs typeface="+mn-cs"/>
              </a:rPr>
              <a:t>(a</a:t>
            </a:r>
            <a:r>
              <a:rPr lang="en-US" altLang="zh-CN" sz="3000" baseline="30000" dirty="0">
                <a:solidFill>
                  <a:srgbClr val="0000FF"/>
                </a:solidFill>
                <a:ea typeface="宋体" panose="02010600030101010101" pitchFamily="2" charset="-122"/>
                <a:cs typeface="+mn-cs"/>
              </a:rPr>
              <a:t>-1</a:t>
            </a:r>
            <a:r>
              <a:rPr lang="en-US" altLang="zh-CN" sz="3000" dirty="0">
                <a:solidFill>
                  <a:srgbClr val="0000FF"/>
                </a:solidFill>
                <a:ea typeface="宋体" panose="02010600030101010101" pitchFamily="2" charset="-122"/>
                <a:cs typeface="+mn-cs"/>
              </a:rPr>
              <a:t>)</a:t>
            </a:r>
            <a:r>
              <a:rPr lang="en-US" altLang="zh-CN" sz="3000" baseline="30000" dirty="0">
                <a:solidFill>
                  <a:srgbClr val="0000FF"/>
                </a:solidFill>
                <a:ea typeface="宋体" panose="02010600030101010101" pitchFamily="2" charset="-122"/>
                <a:cs typeface="+mn-cs"/>
              </a:rPr>
              <a:t>-1</a:t>
            </a:r>
            <a:r>
              <a:rPr lang="en-US" altLang="zh-CN" sz="3000" dirty="0">
                <a:solidFill>
                  <a:srgbClr val="0000FF"/>
                </a:solidFill>
                <a:ea typeface="宋体" panose="02010600030101010101" pitchFamily="2" charset="-122"/>
                <a:cs typeface="+mn-cs"/>
              </a:rPr>
              <a:t>=a</a:t>
            </a:r>
          </a:p>
          <a:p>
            <a:pPr marL="180000">
              <a:lnSpc>
                <a:spcPct val="114000"/>
              </a:lnSpc>
              <a:spcBef>
                <a:spcPts val="10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ea typeface="宋体" panose="02010600030101010101" pitchFamily="2" charset="-122"/>
                <a:cs typeface="+mn-cs"/>
              </a:rPr>
              <a:t>     </a:t>
            </a:r>
            <a:r>
              <a:rPr lang="zh-CN" altLang="en-US" sz="3000" dirty="0">
                <a:ea typeface="宋体" panose="02010600030101010101" pitchFamily="2" charset="-122"/>
                <a:cs typeface="+mn-cs"/>
              </a:rPr>
              <a:t>因为 </a:t>
            </a:r>
            <a:r>
              <a:rPr lang="en-US" altLang="zh-CN" sz="3000" dirty="0">
                <a:ea typeface="宋体" panose="02010600030101010101" pitchFamily="2" charset="-122"/>
                <a:cs typeface="+mn-cs"/>
              </a:rPr>
              <a:t>a · a</a:t>
            </a:r>
            <a:r>
              <a:rPr lang="en-US" altLang="zh-CN" sz="3000" baseline="30000" dirty="0">
                <a:ea typeface="宋体" panose="02010600030101010101" pitchFamily="2" charset="-122"/>
                <a:cs typeface="+mn-cs"/>
              </a:rPr>
              <a:t>-1 </a:t>
            </a:r>
            <a:r>
              <a:rPr lang="en-US" altLang="zh-CN" sz="3000" dirty="0">
                <a:ea typeface="宋体" panose="02010600030101010101" pitchFamily="2" charset="-122"/>
                <a:cs typeface="+mn-cs"/>
              </a:rPr>
              <a:t>= a</a:t>
            </a:r>
            <a:r>
              <a:rPr lang="en-US" altLang="zh-CN" sz="3000" baseline="30000" dirty="0">
                <a:ea typeface="宋体" panose="02010600030101010101" pitchFamily="2" charset="-122"/>
                <a:cs typeface="+mn-cs"/>
              </a:rPr>
              <a:t>-1 </a:t>
            </a:r>
            <a:r>
              <a:rPr lang="en-US" altLang="zh-CN" sz="3000" dirty="0">
                <a:ea typeface="宋体" panose="02010600030101010101" pitchFamily="2" charset="-122"/>
                <a:cs typeface="+mn-cs"/>
              </a:rPr>
              <a:t>· a=1</a:t>
            </a:r>
          </a:p>
          <a:p>
            <a:pPr marL="180000">
              <a:lnSpc>
                <a:spcPct val="114000"/>
              </a:lnSpc>
              <a:spcBef>
                <a:spcPts val="1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/>
            </a:pPr>
            <a:r>
              <a:rPr lang="en-US" altLang="zh-CN" sz="3000" dirty="0">
                <a:ea typeface="宋体" panose="02010600030101010101" pitchFamily="2" charset="-122"/>
                <a:cs typeface="+mn-cs"/>
              </a:rPr>
              <a:t>  </a:t>
            </a:r>
            <a:r>
              <a:rPr lang="en-US" altLang="zh-CN" sz="3000" dirty="0">
                <a:solidFill>
                  <a:srgbClr val="0000FF"/>
                </a:solidFill>
                <a:ea typeface="宋体" panose="02010600030101010101" pitchFamily="2" charset="-122"/>
                <a:cs typeface="+mn-cs"/>
              </a:rPr>
              <a:t>(a ·b) </a:t>
            </a:r>
            <a:r>
              <a:rPr lang="en-US" altLang="zh-CN" sz="3000" baseline="30000" dirty="0">
                <a:solidFill>
                  <a:srgbClr val="0000FF"/>
                </a:solidFill>
                <a:ea typeface="宋体" panose="02010600030101010101" pitchFamily="2" charset="-122"/>
                <a:cs typeface="+mn-cs"/>
              </a:rPr>
              <a:t>-1</a:t>
            </a:r>
            <a:r>
              <a:rPr lang="en-US" altLang="zh-CN" sz="3000" dirty="0">
                <a:solidFill>
                  <a:srgbClr val="0000FF"/>
                </a:solidFill>
                <a:ea typeface="宋体" panose="02010600030101010101" pitchFamily="2" charset="-122"/>
                <a:cs typeface="+mn-cs"/>
              </a:rPr>
              <a:t>= b</a:t>
            </a:r>
            <a:r>
              <a:rPr lang="en-US" altLang="zh-CN" sz="3000" baseline="30000" dirty="0">
                <a:solidFill>
                  <a:srgbClr val="0000FF"/>
                </a:solidFill>
                <a:ea typeface="宋体" panose="02010600030101010101" pitchFamily="2" charset="-122"/>
                <a:cs typeface="+mn-cs"/>
              </a:rPr>
              <a:t>-1 </a:t>
            </a:r>
            <a:r>
              <a:rPr lang="en-US" altLang="zh-CN" sz="3000" dirty="0">
                <a:solidFill>
                  <a:srgbClr val="0000FF"/>
                </a:solidFill>
                <a:ea typeface="宋体" panose="02010600030101010101" pitchFamily="2" charset="-122"/>
                <a:cs typeface="+mn-cs"/>
              </a:rPr>
              <a:t>·</a:t>
            </a:r>
            <a:r>
              <a:rPr lang="en-US" altLang="zh-CN" sz="3000" baseline="30000" dirty="0">
                <a:solidFill>
                  <a:srgbClr val="0000FF"/>
                </a:solidFill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sz="3000" dirty="0">
                <a:solidFill>
                  <a:srgbClr val="0000FF"/>
                </a:solidFill>
                <a:ea typeface="宋体" panose="02010600030101010101" pitchFamily="2" charset="-122"/>
                <a:cs typeface="+mn-cs"/>
              </a:rPr>
              <a:t>a</a:t>
            </a:r>
            <a:r>
              <a:rPr lang="en-US" altLang="zh-CN" sz="3000" baseline="30000" dirty="0">
                <a:solidFill>
                  <a:srgbClr val="0000FF"/>
                </a:solidFill>
                <a:ea typeface="宋体" panose="02010600030101010101" pitchFamily="2" charset="-122"/>
                <a:cs typeface="+mn-cs"/>
              </a:rPr>
              <a:t>-1 </a:t>
            </a:r>
            <a:r>
              <a:rPr lang="en-US" altLang="zh-CN" sz="3000" dirty="0">
                <a:ea typeface="宋体" panose="02010600030101010101" pitchFamily="2" charset="-122"/>
                <a:cs typeface="+mn-cs"/>
              </a:rPr>
              <a:t>    </a:t>
            </a:r>
          </a:p>
          <a:p>
            <a:pPr>
              <a:lnSpc>
                <a:spcPct val="114000"/>
              </a:lnSpc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ea typeface="宋体" panose="02010600030101010101" pitchFamily="2" charset="-122"/>
                <a:cs typeface="+mn-cs"/>
              </a:rPr>
              <a:t>  </a:t>
            </a:r>
            <a:r>
              <a:rPr lang="zh-CN" altLang="en-US" sz="3000" dirty="0">
                <a:ea typeface="宋体" panose="02010600030101010101" pitchFamily="2" charset="-122"/>
                <a:cs typeface="+mn-cs"/>
              </a:rPr>
              <a:t>因为</a:t>
            </a:r>
            <a:r>
              <a:rPr lang="en-US" altLang="zh-CN" sz="3000" dirty="0">
                <a:ea typeface="宋体" panose="02010600030101010101" pitchFamily="2" charset="-122"/>
                <a:cs typeface="+mn-cs"/>
              </a:rPr>
              <a:t>a ·b · b</a:t>
            </a:r>
            <a:r>
              <a:rPr lang="en-US" altLang="zh-CN" sz="3000" baseline="30000" dirty="0">
                <a:ea typeface="宋体" panose="02010600030101010101" pitchFamily="2" charset="-122"/>
                <a:cs typeface="+mn-cs"/>
              </a:rPr>
              <a:t>-1 </a:t>
            </a:r>
            <a:r>
              <a:rPr lang="en-US" altLang="zh-CN" sz="3000" dirty="0">
                <a:ea typeface="宋体" panose="02010600030101010101" pitchFamily="2" charset="-122"/>
                <a:cs typeface="+mn-cs"/>
              </a:rPr>
              <a:t>·</a:t>
            </a:r>
            <a:r>
              <a:rPr lang="en-US" altLang="zh-CN" sz="3000" baseline="30000" dirty="0"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sz="3000" dirty="0">
                <a:ea typeface="宋体" panose="02010600030101010101" pitchFamily="2" charset="-122"/>
                <a:cs typeface="+mn-cs"/>
              </a:rPr>
              <a:t>a</a:t>
            </a:r>
            <a:r>
              <a:rPr lang="en-US" altLang="zh-CN" sz="3000" baseline="30000" dirty="0">
                <a:ea typeface="宋体" panose="02010600030101010101" pitchFamily="2" charset="-122"/>
                <a:cs typeface="+mn-cs"/>
              </a:rPr>
              <a:t>-1 </a:t>
            </a:r>
            <a:r>
              <a:rPr lang="en-US" altLang="zh-CN" sz="3000" dirty="0">
                <a:ea typeface="宋体" panose="02010600030101010101" pitchFamily="2" charset="-122"/>
                <a:cs typeface="+mn-cs"/>
              </a:rPr>
              <a:t>=1   </a:t>
            </a:r>
          </a:p>
          <a:p>
            <a:pPr>
              <a:lnSpc>
                <a:spcPct val="114000"/>
              </a:lnSpc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ea typeface="宋体" panose="02010600030101010101" pitchFamily="2" charset="-122"/>
                <a:cs typeface="+mn-cs"/>
              </a:rPr>
              <a:t>          b</a:t>
            </a:r>
            <a:r>
              <a:rPr lang="en-US" altLang="zh-CN" sz="3000" baseline="30000" dirty="0">
                <a:ea typeface="宋体" panose="02010600030101010101" pitchFamily="2" charset="-122"/>
                <a:cs typeface="+mn-cs"/>
              </a:rPr>
              <a:t>-1 </a:t>
            </a:r>
            <a:r>
              <a:rPr lang="en-US" altLang="zh-CN" sz="3000" dirty="0">
                <a:ea typeface="宋体" panose="02010600030101010101" pitchFamily="2" charset="-122"/>
                <a:cs typeface="+mn-cs"/>
              </a:rPr>
              <a:t>·</a:t>
            </a:r>
            <a:r>
              <a:rPr lang="en-US" altLang="zh-CN" sz="3000" baseline="30000" dirty="0"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sz="3000" dirty="0">
                <a:ea typeface="宋体" panose="02010600030101010101" pitchFamily="2" charset="-122"/>
                <a:cs typeface="+mn-cs"/>
              </a:rPr>
              <a:t>a</a:t>
            </a:r>
            <a:r>
              <a:rPr lang="en-US" altLang="zh-CN" sz="3000" baseline="30000" dirty="0">
                <a:ea typeface="宋体" panose="02010600030101010101" pitchFamily="2" charset="-122"/>
                <a:cs typeface="+mn-cs"/>
              </a:rPr>
              <a:t>-1 </a:t>
            </a:r>
            <a:r>
              <a:rPr lang="en-US" altLang="zh-CN" sz="3000" dirty="0">
                <a:ea typeface="宋体" panose="02010600030101010101" pitchFamily="2" charset="-122"/>
                <a:cs typeface="+mn-cs"/>
              </a:rPr>
              <a:t>· a ·b =1</a:t>
            </a:r>
          </a:p>
          <a:p>
            <a:pPr>
              <a:lnSpc>
                <a:spcPct val="114000"/>
              </a:lnSpc>
              <a:buClr>
                <a:schemeClr val="tx2"/>
              </a:buClr>
              <a:buFont typeface="Wingdings" panose="05000000000000000000" pitchFamily="2" charset="2"/>
              <a:buChar char="v"/>
              <a:defRPr/>
            </a:pPr>
            <a:r>
              <a:rPr lang="en-US" altLang="zh-CN" sz="3000" dirty="0">
                <a:ea typeface="宋体" panose="02010600030101010101" pitchFamily="2" charset="-122"/>
                <a:cs typeface="+mn-cs"/>
              </a:rPr>
              <a:t>  </a:t>
            </a:r>
            <a:r>
              <a:rPr lang="en-US" altLang="zh-CN" sz="3000" dirty="0">
                <a:solidFill>
                  <a:srgbClr val="0000FF"/>
                </a:solidFill>
                <a:ea typeface="宋体" panose="02010600030101010101" pitchFamily="2" charset="-122"/>
                <a:cs typeface="+mn-cs"/>
              </a:rPr>
              <a:t>1</a:t>
            </a:r>
            <a:r>
              <a:rPr lang="en-US" altLang="zh-CN" sz="3000" baseline="30000" dirty="0">
                <a:solidFill>
                  <a:srgbClr val="0000FF"/>
                </a:solidFill>
                <a:ea typeface="宋体" panose="02010600030101010101" pitchFamily="2" charset="-122"/>
                <a:cs typeface="+mn-cs"/>
              </a:rPr>
              <a:t>-1</a:t>
            </a:r>
            <a:r>
              <a:rPr lang="en-US" altLang="zh-CN" sz="3000" dirty="0">
                <a:solidFill>
                  <a:srgbClr val="0000FF"/>
                </a:solidFill>
                <a:ea typeface="宋体" panose="02010600030101010101" pitchFamily="2" charset="-122"/>
                <a:cs typeface="+mn-cs"/>
              </a:rPr>
              <a:t>= 1</a:t>
            </a:r>
          </a:p>
          <a:p>
            <a:pPr>
              <a:lnSpc>
                <a:spcPct val="114000"/>
              </a:lnSpc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ea typeface="宋体" panose="02010600030101010101" pitchFamily="2" charset="-122"/>
                <a:cs typeface="+mn-cs"/>
              </a:rPr>
              <a:t>      </a:t>
            </a:r>
            <a:r>
              <a:rPr lang="zh-CN" altLang="en-US" sz="3000" dirty="0">
                <a:ea typeface="宋体" panose="02010600030101010101" pitchFamily="2" charset="-122"/>
                <a:cs typeface="+mn-cs"/>
              </a:rPr>
              <a:t>因为</a:t>
            </a:r>
            <a:r>
              <a:rPr lang="en-US" altLang="zh-CN" sz="3000" dirty="0">
                <a:ea typeface="宋体" panose="02010600030101010101" pitchFamily="2" charset="-122"/>
                <a:cs typeface="+mn-cs"/>
              </a:rPr>
              <a:t>1</a:t>
            </a:r>
            <a:r>
              <a:rPr lang="en-US" altLang="zh-CN" sz="3000" baseline="30000" dirty="0"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sz="3000" dirty="0">
                <a:ea typeface="宋体" panose="02010600030101010101" pitchFamily="2" charset="-122"/>
                <a:cs typeface="+mn-cs"/>
              </a:rPr>
              <a:t>·1=1</a:t>
            </a:r>
          </a:p>
          <a:p>
            <a:pPr>
              <a:lnSpc>
                <a:spcPct val="114000"/>
              </a:lnSpc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ea typeface="宋体" panose="02010600030101010101" pitchFamily="2" charset="-122"/>
                <a:cs typeface="+mn-cs"/>
              </a:rPr>
              <a:t>问：</a:t>
            </a:r>
            <a:r>
              <a:rPr lang="zh-CN" altLang="en-US" sz="3000" dirty="0">
                <a:ea typeface="宋体" panose="02010600030101010101" pitchFamily="2" charset="-122"/>
                <a:cs typeface="+mn-cs"/>
              </a:rPr>
              <a:t>是否存在群，群中除单位元之外，会有其它元素的逆也为其自身</a:t>
            </a:r>
            <a:r>
              <a:rPr lang="zh-CN" altLang="en-US" sz="3000" dirty="0">
                <a:ea typeface="楷体" panose="02010609060101010101" pitchFamily="49" charset="-122"/>
                <a:cs typeface="+mn-cs"/>
              </a:rPr>
              <a:t>？</a:t>
            </a:r>
            <a:endParaRPr lang="en-US" altLang="zh-CN" sz="3000" dirty="0">
              <a:ea typeface="楷体" panose="02010609060101010101" pitchFamily="49" charset="-122"/>
              <a:cs typeface="+mn-cs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endParaRPr lang="zh-CN" altLang="en-US" sz="3000" dirty="0">
              <a:cs typeface="+mn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39750" y="549275"/>
            <a:ext cx="7772400" cy="64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굴림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结论</a:t>
            </a:r>
            <a:endParaRPr lang="zh-CN" altLang="zh-CN" kern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6020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fld id="{9FD6CCE1-7F90-483F-9D91-305C33190DD3}" type="slidenum">
              <a:rPr lang="zh-CN" altLang="en-US" sz="1800" smtClean="0">
                <a:solidFill>
                  <a:srgbClr val="000000"/>
                </a:solidFill>
              </a:rPr>
              <a:pPr/>
              <a:t>27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536" y="1341438"/>
            <a:ext cx="8640960" cy="4895850"/>
          </a:xfrm>
          <a:prstGeom prst="rect">
            <a:avLst/>
          </a:prstGeom>
        </p:spPr>
        <p:txBody>
          <a:bodyPr/>
          <a:lstStyle/>
          <a:p>
            <a:pPr marL="0" indent="0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定理</a:t>
            </a:r>
            <a:r>
              <a:rPr lang="en-US" altLang="zh-CN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6.2.2</a:t>
            </a:r>
            <a:r>
              <a:rPr lang="en-US" altLang="zh-CN" sz="32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: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群定义中的条件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(1)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和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(2)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可以减弱如下：</a:t>
            </a:r>
          </a:p>
          <a:p>
            <a:pPr marL="0" indent="0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(1</a:t>
            </a:r>
            <a:r>
              <a:rPr lang="en-US" altLang="zh-CN" sz="3200" dirty="0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)´G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中有一个元素</a:t>
            </a:r>
            <a:r>
              <a:rPr lang="zh-CN" altLang="en-US" sz="32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左壹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适合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1·a=a;</a:t>
            </a:r>
          </a:p>
          <a:p>
            <a:pPr marL="0" indent="0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(2</a:t>
            </a:r>
            <a:r>
              <a:rPr lang="en-US" altLang="zh-CN" sz="3200" dirty="0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)´</a:t>
            </a:r>
            <a:r>
              <a:rPr lang="zh-CN" altLang="en-US" sz="3200" dirty="0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对于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任意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a,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有一个元素</a:t>
            </a:r>
            <a:r>
              <a:rPr lang="zh-CN" altLang="en-US" sz="32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左逆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sz="3200" baseline="30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-1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适合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sz="3200" baseline="30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-1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·a=1</a:t>
            </a:r>
            <a:r>
              <a:rPr lang="zh-CN" altLang="en-US" sz="29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。</a:t>
            </a:r>
            <a:endParaRPr lang="en-US" altLang="zh-CN" sz="2900" dirty="0">
              <a:ea typeface="宋体" panose="02010600030101010101" pitchFamily="2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0" indent="0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CN" sz="2900" dirty="0">
              <a:ea typeface="宋体" panose="02010600030101010101" pitchFamily="2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0" indent="0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证明：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只需证明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a·1 = a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a·a</a:t>
            </a:r>
            <a:r>
              <a:rPr lang="en-US" altLang="zh-CN" sz="32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-1 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= 1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0" indent="0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zh-CN" altLang="en-US" sz="2900" b="1" dirty="0">
              <a:cs typeface="+mn-cs"/>
              <a:sym typeface="Symbol" pitchFamily="18" charset="2"/>
            </a:endParaRPr>
          </a:p>
          <a:p>
            <a:pPr marL="0" indent="0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900" b="1" dirty="0">
                <a:cs typeface="+mn-cs"/>
                <a:sym typeface="Symbol" pitchFamily="18" charset="2"/>
              </a:rPr>
              <a:t> </a:t>
            </a:r>
          </a:p>
          <a:p>
            <a:pPr marL="0" indent="0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900" b="1" dirty="0">
                <a:cs typeface="+mn-cs"/>
                <a:sym typeface="Symbol" pitchFamily="18" charset="2"/>
              </a:rPr>
              <a:t> 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39750" y="549275"/>
            <a:ext cx="7772400" cy="64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굴림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Arial" panose="020B0604020202020204" pitchFamily="34" charset="0"/>
                <a:ea typeface="굴림"/>
                <a:cs typeface="굴림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6.2.3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群 的 性 质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---(2)</a:t>
            </a:r>
            <a:endParaRPr lang="zh-CN" altLang="zh-CN" kern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7044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fld id="{C57D0889-8666-43AE-84C5-2B5663B9C541}" type="slidenum">
              <a:rPr lang="zh-CN" altLang="en-US" sz="1800" smtClean="0">
                <a:solidFill>
                  <a:srgbClr val="000000"/>
                </a:solidFill>
              </a:rPr>
              <a:pPr/>
              <a:t>28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3" name="Rectangle 3"/>
          <p:cNvSpPr>
            <a:spLocks noChangeArrowheads="1"/>
          </p:cNvSpPr>
          <p:nvPr/>
        </p:nvSpPr>
        <p:spPr bwMode="auto">
          <a:xfrm>
            <a:off x="395288" y="548680"/>
            <a:ext cx="8640762" cy="6093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eaLnBrk="1" latinLnBrk="1" hangingPunct="1">
              <a:lnSpc>
                <a:spcPct val="1250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zh-CN" altLang="en-US" sz="3200" dirty="0" smtClean="0">
                <a:solidFill>
                  <a:srgbClr val="0000FF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证</a:t>
            </a:r>
            <a:r>
              <a:rPr lang="zh-CN" altLang="en-US" sz="320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法一：</a:t>
            </a:r>
            <a:r>
              <a:rPr lang="zh-CN" altLang="en-US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先证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a·</a:t>
            </a:r>
            <a:r>
              <a:rPr lang="en-US" altLang="zh-CN" sz="3200" dirty="0">
                <a:solidFill>
                  <a:srgbClr val="C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3200" baseline="30000" dirty="0">
                <a:solidFill>
                  <a:srgbClr val="C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3200" dirty="0">
                <a:solidFill>
                  <a:srgbClr val="C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  <a:p>
            <a:pPr eaLnBrk="1" latinLnBrk="1" hangingPunct="1">
              <a:lnSpc>
                <a:spcPct val="1250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zh-CN" altLang="en-US" sz="3200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因为</a:t>
            </a:r>
            <a:r>
              <a:rPr lang="en-US" altLang="zh-CN" sz="3200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3200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=1·a</a:t>
            </a:r>
            <a:r>
              <a:rPr lang="en-US" altLang="zh-CN" sz="3200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3200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(a</a:t>
            </a:r>
            <a:r>
              <a:rPr lang="en-US" altLang="zh-CN" sz="3200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·a)·a</a:t>
            </a:r>
            <a:r>
              <a:rPr lang="en-US" altLang="zh-CN" sz="3200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-1 </a:t>
            </a:r>
            <a:r>
              <a:rPr lang="zh-CN" altLang="en-US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，故 </a:t>
            </a:r>
            <a:r>
              <a:rPr lang="en-US" altLang="zh-CN" sz="3200" dirty="0">
                <a:solidFill>
                  <a:schemeClr val="accent2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3200" baseline="30000" dirty="0">
                <a:solidFill>
                  <a:schemeClr val="accent2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-1 </a:t>
            </a:r>
            <a:r>
              <a:rPr lang="en-US" altLang="zh-CN" sz="3200" dirty="0">
                <a:solidFill>
                  <a:schemeClr val="accent2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 (a</a:t>
            </a:r>
            <a:r>
              <a:rPr lang="en-US" altLang="zh-CN" sz="3200" baseline="30000" dirty="0">
                <a:solidFill>
                  <a:schemeClr val="accent2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3200" dirty="0">
                <a:solidFill>
                  <a:schemeClr val="accent2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·a)·a</a:t>
            </a:r>
            <a:r>
              <a:rPr lang="en-US" altLang="zh-CN" sz="3200" baseline="30000" dirty="0">
                <a:solidFill>
                  <a:schemeClr val="accent2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zh-CN" altLang="en-US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  <a:p>
            <a:pPr eaLnBrk="1" latinLnBrk="1" hangingPunct="1">
              <a:lnSpc>
                <a:spcPct val="1250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由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(2)’</a:t>
            </a:r>
            <a:r>
              <a:rPr lang="zh-CN" altLang="en-US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 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3200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zh-CN" altLang="en-US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也应该有一个左逆适合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b·a</a:t>
            </a:r>
            <a:r>
              <a:rPr lang="en-US" altLang="zh-CN" sz="3200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=1</a:t>
            </a:r>
            <a:r>
              <a:rPr lang="zh-CN" altLang="en-US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  <a:p>
            <a:pPr eaLnBrk="1" latinLnBrk="1" hangingPunct="1">
              <a:lnSpc>
                <a:spcPct val="1250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于是：</a:t>
            </a:r>
          </a:p>
          <a:p>
            <a:pPr eaLnBrk="1" latinLnBrk="1" hangingPunct="1">
              <a:lnSpc>
                <a:spcPct val="1250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  b·a</a:t>
            </a:r>
            <a:r>
              <a:rPr lang="en-US" altLang="zh-CN" sz="3200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  b·((a</a:t>
            </a:r>
            <a:r>
              <a:rPr lang="en-US" altLang="zh-CN" sz="3200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·a)·a</a:t>
            </a:r>
            <a:r>
              <a:rPr lang="en-US" altLang="zh-CN" sz="3200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))  </a:t>
            </a:r>
          </a:p>
          <a:p>
            <a:pPr eaLnBrk="1" latinLnBrk="1" hangingPunct="1">
              <a:lnSpc>
                <a:spcPct val="1250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         </a:t>
            </a:r>
            <a:r>
              <a:rPr lang="zh-CN" altLang="en-US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=(b·a</a:t>
            </a:r>
            <a:r>
              <a:rPr lang="en-US" altLang="zh-CN" sz="3200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)·(a·a</a:t>
            </a:r>
            <a:r>
              <a:rPr lang="en-US" altLang="zh-CN" sz="3200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eaLnBrk="1" latinLnBrk="1" hangingPunct="1">
              <a:lnSpc>
                <a:spcPct val="1250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          =1·(a·a</a:t>
            </a:r>
            <a:r>
              <a:rPr lang="en-US" altLang="zh-CN" sz="3200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eaLnBrk="1" latinLnBrk="1" hangingPunct="1">
              <a:lnSpc>
                <a:spcPct val="1250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          = a·a</a:t>
            </a:r>
            <a:r>
              <a:rPr lang="en-US" altLang="zh-CN" sz="3200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endParaRPr lang="zh-CN" altLang="en-US" sz="3200" dirty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latinLnBrk="1" hangingPunct="1">
              <a:lnSpc>
                <a:spcPct val="1250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因此，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a·a</a:t>
            </a:r>
            <a:r>
              <a:rPr lang="en-US" altLang="zh-CN" sz="3200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=1</a:t>
            </a:r>
            <a:r>
              <a:rPr lang="zh-CN" altLang="en-US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88067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fld id="{F2EBCEBC-D940-49F5-866E-3D0C347BE281}" type="slidenum">
              <a:rPr lang="zh-CN" altLang="en-US" sz="1800" smtClean="0">
                <a:solidFill>
                  <a:srgbClr val="000000"/>
                </a:solidFill>
              </a:rPr>
              <a:pPr/>
              <a:t>29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50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50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50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502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502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3502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3502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3502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3502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1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/>
          <p:cNvSpPr>
            <a:spLocks noChangeArrowheads="1"/>
          </p:cNvSpPr>
          <p:nvPr/>
        </p:nvSpPr>
        <p:spPr bwMode="auto">
          <a:xfrm>
            <a:off x="755576" y="548680"/>
            <a:ext cx="7200800" cy="501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eaLnBrk="1" latinLnBrk="1" hangingPunct="1"/>
            <a:endParaRPr lang="en-US" altLang="zh-CN" sz="3200" b="1" dirty="0">
              <a:solidFill>
                <a:srgbClr val="000000"/>
              </a:solidFill>
              <a:sym typeface="Symbol" panose="05050102010706020507" pitchFamily="18" charset="2"/>
            </a:endParaRPr>
          </a:p>
          <a:p>
            <a:pPr eaLnBrk="1" latinLnBrk="1" hangingPunct="1"/>
            <a:r>
              <a:rPr lang="zh-CN" altLang="en-US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再证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a·</a:t>
            </a:r>
            <a:r>
              <a:rPr lang="en-US" altLang="zh-CN" sz="3200" dirty="0">
                <a:solidFill>
                  <a:srgbClr val="C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3200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  <a:p>
            <a:pPr eaLnBrk="1" latinLnBrk="1" hangingPunct="1"/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  a·1 = a·(a</a:t>
            </a:r>
            <a:r>
              <a:rPr lang="en-US" altLang="zh-CN" sz="3200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·a)</a:t>
            </a:r>
          </a:p>
          <a:p>
            <a:pPr eaLnBrk="1" latinLnBrk="1" hangingPunct="1"/>
            <a:r>
              <a:rPr lang="zh-CN" altLang="en-US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 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=(a·a</a:t>
            </a:r>
            <a:r>
              <a:rPr lang="en-US" altLang="zh-CN" sz="3200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)·a = 1·a = a</a:t>
            </a:r>
            <a:b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</a:br>
            <a:r>
              <a:rPr lang="zh-CN" altLang="en-US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证毕。</a:t>
            </a:r>
            <a:endParaRPr lang="en-US" altLang="zh-CN" sz="3200" dirty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latinLnBrk="1" hangingPunct="1"/>
            <a:endParaRPr lang="en-US" altLang="zh-CN" sz="3200" dirty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latinLnBrk="1" hangingPunct="1"/>
            <a:r>
              <a:rPr lang="zh-CN" altLang="en-US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注：</a:t>
            </a:r>
            <a:r>
              <a:rPr lang="zh-CN" altLang="en-US" sz="3200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把</a:t>
            </a:r>
            <a:r>
              <a:rPr lang="en-US" altLang="zh-CN" sz="3200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3200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’，</a:t>
            </a:r>
            <a:r>
              <a:rPr lang="en-US" altLang="zh-CN" sz="3200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sz="3200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’ </a:t>
            </a:r>
            <a:r>
              <a:rPr lang="zh-CN" altLang="en-US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中对于左边的要求一律改成对于右边的要求也是一样。 但是只满足</a:t>
            </a:r>
            <a:r>
              <a:rPr lang="zh-CN" altLang="en-US" sz="320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左壹、右逆</a:t>
            </a:r>
            <a:r>
              <a:rPr lang="zh-CN" altLang="en-US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未必成群，只满足</a:t>
            </a:r>
            <a:r>
              <a:rPr lang="zh-CN" altLang="en-US" sz="320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右壹、左逆</a:t>
            </a:r>
            <a:r>
              <a:rPr lang="zh-CN" altLang="en-US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也未必成群</a:t>
            </a:r>
            <a:r>
              <a:rPr lang="zh-CN" altLang="en-US" sz="3200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。</a:t>
            </a:r>
            <a:endParaRPr lang="zh-CN" altLang="en-US" sz="3200" dirty="0">
              <a:solidFill>
                <a:srgbClr val="000000"/>
              </a:solidFill>
              <a:latin typeface="+mn-lt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89091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fld id="{786F1034-37F9-4759-95DA-8BB72C7A1E96}" type="slidenum">
              <a:rPr lang="zh-CN" altLang="en-US" sz="1800" smtClean="0">
                <a:solidFill>
                  <a:srgbClr val="000000"/>
                </a:solidFill>
              </a:rPr>
              <a:pPr/>
              <a:t>30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0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0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0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0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内容占位符 2"/>
          <p:cNvSpPr>
            <a:spLocks noGrp="1"/>
          </p:cNvSpPr>
          <p:nvPr>
            <p:ph idx="4294967295"/>
          </p:nvPr>
        </p:nvSpPr>
        <p:spPr bwMode="auto">
          <a:xfrm>
            <a:off x="573087" y="620688"/>
            <a:ext cx="8301038" cy="561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证法二</a:t>
            </a:r>
            <a:r>
              <a:rPr lang="zh-CN" altLang="en-US" sz="28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 往证</a:t>
            </a: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·1=a.</a:t>
            </a:r>
          </a:p>
          <a:p>
            <a:pPr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     知有         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·1=1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     知             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aseline="30000" dirty="0">
                <a:solidFill>
                  <a:srgbClr val="C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·a=1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用其部分代替上式中的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，得到</a:t>
            </a:r>
          </a:p>
          <a:p>
            <a:pPr algn="ctr"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sz="28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·a)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·1= a</a:t>
            </a:r>
            <a:r>
              <a:rPr lang="en-US" altLang="zh-CN" sz="28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·a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 知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有左逆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令其为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，并用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左乘上式</a:t>
            </a:r>
          </a:p>
          <a:p>
            <a:pPr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两端得到   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b · (a</a:t>
            </a:r>
            <a:r>
              <a:rPr lang="en-US" altLang="zh-CN" sz="28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·a)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·1= b · (a</a:t>
            </a:r>
            <a:r>
              <a:rPr lang="en-US" altLang="zh-CN" sz="28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·a),     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</a:p>
          <a:p>
            <a:pPr algn="ctr"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(b · a</a:t>
            </a:r>
            <a:r>
              <a:rPr lang="en-US" altLang="zh-CN" sz="28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-1 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·(a ·1)=(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b · a</a:t>
            </a:r>
            <a:r>
              <a:rPr lang="en-US" altLang="zh-CN" sz="28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-1 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)·a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，亦即</a:t>
            </a:r>
          </a:p>
          <a:p>
            <a:pPr algn="ctr"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1 ·(a ·1)=1 ·a</a:t>
            </a:r>
          </a:p>
          <a:p>
            <a:pPr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    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a ·1=a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往证</a:t>
            </a: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·a </a:t>
            </a:r>
            <a:r>
              <a:rPr lang="en-US" altLang="zh-CN" sz="2800" baseline="300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=1.   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同证法一。</a:t>
            </a:r>
          </a:p>
          <a:p>
            <a:endParaRPr lang="zh-CN" altLang="en-US" dirty="0">
              <a:cs typeface="Times New Roman" panose="02020603050405020304" pitchFamily="18" charset="0"/>
            </a:endParaRPr>
          </a:p>
        </p:txBody>
      </p:sp>
      <p:sp>
        <p:nvSpPr>
          <p:cNvPr id="91139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fld id="{9FAA78CA-C601-4D18-8E06-67FDBFB6737B}" type="slidenum">
              <a:rPr lang="zh-CN" altLang="en-US" sz="1800" smtClean="0">
                <a:solidFill>
                  <a:srgbClr val="000000"/>
                </a:solidFill>
              </a:rPr>
              <a:pPr/>
              <a:t>31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内容占位符 2"/>
          <p:cNvSpPr>
            <a:spLocks noGrp="1"/>
          </p:cNvSpPr>
          <p:nvPr>
            <p:ph idx="4294967295"/>
          </p:nvPr>
        </p:nvSpPr>
        <p:spPr bwMode="auto">
          <a:xfrm>
            <a:off x="561975" y="692150"/>
            <a:ext cx="8301038" cy="535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证法三     </a:t>
            </a:r>
            <a:r>
              <a:rPr lang="zh-CN" altLang="en-US" sz="32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往证</a:t>
            </a:r>
            <a:r>
              <a:rPr lang="en-US" altLang="zh-CN" sz="32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·1=a. 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同证法二。</a:t>
            </a:r>
            <a:endParaRPr lang="en-US" altLang="zh-CN" sz="32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</a:pPr>
            <a:endParaRPr lang="en-US" altLang="zh-CN" sz="32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往证</a:t>
            </a:r>
            <a:r>
              <a:rPr lang="en-US" altLang="zh-CN" sz="32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·a </a:t>
            </a:r>
            <a:r>
              <a:rPr lang="en-US" altLang="zh-CN" sz="3200" baseline="300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32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=1.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   知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有左逆，令其为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，于是</a:t>
            </a:r>
          </a:p>
          <a:p>
            <a:pPr algn="ctr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b ·a</a:t>
            </a:r>
            <a:r>
              <a:rPr lang="en-US" altLang="zh-CN" sz="32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=1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右乘等式两端得到</a:t>
            </a:r>
          </a:p>
          <a:p>
            <a:pPr algn="ctr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(b ·a</a:t>
            </a:r>
            <a:r>
              <a:rPr lang="en-US" altLang="zh-CN" sz="32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-1 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32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·a</a:t>
            </a:r>
            <a:r>
              <a:rPr lang="en-US" altLang="zh-CN" sz="32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=1 ·a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， 即</a:t>
            </a:r>
          </a:p>
          <a:p>
            <a:pPr algn="ctr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zh-CN" sz="32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   b 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·(a</a:t>
            </a:r>
            <a:r>
              <a:rPr lang="en-US" altLang="zh-CN" sz="32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-1 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·a)</a:t>
            </a:r>
            <a:r>
              <a:rPr lang="zh-CN" altLang="en-US" sz="32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=1 ·a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，亦即</a:t>
            </a:r>
          </a:p>
          <a:p>
            <a:pPr algn="ctr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b=a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故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a ·a </a:t>
            </a:r>
            <a:r>
              <a:rPr lang="en-US" altLang="zh-CN" sz="32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=1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。                                       </a:t>
            </a:r>
            <a:r>
              <a:rPr lang="zh-CN" altLang="en-US" sz="32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证</a:t>
            </a:r>
            <a:r>
              <a:rPr lang="zh-CN" altLang="en-US" sz="32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毕</a:t>
            </a:r>
            <a:r>
              <a:rPr lang="zh-CN" altLang="en-US" sz="32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endParaRPr lang="zh-CN" altLang="en-US" dirty="0"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163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fld id="{B2F16CD3-B0D6-4B48-8D49-FEB7AA1A609E}" type="slidenum">
              <a:rPr lang="zh-CN" altLang="en-US" sz="1800" smtClean="0">
                <a:solidFill>
                  <a:srgbClr val="000000"/>
                </a:solidFill>
              </a:rPr>
              <a:pPr/>
              <a:t>32</a:t>
            </a:fld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8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8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8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81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81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81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81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606425"/>
            <a:ext cx="7772400" cy="647700"/>
          </a:xfrm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6.2.3 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群 的 性 质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---(3)</a:t>
            </a:r>
            <a:endParaRPr lang="zh-CN" altLang="zh-CN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9750" y="1268413"/>
            <a:ext cx="8353425" cy="5329237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3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定理</a:t>
            </a:r>
            <a:r>
              <a:rPr lang="en-US" altLang="zh-CN" sz="33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6.2.3  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群定义中的条件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(1)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和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(2)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等于下列可除条件：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对于任意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，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b</a:t>
            </a:r>
            <a:r>
              <a:rPr lang="zh-CN" altLang="en-US" sz="33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，  有 </a:t>
            </a:r>
            <a:r>
              <a:rPr lang="en-US" altLang="zh-CN" sz="33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x 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使 </a:t>
            </a:r>
            <a:r>
              <a:rPr lang="en-US" altLang="zh-CN" sz="3300" i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x</a:t>
            </a:r>
            <a:r>
              <a:rPr lang="en-US" altLang="zh-CN" sz="33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·a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=b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，</a:t>
            </a:r>
            <a:endParaRPr lang="en-US" altLang="zh-CN" sz="33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itchFamily="18" charset="2"/>
            </a:endParaRP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                            有 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y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使 </a:t>
            </a:r>
            <a:r>
              <a:rPr lang="en-US" altLang="zh-CN" sz="33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a·y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=b</a:t>
            </a:r>
            <a:r>
              <a:rPr lang="zh-CN" altLang="en-US" sz="3300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。</a:t>
            </a:r>
          </a:p>
        </p:txBody>
      </p:sp>
      <p:sp>
        <p:nvSpPr>
          <p:cNvPr id="9318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5806E1E-23B7-4F75-BCA1-868513079FEA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ChangeArrowheads="1"/>
          </p:cNvSpPr>
          <p:nvPr/>
        </p:nvSpPr>
        <p:spPr bwMode="auto">
          <a:xfrm>
            <a:off x="423863" y="449218"/>
            <a:ext cx="7772400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3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定理</a:t>
            </a:r>
            <a:r>
              <a:rPr lang="en-US" altLang="zh-CN" sz="33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6.2.3</a:t>
            </a:r>
            <a:endParaRPr lang="zh-CN" altLang="zh-CN" sz="33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94211" name="Rectangle 4"/>
          <p:cNvSpPr>
            <a:spLocks noChangeArrowheads="1"/>
          </p:cNvSpPr>
          <p:nvPr/>
        </p:nvSpPr>
        <p:spPr bwMode="auto">
          <a:xfrm>
            <a:off x="395288" y="1069975"/>
            <a:ext cx="8569325" cy="5383213"/>
          </a:xfrm>
          <a:prstGeom prst="rect">
            <a:avLst/>
          </a:prstGeom>
          <a:solidFill>
            <a:srgbClr val="C9FFF1"/>
          </a:solidFill>
          <a:ln w="381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351237" name="Rectangle 5"/>
          <p:cNvSpPr>
            <a:spLocks noChangeArrowheads="1"/>
          </p:cNvSpPr>
          <p:nvPr/>
        </p:nvSpPr>
        <p:spPr bwMode="auto">
          <a:xfrm>
            <a:off x="395288" y="1125538"/>
            <a:ext cx="8569325" cy="517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证明：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首先证明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在任一群中可除条件成立。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取</a:t>
            </a:r>
            <a:r>
              <a:rPr lang="en-US" altLang="zh-CN" sz="3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=b·a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y=a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·b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，即得</a:t>
            </a:r>
            <a:r>
              <a:rPr lang="en-US" altLang="zh-CN" sz="3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·a=b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a·y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故由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(1)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(2)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可以推出可除条件成立。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再证明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由可除条件也可以推出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(1)’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(2)’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，因而可以推出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(1), (2)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任取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n-US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为适合</a:t>
            </a:r>
            <a:r>
              <a:rPr lang="en-US" altLang="zh-CN" sz="3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·c=c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</a:t>
            </a:r>
            <a:r>
              <a:rPr lang="en-US" altLang="zh-CN" sz="3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1·c=c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对于任意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，有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y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使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c·y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，故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1·a=1·(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c·y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)=(1·c)·y=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c·y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，即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(1)’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成立。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关于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(2)’,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为适合</a:t>
            </a:r>
            <a:r>
              <a:rPr lang="en-US" altLang="zh-CN" sz="3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·a=1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</a:t>
            </a:r>
            <a:r>
              <a:rPr lang="en-US" altLang="zh-CN" sz="3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·a=1.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即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(2)’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成立。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9421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36C349E-5CF1-4CA0-BB6C-D74C62E8EC0E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51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512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512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512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512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512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512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237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288" y="908050"/>
            <a:ext cx="8640762" cy="514032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  <a:defRPr/>
            </a:pPr>
            <a:r>
              <a:rPr lang="zh-CN" altLang="en-US" sz="32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根据可除条件判断以下乘法表是否为群？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951818"/>
              </p:ext>
            </p:extLst>
          </p:nvPr>
        </p:nvGraphicFramePr>
        <p:xfrm>
          <a:off x="1547813" y="2736850"/>
          <a:ext cx="6096000" cy="2316184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79041">
                <a:tc>
                  <a:txBody>
                    <a:bodyPr/>
                    <a:lstStyle/>
                    <a:p>
                      <a:r>
                        <a:rPr lang="zh-CN" altLang="en-US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T="45683" marB="45683"/>
                </a:tc>
                <a:tc>
                  <a:txBody>
                    <a:bodyPr/>
                    <a:lstStyle/>
                    <a:p>
                      <a:r>
                        <a:rPr lang="en-US" altLang="zh-CN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zh-CN" altLang="en-US" sz="3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683" marB="45683"/>
                </a:tc>
                <a:tc>
                  <a:txBody>
                    <a:bodyPr/>
                    <a:lstStyle/>
                    <a:p>
                      <a:r>
                        <a:rPr lang="en-US" altLang="zh-CN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zh-CN" altLang="en-US" sz="3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683" marB="45683"/>
                </a:tc>
                <a:tc>
                  <a:txBody>
                    <a:bodyPr/>
                    <a:lstStyle/>
                    <a:p>
                      <a:r>
                        <a:rPr lang="en-US" altLang="zh-CN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zh-CN" altLang="en-US" sz="3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683" marB="45683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79041">
                <a:tc>
                  <a:txBody>
                    <a:bodyPr/>
                    <a:lstStyle/>
                    <a:p>
                      <a:r>
                        <a:rPr lang="en-US" altLang="zh-CN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zh-CN" altLang="en-US" sz="3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683" marB="45683"/>
                </a:tc>
                <a:tc>
                  <a:txBody>
                    <a:bodyPr/>
                    <a:lstStyle/>
                    <a:p>
                      <a:r>
                        <a:rPr lang="en-US" altLang="zh-CN" sz="3200" b="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zh-CN" altLang="en-US" sz="3200" b="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683" marB="45683"/>
                </a:tc>
                <a:tc>
                  <a:txBody>
                    <a:bodyPr/>
                    <a:lstStyle/>
                    <a:p>
                      <a:r>
                        <a:rPr lang="en-US" altLang="zh-CN" sz="3200" b="0" dirty="0" smtClean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zh-CN" altLang="en-US" sz="3200" b="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683" marB="45683"/>
                </a:tc>
                <a:tc>
                  <a:txBody>
                    <a:bodyPr/>
                    <a:lstStyle/>
                    <a:p>
                      <a:r>
                        <a:rPr lang="en-US" altLang="zh-CN" sz="3200" b="0" dirty="0" smtClean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zh-CN" altLang="en-US" sz="3200" b="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683" marB="45683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79041">
                <a:tc>
                  <a:txBody>
                    <a:bodyPr/>
                    <a:lstStyle/>
                    <a:p>
                      <a:r>
                        <a:rPr lang="en-US" altLang="zh-CN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zh-CN" altLang="en-US" sz="3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683" marB="45683"/>
                </a:tc>
                <a:tc>
                  <a:txBody>
                    <a:bodyPr/>
                    <a:lstStyle/>
                    <a:p>
                      <a:r>
                        <a:rPr lang="en-US" altLang="zh-CN" sz="3200" b="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zh-CN" altLang="en-US" sz="3200" b="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683" marB="45683"/>
                </a:tc>
                <a:tc>
                  <a:txBody>
                    <a:bodyPr/>
                    <a:lstStyle/>
                    <a:p>
                      <a:r>
                        <a:rPr lang="en-US" altLang="zh-CN" sz="3200" b="0" dirty="0" smtClean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zh-CN" altLang="en-US" sz="3200" b="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683" marB="45683"/>
                </a:tc>
                <a:tc>
                  <a:txBody>
                    <a:bodyPr/>
                    <a:lstStyle/>
                    <a:p>
                      <a:r>
                        <a:rPr lang="en-US" altLang="zh-CN" sz="3200" b="0" dirty="0" smtClean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zh-CN" altLang="en-US" sz="3200" b="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683" marB="45683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79041">
                <a:tc>
                  <a:txBody>
                    <a:bodyPr/>
                    <a:lstStyle/>
                    <a:p>
                      <a:r>
                        <a:rPr lang="en-US" altLang="zh-CN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zh-CN" altLang="en-US" sz="3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683" marB="45683"/>
                </a:tc>
                <a:tc>
                  <a:txBody>
                    <a:bodyPr/>
                    <a:lstStyle/>
                    <a:p>
                      <a:r>
                        <a:rPr lang="en-US" altLang="zh-CN" sz="3200" b="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zh-CN" altLang="en-US" sz="3200" b="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683" marB="45683"/>
                </a:tc>
                <a:tc>
                  <a:txBody>
                    <a:bodyPr/>
                    <a:lstStyle/>
                    <a:p>
                      <a:r>
                        <a:rPr lang="en-US" altLang="zh-CN" sz="3200" b="0" dirty="0" smtClean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zh-CN" altLang="en-US" sz="3200" b="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683" marB="45683"/>
                </a:tc>
                <a:tc>
                  <a:txBody>
                    <a:bodyPr/>
                    <a:lstStyle/>
                    <a:p>
                      <a:r>
                        <a:rPr lang="en-US" altLang="zh-CN" sz="3200" b="0" dirty="0" smtClean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zh-CN" altLang="en-US" sz="3200" b="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683" marB="45683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9526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362E149-709C-46EC-B1D5-1EF42E50B659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975" y="620713"/>
            <a:ext cx="8301038" cy="521176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已知下表是一个群的乘法表，请填写未列出来的元素。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是单位元）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sz="3000" b="1" dirty="0">
              <a:ea typeface="宋体" panose="02010600030101010101" pitchFamily="2" charset="-122"/>
            </a:endParaRPr>
          </a:p>
        </p:txBody>
      </p:sp>
      <p:sp>
        <p:nvSpPr>
          <p:cNvPr id="9625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9282FB5-6123-4555-ADBC-9FB5ABF42621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479874"/>
              </p:ext>
            </p:extLst>
          </p:nvPr>
        </p:nvGraphicFramePr>
        <p:xfrm>
          <a:off x="1476375" y="2114550"/>
          <a:ext cx="6096000" cy="3292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54874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4874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0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0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0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874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4874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0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4874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0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4874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0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0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975" y="620713"/>
            <a:ext cx="8301038" cy="521176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  <a:defRPr/>
            </a:pPr>
            <a:r>
              <a:rPr lang="zh-CN" altLang="en-US" sz="30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例：</a:t>
            </a:r>
            <a:r>
              <a:rPr lang="zh-CN" altLang="en-US" sz="3000" dirty="0">
                <a:latin typeface="宋体" panose="02010600030101010101" pitchFamily="2" charset="-122"/>
                <a:ea typeface="宋体" panose="02010600030101010101" pitchFamily="2" charset="-122"/>
              </a:rPr>
              <a:t>已知下表是一个群的乘法表，请填写未列出来的元素。</a:t>
            </a:r>
            <a:endParaRPr lang="en-US" altLang="zh-CN" sz="3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sz="3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728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83D29FE-FA7F-4215-9352-2271A23A5914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en-US" altLang="ko-KR" sz="140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378173"/>
              </p:ext>
            </p:extLst>
          </p:nvPr>
        </p:nvGraphicFramePr>
        <p:xfrm>
          <a:off x="1476375" y="2114550"/>
          <a:ext cx="6096000" cy="3292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54874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4874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874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4874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4874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4874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内容占位符 2"/>
          <p:cNvSpPr>
            <a:spLocks noGrp="1"/>
          </p:cNvSpPr>
          <p:nvPr>
            <p:ph idx="1"/>
          </p:nvPr>
        </p:nvSpPr>
        <p:spPr>
          <a:xfrm>
            <a:off x="561975" y="1476375"/>
            <a:ext cx="8474075" cy="4572000"/>
          </a:xfrm>
        </p:spPr>
        <p:txBody>
          <a:bodyPr/>
          <a:lstStyle/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、举例说明不要求</a:t>
            </a: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可除条件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而要求消去条件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即要求由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2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=ay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可推出</a:t>
            </a:r>
            <a:r>
              <a:rPr lang="en-US" altLang="zh-CN" sz="32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=y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，由</a:t>
            </a:r>
            <a:r>
              <a:rPr lang="en-US" altLang="zh-CN" sz="3200" i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·a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y·a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可推出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=y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，则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不见得是一个群，若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有限怎么样？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解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: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(1)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例如，全体正整数在普通乘法下，适合消去律，但不是群。</a:t>
            </a:r>
            <a:endParaRPr lang="zh-CN" altLang="en-US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606425"/>
            <a:ext cx="7772400" cy="647700"/>
          </a:xfrm>
        </p:spPr>
        <p:txBody>
          <a:bodyPr>
            <a:spAutoFit/>
          </a:bodyPr>
          <a:lstStyle/>
          <a:p>
            <a:pPr eaLnBrk="1" latinLnBrk="0" hangingPunct="1">
              <a:defRPr/>
            </a:pPr>
            <a:r>
              <a:rPr lang="zh-CN" altLang="en-US" kern="1200" dirty="0">
                <a:solidFill>
                  <a:srgbClr val="0000FF"/>
                </a:solidFill>
                <a:latin typeface="Times New Roman" panose="02020603050405020304" pitchFamily="18" charset="0"/>
                <a:cs typeface="+mn-cs"/>
                <a:sym typeface="Symbol" panose="05050102010706020507" pitchFamily="18" charset="2"/>
              </a:rPr>
              <a:t>习题</a:t>
            </a:r>
            <a:r>
              <a:rPr lang="en-US" altLang="zh-CN" kern="1200" dirty="0">
                <a:solidFill>
                  <a:srgbClr val="0000FF"/>
                </a:solidFill>
                <a:latin typeface="Times New Roman" panose="02020603050405020304" pitchFamily="18" charset="0"/>
                <a:cs typeface="+mn-cs"/>
                <a:sym typeface="Symbol" panose="05050102010706020507" pitchFamily="18" charset="2"/>
              </a:rPr>
              <a:t>6.2-2</a:t>
            </a:r>
            <a:endParaRPr lang="zh-CN" altLang="zh-CN" kern="1200" dirty="0">
              <a:solidFill>
                <a:srgbClr val="0000FF"/>
              </a:solidFill>
              <a:latin typeface="Times New Roman" panose="02020603050405020304" pitchFamily="18" charset="0"/>
              <a:cs typeface="+mn-cs"/>
              <a:sym typeface="Symbol" panose="05050102010706020507" pitchFamily="18" charset="2"/>
            </a:endParaRPr>
          </a:p>
        </p:txBody>
      </p:sp>
      <p:sp>
        <p:nvSpPr>
          <p:cNvPr id="9830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6A782E5-9988-4964-8016-778BD01BF4DD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9113" y="1238250"/>
            <a:ext cx="8445375" cy="5256213"/>
          </a:xfrm>
        </p:spPr>
        <p:txBody>
          <a:bodyPr/>
          <a:lstStyle/>
          <a:p>
            <a:pPr marL="0" indent="0">
              <a:lnSpc>
                <a:spcPct val="114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(2)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往证有限半群，满足消去条件，一定是群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解：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若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G={a</a:t>
            </a:r>
            <a:r>
              <a:rPr lang="en-US" altLang="zh-CN" sz="3200" baseline="-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，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200" baseline="-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2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，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…a</a:t>
            </a:r>
            <a:r>
              <a:rPr lang="en-US" altLang="zh-CN" sz="3200" baseline="-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}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，任取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G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中元素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，用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右乘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G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中各元素得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200" baseline="-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，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200" baseline="-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2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，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…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，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200" baseline="-30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，先证这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个元素必不相同。反证法，若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200" baseline="-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i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a=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200" baseline="-30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j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 (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ij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) 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，由消去条件有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200" baseline="-30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i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=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200" baseline="-30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j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，矛盾。</a:t>
            </a:r>
            <a:endParaRPr lang="en-US" altLang="zh-CN" sz="32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itchFamily="18" charset="2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       设</a:t>
            </a:r>
            <a:r>
              <a:rPr lang="en-US" altLang="zh-CN" sz="3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G1={a</a:t>
            </a:r>
            <a:r>
              <a:rPr lang="en-US" altLang="zh-CN" sz="3100" baseline="-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lang="en-US" altLang="zh-CN" sz="3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zh-CN" altLang="en-US" sz="3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，</a:t>
            </a:r>
            <a:r>
              <a:rPr lang="en-US" altLang="zh-CN" sz="3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100" baseline="-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2</a:t>
            </a:r>
            <a:r>
              <a:rPr lang="en-US" altLang="zh-CN" sz="3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100" baseline="-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 </a:t>
            </a:r>
            <a:r>
              <a:rPr lang="zh-CN" altLang="en-US" sz="3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，</a:t>
            </a:r>
            <a:r>
              <a:rPr lang="en-US" altLang="zh-CN" sz="3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…</a:t>
            </a:r>
            <a:r>
              <a:rPr lang="en-US" altLang="zh-CN" sz="31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100" baseline="-30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</a:t>
            </a:r>
            <a:r>
              <a:rPr lang="en-US" altLang="zh-CN" sz="31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},</a:t>
            </a:r>
            <a:r>
              <a:rPr lang="zh-CN" altLang="en-US" sz="3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因任意</a:t>
            </a:r>
            <a:r>
              <a:rPr lang="en-US" altLang="zh-CN" sz="3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100" baseline="-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i</a:t>
            </a:r>
            <a:r>
              <a:rPr lang="en-US" altLang="zh-CN" sz="3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 G .</a:t>
            </a:r>
            <a:r>
              <a:rPr lang="zh-CN" altLang="en-US" sz="3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而</a:t>
            </a:r>
            <a:r>
              <a:rPr lang="en-US" altLang="zh-CN" sz="3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100" baseline="-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i</a:t>
            </a:r>
            <a:r>
              <a:rPr lang="en-US" altLang="zh-CN" sz="3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  </a:t>
            </a:r>
            <a:r>
              <a:rPr lang="en-US" altLang="zh-CN" sz="31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100" baseline="-30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j</a:t>
            </a:r>
            <a:r>
              <a:rPr lang="en-US" altLang="zh-CN" sz="31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 (ij) , </a:t>
            </a:r>
            <a:r>
              <a:rPr lang="zh-CN" altLang="en-US" sz="3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知</a:t>
            </a:r>
            <a:r>
              <a:rPr lang="en-US" altLang="zh-CN" sz="3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G1G, |G|=|G1|=n,</a:t>
            </a:r>
            <a:r>
              <a:rPr lang="zh-CN" altLang="en-US" sz="3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故</a:t>
            </a:r>
            <a:r>
              <a:rPr lang="en-US" altLang="zh-CN" sz="3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G=G1 .</a:t>
            </a:r>
            <a:r>
              <a:rPr lang="zh-CN" altLang="en-US" sz="3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则对任意</a:t>
            </a:r>
            <a:r>
              <a:rPr lang="en-US" altLang="zh-CN" sz="3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bG</a:t>
            </a:r>
            <a:r>
              <a:rPr lang="zh-CN" altLang="en-US" sz="3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，必有</a:t>
            </a:r>
            <a:r>
              <a:rPr lang="en-US" altLang="zh-CN" sz="31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100" baseline="-30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i</a:t>
            </a:r>
            <a:r>
              <a:rPr lang="zh-CN" altLang="en-US" sz="3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，使</a:t>
            </a:r>
            <a:r>
              <a:rPr lang="en-US" altLang="zh-CN" sz="3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100" baseline="-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i</a:t>
            </a:r>
            <a:r>
              <a:rPr lang="en-US" altLang="zh-CN" sz="3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a=b</a:t>
            </a:r>
            <a:r>
              <a:rPr lang="zh-CN" altLang="en-US" sz="3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，因之方程</a:t>
            </a:r>
            <a:r>
              <a:rPr lang="en-US" altLang="zh-CN" sz="3100" i="1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x</a:t>
            </a:r>
            <a:r>
              <a:rPr lang="en-US" altLang="zh-CN" sz="31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=b</a:t>
            </a:r>
            <a:r>
              <a:rPr lang="zh-CN" altLang="en-US" sz="3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有解。同理可知</a:t>
            </a:r>
            <a:r>
              <a:rPr lang="en-US" altLang="zh-CN" sz="3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ay=b</a:t>
            </a:r>
            <a:r>
              <a:rPr lang="zh-CN" altLang="en-US" sz="3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有解。故</a:t>
            </a:r>
            <a:r>
              <a:rPr lang="en-US" altLang="zh-CN" sz="3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G</a:t>
            </a:r>
            <a:r>
              <a:rPr lang="zh-CN" altLang="en-US" sz="3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是群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。         </a:t>
            </a:r>
          </a:p>
          <a:p>
            <a:pPr>
              <a:lnSpc>
                <a:spcPct val="114000"/>
              </a:lnSpc>
              <a:defRPr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606425"/>
            <a:ext cx="7772400" cy="647700"/>
          </a:xfrm>
        </p:spPr>
        <p:txBody>
          <a:bodyPr>
            <a:spAutoFit/>
          </a:bodyPr>
          <a:lstStyle/>
          <a:p>
            <a:pPr eaLnBrk="1" latinLnBrk="0" hangingPunct="1">
              <a:defRPr/>
            </a:pPr>
            <a:r>
              <a:rPr lang="zh-CN" altLang="en-US" kern="1200" dirty="0">
                <a:solidFill>
                  <a:srgbClr val="0000FF"/>
                </a:solidFill>
                <a:latin typeface="Times New Roman" panose="02020603050405020304" pitchFamily="18" charset="0"/>
                <a:cs typeface="+mn-cs"/>
                <a:sym typeface="Symbol" panose="05050102010706020507" pitchFamily="18" charset="2"/>
              </a:rPr>
              <a:t>习题</a:t>
            </a:r>
            <a:r>
              <a:rPr lang="en-US" altLang="zh-CN" kern="1200" dirty="0">
                <a:solidFill>
                  <a:srgbClr val="0000FF"/>
                </a:solidFill>
                <a:latin typeface="Times New Roman" panose="02020603050405020304" pitchFamily="18" charset="0"/>
                <a:cs typeface="+mn-cs"/>
                <a:sym typeface="Symbol" panose="05050102010706020507" pitchFamily="18" charset="2"/>
              </a:rPr>
              <a:t>6.2-2</a:t>
            </a:r>
            <a:endParaRPr lang="zh-CN" altLang="zh-CN" kern="1200" dirty="0">
              <a:solidFill>
                <a:srgbClr val="0000FF"/>
              </a:solidFill>
              <a:latin typeface="Times New Roman" panose="02020603050405020304" pitchFamily="18" charset="0"/>
              <a:cs typeface="+mn-cs"/>
              <a:sym typeface="Symbol" panose="05050102010706020507" pitchFamily="18" charset="2"/>
            </a:endParaRPr>
          </a:p>
        </p:txBody>
      </p:sp>
      <p:sp>
        <p:nvSpPr>
          <p:cNvPr id="9933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F2B9FCD-0A77-42E8-B2F7-FC46119D3BB7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39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9750" y="1268413"/>
            <a:ext cx="8424863" cy="5329237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定理</a:t>
            </a:r>
            <a:r>
              <a:rPr lang="en-US" altLang="zh-CN" sz="3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6.2.4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是一个群，在一个乘积</a:t>
            </a:r>
            <a:r>
              <a:rPr lang="en-US" altLang="zh-CN" sz="3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…</a:t>
            </a:r>
            <a:r>
              <a:rPr lang="en-US" altLang="zh-CN" sz="3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中可以任意加括号而求其值。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证明： 只要证明任意加括号而得的积等于按次序由左而右加括号所得的积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itchFamily="18" charset="2"/>
            </a:endParaRP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(…((a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·a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)·a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3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)…·a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)·a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   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(1)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itchFamily="18" charset="2"/>
            </a:endParaRP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对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用归纳法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,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(1)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式对于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n=1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2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3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显然成立。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假定对少于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个因子的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乘积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(1)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式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成立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.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试证对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个因子的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乘积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(1)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式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也成立。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6.2.3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群 的 性 质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---(4)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0035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C94D147-6722-48C4-82C6-60E1133E0C51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40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0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0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0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0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0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0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0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55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61975" y="765175"/>
            <a:ext cx="8301038" cy="5283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sym typeface="Symbol" pitchFamily="18" charset="2"/>
              </a:rPr>
              <a:t>定理</a:t>
            </a:r>
            <a:r>
              <a:rPr lang="en-US" altLang="zh-CN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sym typeface="Symbol" pitchFamily="18" charset="2"/>
              </a:rPr>
              <a:t>6.2.4</a:t>
            </a:r>
            <a:endParaRPr lang="en-US" altLang="zh-CN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anose="02010600030101010101" pitchFamily="2" charset="-122"/>
              <a:sym typeface="Symbol" pitchFamily="18" charset="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…a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任意加括号而得到的乘积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，求证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等于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(1)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式。设在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中最后一次计算是前后两部分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B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与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C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相乘：</a:t>
            </a:r>
            <a:b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</a:b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      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  = (B)·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(C)</a:t>
            </a:r>
          </a:p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今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C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的因子个数小于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，故由归纳假设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,C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等于按次序自左而右加括号所得的乘积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(D)·a</a:t>
            </a:r>
            <a:r>
              <a:rPr lang="en-US" altLang="zh-CN" sz="3200" baseline="-30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。由结合律，</a:t>
            </a:r>
          </a:p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A=(B)(C)=(B)·((D)·a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)=((B)·(D))·a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。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10137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692AF2B-3D63-4AFA-91E5-D8E199C9D4CA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41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750" y="609600"/>
            <a:ext cx="7772400" cy="641350"/>
          </a:xfrm>
        </p:spPr>
        <p:txBody>
          <a:bodyPr>
            <a:spAutoFit/>
          </a:bodyPr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定理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6.2.4</a:t>
            </a:r>
            <a:endParaRPr lang="zh-CN" altLang="zh-CN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717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9750" y="1268413"/>
            <a:ext cx="8424863" cy="5329237"/>
          </a:xfrm>
        </p:spPr>
        <p:txBody>
          <a:bodyPr/>
          <a:lstStyle/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但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(B)·(D)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的因子个数小于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，故由归纳假设，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(B)·(D)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等于按次序由左而右加括号所得的乘积</a:t>
            </a:r>
          </a:p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(B)·(D)=(…((a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·a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)·a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3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)…·a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n-2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)·a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n-1</a:t>
            </a:r>
          </a:p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因而</a:t>
            </a:r>
          </a:p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 =((B)·(D))·a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</a:t>
            </a:r>
          </a:p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=((…((a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·a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)·a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3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)…·a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n-2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)·a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n-1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）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·a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itchFamily="18" charset="2"/>
            </a:endParaRPr>
          </a:p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即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等于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(1)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式。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itchFamily="18" charset="2"/>
            </a:endParaRPr>
          </a:p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注：本定理对有结合律的一切代数系统成立。</a:t>
            </a:r>
          </a:p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zh-CN" altLang="en-US" sz="3200" b="1" dirty="0">
              <a:latin typeface="+mn-ea"/>
              <a:sym typeface="Symbol" pitchFamily="18" charset="2"/>
            </a:endParaRPr>
          </a:p>
        </p:txBody>
      </p:sp>
      <p:sp>
        <p:nvSpPr>
          <p:cNvPr id="10240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B2A2CD5-08A3-4B8E-A21D-5C773ACDBCD0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42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1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1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1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1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1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1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1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715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5" name="Rectangle 5"/>
          <p:cNvSpPr>
            <a:spLocks noChangeArrowheads="1"/>
          </p:cNvSpPr>
          <p:nvPr/>
        </p:nvSpPr>
        <p:spPr bwMode="auto">
          <a:xfrm>
            <a:off x="827088" y="1628775"/>
            <a:ext cx="7632700" cy="1154162"/>
          </a:xfrm>
          <a:prstGeom prst="rect">
            <a:avLst/>
          </a:prstGeom>
          <a:solidFill>
            <a:srgbClr val="FFFFFF"/>
          </a:solidFill>
          <a:ln w="38100">
            <a:solidFill>
              <a:srgbClr val="009900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个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连乘积为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次方，记为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我们规定</a:t>
            </a:r>
            <a:r>
              <a:rPr lang="en-US" altLang="zh-CN" sz="3000" u="sng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u="sng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zh-CN" sz="3000" u="sng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=1</a:t>
            </a:r>
            <a:r>
              <a:rPr lang="zh-CN" altLang="en-US" sz="3000" u="sng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000" u="sng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u="sng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-n</a:t>
            </a:r>
            <a:r>
              <a:rPr lang="en-US" altLang="zh-CN" sz="3000" u="sng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=(a</a:t>
            </a:r>
            <a:r>
              <a:rPr lang="en-US" altLang="zh-CN" sz="3000" u="sng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zh-CN" sz="3000" u="sng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zh-CN" sz="3000" u="sng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zh-CN" altLang="en-US" sz="3000" u="sng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；往</a:t>
            </a:r>
            <a:r>
              <a:rPr lang="zh-CN" altLang="en-US" sz="3000" u="sng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证</a:t>
            </a:r>
            <a:r>
              <a:rPr lang="en-US" altLang="zh-CN" sz="3000" u="sng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(a</a:t>
            </a:r>
            <a:r>
              <a:rPr lang="en-US" altLang="zh-CN" sz="3000" u="sng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zh-CN" sz="3000" u="sng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zh-CN" sz="3000" u="sng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000" u="sng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= (a</a:t>
            </a:r>
            <a:r>
              <a:rPr lang="en-US" altLang="zh-CN" sz="3000" u="sng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000" u="sng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zh-CN" sz="3000" u="sng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endParaRPr lang="zh-CN" altLang="en-US" sz="3000" u="sng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32806" name="Rectangle 6"/>
          <p:cNvSpPr>
            <a:spLocks noChangeArrowheads="1"/>
          </p:cNvSpPr>
          <p:nvPr/>
        </p:nvSpPr>
        <p:spPr bwMode="auto">
          <a:xfrm>
            <a:off x="850105" y="3940175"/>
            <a:ext cx="7632700" cy="2308225"/>
          </a:xfrm>
          <a:prstGeom prst="rect">
            <a:avLst/>
          </a:prstGeom>
          <a:solidFill>
            <a:schemeClr val="hlink"/>
          </a:solidFill>
          <a:ln w="38100">
            <a:solidFill>
              <a:srgbClr val="009900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对于任意整数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第一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指数定律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·a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m+n</a:t>
            </a:r>
            <a:endParaRPr lang="en-US" altLang="zh-CN" sz="3000" baseline="30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第二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指数定律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但一般群中第三指数定律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a·b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·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zh-CN" altLang="en-US" sz="30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不成</a:t>
            </a:r>
            <a:r>
              <a:rPr lang="zh-CN" altLang="en-US" sz="3000" b="1" dirty="0">
                <a:solidFill>
                  <a:srgbClr val="C00000"/>
                </a:solidFill>
                <a:latin typeface="+mn-lt"/>
                <a:ea typeface="宋体" panose="02010600030101010101" pitchFamily="2" charset="-122"/>
                <a:sym typeface="Symbol" panose="05050102010706020507" pitchFamily="18" charset="2"/>
              </a:rPr>
              <a:t>立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6.2.3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群 的 性 质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---(5)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0342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D9F28E4-14DD-4674-A379-F55F1F06E4A4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32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32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32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3280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3280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3280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3280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3280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3280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3280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3280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328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328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3280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32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805" grpId="0" animBg="1"/>
      <p:bldP spid="33280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1052512"/>
            <a:ext cx="8443912" cy="5256807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sym typeface="Symbol" pitchFamily="18" charset="2"/>
              </a:rPr>
              <a:t>定义 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若群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(G, · 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的运算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·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适合交换律，则称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(G, · 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为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Abel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群或交换群。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itchFamily="18" charset="2"/>
            </a:endParaRPr>
          </a:p>
          <a:p>
            <a:pPr marL="387350" indent="-387350">
              <a:lnSpc>
                <a:spcPct val="150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(Z,+), (Q,+), (R,+), (C,+)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都是无限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Abel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群</a:t>
            </a:r>
          </a:p>
          <a:p>
            <a:pPr marL="387350" indent="-387350">
              <a:lnSpc>
                <a:spcPct val="150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:(Q</a:t>
            </a:r>
            <a:r>
              <a:rPr lang="en-US" altLang="zh-CN" sz="3200" baseline="30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·)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,(R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·),(C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都是无限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Abel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群</a:t>
            </a:r>
          </a:p>
          <a:p>
            <a:pPr marL="387350" indent="-387350">
              <a:lnSpc>
                <a:spcPct val="150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实数域上所有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阶非奇异矩阵的集合在矩阵的乘法下不是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Abel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群。</a:t>
            </a:r>
          </a:p>
          <a:p>
            <a:pPr marL="387350" indent="-387350">
              <a:lnSpc>
                <a:spcPct val="150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元数为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、元数为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的群都是有限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Abel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群</a:t>
            </a:r>
          </a:p>
          <a:p>
            <a:pPr marL="0" indent="0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itchFamily="18" charset="2"/>
            </a:endParaRPr>
          </a:p>
          <a:p>
            <a:pPr marL="0" indent="0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CN" sz="3300" dirty="0">
              <a:latin typeface="Arial" panose="020B0604020202020204" pitchFamily="34" charset="0"/>
              <a:cs typeface="Arial" panose="020B0604020202020204" pitchFamily="34" charset="0"/>
              <a:sym typeface="Symbol" pitchFamily="18" charset="2"/>
            </a:endParaRPr>
          </a:p>
          <a:p>
            <a:pPr marL="0" indent="0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CN" sz="3300" dirty="0">
              <a:latin typeface="Arial" panose="020B0604020202020204" pitchFamily="34" charset="0"/>
              <a:cs typeface="Arial" panose="020B0604020202020204" pitchFamily="34" charset="0"/>
              <a:sym typeface="Symbol" pitchFamily="18" charset="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Abel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群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0445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FBE16F1-FD04-4E79-A287-43F5E5695F3A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44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5450" y="1195388"/>
            <a:ext cx="8539163" cy="5689600"/>
          </a:xfrm>
        </p:spPr>
        <p:txBody>
          <a:bodyPr/>
          <a:lstStyle/>
          <a:p>
            <a:pPr marL="114300" indent="-457200">
              <a:lnSpc>
                <a:spcPct val="114000"/>
              </a:lnSpc>
              <a:spcBef>
                <a:spcPts val="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(G, ·)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是一个群，则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(G, ·)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Abel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群的充要条件是对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a,b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,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 · 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b)</a:t>
            </a:r>
            <a:r>
              <a:rPr lang="en-US" altLang="zh-CN" sz="32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=a</a:t>
            </a:r>
            <a:r>
              <a:rPr lang="en-US" altLang="zh-CN" sz="32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 b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algn="just">
              <a:lnSpc>
                <a:spcPct val="114000"/>
              </a:lnSpc>
              <a:spcBef>
                <a:spcPts val="0"/>
              </a:spcBef>
              <a:buClrTx/>
              <a:buFontTx/>
              <a:buNone/>
              <a:defRPr/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：必要性。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Abel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群，即对</a:t>
            </a:r>
          </a:p>
          <a:p>
            <a:pPr marL="0" algn="just">
              <a:lnSpc>
                <a:spcPct val="114000"/>
              </a:lnSpc>
              <a:spcBef>
                <a:spcPts val="0"/>
              </a:spcBef>
              <a:buClrTx/>
              <a:buFontTx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 b=b · a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。故，</a:t>
            </a:r>
          </a:p>
          <a:p>
            <a:pPr marL="0" algn="just">
              <a:lnSpc>
                <a:spcPct val="114000"/>
              </a:lnSpc>
              <a:spcBef>
                <a:spcPts val="0"/>
              </a:spcBef>
              <a:buClrTx/>
              <a:buFontTx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a·b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=(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a·b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)·(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a·b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=a·(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b·a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)·b=a·(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a·b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)·b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(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a·a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)·(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b·b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)=a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·b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algn="just">
              <a:lnSpc>
                <a:spcPct val="114000"/>
              </a:lnSpc>
              <a:spcBef>
                <a:spcPts val="0"/>
              </a:spcBef>
              <a:buClrTx/>
              <a:buFontTx/>
              <a:buNone/>
              <a:defRPr/>
            </a:pP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充分性。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a,b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 · b)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=a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· b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，得</a:t>
            </a:r>
          </a:p>
          <a:p>
            <a:pPr marL="0" algn="ctr">
              <a:lnSpc>
                <a:spcPct val="114000"/>
              </a:lnSpc>
              <a:spcBef>
                <a:spcPts val="0"/>
              </a:spcBef>
              <a:buClrTx/>
              <a:buFontTx/>
              <a:buNone/>
              <a:defRPr/>
            </a:pP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baseline="30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 (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a·b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)·(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a·b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· </a:t>
            </a:r>
            <a:r>
              <a:rPr lang="en-US" altLang="zh-CN" sz="32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3200" baseline="300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baseline="30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·(a · a) ·(b · b) · </a:t>
            </a:r>
            <a:r>
              <a:rPr lang="en-US" altLang="zh-CN" sz="32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3200" baseline="300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</a:p>
          <a:p>
            <a:pPr marL="0" algn="just">
              <a:lnSpc>
                <a:spcPct val="114000"/>
              </a:lnSpc>
              <a:spcBef>
                <a:spcPts val="0"/>
              </a:spcBef>
              <a:buClrTx/>
              <a:buFontTx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故，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b·a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a·b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，因此，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Abel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群。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Abel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群的例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0650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7E52990-E997-4ED5-A7E6-20F9BAE61BC2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45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5450" y="1195388"/>
            <a:ext cx="8718550" cy="4610100"/>
          </a:xfrm>
        </p:spPr>
        <p:txBody>
          <a:bodyPr/>
          <a:lstStyle/>
          <a:p>
            <a:pPr marL="114300" indent="-457200">
              <a:lnSpc>
                <a:spcPct val="120000"/>
              </a:lnSpc>
              <a:spcBef>
                <a:spcPts val="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(G, ·)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是一个群，并且对任意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a,b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G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都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有</a:t>
            </a:r>
            <a:endParaRPr lang="en-US" altLang="zh-CN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Tx/>
              <a:buNone/>
              <a:defRPr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 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5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5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5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，证明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是一个交换群。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114300" indent="-457200">
              <a:lnSpc>
                <a:spcPct val="120000"/>
              </a:lnSpc>
              <a:spcBef>
                <a:spcPts val="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证明：</a:t>
            </a:r>
            <a:endParaRPr lang="en-US" altLang="zh-CN" sz="300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Tx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由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000" baseline="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=(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zh-CN" sz="3000" baseline="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 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zh-CN" sz="3000" baseline="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，知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000" baseline="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=(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zh-CN" sz="3000" baseline="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   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(1)</a:t>
            </a:r>
            <a:endParaRPr lang="en-US" altLang="zh-CN" sz="2800" baseline="300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Tx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5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000" baseline="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5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=(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zh-CN" sz="3000" baseline="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5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 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zh-CN" sz="3000" baseline="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4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，知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4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000" baseline="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4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=(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zh-CN" sz="3000" baseline="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4   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(2)</a:t>
            </a:r>
            <a:endParaRPr lang="en-US" altLang="zh-CN" sz="2800" baseline="300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Tx/>
              <a:buNone/>
              <a:defRPr/>
            </a:pP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由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(1)(2)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得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4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000" baseline="30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4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=a</a:t>
            </a:r>
            <a:r>
              <a:rPr lang="en-US" altLang="zh-CN" sz="3000" baseline="30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000" baseline="30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000" baseline="30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知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000" baseline="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=b</a:t>
            </a:r>
            <a:r>
              <a:rPr lang="en-US" altLang="zh-CN" sz="3000" baseline="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    </a:t>
            </a:r>
            <a:r>
              <a:rPr lang="en-US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3)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ClrTx/>
              <a:buNone/>
              <a:defRPr/>
            </a:pP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由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(1)(3)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得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000" baseline="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=(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zh-CN" sz="3000" baseline="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 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     故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endParaRPr lang="en-US" altLang="zh-CN" sz="30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Tx/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Abel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群。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buClrTx/>
              <a:buFont typeface="Wingdings" panose="05000000000000000000" pitchFamily="2" charset="2"/>
              <a:buNone/>
              <a:defRPr/>
            </a:pPr>
            <a:endParaRPr lang="en-US" altLang="zh-CN" sz="3000" b="1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buClrTx/>
              <a:buFont typeface="Wingdings" panose="05000000000000000000" pitchFamily="2" charset="2"/>
              <a:buNone/>
              <a:defRPr/>
            </a:pPr>
            <a:endParaRPr lang="en-US" altLang="zh-CN" sz="3000" b="1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buClrTx/>
              <a:buFont typeface="Wingdings" panose="05000000000000000000" pitchFamily="2" charset="2"/>
              <a:buNone/>
              <a:defRPr/>
            </a:pPr>
            <a:endParaRPr lang="en-US" altLang="zh-CN" sz="3000" b="1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buClrTx/>
              <a:buFont typeface="Wingdings" panose="05000000000000000000" pitchFamily="2" charset="2"/>
              <a:buNone/>
              <a:defRPr/>
            </a:pPr>
            <a:endParaRPr lang="zh-CN" altLang="en-US" sz="3000" b="1" dirty="0">
              <a:ea typeface="宋体" panose="02010600030101010101" pitchFamily="2" charset="-122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Abel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群的例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0752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777F1ADA-E8D0-4180-9B53-EABD62F12395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46</a:t>
            </a:fld>
            <a:endParaRPr lang="en-US" altLang="ko-KR" sz="140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452247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6737" y="1340768"/>
            <a:ext cx="8301038" cy="4572000"/>
          </a:xfrm>
        </p:spPr>
        <p:txBody>
          <a:bodyPr/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判断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G={1 , 3 , 4 , 5 , 9}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在模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11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的乘法下是否为群？是否为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Abel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群？</a:t>
            </a:r>
            <a:endParaRPr lang="zh-CN" altLang="en-US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4F540F-9CD7-44FB-A48B-56CCA15CD8D2}" type="slidenum">
              <a:rPr lang="en-US" altLang="ko-KR" smtClean="0"/>
              <a:pPr>
                <a:defRPr/>
              </a:pPr>
              <a:t>47</a:t>
            </a:fld>
            <a:endParaRPr lang="en-US" altLang="ko-KR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kern="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思考：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53245164"/>
      </p:ext>
    </p:extLst>
  </p:cSld>
  <p:clrMapOvr>
    <a:masterClrMapping/>
  </p:clrMapOvr>
  <p:transition spd="med">
    <p:rand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ChangeArrowheads="1"/>
          </p:cNvSpPr>
          <p:nvPr/>
        </p:nvSpPr>
        <p:spPr bwMode="auto">
          <a:xfrm>
            <a:off x="395288" y="1341438"/>
            <a:ext cx="8443912" cy="518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latinLnBrk="1" hangingPunct="1">
              <a:lnSpc>
                <a:spcPct val="120000"/>
              </a:lnSpc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sym typeface="Symbol" pitchFamily="18" charset="2"/>
              </a:rPr>
              <a:t>定理</a:t>
            </a: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sym typeface="Symbol" pitchFamily="18" charset="2"/>
              </a:rPr>
              <a:t>6.2.5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在一个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Abel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(G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·)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中，一个乘积可以任意颠倒因子的次序而求其值。</a:t>
            </a:r>
          </a:p>
          <a:p>
            <a:pPr eaLnBrk="1" latinLnBrk="1" hangingPunct="1">
              <a:lnSpc>
                <a:spcPct val="120000"/>
              </a:lnSpc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证明：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考虑一个乘积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…a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。设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σ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{1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…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n}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上的一个一对一变换，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itchFamily="18" charset="2"/>
            </a:endParaRPr>
          </a:p>
          <a:p>
            <a:pPr eaLnBrk="1" latinLnBrk="1" hangingPunct="1">
              <a:lnSpc>
                <a:spcPct val="120000"/>
              </a:lnSpc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欲证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2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σ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(1)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 …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2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σ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(n)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=a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…a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itchFamily="18" charset="2"/>
            </a:endParaRPr>
          </a:p>
          <a:p>
            <a:pPr eaLnBrk="1" latinLnBrk="1" hangingPunct="1">
              <a:lnSpc>
                <a:spcPct val="120000"/>
              </a:lnSpc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对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用归纳法，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n=1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时只有一个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, 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显然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成立，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itchFamily="18" charset="2"/>
            </a:endParaRPr>
          </a:p>
          <a:p>
            <a:pPr eaLnBrk="1" latinLnBrk="1" hangingPunct="1">
              <a:lnSpc>
                <a:spcPct val="120000"/>
              </a:lnSpc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n=2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时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·a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2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=a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·a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定理显然成立，</a:t>
            </a:r>
          </a:p>
          <a:p>
            <a:pPr eaLnBrk="1" latinLnBrk="1" hangingPunct="1">
              <a:lnSpc>
                <a:spcPct val="120000"/>
              </a:lnSpc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假定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n-1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时定理成立，试证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时定理亦成立</a:t>
            </a:r>
            <a:r>
              <a:rPr lang="zh-CN" altLang="en-US" sz="3200" b="1" dirty="0">
                <a:latin typeface="+mn-lt"/>
                <a:ea typeface="+mn-ea"/>
                <a:sym typeface="Symbol" pitchFamily="18" charset="2"/>
              </a:rPr>
              <a:t>。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6.2.3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群 的 性 质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---(6)-Abel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群性质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0854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21A72A1-3716-4B6E-9962-61DD75BE920C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48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7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7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内容占位符 2"/>
          <p:cNvSpPr>
            <a:spLocks noGrp="1"/>
          </p:cNvSpPr>
          <p:nvPr>
            <p:ph idx="1"/>
          </p:nvPr>
        </p:nvSpPr>
        <p:spPr>
          <a:xfrm>
            <a:off x="561975" y="1168400"/>
            <a:ext cx="8301038" cy="5068888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  <a:sym typeface="Symbol" pitchFamily="18" charset="2"/>
              </a:rPr>
              <a:t>证明：</a:t>
            </a:r>
            <a:endParaRPr lang="en-US" altLang="zh-CN" sz="3200" b="1" dirty="0">
              <a:solidFill>
                <a:srgbClr val="0000FF"/>
              </a:solidFill>
              <a:ea typeface="宋体" panose="02010600030101010101" pitchFamily="2" charset="-122"/>
              <a:sym typeface="Symbol" pitchFamily="18" charset="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设将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…a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中各因子任意颠倒次序而得一式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    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P = 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2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σ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(1)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 …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2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σ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(n)</a:t>
            </a:r>
            <a:endParaRPr lang="zh-CN" altLang="en-US" sz="3200" baseline="-30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itchFamily="18" charset="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 因子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必在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P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中某处出现，因而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P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可以写成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   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P =(P′)·a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·(P″)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Pˊ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或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P″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中可能没有元素，但照样适用以下的论证，由结合律、交换律，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P=Pˊ·(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2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·P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″)=Pˊ·(P″·a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)=(Pˊ·P″)·a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，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endParaRPr lang="zh-CN" altLang="en-US" b="1" dirty="0"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kern="0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定理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6.2.5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0957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5D37054-3E47-4E75-9489-C1F3432C5445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49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ChangeArrowheads="1"/>
          </p:cNvSpPr>
          <p:nvPr/>
        </p:nvSpPr>
        <p:spPr bwMode="auto">
          <a:xfrm>
            <a:off x="395288" y="1341438"/>
            <a:ext cx="8443912" cy="518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latinLnBrk="1" hangingPunct="1">
              <a:lnSpc>
                <a:spcPct val="120000"/>
              </a:lnSpc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  <a:sym typeface="Symbol" pitchFamily="18" charset="2"/>
              </a:rPr>
              <a:t>证明：</a:t>
            </a:r>
          </a:p>
          <a:p>
            <a:pPr eaLnBrk="1" latinLnBrk="1" hangingPunct="1">
              <a:lnSpc>
                <a:spcPct val="120000"/>
              </a:lnSpc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现在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Pˊ·P″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中只有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n-1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个元素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,…,a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n-1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,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只不过次序有颠倒，故由归纳法假定，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itchFamily="18" charset="2"/>
            </a:endParaRPr>
          </a:p>
          <a:p>
            <a:pPr eaLnBrk="1" latinLnBrk="1" hangingPunct="1">
              <a:lnSpc>
                <a:spcPct val="120000"/>
              </a:lnSpc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Pˊ·P″= 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…a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n-1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。</a:t>
            </a:r>
          </a:p>
          <a:p>
            <a:pPr eaLnBrk="1" latinLnBrk="1" hangingPunct="1">
              <a:lnSpc>
                <a:spcPct val="120000"/>
              </a:lnSpc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 因此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,P =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（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Pˊ·P″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）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·a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= 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…a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n-1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·a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n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，</a:t>
            </a:r>
            <a:b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</a:b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从而归纳法完成，定理得证。 </a:t>
            </a:r>
          </a:p>
          <a:p>
            <a:pPr eaLnBrk="1" latinLnBrk="1" hangingPunct="1">
              <a:buClr>
                <a:schemeClr val="accent2"/>
              </a:buClr>
              <a:buFont typeface="Wingdings" pitchFamily="2" charset="2"/>
              <a:buNone/>
              <a:defRPr/>
            </a:pPr>
            <a:endParaRPr lang="zh-CN" altLang="en-US" sz="2500" b="1" dirty="0"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kern="0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定理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6.2.5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1059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9771178-900F-43AA-BBE4-0AD782F95C9E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50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2349500"/>
            <a:ext cx="8301038" cy="1311275"/>
          </a:xfrm>
          <a:solidFill>
            <a:srgbClr val="F8FDCB"/>
          </a:solidFill>
          <a:ln w="38100">
            <a:solidFill>
              <a:srgbClr val="009900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36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在</a:t>
            </a:r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Abel</a:t>
            </a:r>
            <a:r>
              <a:rPr lang="zh-CN" altLang="en-US" sz="36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群中，有第三指数律：</a:t>
            </a:r>
            <a:endParaRPr lang="en-US" altLang="zh-CN" sz="36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36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a·b</a:t>
            </a:r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zh-CN" sz="36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en-US" altLang="zh-CN" sz="36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6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n-US" altLang="zh-CN" sz="36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·b</a:t>
            </a:r>
            <a:r>
              <a:rPr lang="en-US" altLang="zh-CN" sz="36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zh-CN" altLang="en-US" sz="36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zh-CN" altLang="en-US" sz="36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为任意整数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6.2.3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群 的 性 质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---(6)-Abel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群性质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1162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869D7C0-83A1-4960-9476-876258830EB4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51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975" y="1196975"/>
            <a:ext cx="8301038" cy="5400675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加法群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: (G,+)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永远假定加法群是一个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Abel</a:t>
            </a: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群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</a:t>
            </a:r>
          </a:p>
          <a:p>
            <a:pPr>
              <a:defRPr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609388"/>
              </p:ext>
            </p:extLst>
          </p:nvPr>
        </p:nvGraphicFramePr>
        <p:xfrm>
          <a:off x="899592" y="2076450"/>
          <a:ext cx="6720408" cy="3551472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27251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99527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73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000" b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乘法群</a:t>
                      </a: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(G</a:t>
                      </a:r>
                      <a:r>
                        <a:rPr lang="en-US" altLang="zh-CN" sz="3000" b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,</a:t>
                      </a:r>
                      <a:r>
                        <a:rPr lang="en-US" altLang="zh-CN" sz="3200" b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  <a:sym typeface="Symbol" pitchFamily="18" charset="2"/>
                        </a:rPr>
                        <a:t> </a:t>
                      </a:r>
                      <a:r>
                        <a:rPr lang="en-US" altLang="zh-CN" sz="2800" b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  <a:sym typeface="Symbol" pitchFamily="18" charset="2"/>
                        </a:rPr>
                        <a:t>·)</a:t>
                      </a:r>
                      <a:endParaRPr lang="zh-CN" altLang="en-US" sz="2800" b="0" dirty="0"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000" b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加法群</a:t>
                      </a: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(G,+)</a:t>
                      </a:r>
                      <a:r>
                        <a:rPr lang="en-US" altLang="zh-CN" sz="28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 </a:t>
                      </a:r>
                      <a:endParaRPr lang="zh-CN" altLang="en-US" sz="3000" b="0" dirty="0"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T="45728" marB="45728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773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2800" b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  <a:sym typeface="Symbol" pitchFamily="18" charset="2"/>
                        </a:rPr>
                        <a:t>·</a:t>
                      </a:r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a=a</a:t>
                      </a:r>
                      <a:r>
                        <a:rPr lang="en-US" altLang="zh-CN" sz="2800" b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  <a:sym typeface="Symbol" pitchFamily="18" charset="2"/>
                        </a:rPr>
                        <a:t>·</a:t>
                      </a:r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1=a                   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8" marB="45728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0+a=a+0=a</a:t>
                      </a:r>
                    </a:p>
                  </a:txBody>
                  <a:tcPr marT="45728" marB="45728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87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 </a:t>
                      </a:r>
                      <a:r>
                        <a:rPr lang="en-US" altLang="zh-CN" sz="30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lang="en-US" altLang="zh-CN" sz="3000" b="0" baseline="300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-1</a:t>
                      </a:r>
                      <a:r>
                        <a:rPr lang="en-US" altLang="zh-CN" sz="2800" b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  <a:sym typeface="Symbol" pitchFamily="18" charset="2"/>
                        </a:rPr>
                        <a:t>·</a:t>
                      </a:r>
                      <a:r>
                        <a:rPr lang="en-US" altLang="zh-CN" sz="30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a=a</a:t>
                      </a:r>
                      <a:r>
                        <a:rPr lang="en-US" altLang="zh-CN" sz="2800" b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  <a:sym typeface="Symbol" pitchFamily="18" charset="2"/>
                        </a:rPr>
                        <a:t>·</a:t>
                      </a:r>
                      <a:r>
                        <a:rPr lang="en-US" altLang="zh-CN" sz="30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lang="en-US" altLang="zh-CN" sz="3000" b="0" baseline="300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-1</a:t>
                      </a:r>
                      <a:r>
                        <a:rPr lang="en-US" altLang="zh-CN" sz="30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=1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8" marB="4572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000" b="0" baseline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 (</a:t>
                      </a:r>
                      <a:r>
                        <a:rPr lang="en-US" altLang="zh-CN" sz="30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-a)+a=</a:t>
                      </a:r>
                      <a:r>
                        <a:rPr lang="en-US" altLang="zh-CN" sz="30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a+(-a)= 0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8" marB="45728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487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US" altLang="zh-CN" sz="3000" b="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 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8" marB="4572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8" marB="45728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487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US" altLang="zh-CN" sz="3000" b="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altLang="zh-CN" sz="3000" b="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=1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0a=0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8" marB="45728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487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u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a</a:t>
                      </a:r>
                      <a:r>
                        <a:rPr lang="en-US" altLang="zh-CN" sz="3000" b="0" u="none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-n</a:t>
                      </a:r>
                      <a:r>
                        <a:rPr lang="en-US" altLang="zh-CN" sz="3000" b="0" u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=(a</a:t>
                      </a:r>
                      <a:r>
                        <a:rPr lang="en-US" altLang="zh-CN" sz="3000" b="0" u="none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n</a:t>
                      </a:r>
                      <a:r>
                        <a:rPr lang="en-US" altLang="zh-CN" sz="3000" b="0" u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)</a:t>
                      </a:r>
                      <a:r>
                        <a:rPr lang="en-US" altLang="zh-CN" sz="3000" b="0" u="none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-1</a:t>
                      </a:r>
                      <a:endParaRPr lang="zh-CN" altLang="en-US" sz="3000" b="0" u="non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(-n)a = -(na)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8" marB="45728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6.2.3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群 的 性 质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---(6)-Abel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群性质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1266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336151A-3C8F-404D-8D99-AAD30A10E77C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52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6737" y="1340768"/>
            <a:ext cx="8301038" cy="4572000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加法群中三个指数定律：</a:t>
            </a:r>
          </a:p>
          <a:p>
            <a:pPr marL="0" indent="0" algn="just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en-US" altLang="zh-CN" sz="3200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)a=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ma</a:t>
            </a:r>
            <a:r>
              <a:rPr lang="en-US" altLang="zh-CN" sz="3200" dirty="0" err="1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na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</a:p>
          <a:p>
            <a:pPr marL="0" indent="0" algn="just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m(na)=(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mn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)a,</a:t>
            </a:r>
          </a:p>
          <a:p>
            <a:pPr marL="0" indent="0" algn="just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m(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dirty="0" err="1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ma</a:t>
            </a:r>
            <a:r>
              <a:rPr lang="en-US" altLang="zh-CN" sz="3200" dirty="0" err="1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mb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m,n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为任意整数）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思考：乘法群中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a·b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Abel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群中写作？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6.2.3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群 的 性 质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---(6)-Abel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群性质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1366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4A0442B-97ED-4642-BC88-509F31F09748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53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3"/>
          <p:cNvSpPr>
            <a:spLocks noChangeArrowheads="1"/>
          </p:cNvSpPr>
          <p:nvPr/>
        </p:nvSpPr>
        <p:spPr bwMode="auto">
          <a:xfrm>
            <a:off x="395537" y="1254124"/>
            <a:ext cx="8568952" cy="5053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indent="185738" eaLnBrk="1" latinLnBrk="1" hangingPunct="1">
              <a:lnSpc>
                <a:spcPct val="125000"/>
              </a:lnSpc>
              <a:spcBef>
                <a:spcPts val="0"/>
              </a:spcBef>
              <a:buClr>
                <a:schemeClr val="accent2"/>
              </a:buClr>
              <a:defRPr/>
            </a:pPr>
            <a:r>
              <a:rPr lang="en-US" altLang="zh-CN" sz="3200" b="1" dirty="0" smtClean="0">
                <a:solidFill>
                  <a:srgbClr val="0000FF"/>
                </a:solidFill>
                <a:ea typeface="楷体_GB2312" panose="02010609030101010101" pitchFamily="49" charset="-122"/>
                <a:sym typeface="Symbol" pitchFamily="18" charset="2"/>
              </a:rPr>
              <a:t>◆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消去律成立</a:t>
            </a:r>
          </a:p>
          <a:p>
            <a:pPr indent="185738" eaLnBrk="1" latinLnBrk="1" hangingPunct="1">
              <a:lnSpc>
                <a:spcPct val="125000"/>
              </a:lnSpc>
              <a:spcBef>
                <a:spcPts val="0"/>
              </a:spcBef>
              <a:buClr>
                <a:schemeClr val="accent2"/>
              </a:buClr>
              <a:defRPr/>
            </a:pPr>
            <a:r>
              <a:rPr lang="en-US" altLang="zh-CN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◆</a:t>
            </a:r>
            <a:r>
              <a:rPr lang="zh-CN" altLang="en-US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可除条件成立，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其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运算表中每一行或每一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列 中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元素互不相同。</a:t>
            </a:r>
          </a:p>
          <a:p>
            <a:pPr indent="185738" eaLnBrk="1" latinLnBrk="1" hangingPunct="1">
              <a:lnSpc>
                <a:spcPct val="125000"/>
              </a:lnSpc>
              <a:spcBef>
                <a:spcPts val="0"/>
              </a:spcBef>
              <a:buClr>
                <a:schemeClr val="accent2"/>
              </a:buClr>
              <a:defRPr/>
            </a:pP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◆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存在唯一的幂等元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（单位元）。</a:t>
            </a:r>
          </a:p>
          <a:p>
            <a:pPr marL="185738" eaLnBrk="1" latinLnBrk="1" hangingPunct="1">
              <a:lnSpc>
                <a:spcPct val="125000"/>
              </a:lnSpc>
              <a:spcBef>
                <a:spcPts val="0"/>
              </a:spcBef>
              <a:buClr>
                <a:schemeClr val="accent2"/>
              </a:buClr>
              <a:defRPr/>
            </a:pP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◆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一元群、二元群、三元群是唯一的，且都是  交换群</a:t>
            </a:r>
          </a:p>
          <a:p>
            <a:pPr indent="185738" eaLnBrk="1" latinLnBrk="1" hangingPunct="1">
              <a:lnSpc>
                <a:spcPct val="125000"/>
              </a:lnSpc>
              <a:spcBef>
                <a:spcPts val="0"/>
              </a:spcBef>
              <a:buClr>
                <a:schemeClr val="accent2"/>
              </a:buClr>
              <a:defRPr/>
            </a:pP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◆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含有单位元的半群称为独异点</a:t>
            </a:r>
            <a:r>
              <a:rPr lang="zh-CN" altLang="en-US" sz="3200" dirty="0" smtClean="0">
                <a:latin typeface="+mn-lt"/>
                <a:ea typeface="宋体" panose="02010600030101010101" pitchFamily="2" charset="-122"/>
                <a:sym typeface="Symbol" pitchFamily="18" charset="2"/>
              </a:rPr>
              <a:t>。</a:t>
            </a:r>
            <a:endParaRPr lang="en-US" altLang="zh-CN" sz="3200" dirty="0" smtClean="0">
              <a:latin typeface="+mn-lt"/>
              <a:ea typeface="宋体" panose="02010600030101010101" pitchFamily="2" charset="-122"/>
              <a:sym typeface="Symbol" pitchFamily="18" charset="2"/>
            </a:endParaRPr>
          </a:p>
          <a:p>
            <a:pPr marL="457200" indent="-280988" eaLnBrk="1" latinLnBrk="1" hangingPunct="1">
              <a:lnSpc>
                <a:spcPct val="125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3200" dirty="0">
                <a:latin typeface="+mn-lt"/>
                <a:ea typeface="宋体" panose="02010600030101010101" pitchFamily="2" charset="-122"/>
                <a:sym typeface="Symbol" pitchFamily="18" charset="2"/>
              </a:rPr>
              <a:t> </a:t>
            </a:r>
            <a:r>
              <a:rPr lang="en-US" altLang="zh-CN" sz="3200" dirty="0" smtClean="0">
                <a:latin typeface="+mn-lt"/>
                <a:ea typeface="宋体" panose="02010600030101010101" pitchFamily="2" charset="-122"/>
                <a:sym typeface="Symbol" pitchFamily="18" charset="2"/>
              </a:rPr>
              <a:t>   </a:t>
            </a:r>
          </a:p>
          <a:p>
            <a:pPr marL="457200" indent="-457200" eaLnBrk="1" latinLnBrk="1" hangingPunct="1">
              <a:lnSpc>
                <a:spcPct val="125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endParaRPr lang="zh-CN" altLang="en-US" sz="3200" dirty="0">
              <a:latin typeface="+mn-lt"/>
              <a:ea typeface="宋体" panose="02010600030101010101" pitchFamily="2" charset="-122"/>
              <a:sym typeface="Symbol" pitchFamily="18" charset="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群的其它结论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1469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DA01139-0C0C-4BCF-9B90-CE708C6EC221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54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证明群的方法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群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的定义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群的性质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（定理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6.2.2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endParaRPr lang="en-US" altLang="zh-CN" sz="32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半群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满足可除条件为群（定理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6.2.3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</a:p>
          <a:p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有限半群满足消去律为群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习题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6.2-2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endParaRPr lang="en-US" altLang="zh-CN" sz="32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88DEDD-FD7E-44A4-B650-7EBC6DB63B67}" type="slidenum">
              <a:rPr lang="en-US" altLang="ko-KR" smtClean="0"/>
              <a:pPr>
                <a:defRPr/>
              </a:pPr>
              <a:t>55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79484142"/>
      </p:ext>
    </p:extLst>
  </p:cSld>
  <p:clrMapOvr>
    <a:masterClrMapping/>
  </p:clrMapOvr>
  <p:transition spd="med">
    <p:rand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61975" y="1268413"/>
            <a:ext cx="8258175" cy="2089150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集合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到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上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的映射称为</a:t>
            </a:r>
            <a:r>
              <a:rPr lang="zh-CN" altLang="en-US" sz="3200" u="sng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变换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</a:t>
            </a: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是一个</a:t>
            </a:r>
            <a:r>
              <a:rPr lang="zh-CN" altLang="en-US" sz="32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非空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</a:t>
            </a:r>
            <a:r>
              <a:rPr lang="zh-CN" altLang="en-US" sz="32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有限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集合，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的一个一对一变换称为一个</a:t>
            </a:r>
            <a:r>
              <a:rPr lang="zh-CN" altLang="en-US" sz="3200" u="sng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置换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50182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539750" y="3286125"/>
            <a:ext cx="8424863" cy="2808288"/>
          </a:xfrm>
          <a:prstGeom prst="rect">
            <a:avLst/>
          </a:prstGeom>
          <a:blipFill rotWithShape="0">
            <a:blip r:embed="rId2"/>
            <a:stretch>
              <a:fillRect l="-1737" t="-1952" r="-796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  <a:ea typeface="楷体_GB2312" panose="02010609030101010101" pitchFamily="49" charset="-122"/>
              </a:rPr>
              <a:t> 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置换的定义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1571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21DADF7-D45D-4FD1-B519-213A4938773E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56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文本占位符 2"/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sz="half" idx="1"/>
          </p:nvPr>
        </p:nvSpPr>
        <p:spPr>
          <a:xfrm>
            <a:off x="561975" y="1476375"/>
            <a:ext cx="7897813" cy="4572000"/>
          </a:xfrm>
          <a:blipFill rotWithShape="0">
            <a:blip r:embed="rId2"/>
            <a:stretch>
              <a:fillRect l="-1929" t="-933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置换的定义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1674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2CDF8D2-CECB-4DEB-889C-E8772125B0EF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57</a:t>
            </a:fld>
            <a:endParaRPr lang="en-US" altLang="ko-KR" sz="140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>
          <a:xfrm>
            <a:off x="539750" y="476250"/>
            <a:ext cx="8020050" cy="7207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习题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6.2--3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125538"/>
            <a:ext cx="8467477" cy="4922837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</a:t>
            </a:r>
            <a:r>
              <a:rPr lang="zh-CN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举例说明定理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6.2.2</a:t>
            </a:r>
            <a:r>
              <a:rPr lang="zh-CN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中的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(1)’</a:t>
            </a:r>
            <a:r>
              <a:rPr lang="zh-CN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和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(2)’</a:t>
            </a:r>
            <a:r>
              <a:rPr lang="zh-CN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分别改成：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中有一个元素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适合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a=a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；</a:t>
            </a:r>
            <a:r>
              <a:rPr lang="zh-CN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对于任意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有一个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zh-CN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适合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</a:t>
            </a:r>
            <a:r>
              <a:rPr lang="zh-CN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不见得是一个群。</a:t>
            </a:r>
            <a:endParaRPr lang="en-US" altLang="zh-CN" sz="28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defRPr/>
            </a:pPr>
            <a:r>
              <a:rPr lang="zh-CN" altLang="en-US" sz="28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解：</a:t>
            </a:r>
            <a:endParaRPr lang="zh-CN" altLang="zh-CN" sz="28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/>
              <a:t>                 G=</a:t>
            </a:r>
            <a:endParaRPr lang="zh-CN" altLang="zh-CN" sz="2800" dirty="0" smtClean="0"/>
          </a:p>
          <a:p>
            <a:pPr>
              <a:defRPr/>
            </a:pPr>
            <a:endParaRPr lang="en-US" altLang="zh-CN" dirty="0" smtClean="0"/>
          </a:p>
          <a:p>
            <a:pPr>
              <a:defRPr/>
            </a:pPr>
            <a:endParaRPr lang="en-US" altLang="zh-CN" dirty="0" smtClean="0"/>
          </a:p>
          <a:p>
            <a:pPr>
              <a:defRPr/>
            </a:pPr>
            <a:r>
              <a:rPr lang="zh-CN" altLang="en-US" sz="28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有左壹：</a:t>
            </a:r>
            <a:r>
              <a:rPr lang="zh-CN" altLang="en-US" dirty="0" smtClean="0"/>
              <a:t>                            </a:t>
            </a:r>
            <a:r>
              <a:rPr lang="zh-CN" altLang="en-US" sz="28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有右逆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endParaRPr lang="en-US" altLang="zh-CN" dirty="0" smtClean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但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不是群。</a:t>
            </a:r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8624130"/>
              </p:ext>
            </p:extLst>
          </p:nvPr>
        </p:nvGraphicFramePr>
        <p:xfrm>
          <a:off x="2555776" y="2564904"/>
          <a:ext cx="3305175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935" name="公式" r:id="rId3" imgW="1384300" imgH="482600" progId="Equation.3">
                  <p:embed/>
                </p:oleObj>
              </mc:Choice>
              <mc:Fallback>
                <p:oleObj name="公式" r:id="rId3" imgW="13843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2564904"/>
                        <a:ext cx="3305175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2700338" y="4005263"/>
          <a:ext cx="1035050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936" name="公式" r:id="rId5" imgW="469900" imgH="457200" progId="Equation.3">
                  <p:embed/>
                </p:oleObj>
              </mc:Choice>
              <mc:Fallback>
                <p:oleObj name="公式" r:id="rId5" imgW="4699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4005263"/>
                        <a:ext cx="1035050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4"/>
          <p:cNvGraphicFramePr>
            <a:graphicFrameLocks noChangeAspect="1"/>
          </p:cNvGraphicFramePr>
          <p:nvPr/>
        </p:nvGraphicFramePr>
        <p:xfrm>
          <a:off x="6227763" y="3933825"/>
          <a:ext cx="1236662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937" name="公式" r:id="rId7" imgW="583947" imgH="482391" progId="Equation.3">
                  <p:embed/>
                </p:oleObj>
              </mc:Choice>
              <mc:Fallback>
                <p:oleObj name="公式" r:id="rId7" imgW="583947" imgH="4823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3933825"/>
                        <a:ext cx="1236662" cy="102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625071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因为</a:t>
            </a:r>
            <a:r>
              <a:rPr lang="zh-CN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当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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</a:t>
            </a:r>
            <a:r>
              <a:rPr lang="zh-CN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时</a:t>
            </a:r>
            <a:endParaRPr lang="en-US" altLang="zh-CN" sz="32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200" b="1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因此，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b="1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中无单位元。</a:t>
            </a:r>
            <a:endParaRPr lang="en-US" altLang="zh-CN" sz="3200" b="1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lang="en-US" altLang="zh-CN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lang="zh-CN" altLang="zh-CN" dirty="0" smtClean="0"/>
          </a:p>
          <a:p>
            <a:endParaRPr lang="zh-CN" altLang="en-US" dirty="0" smtClean="0"/>
          </a:p>
        </p:txBody>
      </p:sp>
      <p:graphicFrame>
        <p:nvGraphicFramePr>
          <p:cNvPr id="34820" name="Object 2"/>
          <p:cNvGraphicFramePr>
            <a:graphicFrameLocks noChangeAspect="1"/>
          </p:cNvGraphicFramePr>
          <p:nvPr/>
        </p:nvGraphicFramePr>
        <p:xfrm>
          <a:off x="1619250" y="2420938"/>
          <a:ext cx="5543550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33" name="公式" r:id="rId3" imgW="2070100" imgH="457200" progId="Equation.3">
                  <p:embed/>
                </p:oleObj>
              </mc:Choice>
              <mc:Fallback>
                <p:oleObj name="公式" r:id="rId3" imgW="20701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2420938"/>
                        <a:ext cx="5543550" cy="1223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539750" y="476250"/>
            <a:ext cx="8020050" cy="7207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习题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6.2--3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5348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内容占位符 2"/>
          <p:cNvSpPr>
            <a:spLocks noGrp="1"/>
          </p:cNvSpPr>
          <p:nvPr>
            <p:ph idx="1"/>
          </p:nvPr>
        </p:nvSpPr>
        <p:spPr>
          <a:xfrm>
            <a:off x="395596" y="692696"/>
            <a:ext cx="8472179" cy="52562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zh-CN" altLang="en-US" sz="28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</a:t>
            </a:r>
            <a:r>
              <a:rPr lang="en-US" altLang="zh-CN" sz="28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给定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整数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m, 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令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G={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km|k∈Z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},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(G,+)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群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(1)G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非空，至少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0=0m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</a:p>
          <a:p>
            <a:pPr marL="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对于任意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x,y∈G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,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存在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k,</a:t>
            </a:r>
            <a:r>
              <a:rPr lang="en-US" altLang="zh-CN" sz="2800" dirty="0" err="1"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，使得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x=km ,y=lm ,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由于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k+l∈Z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，因此，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x+y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km+lm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=(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k+l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m∈G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,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封闭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(3)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由整数运算性质，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满足结合律。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(4)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有左壹：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0m=0∈G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使得对任意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x∈G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，有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0+x=x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(5)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有左逆：对任意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x∈G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，存在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k∈Z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，使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x=km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，因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k∈Z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-x=(-k)m ∈G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且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(-x)+x=0 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(G,+)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为群。</a:t>
            </a:r>
          </a:p>
        </p:txBody>
      </p:sp>
      <p:sp>
        <p:nvSpPr>
          <p:cNvPr id="16896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15C029C-3C59-40F9-8883-0406053A2B58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60</a:t>
            </a:fld>
            <a:endParaRPr lang="en-US" altLang="ko-KR" sz="140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439054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620688"/>
            <a:ext cx="8568952" cy="576064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(A,*)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是一个群，对每一个元素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，做映射   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(x)=a*x ,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xA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G={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3000" baseline="-25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|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},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证明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关于映射的乘法构成一个群。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证明：</a:t>
            </a:r>
            <a:endParaRPr lang="en-US" altLang="zh-CN" sz="300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1)G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非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空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至少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(x)=e*x=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xG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(e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的单位元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任取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3000" baseline="-25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a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(x)=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(b*x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)=(a*(b*x))=(a*b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)*x=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a*b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(x)</a:t>
            </a:r>
            <a:r>
              <a:rPr lang="en-US" altLang="zh-CN" sz="26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3)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映射乘法满足结合律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4)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存在</a:t>
            </a:r>
            <a:r>
              <a:rPr lang="en-US" altLang="zh-CN" sz="3000" baseline="-25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，对于任意</a:t>
            </a:r>
            <a:r>
              <a:rPr lang="en-US" altLang="zh-CN" sz="3000" baseline="-25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，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e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e*a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5)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对任意</a:t>
            </a:r>
            <a:r>
              <a:rPr lang="en-US" altLang="zh-CN" sz="3000" baseline="-25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G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存在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G,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满足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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zh-CN" altLang="en-US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3000" b="1" baseline="-25000" dirty="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endParaRPr lang="zh-CN" altLang="en-US" sz="3000" b="1" baseline="-25000" dirty="0">
              <a:ea typeface="宋体" panose="02010600030101010101" pitchFamily="2" charset="-122"/>
            </a:endParaRPr>
          </a:p>
        </p:txBody>
      </p:sp>
      <p:sp>
        <p:nvSpPr>
          <p:cNvPr id="17920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ED23D98-8FA2-4532-B883-E9CF742B367B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61</a:t>
            </a:fld>
            <a:endParaRPr lang="en-US" altLang="ko-KR" sz="140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340784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3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置换</a:t>
            </a:r>
            <a:endParaRPr lang="en-US" altLang="zh-CN" sz="33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r>
              <a:rPr lang="en-US" altLang="zh-CN" sz="33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Sn</a:t>
            </a:r>
          </a:p>
          <a:p>
            <a:r>
              <a:rPr lang="en-US" altLang="zh-CN" sz="33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3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元恒等置换</a:t>
            </a:r>
            <a:endParaRPr lang="en-US" altLang="zh-CN" sz="33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1E141A-1452-4689-A0B7-467EBBE16A2C}" type="slidenum">
              <a:rPr lang="en-US" altLang="ko-KR" smtClean="0"/>
              <a:pPr>
                <a:defRPr/>
              </a:pPr>
              <a:t>62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2427116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置换的例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27088" y="1412875"/>
            <a:ext cx="7561262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kern="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设</a:t>
            </a:r>
            <a:r>
              <a:rPr lang="en-US" altLang="zh-CN" sz="3200" kern="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M={1</a:t>
            </a:r>
            <a:r>
              <a:rPr lang="zh-CN" altLang="en-US" sz="3200" kern="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200" kern="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zh-CN" altLang="en-US" sz="3200" kern="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200" kern="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3}</a:t>
            </a:r>
            <a:r>
              <a:rPr lang="zh-CN" altLang="en-US" sz="3200" kern="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，写出</a:t>
            </a:r>
            <a:r>
              <a:rPr lang="en-US" altLang="zh-CN" sz="3200" kern="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zh-CN" altLang="en-US" sz="3200" kern="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的所有置换</a:t>
            </a:r>
            <a:endParaRPr lang="zh-CN" altLang="en-US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100356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86000"/>
            <a:ext cx="73152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357" name="文本框 7"/>
          <p:cNvSpPr txBox="1">
            <a:spLocks noChangeArrowheads="1"/>
          </p:cNvSpPr>
          <p:nvPr/>
        </p:nvSpPr>
        <p:spPr bwMode="auto">
          <a:xfrm>
            <a:off x="1258888" y="5027613"/>
            <a:ext cx="67691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zh-CN" sz="3200"/>
              <a:t>S</a:t>
            </a:r>
            <a:r>
              <a:rPr lang="en-US" altLang="zh-CN" sz="3200" baseline="-25000"/>
              <a:t>3</a:t>
            </a:r>
            <a:r>
              <a:rPr lang="en-US" altLang="zh-CN" sz="3200"/>
              <a:t>={</a:t>
            </a:r>
            <a:r>
              <a:rPr lang="en-US" altLang="zh-CN" sz="3200">
                <a:sym typeface="Symbol" panose="05050102010706020507" pitchFamily="18" charset="2"/>
              </a:rPr>
              <a:t></a:t>
            </a:r>
            <a:r>
              <a:rPr lang="en-US" altLang="zh-CN" sz="3200" baseline="-25000">
                <a:sym typeface="Symbol" panose="05050102010706020507" pitchFamily="18" charset="2"/>
              </a:rPr>
              <a:t>1</a:t>
            </a:r>
            <a:r>
              <a:rPr lang="en-US" altLang="zh-CN" sz="3200">
                <a:sym typeface="Symbol" panose="05050102010706020507" pitchFamily="18" charset="2"/>
              </a:rPr>
              <a:t>,</a:t>
            </a:r>
            <a:r>
              <a:rPr lang="en-US" altLang="zh-CN" sz="3200" baseline="-25000">
                <a:sym typeface="Symbol" panose="05050102010706020507" pitchFamily="18" charset="2"/>
              </a:rPr>
              <a:t>2</a:t>
            </a:r>
            <a:r>
              <a:rPr lang="en-US" altLang="zh-CN" sz="3200">
                <a:sym typeface="Symbol" panose="05050102010706020507" pitchFamily="18" charset="2"/>
              </a:rPr>
              <a:t>, </a:t>
            </a:r>
            <a:r>
              <a:rPr lang="en-US" altLang="zh-CN" sz="3200" baseline="-25000">
                <a:sym typeface="Symbol" panose="05050102010706020507" pitchFamily="18" charset="2"/>
              </a:rPr>
              <a:t>3</a:t>
            </a:r>
            <a:r>
              <a:rPr lang="zh-CN" altLang="en-US" sz="3200">
                <a:sym typeface="Symbol" panose="05050102010706020507" pitchFamily="18" charset="2"/>
              </a:rPr>
              <a:t>，</a:t>
            </a:r>
            <a:r>
              <a:rPr lang="en-US" altLang="zh-CN" sz="3200">
                <a:sym typeface="Symbol" panose="05050102010706020507" pitchFamily="18" charset="2"/>
              </a:rPr>
              <a:t></a:t>
            </a:r>
            <a:r>
              <a:rPr lang="en-US" altLang="zh-CN" sz="3200" baseline="-25000">
                <a:sym typeface="Symbol" panose="05050102010706020507" pitchFamily="18" charset="2"/>
              </a:rPr>
              <a:t>4</a:t>
            </a:r>
            <a:r>
              <a:rPr lang="zh-CN" altLang="en-US" sz="3200">
                <a:sym typeface="Symbol" panose="05050102010706020507" pitchFamily="18" charset="2"/>
              </a:rPr>
              <a:t>，</a:t>
            </a:r>
            <a:r>
              <a:rPr lang="en-US" altLang="zh-CN" sz="3200">
                <a:sym typeface="Symbol" panose="05050102010706020507" pitchFamily="18" charset="2"/>
              </a:rPr>
              <a:t></a:t>
            </a:r>
            <a:r>
              <a:rPr lang="en-US" altLang="zh-CN" sz="3200" baseline="-25000">
                <a:sym typeface="Symbol" panose="05050102010706020507" pitchFamily="18" charset="2"/>
              </a:rPr>
              <a:t>5</a:t>
            </a:r>
            <a:r>
              <a:rPr lang="zh-CN" altLang="en-US" sz="3200">
                <a:sym typeface="Symbol" panose="05050102010706020507" pitchFamily="18" charset="2"/>
              </a:rPr>
              <a:t>，</a:t>
            </a:r>
            <a:r>
              <a:rPr lang="en-US" altLang="zh-CN" sz="3200">
                <a:sym typeface="Symbol" panose="05050102010706020507" pitchFamily="18" charset="2"/>
              </a:rPr>
              <a:t></a:t>
            </a:r>
            <a:r>
              <a:rPr lang="en-US" altLang="zh-CN" sz="3200" baseline="-25000">
                <a:sym typeface="Symbol" panose="05050102010706020507" pitchFamily="18" charset="2"/>
              </a:rPr>
              <a:t>6</a:t>
            </a:r>
            <a:r>
              <a:rPr lang="en-US" altLang="zh-CN" sz="3200">
                <a:sym typeface="Symbol" panose="05050102010706020507" pitchFamily="18" charset="2"/>
              </a:rPr>
              <a:t>}</a:t>
            </a:r>
            <a:endParaRPr lang="zh-CN" altLang="en-US" sz="3200"/>
          </a:p>
          <a:p>
            <a:pPr latinLnBrk="0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1776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569037B-C1AE-418A-9AFB-58E3ABDC0CCC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63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7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412875"/>
            <a:ext cx="8299450" cy="1079500"/>
          </a:xfrm>
        </p:spPr>
        <p:txBody>
          <a:bodyPr/>
          <a:lstStyle/>
          <a:p>
            <a:pPr marL="2236788" indent="-2236788" eaLnBrk="1" hangingPunct="1"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对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中任意元素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及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的任意两个置换</a:t>
            </a:r>
            <a:r>
              <a:rPr lang="en-US" altLang="zh-CN" sz="3000" dirty="0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σ</a:t>
            </a:r>
            <a:r>
              <a:rPr lang="zh-CN" altLang="en-US" sz="3000" dirty="0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、</a:t>
            </a:r>
            <a:r>
              <a:rPr lang="en-US" altLang="zh-CN" sz="3000" dirty="0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τ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b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lang="en-US" altLang="zh-CN" sz="3000" dirty="0" err="1">
                <a:ea typeface="+mj-ea"/>
                <a:cs typeface="Arial" panose="020B0604020202020204" pitchFamily="34" charset="0"/>
                <a:sym typeface="Symbol" panose="05050102010706020507" pitchFamily="18" charset="2"/>
              </a:rPr>
              <a:t>στ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(a)=</a:t>
            </a:r>
            <a:r>
              <a:rPr lang="en-US" altLang="zh-CN" sz="3000" dirty="0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σ(τ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(a))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53256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68313" y="2781301"/>
            <a:ext cx="8424863" cy="3744043"/>
          </a:xfrm>
          <a:prstGeom prst="rect">
            <a:avLst/>
          </a:prstGeom>
          <a:blipFill rotWithShape="0">
            <a:blip r:embed="rId2"/>
            <a:stretch>
              <a:fillRect l="-1592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  <a:ea typeface="楷体_GB2312" panose="02010609030101010101" pitchFamily="49" charset="-122"/>
              </a:rPr>
              <a:t> </a:t>
            </a:r>
          </a:p>
        </p:txBody>
      </p:sp>
      <p:sp>
        <p:nvSpPr>
          <p:cNvPr id="3" name="矩形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775460" y="2862204"/>
            <a:ext cx="2596545" cy="810799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  <a:ea typeface="楷体_GB2312" panose="02010609030101010101" pitchFamily="49" charset="-122"/>
              </a:rPr>
              <a:t> 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置换的乘法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1879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12726E2-6974-4D2B-8EB0-3B80EB61AE25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64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56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56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4350" y="1412875"/>
            <a:ext cx="8450263" cy="2016125"/>
          </a:xfrm>
        </p:spPr>
        <p:txBody>
          <a:bodyPr/>
          <a:lstStyle/>
          <a:p>
            <a:pPr marL="476250" indent="-476250" eaLnBrk="1" hangingPunct="1">
              <a:lnSpc>
                <a:spcPct val="125000"/>
              </a:lnSpc>
              <a:buFont typeface="Wingdings" panose="05000000000000000000" pitchFamily="2" charset="2"/>
              <a:buAutoNum type="arabicPeriod"/>
            </a:pPr>
            <a:r>
              <a:rPr lang="zh-CN" altLang="en-US" sz="3000" dirty="0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满足结合律</a:t>
            </a:r>
            <a:r>
              <a:rPr lang="en-US" altLang="zh-CN" sz="3000" dirty="0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:    (</a:t>
            </a:r>
            <a:r>
              <a:rPr lang="en-US" altLang="zh-CN" sz="3000" dirty="0" err="1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στ</a:t>
            </a:r>
            <a:r>
              <a:rPr lang="en-US" altLang="zh-CN" sz="3000" dirty="0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)ρ=σ(</a:t>
            </a:r>
            <a:r>
              <a:rPr lang="en-US" altLang="zh-CN" sz="3000" dirty="0" err="1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τρ</a:t>
            </a:r>
            <a:r>
              <a:rPr lang="en-US" altLang="zh-CN" sz="3000" dirty="0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),  </a:t>
            </a:r>
            <a:r>
              <a:rPr lang="en-US" altLang="zh-CN" sz="3000" dirty="0" err="1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σ,τ,ρS</a:t>
            </a:r>
            <a:r>
              <a:rPr lang="en-US" altLang="zh-CN" sz="3000" baseline="-30000" dirty="0" err="1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zh-CN" altLang="en-US" sz="3000" dirty="0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</a:t>
            </a:r>
          </a:p>
          <a:p>
            <a:pPr marL="476250" indent="-476250" eaLnBrk="1" hangingPunct="1">
              <a:lnSpc>
                <a:spcPct val="125000"/>
              </a:lnSpc>
              <a:buFont typeface="Wingdings" panose="05000000000000000000" pitchFamily="2" charset="2"/>
              <a:buAutoNum type="arabicPeriod"/>
            </a:pPr>
            <a:r>
              <a:rPr lang="en-US" altLang="zh-CN" sz="3000" dirty="0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zh-CN" altLang="en-US" sz="3000" dirty="0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元恒等置换是</a:t>
            </a:r>
            <a:r>
              <a:rPr lang="en-US" altLang="zh-CN" sz="3000" dirty="0">
                <a:solidFill>
                  <a:srgbClr val="0000FF"/>
                </a:solidFill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zh-CN" sz="3000" baseline="-30000" dirty="0">
                <a:solidFill>
                  <a:srgbClr val="0000FF"/>
                </a:solidFill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zh-CN" altLang="en-US" sz="3000" dirty="0">
                <a:solidFill>
                  <a:srgbClr val="0000FF"/>
                </a:solidFill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中</a:t>
            </a:r>
            <a:r>
              <a:rPr lang="zh-CN" altLang="en-US" sz="3000" dirty="0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的单位元素，</a:t>
            </a:r>
            <a:br>
              <a:rPr lang="zh-CN" altLang="en-US" sz="3000" dirty="0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lang="zh-CN" altLang="en-US" sz="3000" dirty="0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设为</a:t>
            </a:r>
            <a:r>
              <a:rPr lang="en-US" altLang="zh-CN" sz="3000" dirty="0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σ</a:t>
            </a:r>
            <a:r>
              <a:rPr lang="en-US" altLang="zh-CN" sz="3000" baseline="-30000" dirty="0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zh-CN" altLang="en-US" sz="3000" dirty="0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，有：</a:t>
            </a:r>
            <a:r>
              <a:rPr lang="en-US" altLang="zh-CN" sz="3000" dirty="0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σ</a:t>
            </a:r>
            <a:r>
              <a:rPr lang="en-US" altLang="zh-CN" sz="3000" baseline="-30000" dirty="0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zh-CN" sz="3000" dirty="0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τ=τσ</a:t>
            </a:r>
            <a:r>
              <a:rPr lang="en-US" altLang="zh-CN" sz="3000" baseline="-30000" dirty="0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0 </a:t>
            </a:r>
            <a:r>
              <a:rPr lang="zh-CN" altLang="en-US" sz="3000" dirty="0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000" dirty="0" err="1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τS</a:t>
            </a:r>
            <a:r>
              <a:rPr lang="en-US" altLang="zh-CN" sz="3000" baseline="-30000" dirty="0" err="1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zh-CN" altLang="en-US" sz="3000" dirty="0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</a:t>
            </a:r>
            <a:r>
              <a:rPr lang="zh-CN" altLang="en-US" sz="3000" baseline="30000" dirty="0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 </a:t>
            </a:r>
            <a:endParaRPr lang="zh-CN" altLang="en-US" sz="3000" dirty="0"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7590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514349" y="3868739"/>
            <a:ext cx="7726363" cy="2224557"/>
          </a:xfrm>
          <a:prstGeom prst="rect">
            <a:avLst/>
          </a:prstGeom>
          <a:blipFill rotWithShape="0">
            <a:blip r:embed="rId3"/>
            <a:stretch>
              <a:fillRect l="-1577" t="-1918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  <a:ea typeface="楷体_GB2312" panose="02010609030101010101" pitchFamily="49" charset="-122"/>
              </a:rPr>
              <a:t> 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置换乘法性质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1981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F6F9960-2292-4D4D-B26C-A2C1D6C71047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65</a:t>
            </a:fld>
            <a:endParaRPr lang="en-US" altLang="ko-KR" sz="140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77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77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7858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内容占位符 2"/>
          <p:cNvSpPr>
            <a:spLocks noGrp="1"/>
          </p:cNvSpPr>
          <p:nvPr>
            <p:ph idx="1"/>
          </p:nvPr>
        </p:nvSpPr>
        <p:spPr>
          <a:xfrm>
            <a:off x="561975" y="765175"/>
            <a:ext cx="8301038" cy="5283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</a:t>
            </a:r>
            <a:r>
              <a:rPr lang="en-US" altLang="zh-CN" sz="2800" b="1" dirty="0">
                <a:sym typeface="Symbol" panose="05050102010706020507" pitchFamily="18" charset="2"/>
              </a:rPr>
              <a:t>σ=</a:t>
            </a:r>
            <a:r>
              <a:rPr lang="zh-CN" altLang="en-US" sz="2800" dirty="0"/>
              <a:t>       </a:t>
            </a:r>
            <a:r>
              <a:rPr lang="en-US" altLang="zh-CN" sz="2800" b="1" dirty="0">
                <a:sym typeface="Symbol" panose="05050102010706020507" pitchFamily="18" charset="2"/>
              </a:rPr>
              <a:t>                          </a:t>
            </a:r>
            <a:r>
              <a:rPr lang="en-US" altLang="zh-CN" sz="2800" b="1" dirty="0"/>
              <a:t>τ=                          </a:t>
            </a:r>
          </a:p>
          <a:p>
            <a:endParaRPr lang="en-US" altLang="zh-CN" sz="2800" b="1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ea typeface="宋体" panose="02010600030101010101" pitchFamily="2" charset="-122"/>
              </a:rPr>
              <a:t>求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σ</a:t>
            </a:r>
            <a:r>
              <a:rPr lang="en-US" altLang="zh-CN" sz="3000" baseline="30000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dirty="0" err="1">
                <a:ea typeface="宋体" panose="02010600030101010101" pitchFamily="2" charset="-122"/>
                <a:sym typeface="Symbol" panose="05050102010706020507" pitchFamily="18" charset="2"/>
              </a:rPr>
              <a:t>στ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dirty="0" err="1">
                <a:ea typeface="宋体" panose="02010600030101010101" pitchFamily="2" charset="-122"/>
                <a:sym typeface="Symbol" panose="05050102010706020507" pitchFamily="18" charset="2"/>
              </a:rPr>
              <a:t>τσ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， 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σ</a:t>
            </a:r>
            <a:r>
              <a:rPr lang="en-US" altLang="zh-CN" sz="3000" baseline="30000" dirty="0">
                <a:ea typeface="宋体" panose="02010600030101010101" pitchFamily="2" charset="-122"/>
                <a:sym typeface="Symbol" panose="05050102010706020507" pitchFamily="18" charset="2"/>
              </a:rPr>
              <a:t>-1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， 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τ </a:t>
            </a:r>
            <a:r>
              <a:rPr lang="en-US" altLang="zh-CN" sz="3000" baseline="30000" dirty="0">
                <a:ea typeface="宋体" panose="02010600030101010101" pitchFamily="2" charset="-122"/>
                <a:sym typeface="Symbol" panose="05050102010706020507" pitchFamily="18" charset="2"/>
              </a:rPr>
              <a:t>-1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    并解方程</a:t>
            </a:r>
            <a:r>
              <a:rPr lang="en-US" altLang="zh-CN" sz="3000" dirty="0" err="1">
                <a:ea typeface="宋体" panose="02010600030101010101" pitchFamily="2" charset="-122"/>
                <a:sym typeface="Symbol" panose="05050102010706020507" pitchFamily="18" charset="2"/>
              </a:rPr>
              <a:t>σx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=τ,  y τ= σ.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000" dirty="0">
                <a:ea typeface="宋体" panose="02010600030101010101" pitchFamily="2" charset="-122"/>
              </a:rPr>
              <a:t>解：</a:t>
            </a:r>
            <a:endParaRPr lang="en-US" altLang="zh-CN" sz="3000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>
                <a:sym typeface="Symbol" panose="05050102010706020507" pitchFamily="18" charset="2"/>
              </a:rPr>
              <a:t> σ</a:t>
            </a:r>
            <a:r>
              <a:rPr lang="en-US" altLang="zh-CN" sz="2800" baseline="30000" dirty="0"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ym typeface="Symbol" panose="05050102010706020507" pitchFamily="18" charset="2"/>
              </a:rPr>
              <a:t>=                                                      =                       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800" dirty="0"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800" dirty="0"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 err="1">
                <a:sym typeface="Symbol" panose="05050102010706020507" pitchFamily="18" charset="2"/>
              </a:rPr>
              <a:t>στ</a:t>
            </a:r>
            <a:r>
              <a:rPr lang="en-US" altLang="zh-CN" sz="2800" dirty="0">
                <a:sym typeface="Symbol" panose="05050102010706020507" pitchFamily="18" charset="2"/>
              </a:rPr>
              <a:t>=                                          </a:t>
            </a:r>
            <a:r>
              <a:rPr lang="en-US" altLang="zh-CN" sz="2800" dirty="0" err="1">
                <a:sym typeface="Symbol" panose="05050102010706020507" pitchFamily="18" charset="2"/>
              </a:rPr>
              <a:t>τσ</a:t>
            </a:r>
            <a:r>
              <a:rPr lang="en-US" altLang="zh-CN" sz="2800" dirty="0">
                <a:sym typeface="Symbol" panose="05050102010706020507" pitchFamily="18" charset="2"/>
              </a:rPr>
              <a:t>=</a:t>
            </a:r>
            <a:endParaRPr lang="zh-CN" altLang="en-US" sz="2800" dirty="0"/>
          </a:p>
        </p:txBody>
      </p:sp>
      <p:graphicFrame>
        <p:nvGraphicFramePr>
          <p:cNvPr id="121859" name="Object 6"/>
          <p:cNvGraphicFramePr>
            <a:graphicFrameLocks noChangeAspect="1"/>
          </p:cNvGraphicFramePr>
          <p:nvPr/>
        </p:nvGraphicFramePr>
        <p:xfrm>
          <a:off x="2051050" y="692150"/>
          <a:ext cx="2373313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763" name="公式" r:id="rId3" imgW="2071688" imgH="885825" progId="Equation.3">
                  <p:embed/>
                </p:oleObj>
              </mc:Choice>
              <mc:Fallback>
                <p:oleObj name="公式" r:id="rId3" imgW="2071688" imgH="88582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692150"/>
                        <a:ext cx="2373313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0" name="Object 8"/>
          <p:cNvGraphicFramePr>
            <a:graphicFrameLocks noChangeAspect="1"/>
          </p:cNvGraphicFramePr>
          <p:nvPr/>
        </p:nvGraphicFramePr>
        <p:xfrm>
          <a:off x="5402263" y="687388"/>
          <a:ext cx="2371725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764" name="公式" r:id="rId5" imgW="2104571" imgH="885371" progId="Equation.3">
                  <p:embed/>
                </p:oleObj>
              </mc:Choice>
              <mc:Fallback>
                <p:oleObj name="公式" r:id="rId5" imgW="2104571" imgH="88537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2263" y="687388"/>
                        <a:ext cx="2371725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4"/>
          <p:cNvGraphicFramePr>
            <a:graphicFrameLocks noChangeAspect="1"/>
          </p:cNvGraphicFramePr>
          <p:nvPr/>
        </p:nvGraphicFramePr>
        <p:xfrm>
          <a:off x="1476375" y="3141663"/>
          <a:ext cx="2084388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765" name="公式" r:id="rId7" imgW="2071688" imgH="885825" progId="Equation.3">
                  <p:embed/>
                </p:oleObj>
              </mc:Choice>
              <mc:Fallback>
                <p:oleObj name="公式" r:id="rId7" imgW="2071688" imgH="88582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141663"/>
                        <a:ext cx="2084388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10"/>
          <p:cNvGraphicFramePr>
            <a:graphicFrameLocks noChangeAspect="1"/>
          </p:cNvGraphicFramePr>
          <p:nvPr/>
        </p:nvGraphicFramePr>
        <p:xfrm>
          <a:off x="3708400" y="3141663"/>
          <a:ext cx="2084388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766" name="公式" r:id="rId8" imgW="2071688" imgH="885825" progId="Equation.3">
                  <p:embed/>
                </p:oleObj>
              </mc:Choice>
              <mc:Fallback>
                <p:oleObj name="公式" r:id="rId8" imgW="2071688" imgH="88582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3141663"/>
                        <a:ext cx="2084388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11"/>
          <p:cNvGraphicFramePr>
            <a:graphicFrameLocks noChangeAspect="1"/>
          </p:cNvGraphicFramePr>
          <p:nvPr/>
        </p:nvGraphicFramePr>
        <p:xfrm>
          <a:off x="6588125" y="3213100"/>
          <a:ext cx="2084388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767" name="公式" r:id="rId9" imgW="2071688" imgH="885825" progId="Equation.3">
                  <p:embed/>
                </p:oleObj>
              </mc:Choice>
              <mc:Fallback>
                <p:oleObj name="公式" r:id="rId9" imgW="2071688" imgH="88582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3213100"/>
                        <a:ext cx="2084388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Object 12"/>
          <p:cNvGraphicFramePr>
            <a:graphicFrameLocks noChangeAspect="1"/>
          </p:cNvGraphicFramePr>
          <p:nvPr/>
        </p:nvGraphicFramePr>
        <p:xfrm>
          <a:off x="1520825" y="4724400"/>
          <a:ext cx="2543175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768" name="公式" r:id="rId11" imgW="2071688" imgH="885825" progId="Equation.3">
                  <p:embed/>
                </p:oleObj>
              </mc:Choice>
              <mc:Fallback>
                <p:oleObj name="公式" r:id="rId11" imgW="2071688" imgH="88582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0825" y="4724400"/>
                        <a:ext cx="2543175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2" name="Object 13"/>
          <p:cNvGraphicFramePr>
            <a:graphicFrameLocks noChangeAspect="1"/>
          </p:cNvGraphicFramePr>
          <p:nvPr/>
        </p:nvGraphicFramePr>
        <p:xfrm>
          <a:off x="5699125" y="4652963"/>
          <a:ext cx="2541588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769" name="公式" r:id="rId13" imgW="2071688" imgH="885825" progId="Equation.3">
                  <p:embed/>
                </p:oleObj>
              </mc:Choice>
              <mc:Fallback>
                <p:oleObj name="公式" r:id="rId13" imgW="2071688" imgH="88582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9125" y="4652963"/>
                        <a:ext cx="2541588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6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6C3CAE4-435E-4998-8035-CAF664B41AC6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66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内容占位符 2"/>
          <p:cNvSpPr>
            <a:spLocks noGrp="1"/>
          </p:cNvSpPr>
          <p:nvPr>
            <p:ph idx="1"/>
          </p:nvPr>
        </p:nvSpPr>
        <p:spPr>
          <a:xfrm>
            <a:off x="561975" y="765175"/>
            <a:ext cx="8301038" cy="5283200"/>
          </a:xfrm>
        </p:spPr>
        <p:txBody>
          <a:bodyPr/>
          <a:lstStyle/>
          <a:p>
            <a:r>
              <a:rPr lang="zh-CN" altLang="en-US" sz="2800" dirty="0"/>
              <a:t>例</a:t>
            </a:r>
            <a:r>
              <a:rPr lang="en-US" altLang="zh-CN" sz="2800" dirty="0">
                <a:sym typeface="Symbol" panose="05050102010706020507" pitchFamily="18" charset="2"/>
              </a:rPr>
              <a:t>σ=</a:t>
            </a:r>
            <a:r>
              <a:rPr lang="zh-CN" altLang="en-US" sz="2800" dirty="0"/>
              <a:t>       </a:t>
            </a:r>
            <a:r>
              <a:rPr lang="en-US" altLang="zh-CN" sz="2800" dirty="0">
                <a:sym typeface="Symbol" panose="05050102010706020507" pitchFamily="18" charset="2"/>
              </a:rPr>
              <a:t>                          </a:t>
            </a:r>
            <a:r>
              <a:rPr lang="en-US" altLang="zh-CN" sz="2800" dirty="0"/>
              <a:t>τ=                          </a:t>
            </a:r>
          </a:p>
          <a:p>
            <a:endParaRPr lang="en-US" altLang="zh-CN" sz="2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ea typeface="宋体" panose="02010600030101010101" pitchFamily="2" charset="-122"/>
              </a:rPr>
              <a:t>求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σ</a:t>
            </a:r>
            <a:r>
              <a:rPr lang="en-US" altLang="zh-CN" sz="3000" baseline="30000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dirty="0" err="1">
                <a:ea typeface="宋体" panose="02010600030101010101" pitchFamily="2" charset="-122"/>
                <a:sym typeface="Symbol" panose="05050102010706020507" pitchFamily="18" charset="2"/>
              </a:rPr>
              <a:t>στ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dirty="0" err="1">
                <a:ea typeface="宋体" panose="02010600030101010101" pitchFamily="2" charset="-122"/>
                <a:sym typeface="Symbol" panose="05050102010706020507" pitchFamily="18" charset="2"/>
              </a:rPr>
              <a:t>τσ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， 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σ</a:t>
            </a:r>
            <a:r>
              <a:rPr lang="en-US" altLang="zh-CN" sz="3000" baseline="30000" dirty="0">
                <a:ea typeface="宋体" panose="02010600030101010101" pitchFamily="2" charset="-122"/>
                <a:sym typeface="Symbol" panose="05050102010706020507" pitchFamily="18" charset="2"/>
              </a:rPr>
              <a:t>-1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， 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τ </a:t>
            </a:r>
            <a:r>
              <a:rPr lang="en-US" altLang="zh-CN" sz="3000" baseline="30000" dirty="0">
                <a:ea typeface="宋体" panose="02010600030101010101" pitchFamily="2" charset="-122"/>
                <a:sym typeface="Symbol" panose="05050102010706020507" pitchFamily="18" charset="2"/>
              </a:rPr>
              <a:t>-1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    并解方程</a:t>
            </a:r>
            <a:r>
              <a:rPr lang="en-US" altLang="zh-CN" sz="3000" dirty="0" err="1">
                <a:ea typeface="宋体" panose="02010600030101010101" pitchFamily="2" charset="-122"/>
                <a:sym typeface="Symbol" panose="05050102010706020507" pitchFamily="18" charset="2"/>
              </a:rPr>
              <a:t>σx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=τ,  y τ= σ.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000" b="1" dirty="0">
                <a:ea typeface="宋体" panose="02010600030101010101" pitchFamily="2" charset="-122"/>
              </a:rPr>
              <a:t>解</a:t>
            </a:r>
            <a:r>
              <a:rPr lang="zh-CN" altLang="en-US" sz="3000" dirty="0">
                <a:ea typeface="宋体" panose="02010600030101010101" pitchFamily="2" charset="-122"/>
              </a:rPr>
              <a:t>：</a:t>
            </a:r>
            <a:endParaRPr lang="en-US" altLang="zh-CN" sz="3000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σ</a:t>
            </a:r>
            <a:r>
              <a:rPr lang="en-US" altLang="zh-CN" sz="2800" baseline="30000" dirty="0">
                <a:sym typeface="Symbol" panose="05050102010706020507" pitchFamily="18" charset="2"/>
              </a:rPr>
              <a:t>-1</a:t>
            </a:r>
            <a:r>
              <a:rPr lang="en-US" altLang="zh-CN" sz="2800" dirty="0">
                <a:sym typeface="Symbol" panose="05050102010706020507" pitchFamily="18" charset="2"/>
              </a:rPr>
              <a:t>=                                   τ</a:t>
            </a:r>
            <a:r>
              <a:rPr lang="en-US" altLang="zh-CN" sz="2800" baseline="30000" dirty="0">
                <a:sym typeface="Symbol" panose="05050102010706020507" pitchFamily="18" charset="2"/>
              </a:rPr>
              <a:t>-1</a:t>
            </a:r>
            <a:r>
              <a:rPr lang="en-US" altLang="zh-CN" sz="2800" dirty="0">
                <a:sym typeface="Symbol" panose="05050102010706020507" pitchFamily="18" charset="2"/>
              </a:rPr>
              <a:t>=                            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800" dirty="0"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800" dirty="0"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>
                <a:sym typeface="Symbol" panose="05050102010706020507" pitchFamily="18" charset="2"/>
              </a:rPr>
              <a:t>x=σ</a:t>
            </a:r>
            <a:r>
              <a:rPr lang="en-US" altLang="zh-CN" sz="2800" baseline="30000" dirty="0">
                <a:sym typeface="Symbol" panose="05050102010706020507" pitchFamily="18" charset="2"/>
              </a:rPr>
              <a:t>-1 </a:t>
            </a:r>
            <a:r>
              <a:rPr lang="en-US" altLang="zh-CN" sz="2800" dirty="0">
                <a:sym typeface="Symbol" panose="05050102010706020507" pitchFamily="18" charset="2"/>
              </a:rPr>
              <a:t>τ=                               y =στ</a:t>
            </a:r>
            <a:r>
              <a:rPr lang="en-US" altLang="zh-CN" sz="2800" baseline="30000" dirty="0">
                <a:sym typeface="Symbol" panose="05050102010706020507" pitchFamily="18" charset="2"/>
              </a:rPr>
              <a:t>-1</a:t>
            </a:r>
            <a:r>
              <a:rPr lang="en-US" altLang="zh-CN" sz="2800" dirty="0">
                <a:sym typeface="Symbol" panose="05050102010706020507" pitchFamily="18" charset="2"/>
              </a:rPr>
              <a:t>=</a:t>
            </a:r>
            <a:endParaRPr lang="zh-CN" altLang="en-US" sz="2800" dirty="0"/>
          </a:p>
        </p:txBody>
      </p:sp>
      <p:graphicFrame>
        <p:nvGraphicFramePr>
          <p:cNvPr id="122883" name="Object 6"/>
          <p:cNvGraphicFramePr>
            <a:graphicFrameLocks noChangeAspect="1"/>
          </p:cNvGraphicFramePr>
          <p:nvPr/>
        </p:nvGraphicFramePr>
        <p:xfrm>
          <a:off x="2051050" y="692150"/>
          <a:ext cx="2373313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58" name="公式" r:id="rId3" imgW="2071688" imgH="885825" progId="Equation.3">
                  <p:embed/>
                </p:oleObj>
              </mc:Choice>
              <mc:Fallback>
                <p:oleObj name="公式" r:id="rId3" imgW="2071688" imgH="88582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692150"/>
                        <a:ext cx="2373313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4" name="Object 8"/>
          <p:cNvGraphicFramePr>
            <a:graphicFrameLocks noChangeAspect="1"/>
          </p:cNvGraphicFramePr>
          <p:nvPr/>
        </p:nvGraphicFramePr>
        <p:xfrm>
          <a:off x="5148263" y="692150"/>
          <a:ext cx="2541587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59" name="公式" r:id="rId5" imgW="2104571" imgH="885371" progId="Equation.3">
                  <p:embed/>
                </p:oleObj>
              </mc:Choice>
              <mc:Fallback>
                <p:oleObj name="公式" r:id="rId5" imgW="2104571" imgH="88537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692150"/>
                        <a:ext cx="2541587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9"/>
          <p:cNvGraphicFramePr>
            <a:graphicFrameLocks noChangeAspect="1"/>
          </p:cNvGraphicFramePr>
          <p:nvPr/>
        </p:nvGraphicFramePr>
        <p:xfrm>
          <a:off x="1547813" y="2997200"/>
          <a:ext cx="2811462" cy="119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60" name="公式" r:id="rId7" imgW="2071688" imgH="885825" progId="Equation.3">
                  <p:embed/>
                </p:oleObj>
              </mc:Choice>
              <mc:Fallback>
                <p:oleObj name="公式" r:id="rId7" imgW="2071688" imgH="88582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2997200"/>
                        <a:ext cx="2811462" cy="1195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10"/>
          <p:cNvGraphicFramePr>
            <a:graphicFrameLocks noChangeAspect="1"/>
          </p:cNvGraphicFramePr>
          <p:nvPr/>
        </p:nvGraphicFramePr>
        <p:xfrm>
          <a:off x="5364163" y="2997200"/>
          <a:ext cx="2709862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61" name="公式" r:id="rId9" imgW="2071688" imgH="885825" progId="Equation.3">
                  <p:embed/>
                </p:oleObj>
              </mc:Choice>
              <mc:Fallback>
                <p:oleObj name="公式" r:id="rId9" imgW="2071688" imgH="88582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2997200"/>
                        <a:ext cx="2709862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11"/>
          <p:cNvGraphicFramePr>
            <a:graphicFrameLocks noChangeAspect="1"/>
          </p:cNvGraphicFramePr>
          <p:nvPr/>
        </p:nvGraphicFramePr>
        <p:xfrm>
          <a:off x="1979613" y="4652963"/>
          <a:ext cx="2470150" cy="104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62" name="公式" r:id="rId11" imgW="2071688" imgH="885825" progId="Equation.3">
                  <p:embed/>
                </p:oleObj>
              </mc:Choice>
              <mc:Fallback>
                <p:oleObj name="公式" r:id="rId11" imgW="2071688" imgH="88582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652963"/>
                        <a:ext cx="2470150" cy="1049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12"/>
          <p:cNvGraphicFramePr>
            <a:graphicFrameLocks noChangeAspect="1"/>
          </p:cNvGraphicFramePr>
          <p:nvPr/>
        </p:nvGraphicFramePr>
        <p:xfrm>
          <a:off x="6011863" y="4581525"/>
          <a:ext cx="2374900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63" name="公式" r:id="rId13" imgW="2071688" imgH="885825" progId="Equation.3">
                  <p:embed/>
                </p:oleObj>
              </mc:Choice>
              <mc:Fallback>
                <p:oleObj name="公式" r:id="rId13" imgW="2071688" imgH="88582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4581525"/>
                        <a:ext cx="2374900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8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8A0D86A-E7DA-4C50-9103-F756C550C143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67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2"/>
          <p:cNvSpPr>
            <a:spLocks noChangeArrowheads="1"/>
          </p:cNvSpPr>
          <p:nvPr/>
        </p:nvSpPr>
        <p:spPr bwMode="auto">
          <a:xfrm>
            <a:off x="684213" y="3284538"/>
            <a:ext cx="7993062" cy="2952750"/>
          </a:xfrm>
          <a:prstGeom prst="rect">
            <a:avLst/>
          </a:prstGeom>
          <a:solidFill>
            <a:srgbClr val="F8FDCB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 sz="3000" b="1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注意！！！</a:t>
            </a: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 sz="3000" b="1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由于一般情况下置换相乘不满足交换律，</a:t>
            </a: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 sz="3000" b="1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          </a:t>
            </a:r>
            <a:r>
              <a:rPr lang="en-US" altLang="zh-CN" sz="3000" b="1" dirty="0" err="1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τσ</a:t>
            </a:r>
            <a:r>
              <a:rPr lang="en-US" altLang="zh-CN" sz="3000" b="1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</a:t>
            </a:r>
            <a:r>
              <a:rPr lang="en-US" altLang="zh-CN" sz="3000" b="1" dirty="0" err="1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στ</a:t>
            </a:r>
            <a:endParaRPr lang="zh-CN" altLang="en-US" sz="3000" b="1" dirty="0"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 sz="3000" b="1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当</a:t>
            </a:r>
            <a:r>
              <a:rPr lang="en-US" altLang="zh-CN" sz="3000" b="1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3000" b="1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≥</a:t>
            </a:r>
            <a:r>
              <a:rPr lang="en-US" altLang="zh-CN" sz="3000" b="1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sz="3000" b="1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时，</a:t>
            </a:r>
            <a:r>
              <a:rPr lang="en-US" altLang="zh-CN" sz="3000" b="1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3000" b="1" baseline="-300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3000" b="1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不是交换群。</a:t>
            </a:r>
          </a:p>
        </p:txBody>
      </p:sp>
      <p:sp>
        <p:nvSpPr>
          <p:cNvPr id="9626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496300" cy="2303463"/>
          </a:xfrm>
        </p:spPr>
        <p:txBody>
          <a:bodyPr/>
          <a:lstStyle/>
          <a:p>
            <a:pPr marL="0" indent="0" eaLnBrk="1" hangingPunct="1">
              <a:lnSpc>
                <a:spcPct val="13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定理</a:t>
            </a: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6.2.6  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元置换的全体作成的集合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对置换的乘法作成一个群，称为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次对称群。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(n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次对称群的任一子群称为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次置换群）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---n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次对称群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2390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2155393-7B9C-47CB-8CCC-5024CF420D87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68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788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7888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78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78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78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78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882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n=1</a:t>
            </a:r>
            <a:r>
              <a:rPr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M={a}</a:t>
            </a:r>
            <a:r>
              <a:rPr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， 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zh-CN" sz="3200" baseline="-30000" dirty="0">
                <a:latin typeface="Arial" panose="020B0604020202020204" pitchFamily="34" charset="0"/>
                <a:cs typeface="Arial" panose="020B0604020202020204" pitchFamily="34" charset="0"/>
              </a:rPr>
              <a:t>1=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3200" baseline="-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在置换的乘法下作成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次对称群，为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Abel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群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n=2, M={a</a:t>
            </a:r>
            <a:r>
              <a:rPr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b}, S</a:t>
            </a:r>
            <a:r>
              <a:rPr lang="en-US" altLang="zh-CN" sz="3200" baseline="-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在置换的乘法下作成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次对称群，为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Abel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群。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graphicFrame>
        <p:nvGraphicFramePr>
          <p:cNvPr id="72708" name="Object 6"/>
          <p:cNvGraphicFramePr>
            <a:graphicFrameLocks noChangeAspect="1"/>
          </p:cNvGraphicFramePr>
          <p:nvPr/>
        </p:nvGraphicFramePr>
        <p:xfrm>
          <a:off x="4716463" y="3284538"/>
          <a:ext cx="3001962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215" name="公式" r:id="rId4" imgW="1117115" imgH="482391" progId="Equation.3">
                  <p:embed/>
                </p:oleObj>
              </mc:Choice>
              <mc:Fallback>
                <p:oleObj name="公式" r:id="rId4" imgW="1117115" imgH="48239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3284538"/>
                        <a:ext cx="3001962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56" name="Object 3"/>
          <p:cNvGraphicFramePr>
            <a:graphicFrameLocks noChangeAspect="1"/>
          </p:cNvGraphicFramePr>
          <p:nvPr/>
        </p:nvGraphicFramePr>
        <p:xfrm>
          <a:off x="4284663" y="1412875"/>
          <a:ext cx="935037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216" name="公式" r:id="rId6" imgW="418918" imgH="482391" progId="Equation.3">
                  <p:embed/>
                </p:oleObj>
              </mc:Choice>
              <mc:Fallback>
                <p:oleObj name="公式" r:id="rId6" imgW="418918" imgH="48239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1412875"/>
                        <a:ext cx="935037" cy="107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---n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次对称群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2595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E0D8BCA-2182-4419-89ED-0121764243CA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69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endParaRPr lang="en-US" altLang="zh-CN" sz="3000" b="1" dirty="0"/>
          </a:p>
          <a:p>
            <a:pPr marL="0" indent="0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当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n≥ 3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时</a:t>
            </a:r>
            <a:r>
              <a:rPr lang="zh-CN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，</a:t>
            </a:r>
            <a:endParaRPr lang="en-US" altLang="zh-CN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endParaRPr lang="en-US" altLang="zh-CN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endParaRPr lang="zh-CN" alt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endParaRPr lang="en-US" altLang="zh-CN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Abel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群。</a:t>
            </a:r>
          </a:p>
          <a:p>
            <a:pPr>
              <a:defRPr/>
            </a:pP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8003" name="Object 2"/>
          <p:cNvGraphicFramePr>
            <a:graphicFrameLocks noChangeAspect="1"/>
          </p:cNvGraphicFramePr>
          <p:nvPr/>
        </p:nvGraphicFramePr>
        <p:xfrm>
          <a:off x="2339975" y="2060575"/>
          <a:ext cx="6161088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263" name="公式" r:id="rId3" imgW="2794000" imgH="457200" progId="Equation.3">
                  <p:embed/>
                </p:oleObj>
              </mc:Choice>
              <mc:Fallback>
                <p:oleObj name="公式" r:id="rId3" imgW="279400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2060575"/>
                        <a:ext cx="6161088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7" name="Object 3"/>
          <p:cNvGraphicFramePr>
            <a:graphicFrameLocks noChangeAspect="1"/>
          </p:cNvGraphicFramePr>
          <p:nvPr/>
        </p:nvGraphicFramePr>
        <p:xfrm>
          <a:off x="2268538" y="3500438"/>
          <a:ext cx="6159500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264" name="公式" r:id="rId5" imgW="2794000" imgH="457200" progId="Equation.3">
                  <p:embed/>
                </p:oleObj>
              </mc:Choice>
              <mc:Fallback>
                <p:oleObj name="公式" r:id="rId5" imgW="27940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3500438"/>
                        <a:ext cx="6159500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---n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次对称群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2800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82A9FC9-9E34-4A0F-8D9F-6C41B092F50D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70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1"/>
          </p:nvPr>
        </p:nvSpPr>
        <p:spPr>
          <a:xfrm>
            <a:off x="395288" y="1341438"/>
            <a:ext cx="8520112" cy="5183187"/>
          </a:xfrm>
          <a:blipFill rotWithShape="0">
            <a:blip r:embed="rId2"/>
            <a:stretch>
              <a:fillRect l="-1931" t="-941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置换的轮换表法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30052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CA4FAAF-014E-4325-92D0-96116C9B789D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71</a:t>
            </a:fld>
            <a:endParaRPr lang="en-US" altLang="ko-KR" sz="140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5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当然，也可以把</a:t>
            </a:r>
            <a:r>
              <a:rPr lang="en-US" altLang="zh-CN" sz="32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, …, </a:t>
            </a:r>
            <a:r>
              <a:rPr lang="en-US" altLang="zh-CN" sz="3200" i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2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r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中的任意元素</a:t>
            </a:r>
            <a:r>
              <a:rPr lang="en-US" altLang="zh-CN" sz="3200" i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2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i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排在头一位而改写成  </a:t>
            </a:r>
          </a:p>
          <a:p>
            <a:pPr marL="0" indent="0">
              <a:lnSpc>
                <a:spcPct val="125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                 （</a:t>
            </a:r>
            <a:r>
              <a:rPr lang="en-US" altLang="zh-CN" sz="3200" i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2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i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  </a:t>
            </a:r>
            <a:r>
              <a:rPr lang="en-US" altLang="zh-CN" sz="32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i+1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… </a:t>
            </a:r>
            <a:r>
              <a:rPr lang="en-US" altLang="zh-CN" sz="3200" i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2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r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 </a:t>
            </a:r>
            <a:r>
              <a:rPr lang="en-US" altLang="zh-CN" sz="32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1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… </a:t>
            </a:r>
            <a:r>
              <a:rPr lang="en-US" altLang="zh-CN" sz="32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i</a:t>
            </a:r>
            <a:r>
              <a:rPr lang="en-US" altLang="zh-CN" sz="32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-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）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itchFamily="18" charset="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例：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置换的轮换表法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3107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4672D94-BD62-4439-8FFB-75D92384929F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72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内容占位符 2"/>
          <p:cNvSpPr>
            <a:spLocks noGrp="1"/>
          </p:cNvSpPr>
          <p:nvPr>
            <p:ph idx="1"/>
          </p:nvPr>
        </p:nvSpPr>
        <p:spPr>
          <a:xfrm>
            <a:off x="566738" y="1279525"/>
            <a:ext cx="8301037" cy="4968875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结论：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3000" baseline="-30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 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 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 </a:t>
            </a:r>
            <a:r>
              <a:rPr lang="en-US" altLang="zh-CN" sz="30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)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是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的轮换，则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3000" baseline="-30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 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 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 </a:t>
            </a:r>
            <a:r>
              <a:rPr lang="en-US" altLang="zh-CN" sz="30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)</a:t>
            </a:r>
            <a:r>
              <a:rPr lang="en-US" altLang="zh-CN" sz="3000" baseline="30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 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=(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… a</a:t>
            </a:r>
            <a:r>
              <a:rPr lang="en-US" altLang="zh-CN" sz="3000" baseline="-30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 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往证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… 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)=</a:t>
            </a:r>
            <a:r>
              <a:rPr lang="en-US" altLang="zh-CN" sz="3000" dirty="0"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命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χ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的任意元</a:t>
            </a:r>
          </a:p>
          <a:p>
            <a:pPr algn="just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χ∈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｛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,…,a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r-1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｝，设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χ=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</a:t>
            </a:r>
          </a:p>
          <a:p>
            <a:pPr algn="just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… 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)(a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(a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i+1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endParaRPr lang="en-US" altLang="zh-CN" sz="3000" baseline="-30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χ=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</a:p>
          <a:p>
            <a:pPr algn="just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… 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)(a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 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… 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)(a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endParaRPr lang="en-US" altLang="zh-CN" sz="3000" baseline="-30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轮换的例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3210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7515987-F167-4E9F-AC7B-D38F3461EC37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73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8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8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78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78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78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78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78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78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78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78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78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78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证明：</a:t>
            </a:r>
            <a:endParaRPr lang="en-US" altLang="zh-CN" sz="32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χ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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｛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,…,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｝，则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… 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)(a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(x)=x</a:t>
            </a:r>
          </a:p>
          <a:p>
            <a:pPr algn="just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总之，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… 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(a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 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)(x)=</a:t>
            </a:r>
            <a:r>
              <a:rPr lang="en-US" altLang="zh-CN" sz="3200" dirty="0"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(x)=x </a:t>
            </a:r>
          </a:p>
          <a:p>
            <a:pPr algn="just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… 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 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)=</a:t>
            </a:r>
            <a:r>
              <a:rPr lang="en-US" altLang="zh-CN" sz="3200" dirty="0"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pPr algn="just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同理，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 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… 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200" dirty="0"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endParaRPr lang="zh-CN" altLang="en-US" sz="3200" dirty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轮换的例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3312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971A851-F308-4187-9034-AFCCAC443923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74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549275"/>
            <a:ext cx="8301038" cy="6156325"/>
          </a:xfrm>
        </p:spPr>
        <p:txBody>
          <a:bodyPr/>
          <a:lstStyle/>
          <a:p>
            <a:pPr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例</a:t>
            </a: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：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令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M={1,2,3} 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上共有 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6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个置换，分别是</a:t>
            </a:r>
            <a:endParaRPr lang="en-US" altLang="zh-CN" sz="28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σ1=</a:t>
            </a:r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σ2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(2 3 )</a:t>
            </a:r>
            <a:r>
              <a:rPr lang="zh-CN" altLang="en-US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σ3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(1 3)</a:t>
            </a:r>
            <a:r>
              <a:rPr lang="zh-CN" altLang="en-US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σ4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(1 2)</a:t>
            </a:r>
            <a:r>
              <a:rPr lang="zh-CN" altLang="en-US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endParaRPr lang="en-US" altLang="zh-CN" sz="28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σ5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(1 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 </a:t>
            </a:r>
            <a:r>
              <a:rPr lang="en-US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3)</a:t>
            </a:r>
            <a:r>
              <a:rPr lang="zh-CN" altLang="en-US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σ6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(1 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3 </a:t>
            </a:r>
            <a:r>
              <a:rPr lang="en-US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2)</a:t>
            </a:r>
            <a:r>
              <a:rPr lang="zh-CN" altLang="en-US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则</a:t>
            </a:r>
            <a:endParaRPr lang="en-US" altLang="zh-CN" sz="28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={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σ1 , σ2 , σ3 , σ4 , σ5 , σ6} ,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S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在置换乘法下构成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次对称群，其运算表如下：</a:t>
            </a:r>
            <a:endParaRPr lang="en-US" altLang="zh-CN" sz="28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dirty="0">
              <a:solidFill>
                <a:srgbClr val="000000"/>
              </a:solidFill>
              <a:sym typeface="Symbol" panose="05050102010706020507" pitchFamily="18" charset="2"/>
            </a:endParaRPr>
          </a:p>
          <a:p>
            <a:pPr>
              <a:defRPr/>
            </a:pPr>
            <a:endParaRPr lang="en-US" altLang="zh-CN" sz="2800" b="1" dirty="0">
              <a:solidFill>
                <a:srgbClr val="000000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761096"/>
              </p:ext>
            </p:extLst>
          </p:nvPr>
        </p:nvGraphicFramePr>
        <p:xfrm>
          <a:off x="1476375" y="2781300"/>
          <a:ext cx="6095999" cy="36576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·</a:t>
                      </a:r>
                      <a:endParaRPr lang="zh-CN" altLang="en-US" sz="3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σ1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σ2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σ3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σ4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σ5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σ6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σ1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σ1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σ2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σ3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σ4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σ5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σ6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σ2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σ2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σ1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σ5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σ6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σ3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σ4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σ3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σ3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σ6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σ1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σ5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σ4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σ2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σ4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σ4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σ5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σ6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σ1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σ2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σ3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σ5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σ5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σ4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σ2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σ3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σ6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σ1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σ6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σ6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σ3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σ4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σ2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σ1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σ5</a:t>
                      </a:r>
                      <a:endParaRPr lang="zh-CN" altLang="en-US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13421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43B868A-CE2A-4261-809D-0A478A73406D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75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641208" cy="5400675"/>
          </a:xfrm>
        </p:spPr>
        <p:txBody>
          <a:bodyPr/>
          <a:lstStyle/>
          <a:p>
            <a:pPr marL="85725" indent="-85725" algn="just">
              <a:lnSpc>
                <a:spcPct val="114000"/>
              </a:lnSpc>
              <a:spcBef>
                <a:spcPts val="120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sym typeface="Symbol" pitchFamily="18" charset="2"/>
              </a:rPr>
              <a:t>定义</a:t>
            </a:r>
            <a:r>
              <a:rPr lang="en-US" altLang="zh-CN" sz="3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6.2.6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: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M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的两个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轮换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σ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=( </a:t>
            </a:r>
            <a:r>
              <a:rPr lang="en-US" altLang="zh-CN" sz="3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 … </a:t>
            </a:r>
            <a:r>
              <a:rPr lang="en-US" altLang="zh-CN" sz="3000" i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r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和</a:t>
            </a:r>
            <a:r>
              <a:rPr lang="en-US" altLang="zh-CN" sz="3000" dirty="0"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τ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=(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 </a:t>
            </a:r>
            <a:r>
              <a:rPr lang="en-US" altLang="zh-CN" sz="3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b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 … </a:t>
            </a:r>
            <a:r>
              <a:rPr lang="en-US" altLang="zh-CN" sz="3000" i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b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s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说是不相杂或不相交，如果</a:t>
            </a:r>
            <a:r>
              <a:rPr lang="zh-CN" altLang="en-US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 </a:t>
            </a:r>
            <a:r>
              <a:rPr lang="en-US" altLang="zh-CN" sz="3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, …, </a:t>
            </a:r>
            <a:r>
              <a:rPr lang="en-US" altLang="zh-CN" sz="3000" i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r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和</a:t>
            </a:r>
            <a:r>
              <a:rPr lang="en-US" altLang="zh-CN" sz="3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b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, …, </a:t>
            </a:r>
            <a:r>
              <a:rPr lang="en-US" altLang="zh-CN" sz="3000" i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b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都不相同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。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(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,…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∩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{b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,…,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}=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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marL="609600" indent="-609600" algn="just">
              <a:lnSpc>
                <a:spcPct val="114000"/>
              </a:lnSpc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M={1,2,3,4,5}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marL="609600" indent="-609600" algn="just">
              <a:lnSpc>
                <a:spcPct val="114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(1  3 2)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与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(2 3 4)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是相杂轮换，</a:t>
            </a:r>
          </a:p>
          <a:p>
            <a:pPr marL="609600" indent="-609600" algn="just">
              <a:lnSpc>
                <a:spcPct val="114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  3 2)(2 3 4)=(1 3 4)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marL="609600" indent="-609600" algn="just">
              <a:lnSpc>
                <a:spcPct val="114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(2 3 4)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 3 2)=(1 4  2);</a:t>
            </a:r>
          </a:p>
          <a:p>
            <a:pPr marL="609600" indent="-609600" algn="just">
              <a:lnSpc>
                <a:spcPct val="114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(1 3 4)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与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(2 5)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是不相杂轮换，</a:t>
            </a:r>
          </a:p>
          <a:p>
            <a:pPr marL="609600" indent="-609600" algn="just">
              <a:lnSpc>
                <a:spcPct val="114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 3 4)(2 5)= (2 5)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(1 3 4)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zh-CN" altLang="en-US" sz="2900" b="1" dirty="0">
                <a:sym typeface="Symbol" pitchFamily="18" charset="2"/>
              </a:rPr>
              <a:t>                             </a:t>
            </a:r>
            <a:endParaRPr lang="zh-CN" altLang="en-US" sz="2900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不相杂轮换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3517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EC9DA27-C70D-4A84-8E4D-2B0202844278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76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8775" y="1312863"/>
            <a:ext cx="8785225" cy="5545137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结论：</a:t>
            </a:r>
            <a:r>
              <a:rPr lang="zh-CN" altLang="en-US" sz="3200" dirty="0">
                <a:ea typeface="宋体" panose="02010600030101010101" pitchFamily="2" charset="-122"/>
              </a:rPr>
              <a:t>若</a:t>
            </a:r>
            <a:r>
              <a:rPr lang="en-US" altLang="zh-CN" sz="3200" dirty="0">
                <a:ea typeface="宋体" panose="02010600030101010101" pitchFamily="2" charset="-122"/>
              </a:rPr>
              <a:t>σ</a:t>
            </a:r>
            <a:r>
              <a:rPr lang="zh-CN" altLang="en-US" sz="3200" dirty="0">
                <a:ea typeface="宋体" panose="02010600030101010101" pitchFamily="2" charset="-122"/>
              </a:rPr>
              <a:t>和</a:t>
            </a:r>
            <a:r>
              <a:rPr lang="en-US" altLang="zh-CN" sz="3200" dirty="0">
                <a:ea typeface="宋体" panose="02010600030101010101" pitchFamily="2" charset="-122"/>
              </a:rPr>
              <a:t>τ</a:t>
            </a:r>
            <a:r>
              <a:rPr lang="zh-CN" altLang="en-US" sz="3200" dirty="0">
                <a:ea typeface="宋体" panose="02010600030101010101" pitchFamily="2" charset="-122"/>
              </a:rPr>
              <a:t>是</a:t>
            </a:r>
            <a:r>
              <a:rPr lang="en-US" altLang="zh-CN" sz="3200" dirty="0">
                <a:ea typeface="宋体" panose="02010600030101010101" pitchFamily="2" charset="-122"/>
              </a:rPr>
              <a:t>M</a:t>
            </a:r>
            <a:r>
              <a:rPr lang="zh-CN" altLang="en-US" sz="3200" dirty="0">
                <a:ea typeface="宋体" panose="02010600030101010101" pitchFamily="2" charset="-122"/>
              </a:rPr>
              <a:t>的两个不相杂的轮换，</a:t>
            </a:r>
            <a:endParaRPr lang="en-US" altLang="zh-CN" sz="3200" dirty="0">
              <a:ea typeface="宋体" panose="02010600030101010101" pitchFamily="2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dirty="0">
                <a:ea typeface="宋体" panose="02010600030101010101" pitchFamily="2" charset="-122"/>
              </a:rPr>
              <a:t> 则 </a:t>
            </a:r>
            <a:r>
              <a:rPr lang="en-US" altLang="zh-CN" sz="3200" dirty="0" err="1">
                <a:ea typeface="宋体" panose="02010600030101010101" pitchFamily="2" charset="-122"/>
              </a:rPr>
              <a:t>στ</a:t>
            </a:r>
            <a:r>
              <a:rPr lang="en-US" altLang="zh-CN" sz="3200" dirty="0">
                <a:ea typeface="宋体" panose="02010600030101010101" pitchFamily="2" charset="-122"/>
              </a:rPr>
              <a:t>=</a:t>
            </a:r>
            <a:r>
              <a:rPr lang="en-US" altLang="zh-CN" sz="3200" dirty="0" err="1">
                <a:ea typeface="宋体" panose="02010600030101010101" pitchFamily="2" charset="-122"/>
              </a:rPr>
              <a:t>τσ</a:t>
            </a:r>
            <a:r>
              <a:rPr lang="en-US" altLang="zh-CN" sz="3200" dirty="0">
                <a:ea typeface="宋体" panose="02010600030101010101" pitchFamily="2" charset="-122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证明：</a:t>
            </a:r>
            <a: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  <a:t>设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σ =( </a:t>
            </a:r>
            <a:r>
              <a:rPr lang="en-US" altLang="zh-CN" sz="3200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200" baseline="-30000" dirty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 … </a:t>
            </a:r>
            <a:r>
              <a:rPr lang="en-US" altLang="zh-CN" sz="3200" i="1" dirty="0" err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200" baseline="-30000" dirty="0" err="1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) ,τ=(</a:t>
            </a:r>
            <a: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200" i="1" dirty="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3200" baseline="-30000" dirty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 … </a:t>
            </a:r>
            <a:r>
              <a:rPr lang="en-US" altLang="zh-CN" sz="3200" i="1" dirty="0" err="1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3200" baseline="-30000" dirty="0" err="1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σ</a:t>
            </a:r>
            <a: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  <a:t>和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τ</a:t>
            </a:r>
            <a: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  <a:t>不相杂</a:t>
            </a:r>
            <a:b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  <a:t>令</a:t>
            </a:r>
            <a:r>
              <a:rPr lang="en-US" altLang="zh-CN" sz="3200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  <a:t>为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M</a:t>
            </a:r>
            <a: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  <a:t>的任意元素，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200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(1)</a:t>
            </a:r>
            <a: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  <a:t>若</a:t>
            </a:r>
            <a:r>
              <a:rPr lang="en-US" altLang="zh-CN" sz="3200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  <a:t>在</a:t>
            </a:r>
            <a:r>
              <a:rPr lang="en-US" altLang="zh-CN" sz="3200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200" baseline="-30000" dirty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 … </a:t>
            </a:r>
            <a:r>
              <a:rPr lang="en-US" altLang="zh-CN" sz="3200" i="1" dirty="0" err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200" baseline="-30000" dirty="0" err="1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  <a:t>之内，不妨设</a:t>
            </a:r>
            <a:r>
              <a:rPr lang="en-US" altLang="zh-CN" sz="3200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 =</a:t>
            </a:r>
            <a:r>
              <a:rPr lang="en-US" altLang="zh-CN" sz="3200" i="1" dirty="0" err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200" baseline="-30000" dirty="0" err="1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  <a:t>则</a:t>
            </a:r>
            <a:r>
              <a:rPr lang="en-US" altLang="zh-CN" sz="3200" dirty="0" err="1">
                <a:ea typeface="宋体" panose="02010600030101010101" pitchFamily="2" charset="-122"/>
                <a:sym typeface="Symbol" panose="05050102010706020507" pitchFamily="18" charset="2"/>
              </a:rPr>
              <a:t>στ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200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)=</a:t>
            </a:r>
            <a:r>
              <a:rPr lang="en-US" altLang="zh-CN" sz="3200" dirty="0" err="1">
                <a:ea typeface="宋体" panose="02010600030101010101" pitchFamily="2" charset="-122"/>
                <a:sym typeface="Symbol" panose="05050102010706020507" pitchFamily="18" charset="2"/>
              </a:rPr>
              <a:t>στ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200" i="1" dirty="0" err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200" baseline="-30000" dirty="0" err="1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)=σ(</a:t>
            </a:r>
            <a:r>
              <a:rPr lang="en-US" altLang="zh-CN" sz="3200" i="1" dirty="0" err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200" baseline="-30000" dirty="0" err="1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)=</a:t>
            </a:r>
            <a:r>
              <a:rPr lang="en-US" altLang="zh-CN" sz="3200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200" baseline="-30000" dirty="0">
                <a:ea typeface="宋体" panose="02010600030101010101" pitchFamily="2" charset="-122"/>
                <a:sym typeface="Symbol" panose="05050102010706020507" pitchFamily="18" charset="2"/>
              </a:rPr>
              <a:t>i+1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en-US" altLang="zh-CN" sz="3200" dirty="0" err="1">
                <a:ea typeface="宋体" panose="02010600030101010101" pitchFamily="2" charset="-122"/>
                <a:sym typeface="Symbol" panose="05050102010706020507" pitchFamily="18" charset="2"/>
              </a:rPr>
              <a:t>τσ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200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)=</a:t>
            </a:r>
            <a:r>
              <a:rPr lang="en-US" altLang="zh-CN" sz="3200" dirty="0" err="1">
                <a:ea typeface="宋体" panose="02010600030101010101" pitchFamily="2" charset="-122"/>
                <a:sym typeface="Symbol" panose="05050102010706020507" pitchFamily="18" charset="2"/>
              </a:rPr>
              <a:t>τσ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200" i="1" dirty="0" err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200" baseline="-30000" dirty="0" err="1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)=τ(</a:t>
            </a:r>
            <a:r>
              <a:rPr lang="en-US" altLang="zh-CN" sz="3200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200" baseline="-30000" dirty="0">
                <a:ea typeface="宋体" panose="02010600030101010101" pitchFamily="2" charset="-122"/>
                <a:sym typeface="Symbol" panose="05050102010706020507" pitchFamily="18" charset="2"/>
              </a:rPr>
              <a:t>i+1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)= </a:t>
            </a:r>
            <a:r>
              <a:rPr lang="en-US" altLang="zh-CN" sz="3200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200" baseline="-30000" dirty="0">
                <a:ea typeface="宋体" panose="02010600030101010101" pitchFamily="2" charset="-122"/>
                <a:sym typeface="Symbol" panose="05050102010706020507" pitchFamily="18" charset="2"/>
              </a:rPr>
              <a:t>i+1</a:t>
            </a:r>
            <a: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  <a:t> ，若</a:t>
            </a:r>
            <a:r>
              <a:rPr lang="en-US" altLang="zh-CN" sz="3200" dirty="0" err="1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=r</a:t>
            </a:r>
            <a: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  <a:t>，则</a:t>
            </a:r>
            <a:r>
              <a:rPr lang="en-US" altLang="zh-CN" sz="3200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200" baseline="-30000" dirty="0">
                <a:ea typeface="宋体" panose="02010600030101010101" pitchFamily="2" charset="-122"/>
                <a:sym typeface="Symbol" panose="05050102010706020507" pitchFamily="18" charset="2"/>
              </a:rPr>
              <a:t>i+1</a:t>
            </a:r>
            <a: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  <a:t>应为</a:t>
            </a:r>
            <a:r>
              <a:rPr lang="en-US" altLang="zh-CN" sz="3200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200" baseline="-30000" dirty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  <a:t>，总之</a:t>
            </a:r>
            <a:r>
              <a:rPr lang="en-US" altLang="zh-CN" sz="3200" dirty="0" err="1">
                <a:ea typeface="宋体" panose="02010600030101010101" pitchFamily="2" charset="-122"/>
                <a:sym typeface="Symbol" panose="05050102010706020507" pitchFamily="18" charset="2"/>
              </a:rPr>
              <a:t>στ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200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)=</a:t>
            </a:r>
            <a:r>
              <a:rPr lang="en-US" altLang="zh-CN" sz="3200" dirty="0" err="1">
                <a:ea typeface="宋体" panose="02010600030101010101" pitchFamily="2" charset="-122"/>
                <a:sym typeface="Symbol" panose="05050102010706020507" pitchFamily="18" charset="2"/>
              </a:rPr>
              <a:t>τσ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200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3200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3200" dirty="0">
                <a:ea typeface="宋体" panose="02010600030101010101" pitchFamily="2" charset="-122"/>
                <a:sym typeface="Symbol" panose="05050102010706020507" pitchFamily="18" charset="2"/>
              </a:rPr>
              <a:t>。  </a:t>
            </a:r>
            <a:r>
              <a:rPr lang="zh-CN" altLang="en-US" sz="2900" dirty="0"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</a:p>
          <a:p>
            <a:pPr marL="0" indent="0">
              <a:lnSpc>
                <a:spcPct val="12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b="1" dirty="0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不相杂轮换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3619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BF521DF-56FE-44A8-AA36-A3E312451E2C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77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683568" y="1916832"/>
            <a:ext cx="7848872" cy="3168352"/>
          </a:xfrm>
          <a:prstGeom prst="rect">
            <a:avLst/>
          </a:prstGeom>
          <a:solidFill>
            <a:srgbClr val="F8FDCB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5000"/>
              </a:lnSpc>
              <a:buClr>
                <a:schemeClr val="bg1"/>
              </a:buClr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定义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6.3.2 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设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σ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的置换，若可取到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的元素</a:t>
            </a:r>
          </a:p>
          <a:p>
            <a:pPr>
              <a:lnSpc>
                <a:spcPct val="125000"/>
              </a:lnSpc>
              <a:buClr>
                <a:schemeClr val="bg1"/>
              </a:buClr>
            </a:pP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 …, </a:t>
            </a:r>
            <a:r>
              <a:rPr lang="en-US" altLang="zh-CN" sz="2800" i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使</a:t>
            </a:r>
            <a:b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  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σ(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＝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 σ(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)=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 …, σ(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)= </a:t>
            </a:r>
            <a:r>
              <a:rPr lang="en-US" altLang="zh-CN" sz="2800" i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,σ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)= 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b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σ</a:t>
            </a: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不变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的其余的元素，则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σ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称为一个轮换， 记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为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2800" baseline="-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  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… </a:t>
            </a:r>
            <a:r>
              <a:rPr lang="en-US" altLang="zh-CN" sz="2800" i="1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25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altLang="zh-CN" sz="3200" dirty="0">
                <a:solidFill>
                  <a:srgbClr val="0000FF"/>
                </a:solidFill>
                <a:sym typeface="Symbol" pitchFamily="18" charset="2"/>
              </a:rPr>
              <a:t>(2)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同样可以说明，若</a:t>
            </a:r>
            <a:r>
              <a:rPr lang="en-US" altLang="zh-CN" sz="3200" i="1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在</a:t>
            </a:r>
            <a:r>
              <a:rPr lang="en-US" altLang="zh-CN" sz="3200" i="1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lang="en-US" altLang="zh-CN" sz="3200" baseline="-30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 … </a:t>
            </a:r>
            <a:r>
              <a:rPr lang="en-US" altLang="zh-CN" sz="3200" i="1" dirty="0" err="1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lang="en-US" altLang="zh-CN" sz="3200" baseline="-30000" dirty="0" err="1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之内，也有</a:t>
            </a:r>
            <a:r>
              <a:rPr lang="en-US" altLang="zh-CN" sz="3200" dirty="0" err="1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στ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3200" i="1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)=</a:t>
            </a:r>
            <a:r>
              <a:rPr lang="en-US" altLang="zh-CN" sz="3200" dirty="0" err="1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τσ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3200" i="1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。</a:t>
            </a:r>
          </a:p>
          <a:p>
            <a:pPr marL="0" indent="0">
              <a:lnSpc>
                <a:spcPct val="125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altLang="zh-CN" sz="32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(3)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设</a:t>
            </a:r>
            <a:r>
              <a:rPr lang="en-US" altLang="zh-CN" sz="3200" i="1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不在</a:t>
            </a:r>
            <a:r>
              <a:rPr lang="en-US" altLang="zh-CN" sz="3200" i="1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sz="3200" baseline="-30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 … </a:t>
            </a:r>
            <a:r>
              <a:rPr lang="en-US" altLang="zh-CN" sz="3200" i="1" dirty="0" err="1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sz="3200" baseline="-30000" dirty="0" err="1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sz="3200" baseline="-30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， </a:t>
            </a:r>
            <a:r>
              <a:rPr lang="en-US" altLang="zh-CN" sz="3200" i="1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lang="en-US" altLang="zh-CN" sz="3200" baseline="-300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 … </a:t>
            </a:r>
            <a:r>
              <a:rPr lang="en-US" altLang="zh-CN" sz="3200" i="1" dirty="0" err="1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lang="en-US" altLang="zh-CN" sz="3200" baseline="-30000" dirty="0" err="1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之内。于是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  <a:b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</a:b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          </a:t>
            </a:r>
            <a:r>
              <a:rPr lang="en-US" altLang="zh-CN" sz="3200" dirty="0" err="1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στ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3200" i="1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)=σ(</a:t>
            </a:r>
            <a:r>
              <a:rPr lang="en-US" altLang="zh-CN" sz="3200" i="1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)=</a:t>
            </a:r>
            <a:r>
              <a:rPr lang="en-US" altLang="zh-CN" sz="3200" i="1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zh-CN" altLang="en-US" sz="3200" i="1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lang="en-US" altLang="zh-CN" sz="3200" dirty="0" err="1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τσ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3200" i="1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)=τ(</a:t>
            </a:r>
            <a:r>
              <a:rPr lang="en-US" altLang="zh-CN" sz="3200" i="1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)=</a:t>
            </a:r>
            <a:r>
              <a:rPr lang="en-US" altLang="zh-CN" sz="3200" i="1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。</a:t>
            </a:r>
          </a:p>
          <a:p>
            <a:pPr marL="0" indent="0">
              <a:lnSpc>
                <a:spcPct val="125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因此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在所有情况下，</a:t>
            </a:r>
            <a:r>
              <a:rPr lang="en-US" altLang="zh-CN" sz="3200" dirty="0" err="1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στ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3200" i="1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)=</a:t>
            </a:r>
            <a:r>
              <a:rPr lang="en-US" altLang="zh-CN" sz="3200" dirty="0" err="1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τσ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3200" i="1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), </a:t>
            </a:r>
          </a:p>
          <a:p>
            <a:pPr marL="0" indent="0">
              <a:lnSpc>
                <a:spcPct val="125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故</a:t>
            </a:r>
            <a:r>
              <a:rPr lang="en-US" altLang="zh-CN" sz="3200" dirty="0" err="1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στ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altLang="zh-CN" sz="3200" dirty="0" err="1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τσ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18" charset="2"/>
              </a:rPr>
              <a:t>。 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不相杂轮换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3722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DA63EB6-7730-4384-BADD-31141917BB83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78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341438"/>
            <a:ext cx="8301037" cy="5183187"/>
          </a:xfrm>
        </p:spPr>
        <p:txBody>
          <a:bodyPr/>
          <a:lstStyle/>
          <a:p>
            <a:pPr marL="0" indent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定理</a:t>
            </a:r>
            <a:r>
              <a:rPr lang="en-US" altLang="zh-CN" sz="3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6.2.7 </a:t>
            </a:r>
            <a:r>
              <a:rPr lang="zh-CN" altLang="en-US" sz="3000" dirty="0">
                <a:solidFill>
                  <a:schemeClr val="tx2"/>
                </a:solidFill>
                <a:ea typeface="宋体" panose="02010600030101010101" pitchFamily="2" charset="-122"/>
              </a:rPr>
              <a:t>任意置换</a:t>
            </a:r>
            <a:r>
              <a:rPr lang="en-US" altLang="zh-CN" sz="3000" dirty="0">
                <a:solidFill>
                  <a:schemeClr val="tx2"/>
                </a:solidFill>
                <a:ea typeface="宋体" panose="02010600030101010101" pitchFamily="2" charset="-122"/>
              </a:rPr>
              <a:t>σ</a:t>
            </a:r>
            <a:r>
              <a:rPr lang="zh-CN" altLang="en-US" sz="3000" dirty="0">
                <a:solidFill>
                  <a:schemeClr val="tx2"/>
                </a:solidFill>
                <a:ea typeface="宋体" panose="02010600030101010101" pitchFamily="2" charset="-122"/>
              </a:rPr>
              <a:t>恰有一法写成不相杂轮换的乘积。</a:t>
            </a:r>
            <a:r>
              <a:rPr lang="zh-CN" altLang="en-US" sz="3000" dirty="0">
                <a:ea typeface="宋体" panose="02010600030101010101" pitchFamily="2" charset="-122"/>
              </a:rPr>
              <a:t>即任意置换</a:t>
            </a:r>
            <a:r>
              <a:rPr lang="en-US" altLang="zh-CN" sz="3000" dirty="0">
                <a:ea typeface="宋体" panose="02010600030101010101" pitchFamily="2" charset="-122"/>
              </a:rPr>
              <a:t>σ</a:t>
            </a:r>
            <a:r>
              <a:rPr lang="zh-CN" altLang="en-US" sz="3000" dirty="0">
                <a:ea typeface="宋体" panose="02010600030101010101" pitchFamily="2" charset="-122"/>
              </a:rPr>
              <a:t>可以写成不相杂轮换的乘积</a:t>
            </a:r>
            <a:r>
              <a:rPr lang="en-US" altLang="zh-CN" sz="3000" dirty="0">
                <a:ea typeface="宋体" panose="02010600030101010101" pitchFamily="2" charset="-122"/>
              </a:rPr>
              <a:t>(</a:t>
            </a:r>
            <a:r>
              <a:rPr lang="zh-CN" altLang="en-US" sz="3000" dirty="0">
                <a:ea typeface="宋体" panose="02010600030101010101" pitchFamily="2" charset="-122"/>
              </a:rPr>
              <a:t>可表性</a:t>
            </a:r>
            <a:r>
              <a:rPr lang="en-US" altLang="zh-CN" sz="3000" dirty="0">
                <a:ea typeface="宋体" panose="02010600030101010101" pitchFamily="2" charset="-122"/>
              </a:rPr>
              <a:t>), </a:t>
            </a:r>
            <a:r>
              <a:rPr lang="zh-CN" altLang="en-US" sz="3000" dirty="0">
                <a:ea typeface="宋体" panose="02010600030101010101" pitchFamily="2" charset="-122"/>
              </a:rPr>
              <a:t>如果不考虑乘积的顺序</a:t>
            </a:r>
            <a:r>
              <a:rPr lang="en-US" altLang="zh-CN" sz="3000" dirty="0">
                <a:ea typeface="宋体" panose="02010600030101010101" pitchFamily="2" charset="-122"/>
              </a:rPr>
              <a:t>, </a:t>
            </a:r>
            <a:r>
              <a:rPr lang="zh-CN" altLang="en-US" sz="3000" dirty="0">
                <a:ea typeface="宋体" panose="02010600030101010101" pitchFamily="2" charset="-122"/>
              </a:rPr>
              <a:t>则写法唯一。</a:t>
            </a:r>
            <a:endParaRPr lang="en-US" altLang="zh-CN" sz="3000" dirty="0">
              <a:ea typeface="宋体" panose="02010600030101010101" pitchFamily="2" charset="-122"/>
            </a:endParaRPr>
          </a:p>
          <a:p>
            <a:pPr marL="85725" indent="-85725" algn="just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ea typeface="宋体" panose="02010600030101010101" pitchFamily="2" charset="-122"/>
              </a:rPr>
              <a:t>例：</a:t>
            </a:r>
            <a:endParaRPr lang="en-US" altLang="zh-CN" sz="3000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marL="609600" indent="-609600" algn="just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ea typeface="宋体" panose="02010600030101010101" pitchFamily="2" charset="-122"/>
              </a:rPr>
              <a:t>        </a:t>
            </a:r>
          </a:p>
          <a:p>
            <a:pPr marL="609600" indent="-609600" algn="just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ea typeface="宋体" panose="02010600030101010101" pitchFamily="2" charset="-122"/>
              </a:rPr>
              <a:t>       =(1 3 5 2)(4)(6 8)(7)=(3 5 2 1)(7)(8 6)(4)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3000" dirty="0">
              <a:ea typeface="宋体" panose="02010600030101010101" pitchFamily="2" charset="-122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ea typeface="宋体" panose="02010600030101010101" pitchFamily="2" charset="-122"/>
              </a:rPr>
              <a:t>置换的这种表法称为置换的轮换表法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ea typeface="宋体" panose="02010600030101010101" pitchFamily="2" charset="-122"/>
              </a:rPr>
              <a:t>去掉单轮换的省略形式：</a:t>
            </a:r>
            <a:r>
              <a:rPr lang="en-US" altLang="zh-CN" sz="3000" dirty="0">
                <a:ea typeface="宋体" panose="02010600030101010101" pitchFamily="2" charset="-122"/>
              </a:rPr>
              <a:t>(1 3 5 2) (6 8)</a:t>
            </a:r>
            <a:endParaRPr lang="zh-CN" altLang="en-US" sz="2900" dirty="0"/>
          </a:p>
          <a:p>
            <a:pPr>
              <a:defRPr/>
            </a:pPr>
            <a:endParaRPr lang="zh-CN" altLang="en-US" dirty="0"/>
          </a:p>
        </p:txBody>
      </p:sp>
      <p:graphicFrame>
        <p:nvGraphicFramePr>
          <p:cNvPr id="82947" name="Object 2"/>
          <p:cNvGraphicFramePr>
            <a:graphicFrameLocks noChangeAspect="1"/>
          </p:cNvGraphicFramePr>
          <p:nvPr/>
        </p:nvGraphicFramePr>
        <p:xfrm>
          <a:off x="1979613" y="2997200"/>
          <a:ext cx="356235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75" name="公式" r:id="rId3" imgW="1739900" imgH="457200" progId="Equation.3">
                  <p:embed/>
                </p:oleObj>
              </mc:Choice>
              <mc:Fallback>
                <p:oleObj name="公式" r:id="rId3" imgW="173990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2997200"/>
                        <a:ext cx="356235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不相杂轮换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3824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AE9600F-D253-4C98-9D4C-C160C49C34E3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79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6738" y="1254125"/>
            <a:ext cx="8301037" cy="5283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例：</a:t>
            </a:r>
            <a:r>
              <a:rPr lang="zh-CN" altLang="en-US" sz="3000" dirty="0">
                <a:ea typeface="宋体" panose="02010600030101010101" pitchFamily="2" charset="-122"/>
              </a:rPr>
              <a:t>将下列置换写成不相杂轮换的乘积</a:t>
            </a:r>
            <a:endParaRPr lang="en-US" altLang="zh-CN" sz="3000" dirty="0">
              <a:ea typeface="宋体" panose="02010600030101010101" pitchFamily="2" charset="-122"/>
            </a:endParaRPr>
          </a:p>
          <a:p>
            <a:endParaRPr lang="en-US" altLang="zh-CN" sz="2800" dirty="0"/>
          </a:p>
          <a:p>
            <a:r>
              <a:rPr lang="en-US" altLang="zh-CN" sz="2800" dirty="0"/>
              <a:t>(1)                                            </a:t>
            </a:r>
            <a:r>
              <a:rPr lang="en-US" altLang="zh-CN" sz="3200" dirty="0"/>
              <a:t>=(1 5 2) (3 6 4)</a:t>
            </a:r>
          </a:p>
          <a:p>
            <a:endParaRPr lang="en-US" altLang="zh-CN" sz="2800" dirty="0"/>
          </a:p>
          <a:p>
            <a:endParaRPr lang="en-US" altLang="zh-CN" sz="2800" dirty="0"/>
          </a:p>
          <a:p>
            <a:r>
              <a:rPr lang="en-US" altLang="zh-CN" sz="2800" dirty="0"/>
              <a:t>(2)                                            </a:t>
            </a:r>
            <a:r>
              <a:rPr lang="en-US" altLang="zh-CN" sz="3200" dirty="0"/>
              <a:t>=(1 4) (2 6 5)</a:t>
            </a:r>
          </a:p>
          <a:p>
            <a:endParaRPr lang="en-US" altLang="zh-CN" sz="2800" dirty="0"/>
          </a:p>
          <a:p>
            <a:endParaRPr lang="en-US" altLang="zh-CN" sz="2800" dirty="0"/>
          </a:p>
          <a:p>
            <a:r>
              <a:rPr lang="en-US" altLang="zh-CN" sz="2800" dirty="0"/>
              <a:t>(3)                                              </a:t>
            </a:r>
            <a:r>
              <a:rPr lang="en-US" altLang="zh-CN" sz="3200" dirty="0"/>
              <a:t>=(1 3 6 5 4) </a:t>
            </a:r>
            <a:endParaRPr lang="zh-CN" altLang="en-US" sz="3200" dirty="0"/>
          </a:p>
        </p:txBody>
      </p:sp>
      <p:graphicFrame>
        <p:nvGraphicFramePr>
          <p:cNvPr id="139267" name="Object 2"/>
          <p:cNvGraphicFramePr>
            <a:graphicFrameLocks noChangeAspect="1"/>
          </p:cNvGraphicFramePr>
          <p:nvPr/>
        </p:nvGraphicFramePr>
        <p:xfrm>
          <a:off x="1754188" y="2005013"/>
          <a:ext cx="3502025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659" name="公式" r:id="rId3" imgW="1308100" imgH="457200" progId="Equation.3">
                  <p:embed/>
                </p:oleObj>
              </mc:Choice>
              <mc:Fallback>
                <p:oleObj name="公式" r:id="rId3" imgW="130810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4188" y="2005013"/>
                        <a:ext cx="3502025" cy="1223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68" name="Object 3"/>
          <p:cNvGraphicFramePr>
            <a:graphicFrameLocks noChangeAspect="1"/>
          </p:cNvGraphicFramePr>
          <p:nvPr/>
        </p:nvGraphicFramePr>
        <p:xfrm>
          <a:off x="1857375" y="3552825"/>
          <a:ext cx="3502025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660" name="公式" r:id="rId5" imgW="1308100" imgH="457200" progId="Equation.3">
                  <p:embed/>
                </p:oleObj>
              </mc:Choice>
              <mc:Fallback>
                <p:oleObj name="公式" r:id="rId5" imgW="13081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75" y="3552825"/>
                        <a:ext cx="3502025" cy="1223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69" name="Object 4"/>
          <p:cNvGraphicFramePr>
            <a:graphicFrameLocks noChangeAspect="1"/>
          </p:cNvGraphicFramePr>
          <p:nvPr/>
        </p:nvGraphicFramePr>
        <p:xfrm>
          <a:off x="1754188" y="5100638"/>
          <a:ext cx="37084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661" name="公式" r:id="rId7" imgW="1308100" imgH="457200" progId="Equation.3">
                  <p:embed/>
                </p:oleObj>
              </mc:Choice>
              <mc:Fallback>
                <p:oleObj name="公式" r:id="rId7" imgW="13081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4188" y="5100638"/>
                        <a:ext cx="37084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不相杂轮换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3927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EBD6C2D-3140-4098-9333-145DDC0F37B0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80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例：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计算下列轮换的乘积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(3 6 5 4)(3 2 4 1)(3 1 5 2 4)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=(1 4 2 )(3 6 5 )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3000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Ø"/>
              <a:defRPr/>
            </a:pPr>
            <a:endParaRPr lang="zh-CN" altLang="en-US" sz="3000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---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不相杂轮换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4029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94A527C-F555-4912-A0CC-65D41ED7EE3B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81</a:t>
            </a:fld>
            <a:endParaRPr lang="en-US" altLang="ko-KR" sz="140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3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3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1325" y="1257300"/>
            <a:ext cx="8424863" cy="5472113"/>
          </a:xfrm>
        </p:spPr>
        <p:txBody>
          <a:bodyPr/>
          <a:lstStyle/>
          <a:p>
            <a:pPr marL="0" indent="0"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zh-CN" altLang="en-US" sz="3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定理</a:t>
            </a:r>
            <a:r>
              <a:rPr lang="en-US" altLang="zh-CN" sz="3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6.2.7 :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任意置换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σ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恰有一法写成不相杂的轮换乘积。</a:t>
            </a:r>
            <a:b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zh-CN" altLang="en-US" sz="3000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证明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r>
              <a:rPr lang="zh-CN" altLang="en-US" sz="3000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先证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σ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可以写成不相杂的轮换的乘积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zh-CN" altLang="en-US" sz="3000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可表性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/>
            </a:r>
            <a:b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任取</a:t>
            </a:r>
            <a:r>
              <a:rPr lang="en-US" altLang="zh-CN" sz="3000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aseline="-30000" dirty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∈M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marL="0" indent="0"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）若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σ(</a:t>
            </a:r>
            <a:r>
              <a:rPr lang="en-US" altLang="zh-CN" sz="3000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aseline="-30000" dirty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)= </a:t>
            </a:r>
            <a:r>
              <a:rPr lang="en-US" altLang="zh-CN" sz="3000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aseline="-30000" dirty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则</a:t>
            </a:r>
            <a:r>
              <a:rPr lang="en-US" altLang="zh-CN" sz="3000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aseline="-30000" dirty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自己就作成一个轮换。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）设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σ(</a:t>
            </a:r>
            <a:r>
              <a:rPr lang="en-US" altLang="zh-CN" sz="3000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aseline="-30000" dirty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)= </a:t>
            </a:r>
            <a:r>
              <a:rPr lang="en-US" altLang="zh-CN" sz="3000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aseline="-30000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,σ(</a:t>
            </a:r>
            <a:r>
              <a:rPr lang="en-US" altLang="zh-CN" sz="3000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aseline="-30000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)= </a:t>
            </a:r>
            <a:r>
              <a:rPr lang="en-US" altLang="zh-CN" sz="3000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aseline="-30000" dirty="0"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…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这样下去，由于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M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有限，故到某一个元素</a:t>
            </a:r>
            <a:r>
              <a:rPr lang="en-US" altLang="zh-CN" sz="3000" i="1" dirty="0" err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aseline="-30000" dirty="0" err="1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其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σ(</a:t>
            </a:r>
            <a:r>
              <a:rPr lang="en-US" altLang="zh-CN" sz="3000" i="1" dirty="0" err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aseline="-30000" dirty="0" err="1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必然不再是新元素即这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σ(</a:t>
            </a:r>
            <a:r>
              <a:rPr lang="en-US" altLang="zh-CN" sz="3000" i="1" dirty="0" err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aseline="-30000" dirty="0" err="1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必在</a:t>
            </a:r>
            <a:r>
              <a:rPr lang="en-US" altLang="zh-CN" sz="3000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aseline="-30000" dirty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… , </a:t>
            </a:r>
            <a:r>
              <a:rPr lang="en-US" altLang="zh-CN" sz="3000" i="1" dirty="0" err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aseline="-30000" dirty="0" err="1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之内。由于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σ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是一对一的，我们已有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σ(</a:t>
            </a:r>
            <a:r>
              <a:rPr lang="en-US" altLang="zh-CN" sz="3000" i="1" dirty="0" err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aseline="-30000" dirty="0" err="1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)= </a:t>
            </a:r>
            <a:r>
              <a:rPr lang="en-US" altLang="zh-CN" sz="3000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aseline="-30000" dirty="0">
                <a:ea typeface="宋体" panose="02010600030101010101" pitchFamily="2" charset="-122"/>
                <a:sym typeface="Symbol" panose="05050102010706020507" pitchFamily="18" charset="2"/>
              </a:rPr>
              <a:t>i+1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dirty="0" err="1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=1,2, …, r-1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，所以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σ(</a:t>
            </a:r>
            <a:r>
              <a:rPr lang="en-US" altLang="zh-CN" sz="3000" dirty="0" err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aseline="-30000" dirty="0" err="1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只能是</a:t>
            </a:r>
            <a:r>
              <a:rPr lang="en-US" altLang="zh-CN" sz="3000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aseline="-30000" dirty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。于是我们得到一个轮换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000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aseline="-30000" dirty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 … </a:t>
            </a:r>
            <a:r>
              <a:rPr lang="en-US" altLang="zh-CN" sz="3000" i="1" dirty="0" err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aseline="-30000" dirty="0" err="1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3000" dirty="0">
                <a:ea typeface="宋体" panose="02010600030101010101" pitchFamily="2" charset="-122"/>
                <a:sym typeface="Symbol" panose="05050102010706020507" pitchFamily="18" charset="2"/>
              </a:rPr>
              <a:t>。 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不相杂轮换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4131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CC48CAD-67C2-4FC5-9A0D-BA7E186361B8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82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82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82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82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979" grpId="0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6575" y="1268413"/>
            <a:ext cx="8301038" cy="5256212"/>
          </a:xfrm>
        </p:spPr>
        <p:txBody>
          <a:bodyPr/>
          <a:lstStyle/>
          <a:p>
            <a:pPr marL="0" indent="-609600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证明</a:t>
            </a:r>
            <a:r>
              <a:rPr lang="en-US" altLang="zh-CN" sz="3000" b="1" dirty="0">
                <a:solidFill>
                  <a:srgbClr val="0000FF"/>
                </a:solidFill>
                <a:ea typeface="宋体" panose="02010600030101010101" pitchFamily="2" charset="-122"/>
              </a:rPr>
              <a:t>:</a:t>
            </a:r>
            <a:r>
              <a:rPr lang="zh-CN" altLang="en-US" sz="3000" dirty="0">
                <a:ea typeface="宋体" panose="02010600030101010101" pitchFamily="2" charset="-122"/>
              </a:rPr>
              <a:t>若</a:t>
            </a:r>
            <a:r>
              <a:rPr lang="en-US" altLang="zh-CN" sz="3000" dirty="0">
                <a:ea typeface="宋体" panose="02010600030101010101" pitchFamily="2" charset="-122"/>
              </a:rPr>
              <a:t>M</a:t>
            </a:r>
            <a:r>
              <a:rPr lang="zh-CN" altLang="en-US" sz="3000" dirty="0">
                <a:ea typeface="宋体" panose="02010600030101010101" pitchFamily="2" charset="-122"/>
              </a:rPr>
              <a:t>已经无另外元素，则</a:t>
            </a:r>
            <a:r>
              <a:rPr lang="en-US" altLang="zh-CN" sz="3000" dirty="0">
                <a:ea typeface="宋体" panose="02010600030101010101" pitchFamily="2" charset="-122"/>
              </a:rPr>
              <a:t>σ</a:t>
            </a:r>
            <a:r>
              <a:rPr lang="zh-CN" altLang="en-US" sz="3000" dirty="0">
                <a:ea typeface="宋体" panose="02010600030101010101" pitchFamily="2" charset="-122"/>
              </a:rPr>
              <a:t>就等于这个轮换</a:t>
            </a:r>
            <a:r>
              <a:rPr lang="en-US" altLang="zh-CN" sz="3000" dirty="0">
                <a:ea typeface="宋体" panose="02010600030101010101" pitchFamily="2" charset="-122"/>
              </a:rPr>
              <a:t>.</a:t>
            </a:r>
          </a:p>
          <a:p>
            <a:pPr marL="0" indent="-609600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ea typeface="宋体" panose="02010600030101010101" pitchFamily="2" charset="-122"/>
              </a:rPr>
              <a:t>(3)</a:t>
            </a:r>
            <a:r>
              <a:rPr lang="zh-CN" altLang="en-US" sz="3000" dirty="0">
                <a:ea typeface="宋体" panose="02010600030101010101" pitchFamily="2" charset="-122"/>
              </a:rPr>
              <a:t>否则设</a:t>
            </a:r>
            <a:r>
              <a:rPr lang="en-US" altLang="zh-CN" sz="3000" dirty="0">
                <a:ea typeface="宋体" panose="02010600030101010101" pitchFamily="2" charset="-122"/>
              </a:rPr>
              <a:t>b</a:t>
            </a:r>
            <a:r>
              <a:rPr lang="en-US" altLang="zh-CN" sz="3000" baseline="-30000" dirty="0">
                <a:ea typeface="宋体" panose="02010600030101010101" pitchFamily="2" charset="-122"/>
              </a:rPr>
              <a:t>1</a:t>
            </a:r>
            <a:r>
              <a:rPr lang="zh-CN" altLang="en-US" sz="3000" dirty="0">
                <a:ea typeface="宋体" panose="02010600030101010101" pitchFamily="2" charset="-122"/>
              </a:rPr>
              <a:t>不在</a:t>
            </a:r>
            <a:r>
              <a:rPr lang="en-US" altLang="zh-CN" sz="3000" dirty="0">
                <a:ea typeface="宋体" panose="02010600030101010101" pitchFamily="2" charset="-122"/>
              </a:rPr>
              <a:t>a</a:t>
            </a:r>
            <a:r>
              <a:rPr lang="en-US" altLang="zh-CN" sz="3000" baseline="-30000" dirty="0">
                <a:ea typeface="宋体" panose="02010600030101010101" pitchFamily="2" charset="-122"/>
              </a:rPr>
              <a:t>1</a:t>
            </a:r>
            <a:r>
              <a:rPr lang="zh-CN" altLang="en-US" sz="3000" dirty="0">
                <a:ea typeface="宋体" panose="02010600030101010101" pitchFamily="2" charset="-122"/>
              </a:rPr>
              <a:t>，</a:t>
            </a:r>
            <a:r>
              <a:rPr lang="en-US" altLang="zh-CN" sz="3000" dirty="0">
                <a:ea typeface="宋体" panose="02010600030101010101" pitchFamily="2" charset="-122"/>
              </a:rPr>
              <a:t>…</a:t>
            </a:r>
            <a:r>
              <a:rPr lang="zh-CN" altLang="en-US" sz="3000" dirty="0">
                <a:ea typeface="宋体" panose="02010600030101010101" pitchFamily="2" charset="-122"/>
              </a:rPr>
              <a:t>，</a:t>
            </a:r>
            <a:r>
              <a:rPr lang="en-US" altLang="zh-CN" sz="3000" dirty="0" err="1">
                <a:ea typeface="宋体" panose="02010600030101010101" pitchFamily="2" charset="-122"/>
              </a:rPr>
              <a:t>a</a:t>
            </a:r>
            <a:r>
              <a:rPr lang="en-US" altLang="zh-CN" sz="3000" baseline="-30000" dirty="0" err="1">
                <a:ea typeface="宋体" panose="02010600030101010101" pitchFamily="2" charset="-122"/>
              </a:rPr>
              <a:t>r</a:t>
            </a:r>
            <a:r>
              <a:rPr lang="zh-CN" altLang="en-US" sz="3000" dirty="0">
                <a:ea typeface="宋体" panose="02010600030101010101" pitchFamily="2" charset="-122"/>
              </a:rPr>
              <a:t>之内，则同样作</a:t>
            </a:r>
          </a:p>
          <a:p>
            <a:pPr marL="0" indent="-609600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ea typeface="宋体" panose="02010600030101010101" pitchFamily="2" charset="-122"/>
              </a:rPr>
              <a:t>法又可得到一个轮换（</a:t>
            </a:r>
            <a:r>
              <a:rPr lang="en-US" altLang="zh-CN" sz="3000" dirty="0">
                <a:ea typeface="宋体" panose="02010600030101010101" pitchFamily="2" charset="-122"/>
              </a:rPr>
              <a:t>b</a:t>
            </a:r>
            <a:r>
              <a:rPr lang="en-US" altLang="zh-CN" sz="3000" baseline="-30000" dirty="0">
                <a:ea typeface="宋体" panose="02010600030101010101" pitchFamily="2" charset="-122"/>
              </a:rPr>
              <a:t>1</a:t>
            </a:r>
            <a:r>
              <a:rPr lang="en-US" altLang="zh-CN" sz="3000" dirty="0">
                <a:ea typeface="宋体" panose="02010600030101010101" pitchFamily="2" charset="-122"/>
              </a:rPr>
              <a:t>…</a:t>
            </a:r>
            <a:r>
              <a:rPr lang="en-US" altLang="zh-CN" sz="3000" dirty="0" err="1">
                <a:ea typeface="宋体" panose="02010600030101010101" pitchFamily="2" charset="-122"/>
              </a:rPr>
              <a:t>b</a:t>
            </a:r>
            <a:r>
              <a:rPr lang="en-US" altLang="zh-CN" sz="3000" baseline="-30000" dirty="0" err="1">
                <a:ea typeface="宋体" panose="02010600030101010101" pitchFamily="2" charset="-122"/>
              </a:rPr>
              <a:t>s</a:t>
            </a:r>
            <a:r>
              <a:rPr lang="zh-CN" altLang="en-US" sz="3000" dirty="0">
                <a:ea typeface="宋体" panose="02010600030101010101" pitchFamily="2" charset="-122"/>
              </a:rPr>
              <a:t>）</a:t>
            </a:r>
            <a:r>
              <a:rPr lang="en-US" altLang="zh-CN" sz="3000" dirty="0">
                <a:ea typeface="宋体" panose="02010600030101010101" pitchFamily="2" charset="-122"/>
              </a:rPr>
              <a:t>.</a:t>
            </a:r>
            <a:r>
              <a:rPr lang="zh-CN" altLang="en-US" sz="3000" dirty="0">
                <a:ea typeface="宋体" panose="02010600030101010101" pitchFamily="2" charset="-122"/>
              </a:rPr>
              <a:t>因为</a:t>
            </a:r>
            <a:r>
              <a:rPr lang="en-US" altLang="zh-CN" sz="3000" dirty="0">
                <a:ea typeface="宋体" panose="02010600030101010101" pitchFamily="2" charset="-122"/>
              </a:rPr>
              <a:t>a</a:t>
            </a:r>
            <a:r>
              <a:rPr lang="en-US" altLang="zh-CN" sz="3000" baseline="-30000" dirty="0">
                <a:ea typeface="宋体" panose="02010600030101010101" pitchFamily="2" charset="-122"/>
              </a:rPr>
              <a:t>1</a:t>
            </a:r>
            <a:r>
              <a:rPr lang="zh-CN" altLang="en-US" sz="3000" dirty="0">
                <a:ea typeface="宋体" panose="02010600030101010101" pitchFamily="2" charset="-122"/>
              </a:rPr>
              <a:t>，</a:t>
            </a:r>
            <a:r>
              <a:rPr lang="en-US" altLang="zh-CN" sz="3000" dirty="0">
                <a:ea typeface="宋体" panose="02010600030101010101" pitchFamily="2" charset="-122"/>
              </a:rPr>
              <a:t>…</a:t>
            </a:r>
            <a:r>
              <a:rPr lang="zh-CN" altLang="en-US" sz="3000" dirty="0">
                <a:ea typeface="宋体" panose="02010600030101010101" pitchFamily="2" charset="-122"/>
              </a:rPr>
              <a:t>，</a:t>
            </a:r>
            <a:r>
              <a:rPr lang="en-US" altLang="zh-CN" sz="3000" dirty="0" err="1">
                <a:ea typeface="宋体" panose="02010600030101010101" pitchFamily="2" charset="-122"/>
              </a:rPr>
              <a:t>a</a:t>
            </a:r>
            <a:r>
              <a:rPr lang="en-US" altLang="zh-CN" sz="3000" baseline="-30000" dirty="0" err="1">
                <a:ea typeface="宋体" panose="02010600030101010101" pitchFamily="2" charset="-122"/>
              </a:rPr>
              <a:t>r</a:t>
            </a:r>
            <a:endParaRPr lang="en-US" altLang="zh-CN" sz="3000" baseline="-30000" dirty="0">
              <a:ea typeface="宋体" panose="02010600030101010101" pitchFamily="2" charset="-122"/>
            </a:endParaRPr>
          </a:p>
          <a:p>
            <a:pPr marL="0" indent="-609600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ea typeface="宋体" panose="02010600030101010101" pitchFamily="2" charset="-122"/>
              </a:rPr>
              <a:t>各自已有变到它的元素，所以</a:t>
            </a:r>
            <a:r>
              <a:rPr lang="en-US" altLang="zh-CN" sz="3000" dirty="0">
                <a:ea typeface="宋体" panose="02010600030101010101" pitchFamily="2" charset="-122"/>
              </a:rPr>
              <a:t>b</a:t>
            </a:r>
            <a:r>
              <a:rPr lang="en-US" altLang="zh-CN" sz="3000" baseline="-30000" dirty="0">
                <a:ea typeface="宋体" panose="02010600030101010101" pitchFamily="2" charset="-122"/>
              </a:rPr>
              <a:t>1</a:t>
            </a:r>
            <a:r>
              <a:rPr lang="zh-CN" altLang="en-US" sz="3000" dirty="0">
                <a:ea typeface="宋体" panose="02010600030101010101" pitchFamily="2" charset="-122"/>
              </a:rPr>
              <a:t>，</a:t>
            </a:r>
            <a:r>
              <a:rPr lang="en-US" altLang="zh-CN" sz="3000" dirty="0">
                <a:ea typeface="宋体" panose="02010600030101010101" pitchFamily="2" charset="-122"/>
              </a:rPr>
              <a:t>…</a:t>
            </a:r>
            <a:r>
              <a:rPr lang="zh-CN" altLang="en-US" sz="3000" dirty="0">
                <a:ea typeface="宋体" panose="02010600030101010101" pitchFamily="2" charset="-122"/>
              </a:rPr>
              <a:t>，</a:t>
            </a:r>
            <a:r>
              <a:rPr lang="en-US" altLang="zh-CN" sz="3000" dirty="0" err="1">
                <a:ea typeface="宋体" panose="02010600030101010101" pitchFamily="2" charset="-122"/>
              </a:rPr>
              <a:t>b</a:t>
            </a:r>
            <a:r>
              <a:rPr lang="en-US" altLang="zh-CN" sz="3000" baseline="-30000" dirty="0" err="1">
                <a:ea typeface="宋体" panose="02010600030101010101" pitchFamily="2" charset="-122"/>
              </a:rPr>
              <a:t>s</a:t>
            </a:r>
            <a:r>
              <a:rPr lang="zh-CN" altLang="en-US" sz="3000" dirty="0">
                <a:ea typeface="宋体" panose="02010600030101010101" pitchFamily="2" charset="-122"/>
              </a:rPr>
              <a:t>中不会</a:t>
            </a:r>
          </a:p>
          <a:p>
            <a:pPr marL="0" indent="-609600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ea typeface="宋体" panose="02010600030101010101" pitchFamily="2" charset="-122"/>
              </a:rPr>
              <a:t>有</a:t>
            </a:r>
            <a:r>
              <a:rPr lang="en-US" altLang="zh-CN" sz="3000" dirty="0">
                <a:ea typeface="宋体" panose="02010600030101010101" pitchFamily="2" charset="-122"/>
              </a:rPr>
              <a:t>a</a:t>
            </a:r>
            <a:r>
              <a:rPr lang="en-US" altLang="zh-CN" sz="3000" baseline="-30000" dirty="0">
                <a:ea typeface="宋体" panose="02010600030101010101" pitchFamily="2" charset="-122"/>
              </a:rPr>
              <a:t>1</a:t>
            </a:r>
            <a:r>
              <a:rPr lang="zh-CN" altLang="en-US" sz="3000" dirty="0">
                <a:ea typeface="宋体" panose="02010600030101010101" pitchFamily="2" charset="-122"/>
              </a:rPr>
              <a:t>，</a:t>
            </a:r>
            <a:r>
              <a:rPr lang="en-US" altLang="zh-CN" sz="3000" dirty="0">
                <a:ea typeface="宋体" panose="02010600030101010101" pitchFamily="2" charset="-122"/>
              </a:rPr>
              <a:t>…</a:t>
            </a:r>
            <a:r>
              <a:rPr lang="zh-CN" altLang="en-US" sz="3000" dirty="0">
                <a:ea typeface="宋体" panose="02010600030101010101" pitchFamily="2" charset="-122"/>
              </a:rPr>
              <a:t>，</a:t>
            </a:r>
            <a:r>
              <a:rPr lang="en-US" altLang="zh-CN" sz="3000" dirty="0" err="1">
                <a:ea typeface="宋体" panose="02010600030101010101" pitchFamily="2" charset="-122"/>
              </a:rPr>
              <a:t>a</a:t>
            </a:r>
            <a:r>
              <a:rPr lang="en-US" altLang="zh-CN" sz="3000" baseline="-30000" dirty="0" err="1">
                <a:ea typeface="宋体" panose="02010600030101010101" pitchFamily="2" charset="-122"/>
              </a:rPr>
              <a:t>r</a:t>
            </a:r>
            <a:r>
              <a:rPr lang="zh-CN" altLang="en-US" sz="3000" dirty="0">
                <a:ea typeface="宋体" panose="02010600030101010101" pitchFamily="2" charset="-122"/>
              </a:rPr>
              <a:t>出现，即这两个轮换不相杂。若</a:t>
            </a:r>
            <a:r>
              <a:rPr lang="en-US" altLang="zh-CN" sz="3000" dirty="0">
                <a:ea typeface="宋体" panose="02010600030101010101" pitchFamily="2" charset="-122"/>
              </a:rPr>
              <a:t>M</a:t>
            </a:r>
          </a:p>
          <a:p>
            <a:pPr marL="0" indent="-609600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ea typeface="宋体" panose="02010600030101010101" pitchFamily="2" charset="-122"/>
              </a:rPr>
              <a:t>的元素已尽，则</a:t>
            </a:r>
            <a:r>
              <a:rPr lang="en-US" altLang="zh-CN" sz="3000" dirty="0">
                <a:ea typeface="宋体" panose="02010600030101010101" pitchFamily="2" charset="-122"/>
              </a:rPr>
              <a:t>σ</a:t>
            </a:r>
            <a:r>
              <a:rPr lang="zh-CN" altLang="en-US" sz="3000" dirty="0">
                <a:ea typeface="宋体" panose="02010600030101010101" pitchFamily="2" charset="-122"/>
              </a:rPr>
              <a:t>就等于这两个轮换的乘积，否</a:t>
            </a:r>
          </a:p>
          <a:p>
            <a:pPr marL="0" indent="-609600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ea typeface="宋体" panose="02010600030101010101" pitchFamily="2" charset="-122"/>
              </a:rPr>
              <a:t>则如上又可得到一个轮换。如此类推，由于</a:t>
            </a:r>
            <a:r>
              <a:rPr lang="en-US" altLang="zh-CN" sz="3000" dirty="0">
                <a:ea typeface="宋体" panose="02010600030101010101" pitchFamily="2" charset="-122"/>
              </a:rPr>
              <a:t>M</a:t>
            </a:r>
            <a:r>
              <a:rPr lang="zh-CN" altLang="en-US" sz="3000" dirty="0">
                <a:ea typeface="宋体" panose="02010600030101010101" pitchFamily="2" charset="-122"/>
              </a:rPr>
              <a:t>有</a:t>
            </a:r>
          </a:p>
          <a:p>
            <a:pPr marL="0" indent="-609600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ea typeface="宋体" panose="02010600030101010101" pitchFamily="2" charset="-122"/>
              </a:rPr>
              <a:t>限，最后必得</a:t>
            </a:r>
            <a:r>
              <a:rPr lang="en-US" altLang="zh-CN" sz="3000" dirty="0">
                <a:ea typeface="宋体" panose="02010600030101010101" pitchFamily="2" charset="-122"/>
              </a:rPr>
              <a:t>σ=(a</a:t>
            </a:r>
            <a:r>
              <a:rPr lang="en-US" altLang="zh-CN" sz="3000" baseline="-30000" dirty="0">
                <a:ea typeface="宋体" panose="02010600030101010101" pitchFamily="2" charset="-122"/>
              </a:rPr>
              <a:t>1</a:t>
            </a:r>
            <a:r>
              <a:rPr lang="en-US" altLang="zh-CN" sz="3000" dirty="0">
                <a:ea typeface="宋体" panose="02010600030101010101" pitchFamily="2" charset="-122"/>
              </a:rPr>
              <a:t>…</a:t>
            </a:r>
            <a:r>
              <a:rPr lang="en-US" altLang="zh-CN" sz="3000" dirty="0" err="1">
                <a:ea typeface="宋体" panose="02010600030101010101" pitchFamily="2" charset="-122"/>
              </a:rPr>
              <a:t>a</a:t>
            </a:r>
            <a:r>
              <a:rPr lang="en-US" altLang="zh-CN" sz="3000" baseline="-30000" dirty="0" err="1">
                <a:ea typeface="宋体" panose="02010600030101010101" pitchFamily="2" charset="-122"/>
              </a:rPr>
              <a:t>r</a:t>
            </a:r>
            <a:r>
              <a:rPr lang="en-US" altLang="zh-CN" sz="3000" dirty="0">
                <a:ea typeface="宋体" panose="02010600030101010101" pitchFamily="2" charset="-122"/>
              </a:rPr>
              <a:t>)(b</a:t>
            </a:r>
            <a:r>
              <a:rPr lang="en-US" altLang="zh-CN" sz="3000" baseline="-30000" dirty="0">
                <a:ea typeface="宋体" panose="02010600030101010101" pitchFamily="2" charset="-122"/>
              </a:rPr>
              <a:t>1</a:t>
            </a:r>
            <a:r>
              <a:rPr lang="en-US" altLang="zh-CN" sz="3000" dirty="0">
                <a:ea typeface="宋体" panose="02010600030101010101" pitchFamily="2" charset="-122"/>
              </a:rPr>
              <a:t>…</a:t>
            </a:r>
            <a:r>
              <a:rPr lang="en-US" altLang="zh-CN" sz="3000" dirty="0" err="1">
                <a:ea typeface="宋体" panose="02010600030101010101" pitchFamily="2" charset="-122"/>
              </a:rPr>
              <a:t>b</a:t>
            </a:r>
            <a:r>
              <a:rPr lang="en-US" altLang="zh-CN" sz="3000" baseline="-30000" dirty="0" err="1">
                <a:ea typeface="宋体" panose="02010600030101010101" pitchFamily="2" charset="-122"/>
              </a:rPr>
              <a:t>s</a:t>
            </a:r>
            <a:r>
              <a:rPr lang="en-US" altLang="zh-CN" sz="3000" dirty="0">
                <a:ea typeface="宋体" panose="02010600030101010101" pitchFamily="2" charset="-122"/>
              </a:rPr>
              <a:t>) …(c</a:t>
            </a:r>
            <a:r>
              <a:rPr lang="en-US" altLang="zh-CN" sz="3000" baseline="-30000" dirty="0">
                <a:ea typeface="宋体" panose="02010600030101010101" pitchFamily="2" charset="-122"/>
              </a:rPr>
              <a:t>1</a:t>
            </a:r>
            <a:r>
              <a:rPr lang="en-US" altLang="zh-CN" sz="3000" dirty="0">
                <a:ea typeface="宋体" panose="02010600030101010101" pitchFamily="2" charset="-122"/>
              </a:rPr>
              <a:t>…</a:t>
            </a:r>
            <a:r>
              <a:rPr lang="en-US" altLang="zh-CN" sz="3000" dirty="0" err="1">
                <a:ea typeface="宋体" panose="02010600030101010101" pitchFamily="2" charset="-122"/>
              </a:rPr>
              <a:t>c</a:t>
            </a:r>
            <a:r>
              <a:rPr lang="en-US" altLang="zh-CN" sz="3000" baseline="-30000" dirty="0" err="1">
                <a:ea typeface="宋体" panose="02010600030101010101" pitchFamily="2" charset="-122"/>
              </a:rPr>
              <a:t>t</a:t>
            </a:r>
            <a:r>
              <a:rPr lang="en-US" altLang="zh-CN" sz="3000" dirty="0">
                <a:ea typeface="宋体" panose="02010600030101010101" pitchFamily="2" charset="-122"/>
              </a:rPr>
              <a:t>) (1)</a:t>
            </a:r>
          </a:p>
          <a:p>
            <a:pPr marL="0" indent="-60960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ea typeface="宋体" panose="02010600030101010101" pitchFamily="2" charset="-122"/>
              </a:rPr>
              <a:t>   </a:t>
            </a:r>
            <a:r>
              <a:rPr lang="zh-CN" altLang="en-US" sz="3000" dirty="0">
                <a:ea typeface="宋体" panose="02010600030101010101" pitchFamily="2" charset="-122"/>
              </a:rPr>
              <a:t>即</a:t>
            </a:r>
            <a:r>
              <a:rPr lang="en-US" altLang="zh-CN" sz="3000" dirty="0">
                <a:ea typeface="宋体" panose="02010600030101010101" pitchFamily="2" charset="-122"/>
              </a:rPr>
              <a:t>σ</a:t>
            </a:r>
            <a:r>
              <a:rPr lang="zh-CN" altLang="en-US" sz="3000" dirty="0">
                <a:ea typeface="宋体" panose="02010600030101010101" pitchFamily="2" charset="-122"/>
              </a:rPr>
              <a:t>表成了不相杂轮换的乘积。 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不相杂轮换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4234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23D08D1-EACE-4A5A-B4A4-9C9ACBDA2592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83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1268413"/>
            <a:ext cx="8301037" cy="4979987"/>
          </a:xfrm>
        </p:spPr>
        <p:txBody>
          <a:bodyPr/>
          <a:lstStyle/>
          <a:p>
            <a:pPr marL="0" indent="0">
              <a:lnSpc>
                <a:spcPct val="125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  <a:sym typeface="Symbol" pitchFamily="18" charset="2"/>
              </a:rPr>
              <a:t>证明：</a:t>
            </a:r>
            <a:endParaRPr lang="en-US" altLang="zh-CN" sz="3200" b="1" dirty="0">
              <a:solidFill>
                <a:srgbClr val="0000FF"/>
              </a:solidFill>
              <a:ea typeface="宋体" panose="02010600030101010101" pitchFamily="2" charset="-122"/>
              <a:sym typeface="Symbol" pitchFamily="18" charset="2"/>
            </a:endParaRPr>
          </a:p>
          <a:p>
            <a:pPr marL="609600" indent="-609600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olidFill>
                  <a:srgbClr val="0000FF"/>
                </a:solidFill>
                <a:ea typeface="宋体" panose="02010600030101010101" pitchFamily="2" charset="-122"/>
              </a:rPr>
              <a:t>再证</a:t>
            </a:r>
            <a:r>
              <a:rPr lang="zh-CN" altLang="en-US" sz="3200" dirty="0">
                <a:solidFill>
                  <a:srgbClr val="C00000"/>
                </a:solidFill>
                <a:ea typeface="宋体" panose="02010600030101010101" pitchFamily="2" charset="-122"/>
              </a:rPr>
              <a:t>唯一</a:t>
            </a:r>
            <a:r>
              <a:rPr lang="zh-CN" altLang="en-US" sz="3200" dirty="0">
                <a:solidFill>
                  <a:srgbClr val="0000FF"/>
                </a:solidFill>
                <a:ea typeface="宋体" panose="02010600030101010101" pitchFamily="2" charset="-122"/>
              </a:rPr>
              <a:t>性</a:t>
            </a:r>
            <a:r>
              <a:rPr lang="en-US" altLang="zh-CN" sz="3200" dirty="0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</a:p>
          <a:p>
            <a:pPr marL="0" indent="0" algn="just">
              <a:lnSpc>
                <a:spcPct val="120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ea typeface="宋体" panose="02010600030101010101" pitchFamily="2" charset="-122"/>
              </a:rPr>
              <a:t>设</a:t>
            </a:r>
            <a:r>
              <a:rPr lang="en-US" altLang="zh-CN" sz="3200" dirty="0">
                <a:ea typeface="宋体" panose="02010600030101010101" pitchFamily="2" charset="-122"/>
              </a:rPr>
              <a:t>σ</a:t>
            </a:r>
            <a:r>
              <a:rPr lang="zh-CN" altLang="en-US" sz="3200" dirty="0">
                <a:ea typeface="宋体" panose="02010600030101010101" pitchFamily="2" charset="-122"/>
              </a:rPr>
              <a:t>又可表为不相杂的轮换的乘积如下：</a:t>
            </a:r>
          </a:p>
          <a:p>
            <a:pPr marL="609600" indent="-609600" algn="ctr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None/>
              <a:defRPr/>
            </a:pPr>
            <a:r>
              <a:rPr lang="en-US" altLang="zh-CN" sz="3200" dirty="0">
                <a:ea typeface="宋体" panose="02010600030101010101" pitchFamily="2" charset="-122"/>
              </a:rPr>
              <a:t>σ=(</a:t>
            </a:r>
            <a:r>
              <a:rPr lang="en-US" altLang="zh-CN" sz="3200" dirty="0" smtClean="0">
                <a:ea typeface="宋体" panose="02010600030101010101" pitchFamily="2" charset="-122"/>
              </a:rPr>
              <a:t>a</a:t>
            </a:r>
            <a:r>
              <a:rPr lang="en-US" altLang="zh-CN" sz="3200" baseline="-25000" dirty="0" smtClean="0">
                <a:ea typeface="宋体" panose="02010600030101010101" pitchFamily="2" charset="-122"/>
              </a:rPr>
              <a:t>1</a:t>
            </a:r>
            <a:r>
              <a:rPr lang="en-US" altLang="zh-CN" sz="3200" dirty="0" smtClean="0">
                <a:ea typeface="宋体" panose="02010600030101010101" pitchFamily="2" charset="-122"/>
              </a:rPr>
              <a:t>′…</a:t>
            </a:r>
            <a:r>
              <a:rPr lang="en-US" altLang="zh-CN" sz="3200" dirty="0" err="1">
                <a:ea typeface="宋体" panose="02010600030101010101" pitchFamily="2" charset="-122"/>
              </a:rPr>
              <a:t>a′</a:t>
            </a:r>
            <a:r>
              <a:rPr lang="en-US" altLang="zh-CN" sz="3200" baseline="-30000" dirty="0" err="1" smtClean="0">
                <a:ea typeface="宋体" panose="02010600030101010101" pitchFamily="2" charset="-122"/>
              </a:rPr>
              <a:t>r</a:t>
            </a:r>
            <a:r>
              <a:rPr lang="en-US" altLang="zh-CN" sz="3200" baseline="-30000" dirty="0">
                <a:ea typeface="宋体" panose="02010600030101010101" pitchFamily="2" charset="-122"/>
              </a:rPr>
              <a:t>’</a:t>
            </a:r>
            <a:r>
              <a:rPr lang="en-US" altLang="zh-CN" sz="3200" dirty="0">
                <a:ea typeface="宋体" panose="02010600030101010101" pitchFamily="2" charset="-122"/>
              </a:rPr>
              <a:t>)(</a:t>
            </a:r>
            <a:r>
              <a:rPr lang="en-US" altLang="zh-CN" sz="3200" dirty="0" smtClean="0">
                <a:ea typeface="宋体" panose="02010600030101010101" pitchFamily="2" charset="-122"/>
              </a:rPr>
              <a:t>b′</a:t>
            </a:r>
            <a:r>
              <a:rPr lang="en-US" altLang="zh-CN" sz="3200" baseline="-30000" dirty="0" smtClean="0">
                <a:ea typeface="宋体" panose="02010600030101010101" pitchFamily="2" charset="-122"/>
              </a:rPr>
              <a:t>1</a:t>
            </a:r>
            <a:r>
              <a:rPr lang="en-US" altLang="zh-CN" sz="3200" dirty="0">
                <a:ea typeface="宋体" panose="02010600030101010101" pitchFamily="2" charset="-122"/>
              </a:rPr>
              <a:t>…b′</a:t>
            </a:r>
            <a:r>
              <a:rPr lang="en-US" altLang="zh-CN" sz="3200" baseline="-30000" dirty="0" smtClean="0">
                <a:ea typeface="宋体" panose="02010600030101010101" pitchFamily="2" charset="-122"/>
              </a:rPr>
              <a:t>s</a:t>
            </a:r>
            <a:r>
              <a:rPr lang="en-US" altLang="zh-CN" sz="3200" baseline="-30000" dirty="0">
                <a:ea typeface="宋体" panose="02010600030101010101" pitchFamily="2" charset="-122"/>
              </a:rPr>
              <a:t>’</a:t>
            </a:r>
            <a:r>
              <a:rPr lang="en-US" altLang="zh-CN" sz="3200" dirty="0">
                <a:ea typeface="宋体" panose="02010600030101010101" pitchFamily="2" charset="-122"/>
              </a:rPr>
              <a:t>) …(</a:t>
            </a:r>
            <a:r>
              <a:rPr lang="en-US" altLang="zh-CN" sz="3200" dirty="0" smtClean="0">
                <a:ea typeface="宋体" panose="02010600030101010101" pitchFamily="2" charset="-122"/>
              </a:rPr>
              <a:t>c′</a:t>
            </a:r>
            <a:r>
              <a:rPr lang="en-US" altLang="zh-CN" sz="3200" baseline="-30000" dirty="0" smtClean="0">
                <a:ea typeface="宋体" panose="02010600030101010101" pitchFamily="2" charset="-122"/>
              </a:rPr>
              <a:t>1</a:t>
            </a:r>
            <a:r>
              <a:rPr lang="en-US" altLang="zh-CN" sz="3200" dirty="0">
                <a:ea typeface="宋体" panose="02010600030101010101" pitchFamily="2" charset="-122"/>
              </a:rPr>
              <a:t>…</a:t>
            </a:r>
            <a:r>
              <a:rPr lang="en-US" altLang="zh-CN" sz="3200" dirty="0" err="1">
                <a:ea typeface="宋体" panose="02010600030101010101" pitchFamily="2" charset="-122"/>
              </a:rPr>
              <a:t>c′</a:t>
            </a:r>
            <a:r>
              <a:rPr lang="en-US" altLang="zh-CN" sz="3200" baseline="-30000" dirty="0" err="1" smtClean="0">
                <a:ea typeface="宋体" panose="02010600030101010101" pitchFamily="2" charset="-122"/>
              </a:rPr>
              <a:t>t</a:t>
            </a:r>
            <a:r>
              <a:rPr lang="en-US" altLang="zh-CN" sz="3200" baseline="-30000" dirty="0">
                <a:ea typeface="宋体" panose="02010600030101010101" pitchFamily="2" charset="-122"/>
              </a:rPr>
              <a:t>’</a:t>
            </a:r>
            <a:r>
              <a:rPr lang="en-US" altLang="zh-CN" sz="3200" dirty="0">
                <a:ea typeface="宋体" panose="02010600030101010101" pitchFamily="2" charset="-122"/>
              </a:rPr>
              <a:t>)       (2)</a:t>
            </a:r>
          </a:p>
          <a:p>
            <a:pPr marL="609600" indent="-609600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ea typeface="宋体" panose="02010600030101010101" pitchFamily="2" charset="-122"/>
              </a:rPr>
              <a:t>考虑</a:t>
            </a:r>
            <a:r>
              <a:rPr lang="en-US" altLang="zh-CN" sz="3200" dirty="0">
                <a:ea typeface="宋体" panose="02010600030101010101" pitchFamily="2" charset="-122"/>
              </a:rPr>
              <a:t>(1)</a:t>
            </a:r>
            <a:r>
              <a:rPr lang="zh-CN" altLang="en-US" sz="3200" dirty="0">
                <a:ea typeface="宋体" panose="02010600030101010101" pitchFamily="2" charset="-122"/>
              </a:rPr>
              <a:t>式中任意轮换</a:t>
            </a:r>
            <a:r>
              <a:rPr lang="en-US" altLang="zh-CN" sz="3200" dirty="0">
                <a:ea typeface="宋体" panose="02010600030101010101" pitchFamily="2" charset="-122"/>
              </a:rPr>
              <a:t>(a</a:t>
            </a:r>
            <a:r>
              <a:rPr lang="en-US" altLang="zh-CN" sz="3200" baseline="-30000" dirty="0">
                <a:ea typeface="宋体" panose="02010600030101010101" pitchFamily="2" charset="-122"/>
              </a:rPr>
              <a:t>1</a:t>
            </a:r>
            <a:r>
              <a:rPr lang="en-US" altLang="zh-CN" sz="3200" dirty="0">
                <a:ea typeface="宋体" panose="02010600030101010101" pitchFamily="2" charset="-122"/>
              </a:rPr>
              <a:t>…</a:t>
            </a:r>
            <a:r>
              <a:rPr lang="en-US" altLang="zh-CN" sz="3200" dirty="0" err="1">
                <a:ea typeface="宋体" panose="02010600030101010101" pitchFamily="2" charset="-122"/>
              </a:rPr>
              <a:t>a</a:t>
            </a:r>
            <a:r>
              <a:rPr lang="en-US" altLang="zh-CN" sz="3200" baseline="-30000" dirty="0" err="1">
                <a:ea typeface="宋体" panose="02010600030101010101" pitchFamily="2" charset="-122"/>
              </a:rPr>
              <a:t>r</a:t>
            </a:r>
            <a:r>
              <a:rPr lang="en-US" altLang="zh-CN" sz="3200" dirty="0">
                <a:ea typeface="宋体" panose="02010600030101010101" pitchFamily="2" charset="-122"/>
              </a:rPr>
              <a:t>)</a:t>
            </a:r>
            <a:r>
              <a:rPr lang="zh-CN" altLang="en-US" sz="3200" dirty="0">
                <a:ea typeface="宋体" panose="02010600030101010101" pitchFamily="2" charset="-122"/>
              </a:rPr>
              <a:t>。 不妨设 </a:t>
            </a:r>
          </a:p>
          <a:p>
            <a:pPr marL="609600" indent="-609600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None/>
              <a:defRPr/>
            </a:pPr>
            <a:r>
              <a:rPr lang="zh-CN" altLang="en-US" sz="3200" dirty="0">
                <a:ea typeface="宋体" panose="02010600030101010101" pitchFamily="2" charset="-122"/>
              </a:rPr>
              <a:t>      </a:t>
            </a:r>
            <a:r>
              <a:rPr lang="en-US" altLang="zh-CN" sz="3200" dirty="0">
                <a:ea typeface="宋体" panose="02010600030101010101" pitchFamily="2" charset="-122"/>
              </a:rPr>
              <a:t>a</a:t>
            </a:r>
            <a:r>
              <a:rPr lang="en-US" altLang="zh-CN" sz="3200" baseline="-30000" dirty="0">
                <a:ea typeface="宋体" panose="02010600030101010101" pitchFamily="2" charset="-122"/>
              </a:rPr>
              <a:t>1</a:t>
            </a:r>
            <a:r>
              <a:rPr lang="en-US" altLang="zh-CN" sz="3200" dirty="0">
                <a:ea typeface="宋体" panose="02010600030101010101" pitchFamily="2" charset="-122"/>
              </a:rPr>
              <a:t>∈{</a:t>
            </a:r>
            <a:r>
              <a:rPr lang="en-US" altLang="zh-CN" sz="3200" dirty="0" smtClean="0">
                <a:ea typeface="宋体" panose="02010600030101010101" pitchFamily="2" charset="-122"/>
              </a:rPr>
              <a:t>a′</a:t>
            </a:r>
            <a:r>
              <a:rPr lang="en-US" altLang="zh-CN" sz="3200" baseline="-30000" dirty="0" smtClean="0">
                <a:ea typeface="宋体" panose="02010600030101010101" pitchFamily="2" charset="-122"/>
              </a:rPr>
              <a:t>1</a:t>
            </a:r>
            <a:r>
              <a:rPr lang="en-US" altLang="zh-CN" sz="3200" dirty="0">
                <a:ea typeface="宋体" panose="02010600030101010101" pitchFamily="2" charset="-122"/>
              </a:rPr>
              <a:t>…</a:t>
            </a:r>
            <a:r>
              <a:rPr lang="en-US" altLang="zh-CN" sz="3200" dirty="0" err="1">
                <a:ea typeface="宋体" panose="02010600030101010101" pitchFamily="2" charset="-122"/>
              </a:rPr>
              <a:t>a′</a:t>
            </a:r>
            <a:r>
              <a:rPr lang="en-US" altLang="zh-CN" sz="3200" baseline="-30000" dirty="0" err="1" smtClean="0">
                <a:ea typeface="宋体" panose="02010600030101010101" pitchFamily="2" charset="-122"/>
              </a:rPr>
              <a:t>r</a:t>
            </a:r>
            <a:r>
              <a:rPr lang="en-US" altLang="zh-CN" sz="3200" baseline="-30000" dirty="0">
                <a:ea typeface="宋体" panose="02010600030101010101" pitchFamily="2" charset="-122"/>
              </a:rPr>
              <a:t>’</a:t>
            </a:r>
            <a:r>
              <a:rPr lang="en-US" altLang="zh-CN" sz="3200" dirty="0">
                <a:ea typeface="宋体" panose="02010600030101010101" pitchFamily="2" charset="-122"/>
              </a:rPr>
              <a:t>}</a:t>
            </a:r>
            <a:r>
              <a:rPr lang="zh-CN" altLang="en-US" sz="3200" dirty="0">
                <a:ea typeface="宋体" panose="02010600030101010101" pitchFamily="2" charset="-122"/>
              </a:rPr>
              <a:t>，且</a:t>
            </a:r>
            <a:r>
              <a:rPr lang="en-US" altLang="zh-CN" sz="3200" dirty="0">
                <a:ea typeface="宋体" panose="02010600030101010101" pitchFamily="2" charset="-122"/>
              </a:rPr>
              <a:t>a</a:t>
            </a:r>
            <a:r>
              <a:rPr lang="en-US" altLang="zh-CN" sz="3200" baseline="-30000" dirty="0">
                <a:ea typeface="宋体" panose="02010600030101010101" pitchFamily="2" charset="-122"/>
              </a:rPr>
              <a:t>1</a:t>
            </a:r>
            <a:r>
              <a:rPr lang="zh-CN" altLang="en-US" sz="3200" dirty="0">
                <a:ea typeface="宋体" panose="02010600030101010101" pitchFamily="2" charset="-122"/>
              </a:rPr>
              <a:t>＝</a:t>
            </a:r>
            <a:r>
              <a:rPr lang="en-US" altLang="zh-CN" sz="3200" dirty="0">
                <a:ea typeface="宋体" panose="02010600030101010101" pitchFamily="2" charset="-122"/>
              </a:rPr>
              <a:t>a′</a:t>
            </a:r>
            <a:r>
              <a:rPr lang="zh-CN" altLang="en-US" sz="3200" baseline="-30000" dirty="0" smtClean="0">
                <a:ea typeface="宋体" panose="02010600030101010101" pitchFamily="2" charset="-122"/>
              </a:rPr>
              <a:t>１</a:t>
            </a:r>
            <a:r>
              <a:rPr lang="zh-CN" altLang="en-US" sz="3200" dirty="0">
                <a:ea typeface="宋体" panose="02010600030101010101" pitchFamily="2" charset="-122"/>
              </a:rPr>
              <a:t>。</a:t>
            </a:r>
          </a:p>
          <a:p>
            <a:pPr marL="609600" indent="-609600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None/>
              <a:defRPr/>
            </a:pPr>
            <a:r>
              <a:rPr lang="zh-CN" altLang="en-US" sz="3200" dirty="0">
                <a:ea typeface="宋体" panose="02010600030101010101" pitchFamily="2" charset="-122"/>
              </a:rPr>
              <a:t>于是，</a:t>
            </a:r>
            <a:r>
              <a:rPr lang="en-US" altLang="zh-CN" sz="3200" dirty="0">
                <a:ea typeface="宋体" panose="02010600030101010101" pitchFamily="2" charset="-122"/>
              </a:rPr>
              <a:t>a</a:t>
            </a:r>
            <a:r>
              <a:rPr lang="en-US" altLang="zh-CN" sz="3200" baseline="-30000" dirty="0">
                <a:ea typeface="宋体" panose="02010600030101010101" pitchFamily="2" charset="-122"/>
              </a:rPr>
              <a:t>2</a:t>
            </a:r>
            <a:r>
              <a:rPr lang="en-US" altLang="zh-CN" sz="3200" dirty="0">
                <a:ea typeface="宋体" panose="02010600030101010101" pitchFamily="2" charset="-122"/>
              </a:rPr>
              <a:t>=σ(a</a:t>
            </a:r>
            <a:r>
              <a:rPr lang="en-US" altLang="zh-CN" sz="3200" baseline="-30000" dirty="0">
                <a:ea typeface="宋体" panose="02010600030101010101" pitchFamily="2" charset="-122"/>
              </a:rPr>
              <a:t>1</a:t>
            </a:r>
            <a:r>
              <a:rPr lang="en-US" altLang="zh-CN" sz="3200" dirty="0">
                <a:ea typeface="宋体" panose="02010600030101010101" pitchFamily="2" charset="-122"/>
              </a:rPr>
              <a:t>)=σ(a′</a:t>
            </a:r>
            <a:r>
              <a:rPr lang="en-US" altLang="zh-CN" sz="3200" baseline="-30000" dirty="0" smtClean="0">
                <a:ea typeface="宋体" panose="02010600030101010101" pitchFamily="2" charset="-122"/>
              </a:rPr>
              <a:t>1</a:t>
            </a:r>
            <a:r>
              <a:rPr lang="en-US" altLang="zh-CN" sz="3200" dirty="0">
                <a:ea typeface="宋体" panose="02010600030101010101" pitchFamily="2" charset="-122"/>
              </a:rPr>
              <a:t>)= a′</a:t>
            </a:r>
            <a:r>
              <a:rPr lang="en-US" altLang="zh-CN" sz="3200" baseline="-30000" dirty="0" smtClean="0">
                <a:ea typeface="宋体" panose="02010600030101010101" pitchFamily="2" charset="-122"/>
              </a:rPr>
              <a:t>2 </a:t>
            </a:r>
            <a:r>
              <a:rPr lang="zh-CN" altLang="en-US" sz="3200" dirty="0">
                <a:ea typeface="宋体" panose="02010600030101010101" pitchFamily="2" charset="-122"/>
              </a:rPr>
              <a:t>，</a:t>
            </a:r>
          </a:p>
          <a:p>
            <a:pPr marL="609600" indent="-609600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None/>
              <a:defRPr/>
            </a:pPr>
            <a:r>
              <a:rPr lang="zh-CN" altLang="en-US" sz="3200" dirty="0">
                <a:ea typeface="宋体" panose="02010600030101010101" pitchFamily="2" charset="-122"/>
              </a:rPr>
              <a:t>            </a:t>
            </a:r>
            <a:r>
              <a:rPr lang="en-US" altLang="zh-CN" sz="3200" dirty="0">
                <a:ea typeface="宋体" panose="02010600030101010101" pitchFamily="2" charset="-122"/>
              </a:rPr>
              <a:t>a</a:t>
            </a:r>
            <a:r>
              <a:rPr lang="en-US" altLang="zh-CN" sz="3200" baseline="-30000" dirty="0">
                <a:ea typeface="宋体" panose="02010600030101010101" pitchFamily="2" charset="-122"/>
              </a:rPr>
              <a:t>3</a:t>
            </a:r>
            <a:r>
              <a:rPr lang="en-US" altLang="zh-CN" sz="3200" dirty="0">
                <a:ea typeface="宋体" panose="02010600030101010101" pitchFamily="2" charset="-122"/>
              </a:rPr>
              <a:t>=σ(a</a:t>
            </a:r>
            <a:r>
              <a:rPr lang="en-US" altLang="zh-CN" sz="3200" baseline="-30000" dirty="0">
                <a:ea typeface="宋体" panose="02010600030101010101" pitchFamily="2" charset="-122"/>
              </a:rPr>
              <a:t>2</a:t>
            </a:r>
            <a:r>
              <a:rPr lang="en-US" altLang="zh-CN" sz="3200" dirty="0">
                <a:ea typeface="宋体" panose="02010600030101010101" pitchFamily="2" charset="-122"/>
              </a:rPr>
              <a:t>)=σ(a′</a:t>
            </a:r>
            <a:r>
              <a:rPr lang="en-US" altLang="zh-CN" sz="3200" baseline="-30000" dirty="0" smtClean="0">
                <a:ea typeface="宋体" panose="02010600030101010101" pitchFamily="2" charset="-122"/>
              </a:rPr>
              <a:t>2</a:t>
            </a:r>
            <a:r>
              <a:rPr lang="en-US" altLang="zh-CN" sz="3200" dirty="0">
                <a:ea typeface="宋体" panose="02010600030101010101" pitchFamily="2" charset="-122"/>
              </a:rPr>
              <a:t>)= a′</a:t>
            </a:r>
            <a:r>
              <a:rPr lang="en-US" altLang="zh-CN" sz="3200" baseline="-30000" dirty="0" smtClean="0">
                <a:ea typeface="宋体" panose="02010600030101010101" pitchFamily="2" charset="-122"/>
              </a:rPr>
              <a:t>3 </a:t>
            </a:r>
            <a:r>
              <a:rPr lang="zh-CN" altLang="en-US" sz="3200" dirty="0">
                <a:ea typeface="宋体" panose="02010600030101010101" pitchFamily="2" charset="-122"/>
              </a:rPr>
              <a:t>，</a:t>
            </a:r>
            <a:r>
              <a:rPr lang="en-US" altLang="zh-CN" sz="3200" dirty="0">
                <a:ea typeface="宋体" panose="02010600030101010101" pitchFamily="2" charset="-122"/>
              </a:rPr>
              <a:t>…</a:t>
            </a:r>
            <a:r>
              <a:rPr lang="zh-CN" altLang="en-US" sz="3200" dirty="0">
                <a:ea typeface="宋体" panose="02010600030101010101" pitchFamily="2" charset="-122"/>
              </a:rPr>
              <a:t>，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不相杂轮换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4336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5DB1A43-5162-42C2-BACA-25D1394A9D1C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84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2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2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内容占位符 2"/>
          <p:cNvSpPr>
            <a:spLocks noGrp="1"/>
          </p:cNvSpPr>
          <p:nvPr>
            <p:ph idx="1"/>
          </p:nvPr>
        </p:nvSpPr>
        <p:spPr>
          <a:xfrm>
            <a:off x="565150" y="1341438"/>
            <a:ext cx="8301038" cy="5183187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证明：</a:t>
            </a:r>
            <a:endParaRPr lang="en-US" altLang="zh-CN" sz="3000" b="1" dirty="0">
              <a:solidFill>
                <a:srgbClr val="0000FF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None/>
              <a:defRPr/>
            </a:pPr>
            <a:r>
              <a:rPr lang="zh-CN" altLang="en-US" sz="3000" dirty="0" smtClean="0">
                <a:ea typeface="宋体" panose="02010600030101010101" pitchFamily="2" charset="-122"/>
              </a:rPr>
              <a:t>可见</a:t>
            </a:r>
            <a:r>
              <a:rPr lang="zh-CN" altLang="en-US" sz="3000" dirty="0">
                <a:ea typeface="宋体" panose="02010600030101010101" pitchFamily="2" charset="-122"/>
              </a:rPr>
              <a:t>，</a:t>
            </a:r>
            <a:r>
              <a:rPr lang="en-US" altLang="zh-CN" sz="3000" dirty="0">
                <a:ea typeface="宋体" panose="02010600030101010101" pitchFamily="2" charset="-122"/>
              </a:rPr>
              <a:t>(a</a:t>
            </a:r>
            <a:r>
              <a:rPr lang="en-US" altLang="zh-CN" sz="3000" baseline="-30000" dirty="0">
                <a:ea typeface="宋体" panose="02010600030101010101" pitchFamily="2" charset="-122"/>
              </a:rPr>
              <a:t>1</a:t>
            </a:r>
            <a:r>
              <a:rPr lang="en-US" altLang="zh-CN" sz="3000" dirty="0">
                <a:ea typeface="宋体" panose="02010600030101010101" pitchFamily="2" charset="-122"/>
              </a:rPr>
              <a:t>…</a:t>
            </a:r>
            <a:r>
              <a:rPr lang="en-US" altLang="zh-CN" sz="3000" dirty="0" err="1">
                <a:ea typeface="宋体" panose="02010600030101010101" pitchFamily="2" charset="-122"/>
              </a:rPr>
              <a:t>a</a:t>
            </a:r>
            <a:r>
              <a:rPr lang="en-US" altLang="zh-CN" sz="3000" baseline="-30000" dirty="0" err="1">
                <a:ea typeface="宋体" panose="02010600030101010101" pitchFamily="2" charset="-122"/>
              </a:rPr>
              <a:t>r</a:t>
            </a:r>
            <a:r>
              <a:rPr lang="en-US" altLang="zh-CN" sz="3000" dirty="0">
                <a:ea typeface="宋体" panose="02010600030101010101" pitchFamily="2" charset="-122"/>
              </a:rPr>
              <a:t>)</a:t>
            </a:r>
            <a:r>
              <a:rPr lang="zh-CN" altLang="en-US" sz="3000" dirty="0">
                <a:ea typeface="宋体" panose="02010600030101010101" pitchFamily="2" charset="-122"/>
              </a:rPr>
              <a:t>必和</a:t>
            </a:r>
            <a:r>
              <a:rPr lang="en-US" altLang="zh-CN" sz="3000">
                <a:ea typeface="宋体" panose="02010600030101010101" pitchFamily="2" charset="-122"/>
              </a:rPr>
              <a:t>(</a:t>
            </a:r>
            <a:r>
              <a:rPr lang="en-US" altLang="zh-CN" sz="3000" smtClean="0">
                <a:ea typeface="宋体" panose="02010600030101010101" pitchFamily="2" charset="-122"/>
              </a:rPr>
              <a:t>a</a:t>
            </a:r>
            <a:r>
              <a:rPr lang="en-US" altLang="zh-CN" sz="2800" smtClean="0">
                <a:ea typeface="宋体" panose="02010600030101010101" pitchFamily="2" charset="-122"/>
              </a:rPr>
              <a:t>′</a:t>
            </a:r>
            <a:r>
              <a:rPr lang="en-US" altLang="zh-CN" sz="3000" baseline="-30000" smtClean="0">
                <a:ea typeface="宋体" panose="02010600030101010101" pitchFamily="2" charset="-122"/>
              </a:rPr>
              <a:t>1</a:t>
            </a:r>
            <a:r>
              <a:rPr lang="en-US" altLang="zh-CN" sz="3000" smtClean="0">
                <a:ea typeface="宋体" panose="02010600030101010101" pitchFamily="2" charset="-122"/>
              </a:rPr>
              <a:t>…a’</a:t>
            </a:r>
            <a:r>
              <a:rPr lang="en-US" altLang="zh-CN" sz="3000" baseline="-30000" smtClean="0">
                <a:ea typeface="宋体" panose="02010600030101010101" pitchFamily="2" charset="-122"/>
              </a:rPr>
              <a:t>r</a:t>
            </a:r>
            <a:r>
              <a:rPr lang="en-US" altLang="zh-CN" sz="3000" baseline="-30000" dirty="0">
                <a:ea typeface="宋体" panose="02010600030101010101" pitchFamily="2" charset="-122"/>
              </a:rPr>
              <a:t>’</a:t>
            </a:r>
            <a:r>
              <a:rPr lang="en-US" altLang="zh-CN" sz="3000" dirty="0">
                <a:ea typeface="宋体" panose="02010600030101010101" pitchFamily="2" charset="-122"/>
              </a:rPr>
              <a:t>)</a:t>
            </a:r>
            <a:r>
              <a:rPr lang="zh-CN" altLang="en-US" sz="3000" dirty="0">
                <a:ea typeface="宋体" panose="02010600030101010101" pitchFamily="2" charset="-122"/>
              </a:rPr>
              <a:t>完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ea typeface="宋体" panose="02010600030101010101" pitchFamily="2" charset="-122"/>
              </a:rPr>
              <a:t>全相同。这就是说，</a:t>
            </a:r>
            <a:r>
              <a:rPr lang="en-US" altLang="zh-CN" sz="3000" dirty="0">
                <a:ea typeface="宋体" panose="02010600030101010101" pitchFamily="2" charset="-122"/>
              </a:rPr>
              <a:t>(1)</a:t>
            </a:r>
            <a:r>
              <a:rPr lang="zh-CN" altLang="en-US" sz="3000" dirty="0">
                <a:ea typeface="宋体" panose="02010600030101010101" pitchFamily="2" charset="-122"/>
              </a:rPr>
              <a:t>中的任意轮换必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ea typeface="宋体" panose="02010600030101010101" pitchFamily="2" charset="-122"/>
              </a:rPr>
              <a:t>出现在</a:t>
            </a:r>
            <a:r>
              <a:rPr lang="en-US" altLang="zh-CN" sz="3000" dirty="0">
                <a:ea typeface="宋体" panose="02010600030101010101" pitchFamily="2" charset="-122"/>
              </a:rPr>
              <a:t>(2)</a:t>
            </a:r>
            <a:r>
              <a:rPr lang="zh-CN" altLang="en-US" sz="3000" dirty="0">
                <a:ea typeface="宋体" panose="02010600030101010101" pitchFamily="2" charset="-122"/>
              </a:rPr>
              <a:t>中，同样</a:t>
            </a:r>
            <a:r>
              <a:rPr lang="en-US" altLang="zh-CN" sz="3000" dirty="0">
                <a:ea typeface="宋体" panose="02010600030101010101" pitchFamily="2" charset="-122"/>
              </a:rPr>
              <a:t>(2)</a:t>
            </a:r>
            <a:r>
              <a:rPr lang="zh-CN" altLang="en-US" sz="3000" dirty="0">
                <a:ea typeface="宋体" panose="02010600030101010101" pitchFamily="2" charset="-122"/>
              </a:rPr>
              <a:t>中的任意轮换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ea typeface="宋体" panose="02010600030101010101" pitchFamily="2" charset="-122"/>
              </a:rPr>
              <a:t>必出现在</a:t>
            </a:r>
            <a:r>
              <a:rPr lang="en-US" altLang="zh-CN" sz="3000" dirty="0">
                <a:ea typeface="宋体" panose="02010600030101010101" pitchFamily="2" charset="-122"/>
              </a:rPr>
              <a:t>(1)</a:t>
            </a:r>
            <a:r>
              <a:rPr lang="zh-CN" altLang="en-US" sz="3000" dirty="0">
                <a:ea typeface="宋体" panose="02010600030101010101" pitchFamily="2" charset="-122"/>
              </a:rPr>
              <a:t>中，因之，</a:t>
            </a:r>
            <a:r>
              <a:rPr lang="en-US" altLang="zh-CN" sz="3000" dirty="0">
                <a:ea typeface="宋体" panose="02010600030101010101" pitchFamily="2" charset="-122"/>
              </a:rPr>
              <a:t>(1)</a:t>
            </a:r>
            <a:r>
              <a:rPr lang="zh-CN" altLang="en-US" sz="3000" dirty="0">
                <a:ea typeface="宋体" panose="02010600030101010101" pitchFamily="2" charset="-122"/>
              </a:rPr>
              <a:t>和</a:t>
            </a:r>
            <a:r>
              <a:rPr lang="en-US" altLang="zh-CN" sz="3000" dirty="0">
                <a:ea typeface="宋体" panose="02010600030101010101" pitchFamily="2" charset="-122"/>
              </a:rPr>
              <a:t>(2)</a:t>
            </a:r>
            <a:r>
              <a:rPr lang="zh-CN" altLang="en-US" sz="3000" dirty="0">
                <a:ea typeface="宋体" panose="02010600030101010101" pitchFamily="2" charset="-122"/>
              </a:rPr>
              <a:t>一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ea typeface="宋体" panose="02010600030101010101" pitchFamily="2" charset="-122"/>
              </a:rPr>
              <a:t>样，最多排列方法不同，但不相杂的轮换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ea typeface="宋体" panose="02010600030101010101" pitchFamily="2" charset="-122"/>
              </a:rPr>
              <a:t>相乘适合交换律，所以排列的次序本来是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ea typeface="宋体" panose="02010600030101010101" pitchFamily="2" charset="-122"/>
              </a:rPr>
              <a:t>可以任意颠倒的。</a:t>
            </a:r>
            <a:r>
              <a:rPr lang="zh-CN" altLang="en-US" sz="3000" dirty="0">
                <a:solidFill>
                  <a:schemeClr val="tx2"/>
                </a:solidFill>
                <a:ea typeface="宋体" panose="02010600030101010101" pitchFamily="2" charset="-122"/>
              </a:rPr>
              <a:t>证毕。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不相杂轮换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4438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E9522F2-C5C7-4923-8B7F-181A654A92B3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85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7375" y="1254125"/>
            <a:ext cx="8280400" cy="5351462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zh-CN" altLang="en-US" sz="3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sym typeface="Symbol" pitchFamily="18" charset="2"/>
              </a:rPr>
              <a:t>例</a:t>
            </a:r>
            <a:r>
              <a:rPr lang="en-US" altLang="zh-CN" sz="3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sym typeface="Symbol" pitchFamily="18" charset="2"/>
              </a:rPr>
              <a:t>6.2.7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M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的元数为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4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，于是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M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的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24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个置换可以写成下面的形式：</a:t>
            </a:r>
          </a:p>
          <a:p>
            <a:pPr marL="185738" indent="0"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altLang="zh-CN" sz="3000" dirty="0">
                <a:cs typeface="Arial" panose="020B0604020202020204" pitchFamily="34" charset="0"/>
                <a:sym typeface="Symbol" pitchFamily="18" charset="2"/>
              </a:rPr>
              <a:t>I</a:t>
            </a:r>
          </a:p>
          <a:p>
            <a:pPr marL="185738" indent="0"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endParaRPr lang="en-US" altLang="zh-CN" sz="1500" dirty="0">
              <a:latin typeface="Arial" panose="020B0604020202020204" pitchFamily="34" charset="0"/>
              <a:cs typeface="Arial" panose="020B0604020202020204" pitchFamily="34" charset="0"/>
              <a:sym typeface="Symbol" pitchFamily="18" charset="2"/>
            </a:endParaRPr>
          </a:p>
          <a:p>
            <a:pPr marL="185738" indent="0"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(1 2), (1 3), (1 4), (2 3), (2 4), (3 4)</a:t>
            </a:r>
            <a:r>
              <a:rPr lang="zh-CN" altLang="en-US" sz="3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；</a:t>
            </a:r>
          </a:p>
          <a:p>
            <a:pPr marL="185738" indent="0"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endParaRPr lang="zh-CN" altLang="en-US" sz="1500" dirty="0">
              <a:latin typeface="Arial" panose="020B0604020202020204" pitchFamily="34" charset="0"/>
              <a:cs typeface="Arial" panose="020B0604020202020204" pitchFamily="34" charset="0"/>
              <a:sym typeface="Symbol" pitchFamily="18" charset="2"/>
            </a:endParaRPr>
          </a:p>
          <a:p>
            <a:pPr marL="185738" indent="0"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(1 2 3), (1 3 2), (1 2 4), (1 4 2),</a:t>
            </a:r>
          </a:p>
          <a:p>
            <a:pPr marL="185738" indent="0"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(1 3 4), (1 4 3), (2 3 4), (2 4 3)</a:t>
            </a:r>
            <a:r>
              <a:rPr lang="zh-CN" altLang="en-US" sz="3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，</a:t>
            </a:r>
            <a:endParaRPr lang="en-US" altLang="zh-CN" sz="3000" dirty="0">
              <a:latin typeface="Arial" panose="020B0604020202020204" pitchFamily="34" charset="0"/>
              <a:cs typeface="Arial" panose="020B0604020202020204" pitchFamily="34" charset="0"/>
              <a:sym typeface="Symbol" pitchFamily="18" charset="2"/>
            </a:endParaRPr>
          </a:p>
          <a:p>
            <a:pPr marL="185738" indent="0"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(1 2)(3 4), (1 3)(2 4), (1 4)(2 3)</a:t>
            </a:r>
            <a:r>
              <a:rPr lang="zh-CN" altLang="en-US" sz="3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；</a:t>
            </a:r>
          </a:p>
          <a:p>
            <a:pPr marL="185738" indent="0"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endParaRPr lang="zh-CN" altLang="en-US" sz="1500" dirty="0">
              <a:latin typeface="Arial" panose="020B0604020202020204" pitchFamily="34" charset="0"/>
              <a:cs typeface="Arial" panose="020B0604020202020204" pitchFamily="34" charset="0"/>
              <a:sym typeface="Symbol" pitchFamily="18" charset="2"/>
            </a:endParaRPr>
          </a:p>
          <a:p>
            <a:pPr marL="185738" indent="0"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(1 2 3 4), (1 2 4 3), (1 3 2 4),</a:t>
            </a:r>
          </a:p>
          <a:p>
            <a:pPr marL="185738" indent="0"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(1 3 4 2), (1 4 2 3) ,  (1 4 3 2) </a:t>
            </a:r>
            <a:r>
              <a:rPr lang="zh-CN" altLang="en-US" sz="3000" b="1" dirty="0">
                <a:sym typeface="Symbol" pitchFamily="18" charset="2"/>
              </a:rPr>
              <a:t>。</a:t>
            </a:r>
          </a:p>
          <a:p>
            <a:pPr marL="185738" indent="0"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endParaRPr lang="zh-CN" altLang="en-US" sz="2800" b="1" dirty="0">
              <a:sym typeface="Symbol" pitchFamily="18" charset="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不相杂轮换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4541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CC8E11A-23F0-4A68-92C9-3E3032339607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86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6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6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6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6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6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6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86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86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86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86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860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860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60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60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254125"/>
            <a:ext cx="8596312" cy="4994275"/>
          </a:xfrm>
        </p:spPr>
        <p:txBody>
          <a:bodyPr/>
          <a:lstStyle/>
          <a:p>
            <a:pPr marL="0" indent="0">
              <a:lnSpc>
                <a:spcPct val="118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定义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：设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(a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…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r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为一轮换，我们称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r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为该轮换的长度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---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轮换的长度也就是其中所含的元素个数。</a:t>
            </a:r>
          </a:p>
          <a:p>
            <a:pPr marL="0" indent="0">
              <a:lnSpc>
                <a:spcPct val="118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对换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：长度为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的轮换称为对换。</a:t>
            </a:r>
          </a:p>
          <a:p>
            <a:pPr marL="0" indent="0">
              <a:lnSpc>
                <a:spcPct val="118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结论：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任意轮换可以写成对换的乘积。</a:t>
            </a:r>
          </a:p>
          <a:p>
            <a:pPr marL="387350" indent="-387350" algn="just">
              <a:lnSpc>
                <a:spcPct val="118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例如：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＝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)(a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</a:t>
            </a:r>
            <a:r>
              <a:rPr lang="zh-CN" altLang="en-US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１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)…(a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)(a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marL="387350" indent="-387350" algn="just">
              <a:lnSpc>
                <a:spcPct val="118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387350" indent="-387350" algn="just">
              <a:lnSpc>
                <a:spcPct val="118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进行归纳，当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r=2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时命题显然成立。</a:t>
            </a:r>
          </a:p>
          <a:p>
            <a:pPr marL="387350" indent="-387350" algn="just">
              <a:lnSpc>
                <a:spcPct val="118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假设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r=t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时结论为真，</a:t>
            </a:r>
          </a:p>
          <a:p>
            <a:pPr marL="387350" indent="-387350" algn="just">
              <a:lnSpc>
                <a:spcPct val="118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考虑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σ=(a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 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t+1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的情况</a:t>
            </a:r>
            <a:r>
              <a:rPr lang="zh-CN" altLang="en-US" sz="3000" b="1" dirty="0">
                <a:ea typeface="宋体" panose="02010600030101010101" pitchFamily="2" charset="-122"/>
              </a:rPr>
              <a:t>。</a:t>
            </a:r>
          </a:p>
          <a:p>
            <a:pPr marL="0" indent="0"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endParaRPr lang="zh-CN" altLang="en-US" sz="3000" b="1" dirty="0">
              <a:sym typeface="Symbol" pitchFamily="18" charset="2"/>
            </a:endParaRPr>
          </a:p>
          <a:p>
            <a:pPr marL="0" indent="0"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endParaRPr lang="zh-CN" altLang="en-US" sz="2900" b="1" dirty="0">
              <a:sym typeface="Symbol" pitchFamily="18" charset="2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对换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4643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5D4DBE7-FC09-48B3-B5C4-679CDAFFF108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87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3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3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3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内容占位符 2"/>
          <p:cNvSpPr>
            <a:spLocks noGrp="1"/>
          </p:cNvSpPr>
          <p:nvPr>
            <p:ph idx="1"/>
          </p:nvPr>
        </p:nvSpPr>
        <p:spPr>
          <a:xfrm>
            <a:off x="468313" y="1220788"/>
            <a:ext cx="8533135" cy="5256212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例：往证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3000" baseline="-30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…a</a:t>
            </a:r>
            <a:r>
              <a:rPr lang="en-US" altLang="zh-CN" sz="3000" baseline="-30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25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t+1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 (a</a:t>
            </a:r>
            <a:r>
              <a:rPr lang="en-US" altLang="zh-CN" sz="3000" baseline="-25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25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t+1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(a</a:t>
            </a:r>
            <a:r>
              <a:rPr lang="en-US" altLang="zh-CN" sz="3000" baseline="-30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…a</a:t>
            </a:r>
            <a:r>
              <a:rPr lang="en-US" altLang="zh-CN" sz="3000" baseline="-30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=(a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t+1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=(a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 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下面证明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σ= σ</a:t>
            </a:r>
            <a:r>
              <a:rPr lang="en-US" altLang="zh-CN" sz="3000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σ</a:t>
            </a:r>
            <a:r>
              <a:rPr lang="en-US" altLang="zh-CN" sz="3000" baseline="-25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任取</a:t>
            </a:r>
            <a:r>
              <a:rPr lang="en-US" altLang="zh-CN" sz="3000" i="1" dirty="0" err="1"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∈M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</a:p>
          <a:p>
            <a:pPr>
              <a:lnSpc>
                <a:spcPct val="90000"/>
              </a:lnSpc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若</a:t>
            </a:r>
            <a:r>
              <a:rPr lang="en-US" altLang="zh-CN" sz="3000" i="1" dirty="0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{a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,…,a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t-1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}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，不妨设</a:t>
            </a:r>
            <a:r>
              <a:rPr lang="en-US" altLang="zh-CN" sz="3000" i="1" dirty="0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则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</a:t>
            </a:r>
            <a:r>
              <a:rPr lang="en-US" altLang="zh-CN" sz="3000" i="1" dirty="0"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 σ(a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m+1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σ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i="1" dirty="0"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 σ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σ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 σ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(σ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))= σ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m+1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m+1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；</a:t>
            </a:r>
          </a:p>
          <a:p>
            <a:pPr>
              <a:lnSpc>
                <a:spcPct val="90000"/>
              </a:lnSpc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i="1" dirty="0"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    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</a:t>
            </a:r>
            <a:r>
              <a:rPr lang="en-US" altLang="zh-CN" sz="3000" i="1" dirty="0"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t+1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σ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i="1" dirty="0"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)=σ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)=σ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(σ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))=σ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t+</a:t>
            </a:r>
            <a:r>
              <a:rPr lang="en-US" altLang="zh-CN" sz="3000" b="1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0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；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68313" y="6064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对换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4746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A529CE8-7514-4670-95CA-B36F1508A031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88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8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8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83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83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83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83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83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83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83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83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83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83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83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83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内容占位符 2"/>
          <p:cNvSpPr>
            <a:spLocks noGrp="1"/>
          </p:cNvSpPr>
          <p:nvPr>
            <p:ph idx="1"/>
          </p:nvPr>
        </p:nvSpPr>
        <p:spPr>
          <a:xfrm>
            <a:off x="323529" y="1268413"/>
            <a:ext cx="8712522" cy="5356225"/>
          </a:xfrm>
        </p:spPr>
        <p:txBody>
          <a:bodyPr/>
          <a:lstStyle/>
          <a:p>
            <a:pPr marL="0" indent="0">
              <a:lnSpc>
                <a:spcPct val="110000"/>
              </a:lnSpc>
              <a:spcBef>
                <a:spcPts val="0"/>
              </a:spcBef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i="1" dirty="0"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t+1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</a:t>
            </a:r>
            <a:r>
              <a:rPr lang="en-US" altLang="zh-CN" sz="3000" i="1" dirty="0"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 σ(a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t+1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 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σ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σ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i="1" dirty="0"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= σ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(σ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t+1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)) = σ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t+1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= 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；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i="1" dirty="0"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 {a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,…,a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t+1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}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，则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σ(</a:t>
            </a:r>
            <a:r>
              <a:rPr lang="en-US" altLang="zh-CN" sz="3000" i="1" dirty="0">
                <a:ea typeface="+mj-ea"/>
                <a:cs typeface="Arial" panose="020B0604020202020204" pitchFamily="34" charset="0"/>
              </a:rPr>
              <a:t>l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</a:t>
            </a:r>
            <a:r>
              <a:rPr lang="en-US" altLang="zh-CN" sz="3000" i="1" dirty="0"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σ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i="1" dirty="0"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= σ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</a:t>
            </a:r>
            <a:r>
              <a:rPr lang="en-US" altLang="zh-CN" sz="3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en-US" altLang="zh-CN" sz="3000" i="1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i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i="1" dirty="0"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)) =σ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i="1" dirty="0"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 </a:t>
            </a:r>
            <a:r>
              <a:rPr lang="en-US" altLang="zh-CN" sz="3000" i="1" dirty="0"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σ= σ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(a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t+1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(a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 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由归纳假设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 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=(a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)(a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)…(a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所以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σ= (a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t+1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(a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)(a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)…(a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，归纳完成。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注：还可以采用直接证明的方法进行证明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。</a:t>
            </a:r>
            <a:endParaRPr lang="zh-CN" altLang="en-US" i="1" u="sng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zh-CN" altLang="en-US" sz="30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zh-CN" altLang="en-US" b="1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68313" y="620713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对换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4848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3C7DF14-72A6-4AB4-8595-BCFE3517D631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89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9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9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9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9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9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9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9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9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9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9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93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93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93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93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93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93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93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93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596312" cy="3600450"/>
          </a:xfrm>
        </p:spPr>
        <p:txBody>
          <a:bodyPr/>
          <a:lstStyle/>
          <a:p>
            <a:pPr marL="0" indent="0"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推论：</a:t>
            </a:r>
            <a:endParaRPr lang="en-US" altLang="zh-CN" sz="320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对任意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元置换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n&gt;1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，有一法（但未必只有一法）可将其写成一些对换的乘积。</a:t>
            </a:r>
          </a:p>
          <a:p>
            <a:pPr marL="0" indent="0">
              <a:spcBef>
                <a:spcPct val="0"/>
              </a:spcBef>
              <a:buClr>
                <a:schemeClr val="bg1"/>
              </a:buClr>
              <a:buFontTx/>
              <a:buNone/>
            </a:pPr>
            <a:endParaRPr lang="zh-CN" altLang="en-US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这里诸对换已非不相杂。而且，表法也不唯一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  <a:endParaRPr lang="zh-CN" altLang="en-US" sz="32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spcBef>
                <a:spcPct val="0"/>
              </a:spcBef>
              <a:buClr>
                <a:schemeClr val="bg1"/>
              </a:buClr>
              <a:buFontTx/>
              <a:buNone/>
            </a:pPr>
            <a:endParaRPr lang="zh-CN" altLang="en-US" sz="32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(1 2)=(1 2)(1 3)(1 3)=(2 3)(1 3)(2 3)</a:t>
            </a:r>
            <a:r>
              <a:rPr lang="zh-CN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68313" y="620713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对换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4950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A23A74E-75F1-4084-8DD5-807D80A04F28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90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3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3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288" y="1412875"/>
            <a:ext cx="8472487" cy="5068888"/>
          </a:xfrm>
        </p:spPr>
        <p:txBody>
          <a:bodyPr/>
          <a:lstStyle/>
          <a:p>
            <a:pPr marL="0" indent="0" eaLnBrk="1" latinLnBrk="0" hangingPunct="1">
              <a:lnSpc>
                <a:spcPct val="110000"/>
              </a:lnSpc>
              <a:spcBef>
                <a:spcPts val="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sz="3000" kern="1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</a:t>
            </a:r>
            <a:r>
              <a:rPr lang="en-US" altLang="zh-CN" sz="3000" kern="1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下图是一个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2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的方格图形，它可以围绕中心旋转，也可以围绕对称轴翻转，但要求经过这样的变动以后的图形要与原来的图形重合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方格中的数字可以改变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。例如，当它绕中心逆时针旋转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90</a:t>
            </a:r>
            <a:r>
              <a:rPr lang="en-US" altLang="zh-CN" sz="3000" kern="1200" baseline="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以后，原来的数字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4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分别变为</a:t>
            </a:r>
            <a:r>
              <a:rPr lang="en-US" altLang="zh-CN" sz="32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2, 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4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和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，可以把这个变化看作是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{1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4}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上的            如图的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一个置换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(1 2 3 4)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zh-CN" alt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053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6595C6F-B1D1-4EE5-8BCF-B287D88729BB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91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68313" y="620713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---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置换群的例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pic>
        <p:nvPicPr>
          <p:cNvPr id="150533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4653136"/>
            <a:ext cx="1728192" cy="1721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030347"/>
              </p:ext>
            </p:extLst>
          </p:nvPr>
        </p:nvGraphicFramePr>
        <p:xfrm>
          <a:off x="7051179" y="4878237"/>
          <a:ext cx="1728192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/>
                <a:gridCol w="86409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3200" dirty="0" smtClean="0"/>
                        <a:t>2</a:t>
                      </a:r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200" dirty="0" smtClean="0"/>
                        <a:t>3</a:t>
                      </a:r>
                      <a:endParaRPr lang="zh-CN" altLang="en-US" sz="3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3200" dirty="0" smtClean="0"/>
                        <a:t>1</a:t>
                      </a:r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200" dirty="0" smtClean="0"/>
                        <a:t>4</a:t>
                      </a:r>
                      <a:endParaRPr lang="zh-CN" altLang="en-US" sz="32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7688" y="1268413"/>
            <a:ext cx="8596312" cy="4824412"/>
          </a:xfrm>
        </p:spPr>
        <p:txBody>
          <a:bodyPr/>
          <a:lstStyle/>
          <a:p>
            <a:pPr marL="0" indent="0" eaLnBrk="1" latinLnBrk="0" hangingPunct="1">
              <a:lnSpc>
                <a:spcPct val="90000"/>
              </a:lnSpc>
              <a:buClr>
                <a:srgbClr val="3366FF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下面给出所有可能的置换：</a:t>
            </a:r>
          </a:p>
          <a:p>
            <a:pPr marL="0" indent="0" eaLnBrk="1" latinLnBrk="0" hangingPunct="1">
              <a:lnSpc>
                <a:spcPct val="90000"/>
              </a:lnSpc>
              <a:buClr>
                <a:srgbClr val="3366FF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σ</a:t>
            </a:r>
            <a:r>
              <a:rPr lang="en-US" altLang="zh-CN" sz="30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=(1)(2)(3)(4)   </a:t>
            </a:r>
            <a:r>
              <a:rPr lang="zh-CN" altLang="en-US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绕中心逆时针转</a:t>
            </a: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en-US" altLang="zh-CN" sz="3000" kern="1200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zh-CN" altLang="en-US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；</a:t>
            </a:r>
          </a:p>
          <a:p>
            <a:pPr marL="0" indent="0" eaLnBrk="1" latinLnBrk="0" hangingPunct="1">
              <a:lnSpc>
                <a:spcPct val="90000"/>
              </a:lnSpc>
              <a:buClr>
                <a:srgbClr val="3366FF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σ</a:t>
            </a:r>
            <a:r>
              <a:rPr lang="en-US" altLang="zh-CN" sz="30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=(1 2 3 4)     </a:t>
            </a:r>
            <a:r>
              <a:rPr lang="zh-CN" altLang="en-US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绕中心逆时针转</a:t>
            </a: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90</a:t>
            </a:r>
            <a:r>
              <a:rPr lang="en-US" altLang="zh-CN" sz="3000" kern="1200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zh-CN" altLang="en-US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；</a:t>
            </a:r>
          </a:p>
          <a:p>
            <a:pPr marL="0" indent="0" eaLnBrk="1" latinLnBrk="0" hangingPunct="1">
              <a:lnSpc>
                <a:spcPct val="90000"/>
              </a:lnSpc>
              <a:buClr>
                <a:srgbClr val="3366FF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σ</a:t>
            </a:r>
            <a:r>
              <a:rPr lang="en-US" altLang="zh-CN" sz="30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=(1 3)(2 4)  </a:t>
            </a:r>
            <a:r>
              <a:rPr lang="zh-CN" altLang="en-US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绕中心逆时针转</a:t>
            </a: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180</a:t>
            </a:r>
            <a:r>
              <a:rPr lang="en-US" altLang="zh-CN" sz="3000" kern="1200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zh-CN" altLang="en-US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；</a:t>
            </a:r>
            <a:endParaRPr lang="en-US" altLang="zh-CN" sz="3000" kern="12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90000"/>
              </a:lnSpc>
              <a:buClr>
                <a:srgbClr val="FFCC66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σ</a:t>
            </a:r>
            <a:r>
              <a:rPr lang="en-US" altLang="zh-CN" sz="30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4</a:t>
            </a: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=(1 4 3 2)    </a:t>
            </a:r>
            <a:r>
              <a:rPr lang="zh-CN" altLang="en-US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绕中心逆时针转</a:t>
            </a: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270</a:t>
            </a:r>
            <a:r>
              <a:rPr lang="en-US" altLang="zh-CN" sz="3000" kern="1200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zh-CN" altLang="en-US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；</a:t>
            </a:r>
          </a:p>
          <a:p>
            <a:pPr marL="0" indent="0" eaLnBrk="1" latinLnBrk="0" hangingPunct="1">
              <a:lnSpc>
                <a:spcPct val="90000"/>
              </a:lnSpc>
              <a:buClr>
                <a:srgbClr val="FFCC66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σ</a:t>
            </a:r>
            <a:r>
              <a:rPr lang="en-US" altLang="zh-CN" sz="30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5</a:t>
            </a: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=(1 2)(3 4)     </a:t>
            </a:r>
            <a:r>
              <a:rPr lang="zh-CN" altLang="en-US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绕垂直轴翻转</a:t>
            </a: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180</a:t>
            </a:r>
            <a:r>
              <a:rPr lang="en-US" altLang="zh-CN" sz="3000" kern="1200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zh-CN" altLang="en-US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；</a:t>
            </a:r>
          </a:p>
          <a:p>
            <a:pPr marL="0" indent="0" eaLnBrk="1" latinLnBrk="0" hangingPunct="1">
              <a:lnSpc>
                <a:spcPct val="90000"/>
              </a:lnSpc>
              <a:buClr>
                <a:srgbClr val="FFCC66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σ</a:t>
            </a:r>
            <a:r>
              <a:rPr lang="en-US" altLang="zh-CN" sz="30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6</a:t>
            </a: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=(1 4) (2 3)   </a:t>
            </a:r>
            <a:r>
              <a:rPr lang="zh-CN" altLang="en-US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绕水平轴翻转</a:t>
            </a: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180</a:t>
            </a:r>
            <a:r>
              <a:rPr lang="en-US" altLang="zh-CN" sz="3000" kern="1200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0 </a:t>
            </a:r>
            <a:r>
              <a:rPr lang="zh-CN" altLang="en-US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；</a:t>
            </a:r>
          </a:p>
          <a:p>
            <a:pPr marL="0" indent="0" eaLnBrk="1" latinLnBrk="0" hangingPunct="1">
              <a:lnSpc>
                <a:spcPct val="90000"/>
              </a:lnSpc>
              <a:buClr>
                <a:srgbClr val="FFCC66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σ</a:t>
            </a:r>
            <a:r>
              <a:rPr lang="en-US" altLang="zh-CN" sz="30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7</a:t>
            </a: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=(2 4) </a:t>
            </a:r>
            <a:r>
              <a:rPr lang="zh-CN" altLang="en-US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绕西北</a:t>
            </a: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---</a:t>
            </a:r>
            <a:r>
              <a:rPr lang="zh-CN" altLang="en-US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东南轴翻转</a:t>
            </a: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180</a:t>
            </a:r>
            <a:r>
              <a:rPr lang="en-US" altLang="zh-CN" sz="3000" kern="1200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zh-CN" altLang="en-US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；</a:t>
            </a:r>
          </a:p>
          <a:p>
            <a:pPr marL="0" indent="0" eaLnBrk="1" latinLnBrk="0" hangingPunct="1">
              <a:lnSpc>
                <a:spcPct val="90000"/>
              </a:lnSpc>
              <a:buClr>
                <a:srgbClr val="FFCC66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σ</a:t>
            </a:r>
            <a:r>
              <a:rPr lang="en-US" altLang="zh-CN" sz="30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8</a:t>
            </a: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=(1 3) </a:t>
            </a:r>
            <a:r>
              <a:rPr lang="zh-CN" altLang="en-US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绕西南</a:t>
            </a: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---</a:t>
            </a:r>
            <a:r>
              <a:rPr lang="zh-CN" altLang="en-US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东北轴翻转</a:t>
            </a: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180</a:t>
            </a:r>
            <a:r>
              <a:rPr lang="en-US" altLang="zh-CN" sz="3000" kern="1200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zh-CN" altLang="en-US" sz="3200" b="1" kern="1200" dirty="0">
                <a:solidFill>
                  <a:srgbClr val="000000"/>
                </a:solidFill>
                <a:ea typeface="宋体" panose="02010600030101010101" pitchFamily="2" charset="-122"/>
              </a:rPr>
              <a:t>。</a:t>
            </a:r>
          </a:p>
          <a:p>
            <a:pPr>
              <a:buClr>
                <a:srgbClr val="3333CC"/>
              </a:buClr>
              <a:defRPr/>
            </a:pPr>
            <a:endParaRPr lang="zh-CN" altLang="en-US" sz="3000" dirty="0">
              <a:solidFill>
                <a:srgbClr val="000000"/>
              </a:solidFill>
            </a:endParaRPr>
          </a:p>
          <a:p>
            <a:pPr marL="0" indent="0"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endParaRPr lang="zh-CN" altLang="en-US" sz="3200" b="1" dirty="0">
              <a:sym typeface="Symbol" panose="05050102010706020507" pitchFamily="18" charset="2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68313" y="620713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---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置换群的例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5258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D6FF426-23B1-4E52-890A-7EAEACEF84B2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92</a:t>
            </a:fld>
            <a:endParaRPr lang="en-US" altLang="ko-KR" sz="140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  <p:pic>
        <p:nvPicPr>
          <p:cNvPr id="152581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100" y="1916113"/>
            <a:ext cx="2192338" cy="217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6738" y="1268413"/>
            <a:ext cx="8301037" cy="4572000"/>
          </a:xfrm>
        </p:spPr>
        <p:txBody>
          <a:bodyPr/>
          <a:lstStyle/>
          <a:p>
            <a:pPr marL="0" indent="0" eaLnBrk="1" latinLnBrk="0" hangingPunct="1">
              <a:lnSpc>
                <a:spcPct val="90000"/>
              </a:lnSpc>
              <a:buClr>
                <a:srgbClr val="FFCC66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下表给出运算表。令</a:t>
            </a: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D</a:t>
            </a:r>
            <a:r>
              <a:rPr lang="en-US" altLang="zh-CN" sz="30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4</a:t>
            </a: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={σ</a:t>
            </a:r>
            <a:r>
              <a:rPr lang="en-US" altLang="zh-CN" sz="30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, σ</a:t>
            </a:r>
            <a:r>
              <a:rPr lang="en-US" altLang="zh-CN" sz="30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,…, σ</a:t>
            </a:r>
            <a:r>
              <a:rPr lang="en-US" altLang="zh-CN" sz="30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8</a:t>
            </a: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}</a:t>
            </a:r>
            <a:r>
              <a:rPr lang="zh-CN" altLang="en-US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</a:p>
          <a:p>
            <a:pPr marL="0" indent="0" eaLnBrk="1" latinLnBrk="0" hangingPunct="1">
              <a:lnSpc>
                <a:spcPct val="90000"/>
              </a:lnSpc>
              <a:buClr>
                <a:srgbClr val="FFCC66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易见</a:t>
            </a: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D</a:t>
            </a:r>
            <a:r>
              <a:rPr lang="en-US" altLang="zh-CN" sz="30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4</a:t>
            </a:r>
            <a:r>
              <a:rPr lang="zh-CN" altLang="en-US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关于置换的乘法是封闭的。</a:t>
            </a:r>
          </a:p>
          <a:p>
            <a:pPr marL="0" indent="0" eaLnBrk="1" latinLnBrk="0" hangingPunct="1">
              <a:lnSpc>
                <a:spcPct val="90000"/>
              </a:lnSpc>
              <a:buClr>
                <a:srgbClr val="FFCC66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置换乘法满足结合律。</a:t>
            </a:r>
            <a:endParaRPr lang="en-US" altLang="zh-CN" sz="3000" kern="12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90000"/>
              </a:lnSpc>
              <a:buClr>
                <a:srgbClr val="FFCC66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σ</a:t>
            </a:r>
            <a:r>
              <a:rPr lang="en-US" altLang="zh-CN" sz="32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zh-CN" altLang="en-US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是单位元。</a:t>
            </a:r>
          </a:p>
          <a:p>
            <a:pPr marL="0" indent="0" eaLnBrk="1" latinLnBrk="0" hangingPunct="1">
              <a:lnSpc>
                <a:spcPct val="90000"/>
              </a:lnSpc>
              <a:buClr>
                <a:srgbClr val="FFCC66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σ</a:t>
            </a:r>
            <a:r>
              <a:rPr lang="en-US" altLang="zh-CN" sz="32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3200" kern="1200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-1</a:t>
            </a:r>
            <a:r>
              <a:rPr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 =σ</a:t>
            </a:r>
            <a:r>
              <a:rPr lang="en-US" altLang="zh-CN" sz="32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, σ</a:t>
            </a:r>
            <a:r>
              <a:rPr lang="en-US" altLang="zh-CN" sz="32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3200" kern="1200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-1</a:t>
            </a:r>
            <a:r>
              <a:rPr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 =σ</a:t>
            </a:r>
            <a:r>
              <a:rPr lang="en-US" altLang="zh-CN" sz="32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4</a:t>
            </a:r>
            <a:r>
              <a:rPr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, </a:t>
            </a:r>
          </a:p>
          <a:p>
            <a:pPr marL="0" indent="0" eaLnBrk="1" latinLnBrk="0" hangingPunct="1">
              <a:lnSpc>
                <a:spcPct val="90000"/>
              </a:lnSpc>
              <a:buClr>
                <a:srgbClr val="FFCC66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σ</a:t>
            </a:r>
            <a:r>
              <a:rPr lang="en-US" altLang="zh-CN" sz="32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en-US" altLang="zh-CN" sz="3200" kern="1200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-1</a:t>
            </a:r>
            <a:r>
              <a:rPr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 =σ</a:t>
            </a:r>
            <a:r>
              <a:rPr lang="en-US" altLang="zh-CN" sz="32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, σ</a:t>
            </a:r>
            <a:r>
              <a:rPr lang="en-US" altLang="zh-CN" sz="32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4</a:t>
            </a:r>
            <a:r>
              <a:rPr lang="en-US" altLang="zh-CN" sz="3200" kern="1200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-1</a:t>
            </a:r>
            <a:r>
              <a:rPr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 =σ</a:t>
            </a:r>
            <a:r>
              <a:rPr lang="en-US" altLang="zh-CN" sz="32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, σ</a:t>
            </a:r>
            <a:r>
              <a:rPr lang="en-US" altLang="zh-CN" sz="32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5</a:t>
            </a:r>
            <a:r>
              <a:rPr lang="en-US" altLang="zh-CN" sz="3200" kern="1200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-1</a:t>
            </a:r>
            <a:r>
              <a:rPr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 =σ</a:t>
            </a:r>
            <a:r>
              <a:rPr lang="en-US" altLang="zh-CN" sz="32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5</a:t>
            </a:r>
            <a:r>
              <a:rPr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, σ</a:t>
            </a:r>
            <a:r>
              <a:rPr lang="en-US" altLang="zh-CN" sz="32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6</a:t>
            </a:r>
            <a:r>
              <a:rPr lang="en-US" altLang="zh-CN" sz="3200" kern="1200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-1</a:t>
            </a:r>
            <a:r>
              <a:rPr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 =σ</a:t>
            </a:r>
            <a:r>
              <a:rPr lang="en-US" altLang="zh-CN" sz="32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6</a:t>
            </a:r>
            <a:r>
              <a:rPr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, </a:t>
            </a:r>
          </a:p>
          <a:p>
            <a:pPr marL="0" indent="0" eaLnBrk="1" latinLnBrk="0" hangingPunct="1">
              <a:lnSpc>
                <a:spcPct val="90000"/>
              </a:lnSpc>
              <a:buClr>
                <a:srgbClr val="FFCC66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σ</a:t>
            </a:r>
            <a:r>
              <a:rPr lang="en-US" altLang="zh-CN" sz="32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7</a:t>
            </a:r>
            <a:r>
              <a:rPr lang="en-US" altLang="zh-CN" sz="3200" kern="1200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-1</a:t>
            </a:r>
            <a:r>
              <a:rPr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 =σ</a:t>
            </a:r>
            <a:r>
              <a:rPr lang="en-US" altLang="zh-CN" sz="32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7</a:t>
            </a:r>
            <a:r>
              <a:rPr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, σ</a:t>
            </a:r>
            <a:r>
              <a:rPr lang="en-US" altLang="zh-CN" sz="32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8</a:t>
            </a:r>
            <a:r>
              <a:rPr lang="en-US" altLang="zh-CN" sz="3200" kern="1200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-1</a:t>
            </a:r>
            <a:r>
              <a:rPr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 =σ</a:t>
            </a:r>
            <a:r>
              <a:rPr lang="en-US" altLang="zh-CN" sz="32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8</a:t>
            </a:r>
            <a:r>
              <a:rPr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</a:p>
          <a:p>
            <a:pPr marL="0" indent="0" eaLnBrk="1" latinLnBrk="0" hangingPunct="1">
              <a:lnSpc>
                <a:spcPct val="90000"/>
              </a:lnSpc>
              <a:buClr>
                <a:srgbClr val="FFCC66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D</a:t>
            </a:r>
            <a:r>
              <a:rPr lang="en-US" altLang="zh-CN" sz="32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4</a:t>
            </a:r>
            <a:r>
              <a:rPr lang="zh-CN" altLang="en-US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关于置换的乘法构成一个</a:t>
            </a:r>
            <a:r>
              <a:rPr lang="en-US" altLang="zh-CN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4</a:t>
            </a:r>
            <a:r>
              <a:rPr lang="zh-CN" altLang="en-US" sz="3200" kern="1200" dirty="0">
                <a:solidFill>
                  <a:srgbClr val="000000"/>
                </a:solidFill>
                <a:ea typeface="宋体" panose="02010600030101010101" pitchFamily="2" charset="-122"/>
              </a:rPr>
              <a:t>次置换群。</a:t>
            </a:r>
          </a:p>
          <a:p>
            <a:pPr marL="0" indent="0" eaLnBrk="1" latinLnBrk="0" hangingPunct="1">
              <a:lnSpc>
                <a:spcPct val="90000"/>
              </a:lnSpc>
              <a:buClr>
                <a:srgbClr val="FFCC66"/>
              </a:buClr>
              <a:buSzPct val="85000"/>
              <a:buFont typeface="Wingdings" panose="05000000000000000000" pitchFamily="2" charset="2"/>
              <a:buNone/>
              <a:defRPr/>
            </a:pPr>
            <a:endParaRPr lang="zh-CN" altLang="en-US" sz="3000" b="1" kern="12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sp>
        <p:nvSpPr>
          <p:cNvPr id="15360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3FBD563-651F-480C-A8AC-11D546BEF324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93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68313" y="620713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---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置换群的例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268413"/>
            <a:ext cx="8543925" cy="5113337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σ</a:t>
            </a:r>
            <a:r>
              <a:rPr lang="en-US" altLang="zh-CN" sz="30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=(1)(2)(3)(4)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σ</a:t>
            </a:r>
            <a:r>
              <a:rPr lang="en-US" altLang="zh-CN" sz="30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=(1 2 3 4)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σ</a:t>
            </a:r>
            <a:r>
              <a:rPr lang="en-US" altLang="zh-CN" sz="30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=(1 3)(2 4)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σ</a:t>
            </a:r>
            <a:r>
              <a:rPr lang="en-US" altLang="zh-CN" sz="30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4</a:t>
            </a: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=(1 4 3 2)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σ</a:t>
            </a:r>
            <a:r>
              <a:rPr lang="en-US" altLang="zh-CN" sz="30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5</a:t>
            </a: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=(1 2)(3 4)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σ</a:t>
            </a:r>
            <a:r>
              <a:rPr lang="en-US" altLang="zh-CN" sz="30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6</a:t>
            </a: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=(1 4) (2 3)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σ</a:t>
            </a:r>
            <a:r>
              <a:rPr lang="en-US" altLang="zh-CN" sz="30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7</a:t>
            </a: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=(2 4)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σ</a:t>
            </a:r>
            <a:r>
              <a:rPr lang="en-US" altLang="zh-CN" sz="3000" kern="12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8</a:t>
            </a:r>
            <a:r>
              <a:rPr lang="en-US" altLang="zh-CN" sz="3000" kern="1200" dirty="0">
                <a:solidFill>
                  <a:srgbClr val="000000"/>
                </a:solidFill>
                <a:ea typeface="宋体" panose="02010600030101010101" pitchFamily="2" charset="-122"/>
              </a:rPr>
              <a:t>=(1 3)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sz="3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462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BE265F4-CAF0-4A17-BB11-CF0177EBF7AB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94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68313" y="620713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---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置换群的例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181444"/>
              </p:ext>
            </p:extLst>
          </p:nvPr>
        </p:nvGraphicFramePr>
        <p:xfrm>
          <a:off x="2771775" y="1384300"/>
          <a:ext cx="6194421" cy="4938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826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8826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8826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826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826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8826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8826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88269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88269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</a:tblGrid>
              <a:tr h="5487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·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T="45729" marB="45729" horzOverflow="overflow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487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T="45729" marB="45729" horzOverflow="overflow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87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45729" marB="45729" horzOverflow="overflow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487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T="45729" marB="45729" horzOverflow="overflow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487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45729" marB="45729" horzOverflow="overflow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487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729" marB="45729" horzOverflow="overflow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487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29" marB="45729" horzOverflow="overflow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487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29" marB="45729" horzOverflow="overflow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5487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29" marB="45729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r>
                        <a:rPr kumimoji="1" lang="en-US" altLang="zh-CN" sz="3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9" marB="45729" horzOverflow="overflow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5725" indent="-85725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定义：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表为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个不相杂的轮换的乘积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包括长度为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的轮换在内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),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长度分别为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,r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,…,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32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85725" indent="-85725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              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n-k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为奇数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偶数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，则称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为奇置换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偶置换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2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2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例： </a:t>
            </a:r>
            <a:endParaRPr lang="zh-CN" altLang="en-US" sz="3200" b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marL="85725" indent="-85725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endParaRPr lang="zh-CN" altLang="en-US" sz="2800" b="1" dirty="0"/>
          </a:p>
          <a:p>
            <a:pPr>
              <a:defRPr/>
            </a:pPr>
            <a:endParaRPr lang="zh-CN" altLang="en-US" dirty="0"/>
          </a:p>
        </p:txBody>
      </p:sp>
      <p:graphicFrame>
        <p:nvGraphicFramePr>
          <p:cNvPr id="155651" name="Object 2"/>
          <p:cNvGraphicFramePr>
            <a:graphicFrameLocks noChangeAspect="1"/>
          </p:cNvGraphicFramePr>
          <p:nvPr/>
        </p:nvGraphicFramePr>
        <p:xfrm>
          <a:off x="1258888" y="2924175"/>
          <a:ext cx="1227137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84" name="公式" r:id="rId3" imgW="622030" imgH="444307" progId="Equation.3">
                  <p:embed/>
                </p:oleObj>
              </mc:Choice>
              <mc:Fallback>
                <p:oleObj name="公式" r:id="rId3" imgW="622030" imgH="444307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924175"/>
                        <a:ext cx="1227137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68313" y="620713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置换的奇偶性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5565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5E6FADC-C236-4D6C-BD21-5DE11B21A0E5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95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87350" indent="-387350" algn="just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ea typeface="宋体" panose="02010600030101010101" pitchFamily="2" charset="-122"/>
              </a:rPr>
              <a:t>因每个长度为</a:t>
            </a:r>
            <a:r>
              <a:rPr lang="en-US" altLang="zh-CN" sz="3200" dirty="0">
                <a:ea typeface="宋体" panose="02010600030101010101" pitchFamily="2" charset="-122"/>
              </a:rPr>
              <a:t>r</a:t>
            </a:r>
            <a:r>
              <a:rPr lang="zh-CN" altLang="en-US" sz="3200" dirty="0">
                <a:ea typeface="宋体" panose="02010600030101010101" pitchFamily="2" charset="-122"/>
              </a:rPr>
              <a:t>的轮换可写成</a:t>
            </a:r>
            <a:r>
              <a:rPr lang="en-US" altLang="zh-CN" sz="3200" dirty="0">
                <a:ea typeface="宋体" panose="02010600030101010101" pitchFamily="2" charset="-122"/>
              </a:rPr>
              <a:t>r-1</a:t>
            </a:r>
            <a:r>
              <a:rPr lang="zh-CN" altLang="en-US" sz="3200" dirty="0">
                <a:ea typeface="宋体" panose="02010600030101010101" pitchFamily="2" charset="-122"/>
              </a:rPr>
              <a:t>个对换的乘</a:t>
            </a:r>
          </a:p>
          <a:p>
            <a:pPr marL="387350" indent="-387350" algn="just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ea typeface="宋体" panose="02010600030101010101" pitchFamily="2" charset="-122"/>
              </a:rPr>
              <a:t>积：</a:t>
            </a:r>
            <a:r>
              <a:rPr lang="en-US" altLang="zh-CN" sz="3200" dirty="0">
                <a:ea typeface="宋体" panose="02010600030101010101" pitchFamily="2" charset="-122"/>
              </a:rPr>
              <a:t>(a</a:t>
            </a:r>
            <a:r>
              <a:rPr lang="en-US" altLang="zh-CN" sz="3200" baseline="-30000" dirty="0">
                <a:ea typeface="宋体" panose="02010600030101010101" pitchFamily="2" charset="-122"/>
              </a:rPr>
              <a:t>1 </a:t>
            </a:r>
            <a:r>
              <a:rPr lang="en-US" altLang="zh-CN" sz="3200" dirty="0">
                <a:ea typeface="宋体" panose="02010600030101010101" pitchFamily="2" charset="-122"/>
              </a:rPr>
              <a:t>a</a:t>
            </a:r>
            <a:r>
              <a:rPr lang="en-US" altLang="zh-CN" sz="3200" baseline="-30000" dirty="0">
                <a:ea typeface="宋体" panose="02010600030101010101" pitchFamily="2" charset="-122"/>
              </a:rPr>
              <a:t>2</a:t>
            </a:r>
            <a:r>
              <a:rPr lang="en-US" altLang="zh-CN" sz="3200" dirty="0">
                <a:ea typeface="宋体" panose="02010600030101010101" pitchFamily="2" charset="-122"/>
              </a:rPr>
              <a:t>… </a:t>
            </a:r>
            <a:r>
              <a:rPr lang="en-US" altLang="zh-CN" sz="3200" dirty="0" err="1">
                <a:ea typeface="宋体" panose="02010600030101010101" pitchFamily="2" charset="-122"/>
              </a:rPr>
              <a:t>a</a:t>
            </a:r>
            <a:r>
              <a:rPr lang="en-US" altLang="zh-CN" sz="3200" baseline="-30000" dirty="0" err="1">
                <a:ea typeface="宋体" panose="02010600030101010101" pitchFamily="2" charset="-122"/>
              </a:rPr>
              <a:t>r</a:t>
            </a:r>
            <a:r>
              <a:rPr lang="en-US" altLang="zh-CN" sz="3200" dirty="0">
                <a:ea typeface="宋体" panose="02010600030101010101" pitchFamily="2" charset="-122"/>
              </a:rPr>
              <a:t>)</a:t>
            </a:r>
            <a:r>
              <a:rPr lang="zh-CN" altLang="en-US" sz="3200" dirty="0">
                <a:ea typeface="宋体" panose="02010600030101010101" pitchFamily="2" charset="-122"/>
              </a:rPr>
              <a:t>＝</a:t>
            </a:r>
            <a:r>
              <a:rPr lang="en-US" altLang="zh-CN" sz="3200" dirty="0">
                <a:ea typeface="宋体" panose="02010600030101010101" pitchFamily="2" charset="-122"/>
              </a:rPr>
              <a:t>(a</a:t>
            </a:r>
            <a:r>
              <a:rPr lang="en-US" altLang="zh-CN" sz="3200" baseline="-30000" dirty="0">
                <a:ea typeface="宋体" panose="02010600030101010101" pitchFamily="2" charset="-122"/>
              </a:rPr>
              <a:t>1 </a:t>
            </a:r>
            <a:r>
              <a:rPr lang="en-US" altLang="zh-CN" sz="3200" dirty="0" err="1">
                <a:ea typeface="宋体" panose="02010600030101010101" pitchFamily="2" charset="-122"/>
              </a:rPr>
              <a:t>a</a:t>
            </a:r>
            <a:r>
              <a:rPr lang="en-US" altLang="zh-CN" sz="3200" baseline="-30000" dirty="0" err="1">
                <a:ea typeface="宋体" panose="02010600030101010101" pitchFamily="2" charset="-122"/>
              </a:rPr>
              <a:t>r</a:t>
            </a:r>
            <a:r>
              <a:rPr lang="en-US" altLang="zh-CN" sz="3200" dirty="0">
                <a:ea typeface="宋体" panose="02010600030101010101" pitchFamily="2" charset="-122"/>
              </a:rPr>
              <a:t>)(a</a:t>
            </a:r>
            <a:r>
              <a:rPr lang="en-US" altLang="zh-CN" sz="3200" baseline="-30000" dirty="0">
                <a:ea typeface="宋体" panose="02010600030101010101" pitchFamily="2" charset="-122"/>
              </a:rPr>
              <a:t>1 </a:t>
            </a:r>
            <a:r>
              <a:rPr lang="en-US" altLang="zh-CN" sz="3200" dirty="0" err="1">
                <a:ea typeface="宋体" panose="02010600030101010101" pitchFamily="2" charset="-122"/>
              </a:rPr>
              <a:t>a</a:t>
            </a:r>
            <a:r>
              <a:rPr lang="en-US" altLang="zh-CN" sz="3200" baseline="-30000" dirty="0" err="1">
                <a:ea typeface="宋体" panose="02010600030101010101" pitchFamily="2" charset="-122"/>
              </a:rPr>
              <a:t>r</a:t>
            </a:r>
            <a:r>
              <a:rPr lang="zh-CN" altLang="en-US" sz="3200" baseline="-30000" dirty="0">
                <a:ea typeface="宋体" panose="02010600030101010101" pitchFamily="2" charset="-122"/>
              </a:rPr>
              <a:t>－１</a:t>
            </a:r>
            <a:r>
              <a:rPr lang="en-US" altLang="zh-CN" sz="3200" dirty="0">
                <a:ea typeface="宋体" panose="02010600030101010101" pitchFamily="2" charset="-122"/>
              </a:rPr>
              <a:t>)…(a</a:t>
            </a:r>
            <a:r>
              <a:rPr lang="en-US" altLang="zh-CN" sz="3200" baseline="-30000" dirty="0">
                <a:ea typeface="宋体" panose="02010600030101010101" pitchFamily="2" charset="-122"/>
              </a:rPr>
              <a:t>1</a:t>
            </a:r>
            <a:r>
              <a:rPr lang="en-US" altLang="zh-CN" sz="3200" dirty="0">
                <a:ea typeface="宋体" panose="02010600030101010101" pitchFamily="2" charset="-122"/>
              </a:rPr>
              <a:t> a</a:t>
            </a:r>
            <a:r>
              <a:rPr lang="en-US" altLang="zh-CN" sz="3200" baseline="-30000" dirty="0">
                <a:ea typeface="宋体" panose="02010600030101010101" pitchFamily="2" charset="-122"/>
              </a:rPr>
              <a:t>3</a:t>
            </a:r>
            <a:r>
              <a:rPr lang="en-US" altLang="zh-CN" sz="3200" dirty="0">
                <a:ea typeface="宋体" panose="02010600030101010101" pitchFamily="2" charset="-122"/>
              </a:rPr>
              <a:t>)(a</a:t>
            </a:r>
            <a:r>
              <a:rPr lang="en-US" altLang="zh-CN" sz="3200" baseline="-30000" dirty="0">
                <a:ea typeface="宋体" panose="02010600030101010101" pitchFamily="2" charset="-122"/>
              </a:rPr>
              <a:t>1 </a:t>
            </a:r>
            <a:r>
              <a:rPr lang="en-US" altLang="zh-CN" sz="3200" dirty="0">
                <a:ea typeface="宋体" panose="02010600030101010101" pitchFamily="2" charset="-122"/>
              </a:rPr>
              <a:t>a</a:t>
            </a:r>
            <a:r>
              <a:rPr lang="en-US" altLang="zh-CN" sz="3200" baseline="-30000" dirty="0">
                <a:ea typeface="宋体" panose="02010600030101010101" pitchFamily="2" charset="-122"/>
              </a:rPr>
              <a:t>2</a:t>
            </a:r>
            <a:r>
              <a:rPr lang="en-US" altLang="zh-CN" sz="3200" dirty="0">
                <a:ea typeface="宋体" panose="02010600030101010101" pitchFamily="2" charset="-122"/>
              </a:rPr>
              <a:t>) </a:t>
            </a:r>
          </a:p>
          <a:p>
            <a:pPr marL="387350" indent="-387350" algn="just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ea typeface="宋体" panose="02010600030101010101" pitchFamily="2" charset="-122"/>
              </a:rPr>
              <a:t>于是</a:t>
            </a:r>
            <a:r>
              <a:rPr lang="en-US" altLang="zh-CN" sz="3200" dirty="0">
                <a:ea typeface="宋体" panose="02010600030101010101" pitchFamily="2" charset="-122"/>
              </a:rPr>
              <a:t>σ</a:t>
            </a:r>
            <a:r>
              <a:rPr lang="zh-CN" altLang="en-US" sz="3200" dirty="0">
                <a:ea typeface="宋体" panose="02010600030101010101" pitchFamily="2" charset="-122"/>
              </a:rPr>
              <a:t>可写成                     </a:t>
            </a:r>
            <a:r>
              <a:rPr lang="en-US" altLang="zh-CN" sz="3200" dirty="0">
                <a:ea typeface="宋体" panose="02010600030101010101" pitchFamily="2" charset="-122"/>
              </a:rPr>
              <a:t>=n-k </a:t>
            </a:r>
            <a:r>
              <a:rPr lang="zh-CN" altLang="en-US" sz="3200" dirty="0">
                <a:ea typeface="宋体" panose="02010600030101010101" pitchFamily="2" charset="-122"/>
              </a:rPr>
              <a:t>个对换的乘积</a:t>
            </a:r>
          </a:p>
          <a:p>
            <a:pPr marL="1257300" indent="-1257300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olidFill>
                  <a:srgbClr val="0000FF"/>
                </a:solidFill>
                <a:ea typeface="宋体" panose="02010600030101010101" pitchFamily="2" charset="-122"/>
              </a:rPr>
              <a:t>结论：</a:t>
            </a:r>
            <a:r>
              <a:rPr lang="zh-CN" altLang="en-US" sz="3200" dirty="0">
                <a:ea typeface="宋体" panose="02010600030101010101" pitchFamily="2" charset="-122"/>
              </a:rPr>
              <a:t>奇置换可表为奇数个对换之积，               偶置换可表为偶数个对换之积。 </a:t>
            </a:r>
          </a:p>
          <a:p>
            <a:pPr>
              <a:defRPr/>
            </a:pPr>
            <a:endParaRPr lang="zh-CN" altLang="en-US" sz="3200" dirty="0"/>
          </a:p>
        </p:txBody>
      </p:sp>
      <p:graphicFrame>
        <p:nvGraphicFramePr>
          <p:cNvPr id="156675" name="Object 2"/>
          <p:cNvGraphicFramePr>
            <a:graphicFrameLocks noChangeAspect="1"/>
          </p:cNvGraphicFramePr>
          <p:nvPr/>
        </p:nvGraphicFramePr>
        <p:xfrm>
          <a:off x="3059113" y="2997200"/>
          <a:ext cx="1800225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807" name="公式" r:id="rId3" imgW="622030" imgH="444307" progId="Equation.3">
                  <p:embed/>
                </p:oleObj>
              </mc:Choice>
              <mc:Fallback>
                <p:oleObj name="公式" r:id="rId3" imgW="622030" imgH="444307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2997200"/>
                        <a:ext cx="1800225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68313" y="620713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置换的奇偶性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5667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87FFECD-18B4-4ECB-BDAF-A535199AABB3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96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569325" cy="5256212"/>
          </a:xfrm>
        </p:spPr>
        <p:txBody>
          <a:bodyPr/>
          <a:lstStyle/>
          <a:p>
            <a:pPr marL="0" indent="0"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300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每个置换都能分解为对换的乘积</a:t>
            </a:r>
            <a:r>
              <a:rPr lang="en-US" altLang="zh-CN" sz="3300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sz="3300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但偶置换只能分解为偶数个对换的乘积</a:t>
            </a:r>
            <a:r>
              <a:rPr lang="en-US" altLang="zh-CN" sz="3300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sz="3300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奇置换只能分解为奇数个对换的乘积。</a:t>
            </a:r>
          </a:p>
          <a:p>
            <a:pPr marL="0" indent="0"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endParaRPr lang="zh-CN" altLang="en-US" sz="3300" dirty="0">
              <a:latin typeface="宋体" panose="02010600030101010101" pitchFamily="2" charset="-122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3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偶</a:t>
            </a:r>
            <a:r>
              <a:rPr lang="en-US" altLang="zh-CN" sz="33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×</a:t>
            </a:r>
            <a:r>
              <a:rPr lang="zh-CN" altLang="en-US" sz="33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偶</a:t>
            </a:r>
            <a:r>
              <a:rPr lang="en-US" altLang="zh-CN" sz="33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zh-CN" altLang="en-US" sz="33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偶         奇</a:t>
            </a:r>
            <a:r>
              <a:rPr lang="en-US" altLang="zh-CN" sz="33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×</a:t>
            </a:r>
            <a:r>
              <a:rPr lang="zh-CN" altLang="en-US" sz="33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奇</a:t>
            </a:r>
            <a:r>
              <a:rPr lang="en-US" altLang="zh-CN" sz="33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zh-CN" altLang="en-US" sz="33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偶</a:t>
            </a:r>
          </a:p>
          <a:p>
            <a:pPr marL="0" indent="0"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3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偶</a:t>
            </a:r>
            <a:r>
              <a:rPr lang="en-US" altLang="zh-CN" sz="33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×</a:t>
            </a:r>
            <a:r>
              <a:rPr lang="zh-CN" altLang="en-US" sz="33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奇</a:t>
            </a:r>
            <a:r>
              <a:rPr lang="en-US" altLang="zh-CN" sz="33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zh-CN" altLang="en-US" sz="33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奇         奇</a:t>
            </a:r>
            <a:r>
              <a:rPr lang="en-US" altLang="zh-CN" sz="33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×</a:t>
            </a:r>
            <a:r>
              <a:rPr lang="zh-CN" altLang="en-US" sz="33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偶</a:t>
            </a:r>
            <a:r>
              <a:rPr lang="en-US" altLang="zh-CN" sz="33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zh-CN" altLang="en-US" sz="33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奇</a:t>
            </a:r>
            <a:endParaRPr lang="zh-CN" altLang="en-US" sz="410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endParaRPr lang="zh-CN" altLang="en-US" sz="3300" b="1" dirty="0">
              <a:sym typeface="Symbol" panose="05050102010706020507" pitchFamily="18" charset="2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68313" y="620713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置换的奇偶性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5770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8AC5BBF-57B2-472E-BF78-AC6024A8CF42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97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640762" cy="5329237"/>
          </a:xfrm>
        </p:spPr>
        <p:txBody>
          <a:bodyPr/>
          <a:lstStyle/>
          <a:p>
            <a:pPr marL="0" indent="0">
              <a:lnSpc>
                <a:spcPct val="114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2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结论：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设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M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的元数为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n,  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若</a:t>
            </a:r>
            <a:r>
              <a:rPr lang="en-US" altLang="zh-CN" sz="2800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n&gt;1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，则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2800" baseline="-25000" dirty="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所有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元置换中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奇置换的个数和偶置换的个数相等，因而都等于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n!/2. </a:t>
            </a:r>
          </a:p>
          <a:p>
            <a:pPr marL="0" indent="0">
              <a:lnSpc>
                <a:spcPct val="114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2800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证明：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设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zh-CN" altLang="en-US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是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2800" baseline="-25000" dirty="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中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所有奇置换的集合，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zh-CN" altLang="en-US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是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2800" baseline="-25000" dirty="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中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所有偶置换的集合。往证：存在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到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的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1-1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映射。</a:t>
            </a:r>
            <a:endParaRPr lang="en-US" altLang="zh-CN" sz="28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lnSpc>
                <a:spcPct val="114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任取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M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中元素</a:t>
            </a:r>
            <a:r>
              <a:rPr lang="en-US" altLang="zh-CN" sz="2800" dirty="0" err="1">
                <a:ea typeface="宋体" panose="02010600030101010101" pitchFamily="2" charset="-122"/>
                <a:sym typeface="Symbol" panose="05050102010706020507" pitchFamily="18" charset="2"/>
              </a:rPr>
              <a:t>a,b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得对换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(a b),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设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到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映射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r>
              <a:rPr lang="en-US" altLang="zh-CN" sz="2800" i="1" dirty="0"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()=(a b) </a:t>
            </a:r>
          </a:p>
          <a:p>
            <a:pPr marL="0" indent="0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(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为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中任意元素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  <a:endParaRPr lang="en-US" altLang="zh-CN" sz="28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(1)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先证</a:t>
            </a:r>
            <a:r>
              <a:rPr lang="en-US" altLang="zh-CN" sz="2800" i="1" dirty="0"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为满射，任取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，有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(ab)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 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                             </a:t>
            </a:r>
            <a:r>
              <a:rPr lang="en-US" altLang="zh-CN" sz="2800" i="1" dirty="0"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((ab)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 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)=(ab)(ab)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  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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  <a:p>
            <a:pPr marL="0" indent="0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 (2)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再</a:t>
            </a:r>
            <a:r>
              <a:rPr lang="zh-CN" altLang="en-US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证 </a:t>
            </a:r>
            <a:r>
              <a:rPr lang="en-US" altLang="zh-CN" sz="2800" i="1" dirty="0" smtClean="0">
                <a:ea typeface="宋体" panose="02010600030101010101" pitchFamily="2" charset="-122"/>
                <a:sym typeface="Symbol" panose="05050102010706020507" pitchFamily="18" charset="2"/>
              </a:rPr>
              <a:t>f </a:t>
            </a:r>
            <a:r>
              <a:rPr lang="zh-CN" altLang="en-US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为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单射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即若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2800" baseline="-25000" dirty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</a:t>
            </a:r>
            <a:r>
              <a:rPr lang="en-US" altLang="zh-CN" sz="2800" baseline="-25000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，则 </a:t>
            </a:r>
            <a:r>
              <a:rPr lang="en-US" altLang="zh-CN" sz="2800" i="1" dirty="0"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(</a:t>
            </a:r>
            <a:r>
              <a:rPr lang="en-US" altLang="zh-CN" sz="2800" baseline="-25000" dirty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) </a:t>
            </a:r>
            <a:r>
              <a:rPr lang="en-US" altLang="zh-CN" sz="2800" i="1" dirty="0"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(</a:t>
            </a:r>
            <a:r>
              <a:rPr lang="en-US" altLang="zh-CN" sz="2800" baseline="-25000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), 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反证法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假设</a:t>
            </a:r>
            <a:r>
              <a:rPr lang="en-US" altLang="zh-CN" sz="2800" i="1" dirty="0"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(</a:t>
            </a:r>
            <a:r>
              <a:rPr lang="en-US" altLang="zh-CN" sz="2800" baseline="-25000" dirty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sz="2800" i="1" dirty="0" smtClean="0"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(</a:t>
            </a:r>
            <a:r>
              <a:rPr lang="en-US" altLang="zh-CN" sz="2800" baseline="-25000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 (ab) </a:t>
            </a:r>
            <a:r>
              <a:rPr lang="en-US" altLang="zh-CN" sz="2800" baseline="-25000" dirty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= (ab) </a:t>
            </a:r>
            <a:r>
              <a:rPr lang="en-US" altLang="zh-CN" sz="2800" baseline="-25000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</a:p>
          <a:p>
            <a:pPr marL="0" indent="0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则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2800" baseline="-25000" dirty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=</a:t>
            </a:r>
            <a:r>
              <a:rPr lang="en-US" altLang="zh-CN" sz="2800" baseline="-25000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，矛盾。证毕。</a:t>
            </a:r>
            <a:endParaRPr lang="en-US" altLang="zh-CN" sz="28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endParaRPr lang="en-US" altLang="zh-CN" sz="2800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endParaRPr lang="zh-CN" altLang="en-US" sz="2800" b="1" dirty="0">
              <a:solidFill>
                <a:srgbClr val="0000FF"/>
              </a:solidFill>
              <a:sym typeface="Symbol" panose="05050102010706020507" pitchFamily="18" charset="2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68313" y="620713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置换的奇偶性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5872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AC6E24E-40A1-400A-B740-03F77680DD93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98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2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2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2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2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92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92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2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2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92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92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92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92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5150" y="1557338"/>
            <a:ext cx="8301038" cy="331152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  <a:defRPr/>
            </a:pPr>
            <a:r>
              <a:rPr lang="zh-CN" altLang="en-US" sz="3200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例</a:t>
            </a:r>
            <a:r>
              <a:rPr lang="en-US" altLang="zh-CN" sz="3200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r>
              <a:rPr lang="zh-CN" altLang="en-US" sz="32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写出</a:t>
            </a:r>
            <a:r>
              <a:rPr lang="en-US" altLang="zh-CN" sz="32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3200" baseline="-250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lang="zh-CN" altLang="en-US" sz="32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中所有的置换</a:t>
            </a:r>
            <a:r>
              <a:rPr lang="en-US" altLang="zh-CN" sz="32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sz="32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并指出奇、偶置换</a:t>
            </a:r>
            <a:endParaRPr lang="en-US" altLang="zh-CN" sz="3200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defRPr/>
            </a:pPr>
            <a:endParaRPr lang="en-US" altLang="zh-CN" sz="3200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3200" baseline="-250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lang="en-US" altLang="zh-CN" sz="32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={ I </a:t>
            </a:r>
            <a:r>
              <a:rPr lang="zh-CN" altLang="en-US" sz="32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2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(1 2), (1 3), (2 3),  (1 2 3), (1 3 2)}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奇置换</a:t>
            </a:r>
            <a:r>
              <a:rPr lang="en-US" altLang="zh-CN" sz="32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  {(1 2), (1 3), (2 3) }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偶置换</a:t>
            </a:r>
            <a:r>
              <a:rPr lang="en-US" altLang="zh-CN" sz="32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  {I , (1 2 3), (1 3 2)}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dirty="0">
              <a:solidFill>
                <a:srgbClr val="000000"/>
              </a:solidFill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dirty="0">
              <a:solidFill>
                <a:srgbClr val="000000"/>
              </a:solidFill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sz="28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sz="28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68313" y="620713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置换的奇偶性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5974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6FB1D54-66AC-460C-BA37-9815E48299CA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99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0688" y="1341438"/>
            <a:ext cx="8543925" cy="4906962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000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例</a:t>
            </a:r>
            <a:r>
              <a:rPr lang="en-US" altLang="zh-CN" sz="3000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r>
              <a:rPr lang="zh-CN" altLang="en-US" sz="30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写出</a:t>
            </a:r>
            <a:r>
              <a:rPr lang="en-US" altLang="zh-CN" sz="30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3000" baseline="-250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4</a:t>
            </a:r>
            <a:r>
              <a:rPr lang="zh-CN" altLang="en-US" sz="30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中所有的置换，并指出奇、偶置换</a:t>
            </a:r>
            <a:endParaRPr lang="en-US" altLang="zh-CN" sz="3000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altLang="zh-CN" sz="3000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3000" baseline="-25000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4</a:t>
            </a:r>
            <a:r>
              <a:rPr lang="en-US" altLang="zh-CN" sz="30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={</a:t>
            </a:r>
            <a:r>
              <a:rPr lang="en-US" altLang="zh-CN" sz="3000" dirty="0">
                <a:ea typeface="宋体" panose="02010600030101010101" pitchFamily="2" charset="-122"/>
                <a:sym typeface="Symbol" pitchFamily="18" charset="2"/>
              </a:rPr>
              <a:t>I,  (1 2), (1 3), (1 4), (2 3), (2 4), (3 4), (1 2 3), (1 3 2), (1 2 4), (1 4 2),(1 3 4), (1 4 3), (2 3 4), (2 4 3) ,</a:t>
            </a:r>
            <a:r>
              <a:rPr lang="zh-CN" altLang="en-US" sz="3000" dirty="0">
                <a:ea typeface="宋体" panose="02010600030101010101" pitchFamily="2" charset="-122"/>
                <a:sym typeface="Symbol" pitchFamily="18" charset="2"/>
              </a:rPr>
              <a:t>  </a:t>
            </a:r>
            <a:r>
              <a:rPr lang="en-US" altLang="zh-CN" sz="3000" dirty="0">
                <a:ea typeface="宋体" panose="02010600030101010101" pitchFamily="2" charset="-122"/>
                <a:sym typeface="Symbol" pitchFamily="18" charset="2"/>
              </a:rPr>
              <a:t>(1 2)(3 4), (1 3)(2 4),   (1 4)(2 3)</a:t>
            </a:r>
            <a:r>
              <a:rPr lang="zh-CN" altLang="en-US" sz="3000" dirty="0">
                <a:ea typeface="宋体" panose="02010600030101010101" pitchFamily="2" charset="-122"/>
                <a:sym typeface="Symbol" pitchFamily="18" charset="2"/>
              </a:rPr>
              <a:t>；</a:t>
            </a:r>
            <a:r>
              <a:rPr lang="en-US" altLang="zh-CN" sz="3000" dirty="0">
                <a:ea typeface="宋体" panose="02010600030101010101" pitchFamily="2" charset="-122"/>
                <a:sym typeface="Symbol" pitchFamily="18" charset="2"/>
              </a:rPr>
              <a:t>(1 2 3 4), (1 2 4 3),  (1 3 2 4), (1 3 4 2), (1 4 3 2), (1 4 2 3) }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ea typeface="宋体" panose="02010600030101010101" pitchFamily="2" charset="-122"/>
                <a:sym typeface="Symbol" pitchFamily="18" charset="2"/>
              </a:rPr>
              <a:t>奇置换</a:t>
            </a:r>
            <a:r>
              <a:rPr lang="en-US" altLang="zh-CN" sz="3000" dirty="0">
                <a:solidFill>
                  <a:srgbClr val="0000FF"/>
                </a:solidFill>
                <a:ea typeface="宋体" panose="02010600030101010101" pitchFamily="2" charset="-122"/>
                <a:sym typeface="Symbol" pitchFamily="18" charset="2"/>
              </a:rPr>
              <a:t>:</a:t>
            </a:r>
            <a:r>
              <a:rPr lang="en-US" altLang="zh-CN" sz="3000" dirty="0">
                <a:ea typeface="宋体" panose="02010600030101010101" pitchFamily="2" charset="-122"/>
                <a:sym typeface="Symbol" pitchFamily="18" charset="2"/>
              </a:rPr>
              <a:t>{(1 2), (1 3), (1 4), (2 3), (2 4), (3 4), (1 2 3 4), (1 2 4 3), (1 3 2 4), (1 3 4 2), (1 4 2 3) ,(1 4 3 2) }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ea typeface="宋体" panose="02010600030101010101" pitchFamily="2" charset="-122"/>
                <a:sym typeface="Symbol" pitchFamily="18" charset="2"/>
              </a:rPr>
              <a:t>偶置换</a:t>
            </a:r>
            <a:r>
              <a:rPr lang="en-US" altLang="zh-CN" sz="3000" dirty="0">
                <a:solidFill>
                  <a:srgbClr val="0000FF"/>
                </a:solidFill>
                <a:ea typeface="宋体" panose="02010600030101010101" pitchFamily="2" charset="-122"/>
                <a:sym typeface="Symbol" pitchFamily="18" charset="2"/>
              </a:rPr>
              <a:t>:</a:t>
            </a:r>
            <a:r>
              <a:rPr lang="en-US" altLang="zh-CN" sz="3000" dirty="0">
                <a:ea typeface="宋体" panose="02010600030101010101" pitchFamily="2" charset="-122"/>
                <a:sym typeface="Symbol" pitchFamily="18" charset="2"/>
              </a:rPr>
              <a:t>{I, (1 2 3), (1 3 2), (1 2 4), (1 4 2),(1 3 4), (1 4 3), (2 3 4), (2 4 3), (1 2)(3 4), (1 3)(2 4), (1 4)(2 3)}</a:t>
            </a:r>
            <a:endParaRPr lang="zh-CN" altLang="en-US" sz="3000" dirty="0">
              <a:ea typeface="宋体" panose="02010600030101010101" pitchFamily="2" charset="-122"/>
              <a:sym typeface="Symbol" pitchFamily="18" charset="2"/>
            </a:endParaRPr>
          </a:p>
          <a:p>
            <a:pPr>
              <a:defRPr/>
            </a:pPr>
            <a:endParaRPr lang="zh-CN" altLang="en-US" sz="2900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68313" y="620713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6.2.4   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置换群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---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置换的奇偶性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6077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81BB1C0-BF7E-4F4B-BDF0-8081902E8A08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100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692150"/>
            <a:ext cx="8712967" cy="5688013"/>
          </a:xfrm>
        </p:spPr>
        <p:txBody>
          <a:bodyPr/>
          <a:lstStyle/>
          <a:p>
            <a:pPr marL="0" indent="0">
              <a:defRPr/>
            </a:pPr>
            <a:r>
              <a:rPr kumimoji="1" lang="zh-CN" altLang="en-US" sz="2800" dirty="0">
                <a:solidFill>
                  <a:srgbClr val="0000FF"/>
                </a:solidFill>
                <a:ea typeface="宋体" panose="02010600030101010101" pitchFamily="2" charset="-122"/>
              </a:rPr>
              <a:t>习题</a:t>
            </a:r>
            <a:r>
              <a:rPr kumimoji="1" lang="en-US" altLang="zh-CN" sz="2800" dirty="0">
                <a:solidFill>
                  <a:srgbClr val="0000FF"/>
                </a:solidFill>
                <a:ea typeface="宋体" panose="02010600030101010101" pitchFamily="2" charset="-122"/>
              </a:rPr>
              <a:t>6.2—9:</a:t>
            </a:r>
            <a:r>
              <a:rPr kumimoji="1" lang="zh-CN" altLang="zh-CN" sz="2800" dirty="0">
                <a:ea typeface="宋体" panose="02010600030101010101" pitchFamily="2" charset="-122"/>
              </a:rPr>
              <a:t> </a:t>
            </a:r>
            <a:r>
              <a:rPr kumimoji="1" lang="en-US" altLang="zh-CN" sz="2800" dirty="0">
                <a:ea typeface="宋体" panose="02010600030101010101" pitchFamily="2" charset="-122"/>
              </a:rPr>
              <a:t>n</a:t>
            </a:r>
            <a:r>
              <a:rPr kumimoji="1" lang="zh-CN" altLang="zh-CN" sz="2800" dirty="0">
                <a:ea typeface="宋体" panose="02010600030101010101" pitchFamily="2" charset="-122"/>
              </a:rPr>
              <a:t>个元素的所有置换作成</a:t>
            </a:r>
            <a:r>
              <a:rPr kumimoji="1" lang="en-US" altLang="zh-CN" sz="2800" dirty="0">
                <a:ea typeface="宋体" panose="02010600030101010101" pitchFamily="2" charset="-122"/>
              </a:rPr>
              <a:t>n</a:t>
            </a:r>
            <a:r>
              <a:rPr kumimoji="1" lang="zh-CN" altLang="zh-CN" sz="2800" dirty="0">
                <a:ea typeface="宋体" panose="02010600030101010101" pitchFamily="2" charset="-122"/>
              </a:rPr>
              <a:t>次对称群</a:t>
            </a:r>
            <a:r>
              <a:rPr kumimoji="1" lang="en-US" altLang="zh-CN" sz="2800" dirty="0">
                <a:ea typeface="宋体" panose="02010600030101010101" pitchFamily="2" charset="-122"/>
              </a:rPr>
              <a:t>S</a:t>
            </a:r>
            <a:r>
              <a:rPr kumimoji="1" lang="en-US" altLang="zh-CN" sz="2800" baseline="-25000" dirty="0">
                <a:ea typeface="宋体" panose="02010600030101010101" pitchFamily="2" charset="-122"/>
              </a:rPr>
              <a:t>n</a:t>
            </a:r>
            <a:r>
              <a:rPr kumimoji="1" lang="en-US" altLang="zh-CN" sz="2800" dirty="0">
                <a:ea typeface="宋体" panose="02010600030101010101" pitchFamily="2" charset="-122"/>
              </a:rPr>
              <a:t> .</a:t>
            </a:r>
            <a:r>
              <a:rPr kumimoji="1" lang="zh-CN" altLang="zh-CN" sz="2800" dirty="0">
                <a:ea typeface="宋体" panose="02010600030101010101" pitchFamily="2" charset="-122"/>
              </a:rPr>
              <a:t>证明</a:t>
            </a:r>
            <a:r>
              <a:rPr kumimoji="1" lang="en-US" altLang="zh-CN" sz="2800" dirty="0">
                <a:ea typeface="宋体" panose="02010600030101010101" pitchFamily="2" charset="-122"/>
              </a:rPr>
              <a:t>n</a:t>
            </a:r>
            <a:r>
              <a:rPr kumimoji="1" lang="zh-CN" altLang="zh-CN" sz="2800" dirty="0">
                <a:ea typeface="宋体" panose="02010600030101010101" pitchFamily="2" charset="-122"/>
              </a:rPr>
              <a:t>个元素的所有</a:t>
            </a:r>
            <a:r>
              <a:rPr kumimoji="1" lang="zh-CN" altLang="zh-CN" sz="2800" dirty="0">
                <a:solidFill>
                  <a:srgbClr val="0000FF"/>
                </a:solidFill>
                <a:ea typeface="宋体" panose="02010600030101010101" pitchFamily="2" charset="-122"/>
              </a:rPr>
              <a:t>偶置换</a:t>
            </a:r>
            <a:r>
              <a:rPr kumimoji="1" lang="zh-CN" altLang="zh-CN" sz="2800" dirty="0">
                <a:ea typeface="宋体" panose="02010600030101010101" pitchFamily="2" charset="-122"/>
              </a:rPr>
              <a:t>作成</a:t>
            </a:r>
            <a:r>
              <a:rPr kumimoji="1" lang="zh-CN" altLang="zh-CN" sz="2800" dirty="0" smtClean="0">
                <a:ea typeface="宋体" panose="02010600030101010101" pitchFamily="2" charset="-122"/>
              </a:rPr>
              <a:t>群</a:t>
            </a:r>
            <a:r>
              <a:rPr kumimoji="1" lang="en-US" altLang="zh-CN" sz="2800" dirty="0" smtClean="0">
                <a:ea typeface="宋体" panose="02010600030101010101" pitchFamily="2" charset="-122"/>
              </a:rPr>
              <a:t>(</a:t>
            </a:r>
            <a:r>
              <a:rPr kumimoji="1" lang="zh-CN" altLang="zh-CN" sz="2800" dirty="0" smtClean="0">
                <a:ea typeface="宋体" panose="02010600030101010101" pitchFamily="2" charset="-122"/>
              </a:rPr>
              <a:t>叫做</a:t>
            </a:r>
            <a:r>
              <a:rPr kumimoji="1" lang="en-US" altLang="zh-CN" sz="2800" dirty="0">
                <a:ea typeface="宋体" panose="02010600030101010101" pitchFamily="2" charset="-122"/>
              </a:rPr>
              <a:t>n</a:t>
            </a:r>
            <a:r>
              <a:rPr kumimoji="1" lang="zh-CN" altLang="zh-CN" sz="2800" dirty="0">
                <a:ea typeface="宋体" panose="02010600030101010101" pitchFamily="2" charset="-122"/>
              </a:rPr>
              <a:t>次交代群</a:t>
            </a:r>
            <a:r>
              <a:rPr kumimoji="1" lang="en-US" altLang="zh-CN" sz="2800" dirty="0" smtClean="0">
                <a:ea typeface="宋体" panose="02010600030101010101" pitchFamily="2" charset="-122"/>
              </a:rPr>
              <a:t>A</a:t>
            </a:r>
            <a:r>
              <a:rPr kumimoji="1" lang="en-US" altLang="zh-CN" sz="2800" baseline="-25000" dirty="0" smtClean="0">
                <a:ea typeface="宋体" panose="02010600030101010101" pitchFamily="2" charset="-122"/>
              </a:rPr>
              <a:t>n</a:t>
            </a:r>
            <a:r>
              <a:rPr kumimoji="1" lang="en-US" altLang="zh-CN" sz="2800" dirty="0" smtClean="0">
                <a:ea typeface="宋体" panose="02010600030101010101" pitchFamily="2" charset="-122"/>
              </a:rPr>
              <a:t>).</a:t>
            </a:r>
            <a:endParaRPr kumimoji="1" lang="en-US" altLang="zh-CN" sz="2800" dirty="0">
              <a:ea typeface="宋体" panose="02010600030101010101" pitchFamily="2" charset="-122"/>
            </a:endParaRPr>
          </a:p>
          <a:p>
            <a:pPr marL="0" indent="0">
              <a:defRPr/>
            </a:pPr>
            <a:r>
              <a:rPr kumimoji="1" lang="zh-CN" altLang="en-US" sz="2800" dirty="0">
                <a:ea typeface="宋体" panose="02010600030101010101" pitchFamily="2" charset="-122"/>
              </a:rPr>
              <a:t>解</a:t>
            </a:r>
            <a:r>
              <a:rPr kumimoji="1" lang="en-US" altLang="zh-CN" sz="2800" dirty="0">
                <a:ea typeface="宋体" panose="02010600030101010101" pitchFamily="2" charset="-122"/>
              </a:rPr>
              <a:t>:</a:t>
            </a:r>
            <a:r>
              <a:rPr kumimoji="1" lang="zh-CN" altLang="en-US" sz="2800" dirty="0">
                <a:ea typeface="宋体" panose="02010600030101010101" pitchFamily="2" charset="-122"/>
              </a:rPr>
              <a:t>证</a:t>
            </a:r>
            <a:r>
              <a:rPr kumimoji="1" lang="en-US" altLang="zh-CN" sz="2800" dirty="0">
                <a:ea typeface="宋体" panose="02010600030101010101" pitchFamily="2" charset="-122"/>
              </a:rPr>
              <a:t>n</a:t>
            </a:r>
            <a:r>
              <a:rPr kumimoji="1" lang="zh-CN" altLang="zh-CN" sz="2800" dirty="0">
                <a:ea typeface="宋体" panose="02010600030101010101" pitchFamily="2" charset="-122"/>
              </a:rPr>
              <a:t>次交代群</a:t>
            </a:r>
            <a:r>
              <a:rPr kumimoji="1" lang="en-US" altLang="zh-CN" sz="2800" dirty="0">
                <a:ea typeface="宋体" panose="02010600030101010101" pitchFamily="2" charset="-122"/>
              </a:rPr>
              <a:t>A</a:t>
            </a:r>
            <a:r>
              <a:rPr kumimoji="1" lang="en-US" altLang="zh-CN" sz="2800" baseline="-25000" dirty="0">
                <a:ea typeface="宋体" panose="02010600030101010101" pitchFamily="2" charset="-122"/>
              </a:rPr>
              <a:t>n</a:t>
            </a:r>
            <a:r>
              <a:rPr kumimoji="1" lang="zh-CN" altLang="en-US" sz="2800" dirty="0">
                <a:ea typeface="宋体" panose="02010600030101010101" pitchFamily="2" charset="-122"/>
              </a:rPr>
              <a:t>为群</a:t>
            </a:r>
            <a:endParaRPr kumimoji="1" lang="en-US" altLang="zh-CN" sz="2800" dirty="0">
              <a:ea typeface="宋体" panose="02010600030101010101" pitchFamily="2" charset="-122"/>
            </a:endParaRPr>
          </a:p>
          <a:p>
            <a:pPr marL="514350" indent="-514350">
              <a:buFont typeface="+mj-ea"/>
              <a:buAutoNum type="circleNumDbPlain"/>
              <a:defRPr/>
            </a:pPr>
            <a:r>
              <a:rPr kumimoji="1" lang="en-US" altLang="zh-CN" sz="2800" dirty="0">
                <a:ea typeface="宋体" panose="02010600030101010101" pitchFamily="2" charset="-122"/>
              </a:rPr>
              <a:t>A</a:t>
            </a:r>
            <a:r>
              <a:rPr kumimoji="1" lang="en-US" altLang="zh-CN" sz="2800" baseline="-25000" dirty="0">
                <a:ea typeface="宋体" panose="02010600030101010101" pitchFamily="2" charset="-122"/>
              </a:rPr>
              <a:t>n</a:t>
            </a:r>
            <a:r>
              <a:rPr kumimoji="1" lang="zh-CN" altLang="en-US" sz="2800" dirty="0">
                <a:ea typeface="宋体" panose="02010600030101010101" pitchFamily="2" charset="-122"/>
              </a:rPr>
              <a:t>非空，恒等置换</a:t>
            </a:r>
            <a:r>
              <a:rPr kumimoji="1" lang="en-US" altLang="zh-CN" sz="2800" dirty="0">
                <a:ea typeface="宋体" panose="02010600030101010101" pitchFamily="2" charset="-122"/>
              </a:rPr>
              <a:t>I</a:t>
            </a:r>
            <a:r>
              <a:rPr kumimoji="1" lang="zh-CN" altLang="en-US" sz="2800" dirty="0">
                <a:ea typeface="宋体" panose="02010600030101010101" pitchFamily="2" charset="-122"/>
              </a:rPr>
              <a:t>属于</a:t>
            </a:r>
            <a:r>
              <a:rPr kumimoji="1" lang="en-US" altLang="zh-CN" sz="2800" dirty="0">
                <a:ea typeface="宋体" panose="02010600030101010101" pitchFamily="2" charset="-122"/>
              </a:rPr>
              <a:t>A</a:t>
            </a:r>
            <a:r>
              <a:rPr kumimoji="1" lang="en-US" altLang="zh-CN" sz="2800" baseline="-25000" dirty="0">
                <a:ea typeface="宋体" panose="02010600030101010101" pitchFamily="2" charset="-122"/>
              </a:rPr>
              <a:t>n</a:t>
            </a:r>
          </a:p>
          <a:p>
            <a:pPr marL="514350" indent="-514350">
              <a:buFont typeface="+mj-ea"/>
              <a:buAutoNum type="circleNumDbPlain"/>
              <a:defRPr/>
            </a:pPr>
            <a:r>
              <a:rPr kumimoji="1" lang="zh-CN" altLang="en-US" sz="2800" dirty="0">
                <a:ea typeface="宋体" panose="02010600030101010101" pitchFamily="2" charset="-122"/>
              </a:rPr>
              <a:t>置换乘法在</a:t>
            </a:r>
            <a:r>
              <a:rPr kumimoji="1" lang="en-US" altLang="zh-CN" sz="2800" dirty="0">
                <a:ea typeface="宋体" panose="02010600030101010101" pitchFamily="2" charset="-122"/>
              </a:rPr>
              <a:t>A</a:t>
            </a:r>
            <a:r>
              <a:rPr kumimoji="1" lang="en-US" altLang="zh-CN" sz="2800" baseline="-25000" dirty="0">
                <a:ea typeface="宋体" panose="02010600030101010101" pitchFamily="2" charset="-122"/>
              </a:rPr>
              <a:t>n</a:t>
            </a:r>
            <a:r>
              <a:rPr kumimoji="1" lang="zh-CN" altLang="en-US" sz="2800" dirty="0">
                <a:ea typeface="宋体" panose="02010600030101010101" pitchFamily="2" charset="-122"/>
              </a:rPr>
              <a:t>上封闭，偶置换</a:t>
            </a:r>
            <a:r>
              <a:rPr kumimoji="1"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×</a:t>
            </a:r>
            <a:r>
              <a:rPr kumimoji="1" lang="zh-CN" altLang="en-US" sz="2800" dirty="0">
                <a:ea typeface="宋体" panose="02010600030101010101" pitchFamily="2" charset="-122"/>
              </a:rPr>
              <a:t>偶置换</a:t>
            </a:r>
            <a:r>
              <a:rPr kumimoji="1" lang="en-US" altLang="zh-CN" sz="2800" dirty="0">
                <a:ea typeface="宋体" panose="02010600030101010101" pitchFamily="2" charset="-122"/>
              </a:rPr>
              <a:t>=</a:t>
            </a:r>
            <a:r>
              <a:rPr kumimoji="1" lang="zh-CN" altLang="en-US" sz="2800" dirty="0">
                <a:ea typeface="宋体" panose="02010600030101010101" pitchFamily="2" charset="-122"/>
              </a:rPr>
              <a:t>偶置换</a:t>
            </a:r>
            <a:endParaRPr kumimoji="1" lang="en-US" altLang="zh-CN" sz="2800" dirty="0">
              <a:ea typeface="宋体" panose="02010600030101010101" pitchFamily="2" charset="-122"/>
            </a:endParaRPr>
          </a:p>
          <a:p>
            <a:pPr marL="514350" indent="-514350">
              <a:buFont typeface="+mj-ea"/>
              <a:buAutoNum type="circleNumDbPlain"/>
              <a:defRPr/>
            </a:pPr>
            <a:r>
              <a:rPr kumimoji="1" lang="zh-CN" altLang="en-US" sz="2800" dirty="0">
                <a:ea typeface="宋体" panose="02010600030101010101" pitchFamily="2" charset="-122"/>
              </a:rPr>
              <a:t>置换乘法满足结合律</a:t>
            </a:r>
            <a:endParaRPr kumimoji="1" lang="en-US" altLang="zh-CN" sz="2800" dirty="0">
              <a:ea typeface="宋体" panose="02010600030101010101" pitchFamily="2" charset="-122"/>
            </a:endParaRPr>
          </a:p>
          <a:p>
            <a:pPr marL="514350" indent="-514350">
              <a:buFont typeface="+mj-ea"/>
              <a:buAutoNum type="circleNumDbPlain"/>
              <a:defRPr/>
            </a:pPr>
            <a:r>
              <a:rPr kumimoji="1" lang="zh-CN" altLang="en-US" sz="2800" dirty="0">
                <a:ea typeface="宋体" panose="02010600030101010101" pitchFamily="2" charset="-122"/>
              </a:rPr>
              <a:t>有单位元</a:t>
            </a:r>
            <a:r>
              <a:rPr kumimoji="1" lang="en-US" altLang="zh-CN" sz="2800" dirty="0">
                <a:ea typeface="宋体" panose="02010600030101010101" pitchFamily="2" charset="-122"/>
              </a:rPr>
              <a:t>I(</a:t>
            </a:r>
            <a:r>
              <a:rPr kumimoji="1" lang="zh-CN" altLang="en-US" sz="2800" dirty="0">
                <a:ea typeface="宋体" panose="02010600030101010101" pitchFamily="2" charset="-122"/>
              </a:rPr>
              <a:t>恒等置换</a:t>
            </a:r>
            <a:r>
              <a:rPr kumimoji="1" lang="en-US" altLang="zh-CN" sz="2800" dirty="0">
                <a:ea typeface="宋体" panose="02010600030101010101" pitchFamily="2" charset="-122"/>
              </a:rPr>
              <a:t>) ∈A</a:t>
            </a:r>
            <a:r>
              <a:rPr kumimoji="1" lang="en-US" altLang="zh-CN" sz="2800" baseline="-25000" dirty="0">
                <a:ea typeface="宋体" panose="02010600030101010101" pitchFamily="2" charset="-122"/>
              </a:rPr>
              <a:t>n</a:t>
            </a:r>
            <a:r>
              <a:rPr kumimoji="1" lang="zh-CN" altLang="en-US" sz="2800" dirty="0">
                <a:ea typeface="宋体" panose="02010600030101010101" pitchFamily="2" charset="-122"/>
              </a:rPr>
              <a:t>，</a:t>
            </a:r>
            <a:r>
              <a:rPr kumimoji="1" lang="en-US" altLang="zh-CN" sz="2800" dirty="0" err="1" smtClean="0">
                <a:ea typeface="宋体" panose="02010600030101010101" pitchFamily="2" charset="-122"/>
              </a:rPr>
              <a:t>σI</a:t>
            </a:r>
            <a:r>
              <a:rPr kumimoji="1" lang="en-US" altLang="zh-CN" sz="2800" dirty="0" smtClean="0">
                <a:ea typeface="宋体" panose="02010600030101010101" pitchFamily="2" charset="-122"/>
              </a:rPr>
              <a:t>= </a:t>
            </a:r>
            <a:r>
              <a:rPr kumimoji="1" lang="en-US" altLang="zh-CN" sz="2800" dirty="0">
                <a:ea typeface="宋体" panose="02010600030101010101" pitchFamily="2" charset="-122"/>
              </a:rPr>
              <a:t>σ</a:t>
            </a:r>
          </a:p>
          <a:p>
            <a:pPr marL="0" indent="-514350">
              <a:buFont typeface="+mj-ea"/>
              <a:buAutoNum type="circleNumDbPlain"/>
              <a:defRPr/>
            </a:pPr>
            <a:r>
              <a:rPr kumimoji="1" lang="zh-CN" altLang="en-US" sz="2800" dirty="0">
                <a:ea typeface="宋体" panose="02010600030101010101" pitchFamily="2" charset="-122"/>
              </a:rPr>
              <a:t>要证对于任意一个</a:t>
            </a:r>
            <a:r>
              <a:rPr kumimoji="1" lang="en-US" altLang="zh-CN" sz="2400" dirty="0">
                <a:ea typeface="宋体" panose="02010600030101010101" pitchFamily="2" charset="-122"/>
              </a:rPr>
              <a:t>σ </a:t>
            </a:r>
            <a:r>
              <a:rPr kumimoji="1" lang="en-US" altLang="zh-CN" sz="2800" dirty="0">
                <a:ea typeface="宋体" panose="02010600030101010101" pitchFamily="2" charset="-122"/>
              </a:rPr>
              <a:t>∈</a:t>
            </a:r>
            <a:r>
              <a:rPr kumimoji="1" lang="en-US" altLang="zh-CN" sz="2400" dirty="0">
                <a:ea typeface="宋体" panose="02010600030101010101" pitchFamily="2" charset="-122"/>
              </a:rPr>
              <a:t>A</a:t>
            </a:r>
            <a:r>
              <a:rPr kumimoji="1" lang="en-US" altLang="zh-CN" sz="2400" baseline="-25000" dirty="0">
                <a:ea typeface="宋体" panose="02010600030101010101" pitchFamily="2" charset="-122"/>
              </a:rPr>
              <a:t>n</a:t>
            </a:r>
            <a:r>
              <a:rPr kumimoji="1" lang="zh-CN" altLang="en-US" sz="2400" dirty="0">
                <a:ea typeface="宋体" panose="02010600030101010101" pitchFamily="2" charset="-122"/>
              </a:rPr>
              <a:t>，</a:t>
            </a:r>
            <a:r>
              <a:rPr kumimoji="1" lang="zh-CN" altLang="en-US" sz="2800" dirty="0">
                <a:ea typeface="宋体" panose="02010600030101010101" pitchFamily="2" charset="-122"/>
              </a:rPr>
              <a:t>都存在一个</a:t>
            </a:r>
            <a:r>
              <a:rPr kumimoji="1" lang="en-US" altLang="zh-CN" sz="2800" dirty="0">
                <a:ea typeface="宋体" panose="02010600030101010101" pitchFamily="2" charset="-122"/>
              </a:rPr>
              <a:t>σ</a:t>
            </a:r>
            <a:r>
              <a:rPr kumimoji="1" lang="en-US" altLang="zh-CN" sz="2800" baseline="30000" dirty="0">
                <a:ea typeface="宋体" panose="02010600030101010101" pitchFamily="2" charset="-122"/>
              </a:rPr>
              <a:t>-</a:t>
            </a:r>
            <a:r>
              <a:rPr kumimoji="1" lang="en-US" altLang="zh-CN" baseline="30000" dirty="0">
                <a:ea typeface="宋体" panose="02010600030101010101" pitchFamily="2" charset="-122"/>
              </a:rPr>
              <a:t>1</a:t>
            </a:r>
            <a:r>
              <a:rPr kumimoji="1" lang="en-US" altLang="zh-CN" sz="3200" dirty="0">
                <a:ea typeface="宋体" panose="02010600030101010101" pitchFamily="2" charset="-122"/>
              </a:rPr>
              <a:t>∈</a:t>
            </a:r>
            <a:r>
              <a:rPr kumimoji="1" lang="en-US" altLang="zh-CN" sz="2800" dirty="0">
                <a:ea typeface="宋体" panose="02010600030101010101" pitchFamily="2" charset="-122"/>
              </a:rPr>
              <a:t>A</a:t>
            </a:r>
            <a:r>
              <a:rPr kumimoji="1" lang="en-US" altLang="zh-CN" sz="2800" baseline="-25000" dirty="0">
                <a:ea typeface="宋体" panose="02010600030101010101" pitchFamily="2" charset="-122"/>
              </a:rPr>
              <a:t>n</a:t>
            </a:r>
            <a:r>
              <a:rPr kumimoji="1" lang="zh-CN" altLang="en-US" sz="2800" dirty="0">
                <a:ea typeface="宋体" panose="02010600030101010101" pitchFamily="2" charset="-122"/>
              </a:rPr>
              <a:t>，使</a:t>
            </a:r>
            <a:r>
              <a:rPr kumimoji="1" lang="en-US" altLang="zh-CN" sz="2800" dirty="0">
                <a:ea typeface="宋体" panose="02010600030101010101" pitchFamily="2" charset="-122"/>
              </a:rPr>
              <a:t>σσ</a:t>
            </a:r>
            <a:r>
              <a:rPr kumimoji="1" lang="en-US" altLang="zh-CN" sz="2800" baseline="30000" dirty="0">
                <a:ea typeface="宋体" panose="02010600030101010101" pitchFamily="2" charset="-122"/>
              </a:rPr>
              <a:t>-1</a:t>
            </a:r>
            <a:r>
              <a:rPr kumimoji="1" lang="zh-CN" altLang="en-US" sz="2800" baseline="30000" dirty="0">
                <a:ea typeface="宋体" panose="02010600030101010101" pitchFamily="2" charset="-122"/>
              </a:rPr>
              <a:t>＝</a:t>
            </a:r>
            <a:r>
              <a:rPr kumimoji="1" lang="en-US" altLang="zh-CN" sz="2800" dirty="0">
                <a:ea typeface="宋体" panose="02010600030101010101" pitchFamily="2" charset="-122"/>
              </a:rPr>
              <a:t>I</a:t>
            </a:r>
            <a:r>
              <a:rPr kumimoji="1" lang="zh-CN" altLang="en-US" sz="2800" dirty="0">
                <a:ea typeface="宋体" panose="02010600030101010101" pitchFamily="2" charset="-122"/>
              </a:rPr>
              <a:t>。因</a:t>
            </a:r>
            <a:r>
              <a:rPr kumimoji="1" lang="en-US" altLang="zh-CN" sz="2800" dirty="0" err="1">
                <a:ea typeface="宋体" panose="02010600030101010101" pitchFamily="2" charset="-122"/>
              </a:rPr>
              <a:t>S</a:t>
            </a:r>
            <a:r>
              <a:rPr kumimoji="1" lang="en-US" altLang="zh-CN" sz="2800" baseline="-25000" dirty="0" err="1">
                <a:ea typeface="宋体" panose="02010600030101010101" pitchFamily="2" charset="-122"/>
              </a:rPr>
              <a:t>n</a:t>
            </a:r>
            <a:r>
              <a:rPr kumimoji="1" lang="zh-CN" altLang="en-US" sz="2800" dirty="0">
                <a:ea typeface="宋体" panose="02010600030101010101" pitchFamily="2" charset="-122"/>
              </a:rPr>
              <a:t>为</a:t>
            </a:r>
            <a:r>
              <a:rPr kumimoji="1" lang="en-US" altLang="zh-CN" sz="2800" dirty="0">
                <a:ea typeface="宋体" panose="02010600030101010101" pitchFamily="2" charset="-122"/>
              </a:rPr>
              <a:t>n</a:t>
            </a:r>
            <a:r>
              <a:rPr kumimoji="1" lang="zh-CN" altLang="en-US" sz="2800" dirty="0">
                <a:ea typeface="宋体" panose="02010600030101010101" pitchFamily="2" charset="-122"/>
              </a:rPr>
              <a:t>次对称群，</a:t>
            </a:r>
            <a:r>
              <a:rPr kumimoji="1" lang="en-US" altLang="zh-CN" sz="2800" dirty="0">
                <a:ea typeface="宋体" panose="02010600030101010101" pitchFamily="2" charset="-122"/>
              </a:rPr>
              <a:t>σ</a:t>
            </a:r>
            <a:r>
              <a:rPr kumimoji="1" lang="zh-CN" altLang="en-US" sz="2800" dirty="0">
                <a:ea typeface="宋体" panose="02010600030101010101" pitchFamily="2" charset="-122"/>
              </a:rPr>
              <a:t>在</a:t>
            </a:r>
            <a:r>
              <a:rPr kumimoji="1" lang="en-US" altLang="zh-CN" sz="2800" dirty="0">
                <a:ea typeface="宋体" panose="02010600030101010101" pitchFamily="2" charset="-122"/>
              </a:rPr>
              <a:t>S</a:t>
            </a:r>
            <a:r>
              <a:rPr kumimoji="1" lang="en-US" altLang="zh-CN" sz="2800" baseline="-25000" dirty="0">
                <a:ea typeface="宋体" panose="02010600030101010101" pitchFamily="2" charset="-122"/>
              </a:rPr>
              <a:t>n</a:t>
            </a:r>
            <a:r>
              <a:rPr kumimoji="1" lang="zh-CN" altLang="en-US" sz="2800" dirty="0">
                <a:ea typeface="宋体" panose="02010600030101010101" pitchFamily="2" charset="-122"/>
              </a:rPr>
              <a:t>中必有逆，</a:t>
            </a:r>
            <a:r>
              <a:rPr kumimoji="1" lang="en-US" altLang="zh-CN" sz="2800" dirty="0">
                <a:ea typeface="宋体" panose="02010600030101010101" pitchFamily="2" charset="-122"/>
              </a:rPr>
              <a:t>σσ</a:t>
            </a:r>
            <a:r>
              <a:rPr kumimoji="1" lang="en-US" altLang="zh-CN" sz="2800" baseline="30000" dirty="0">
                <a:ea typeface="宋体" panose="02010600030101010101" pitchFamily="2" charset="-122"/>
              </a:rPr>
              <a:t>-1</a:t>
            </a:r>
            <a:r>
              <a:rPr kumimoji="1" lang="zh-CN" altLang="en-US" sz="2800" baseline="30000" dirty="0">
                <a:ea typeface="宋体" panose="02010600030101010101" pitchFamily="2" charset="-122"/>
              </a:rPr>
              <a:t>＝</a:t>
            </a:r>
            <a:r>
              <a:rPr kumimoji="1" lang="en-US" altLang="zh-CN" sz="2800" dirty="0">
                <a:ea typeface="宋体" panose="02010600030101010101" pitchFamily="2" charset="-122"/>
              </a:rPr>
              <a:t>I</a:t>
            </a:r>
            <a:r>
              <a:rPr kumimoji="1" lang="zh-CN" altLang="en-US" sz="2800" dirty="0">
                <a:ea typeface="宋体" panose="02010600030101010101" pitchFamily="2" charset="-122"/>
              </a:rPr>
              <a:t>，</a:t>
            </a:r>
            <a:r>
              <a:rPr kumimoji="1" lang="en-US" altLang="zh-CN" sz="2800" dirty="0">
                <a:ea typeface="宋体" panose="02010600030101010101" pitchFamily="2" charset="-122"/>
              </a:rPr>
              <a:t>σ</a:t>
            </a:r>
            <a:r>
              <a:rPr kumimoji="1" lang="zh-CN" altLang="en-US" sz="2800" dirty="0">
                <a:ea typeface="宋体" panose="02010600030101010101" pitchFamily="2" charset="-122"/>
              </a:rPr>
              <a:t>为偶置换，</a:t>
            </a:r>
            <a:r>
              <a:rPr kumimoji="1" lang="en-US" altLang="zh-CN" sz="2800" dirty="0">
                <a:ea typeface="宋体" panose="02010600030101010101" pitchFamily="2" charset="-122"/>
              </a:rPr>
              <a:t>I</a:t>
            </a:r>
            <a:r>
              <a:rPr kumimoji="1" lang="zh-CN" altLang="en-US" sz="2800" dirty="0">
                <a:ea typeface="宋体" panose="02010600030101010101" pitchFamily="2" charset="-122"/>
              </a:rPr>
              <a:t>为偶置换</a:t>
            </a:r>
            <a:r>
              <a:rPr kumimoji="1" lang="en-US" altLang="zh-CN" sz="2800" dirty="0">
                <a:ea typeface="宋体" panose="02010600030101010101" pitchFamily="2" charset="-122"/>
              </a:rPr>
              <a:t>,</a:t>
            </a:r>
            <a:r>
              <a:rPr kumimoji="1" lang="zh-CN" altLang="en-US" sz="2800" dirty="0">
                <a:ea typeface="宋体" panose="02010600030101010101" pitchFamily="2" charset="-122"/>
              </a:rPr>
              <a:t>因此，</a:t>
            </a:r>
            <a:r>
              <a:rPr kumimoji="1" lang="en-US" altLang="zh-CN" sz="2800" dirty="0">
                <a:ea typeface="宋体" panose="02010600030101010101" pitchFamily="2" charset="-122"/>
              </a:rPr>
              <a:t>σ</a:t>
            </a:r>
            <a:r>
              <a:rPr kumimoji="1" lang="en-US" altLang="zh-CN" sz="2800" baseline="30000" dirty="0">
                <a:ea typeface="宋体" panose="02010600030101010101" pitchFamily="2" charset="-122"/>
              </a:rPr>
              <a:t>-1</a:t>
            </a:r>
            <a:r>
              <a:rPr kumimoji="1" lang="zh-CN" altLang="en-US" sz="2800" dirty="0">
                <a:ea typeface="宋体" panose="02010600030101010101" pitchFamily="2" charset="-122"/>
              </a:rPr>
              <a:t>为偶置换</a:t>
            </a:r>
            <a:r>
              <a:rPr kumimoji="1" lang="en-US" altLang="zh-CN" sz="2800" dirty="0">
                <a:ea typeface="宋体" panose="02010600030101010101" pitchFamily="2" charset="-122"/>
              </a:rPr>
              <a:t>∈A</a:t>
            </a:r>
            <a:r>
              <a:rPr kumimoji="1" lang="en-US" altLang="zh-CN" sz="2800" baseline="-25000" dirty="0">
                <a:ea typeface="宋体" panose="02010600030101010101" pitchFamily="2" charset="-122"/>
              </a:rPr>
              <a:t>n</a:t>
            </a:r>
            <a:r>
              <a:rPr kumimoji="1" lang="en-US" altLang="zh-CN" sz="2800" dirty="0">
                <a:ea typeface="宋体" panose="02010600030101010101" pitchFamily="2" charset="-122"/>
              </a:rPr>
              <a:t>.</a:t>
            </a:r>
            <a:endParaRPr kumimoji="1" lang="zh-CN" altLang="zh-CN" sz="2800" dirty="0">
              <a:ea typeface="宋体" panose="02010600030101010101" pitchFamily="2" charset="-122"/>
            </a:endParaRPr>
          </a:p>
          <a:p>
            <a:pPr marL="514350" indent="-514350">
              <a:buFont typeface="+mj-ea"/>
              <a:buAutoNum type="circleNumDbPlain"/>
              <a:defRPr/>
            </a:pPr>
            <a:endParaRPr kumimoji="1" lang="en-US" altLang="zh-CN" dirty="0">
              <a:ea typeface="宋体" panose="02010600030101010101" pitchFamily="2" charset="-122"/>
            </a:endParaRPr>
          </a:p>
        </p:txBody>
      </p:sp>
      <p:sp>
        <p:nvSpPr>
          <p:cNvPr id="16179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8110462-B2FB-40EF-8587-3C67D90831DE}" type="slidenum">
              <a:rPr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101</a:t>
            </a:fld>
            <a:endParaRPr lang="zh-CN" altLang="ko-KR" sz="140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第六章   群 、环、域</a:t>
            </a:r>
          </a:p>
        </p:txBody>
      </p:sp>
      <p:grpSp>
        <p:nvGrpSpPr>
          <p:cNvPr id="26627" name="Group 3"/>
          <p:cNvGrpSpPr>
            <a:grpSpLocks/>
          </p:cNvGrpSpPr>
          <p:nvPr/>
        </p:nvGrpSpPr>
        <p:grpSpPr bwMode="auto">
          <a:xfrm>
            <a:off x="1054100" y="2032000"/>
            <a:ext cx="762000" cy="665163"/>
            <a:chOff x="1110" y="2656"/>
            <a:chExt cx="1549" cy="1351"/>
          </a:xfrm>
        </p:grpSpPr>
        <p:sp>
          <p:nvSpPr>
            <p:cNvPr id="26681" name="AutoShape 4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82" name="AutoShape 5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6710" name="AutoShape 6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26628" name="Group 7"/>
          <p:cNvGrpSpPr>
            <a:grpSpLocks/>
          </p:cNvGrpSpPr>
          <p:nvPr/>
        </p:nvGrpSpPr>
        <p:grpSpPr bwMode="auto">
          <a:xfrm>
            <a:off x="1054100" y="3001963"/>
            <a:ext cx="762000" cy="665162"/>
            <a:chOff x="3174" y="2656"/>
            <a:chExt cx="1549" cy="1351"/>
          </a:xfrm>
        </p:grpSpPr>
        <p:sp>
          <p:nvSpPr>
            <p:cNvPr id="26678" name="AutoShape 8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79" name="AutoShape 9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6714" name="AutoShape 10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</p:grpSp>
      <p:sp>
        <p:nvSpPr>
          <p:cNvPr id="26629" name="Line 11"/>
          <p:cNvSpPr>
            <a:spLocks noChangeShapeType="1"/>
          </p:cNvSpPr>
          <p:nvPr/>
        </p:nvSpPr>
        <p:spPr bwMode="auto">
          <a:xfrm>
            <a:off x="1663700" y="2641600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26630" name="Text Box 12"/>
          <p:cNvSpPr txBox="1">
            <a:spLocks noChangeArrowheads="1"/>
          </p:cNvSpPr>
          <p:nvPr/>
        </p:nvSpPr>
        <p:spPr bwMode="gray">
          <a:xfrm>
            <a:off x="1250950" y="2130425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6631" name="Line 13"/>
          <p:cNvSpPr>
            <a:spLocks noChangeShapeType="1"/>
          </p:cNvSpPr>
          <p:nvPr/>
        </p:nvSpPr>
        <p:spPr bwMode="auto">
          <a:xfrm>
            <a:off x="1663700" y="3611563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26632" name="Text Box 14"/>
          <p:cNvSpPr txBox="1">
            <a:spLocks noChangeArrowheads="1"/>
          </p:cNvSpPr>
          <p:nvPr/>
        </p:nvSpPr>
        <p:spPr bwMode="gray">
          <a:xfrm>
            <a:off x="1250950" y="3100388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</a:p>
        </p:txBody>
      </p:sp>
      <p:grpSp>
        <p:nvGrpSpPr>
          <p:cNvPr id="26633" name="Group 15"/>
          <p:cNvGrpSpPr>
            <a:grpSpLocks/>
          </p:cNvGrpSpPr>
          <p:nvPr/>
        </p:nvGrpSpPr>
        <p:grpSpPr bwMode="auto">
          <a:xfrm>
            <a:off x="1054100" y="3965575"/>
            <a:ext cx="762000" cy="665163"/>
            <a:chOff x="1110" y="2656"/>
            <a:chExt cx="1549" cy="1351"/>
          </a:xfrm>
        </p:grpSpPr>
        <p:sp>
          <p:nvSpPr>
            <p:cNvPr id="26675" name="AutoShape 16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76" name="AutoShape 17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6722" name="AutoShape 18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</p:grpSp>
      <p:sp>
        <p:nvSpPr>
          <p:cNvPr id="26634" name="Line 19"/>
          <p:cNvSpPr>
            <a:spLocks noChangeShapeType="1"/>
          </p:cNvSpPr>
          <p:nvPr/>
        </p:nvSpPr>
        <p:spPr bwMode="auto">
          <a:xfrm>
            <a:off x="1663700" y="4575175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26635" name="Text Box 20"/>
          <p:cNvSpPr txBox="1">
            <a:spLocks noChangeArrowheads="1"/>
          </p:cNvSpPr>
          <p:nvPr/>
        </p:nvSpPr>
        <p:spPr bwMode="gray">
          <a:xfrm>
            <a:off x="1250950" y="40640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456725" name="Text Box 21"/>
          <p:cNvSpPr txBox="1">
            <a:spLocks noChangeArrowheads="1"/>
          </p:cNvSpPr>
          <p:nvPr/>
        </p:nvSpPr>
        <p:spPr bwMode="auto">
          <a:xfrm>
            <a:off x="2197100" y="2122488"/>
            <a:ext cx="1676400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sz="2800" b="1">
                <a:solidFill>
                  <a:srgbClr val="8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代数系统</a:t>
            </a:r>
            <a:endParaRPr kumimoji="0" lang="en-US" altLang="zh-CN" sz="2800" b="1" dirty="0">
              <a:solidFill>
                <a:srgbClr val="80808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56726" name="Text Box 2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835150" y="3933825"/>
            <a:ext cx="2952750" cy="579438"/>
          </a:xfrm>
          <a:prstGeom prst="rect">
            <a:avLst/>
          </a:prstGeom>
          <a:solidFill>
            <a:srgbClr val="FF9900"/>
          </a:solidFill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kumimoji="0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子群及其陪集</a:t>
            </a:r>
            <a:endParaRPr kumimoji="0" lang="en-US" altLang="zh-CN" sz="32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ea typeface="楷体_GB2312" pitchFamily="49" charset="-122"/>
            </a:endParaRPr>
          </a:p>
        </p:txBody>
      </p:sp>
      <p:sp>
        <p:nvSpPr>
          <p:cNvPr id="26638" name="Line 23"/>
          <p:cNvSpPr>
            <a:spLocks noChangeShapeType="1"/>
          </p:cNvSpPr>
          <p:nvPr/>
        </p:nvSpPr>
        <p:spPr bwMode="auto">
          <a:xfrm>
            <a:off x="1663700" y="5491163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  <p:grpSp>
        <p:nvGrpSpPr>
          <p:cNvPr id="26639" name="Group 25"/>
          <p:cNvGrpSpPr>
            <a:grpSpLocks/>
          </p:cNvGrpSpPr>
          <p:nvPr/>
        </p:nvGrpSpPr>
        <p:grpSpPr bwMode="auto">
          <a:xfrm>
            <a:off x="5016500" y="2032000"/>
            <a:ext cx="762000" cy="665163"/>
            <a:chOff x="1110" y="2656"/>
            <a:chExt cx="1549" cy="1351"/>
          </a:xfrm>
        </p:grpSpPr>
        <p:sp>
          <p:nvSpPr>
            <p:cNvPr id="26672" name="AutoShape 26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73" name="AutoShape 27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6732" name="AutoShape 28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26640" name="Group 29"/>
          <p:cNvGrpSpPr>
            <a:grpSpLocks/>
          </p:cNvGrpSpPr>
          <p:nvPr/>
        </p:nvGrpSpPr>
        <p:grpSpPr bwMode="auto">
          <a:xfrm>
            <a:off x="5016500" y="3001963"/>
            <a:ext cx="762000" cy="665162"/>
            <a:chOff x="3174" y="2656"/>
            <a:chExt cx="1549" cy="1351"/>
          </a:xfrm>
        </p:grpSpPr>
        <p:sp>
          <p:nvSpPr>
            <p:cNvPr id="26669" name="AutoShape 30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70" name="AutoShape 31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6736" name="AutoShape 32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</p:grpSp>
      <p:sp>
        <p:nvSpPr>
          <p:cNvPr id="26641" name="Line 33"/>
          <p:cNvSpPr>
            <a:spLocks noChangeShapeType="1"/>
          </p:cNvSpPr>
          <p:nvPr/>
        </p:nvSpPr>
        <p:spPr bwMode="auto">
          <a:xfrm>
            <a:off x="5626100" y="2641600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26642" name="Text Box 34"/>
          <p:cNvSpPr txBox="1">
            <a:spLocks noChangeArrowheads="1"/>
          </p:cNvSpPr>
          <p:nvPr/>
        </p:nvSpPr>
        <p:spPr bwMode="gray">
          <a:xfrm>
            <a:off x="5213350" y="2130425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6643" name="Line 35"/>
          <p:cNvSpPr>
            <a:spLocks noChangeShapeType="1"/>
          </p:cNvSpPr>
          <p:nvPr/>
        </p:nvSpPr>
        <p:spPr bwMode="auto">
          <a:xfrm>
            <a:off x="5626100" y="3611563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26644" name="Text Box 36"/>
          <p:cNvSpPr txBox="1">
            <a:spLocks noChangeArrowheads="1"/>
          </p:cNvSpPr>
          <p:nvPr/>
        </p:nvSpPr>
        <p:spPr bwMode="gray">
          <a:xfrm>
            <a:off x="5213350" y="3100388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</a:p>
        </p:txBody>
      </p:sp>
      <p:grpSp>
        <p:nvGrpSpPr>
          <p:cNvPr id="26645" name="Group 37"/>
          <p:cNvGrpSpPr>
            <a:grpSpLocks/>
          </p:cNvGrpSpPr>
          <p:nvPr/>
        </p:nvGrpSpPr>
        <p:grpSpPr bwMode="auto">
          <a:xfrm>
            <a:off x="5016500" y="3965575"/>
            <a:ext cx="762000" cy="665163"/>
            <a:chOff x="1110" y="2656"/>
            <a:chExt cx="1549" cy="1351"/>
          </a:xfrm>
        </p:grpSpPr>
        <p:sp>
          <p:nvSpPr>
            <p:cNvPr id="26666" name="AutoShape 38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67" name="AutoShape 39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6744" name="AutoShape 40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</p:grpSp>
      <p:sp>
        <p:nvSpPr>
          <p:cNvPr id="26646" name="Line 41"/>
          <p:cNvSpPr>
            <a:spLocks noChangeShapeType="1"/>
          </p:cNvSpPr>
          <p:nvPr/>
        </p:nvSpPr>
        <p:spPr bwMode="auto">
          <a:xfrm>
            <a:off x="5626100" y="4575175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26647" name="Text Box 42"/>
          <p:cNvSpPr txBox="1">
            <a:spLocks noChangeArrowheads="1"/>
          </p:cNvSpPr>
          <p:nvPr/>
        </p:nvSpPr>
        <p:spPr bwMode="gray">
          <a:xfrm>
            <a:off x="5213350" y="40640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456747" name="Text Box 43"/>
          <p:cNvSpPr txBox="1">
            <a:spLocks noChangeArrowheads="1"/>
          </p:cNvSpPr>
          <p:nvPr/>
        </p:nvSpPr>
        <p:spPr bwMode="auto">
          <a:xfrm>
            <a:off x="1979613" y="4941888"/>
            <a:ext cx="2736850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sz="2800" b="1">
                <a:solidFill>
                  <a:srgbClr val="8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群的同态及同构</a:t>
            </a:r>
            <a:endParaRPr kumimoji="0" lang="en-US" altLang="zh-CN" sz="2800" b="1" dirty="0">
              <a:solidFill>
                <a:srgbClr val="80808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56748" name="Text Box 44"/>
          <p:cNvSpPr txBox="1">
            <a:spLocks noChangeArrowheads="1"/>
          </p:cNvSpPr>
          <p:nvPr/>
        </p:nvSpPr>
        <p:spPr bwMode="auto">
          <a:xfrm>
            <a:off x="5940425" y="2060575"/>
            <a:ext cx="19050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kumimoji="0" lang="zh-CN" altLang="en-US" sz="2800" b="1">
                <a:solidFill>
                  <a:srgbClr val="8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环</a:t>
            </a:r>
            <a:endParaRPr kumimoji="0" lang="en-US" altLang="zh-CN" sz="2800" b="1" dirty="0">
              <a:solidFill>
                <a:srgbClr val="80808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56749" name="Text Box 45"/>
          <p:cNvSpPr txBox="1">
            <a:spLocks noChangeArrowheads="1"/>
          </p:cNvSpPr>
          <p:nvPr/>
        </p:nvSpPr>
        <p:spPr bwMode="auto">
          <a:xfrm>
            <a:off x="5867400" y="2997200"/>
            <a:ext cx="2665413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sz="2800" b="1">
                <a:solidFill>
                  <a:srgbClr val="8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域的特征 素域</a:t>
            </a:r>
          </a:p>
        </p:txBody>
      </p:sp>
      <p:grpSp>
        <p:nvGrpSpPr>
          <p:cNvPr id="26651" name="Group 46"/>
          <p:cNvGrpSpPr>
            <a:grpSpLocks/>
          </p:cNvGrpSpPr>
          <p:nvPr/>
        </p:nvGrpSpPr>
        <p:grpSpPr bwMode="auto">
          <a:xfrm>
            <a:off x="1054100" y="4924425"/>
            <a:ext cx="762000" cy="665163"/>
            <a:chOff x="3174" y="2656"/>
            <a:chExt cx="1549" cy="1351"/>
          </a:xfrm>
        </p:grpSpPr>
        <p:sp>
          <p:nvSpPr>
            <p:cNvPr id="26663" name="AutoShape 47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64" name="AutoShape 48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6753" name="AutoShape 49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</p:grpSp>
      <p:sp>
        <p:nvSpPr>
          <p:cNvPr id="26652" name="Text Box 50"/>
          <p:cNvSpPr txBox="1">
            <a:spLocks noChangeArrowheads="1"/>
          </p:cNvSpPr>
          <p:nvPr/>
        </p:nvSpPr>
        <p:spPr bwMode="gray">
          <a:xfrm>
            <a:off x="1250950" y="503555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456755" name="Text Box 51"/>
          <p:cNvSpPr txBox="1">
            <a:spLocks noChangeArrowheads="1"/>
          </p:cNvSpPr>
          <p:nvPr/>
        </p:nvSpPr>
        <p:spPr bwMode="auto">
          <a:xfrm>
            <a:off x="5940425" y="4005263"/>
            <a:ext cx="2665413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sz="2800" b="1">
                <a:solidFill>
                  <a:srgbClr val="8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多项式</a:t>
            </a:r>
          </a:p>
        </p:txBody>
      </p:sp>
      <p:sp>
        <p:nvSpPr>
          <p:cNvPr id="26654" name="Line 52"/>
          <p:cNvSpPr>
            <a:spLocks noChangeShapeType="1"/>
          </p:cNvSpPr>
          <p:nvPr/>
        </p:nvSpPr>
        <p:spPr bwMode="auto">
          <a:xfrm>
            <a:off x="5695950" y="5435600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456757" name="Text Box 53"/>
          <p:cNvSpPr txBox="1">
            <a:spLocks noChangeArrowheads="1"/>
          </p:cNvSpPr>
          <p:nvPr/>
        </p:nvSpPr>
        <p:spPr bwMode="auto">
          <a:xfrm>
            <a:off x="6011863" y="4886325"/>
            <a:ext cx="273685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sz="2800" b="1">
                <a:solidFill>
                  <a:srgbClr val="8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有限域</a:t>
            </a:r>
            <a:endParaRPr kumimoji="0" lang="en-US" altLang="zh-CN" sz="2800" b="1" dirty="0">
              <a:solidFill>
                <a:srgbClr val="80808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6656" name="Group 54"/>
          <p:cNvGrpSpPr>
            <a:grpSpLocks/>
          </p:cNvGrpSpPr>
          <p:nvPr/>
        </p:nvGrpSpPr>
        <p:grpSpPr bwMode="auto">
          <a:xfrm>
            <a:off x="5086350" y="4868863"/>
            <a:ext cx="762000" cy="665162"/>
            <a:chOff x="3174" y="2656"/>
            <a:chExt cx="1549" cy="1351"/>
          </a:xfrm>
        </p:grpSpPr>
        <p:sp>
          <p:nvSpPr>
            <p:cNvPr id="26660" name="AutoShape 55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61" name="AutoShape 56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6761" name="AutoShape 57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</p:grpSp>
      <p:sp>
        <p:nvSpPr>
          <p:cNvPr id="26657" name="Text Box 58"/>
          <p:cNvSpPr txBox="1">
            <a:spLocks noChangeArrowheads="1"/>
          </p:cNvSpPr>
          <p:nvPr/>
        </p:nvSpPr>
        <p:spPr bwMode="gray">
          <a:xfrm>
            <a:off x="5283200" y="4979988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456763" name="Text Box 59"/>
          <p:cNvSpPr txBox="1">
            <a:spLocks noChangeArrowheads="1"/>
          </p:cNvSpPr>
          <p:nvPr/>
        </p:nvSpPr>
        <p:spPr bwMode="auto">
          <a:xfrm>
            <a:off x="2195513" y="3068638"/>
            <a:ext cx="1944687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sz="2800" b="1">
                <a:solidFill>
                  <a:srgbClr val="8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群的定义</a:t>
            </a:r>
            <a:endParaRPr kumimoji="0" lang="en-US" altLang="zh-CN" sz="2800" b="1" dirty="0">
              <a:solidFill>
                <a:srgbClr val="80808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665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E415A9E-4F2F-46E5-AC3D-61C093F11101}" type="slidenum">
              <a:rPr lang="en-US" altLang="ko-KR" sz="1400" smtClean="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102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0378275"/>
      </p:ext>
    </p:extLst>
  </p:cSld>
  <p:clrMapOvr>
    <a:masterClrMapping/>
  </p:clrMapOvr>
  <p:transition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>
              <a:defRPr/>
            </a:pPr>
            <a:r>
              <a:rPr kumimoji="0" lang="zh-CN" altLang="en-US" kern="1200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子群及其陪集</a:t>
            </a:r>
            <a:endParaRPr lang="zh-CN" altLang="en-US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65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6.3.1 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子群的定义</a:t>
            </a:r>
            <a:endParaRPr lang="en-US" altLang="zh-CN" sz="32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6.3.2 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子群的判别条件</a:t>
            </a:r>
            <a:endParaRPr lang="en-US" altLang="zh-CN" sz="32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6.3.3 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循环群</a:t>
            </a:r>
            <a:endParaRPr lang="en-US" altLang="zh-CN" sz="32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6.3.4 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陪集</a:t>
            </a:r>
          </a:p>
        </p:txBody>
      </p:sp>
      <p:sp>
        <p:nvSpPr>
          <p:cNvPr id="27652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7CC3A65-7741-499C-B929-7B456871783C}" type="slidenum">
              <a:rPr lang="en-US" altLang="ko-KR" sz="1400" smtClean="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103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455279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6.3.1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子群的定义</a:t>
            </a:r>
          </a:p>
        </p:txBody>
      </p:sp>
      <p:sp>
        <p:nvSpPr>
          <p:cNvPr id="382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9588" y="1246188"/>
            <a:ext cx="8424862" cy="5184775"/>
          </a:xfrm>
        </p:spPr>
        <p:txBody>
          <a:bodyPr/>
          <a:lstStyle/>
          <a:p>
            <a:pPr marL="0" indent="0" eaLnBrk="1" hangingPunct="1">
              <a:lnSpc>
                <a:spcPct val="125000"/>
              </a:lnSpc>
              <a:spcBef>
                <a:spcPct val="0"/>
              </a:spcBef>
              <a:defRPr/>
            </a:pP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(G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·)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是一个群， 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 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G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如果</a:t>
            </a:r>
            <a:r>
              <a:rPr lang="zh-CN" altLang="en-US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按照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中的乘法运算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(H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·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仍是一个群，则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(H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·)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叫做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(G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·)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的子群。</a:t>
            </a:r>
          </a:p>
          <a:p>
            <a:pPr marL="0" indent="0" eaLnBrk="1" hangingPunct="1">
              <a:lnSpc>
                <a:spcPct val="125000"/>
              </a:lnSpc>
              <a:spcBef>
                <a:spcPct val="0"/>
              </a:spcBef>
              <a:defRPr/>
            </a:pP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如果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的一个子群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不等于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，即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 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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G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(H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·)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叫做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(G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·)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的真子群。 </a:t>
            </a:r>
            <a:endParaRPr lang="en-US" altLang="zh-CN" sz="3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zh-CN" altLang="zh-CN" sz="3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-1071563"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1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Note: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G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的运算必须与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的运算一样，</a:t>
            </a:r>
          </a:p>
          <a:p>
            <a:pPr marL="0" indent="-1071563"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比如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(C*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·)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不是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(C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+)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的子群。 </a:t>
            </a:r>
          </a:p>
          <a:p>
            <a:pPr marL="0" indent="-1071563"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 </a:t>
            </a:r>
            <a:endParaRPr lang="zh-CN" altLang="zh-CN" sz="29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-1071563"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endParaRPr lang="zh-CN" altLang="en-US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867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85B4D02-E036-4171-B7DB-09E5FAC65D47}" type="slidenum">
              <a:rPr lang="en-US" altLang="ko-KR" sz="1400" smtClean="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104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26837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2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2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2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2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2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2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325563"/>
            <a:ext cx="8712968" cy="4922837"/>
          </a:xfrm>
        </p:spPr>
        <p:txBody>
          <a:bodyPr/>
          <a:lstStyle/>
          <a:p>
            <a:pPr marL="0" indent="0" eaLnBrk="1" hangingPunct="1">
              <a:lnSpc>
                <a:spcPct val="114000"/>
              </a:lnSpc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例.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mZ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，+)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是整数加法群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(Z，+)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的一个子群，其中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为整数。</a:t>
            </a:r>
          </a:p>
          <a:p>
            <a:pPr marL="0" indent="0" eaLnBrk="1" hangingPunct="1">
              <a:lnSpc>
                <a:spcPct val="114000"/>
              </a:lnSpc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例.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(C，+)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(R，+)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(Q，+)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(Z，+)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为其真子群。 </a:t>
            </a:r>
          </a:p>
          <a:p>
            <a:pPr marL="0" indent="0" eaLnBrk="1" hangingPunct="1">
              <a:lnSpc>
                <a:spcPct val="114000"/>
              </a:lnSpc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例.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(C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，·)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(R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，·)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(Q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，·)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为其真子群。</a:t>
            </a:r>
          </a:p>
          <a:p>
            <a:pPr marL="0" indent="0" eaLnBrk="1" hangingPunct="1">
              <a:lnSpc>
                <a:spcPct val="114000"/>
              </a:lnSpc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例.  行列式等于1的所有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阶矩阵作成实数域上所有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阶非奇异矩阵的乘法群的一个真子群。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114000"/>
              </a:lnSpc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例.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次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交代群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次对称群的一个真子群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(n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&gt;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114000"/>
              </a:lnSpc>
              <a:defRPr/>
            </a:pPr>
            <a:endParaRPr lang="zh-CN" altLang="en-US" sz="3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10000"/>
              </a:lnSpc>
              <a:defRPr/>
            </a:pPr>
            <a:endParaRPr lang="zh-CN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6.3.1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子群的定义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—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子群的例</a:t>
            </a:r>
          </a:p>
        </p:txBody>
      </p:sp>
      <p:sp>
        <p:nvSpPr>
          <p:cNvPr id="2970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F1633F9-C7E2-41E3-BC78-ECAB451F403E}" type="slidenum">
              <a:rPr lang="en-US" altLang="ko-KR" sz="1400" smtClean="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105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9563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任一群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都有两个明显的子群，称为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的平凡子群：</a:t>
            </a:r>
          </a:p>
          <a:p>
            <a:pPr marL="0" eaLnBrk="1" hangingPunct="1">
              <a:lnSpc>
                <a:spcPct val="120000"/>
              </a:lnSpc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由其单位元素组成的子群{1}，称为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的单位子群；</a:t>
            </a:r>
          </a:p>
          <a:p>
            <a:pPr marL="0" eaLnBrk="1" hangingPunct="1">
              <a:lnSpc>
                <a:spcPct val="120000"/>
              </a:lnSpc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本身。</a:t>
            </a:r>
          </a:p>
          <a:p>
            <a:pPr marL="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其余的子群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如果有的话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称为非平凡子群。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0" eaLnBrk="1" hangingPunct="1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6.3.1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子群的定义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—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平凡子群</a:t>
            </a:r>
          </a:p>
        </p:txBody>
      </p:sp>
      <p:sp>
        <p:nvSpPr>
          <p:cNvPr id="3072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A548EFA-1DF4-4DF5-A75D-BB78BF396BEA}" type="slidenum">
              <a:rPr lang="en-US" altLang="ko-KR" sz="1400" smtClean="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106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486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9588" y="1339850"/>
            <a:ext cx="8301037" cy="5257800"/>
          </a:xfrm>
        </p:spPr>
        <p:txBody>
          <a:bodyPr/>
          <a:lstStyle/>
          <a:p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偶数加法群是整数加法群的非平凡子群。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是否对于任意群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，都存在两个不同的平凡子群？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05000"/>
              </a:lnSpc>
              <a:buClr>
                <a:srgbClr val="3333CC"/>
              </a:buClr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例：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S={0,1,2,3,4,5},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规定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上的运算⊕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是模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加法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⊕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6)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是模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的整数加法群。取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A={0,2,4},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问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在⊕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 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下，是否为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的非平凡子群？</a:t>
            </a:r>
            <a:endParaRPr lang="en-US" altLang="zh-CN" sz="30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05000"/>
              </a:lnSpc>
              <a:buClr>
                <a:srgbClr val="3333CC"/>
              </a:buClr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例：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S={0,1,2,3,4}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，规定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上的运算⊕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5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是模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5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加法，则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(S,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⊕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5) 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是模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5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的整数加法群。取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A={0,2,4}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，问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在⊕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5 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下，是否为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的子群？</a:t>
            </a:r>
            <a:endParaRPr lang="en-US" altLang="zh-CN" sz="30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buClr>
                <a:srgbClr val="3333CC"/>
              </a:buClr>
            </a:pPr>
            <a:endParaRPr lang="en-US" altLang="zh-CN" sz="30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3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3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0000FF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3200" b="1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6.3.1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子群的定义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—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平凡子群</a:t>
            </a:r>
          </a:p>
        </p:txBody>
      </p:sp>
      <p:sp>
        <p:nvSpPr>
          <p:cNvPr id="3174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56598DE-C9C0-4A47-A054-058B274EF95B}" type="slidenum">
              <a:rPr lang="en-US" altLang="ko-KR" sz="1400" smtClean="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107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3235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82713"/>
            <a:ext cx="8423275" cy="4895850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定理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6.3.1 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（判别条件一）   </a:t>
            </a:r>
          </a:p>
          <a:p>
            <a:pPr marL="0" indent="0">
              <a:lnSpc>
                <a:spcPct val="135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群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的一个子集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的一个子群的充分必要条件是</a:t>
            </a:r>
          </a:p>
          <a:p>
            <a:pPr>
              <a:lnSpc>
                <a:spcPct val="135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(1)    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若</a:t>
            </a:r>
            <a:r>
              <a:rPr lang="en-US" altLang="zh-CN" sz="33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a∈H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 ∈ H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，则</a:t>
            </a:r>
            <a:r>
              <a:rPr lang="en-US" altLang="zh-CN" sz="33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a·b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∈ H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；</a:t>
            </a:r>
          </a:p>
          <a:p>
            <a:pPr>
              <a:lnSpc>
                <a:spcPct val="135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(2)    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若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 ∈ H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，则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3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 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 H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；</a:t>
            </a:r>
          </a:p>
          <a:p>
            <a:pPr>
              <a:lnSpc>
                <a:spcPct val="135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(3)    H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非空。</a:t>
            </a:r>
          </a:p>
          <a:p>
            <a:pPr>
              <a:lnSpc>
                <a:spcPct val="135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6.3.2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子群的判别条件</a:t>
            </a:r>
          </a:p>
        </p:txBody>
      </p:sp>
      <p:sp>
        <p:nvSpPr>
          <p:cNvPr id="3277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9E58CB8-C3DE-4E6E-B484-DBB72D3516DC}" type="slidenum">
              <a:rPr lang="en-US" altLang="ko-KR" sz="1400" smtClean="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108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33721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33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证明： </a:t>
            </a:r>
            <a:r>
              <a:rPr lang="zh-CN" altLang="en-US" sz="33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必要性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pPr marL="0" indent="0"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的子群，则(1)、(3)显然。</a:t>
            </a:r>
          </a:p>
          <a:p>
            <a:pPr marL="0" indent="0"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现要证（2）.</a:t>
            </a:r>
            <a:endParaRPr lang="en-US" altLang="zh-CN" sz="33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子群的判别条件一（必要性证明）</a:t>
            </a:r>
          </a:p>
        </p:txBody>
      </p:sp>
      <p:sp>
        <p:nvSpPr>
          <p:cNvPr id="3379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338F647-5D4B-4E81-AB33-8B305902C017}" type="slidenum">
              <a:rPr lang="en-US" altLang="ko-KR" sz="1400" smtClean="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109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508621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1813" y="1331913"/>
            <a:ext cx="8301037" cy="4922837"/>
          </a:xfrm>
        </p:spPr>
        <p:txBody>
          <a:bodyPr/>
          <a:lstStyle/>
          <a:p>
            <a:pPr marL="0" indent="0" eaLnBrk="1" hangingPunct="1">
              <a:spcBef>
                <a:spcPts val="1600"/>
              </a:spcBef>
              <a:buFont typeface="Wingdings" panose="05000000000000000000" pitchFamily="2" charset="2"/>
              <a:buNone/>
            </a:pPr>
            <a:r>
              <a:rPr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先证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中的单位元就是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中的单位元。 </a:t>
            </a:r>
          </a:p>
          <a:p>
            <a:pPr marL="0" indent="0" eaLnBrk="1" hangingPunct="1">
              <a:spcBef>
                <a:spcPts val="160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设1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中的单位元，1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中的单位元。</a:t>
            </a:r>
          </a:p>
          <a:p>
            <a:pPr marL="0" indent="0" eaLnBrk="1" hangingPunct="1">
              <a:spcBef>
                <a:spcPts val="160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任取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a∈H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则在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中有：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a=a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marL="0" indent="0" eaLnBrk="1" hangingPunct="1">
              <a:spcBef>
                <a:spcPts val="160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故在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中也成立。以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右乘得</a:t>
            </a:r>
          </a:p>
          <a:p>
            <a:pPr marL="0" indent="0" eaLnBrk="1" hangingPunct="1">
              <a:spcBef>
                <a:spcPts val="160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(1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a)a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aa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即，</a:t>
            </a:r>
          </a:p>
          <a:p>
            <a:pPr marL="0" indent="0" eaLnBrk="1" hangingPunct="1">
              <a:spcBef>
                <a:spcPts val="160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1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endParaRPr lang="en-US" altLang="zh-CN" sz="3000" baseline="30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eaLnBrk="1" hangingPunct="1">
              <a:spcBef>
                <a:spcPts val="160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故，1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G。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eaLnBrk="1" hangingPunct="1"/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子群的判别条件一（必要性证明）</a:t>
            </a:r>
          </a:p>
        </p:txBody>
      </p:sp>
      <p:sp>
        <p:nvSpPr>
          <p:cNvPr id="3482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1A0B258-3BDC-450B-AFD4-A8DE189BCDC6}" type="slidenum">
              <a:rPr lang="en-US" altLang="ko-KR" sz="1400" smtClean="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110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2582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由群的定义，对于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中的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应有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b∈H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使，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ab=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而1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因此， </a:t>
            </a:r>
          </a:p>
          <a:p>
            <a:pPr algn="ctr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ab=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此式在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中亦成立，以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左乘得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ctr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ab= 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ctr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     b= 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∈H，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成立。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必要性证毕。</a:t>
            </a:r>
          </a:p>
          <a:p>
            <a:pPr eaLnBrk="1" hangingPunct="1"/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子群的判别条件一（必要性证明）</a:t>
            </a:r>
          </a:p>
        </p:txBody>
      </p:sp>
      <p:sp>
        <p:nvSpPr>
          <p:cNvPr id="3584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7FB60AD-A71F-40A1-AAA2-C3EFBCB6C1A8}" type="slidenum">
              <a:rPr lang="en-US" altLang="ko-KR" sz="1400" smtClean="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111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8148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内容占位符 2"/>
          <p:cNvSpPr>
            <a:spLocks noGrp="1"/>
          </p:cNvSpPr>
          <p:nvPr>
            <p:ph idx="1"/>
          </p:nvPr>
        </p:nvSpPr>
        <p:spPr>
          <a:xfrm>
            <a:off x="323850" y="1268413"/>
            <a:ext cx="8712200" cy="5427662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设(1),(2),(3)成立。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由(3)，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非空。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由(1)，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内运算封闭.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中成立的结合律在子集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中自然成立。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往证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中有单位元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。任取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a∈H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由(2),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∈H,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由(1),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aa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∈H，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即1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H；1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中适合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a=a，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故在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中亦有此性质。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往证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中任意元素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有逆.因由(2),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∈H，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但是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a=1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此式在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中亦应成立，故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中之逆。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综上，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的运算下是一个群，故是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的子群。</a:t>
            </a: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子群的判别条件一（充分性证明）</a:t>
            </a:r>
          </a:p>
        </p:txBody>
      </p:sp>
      <p:sp>
        <p:nvSpPr>
          <p:cNvPr id="3686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69CEBD9-3270-46F3-8421-F3BF39A98338}" type="slidenum">
              <a:rPr lang="en-US" altLang="ko-KR" sz="1400" smtClean="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112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0412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2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spcBef>
                <a:spcPct val="50000"/>
              </a:spcBef>
              <a:tabLst>
                <a:tab pos="1149350" algn="l"/>
                <a:tab pos="1995488" algn="l"/>
              </a:tabLst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子群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与大群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的关系：</a:t>
            </a:r>
          </a:p>
          <a:p>
            <a:pPr marL="0" indent="0" eaLnBrk="1" hangingPunct="1">
              <a:spcBef>
                <a:spcPct val="5000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的单位元就是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的单位元，</a:t>
            </a:r>
          </a:p>
          <a:p>
            <a:pPr marL="0" indent="0" eaLnBrk="1" hangingPunct="1">
              <a:lnSpc>
                <a:spcPct val="114000"/>
              </a:lnSpc>
              <a:spcBef>
                <a:spcPct val="5000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中任一元素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中的逆元也就是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中的逆元。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114000"/>
              </a:lnSpc>
              <a:spcBef>
                <a:spcPct val="5000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例：</a:t>
            </a:r>
          </a:p>
          <a:p>
            <a:pPr marL="0" indent="0" eaLnBrk="1" hangingPunct="1">
              <a:tabLst>
                <a:tab pos="1149350" algn="l"/>
                <a:tab pos="1995488" algn="l"/>
              </a:tabLst>
            </a:pP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子群的判别条件一</a:t>
            </a:r>
          </a:p>
        </p:txBody>
      </p:sp>
      <p:sp>
        <p:nvSpPr>
          <p:cNvPr id="3789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6289D60-B9F8-4A07-B098-CB52F53198A0}" type="slidenum">
              <a:rPr lang="en-US" altLang="ko-KR" sz="1400" smtClean="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113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8914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975" y="1268413"/>
            <a:ext cx="8301038" cy="4779962"/>
          </a:xfrm>
        </p:spPr>
        <p:txBody>
          <a:bodyPr/>
          <a:lstStyle/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例：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，·)，(H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，·)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(G，·)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的两个互不包含的子群，证明：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∪H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≠G。</a:t>
            </a:r>
          </a:p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∪H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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故只需证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中存在</a:t>
            </a:r>
          </a:p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一个元素，它既不属于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也不属于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互不包含知，存在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x，y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使得</a:t>
            </a:r>
          </a:p>
          <a:p>
            <a:pPr algn="ctr" eaLnBrk="1" hangingPunct="1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x∈H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且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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，y∈H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且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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往证：  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x·y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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且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x·y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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zh-CN" altLang="en-US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zh-CN" altLang="en-US" sz="3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应用子群的判别条件一的例</a:t>
            </a:r>
          </a:p>
        </p:txBody>
      </p:sp>
      <p:sp>
        <p:nvSpPr>
          <p:cNvPr id="3891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F86C45B-8157-41D8-8D2F-9BA50BCB3B5A}" type="slidenum">
              <a:rPr lang="en-US" altLang="ko-KR" sz="1400" smtClean="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114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8283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内容占位符 2"/>
          <p:cNvSpPr>
            <a:spLocks noGrp="1"/>
          </p:cNvSpPr>
          <p:nvPr>
            <p:ph idx="1"/>
          </p:nvPr>
        </p:nvSpPr>
        <p:spPr>
          <a:xfrm>
            <a:off x="611560" y="1173701"/>
            <a:ext cx="8353425" cy="5356225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用反证法，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x·y∈H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则由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x∈H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及由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的子群知，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endParaRPr lang="zh-CN" altLang="en-US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x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·(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x·y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)∈H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y∈H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与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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矛盾。</a:t>
            </a:r>
          </a:p>
          <a:p>
            <a:pPr marL="0"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u"/>
              <a:defRPr/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用反证法，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x·y∈H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则由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y∈H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及由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的子群知，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x·y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)·y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即，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x∈H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与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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矛盾。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x·y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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∪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x·y∈G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所以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∪H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≠G。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应用子群的判别条件一的例</a:t>
            </a:r>
          </a:p>
        </p:txBody>
      </p:sp>
      <p:sp>
        <p:nvSpPr>
          <p:cNvPr id="3994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D175BA2-2E50-458A-8EB4-3A67A2CA58AD}" type="slidenum">
              <a:rPr lang="en-US" altLang="ko-KR" sz="1400" smtClean="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115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3814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196975"/>
            <a:ext cx="8712522" cy="48514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例：</a:t>
            </a:r>
            <a:r>
              <a:rPr lang="zh-CN" altLang="zh-CN" sz="29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29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zh-CN" sz="29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是群</a:t>
            </a:r>
            <a:r>
              <a:rPr lang="en-US" altLang="zh-CN" sz="29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zh-CN" sz="29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的子群，证明：对任意的</a:t>
            </a:r>
            <a:r>
              <a:rPr lang="en-US" altLang="zh-CN" sz="2900" kern="1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2900" kern="1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2900" kern="1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zh-CN" sz="29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，集合</a:t>
            </a:r>
            <a:r>
              <a:rPr lang="en-US" altLang="zh-CN" sz="29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gHg</a:t>
            </a:r>
            <a:r>
              <a:rPr lang="en-US" altLang="zh-CN" sz="2900" kern="1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zh-CN" altLang="zh-CN" sz="29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29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zh-CN" sz="29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的子群。</a:t>
            </a:r>
            <a:endParaRPr lang="en-US" altLang="zh-CN" sz="29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sz="29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endParaRPr lang="en-US" altLang="zh-CN" sz="29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eaLnBrk="1" hangingPunct="1">
              <a:buNone/>
              <a:defRPr/>
            </a:pP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(1)</a:t>
            </a: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任取 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a=gh</a:t>
            </a:r>
            <a:r>
              <a:rPr lang="en-US" altLang="zh-CN" sz="29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29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b=gh</a:t>
            </a:r>
            <a:r>
              <a:rPr lang="en-US" altLang="zh-CN" sz="29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29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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gHg</a:t>
            </a:r>
            <a:r>
              <a:rPr lang="en-US" altLang="zh-CN" sz="29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(h</a:t>
            </a:r>
            <a:r>
              <a:rPr lang="en-US" altLang="zh-CN" sz="29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1,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h</a:t>
            </a:r>
            <a:r>
              <a:rPr lang="en-US" altLang="zh-CN" sz="29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H</a:t>
            </a:r>
            <a:r>
              <a:rPr lang="en-US" altLang="zh-CN" sz="29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,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ab=(gh</a:t>
            </a:r>
            <a:r>
              <a:rPr lang="en-US" altLang="zh-CN" sz="29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29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)(gh</a:t>
            </a:r>
            <a:r>
              <a:rPr lang="en-US" altLang="zh-CN" sz="29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29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</a:t>
            </a:r>
            <a:r>
              <a:rPr lang="en-US" altLang="zh-CN" sz="29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gh</a:t>
            </a:r>
            <a:r>
              <a:rPr lang="en-US" altLang="zh-CN" sz="2900" baseline="-25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9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2900" baseline="-25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9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2900" baseline="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gHg</a:t>
            </a:r>
            <a:r>
              <a:rPr lang="en-US" altLang="zh-CN" sz="29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29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任取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a=gh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gHg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, a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=(gh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=gh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gHg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(3)</a:t>
            </a:r>
            <a:r>
              <a:rPr lang="zh-CN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 </a:t>
            </a:r>
            <a:r>
              <a:rPr lang="zh-CN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g1g</a:t>
            </a:r>
            <a:r>
              <a:rPr lang="en-US" altLang="zh-CN" sz="29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gHg</a:t>
            </a:r>
            <a:r>
              <a:rPr lang="en-US" altLang="zh-CN" sz="29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,</a:t>
            </a:r>
            <a:r>
              <a:rPr lang="zh-CN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</a:t>
            </a:r>
            <a:r>
              <a:rPr lang="en-US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gHg</a:t>
            </a:r>
            <a:r>
              <a:rPr lang="en-US" altLang="zh-CN" sz="29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zh-CN" altLang="zh-CN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非空。</a:t>
            </a:r>
            <a:endParaRPr lang="en-US" altLang="zh-CN" sz="29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因此，</a:t>
            </a:r>
            <a:r>
              <a:rPr lang="zh-CN" altLang="zh-CN" sz="29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集合</a:t>
            </a:r>
            <a:r>
              <a:rPr lang="en-US" altLang="zh-CN" sz="29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gHg</a:t>
            </a:r>
            <a:r>
              <a:rPr lang="en-US" altLang="zh-CN" sz="2900" kern="1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zh-CN" altLang="zh-CN" sz="29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29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zh-CN" sz="29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的子群。</a:t>
            </a:r>
            <a:endParaRPr lang="en-US" altLang="zh-CN" sz="29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3000" dirty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zh-CN" altLang="en-US" sz="3000" baseline="30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应用子群的判别条件一的例</a:t>
            </a:r>
          </a:p>
        </p:txBody>
      </p:sp>
      <p:sp>
        <p:nvSpPr>
          <p:cNvPr id="4096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EF75712-A9FE-467F-9003-F6999D1D9E47}" type="slidenum">
              <a:rPr lang="en-US" altLang="ko-KR" sz="1400" smtClean="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116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159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412875"/>
            <a:ext cx="8497887" cy="4391025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定理</a:t>
            </a:r>
            <a:r>
              <a:rPr lang="en-US" altLang="zh-CN" sz="32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6.3.2</a:t>
            </a:r>
            <a:r>
              <a:rPr lang="zh-CN" altLang="en-US" sz="32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（判别条件二）</a:t>
            </a:r>
          </a:p>
          <a:p>
            <a:pPr marL="0" indent="0">
              <a:lnSpc>
                <a:spcPct val="14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定理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6.3.1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中的两个条件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(1)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(2)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可以换成下面一个条件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        (*)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若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a∈H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  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b∈H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，则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a·b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endParaRPr lang="zh-CN" altLang="en-US" sz="29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6.3.2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子群的判别条件</a:t>
            </a:r>
          </a:p>
        </p:txBody>
      </p:sp>
      <p:sp>
        <p:nvSpPr>
          <p:cNvPr id="4198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C9B3F13-5EBA-4C4A-AB15-8264581F9611}" type="slidenum">
              <a:rPr lang="en-US" altLang="ko-KR" sz="1400" smtClean="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117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2663008"/>
      </p:ext>
    </p:extLst>
  </p:cSld>
  <p:clrMapOvr>
    <a:masterClrMapping/>
  </p:clrMapOvr>
  <p:transition/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5536" y="1192300"/>
            <a:ext cx="8677275" cy="5329237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证明</a:t>
            </a:r>
            <a:r>
              <a:rPr lang="en-US" altLang="zh-CN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en-US" altLang="zh-CN" sz="4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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(1), (2)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成立，往证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(*)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成立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设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a∈H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b∈H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，由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(2), b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，故由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(1)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ab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∈H,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因而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(*)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成立。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>
                <a:srgbClr val="0000FF"/>
              </a:buClr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(*)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成立，往证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(1), (2)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成立。设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a∈H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，由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(*)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可推得，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a∈H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a∈H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，故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a·a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，即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1∈H.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又由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(*)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可推得，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1∈H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a∈H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，故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1·a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，即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∈H,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因而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(2)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成立。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>
                <a:srgbClr val="0000FF"/>
              </a:buClr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设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a∈H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b∈H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，因为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(2)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已证，故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∈H.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再由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(*)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推知，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a∈H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，故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a· (b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∈H,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即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a·b∈H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，故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(1)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成立。 </a:t>
            </a: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子群的判别条件二证明</a:t>
            </a:r>
          </a:p>
        </p:txBody>
      </p:sp>
      <p:sp>
        <p:nvSpPr>
          <p:cNvPr id="4301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66F84F0-8D2A-4087-9CF6-BF1F786F9C4C}" type="slidenum">
              <a:rPr lang="en-US" altLang="ko-KR" sz="1400" smtClean="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118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51718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8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85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485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485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468313" y="1241425"/>
            <a:ext cx="8567737" cy="550068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求证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∩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也是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显然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∩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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往证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∩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非空。由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的子群，知，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且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∈K 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故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∩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任取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∩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，往证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∩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a,b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，及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的子群，知，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同理可得，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。故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ab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∩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∩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扩展结论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的任意多个子群的交仍是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的子群。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应用子群的判别条件二的例</a:t>
            </a:r>
          </a:p>
        </p:txBody>
      </p:sp>
      <p:sp>
        <p:nvSpPr>
          <p:cNvPr id="4403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F8C056C-CEF7-4745-82EF-06EE764F57B6}" type="slidenum">
              <a:rPr lang="en-US" altLang="ko-KR" sz="1400" smtClean="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119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5775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6635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应用判别条件二  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975" y="1196975"/>
            <a:ext cx="8301038" cy="4851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给定整数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m，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en-US" altLang="zh-CN" sz="32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mZ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,+)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是一个群。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证明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：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因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Z,+)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是一个群，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mZ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Z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的子集，因此，只需证(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mZ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,+)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是(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Z,+)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的子群。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(1)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mZ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非空，至少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0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mZ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(2)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对任意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x, y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mZ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存在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k, l ∈Z，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使得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x=km, y=lm,  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于是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x-y=km-lm=(k-l)m ∈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mZ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mZ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,+)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是(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Z,+)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的子群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当然本身是一个群。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E6AE1E-1B84-4623-B32D-89DAE5F54D8B}" type="slidenum">
              <a:rPr lang="en-US" altLang="ko-KR" smtClean="0"/>
              <a:pPr>
                <a:defRPr/>
              </a:pPr>
              <a:t>120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67584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549275"/>
            <a:ext cx="8712200" cy="597535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练习：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都是群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的子群，令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HK={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xy|x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∈H, 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y∈K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},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HK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的子群当且仅当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HK=KH.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必要性，已知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HK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的子群，往证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HK=KH.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任取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 ∈HK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，因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HK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∈HK ,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于是存在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h∈H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k∈K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，使得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hk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，因此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x=k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∈KH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HK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KH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。同理可证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KH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HK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，从而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HK=KH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充分性，已知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HK=KH,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往证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HK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</a:p>
          <a:p>
            <a:pPr marL="514350" indent="-514350">
              <a:buClr>
                <a:srgbClr val="0000FF"/>
              </a:buClr>
              <a:buFont typeface="Wingdings" panose="05000000000000000000" pitchFamily="2" charset="2"/>
              <a:buAutoNum type="arabicParenR"/>
              <a:defRPr/>
            </a:pP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e∈H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, 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e∈K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, 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ee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e∈HK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HK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非空。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514350" indent="-514350">
              <a:buClr>
                <a:srgbClr val="0000FF"/>
              </a:buClr>
              <a:buFont typeface="Wingdings" panose="05000000000000000000" pitchFamily="2" charset="2"/>
              <a:buAutoNum type="arabicParenR"/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任取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y∈HK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，则有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,h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∈H, k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,k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∈K ,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使得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x=h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,y=h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,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=k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xy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=h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,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k=k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∈K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，因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HK=KH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，存在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k’ ∈K , h’ ∈H,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使得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kh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=h’ k’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，故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xy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=h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h’ k’ ∈HK.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证毕。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endParaRPr lang="en-US" altLang="zh-CN" sz="2800" baseline="30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sp>
        <p:nvSpPr>
          <p:cNvPr id="4608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5728675D-6299-4D8E-882E-5C94AB0B6342}" type="slidenum">
              <a:rPr lang="en-US" altLang="ko-KR" sz="1400" smtClean="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121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1231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424862" cy="4895850"/>
          </a:xfrm>
        </p:spPr>
        <p:txBody>
          <a:bodyPr/>
          <a:lstStyle/>
          <a:p>
            <a:pPr marL="0" indent="0">
              <a:lnSpc>
                <a:spcPct val="125000"/>
              </a:lnSpc>
              <a:spcBef>
                <a:spcPct val="0"/>
              </a:spcBef>
              <a:buClr>
                <a:schemeClr val="bg1"/>
              </a:buClr>
              <a:buFont typeface="Wingdings" panose="05000000000000000000" pitchFamily="2" charset="2"/>
              <a:buNone/>
            </a:pPr>
            <a:r>
              <a:rPr lang="zh-CN" altLang="en-US" sz="32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定理</a:t>
            </a:r>
            <a:r>
              <a:rPr lang="en-US" altLang="zh-CN" sz="32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6.3.3</a:t>
            </a:r>
            <a:r>
              <a:rPr lang="zh-CN" altLang="en-US" sz="32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（判别条件三）</a:t>
            </a:r>
          </a:p>
          <a:p>
            <a:pPr marL="0" indent="0">
              <a:lnSpc>
                <a:spcPct val="12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的一个</a:t>
            </a:r>
            <a:r>
              <a:rPr lang="zh-CN" altLang="en-US" sz="32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有限非空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子集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的一个子群的充分必要条件是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对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的运算是封闭的，即若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 ∈H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b∈H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，则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ab ∈ 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</a:t>
            </a:r>
          </a:p>
          <a:p>
            <a:pPr marL="0" indent="0">
              <a:lnSpc>
                <a:spcPct val="12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endParaRPr lang="zh-CN" altLang="en-US" sz="29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endParaRPr lang="zh-CN" altLang="en-US" sz="29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endParaRPr lang="zh-CN" altLang="en-US" sz="29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29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</a:p>
        </p:txBody>
      </p:sp>
      <p:sp>
        <p:nvSpPr>
          <p:cNvPr id="389124" name="AutoShape 4"/>
          <p:cNvSpPr>
            <a:spLocks noChangeArrowheads="1"/>
          </p:cNvSpPr>
          <p:nvPr/>
        </p:nvSpPr>
        <p:spPr bwMode="auto">
          <a:xfrm>
            <a:off x="864394" y="4077072"/>
            <a:ext cx="7632700" cy="1873250"/>
          </a:xfrm>
          <a:prstGeom prst="plaque">
            <a:avLst>
              <a:gd name="adj" fmla="val 16667"/>
            </a:avLst>
          </a:prstGeom>
          <a:solidFill>
            <a:srgbClr val="98FAB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如果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(G, ·)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是有限群，则对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的任意非空子集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，只要运算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·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封闭， 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(H, ·)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就是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(G, ·)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的子群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。</a:t>
            </a:r>
          </a:p>
        </p:txBody>
      </p:sp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6.3.2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子群的判别条件</a:t>
            </a:r>
          </a:p>
        </p:txBody>
      </p:sp>
      <p:sp>
        <p:nvSpPr>
          <p:cNvPr id="4710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49F0916-CF27-48EB-A8DE-DDD50ED4F77C}" type="slidenum">
              <a:rPr lang="en-US" altLang="ko-KR" sz="1400" smtClean="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122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58564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9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9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89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89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89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24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内容占位符 2"/>
          <p:cNvSpPr>
            <a:spLocks noGrp="1"/>
          </p:cNvSpPr>
          <p:nvPr>
            <p:ph idx="1"/>
          </p:nvPr>
        </p:nvSpPr>
        <p:spPr>
          <a:xfrm>
            <a:off x="395288" y="1169988"/>
            <a:ext cx="8301037" cy="56880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证明：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必要性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显然。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充分性。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由判别条件一知，只需证明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a∈H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即可。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任取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则由运算封闭性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 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,...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H。 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因为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有限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,所以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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j 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j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 j&gt;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故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j-i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=1, a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j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 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     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a)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j-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&gt;1,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j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 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b)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j-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=1,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a=1,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=a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因此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</a:t>
            </a:r>
            <a:r>
              <a:rPr lang="en-US" altLang="zh-CN" sz="30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zh-CN" altLang="en-US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充分性也可用习题</a:t>
            </a: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6.2—2</a:t>
            </a:r>
            <a:r>
              <a:rPr lang="zh-CN" altLang="en-US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结论证明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)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eaLnBrk="1" hangingPunct="1"/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子群的判别条件三证明</a:t>
            </a:r>
          </a:p>
        </p:txBody>
      </p:sp>
      <p:sp>
        <p:nvSpPr>
          <p:cNvPr id="4813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46A6C2F-C09B-405B-9572-3E067FF90375}" type="slidenum">
              <a:rPr lang="en-US" altLang="ko-KR" sz="1400" smtClean="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123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8460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5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5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5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5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5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5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5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5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975" y="1385888"/>
            <a:ext cx="8301038" cy="4922837"/>
          </a:xfrm>
        </p:spPr>
        <p:txBody>
          <a:bodyPr/>
          <a:lstStyle/>
          <a:p>
            <a:pPr marL="0" indent="-377825" eaLnBrk="1" hangingPunct="1">
              <a:spcBef>
                <a:spcPct val="0"/>
              </a:spcBef>
              <a:buFont typeface="Wingdings" panose="05000000000000000000" pitchFamily="2" charset="2"/>
              <a:buNone/>
              <a:tabLst>
                <a:tab pos="1042988" algn="l"/>
                <a:tab pos="1995488" algn="l"/>
              </a:tabLst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次对称群，判断其非空子集是否是群只需验证运算是否封闭。</a:t>
            </a:r>
          </a:p>
          <a:p>
            <a:pPr marL="0" indent="-377825" eaLnBrk="1" hangingPunct="1">
              <a:spcBef>
                <a:spcPct val="50000"/>
              </a:spcBef>
              <a:buFont typeface="Wingdings" panose="05000000000000000000" pitchFamily="2" charset="2"/>
              <a:buNone/>
              <a:tabLst>
                <a:tab pos="1042988" algn="l"/>
                <a:tab pos="1995488" algn="l"/>
              </a:tabLst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试判断下面子集在置换的乘法下是否是群：</a:t>
            </a:r>
          </a:p>
          <a:p>
            <a:pPr marL="0" indent="-377825" eaLnBrk="1" hangingPunct="1">
              <a:spcBef>
                <a:spcPct val="50000"/>
              </a:spcBef>
              <a:buFont typeface="Wingdings" panose="05000000000000000000" pitchFamily="2" charset="2"/>
              <a:buNone/>
              <a:tabLst>
                <a:tab pos="1042988" algn="l"/>
                <a:tab pos="1995488" algn="l"/>
              </a:tabLst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(1)所有偶置换的集合</a:t>
            </a:r>
          </a:p>
          <a:p>
            <a:pPr marL="0" indent="-377825" eaLnBrk="1" hangingPunct="1">
              <a:spcBef>
                <a:spcPct val="50000"/>
              </a:spcBef>
              <a:buFont typeface="Wingdings" panose="05000000000000000000" pitchFamily="2" charset="2"/>
              <a:buNone/>
              <a:tabLst>
                <a:tab pos="1042988" algn="l"/>
                <a:tab pos="1995488" algn="l"/>
              </a:tabLst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(2)所有奇置换的集合 </a:t>
            </a:r>
          </a:p>
          <a:p>
            <a:pPr marL="0" indent="-377825" eaLnBrk="1" hangingPunct="1">
              <a:spcBef>
                <a:spcPct val="50000"/>
              </a:spcBef>
              <a:buFont typeface="Wingdings" panose="05000000000000000000" pitchFamily="2" charset="2"/>
              <a:buNone/>
              <a:tabLst>
                <a:tab pos="1042988" algn="l"/>
                <a:tab pos="1995488" algn="l"/>
              </a:tabLst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(3){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I, (1 2)}</a:t>
            </a:r>
          </a:p>
          <a:p>
            <a:pPr marL="0" indent="-377825" eaLnBrk="1" hangingPunct="1">
              <a:spcBef>
                <a:spcPct val="50000"/>
              </a:spcBef>
              <a:buFont typeface="Wingdings" panose="05000000000000000000" pitchFamily="2" charset="2"/>
              <a:buNone/>
              <a:tabLst>
                <a:tab pos="1042988" algn="l"/>
                <a:tab pos="1995488" algn="l"/>
              </a:tabLst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(4){I, (12), (13)}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-377825" eaLnBrk="1" hangingPunct="1">
              <a:tabLst>
                <a:tab pos="1042988" algn="l"/>
                <a:tab pos="1995488" algn="l"/>
              </a:tabLst>
            </a:pP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应用子群的判别条件三的例</a:t>
            </a:r>
          </a:p>
        </p:txBody>
      </p:sp>
      <p:sp>
        <p:nvSpPr>
          <p:cNvPr id="4915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4123E1C-0D1E-4791-ACF2-82BD02E5219C}" type="slidenum">
              <a:rPr lang="en-US" altLang="ko-KR" sz="1400" smtClean="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124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917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23850" y="609600"/>
            <a:ext cx="7772400" cy="641350"/>
          </a:xfrm>
        </p:spPr>
        <p:txBody>
          <a:bodyPr>
            <a:spAutoFit/>
          </a:bodyPr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习题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6.2-1</a:t>
            </a:r>
            <a:endParaRPr lang="zh-CN" altLang="zh-CN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850" y="1268413"/>
            <a:ext cx="8569325" cy="5589587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>
                <a:sym typeface="Symbol" panose="05050102010706020507" pitchFamily="18" charset="2"/>
              </a:rPr>
              <a:t> </a:t>
            </a: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设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(G,·)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是代数系统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则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(G×G,*)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是代数系统，这里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G×G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的运算“*”规定如下：</a:t>
            </a:r>
          </a:p>
          <a:p>
            <a:pPr algn="ctr"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(a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b)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(c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d)=(a·c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b·d)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其中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: a, b, c, d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为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中任意元素。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证明：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(1)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当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(G,·)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是半群时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,(G×G,*)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是半群；</a:t>
            </a:r>
            <a:endParaRPr lang="en-US" altLang="zh-CN" sz="3000" b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(2)(G,·)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有单位元素时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,(G×G,*)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有单位元素；</a:t>
            </a:r>
            <a:endParaRPr lang="en-US" altLang="zh-CN" sz="3000" b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(3)(G,·)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是群时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,(G×G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，*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是群； </a:t>
            </a:r>
          </a:p>
        </p:txBody>
      </p:sp>
      <p:sp>
        <p:nvSpPr>
          <p:cNvPr id="16282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4CE3315-450C-4BEB-B9F0-65DB5990C453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125</a:t>
            </a:fld>
            <a:endParaRPr lang="en-US" altLang="ko-KR" sz="140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536" y="1279525"/>
            <a:ext cx="8353425" cy="4968875"/>
          </a:xfrm>
        </p:spPr>
        <p:txBody>
          <a:bodyPr/>
          <a:lstStyle/>
          <a:p>
            <a:pPr marL="0" indent="0" algn="just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(1)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证明：</a:t>
            </a:r>
            <a:endParaRPr lang="en-US" altLang="zh-CN" sz="3000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 algn="just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设（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G,·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）是半群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a,b,c,d,e,f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为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中任意元素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</a:p>
          <a:p>
            <a:pPr marL="0" indent="0" algn="just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任取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a,b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), 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c,d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), 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e,f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属于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G×G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，则有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3000" b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a,b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)*(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c,d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3000" b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*(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e,f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)=((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a·c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), 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b·d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))*(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e,f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=((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a·c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)·e, 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b·d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)·f))=(a·(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c·e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), b·(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d·f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))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=(a, b)*</a:t>
            </a:r>
            <a:r>
              <a:rPr lang="en-US" altLang="zh-CN" sz="3000" b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(c, d)*(e, f)</a:t>
            </a:r>
            <a:r>
              <a:rPr lang="en-US" altLang="zh-CN" sz="3000" b="1" dirty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这就证明了当（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G,·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）是半群时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G×G,*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）是</a:t>
            </a:r>
            <a:endParaRPr lang="en-US" altLang="zh-CN" sz="3000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半群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CN" sz="2800" b="1" dirty="0">
              <a:sym typeface="Symbol" panose="05050102010706020507" pitchFamily="18" charset="2"/>
            </a:endParaRPr>
          </a:p>
        </p:txBody>
      </p:sp>
      <p:sp>
        <p:nvSpPr>
          <p:cNvPr id="16384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0729F84-258B-427C-BB6C-97CD2F47FC94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126</a:t>
            </a:fld>
            <a:endParaRPr lang="en-US" altLang="ko-KR" sz="140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23850" y="609600"/>
            <a:ext cx="7772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ker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习题</a:t>
            </a:r>
            <a:r>
              <a:rPr lang="en-US" altLang="zh-CN" ker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6.2-1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 eaLnBrk="1" hangingPunct="1">
              <a:lnSpc>
                <a:spcPct val="125000"/>
              </a:lnSpc>
              <a:spcBef>
                <a:spcPct val="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(2)</a:t>
            </a:r>
            <a:r>
              <a:rPr lang="zh-CN" altLang="en-US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证明：</a:t>
            </a:r>
            <a:endParaRPr lang="en-US" altLang="zh-CN" sz="3000" b="1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 algn="just" eaLnBrk="1" hangingPunct="1">
              <a:lnSpc>
                <a:spcPct val="125000"/>
              </a:lnSpc>
              <a:spcBef>
                <a:spcPct val="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设</a:t>
            </a:r>
            <a:r>
              <a:rPr lang="en-US" altLang="zh-CN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(G,·)</a:t>
            </a:r>
            <a:r>
              <a:rPr lang="zh-CN" altLang="en-US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有单位元素</a:t>
            </a:r>
            <a:r>
              <a:rPr lang="en-US" altLang="zh-CN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000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a,b</a:t>
            </a:r>
            <a:r>
              <a:rPr lang="en-US" altLang="zh-CN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是</a:t>
            </a:r>
            <a:r>
              <a:rPr lang="en-US" altLang="zh-CN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(G×G,*)</a:t>
            </a:r>
            <a:r>
              <a:rPr lang="zh-CN" altLang="en-US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中任意元素</a:t>
            </a:r>
            <a:r>
              <a:rPr lang="en-US" altLang="zh-CN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则有</a:t>
            </a: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000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a,b</a:t>
            </a:r>
            <a:r>
              <a:rPr lang="en-US" altLang="zh-CN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)*(1,1) =(a·1, b·1)=(</a:t>
            </a:r>
            <a:r>
              <a:rPr lang="en-US" altLang="zh-CN" sz="3000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a,b</a:t>
            </a:r>
            <a:r>
              <a:rPr lang="en-US" altLang="zh-CN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zh-CN" altLang="en-US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且</a:t>
            </a: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(1,1)*(</a:t>
            </a:r>
            <a:r>
              <a:rPr lang="en-US" altLang="zh-CN" sz="3000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a,b</a:t>
            </a:r>
            <a:r>
              <a:rPr lang="en-US" altLang="zh-CN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=(1·a, 1·b)=(a, b),  </a:t>
            </a:r>
            <a:r>
              <a:rPr lang="zh-CN" altLang="en-US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故</a:t>
            </a:r>
            <a:r>
              <a:rPr lang="en-US" altLang="zh-CN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(1,1)</a:t>
            </a:r>
            <a:r>
              <a:rPr lang="zh-CN" altLang="en-US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就是</a:t>
            </a: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(G×G</a:t>
            </a:r>
            <a:r>
              <a:rPr lang="zh-CN" altLang="en-US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，*</a:t>
            </a:r>
            <a:r>
              <a:rPr lang="en-US" altLang="zh-CN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的单位元素。</a:t>
            </a:r>
          </a:p>
          <a:p>
            <a:pPr>
              <a:lnSpc>
                <a:spcPct val="125000"/>
              </a:lnSpc>
              <a:defRPr/>
            </a:pPr>
            <a:endParaRPr lang="zh-CN" altLang="en-US" sz="3000" dirty="0">
              <a:ea typeface="宋体" panose="02010600030101010101" pitchFamily="2" charset="-122"/>
            </a:endParaRPr>
          </a:p>
        </p:txBody>
      </p:sp>
      <p:sp>
        <p:nvSpPr>
          <p:cNvPr id="16486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3DF0999-13EF-4AA4-BC49-493D4CBE945D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127</a:t>
            </a:fld>
            <a:endParaRPr lang="en-US" altLang="ko-KR" sz="140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16486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23850" y="609600"/>
            <a:ext cx="7772400" cy="641350"/>
          </a:xfrm>
        </p:spPr>
        <p:txBody>
          <a:bodyPr>
            <a:spAutoFit/>
          </a:bodyPr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习题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6.2-1</a:t>
            </a:r>
            <a:endParaRPr lang="zh-CN" altLang="zh-CN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17513" y="1352550"/>
            <a:ext cx="8424862" cy="4895850"/>
          </a:xfrm>
        </p:spPr>
        <p:txBody>
          <a:bodyPr/>
          <a:lstStyle/>
          <a:p>
            <a:pPr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(3)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证明：</a:t>
            </a:r>
            <a:endParaRPr lang="en-US" altLang="zh-CN" sz="3000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设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(G,·)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是群，往证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:(G×G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，*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是群。</a:t>
            </a:r>
          </a:p>
          <a:p>
            <a:pPr marL="0" indent="0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我们来证明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(G×G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，*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中的任意元素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(a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b)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有逆元素。</a:t>
            </a:r>
          </a:p>
          <a:p>
            <a:pPr marL="0" indent="0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(a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b)*(a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 )= 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a·a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b·b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 ) =(1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1) 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，其中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和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分别是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和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在群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(G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 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·)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中的逆元素。</a:t>
            </a:r>
            <a:endParaRPr lang="en-US" altLang="zh-CN" sz="3000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同样有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 (a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 )*(a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b )= 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="1" baseline="30000" dirty="0" err="1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·a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3000" b="1" baseline="30000" dirty="0" err="1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·b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 )= (1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1) 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</a:p>
          <a:p>
            <a:pPr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这就证明了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(a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 )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是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(a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b)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的逆元素，从而说明</a:t>
            </a:r>
            <a:endParaRPr lang="en-US" altLang="zh-CN" sz="3000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(G×G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，*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是群。 </a:t>
            </a:r>
          </a:p>
        </p:txBody>
      </p:sp>
      <p:sp>
        <p:nvSpPr>
          <p:cNvPr id="16589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6EE7325-2571-4225-904C-6DA959833E79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128</a:t>
            </a:fld>
            <a:endParaRPr lang="en-US" altLang="ko-KR" sz="140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23850" y="609600"/>
            <a:ext cx="7772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习题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6.2-1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341438"/>
            <a:ext cx="8675687" cy="511175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b="1">
                <a:latin typeface="黑体" panose="02010609060101010101" pitchFamily="49" charset="-122"/>
                <a:sym typeface="Symbol" panose="05050102010706020507" pitchFamily="18" charset="2"/>
              </a:rPr>
              <a:t>4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. 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设集合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G={a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c}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上的二元运算表如下：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b="1">
                <a:sym typeface="Symbol" panose="05050102010706020507" pitchFamily="18" charset="2"/>
              </a:rPr>
              <a:t> 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2800" b="1">
              <a:sym typeface="Symbol" panose="05050102010706020507" pitchFamily="18" charset="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2800" b="1">
              <a:sym typeface="Symbol" panose="05050102010706020507" pitchFamily="18" charset="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2800" b="1">
              <a:sym typeface="Symbol" panose="05050102010706020507" pitchFamily="18" charset="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2800" b="1">
              <a:sym typeface="Symbol" panose="05050102010706020507" pitchFamily="18" charset="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2800" b="1">
              <a:sym typeface="Symbol" panose="05050102010706020507" pitchFamily="18" charset="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2800" b="1">
              <a:sym typeface="Symbol" panose="05050102010706020507" pitchFamily="18" charset="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2800" b="1">
              <a:sym typeface="Symbol" panose="05050102010706020507" pitchFamily="18" charset="2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b="1">
                <a:sym typeface="Symbol" panose="05050102010706020507" pitchFamily="18" charset="2"/>
              </a:rPr>
              <a:t> 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则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(G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·)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是否为半群？是否为群？为什么？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解：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(G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·)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是半群，但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(G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·)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不是群，因为</a:t>
            </a:r>
            <a:endParaRPr lang="en-US" altLang="zh-CN" sz="3000" b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元素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没有逆元素</a:t>
            </a:r>
            <a:r>
              <a:rPr lang="zh-CN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</p:txBody>
      </p:sp>
      <p:graphicFrame>
        <p:nvGraphicFramePr>
          <p:cNvPr id="261155" name="Group 35"/>
          <p:cNvGraphicFramePr>
            <a:graphicFrameLocks noGrp="1"/>
          </p:cNvGraphicFramePr>
          <p:nvPr/>
        </p:nvGraphicFramePr>
        <p:xfrm>
          <a:off x="2051050" y="1916113"/>
          <a:ext cx="4419600" cy="2667000"/>
        </p:xfrm>
        <a:graphic>
          <a:graphicData uri="http://schemas.openxmlformats.org/drawingml/2006/table">
            <a:tbl>
              <a:tblPr/>
              <a:tblGrid>
                <a:gridCol w="11049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6667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sym typeface="Symbol" panose="05050102010706020507" pitchFamily="18" charset="2"/>
                        </a:rPr>
                        <a:t>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667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667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667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6694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BC63724-9F60-465F-ACB4-12896E59267F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129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23850" y="609600"/>
            <a:ext cx="7772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习题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6.2-4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8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8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98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98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3200" b="1">
                <a:ea typeface="楷体" panose="02010609060101010101" pitchFamily="49" charset="-122"/>
                <a:cs typeface="Times New Roman" panose="02020603050405020304" pitchFamily="18" charset="0"/>
              </a:rPr>
              <a:t>计算</a:t>
            </a:r>
            <a:r>
              <a:rPr lang="en-US" altLang="zh-CN" sz="3200" b="1">
                <a:ea typeface="楷体" panose="02010609060101010101" pitchFamily="49" charset="-122"/>
                <a:cs typeface="Times New Roman" panose="02020603050405020304" pitchFamily="18" charset="0"/>
              </a:rPr>
              <a:t>(1 2 3)(2 3 4)(1 4)(2 3)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3200" b="1">
                <a:ea typeface="楷体" panose="02010609060101010101" pitchFamily="49" charset="-122"/>
                <a:cs typeface="Times New Roman" panose="02020603050405020304" pitchFamily="18" charset="0"/>
              </a:rPr>
              <a:t>=(1 3 )(2 4)</a:t>
            </a:r>
            <a:endParaRPr lang="zh-CN" altLang="en-US" sz="3200" b="1"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793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A125A06-C759-489C-AB4E-DF63F1A08098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130</a:t>
            </a:fld>
            <a:endParaRPr lang="en-US" altLang="ko-KR" sz="140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23850" y="609600"/>
            <a:ext cx="7772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习题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6.2-5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>
    <p:random/>
  </p:transition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标题 1"/>
          <p:cNvSpPr>
            <a:spLocks noGrp="1"/>
          </p:cNvSpPr>
          <p:nvPr>
            <p:ph type="title"/>
          </p:nvPr>
        </p:nvSpPr>
        <p:spPr>
          <a:xfrm>
            <a:off x="536575" y="404813"/>
            <a:ext cx="8020050" cy="889000"/>
          </a:xfrm>
        </p:spPr>
        <p:txBody>
          <a:bodyPr/>
          <a:lstStyle/>
          <a:p>
            <a:r>
              <a:rPr lang="zh-CN" altLang="en-US">
                <a:solidFill>
                  <a:srgbClr val="000099"/>
                </a:solidFill>
              </a:rPr>
              <a:t>习题</a:t>
            </a:r>
          </a:p>
        </p:txBody>
      </p:sp>
      <p:sp>
        <p:nvSpPr>
          <p:cNvPr id="71683" name="内容占位符 2"/>
          <p:cNvSpPr>
            <a:spLocks noGrp="1"/>
          </p:cNvSpPr>
          <p:nvPr>
            <p:ph idx="1"/>
          </p:nvPr>
        </p:nvSpPr>
        <p:spPr>
          <a:xfrm>
            <a:off x="395288" y="1155700"/>
            <a:ext cx="8301037" cy="5256213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0000FF"/>
                </a:solidFill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  <a:ea typeface="宋体" panose="02010600030101010101" pitchFamily="2" charset="-122"/>
              </a:rPr>
              <a:t>、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给定整数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，令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G={</a:t>
            </a:r>
            <a:r>
              <a:rPr lang="en-US" altLang="zh-CN" sz="28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km|k∈Z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，证明：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(G,+)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是一个群。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证明：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(1)G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非空，至少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0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∈G</a:t>
            </a:r>
          </a:p>
          <a:p>
            <a:pPr marL="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对于任意</a:t>
            </a:r>
            <a:r>
              <a:rPr lang="en-US" altLang="zh-CN" sz="28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x,y∈G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,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存在</a:t>
            </a:r>
            <a:r>
              <a:rPr lang="en-US" altLang="zh-CN" sz="28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k,l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，使得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x=km ,y=lm ,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由于</a:t>
            </a:r>
            <a:r>
              <a:rPr lang="en-US" altLang="zh-CN" sz="28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k+l∈Z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，因此，</a:t>
            </a:r>
            <a:r>
              <a:rPr lang="en-US" altLang="zh-CN" sz="28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x+y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8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km+lm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=(</a:t>
            </a:r>
            <a:r>
              <a:rPr lang="en-US" altLang="zh-CN" sz="28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k+l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8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m∈G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,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封闭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由整数运算性质，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满足结合律。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None/>
              <a:defRPr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有左壹：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0m=0∈G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使得对任意</a:t>
            </a:r>
            <a:r>
              <a:rPr lang="en-US" altLang="zh-CN" sz="28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x∈G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，有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0+x=x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(5)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有左逆：对任意</a:t>
            </a:r>
            <a:r>
              <a:rPr lang="en-US" altLang="zh-CN" sz="28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x∈G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，存在</a:t>
            </a:r>
            <a:r>
              <a:rPr lang="en-US" altLang="zh-CN" sz="28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k∈Z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，使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x=km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，因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28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k∈Z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故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-x=(-k)m ∈G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且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(-x)+x=0 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因此，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(G,+)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为群。</a:t>
            </a:r>
          </a:p>
        </p:txBody>
      </p:sp>
      <p:sp>
        <p:nvSpPr>
          <p:cNvPr id="16896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15C029C-3C59-40F9-8883-0406053A2B58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131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188" y="620713"/>
            <a:ext cx="8301037" cy="5761037"/>
          </a:xfrm>
        </p:spPr>
        <p:txBody>
          <a:bodyPr/>
          <a:lstStyle/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solidFill>
                  <a:srgbClr val="0000FF"/>
                </a:solidFill>
                <a:ea typeface="宋体" panose="02010600030101010101" pitchFamily="2" charset="-122"/>
              </a:rPr>
              <a:t>2</a:t>
            </a: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、</a:t>
            </a:r>
            <a:r>
              <a:rPr lang="zh-CN" altLang="en-US" sz="3000" b="1" dirty="0">
                <a:ea typeface="宋体" panose="02010600030101010101" pitchFamily="2" charset="-122"/>
              </a:rPr>
              <a:t>设</a:t>
            </a:r>
            <a:r>
              <a:rPr lang="en-US" altLang="zh-CN" sz="3000" b="1" dirty="0">
                <a:ea typeface="宋体" panose="02010600030101010101" pitchFamily="2" charset="-122"/>
              </a:rPr>
              <a:t>(G , .)</a:t>
            </a:r>
            <a:r>
              <a:rPr lang="zh-CN" altLang="en-US" sz="3000" b="1" dirty="0">
                <a:ea typeface="宋体" panose="02010600030101010101" pitchFamily="2" charset="-122"/>
              </a:rPr>
              <a:t>是一个群，</a:t>
            </a:r>
            <a:r>
              <a:rPr lang="en-US" altLang="zh-CN" sz="3000" b="1" dirty="0" err="1">
                <a:ea typeface="宋体" panose="02010600030101010101" pitchFamily="2" charset="-122"/>
              </a:rPr>
              <a:t>x,y</a:t>
            </a:r>
            <a:r>
              <a:rPr lang="en-US" altLang="zh-CN" sz="3000" b="1" dirty="0">
                <a:ea typeface="宋体" panose="02010600030101010101" pitchFamily="2" charset="-122"/>
              </a:rPr>
              <a:t> ∈G, k</a:t>
            </a:r>
            <a:r>
              <a:rPr lang="zh-CN" altLang="en-US" sz="3000" b="1" dirty="0">
                <a:ea typeface="宋体" panose="02010600030101010101" pitchFamily="2" charset="-122"/>
              </a:rPr>
              <a:t>是一个正整数</a:t>
            </a:r>
            <a:r>
              <a:rPr lang="en-US" altLang="zh-CN" sz="3000" b="1" dirty="0">
                <a:ea typeface="宋体" panose="02010600030101010101" pitchFamily="2" charset="-122"/>
              </a:rPr>
              <a:t>.</a:t>
            </a:r>
            <a:r>
              <a:rPr lang="zh-CN" altLang="en-US" sz="3000" b="1" dirty="0">
                <a:ea typeface="宋体" panose="02010600030101010101" pitchFamily="2" charset="-122"/>
              </a:rPr>
              <a:t>证明</a:t>
            </a:r>
            <a:r>
              <a:rPr lang="en-US" altLang="zh-CN" sz="3000" b="1" dirty="0">
                <a:ea typeface="宋体" panose="02010600030101010101" pitchFamily="2" charset="-122"/>
              </a:rPr>
              <a:t>:(x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</a:rPr>
              <a:t>·y·x)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k</a:t>
            </a:r>
            <a:r>
              <a:rPr lang="en-US" altLang="zh-CN" sz="3000" b="1" dirty="0">
                <a:ea typeface="宋体" panose="02010600030101010101" pitchFamily="2" charset="-122"/>
              </a:rPr>
              <a:t> =x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</a:rPr>
              <a:t> y· x</a:t>
            </a:r>
            <a:r>
              <a:rPr lang="zh-CN" altLang="en-US" sz="3000" b="1" dirty="0">
                <a:ea typeface="宋体" panose="02010600030101010101" pitchFamily="2" charset="-122"/>
              </a:rPr>
              <a:t>的充要条件是</a:t>
            </a:r>
            <a:r>
              <a:rPr lang="en-US" altLang="zh-CN" sz="3000" b="1" dirty="0" err="1">
                <a:ea typeface="宋体" panose="02010600030101010101" pitchFamily="2" charset="-122"/>
              </a:rPr>
              <a:t>y</a:t>
            </a:r>
            <a:r>
              <a:rPr lang="en-US" altLang="zh-CN" sz="3000" b="1" baseline="30000" dirty="0" err="1">
                <a:ea typeface="宋体" panose="02010600030101010101" pitchFamily="2" charset="-122"/>
              </a:rPr>
              <a:t>k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 </a:t>
            </a:r>
            <a:r>
              <a:rPr lang="en-US" altLang="zh-CN" sz="3000" b="1" dirty="0">
                <a:ea typeface="宋体" panose="02010600030101010101" pitchFamily="2" charset="-122"/>
              </a:rPr>
              <a:t>=y.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证明：</a:t>
            </a:r>
            <a:endParaRPr lang="en-US" altLang="zh-CN" sz="3000" b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a typeface="宋体" panose="02010600030101010101" pitchFamily="2" charset="-122"/>
              </a:rPr>
              <a:t>(x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</a:rPr>
              <a:t>·y·x)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k</a:t>
            </a:r>
            <a:r>
              <a:rPr lang="en-US" altLang="zh-CN" sz="3000" b="1" dirty="0">
                <a:ea typeface="宋体" panose="02010600030101010101" pitchFamily="2" charset="-122"/>
              </a:rPr>
              <a:t>=(x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</a:rPr>
              <a:t>·y·x) · (x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</a:rPr>
              <a:t>·y·x) ·…·(x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</a:rPr>
              <a:t>·y·x)</a:t>
            </a:r>
            <a:endParaRPr lang="zh-CN" altLang="zh-CN" sz="3000" b="1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a typeface="宋体" panose="02010600030101010101" pitchFamily="2" charset="-122"/>
              </a:rPr>
              <a:t>              =( x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</a:rPr>
              <a:t>·y) ·(x·x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</a:rPr>
              <a:t>) ·y·(x·x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</a:rPr>
              <a:t>) ·…·(x·x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</a:rPr>
              <a:t>) ·</a:t>
            </a:r>
            <a:r>
              <a:rPr lang="en-US" altLang="zh-CN" sz="3000" b="1" dirty="0" err="1">
                <a:ea typeface="宋体" panose="02010600030101010101" pitchFamily="2" charset="-122"/>
              </a:rPr>
              <a:t>y·x</a:t>
            </a:r>
            <a:endParaRPr lang="zh-CN" altLang="zh-CN" sz="3000" b="1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a typeface="宋体" panose="02010600030101010101" pitchFamily="2" charset="-122"/>
              </a:rPr>
              <a:t>              = x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</a:rPr>
              <a:t> </a:t>
            </a:r>
            <a:r>
              <a:rPr lang="en-US" altLang="zh-CN" sz="3000" b="1" dirty="0" err="1">
                <a:ea typeface="宋体" panose="02010600030101010101" pitchFamily="2" charset="-122"/>
              </a:rPr>
              <a:t>y</a:t>
            </a:r>
            <a:r>
              <a:rPr lang="en-US" altLang="zh-CN" sz="3000" b="1" baseline="30000" dirty="0" err="1">
                <a:ea typeface="宋体" panose="02010600030101010101" pitchFamily="2" charset="-122"/>
              </a:rPr>
              <a:t>k</a:t>
            </a:r>
            <a:r>
              <a:rPr lang="en-US" altLang="zh-CN" sz="3000" b="1" dirty="0" err="1">
                <a:ea typeface="宋体" panose="02010600030101010101" pitchFamily="2" charset="-122"/>
              </a:rPr>
              <a:t>x</a:t>
            </a:r>
            <a:r>
              <a:rPr lang="en-US" altLang="zh-CN" sz="3000" b="1" dirty="0">
                <a:ea typeface="宋体" panose="02010600030101010101" pitchFamily="2" charset="-122"/>
              </a:rPr>
              <a:t>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ea typeface="宋体" panose="02010600030101010101" pitchFamily="2" charset="-122"/>
              </a:rPr>
              <a:t>由上述等式，显然有</a:t>
            </a:r>
            <a:endParaRPr lang="en-US" altLang="zh-CN" sz="3000" b="1" dirty="0">
              <a:ea typeface="宋体" panose="02010600030101010101" pitchFamily="2" charset="-122"/>
            </a:endParaRPr>
          </a:p>
          <a:p>
            <a:pPr marL="800100" indent="-171450"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a typeface="宋体" panose="02010600030101010101" pitchFamily="2" charset="-122"/>
              </a:rPr>
              <a:t>(x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</a:rPr>
              <a:t>·y·x)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k</a:t>
            </a:r>
            <a:r>
              <a:rPr lang="en-US" altLang="zh-CN" sz="3000" b="1" dirty="0">
                <a:ea typeface="宋体" panose="02010600030101010101" pitchFamily="2" charset="-122"/>
              </a:rPr>
              <a:t> =x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</a:rPr>
              <a:t> y· x </a:t>
            </a:r>
            <a:r>
              <a:rPr lang="en-US" altLang="zh-CN" sz="3000" b="1" dirty="0" err="1">
                <a:ea typeface="宋体" panose="02010600030101010101" pitchFamily="2" charset="-122"/>
              </a:rPr>
              <a:t>iff</a:t>
            </a:r>
            <a:endParaRPr lang="en-US" altLang="zh-CN" sz="3000" b="1" dirty="0">
              <a:ea typeface="宋体" panose="02010600030101010101" pitchFamily="2" charset="-122"/>
            </a:endParaRPr>
          </a:p>
          <a:p>
            <a:pPr marL="800100" indent="-171450"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a typeface="宋体" panose="02010600030101010101" pitchFamily="2" charset="-122"/>
              </a:rPr>
              <a:t>x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</a:rPr>
              <a:t> </a:t>
            </a:r>
            <a:r>
              <a:rPr lang="en-US" altLang="zh-CN" sz="3000" b="1" dirty="0" err="1">
                <a:ea typeface="宋体" panose="02010600030101010101" pitchFamily="2" charset="-122"/>
              </a:rPr>
              <a:t>y</a:t>
            </a:r>
            <a:r>
              <a:rPr lang="en-US" altLang="zh-CN" sz="3000" b="1" baseline="30000" dirty="0" err="1">
                <a:ea typeface="宋体" panose="02010600030101010101" pitchFamily="2" charset="-122"/>
              </a:rPr>
              <a:t>k</a:t>
            </a:r>
            <a:r>
              <a:rPr lang="en-US" altLang="zh-CN" sz="3000" b="1" dirty="0">
                <a:ea typeface="宋体" panose="02010600030101010101" pitchFamily="2" charset="-122"/>
              </a:rPr>
              <a:t>· x=x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</a:rPr>
              <a:t> y· x </a:t>
            </a:r>
            <a:r>
              <a:rPr lang="en-US" altLang="zh-CN" sz="3000" b="1" dirty="0" err="1">
                <a:ea typeface="宋体" panose="02010600030101010101" pitchFamily="2" charset="-122"/>
              </a:rPr>
              <a:t>iff</a:t>
            </a:r>
            <a:endParaRPr lang="en-US" altLang="zh-CN" sz="3000" b="1" dirty="0">
              <a:ea typeface="宋体" panose="02010600030101010101" pitchFamily="2" charset="-122"/>
            </a:endParaRPr>
          </a:p>
          <a:p>
            <a:pPr marL="800100" indent="-171450">
              <a:buFont typeface="Wingdings" panose="05000000000000000000" pitchFamily="2" charset="2"/>
              <a:buNone/>
              <a:defRPr/>
            </a:pPr>
            <a:r>
              <a:rPr lang="en-US" altLang="zh-CN" sz="3000" b="1" dirty="0" err="1">
                <a:ea typeface="宋体" panose="02010600030101010101" pitchFamily="2" charset="-122"/>
              </a:rPr>
              <a:t>y</a:t>
            </a:r>
            <a:r>
              <a:rPr lang="en-US" altLang="zh-CN" sz="3000" b="1" baseline="30000" dirty="0" err="1">
                <a:ea typeface="宋体" panose="02010600030101010101" pitchFamily="2" charset="-122"/>
              </a:rPr>
              <a:t>k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 </a:t>
            </a:r>
            <a:r>
              <a:rPr lang="en-US" altLang="zh-CN" sz="3000" b="1" dirty="0">
                <a:ea typeface="宋体" panose="02010600030101010101" pitchFamily="2" charset="-122"/>
              </a:rPr>
              <a:t>=y</a:t>
            </a:r>
            <a:endParaRPr lang="zh-CN" altLang="zh-CN" sz="3000" b="1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zh-CN" altLang="en-US" sz="2800" b="1" dirty="0"/>
          </a:p>
        </p:txBody>
      </p:sp>
      <p:sp>
        <p:nvSpPr>
          <p:cNvPr id="16998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6D2CCCF-18A7-45CE-8B79-9A01091A43A3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132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内容占位符 2"/>
          <p:cNvSpPr>
            <a:spLocks noGrp="1"/>
          </p:cNvSpPr>
          <p:nvPr>
            <p:ph idx="1"/>
          </p:nvPr>
        </p:nvSpPr>
        <p:spPr>
          <a:xfrm>
            <a:off x="468313" y="549275"/>
            <a:ext cx="8301037" cy="5903913"/>
          </a:xfrm>
        </p:spPr>
        <p:txBody>
          <a:bodyPr/>
          <a:lstStyle/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3000" b="1" dirty="0">
                <a:solidFill>
                  <a:srgbClr val="0000FF"/>
                </a:solidFill>
                <a:ea typeface="宋体" panose="02010600030101010101" pitchFamily="2" charset="-122"/>
              </a:rPr>
              <a:t>3</a:t>
            </a: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、</a:t>
            </a:r>
            <a:r>
              <a:rPr lang="zh-CN" altLang="en-US" sz="3000" b="1" dirty="0">
                <a:ea typeface="宋体" panose="02010600030101010101" pitchFamily="2" charset="-122"/>
              </a:rPr>
              <a:t>在整数</a:t>
            </a:r>
            <a:r>
              <a:rPr lang="en-US" altLang="zh-CN" sz="3000" b="1" dirty="0">
                <a:ea typeface="宋体" panose="02010600030101010101" pitchFamily="2" charset="-122"/>
              </a:rPr>
              <a:t>Z</a:t>
            </a:r>
            <a:r>
              <a:rPr lang="zh-CN" altLang="en-US" sz="3000" b="1" dirty="0">
                <a:ea typeface="宋体" panose="02010600030101010101" pitchFamily="2" charset="-122"/>
              </a:rPr>
              <a:t>上定义运算</a:t>
            </a:r>
            <a:r>
              <a:rPr lang="en-US" altLang="zh-CN" sz="3000" b="1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•</a:t>
            </a:r>
            <a:r>
              <a:rPr lang="zh-CN" altLang="en-US" sz="3000" b="1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如下：对任意</a:t>
            </a:r>
            <a:r>
              <a:rPr lang="en-US" altLang="zh-CN" sz="3000" b="1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3000" b="1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000" b="1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3000" b="1" dirty="0">
                <a:ea typeface="宋体" panose="02010600030101010101" pitchFamily="2" charset="-122"/>
              </a:rPr>
              <a:t> ∈Z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a•b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=a+b-2 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。证明：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000" b="1" dirty="0">
                <a:ea typeface="宋体" panose="02010600030101010101" pitchFamily="2" charset="-122"/>
              </a:rPr>
              <a:t>Z,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 •)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是一个群。</a:t>
            </a:r>
            <a:endParaRPr lang="en-US" altLang="zh-CN" sz="3000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125000"/>
              </a:lnSpc>
              <a:buNone/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证明：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(1)Z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非空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3000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(2)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任意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3000" b="1" dirty="0" err="1">
                <a:ea typeface="宋体" panose="02010600030101010101" pitchFamily="2" charset="-122"/>
              </a:rPr>
              <a:t>∈Z</a:t>
            </a:r>
            <a:r>
              <a:rPr lang="zh-CN" altLang="en-US" sz="3000" b="1" dirty="0">
                <a:ea typeface="宋体" panose="02010600030101010101" pitchFamily="2" charset="-122"/>
              </a:rPr>
              <a:t>，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a•b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=a+b-2 </a:t>
            </a:r>
            <a:r>
              <a:rPr lang="en-US" altLang="zh-CN" sz="3000" b="1" dirty="0">
                <a:ea typeface="宋体" panose="02010600030101010101" pitchFamily="2" charset="-122"/>
              </a:rPr>
              <a:t>∈Z</a:t>
            </a:r>
            <a:r>
              <a:rPr lang="zh-CN" altLang="en-US" sz="3000" b="1" dirty="0">
                <a:ea typeface="宋体" panose="02010600030101010101" pitchFamily="2" charset="-122"/>
              </a:rPr>
              <a:t>，封闭</a:t>
            </a:r>
            <a:endParaRPr lang="en-US" altLang="zh-CN" sz="3000" b="1" dirty="0"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3000" b="1" dirty="0">
                <a:ea typeface="宋体" panose="02010600030101010101" pitchFamily="2" charset="-122"/>
              </a:rPr>
              <a:t>(3)</a:t>
            </a:r>
            <a:r>
              <a:rPr lang="zh-CN" altLang="en-US" sz="3000" b="1" dirty="0">
                <a:ea typeface="宋体" panose="02010600030101010101" pitchFamily="2" charset="-122"/>
              </a:rPr>
              <a:t>任取</a:t>
            </a:r>
            <a:r>
              <a:rPr lang="en-US" altLang="zh-CN" sz="3000" b="1" dirty="0" err="1">
                <a:ea typeface="宋体" panose="02010600030101010101" pitchFamily="2" charset="-122"/>
              </a:rPr>
              <a:t>a,b,c</a:t>
            </a:r>
            <a:r>
              <a:rPr lang="en-US" altLang="zh-CN" sz="3000" b="1" dirty="0">
                <a:ea typeface="宋体" panose="02010600030101010101" pitchFamily="2" charset="-122"/>
              </a:rPr>
              <a:t> ∈Z,</a:t>
            </a:r>
            <a:r>
              <a:rPr lang="zh-CN" altLang="en-US" sz="3000" b="1" dirty="0">
                <a:ea typeface="宋体" panose="02010600030101010101" pitchFamily="2" charset="-122"/>
              </a:rPr>
              <a:t>有</a:t>
            </a:r>
            <a:r>
              <a:rPr lang="en-US" altLang="zh-CN" sz="3000" b="1" dirty="0">
                <a:ea typeface="宋体" panose="02010600030101010101" pitchFamily="2" charset="-122"/>
              </a:rPr>
              <a:t>(</a:t>
            </a:r>
            <a:r>
              <a:rPr lang="en-US" altLang="zh-CN" sz="3000" b="1" dirty="0" err="1">
                <a:ea typeface="宋体" panose="02010600030101010101" pitchFamily="2" charset="-122"/>
              </a:rPr>
              <a:t>a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•b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 •c=a+b-2+c-2=a+b+c-4</a:t>
            </a: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a•(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b•c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)=a+(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b•c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)-2=a+(b+c-2)-2=a+b+c-4   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结合律</a:t>
            </a:r>
            <a:endParaRPr lang="en-US" altLang="zh-CN" sz="3000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(4)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有左壹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3000" b="1" dirty="0">
                <a:ea typeface="宋体" panose="02010600030101010101" pitchFamily="2" charset="-122"/>
              </a:rPr>
              <a:t> ∈Z 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：对任意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="1" dirty="0" err="1">
                <a:ea typeface="宋体" panose="02010600030101010101" pitchFamily="2" charset="-122"/>
              </a:rPr>
              <a:t>∈Z</a:t>
            </a:r>
            <a:r>
              <a:rPr lang="zh-CN" altLang="en-US" sz="3000" b="1" dirty="0">
                <a:ea typeface="宋体" panose="02010600030101010101" pitchFamily="2" charset="-122"/>
              </a:rPr>
              <a:t>，有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2•a=2+a-2=a  </a:t>
            </a: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(5)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有左逆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4-a</a:t>
            </a:r>
            <a:r>
              <a:rPr lang="en-US" altLang="zh-CN" sz="3000" b="1" dirty="0">
                <a:ea typeface="宋体" panose="02010600030101010101" pitchFamily="2" charset="-122"/>
              </a:rPr>
              <a:t> ∈Z 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对任意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="1" dirty="0" err="1">
                <a:ea typeface="宋体" panose="02010600030101010101" pitchFamily="2" charset="-122"/>
              </a:rPr>
              <a:t>∈Z</a:t>
            </a:r>
            <a:r>
              <a:rPr lang="zh-CN" altLang="en-US" sz="3000" b="1" dirty="0">
                <a:ea typeface="宋体" panose="02010600030101010101" pitchFamily="2" charset="-122"/>
              </a:rPr>
              <a:t>，有</a:t>
            </a:r>
            <a:r>
              <a:rPr lang="en-US" altLang="zh-CN" sz="3000" b="1" dirty="0">
                <a:ea typeface="宋体" panose="02010600030101010101" pitchFamily="2" charset="-122"/>
              </a:rPr>
              <a:t>(4-a)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 •a=(</a:t>
            </a:r>
            <a:r>
              <a:rPr lang="en-US" altLang="zh-CN" sz="3000" b="1" dirty="0">
                <a:ea typeface="宋体" panose="02010600030101010101" pitchFamily="2" charset="-122"/>
              </a:rPr>
              <a:t>4-a)+a-2=2        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因此，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000" b="1" dirty="0">
                <a:ea typeface="宋体" panose="02010600030101010101" pitchFamily="2" charset="-122"/>
              </a:rPr>
              <a:t>Z,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 •)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是一个群</a:t>
            </a:r>
            <a:endParaRPr lang="en-US" altLang="zh-CN" sz="3000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17101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F716D68-28EC-4D41-B20A-79A1990FA8C8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133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7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7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7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7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7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37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37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37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37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37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37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37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内容占位符 2"/>
          <p:cNvSpPr>
            <a:spLocks noGrp="1"/>
          </p:cNvSpPr>
          <p:nvPr>
            <p:ph idx="1"/>
          </p:nvPr>
        </p:nvSpPr>
        <p:spPr>
          <a:xfrm>
            <a:off x="561975" y="765175"/>
            <a:ext cx="8301038" cy="5283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4</a:t>
            </a: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、</a:t>
            </a:r>
            <a:r>
              <a:rPr lang="zh-CN" altLang="en-US" sz="3000" b="1" dirty="0">
                <a:ea typeface="宋体" panose="02010600030101010101" pitchFamily="2" charset="-122"/>
              </a:rPr>
              <a:t>设</a:t>
            </a:r>
            <a:r>
              <a:rPr lang="en-US" altLang="zh-CN" sz="3000" b="1" dirty="0">
                <a:ea typeface="宋体" panose="02010600030101010101" pitchFamily="2" charset="-122"/>
              </a:rPr>
              <a:t>(G,</a:t>
            </a:r>
            <a:r>
              <a:rPr lang="en-US" altLang="zh-CN" sz="3000" b="1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•)</a:t>
            </a:r>
            <a:r>
              <a:rPr lang="zh-CN" altLang="en-US" sz="3000" b="1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是一个群，若群</a:t>
            </a:r>
            <a:r>
              <a:rPr lang="en-US" altLang="zh-CN" sz="3000" b="1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sz="3000" b="1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的每一个元素都满足方程</a:t>
            </a:r>
            <a:r>
              <a:rPr lang="en-US" altLang="zh-CN" sz="3000" b="1" dirty="0">
                <a:ea typeface="宋体" panose="02010600030101010101" pitchFamily="2" charset="-122"/>
              </a:rPr>
              <a:t>x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2</a:t>
            </a:r>
            <a:r>
              <a:rPr lang="en-US" altLang="zh-CN" sz="3000" b="1" dirty="0">
                <a:ea typeface="宋体" panose="02010600030101010101" pitchFamily="2" charset="-122"/>
              </a:rPr>
              <a:t>=1</a:t>
            </a:r>
            <a:r>
              <a:rPr lang="zh-CN" altLang="en-US" sz="3000" b="1" dirty="0">
                <a:ea typeface="宋体" panose="02010600030101010101" pitchFamily="2" charset="-122"/>
              </a:rPr>
              <a:t>（</a:t>
            </a:r>
            <a:r>
              <a:rPr lang="en-US" altLang="zh-CN" sz="3000" b="1" dirty="0">
                <a:ea typeface="宋体" panose="02010600030101010101" pitchFamily="2" charset="-122"/>
              </a:rPr>
              <a:t>1</a:t>
            </a:r>
            <a:r>
              <a:rPr lang="zh-CN" altLang="en-US" sz="3000" b="1" dirty="0">
                <a:ea typeface="宋体" panose="02010600030101010101" pitchFamily="2" charset="-122"/>
              </a:rPr>
              <a:t>为单位元），那么</a:t>
            </a:r>
            <a:r>
              <a:rPr lang="en-US" altLang="zh-CN" sz="3000" b="1" dirty="0">
                <a:ea typeface="宋体" panose="02010600030101010101" pitchFamily="2" charset="-122"/>
              </a:rPr>
              <a:t>G</a:t>
            </a:r>
            <a:r>
              <a:rPr lang="zh-CN" altLang="en-US" sz="3000" b="1" dirty="0">
                <a:ea typeface="宋体" panose="02010600030101010101" pitchFamily="2" charset="-122"/>
              </a:rPr>
              <a:t>是</a:t>
            </a:r>
            <a:r>
              <a:rPr lang="en-US" altLang="zh-CN" sz="3000" b="1" dirty="0">
                <a:ea typeface="宋体" panose="02010600030101010101" pitchFamily="2" charset="-122"/>
              </a:rPr>
              <a:t>Abel</a:t>
            </a:r>
            <a:r>
              <a:rPr lang="zh-CN" altLang="en-US" sz="3000" b="1" dirty="0">
                <a:ea typeface="宋体" panose="02010600030101010101" pitchFamily="2" charset="-122"/>
              </a:rPr>
              <a:t>群。</a:t>
            </a:r>
            <a:endParaRPr lang="en-US" altLang="zh-CN" sz="3000" b="1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证法一：</a:t>
            </a:r>
            <a:r>
              <a:rPr lang="zh-CN" altLang="en-US" sz="3200" b="1" dirty="0">
                <a:ea typeface="宋体" panose="02010600030101010101" pitchFamily="2" charset="-122"/>
              </a:rPr>
              <a:t>对任意</a:t>
            </a:r>
            <a:r>
              <a:rPr lang="en-US" altLang="zh-CN" sz="3200" b="1" dirty="0">
                <a:ea typeface="宋体" panose="02010600030101010101" pitchFamily="2" charset="-122"/>
              </a:rPr>
              <a:t>a</a:t>
            </a:r>
            <a:r>
              <a:rPr lang="zh-CN" altLang="en-US" sz="3200" b="1" dirty="0">
                <a:ea typeface="宋体" panose="02010600030101010101" pitchFamily="2" charset="-122"/>
              </a:rPr>
              <a:t>，</a:t>
            </a:r>
            <a:r>
              <a:rPr lang="en-US" altLang="zh-CN" sz="3200" b="1" dirty="0">
                <a:ea typeface="宋体" panose="02010600030101010101" pitchFamily="2" charset="-122"/>
              </a:rPr>
              <a:t>b ∈G</a:t>
            </a:r>
            <a:r>
              <a:rPr lang="zh-CN" altLang="en-US" sz="3200" b="1" dirty="0">
                <a:ea typeface="宋体" panose="02010600030101010101" pitchFamily="2" charset="-122"/>
              </a:rPr>
              <a:t>，</a:t>
            </a:r>
            <a:endParaRPr lang="en-US" altLang="zh-CN" sz="3200" b="1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b="1" dirty="0" err="1">
                <a:ea typeface="宋体" panose="02010600030101010101" pitchFamily="2" charset="-122"/>
              </a:rPr>
              <a:t>a</a:t>
            </a:r>
            <a:r>
              <a:rPr lang="en-US" altLang="zh-CN" sz="3200" b="1" dirty="0" err="1"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lang="en-US" altLang="zh-CN" sz="3200" b="1" dirty="0" err="1">
                <a:ea typeface="宋体" panose="02010600030101010101" pitchFamily="2" charset="-122"/>
              </a:rPr>
              <a:t>b</a:t>
            </a:r>
            <a:r>
              <a:rPr lang="en-US" altLang="zh-CN" sz="3200" b="1" dirty="0">
                <a:ea typeface="宋体" panose="02010600030101010101" pitchFamily="2" charset="-122"/>
              </a:rPr>
              <a:t>=a</a:t>
            </a:r>
            <a:r>
              <a:rPr lang="en-US" altLang="zh-CN" sz="3200" b="1" dirty="0">
                <a:ea typeface="宋体" panose="02010600030101010101" pitchFamily="2" charset="-122"/>
                <a:sym typeface="Symbol" panose="05050102010706020507" pitchFamily="18" charset="2"/>
              </a:rPr>
              <a:t>•1•</a:t>
            </a:r>
            <a:r>
              <a:rPr lang="en-US" altLang="zh-CN" sz="3200" b="1" dirty="0">
                <a:ea typeface="宋体" panose="02010600030101010101" pitchFamily="2" charset="-122"/>
              </a:rPr>
              <a:t>b</a:t>
            </a:r>
            <a:r>
              <a:rPr lang="en-US" altLang="zh-CN" sz="3200" b="1" dirty="0"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en-US" altLang="zh-CN" sz="3200" b="1" dirty="0">
                <a:ea typeface="宋体" panose="02010600030101010101" pitchFamily="2" charset="-122"/>
              </a:rPr>
              <a:t>a</a:t>
            </a:r>
            <a:r>
              <a:rPr lang="en-US" altLang="zh-CN" sz="3200" b="1" dirty="0"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lang="en-US" altLang="zh-CN" sz="3200" b="1" dirty="0">
                <a:ea typeface="宋体" panose="02010600030101010101" pitchFamily="2" charset="-122"/>
              </a:rPr>
              <a:t> (</a:t>
            </a:r>
            <a:r>
              <a:rPr lang="en-US" altLang="zh-CN" sz="3200" b="1" dirty="0" err="1">
                <a:ea typeface="宋体" panose="02010600030101010101" pitchFamily="2" charset="-122"/>
              </a:rPr>
              <a:t>a•b</a:t>
            </a:r>
            <a:r>
              <a:rPr lang="en-US" altLang="zh-CN" sz="3200" b="1" dirty="0">
                <a:ea typeface="宋体" panose="02010600030101010101" pitchFamily="2" charset="-122"/>
              </a:rPr>
              <a:t>)</a:t>
            </a:r>
            <a:r>
              <a:rPr lang="en-US" altLang="zh-CN" sz="3200" b="1" baseline="30000" dirty="0">
                <a:ea typeface="宋体" panose="02010600030101010101" pitchFamily="2" charset="-122"/>
              </a:rPr>
              <a:t>2</a:t>
            </a:r>
            <a:r>
              <a:rPr lang="en-US" altLang="zh-CN" sz="3200" b="1" dirty="0"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lang="en-US" altLang="zh-CN" sz="3200" b="1" dirty="0">
                <a:ea typeface="宋体" panose="02010600030101010101" pitchFamily="2" charset="-122"/>
              </a:rPr>
              <a:t> b=a</a:t>
            </a:r>
            <a:r>
              <a:rPr lang="en-US" altLang="zh-CN" sz="3200" b="1" dirty="0">
                <a:ea typeface="宋体" panose="02010600030101010101" pitchFamily="2" charset="-122"/>
                <a:sym typeface="Symbol" panose="05050102010706020507" pitchFamily="18" charset="2"/>
              </a:rPr>
              <a:t>•(</a:t>
            </a:r>
            <a:r>
              <a:rPr lang="en-US" altLang="zh-CN" sz="3200" b="1" dirty="0" err="1">
                <a:ea typeface="宋体" panose="02010600030101010101" pitchFamily="2" charset="-122"/>
              </a:rPr>
              <a:t>a•b</a:t>
            </a:r>
            <a:r>
              <a:rPr lang="en-US" altLang="zh-CN" sz="3200" b="1" dirty="0" err="1"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lang="en-US" altLang="zh-CN" sz="3200" b="1" dirty="0" err="1">
                <a:ea typeface="宋体" panose="02010600030101010101" pitchFamily="2" charset="-122"/>
              </a:rPr>
              <a:t>a•b</a:t>
            </a:r>
            <a:r>
              <a:rPr lang="en-US" altLang="zh-CN" sz="3200" b="1" dirty="0">
                <a:ea typeface="宋体" panose="02010600030101010101" pitchFamily="2" charset="-122"/>
                <a:sym typeface="Symbol" panose="05050102010706020507" pitchFamily="18" charset="2"/>
              </a:rPr>
              <a:t>) •</a:t>
            </a:r>
            <a:r>
              <a:rPr lang="en-US" altLang="zh-CN" sz="3200" b="1" dirty="0">
                <a:ea typeface="宋体" panose="02010600030101010101" pitchFamily="2" charset="-122"/>
              </a:rPr>
              <a:t> b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b="1" dirty="0">
                <a:ea typeface="宋体" panose="02010600030101010101" pitchFamily="2" charset="-122"/>
              </a:rPr>
              <a:t>= a</a:t>
            </a:r>
            <a:r>
              <a:rPr lang="en-US" altLang="zh-CN" sz="3200" b="1" baseline="30000" dirty="0">
                <a:ea typeface="宋体" panose="02010600030101010101" pitchFamily="2" charset="-122"/>
              </a:rPr>
              <a:t>2</a:t>
            </a:r>
            <a:r>
              <a:rPr lang="en-US" altLang="zh-CN" sz="3200" b="1" dirty="0">
                <a:ea typeface="宋体" panose="02010600030101010101" pitchFamily="2" charset="-122"/>
                <a:sym typeface="Symbol" panose="05050102010706020507" pitchFamily="18" charset="2"/>
              </a:rPr>
              <a:t>• </a:t>
            </a:r>
            <a:r>
              <a:rPr lang="en-US" altLang="zh-CN" sz="3200" b="1" dirty="0">
                <a:ea typeface="宋体" panose="02010600030101010101" pitchFamily="2" charset="-122"/>
              </a:rPr>
              <a:t>(</a:t>
            </a:r>
            <a:r>
              <a:rPr lang="en-US" altLang="zh-CN" sz="3200" b="1" dirty="0" err="1">
                <a:ea typeface="宋体" panose="02010600030101010101" pitchFamily="2" charset="-122"/>
              </a:rPr>
              <a:t>b</a:t>
            </a:r>
            <a:r>
              <a:rPr lang="en-US" altLang="zh-CN" sz="3200" b="1" dirty="0" err="1"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lang="en-US" altLang="zh-CN" sz="3200" b="1" dirty="0" err="1">
                <a:ea typeface="宋体" panose="02010600030101010101" pitchFamily="2" charset="-122"/>
              </a:rPr>
              <a:t>a</a:t>
            </a:r>
            <a:r>
              <a:rPr lang="en-US" altLang="zh-CN" sz="3200" b="1" dirty="0">
                <a:ea typeface="宋体" panose="02010600030101010101" pitchFamily="2" charset="-122"/>
              </a:rPr>
              <a:t>) </a:t>
            </a:r>
            <a:r>
              <a:rPr lang="en-US" altLang="zh-CN" sz="3200" b="1" dirty="0"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lang="en-US" altLang="zh-CN" sz="3200" b="1" dirty="0">
                <a:ea typeface="宋体" panose="02010600030101010101" pitchFamily="2" charset="-122"/>
              </a:rPr>
              <a:t>b</a:t>
            </a:r>
            <a:r>
              <a:rPr lang="en-US" altLang="zh-CN" sz="3200" b="1" baseline="30000" dirty="0">
                <a:ea typeface="宋体" panose="02010600030101010101" pitchFamily="2" charset="-122"/>
              </a:rPr>
              <a:t>2</a:t>
            </a:r>
            <a:r>
              <a:rPr lang="en-US" altLang="zh-CN" sz="3200" b="1" dirty="0">
                <a:ea typeface="宋体" panose="02010600030101010101" pitchFamily="2" charset="-122"/>
              </a:rPr>
              <a:t>=1</a:t>
            </a:r>
            <a:r>
              <a:rPr lang="en-US" altLang="zh-CN" sz="3200" b="1" dirty="0">
                <a:ea typeface="宋体" panose="02010600030101010101" pitchFamily="2" charset="-122"/>
                <a:sym typeface="Symbol" panose="05050102010706020507" pitchFamily="18" charset="2"/>
              </a:rPr>
              <a:t>• </a:t>
            </a:r>
            <a:r>
              <a:rPr lang="en-US" altLang="zh-CN" sz="3200" b="1" dirty="0">
                <a:ea typeface="宋体" panose="02010600030101010101" pitchFamily="2" charset="-122"/>
              </a:rPr>
              <a:t>(</a:t>
            </a:r>
            <a:r>
              <a:rPr lang="en-US" altLang="zh-CN" sz="3200" b="1" dirty="0" err="1">
                <a:ea typeface="宋体" panose="02010600030101010101" pitchFamily="2" charset="-122"/>
              </a:rPr>
              <a:t>b</a:t>
            </a:r>
            <a:r>
              <a:rPr lang="en-US" altLang="zh-CN" sz="3200" b="1" dirty="0" err="1"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lang="en-US" altLang="zh-CN" sz="3200" b="1" dirty="0" err="1">
                <a:ea typeface="宋体" panose="02010600030101010101" pitchFamily="2" charset="-122"/>
              </a:rPr>
              <a:t>a</a:t>
            </a:r>
            <a:r>
              <a:rPr lang="en-US" altLang="zh-CN" sz="3200" b="1" dirty="0">
                <a:ea typeface="宋体" panose="02010600030101010101" pitchFamily="2" charset="-122"/>
              </a:rPr>
              <a:t>) </a:t>
            </a:r>
            <a:r>
              <a:rPr lang="en-US" altLang="zh-CN" sz="3200" b="1" dirty="0">
                <a:ea typeface="宋体" panose="02010600030101010101" pitchFamily="2" charset="-122"/>
                <a:sym typeface="Symbol" panose="05050102010706020507" pitchFamily="18" charset="2"/>
              </a:rPr>
              <a:t>•1=</a:t>
            </a:r>
            <a:r>
              <a:rPr lang="en-US" altLang="zh-CN" sz="3200" b="1" dirty="0" err="1">
                <a:ea typeface="宋体" panose="02010600030101010101" pitchFamily="2" charset="-122"/>
              </a:rPr>
              <a:t>b</a:t>
            </a:r>
            <a:r>
              <a:rPr lang="en-US" altLang="zh-CN" sz="3200" b="1" dirty="0" err="1"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lang="en-US" altLang="zh-CN" sz="3200" b="1" dirty="0" err="1">
                <a:ea typeface="宋体" panose="02010600030101010101" pitchFamily="2" charset="-122"/>
              </a:rPr>
              <a:t>a</a:t>
            </a:r>
            <a:endParaRPr lang="en-US" altLang="zh-CN" sz="3200" b="1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200" b="1" dirty="0">
                <a:ea typeface="宋体" panose="02010600030101010101" pitchFamily="2" charset="-122"/>
              </a:rPr>
              <a:t>即，</a:t>
            </a:r>
            <a:r>
              <a:rPr lang="en-US" altLang="zh-CN" sz="3200" b="1" dirty="0" err="1">
                <a:ea typeface="宋体" panose="02010600030101010101" pitchFamily="2" charset="-122"/>
              </a:rPr>
              <a:t>a</a:t>
            </a:r>
            <a:r>
              <a:rPr lang="en-US" altLang="zh-CN" sz="3200" b="1" dirty="0" err="1"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lang="en-US" altLang="zh-CN" sz="3200" b="1" dirty="0" err="1">
                <a:ea typeface="宋体" panose="02010600030101010101" pitchFamily="2" charset="-122"/>
              </a:rPr>
              <a:t>b</a:t>
            </a:r>
            <a:r>
              <a:rPr lang="en-US" altLang="zh-CN" sz="3200" b="1" dirty="0">
                <a:ea typeface="宋体" panose="02010600030101010101" pitchFamily="2" charset="-122"/>
              </a:rPr>
              <a:t>=</a:t>
            </a:r>
            <a:r>
              <a:rPr lang="en-US" altLang="zh-CN" sz="3200" b="1" dirty="0" err="1">
                <a:ea typeface="宋体" panose="02010600030101010101" pitchFamily="2" charset="-122"/>
              </a:rPr>
              <a:t>b</a:t>
            </a:r>
            <a:r>
              <a:rPr lang="en-US" altLang="zh-CN" sz="3200" b="1" dirty="0" err="1"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lang="en-US" altLang="zh-CN" sz="3200" b="1" dirty="0" err="1">
                <a:ea typeface="宋体" panose="02010600030101010101" pitchFamily="2" charset="-122"/>
              </a:rPr>
              <a:t>a</a:t>
            </a:r>
            <a:r>
              <a:rPr lang="zh-CN" altLang="en-US" sz="3200" b="1" dirty="0">
                <a:ea typeface="宋体" panose="02010600030101010101" pitchFamily="2" charset="-122"/>
              </a:rPr>
              <a:t>，所以</a:t>
            </a:r>
            <a:r>
              <a:rPr lang="en-US" altLang="zh-CN" sz="3200" b="1" dirty="0">
                <a:ea typeface="宋体" panose="02010600030101010101" pitchFamily="2" charset="-122"/>
              </a:rPr>
              <a:t>G</a:t>
            </a:r>
            <a:r>
              <a:rPr lang="zh-CN" altLang="en-US" sz="3200" b="1" dirty="0">
                <a:ea typeface="宋体" panose="02010600030101010101" pitchFamily="2" charset="-122"/>
              </a:rPr>
              <a:t>是</a:t>
            </a:r>
            <a:r>
              <a:rPr lang="en-US" altLang="zh-CN" sz="3200" b="1" dirty="0">
                <a:ea typeface="宋体" panose="02010600030101010101" pitchFamily="2" charset="-122"/>
              </a:rPr>
              <a:t>Abel</a:t>
            </a:r>
            <a:r>
              <a:rPr lang="zh-CN" altLang="en-US" sz="3200" b="1" dirty="0">
                <a:ea typeface="宋体" panose="02010600030101010101" pitchFamily="2" charset="-122"/>
              </a:rPr>
              <a:t>群。</a:t>
            </a:r>
            <a:endParaRPr lang="en-US" altLang="zh-CN" sz="3200" b="1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证法二：</a:t>
            </a:r>
            <a:r>
              <a:rPr lang="zh-CN" altLang="en-US" sz="3200" b="1" dirty="0">
                <a:ea typeface="宋体" panose="02010600030101010101" pitchFamily="2" charset="-122"/>
              </a:rPr>
              <a:t>对任意的</a:t>
            </a:r>
            <a:r>
              <a:rPr lang="en-US" altLang="zh-CN" sz="3200" b="1" dirty="0" err="1">
                <a:ea typeface="宋体" panose="02010600030101010101" pitchFamily="2" charset="-122"/>
              </a:rPr>
              <a:t>x∈G</a:t>
            </a:r>
            <a:r>
              <a:rPr lang="zh-CN" altLang="en-US" sz="3200" b="1" dirty="0">
                <a:ea typeface="宋体" panose="02010600030101010101" pitchFamily="2" charset="-122"/>
              </a:rPr>
              <a:t>，由</a:t>
            </a:r>
            <a:r>
              <a:rPr lang="en-US" altLang="zh-CN" sz="3200" b="1" dirty="0">
                <a:ea typeface="宋体" panose="02010600030101010101" pitchFamily="2" charset="-122"/>
              </a:rPr>
              <a:t>x</a:t>
            </a:r>
            <a:r>
              <a:rPr lang="en-US" altLang="zh-CN" sz="3200" b="1" baseline="30000" dirty="0">
                <a:ea typeface="宋体" panose="02010600030101010101" pitchFamily="2" charset="-122"/>
              </a:rPr>
              <a:t>2</a:t>
            </a:r>
            <a:r>
              <a:rPr lang="en-US" altLang="zh-CN" sz="3200" b="1" dirty="0">
                <a:ea typeface="宋体" panose="02010600030101010101" pitchFamily="2" charset="-122"/>
              </a:rPr>
              <a:t>=1</a:t>
            </a:r>
            <a:r>
              <a:rPr lang="zh-CN" altLang="en-US" sz="3200" b="1" dirty="0">
                <a:ea typeface="宋体" panose="02010600030101010101" pitchFamily="2" charset="-122"/>
              </a:rPr>
              <a:t>可得</a:t>
            </a:r>
            <a:r>
              <a:rPr lang="en-US" altLang="zh-CN" sz="3200" b="1" dirty="0">
                <a:ea typeface="宋体" panose="02010600030101010101" pitchFamily="2" charset="-122"/>
              </a:rPr>
              <a:t>x</a:t>
            </a:r>
            <a:r>
              <a:rPr lang="en-US" altLang="zh-CN" sz="32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200" b="1" dirty="0">
                <a:ea typeface="宋体" panose="02010600030101010101" pitchFamily="2" charset="-122"/>
              </a:rPr>
              <a:t>=x</a:t>
            </a:r>
            <a:r>
              <a:rPr lang="zh-CN" altLang="en-US" sz="3200" b="1" dirty="0">
                <a:ea typeface="宋体" panose="02010600030101010101" pitchFamily="2" charset="-122"/>
              </a:rPr>
              <a:t>，因此，对任意的</a:t>
            </a:r>
            <a:r>
              <a:rPr lang="en-US" altLang="zh-CN" sz="3200" b="1" dirty="0">
                <a:ea typeface="宋体" panose="02010600030101010101" pitchFamily="2" charset="-122"/>
              </a:rPr>
              <a:t>a</a:t>
            </a:r>
            <a:r>
              <a:rPr lang="zh-CN" altLang="en-US" sz="3200" b="1" dirty="0">
                <a:ea typeface="宋体" panose="02010600030101010101" pitchFamily="2" charset="-122"/>
              </a:rPr>
              <a:t>，</a:t>
            </a:r>
            <a:r>
              <a:rPr lang="en-US" altLang="zh-CN" sz="3200" b="1" dirty="0" err="1">
                <a:ea typeface="宋体" panose="02010600030101010101" pitchFamily="2" charset="-122"/>
              </a:rPr>
              <a:t>b∈G</a:t>
            </a:r>
            <a:r>
              <a:rPr lang="zh-CN" altLang="en-US" sz="3200" b="1" dirty="0">
                <a:ea typeface="宋体" panose="02010600030101010101" pitchFamily="2" charset="-122"/>
              </a:rPr>
              <a:t>，有</a:t>
            </a:r>
            <a:endParaRPr lang="en-US" altLang="zh-CN" sz="3200" b="1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b="1" dirty="0" err="1">
                <a:ea typeface="宋体" panose="02010600030101010101" pitchFamily="2" charset="-122"/>
              </a:rPr>
              <a:t>a</a:t>
            </a:r>
            <a:r>
              <a:rPr lang="en-US" altLang="zh-CN" sz="3200" b="1" dirty="0" err="1"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lang="en-US" altLang="zh-CN" sz="3200" b="1" dirty="0" err="1">
                <a:ea typeface="宋体" panose="02010600030101010101" pitchFamily="2" charset="-122"/>
              </a:rPr>
              <a:t>b</a:t>
            </a:r>
            <a:r>
              <a:rPr lang="en-US" altLang="zh-CN" sz="3200" b="1" dirty="0">
                <a:ea typeface="宋体" panose="02010600030101010101" pitchFamily="2" charset="-122"/>
              </a:rPr>
              <a:t>=</a:t>
            </a:r>
            <a:r>
              <a:rPr lang="zh-CN" altLang="zh-CN" sz="3200" b="1" dirty="0"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ea typeface="宋体" panose="02010600030101010101" pitchFamily="2" charset="-122"/>
              </a:rPr>
              <a:t>(</a:t>
            </a:r>
            <a:r>
              <a:rPr lang="en-US" altLang="zh-CN" sz="3200" b="1" dirty="0" err="1">
                <a:ea typeface="宋体" panose="02010600030101010101" pitchFamily="2" charset="-122"/>
              </a:rPr>
              <a:t>a</a:t>
            </a:r>
            <a:r>
              <a:rPr lang="en-US" altLang="zh-CN" sz="3200" b="1" dirty="0" err="1"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lang="en-US" altLang="zh-CN" sz="3200" b="1" dirty="0" err="1">
                <a:ea typeface="宋体" panose="02010600030101010101" pitchFamily="2" charset="-122"/>
              </a:rPr>
              <a:t>b</a:t>
            </a:r>
            <a:r>
              <a:rPr lang="en-US" altLang="zh-CN" sz="3200" b="1" dirty="0">
                <a:ea typeface="宋体" panose="02010600030101010101" pitchFamily="2" charset="-122"/>
              </a:rPr>
              <a:t>)</a:t>
            </a:r>
            <a:r>
              <a:rPr lang="en-US" altLang="zh-CN" sz="32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200" b="1" dirty="0">
                <a:ea typeface="宋体" panose="02010600030101010101" pitchFamily="2" charset="-122"/>
              </a:rPr>
              <a:t>=b</a:t>
            </a:r>
            <a:r>
              <a:rPr lang="en-US" altLang="zh-CN" sz="32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200" b="1" dirty="0"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lang="en-US" altLang="zh-CN" sz="3200" b="1" dirty="0">
                <a:ea typeface="宋体" panose="02010600030101010101" pitchFamily="2" charset="-122"/>
              </a:rPr>
              <a:t>a</a:t>
            </a:r>
            <a:r>
              <a:rPr lang="en-US" altLang="zh-CN" sz="32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200" b="1" dirty="0">
                <a:ea typeface="宋体" panose="02010600030101010101" pitchFamily="2" charset="-122"/>
              </a:rPr>
              <a:t>=</a:t>
            </a:r>
            <a:r>
              <a:rPr lang="en-US" altLang="zh-CN" sz="3200" b="1" dirty="0" err="1">
                <a:ea typeface="宋体" panose="02010600030101010101" pitchFamily="2" charset="-122"/>
              </a:rPr>
              <a:t>b</a:t>
            </a:r>
            <a:r>
              <a:rPr lang="en-US" altLang="zh-CN" sz="3200" b="1" dirty="0" err="1"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lang="en-US" altLang="zh-CN" sz="3200" b="1" dirty="0" err="1">
                <a:ea typeface="宋体" panose="02010600030101010101" pitchFamily="2" charset="-122"/>
              </a:rPr>
              <a:t>a</a:t>
            </a:r>
            <a:endParaRPr lang="zh-CN" altLang="zh-CN" sz="3200" b="1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17203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89A77F2-C387-477C-8ED5-4A1FF3BDA9F6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134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8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8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68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68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68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68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68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68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68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68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68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68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内容占位符 2"/>
          <p:cNvSpPr>
            <a:spLocks noGrp="1"/>
          </p:cNvSpPr>
          <p:nvPr>
            <p:ph idx="1"/>
          </p:nvPr>
        </p:nvSpPr>
        <p:spPr>
          <a:xfrm>
            <a:off x="539750" y="692150"/>
            <a:ext cx="8301038" cy="5356225"/>
          </a:xfrm>
        </p:spPr>
        <p:txBody>
          <a:bodyPr/>
          <a:lstStyle/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5. </a:t>
            </a:r>
            <a:r>
              <a:rPr lang="zh-CN" altLang="en-US" sz="3200" b="1" dirty="0">
                <a:ea typeface="宋体" panose="02010600030101010101" pitchFamily="2" charset="-122"/>
              </a:rPr>
              <a:t>证明：在偶数元的有限群</a:t>
            </a:r>
            <a:r>
              <a:rPr lang="en-US" altLang="zh-CN" sz="3200" b="1" dirty="0">
                <a:ea typeface="宋体" panose="02010600030101010101" pitchFamily="2" charset="-122"/>
              </a:rPr>
              <a:t>G</a:t>
            </a:r>
            <a:r>
              <a:rPr lang="zh-CN" altLang="en-US" sz="3200" b="1" dirty="0">
                <a:ea typeface="宋体" panose="02010600030101010101" pitchFamily="2" charset="-122"/>
              </a:rPr>
              <a:t>中，方程</a:t>
            </a:r>
            <a:r>
              <a:rPr lang="en-US" altLang="zh-CN" sz="3200" b="1" dirty="0">
                <a:ea typeface="宋体" panose="02010600030101010101" pitchFamily="2" charset="-122"/>
              </a:rPr>
              <a:t>x</a:t>
            </a:r>
            <a:r>
              <a:rPr lang="en-US" altLang="zh-CN" sz="3200" b="1" baseline="30000" dirty="0">
                <a:ea typeface="宋体" panose="02010600030101010101" pitchFamily="2" charset="-122"/>
              </a:rPr>
              <a:t>2</a:t>
            </a:r>
            <a:r>
              <a:rPr lang="en-US" altLang="zh-CN" sz="3200" b="1" dirty="0">
                <a:ea typeface="宋体" panose="02010600030101010101" pitchFamily="2" charset="-122"/>
              </a:rPr>
              <a:t>=1 </a:t>
            </a:r>
            <a:r>
              <a:rPr lang="zh-CN" altLang="en-US" sz="3200" b="1" dirty="0">
                <a:ea typeface="宋体" panose="02010600030101010101" pitchFamily="2" charset="-122"/>
              </a:rPr>
              <a:t>（</a:t>
            </a:r>
            <a:r>
              <a:rPr lang="en-US" altLang="zh-CN" sz="3200" b="1" dirty="0">
                <a:ea typeface="宋体" panose="02010600030101010101" pitchFamily="2" charset="-122"/>
              </a:rPr>
              <a:t>1</a:t>
            </a:r>
            <a:r>
              <a:rPr lang="zh-CN" altLang="en-US" sz="3200" b="1" dirty="0">
                <a:ea typeface="宋体" panose="02010600030101010101" pitchFamily="2" charset="-122"/>
              </a:rPr>
              <a:t>为单位元），有偶数个解。</a:t>
            </a:r>
            <a:endParaRPr lang="en-US" altLang="zh-CN" sz="3200" b="1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证明：</a:t>
            </a:r>
            <a:endParaRPr lang="en-US" altLang="zh-CN" sz="3200" b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3200" b="1" dirty="0"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ea typeface="宋体" panose="02010600030101010101" pitchFamily="2" charset="-122"/>
              </a:rPr>
              <a:t>由</a:t>
            </a:r>
            <a:r>
              <a:rPr lang="en-US" altLang="zh-CN" sz="3200" b="1" dirty="0">
                <a:ea typeface="宋体" panose="02010600030101010101" pitchFamily="2" charset="-122"/>
              </a:rPr>
              <a:t>x</a:t>
            </a:r>
            <a:r>
              <a:rPr lang="en-US" altLang="zh-CN" sz="3200" b="1" baseline="30000" dirty="0">
                <a:ea typeface="宋体" panose="02010600030101010101" pitchFamily="2" charset="-122"/>
              </a:rPr>
              <a:t>2</a:t>
            </a:r>
            <a:r>
              <a:rPr lang="en-US" altLang="zh-CN" sz="3200" b="1" dirty="0">
                <a:ea typeface="宋体" panose="02010600030101010101" pitchFamily="2" charset="-122"/>
              </a:rPr>
              <a:t>=1</a:t>
            </a:r>
            <a:r>
              <a:rPr lang="zh-CN" altLang="en-US" sz="3200" b="1" dirty="0">
                <a:ea typeface="宋体" panose="02010600030101010101" pitchFamily="2" charset="-122"/>
              </a:rPr>
              <a:t>可得</a:t>
            </a:r>
            <a:r>
              <a:rPr lang="en-US" altLang="zh-CN" sz="3200" b="1" dirty="0">
                <a:ea typeface="宋体" panose="02010600030101010101" pitchFamily="2" charset="-122"/>
              </a:rPr>
              <a:t>x</a:t>
            </a:r>
            <a:r>
              <a:rPr lang="en-US" altLang="zh-CN" sz="32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200" b="1" dirty="0">
                <a:ea typeface="宋体" panose="02010600030101010101" pitchFamily="2" charset="-122"/>
              </a:rPr>
              <a:t>=x</a:t>
            </a:r>
            <a:r>
              <a:rPr lang="zh-CN" altLang="en-US" sz="3200" b="1" dirty="0">
                <a:ea typeface="宋体" panose="02010600030101010101" pitchFamily="2" charset="-122"/>
              </a:rPr>
              <a:t>。因若</a:t>
            </a:r>
            <a:r>
              <a:rPr lang="en-US" altLang="zh-CN" sz="3200" b="1" dirty="0">
                <a:ea typeface="宋体" panose="02010600030101010101" pitchFamily="2" charset="-122"/>
              </a:rPr>
              <a:t>x</a:t>
            </a:r>
            <a:r>
              <a:rPr lang="en-US" altLang="zh-CN" sz="32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200" b="1" dirty="0">
                <a:ea typeface="宋体" panose="02010600030101010101" pitchFamily="2" charset="-122"/>
              </a:rPr>
              <a:t>≠x</a:t>
            </a:r>
            <a:r>
              <a:rPr lang="zh-CN" altLang="en-US" sz="3200" b="1" dirty="0">
                <a:ea typeface="宋体" panose="02010600030101010101" pitchFamily="2" charset="-122"/>
              </a:rPr>
              <a:t>，由群中任意元素的逆唯一，知</a:t>
            </a:r>
            <a:r>
              <a:rPr lang="en-US" altLang="zh-CN" sz="3200" b="1" dirty="0">
                <a:ea typeface="宋体" panose="02010600030101010101" pitchFamily="2" charset="-122"/>
              </a:rPr>
              <a:t>x</a:t>
            </a:r>
            <a:r>
              <a:rPr lang="zh-CN" altLang="en-US" sz="3200" b="1" dirty="0">
                <a:ea typeface="宋体" panose="02010600030101010101" pitchFamily="2" charset="-122"/>
              </a:rPr>
              <a:t>与</a:t>
            </a:r>
            <a:r>
              <a:rPr lang="en-US" altLang="zh-CN" sz="3200" b="1" dirty="0">
                <a:ea typeface="宋体" panose="02010600030101010101" pitchFamily="2" charset="-122"/>
              </a:rPr>
              <a:t>x</a:t>
            </a:r>
            <a:r>
              <a:rPr lang="en-US" altLang="zh-CN" sz="3200" b="1" baseline="30000" dirty="0">
                <a:ea typeface="宋体" panose="02010600030101010101" pitchFamily="2" charset="-122"/>
              </a:rPr>
              <a:t>-1</a:t>
            </a:r>
            <a:r>
              <a:rPr lang="zh-CN" altLang="en-US" sz="3200" b="1" dirty="0">
                <a:ea typeface="宋体" panose="02010600030101010101" pitchFamily="2" charset="-122"/>
              </a:rPr>
              <a:t>必在</a:t>
            </a:r>
            <a:r>
              <a:rPr lang="en-US" altLang="zh-CN" sz="3200" b="1" dirty="0">
                <a:ea typeface="宋体" panose="02010600030101010101" pitchFamily="2" charset="-122"/>
              </a:rPr>
              <a:t>G</a:t>
            </a:r>
            <a:r>
              <a:rPr lang="zh-CN" altLang="en-US" sz="3200" b="1" dirty="0">
                <a:ea typeface="宋体" panose="02010600030101010101" pitchFamily="2" charset="-122"/>
              </a:rPr>
              <a:t>中成对出现，其总的个数为偶数。即不满足</a:t>
            </a:r>
            <a:r>
              <a:rPr lang="en-US" altLang="zh-CN" sz="3200" b="1" dirty="0">
                <a:ea typeface="宋体" panose="02010600030101010101" pitchFamily="2" charset="-122"/>
              </a:rPr>
              <a:t>x</a:t>
            </a:r>
            <a:r>
              <a:rPr lang="en-US" altLang="zh-CN" sz="3200" b="1" baseline="30000" dirty="0">
                <a:ea typeface="宋体" panose="02010600030101010101" pitchFamily="2" charset="-122"/>
              </a:rPr>
              <a:t>2</a:t>
            </a:r>
            <a:r>
              <a:rPr lang="en-US" altLang="zh-CN" sz="3200" b="1" dirty="0">
                <a:ea typeface="宋体" panose="02010600030101010101" pitchFamily="2" charset="-122"/>
              </a:rPr>
              <a:t> = 1</a:t>
            </a:r>
            <a:r>
              <a:rPr lang="zh-CN" altLang="en-US" sz="3200" b="1" dirty="0">
                <a:ea typeface="宋体" panose="02010600030101010101" pitchFamily="2" charset="-122"/>
              </a:rPr>
              <a:t>的元素个数为偶数。而</a:t>
            </a:r>
            <a:r>
              <a:rPr lang="en-US" altLang="zh-CN" sz="3200" b="1" dirty="0">
                <a:ea typeface="宋体" panose="02010600030101010101" pitchFamily="2" charset="-122"/>
              </a:rPr>
              <a:t>G</a:t>
            </a:r>
            <a:r>
              <a:rPr lang="zh-CN" altLang="en-US" sz="3200" b="1" dirty="0">
                <a:ea typeface="宋体" panose="02010600030101010101" pitchFamily="2" charset="-122"/>
              </a:rPr>
              <a:t>又为偶数元群，因此</a:t>
            </a:r>
            <a:r>
              <a:rPr lang="en-US" altLang="zh-CN" sz="3200" b="1" dirty="0">
                <a:ea typeface="宋体" panose="02010600030101010101" pitchFamily="2" charset="-122"/>
              </a:rPr>
              <a:t>G</a:t>
            </a:r>
            <a:r>
              <a:rPr lang="zh-CN" altLang="en-US" sz="3200" b="1" dirty="0">
                <a:ea typeface="宋体" panose="02010600030101010101" pitchFamily="2" charset="-122"/>
              </a:rPr>
              <a:t>中满足方程</a:t>
            </a:r>
            <a:r>
              <a:rPr lang="en-US" altLang="zh-CN" sz="3200" b="1" dirty="0">
                <a:ea typeface="宋体" panose="02010600030101010101" pitchFamily="2" charset="-122"/>
              </a:rPr>
              <a:t>x</a:t>
            </a:r>
            <a:r>
              <a:rPr lang="en-US" altLang="zh-CN" sz="3200" b="1" baseline="30000" dirty="0">
                <a:ea typeface="宋体" panose="02010600030101010101" pitchFamily="2" charset="-122"/>
              </a:rPr>
              <a:t>2</a:t>
            </a:r>
            <a:r>
              <a:rPr lang="en-US" altLang="zh-CN" sz="3200" b="1" dirty="0">
                <a:ea typeface="宋体" panose="02010600030101010101" pitchFamily="2" charset="-122"/>
              </a:rPr>
              <a:t>=1 </a:t>
            </a:r>
            <a:r>
              <a:rPr lang="zh-CN" altLang="en-US" sz="3200" b="1" dirty="0">
                <a:ea typeface="宋体" panose="02010600030101010101" pitchFamily="2" charset="-122"/>
              </a:rPr>
              <a:t>的解有偶数个</a:t>
            </a:r>
            <a:r>
              <a:rPr lang="en-US" altLang="zh-CN" sz="3200" b="1" dirty="0">
                <a:ea typeface="宋体" panose="02010600030101010101" pitchFamily="2" charset="-122"/>
              </a:rPr>
              <a:t>.</a:t>
            </a:r>
            <a:endParaRPr lang="zh-CN" altLang="en-US" sz="3200" b="1" dirty="0">
              <a:ea typeface="宋体" panose="02010600030101010101" pitchFamily="2" charset="-122"/>
            </a:endParaRPr>
          </a:p>
        </p:txBody>
      </p:sp>
      <p:sp>
        <p:nvSpPr>
          <p:cNvPr id="17305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3E93AC6-FFFE-4BCD-BC49-03F6EFD7008C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135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1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1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765175"/>
            <a:ext cx="8301037" cy="5283200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b="1" dirty="0">
                <a:solidFill>
                  <a:srgbClr val="0000FF"/>
                </a:solidFill>
                <a:ea typeface="宋体" panose="02010600030101010101" pitchFamily="2" charset="-122"/>
              </a:rPr>
              <a:t>6.</a:t>
            </a:r>
            <a:r>
              <a:rPr lang="zh-CN" altLang="en-US" sz="3000" dirty="0"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r>
              <a:rPr lang="en-US" altLang="zh-CN" sz="30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3000" dirty="0">
                <a:latin typeface="宋体" panose="02010600030101010101" pitchFamily="2" charset="-122"/>
                <a:ea typeface="宋体" panose="02010600030101010101" pitchFamily="2" charset="-122"/>
              </a:rPr>
              <a:t>是一个非空集合，</a:t>
            </a:r>
            <a:r>
              <a:rPr lang="en-US" altLang="zh-CN" sz="30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3000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A </a:t>
            </a:r>
            <a:r>
              <a:rPr lang="zh-CN" altLang="en-US" sz="3000" dirty="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30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3000" dirty="0"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lang="en-US" altLang="zh-CN" sz="30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3000" dirty="0">
                <a:latin typeface="宋体" panose="02010600030101010101" pitchFamily="2" charset="-122"/>
                <a:ea typeface="宋体" panose="02010600030101010101" pitchFamily="2" charset="-122"/>
              </a:rPr>
              <a:t>的所有映射组成的集合。试证明</a:t>
            </a:r>
            <a:r>
              <a:rPr lang="en-US" altLang="zh-CN" sz="30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3000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3000" dirty="0">
                <a:latin typeface="宋体" panose="02010600030101010101" pitchFamily="2" charset="-122"/>
                <a:ea typeface="宋体" panose="02010600030101010101" pitchFamily="2" charset="-122"/>
              </a:rPr>
              <a:t>关于映射的乘积“</a:t>
            </a:r>
            <a:r>
              <a:rPr lang="zh-CN" altLang="zh-CN" sz="3000" b="1" dirty="0"/>
              <a:t>•</a:t>
            </a:r>
            <a:r>
              <a:rPr lang="zh-CN" altLang="en-US" sz="3000" dirty="0">
                <a:latin typeface="宋体" panose="02010600030101010101" pitchFamily="2" charset="-122"/>
                <a:ea typeface="宋体" panose="02010600030101010101" pitchFamily="2" charset="-122"/>
              </a:rPr>
              <a:t>”构成一个有单位元的半群。</a:t>
            </a:r>
            <a:endParaRPr lang="en-US" altLang="zh-CN" sz="3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3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宋体" panose="02010600030101010101" pitchFamily="2" charset="-122"/>
                <a:ea typeface="宋体" panose="02010600030101010101" pitchFamily="2" charset="-122"/>
              </a:rPr>
              <a:t>证明：</a:t>
            </a:r>
            <a:endParaRPr lang="en-US" altLang="zh-CN" sz="3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30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30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3000" dirty="0">
                <a:latin typeface="宋体" panose="02010600030101010101" pitchFamily="2" charset="-122"/>
                <a:ea typeface="宋体" panose="02010600030101010101" pitchFamily="2" charset="-122"/>
              </a:rPr>
              <a:t>非空，</a:t>
            </a:r>
            <a:r>
              <a:rPr lang="en-US" altLang="zh-CN" sz="30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3000" b="1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3000" dirty="0">
                <a:latin typeface="宋体" panose="02010600030101010101" pitchFamily="2" charset="-122"/>
                <a:ea typeface="宋体" panose="02010600030101010101" pitchFamily="2" charset="-122"/>
              </a:rPr>
              <a:t>非空</a:t>
            </a:r>
            <a:endParaRPr lang="en-US" altLang="zh-CN" sz="3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30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en-US" sz="3000" b="1" dirty="0">
                <a:solidFill>
                  <a:schemeClr val="bg2"/>
                </a:solidFill>
                <a:sym typeface="Symbol" panose="05050102010706020507" pitchFamily="18" charset="2"/>
              </a:rPr>
              <a:t> </a:t>
            </a:r>
            <a:r>
              <a:rPr lang="zh-CN" altLang="en-US" sz="3000" b="1" dirty="0">
                <a:sym typeface="Symbol" panose="05050102010706020507" pitchFamily="18" charset="2"/>
              </a:rPr>
              <a:t> </a:t>
            </a:r>
            <a:r>
              <a:rPr lang="en-US" altLang="zh-CN" sz="3000" b="1" i="1" dirty="0">
                <a:sym typeface="Symbol" panose="05050102010706020507" pitchFamily="18" charset="2"/>
              </a:rPr>
              <a:t>f, g </a:t>
            </a:r>
            <a:r>
              <a:rPr lang="en-US" altLang="zh-CN" sz="3000" b="1" dirty="0">
                <a:sym typeface="Symbol" panose="05050102010706020507" pitchFamily="18" charset="2"/>
              </a:rPr>
              <a:t></a:t>
            </a:r>
            <a:r>
              <a:rPr lang="en-US" altLang="zh-CN" sz="30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3000" b="1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3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3000" b="1" dirty="0"/>
              <a:t>(</a:t>
            </a:r>
            <a:r>
              <a:rPr lang="en-US" altLang="zh-CN" sz="3000" b="1" i="1" dirty="0">
                <a:latin typeface="宋体" panose="02010600030101010101" pitchFamily="2" charset="-122"/>
                <a:ea typeface="宋体" panose="02010600030101010101" pitchFamily="2" charset="-122"/>
              </a:rPr>
              <a:t>f</a:t>
            </a:r>
            <a:r>
              <a:rPr lang="zh-CN" altLang="zh-CN" sz="3000" b="1" dirty="0"/>
              <a:t>•</a:t>
            </a:r>
            <a:r>
              <a:rPr lang="en-US" altLang="zh-CN" sz="3000" b="1" i="1" dirty="0"/>
              <a:t>g</a:t>
            </a:r>
            <a:r>
              <a:rPr lang="en-US" altLang="zh-CN" sz="3000" b="1" dirty="0"/>
              <a:t>)(x)=</a:t>
            </a:r>
            <a:r>
              <a:rPr lang="en-US" altLang="zh-CN" sz="3000" b="1" i="1" dirty="0"/>
              <a:t>f(g(x</a:t>
            </a:r>
            <a:r>
              <a:rPr lang="en-US" altLang="zh-CN" sz="3000" b="1" dirty="0"/>
              <a:t>)) ,</a:t>
            </a:r>
            <a:r>
              <a:rPr lang="zh-CN" altLang="en-US" sz="3000" b="1" dirty="0">
                <a:sym typeface="Symbol" panose="05050102010706020507" pitchFamily="18" charset="2"/>
              </a:rPr>
              <a:t> </a:t>
            </a:r>
            <a:r>
              <a:rPr lang="en-US" altLang="zh-CN" sz="3000" b="1" dirty="0"/>
              <a:t> </a:t>
            </a:r>
            <a:r>
              <a:rPr lang="en-US" altLang="zh-CN" sz="3000" b="1" dirty="0" err="1"/>
              <a:t>x</a:t>
            </a:r>
            <a:r>
              <a:rPr lang="en-US" altLang="zh-CN" sz="3000" b="1" dirty="0" err="1">
                <a:sym typeface="Symbol" panose="05050102010706020507" pitchFamily="18" charset="2"/>
              </a:rPr>
              <a:t>A</a:t>
            </a:r>
            <a:r>
              <a:rPr lang="en-US" altLang="zh-CN" sz="3000" b="1" dirty="0">
                <a:sym typeface="Symbol" panose="05050102010706020507" pitchFamily="18" charset="2"/>
              </a:rPr>
              <a:t> ,</a:t>
            </a:r>
            <a:r>
              <a:rPr lang="en-US" altLang="zh-CN" sz="3000" b="1" i="1" dirty="0">
                <a:latin typeface="宋体" panose="02010600030101010101" pitchFamily="2" charset="-122"/>
                <a:ea typeface="宋体" panose="02010600030101010101" pitchFamily="2" charset="-122"/>
              </a:rPr>
              <a:t> f</a:t>
            </a:r>
            <a:r>
              <a:rPr lang="zh-CN" altLang="zh-CN" sz="3000" b="1" dirty="0"/>
              <a:t>•</a:t>
            </a:r>
            <a:r>
              <a:rPr lang="en-US" altLang="zh-CN" sz="3000" b="1" i="1" dirty="0" err="1"/>
              <a:t>g</a:t>
            </a:r>
            <a:r>
              <a:rPr lang="en-US" altLang="zh-CN" sz="3000" b="1" dirty="0" err="1">
                <a:sym typeface="Symbol" panose="05050102010706020507" pitchFamily="18" charset="2"/>
              </a:rPr>
              <a:t></a:t>
            </a:r>
            <a:r>
              <a:rPr lang="en-US" altLang="zh-CN" sz="30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3000" b="1" baseline="30000" dirty="0" err="1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endParaRPr lang="en-US" altLang="zh-CN" sz="3000" b="1" baseline="30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宋体" panose="02010600030101010101" pitchFamily="2" charset="-122"/>
                <a:ea typeface="宋体" panose="02010600030101010101" pitchFamily="2" charset="-122"/>
              </a:rPr>
              <a:t>3)</a:t>
            </a:r>
            <a:r>
              <a:rPr lang="zh-CN" altLang="en-US" sz="3000" dirty="0">
                <a:latin typeface="宋体" panose="02010600030101010101" pitchFamily="2" charset="-122"/>
                <a:ea typeface="宋体" panose="02010600030101010101" pitchFamily="2" charset="-122"/>
              </a:rPr>
              <a:t>映射乘积满足结合律</a:t>
            </a:r>
            <a:endParaRPr lang="en-US" altLang="zh-CN" sz="3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0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3000" dirty="0">
                <a:latin typeface="宋体" panose="02010600030101010101" pitchFamily="2" charset="-122"/>
                <a:ea typeface="宋体" panose="02010600030101010101" pitchFamily="2" charset="-122"/>
              </a:rPr>
              <a:t>）存在单位元</a:t>
            </a:r>
            <a:r>
              <a:rPr lang="en-US" altLang="zh-CN" sz="3000" b="1" dirty="0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30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3000" dirty="0">
                <a:latin typeface="宋体" panose="02010600030101010101" pitchFamily="2" charset="-122"/>
                <a:ea typeface="宋体" panose="02010600030101010101" pitchFamily="2" charset="-122"/>
              </a:rPr>
              <a:t>(x)=x</a:t>
            </a:r>
            <a:r>
              <a:rPr lang="zh-CN" altLang="en-US" sz="30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3000" b="1" i="1" dirty="0"/>
              <a:t>f</a:t>
            </a:r>
            <a:r>
              <a:rPr lang="zh-CN" altLang="zh-CN" sz="3000" b="1" dirty="0"/>
              <a:t>•</a:t>
            </a:r>
            <a:r>
              <a:rPr lang="en-US" altLang="zh-CN" sz="3000" b="1" dirty="0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30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3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3000" b="1" dirty="0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30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zh-CN" sz="3000" b="1" dirty="0"/>
              <a:t>•</a:t>
            </a:r>
            <a:r>
              <a:rPr lang="en-US" altLang="zh-CN" sz="3000" b="1" i="1" dirty="0"/>
              <a:t>f=f</a:t>
            </a:r>
            <a:endParaRPr lang="zh-CN" altLang="en-US" sz="3000" i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408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D952D7E-BB2F-4D27-88C7-A32220F4192D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136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620713"/>
            <a:ext cx="8497887" cy="61214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7.</a:t>
            </a:r>
            <a:r>
              <a:rPr lang="zh-CN" altLang="en-US" b="1" dirty="0">
                <a:ea typeface="宋体" panose="02010600030101010101" pitchFamily="2" charset="-122"/>
              </a:rPr>
              <a:t>设（</a:t>
            </a:r>
            <a:r>
              <a:rPr lang="en-US" altLang="zh-CN" b="1" dirty="0">
                <a:ea typeface="宋体" panose="02010600030101010101" pitchFamily="2" charset="-122"/>
              </a:rPr>
              <a:t>S</a:t>
            </a:r>
            <a:r>
              <a:rPr lang="zh-CN" altLang="en-US" b="1" dirty="0">
                <a:ea typeface="宋体" panose="02010600030101010101" pitchFamily="2" charset="-122"/>
              </a:rPr>
              <a:t>，*）是一个半群，如果对所有的</a:t>
            </a:r>
            <a:r>
              <a:rPr lang="en-US" altLang="zh-CN" b="1" dirty="0" err="1">
                <a:ea typeface="宋体" panose="02010600030101010101" pitchFamily="2" charset="-122"/>
              </a:rPr>
              <a:t>a,b</a:t>
            </a:r>
            <a:r>
              <a:rPr lang="en-US" altLang="zh-CN" sz="2800" b="1" dirty="0">
                <a:sym typeface="Symbol" pitchFamily="18" charset="2"/>
              </a:rPr>
              <a:t> S, </a:t>
            </a:r>
            <a:r>
              <a:rPr lang="zh-CN" altLang="en-US" sz="2800" b="1" dirty="0">
                <a:sym typeface="Symbol" pitchFamily="18" charset="2"/>
              </a:rPr>
              <a:t>只要        </a:t>
            </a:r>
            <a:r>
              <a:rPr lang="en-US" altLang="zh-CN" sz="2800" b="1" dirty="0" err="1">
                <a:sym typeface="Symbol" pitchFamily="18" charset="2"/>
              </a:rPr>
              <a:t>a</a:t>
            </a:r>
            <a:r>
              <a:rPr lang="en-US" altLang="zh-CN" sz="2800" b="1" dirty="0" err="1">
                <a:ea typeface="宋体" panose="02010600030101010101" pitchFamily="2" charset="-122"/>
                <a:sym typeface="Symbol" pitchFamily="18" charset="2"/>
              </a:rPr>
              <a:t>b</a:t>
            </a:r>
            <a:r>
              <a:rPr lang="en-US" altLang="zh-CN" sz="2800" b="1" dirty="0">
                <a:ea typeface="宋体" panose="02010600030101010101" pitchFamily="2" charset="-122"/>
                <a:sym typeface="Symbol" pitchFamily="18" charset="2"/>
              </a:rPr>
              <a:t> </a:t>
            </a:r>
            <a:r>
              <a:rPr lang="zh-CN" altLang="en-US" sz="2800" b="1" dirty="0">
                <a:ea typeface="宋体" panose="02010600030101010101" pitchFamily="2" charset="-122"/>
                <a:sym typeface="Symbol" pitchFamily="18" charset="2"/>
              </a:rPr>
              <a:t>，必有</a:t>
            </a:r>
            <a:r>
              <a:rPr lang="en-US" altLang="zh-CN" sz="2800" b="1" dirty="0">
                <a:ea typeface="宋体" panose="02010600030101010101" pitchFamily="2" charset="-122"/>
                <a:sym typeface="Symbol" pitchFamily="18" charset="2"/>
              </a:rPr>
              <a:t>a</a:t>
            </a:r>
            <a:r>
              <a:rPr lang="zh-CN" altLang="en-US" sz="2800" b="1" dirty="0">
                <a:ea typeface="宋体" panose="02010600030101010101" pitchFamily="2" charset="-122"/>
                <a:sym typeface="Symbol" pitchFamily="18" charset="2"/>
              </a:rPr>
              <a:t>*</a:t>
            </a:r>
            <a:r>
              <a:rPr lang="en-US" altLang="zh-CN" sz="2800" b="1" dirty="0" err="1">
                <a:ea typeface="宋体" panose="02010600030101010101" pitchFamily="2" charset="-122"/>
                <a:sym typeface="Symbol" pitchFamily="18" charset="2"/>
              </a:rPr>
              <a:t>b</a:t>
            </a:r>
            <a:r>
              <a:rPr lang="en-US" altLang="zh-CN" sz="2400" b="1" dirty="0" err="1">
                <a:ea typeface="宋体" panose="02010600030101010101" pitchFamily="2" charset="-122"/>
                <a:sym typeface="Symbol" pitchFamily="18" charset="2"/>
              </a:rPr>
              <a:t>b</a:t>
            </a:r>
            <a:r>
              <a:rPr lang="en-US" altLang="zh-CN" sz="2400" b="1" dirty="0">
                <a:ea typeface="宋体" panose="02010600030101010101" pitchFamily="2" charset="-122"/>
                <a:sym typeface="Symbol" pitchFamily="18" charset="2"/>
              </a:rPr>
              <a:t>*a,  </a:t>
            </a:r>
            <a:r>
              <a:rPr lang="zh-CN" altLang="en-US" sz="2400" b="1" dirty="0">
                <a:ea typeface="宋体" panose="02010600030101010101" pitchFamily="2" charset="-122"/>
                <a:sym typeface="Symbol" pitchFamily="18" charset="2"/>
              </a:rPr>
              <a:t>证明</a:t>
            </a:r>
            <a:r>
              <a:rPr lang="en-US" altLang="zh-CN" sz="2400" b="1" dirty="0">
                <a:ea typeface="宋体" panose="02010600030101010101" pitchFamily="2" charset="-122"/>
                <a:sym typeface="Symbol" pitchFamily="18" charset="2"/>
              </a:rPr>
              <a:t>: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ea typeface="宋体" panose="02010600030101010101" pitchFamily="2" charset="-122"/>
                <a:sym typeface="Symbol" pitchFamily="18" charset="2"/>
              </a:rPr>
              <a:t>1</a:t>
            </a:r>
            <a:r>
              <a:rPr lang="zh-CN" altLang="en-US" sz="2400" b="1" dirty="0">
                <a:ea typeface="宋体" panose="02010600030101010101" pitchFamily="2" charset="-122"/>
                <a:sym typeface="Symbol" pitchFamily="18" charset="2"/>
              </a:rPr>
              <a:t>）</a:t>
            </a:r>
            <a:r>
              <a:rPr lang="zh-CN" altLang="en-US" sz="2800" b="1" dirty="0">
                <a:sym typeface="Symbol" pitchFamily="18" charset="2"/>
              </a:rPr>
              <a:t> </a:t>
            </a:r>
            <a:r>
              <a:rPr lang="en-US" altLang="zh-CN" sz="2800" b="1" dirty="0">
                <a:sym typeface="Symbol" pitchFamily="18" charset="2"/>
              </a:rPr>
              <a:t>a</a:t>
            </a:r>
            <a:r>
              <a:rPr lang="en-US" altLang="zh-CN" sz="2400" b="1" dirty="0">
                <a:sym typeface="Symbol" pitchFamily="18" charset="2"/>
              </a:rPr>
              <a:t>S ,</a:t>
            </a:r>
            <a:r>
              <a:rPr lang="zh-CN" altLang="en-US" sz="2400" b="1" dirty="0">
                <a:sym typeface="Symbol" pitchFamily="18" charset="2"/>
              </a:rPr>
              <a:t>有</a:t>
            </a:r>
            <a:r>
              <a:rPr lang="en-US" altLang="zh-CN" sz="2400" b="1" dirty="0">
                <a:sym typeface="Symbol" pitchFamily="18" charset="2"/>
              </a:rPr>
              <a:t>a*a=a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ea typeface="宋体" panose="02010600030101010101" pitchFamily="2" charset="-122"/>
                <a:sym typeface="Symbol" pitchFamily="18" charset="2"/>
              </a:rPr>
              <a:t>2)</a:t>
            </a:r>
            <a:r>
              <a:rPr lang="zh-CN" altLang="en-US" sz="2400" b="1" dirty="0">
                <a:sym typeface="Symbol" pitchFamily="18" charset="2"/>
              </a:rPr>
              <a:t> </a:t>
            </a:r>
            <a:r>
              <a:rPr lang="en-US" altLang="zh-CN" sz="2400" b="1" dirty="0" err="1">
                <a:sym typeface="Symbol" pitchFamily="18" charset="2"/>
              </a:rPr>
              <a:t>a,b</a:t>
            </a:r>
            <a:r>
              <a:rPr lang="en-US" altLang="zh-CN" sz="2400" b="1" dirty="0">
                <a:sym typeface="Symbol" pitchFamily="18" charset="2"/>
              </a:rPr>
              <a:t> S</a:t>
            </a:r>
            <a:r>
              <a:rPr lang="en-US" altLang="zh-CN" sz="2000" b="1" dirty="0">
                <a:sym typeface="Symbol" pitchFamily="18" charset="2"/>
              </a:rPr>
              <a:t> , </a:t>
            </a:r>
            <a:r>
              <a:rPr lang="zh-CN" altLang="en-US" sz="2000" b="1" dirty="0">
                <a:sym typeface="Symbol" pitchFamily="18" charset="2"/>
              </a:rPr>
              <a:t>有</a:t>
            </a:r>
            <a:r>
              <a:rPr lang="en-US" altLang="zh-CN" sz="2800" b="1" dirty="0">
                <a:sym typeface="Symbol" pitchFamily="18" charset="2"/>
              </a:rPr>
              <a:t>a*b</a:t>
            </a:r>
            <a:r>
              <a:rPr lang="zh-CN" altLang="en-US" sz="2800" b="1" dirty="0">
                <a:sym typeface="Symbol" pitchFamily="18" charset="2"/>
              </a:rPr>
              <a:t>*</a:t>
            </a:r>
            <a:r>
              <a:rPr lang="en-US" altLang="zh-CN" sz="2800" b="1" dirty="0">
                <a:sym typeface="Symbol" pitchFamily="18" charset="2"/>
              </a:rPr>
              <a:t>a=a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ym typeface="Symbol" pitchFamily="18" charset="2"/>
              </a:rPr>
              <a:t>3</a:t>
            </a:r>
            <a:r>
              <a:rPr lang="zh-CN" altLang="en-US" sz="2800" b="1" dirty="0">
                <a:sym typeface="Symbol" pitchFamily="18" charset="2"/>
              </a:rPr>
              <a:t>）</a:t>
            </a:r>
            <a:r>
              <a:rPr lang="en-US" altLang="zh-CN" sz="2800" b="1" dirty="0" err="1">
                <a:sym typeface="Symbol" pitchFamily="18" charset="2"/>
              </a:rPr>
              <a:t>a,b,c</a:t>
            </a:r>
            <a:r>
              <a:rPr lang="en-US" altLang="zh-CN" sz="2800" b="1" dirty="0">
                <a:sym typeface="Symbol" pitchFamily="18" charset="2"/>
              </a:rPr>
              <a:t> </a:t>
            </a:r>
            <a:r>
              <a:rPr lang="en-US" altLang="zh-CN" sz="2400" b="1" dirty="0">
                <a:sym typeface="Symbol" pitchFamily="18" charset="2"/>
              </a:rPr>
              <a:t>S ,</a:t>
            </a:r>
            <a:r>
              <a:rPr lang="zh-CN" altLang="en-US" sz="2400" b="1" dirty="0">
                <a:sym typeface="Symbol" pitchFamily="18" charset="2"/>
              </a:rPr>
              <a:t>有</a:t>
            </a:r>
            <a:r>
              <a:rPr lang="en-US" altLang="zh-CN" sz="2800" b="1" dirty="0">
                <a:sym typeface="Symbol" pitchFamily="18" charset="2"/>
              </a:rPr>
              <a:t>a*b</a:t>
            </a:r>
            <a:r>
              <a:rPr lang="zh-CN" altLang="en-US" sz="2800" b="1" dirty="0">
                <a:sym typeface="Symbol" pitchFamily="18" charset="2"/>
              </a:rPr>
              <a:t>*</a:t>
            </a:r>
            <a:r>
              <a:rPr lang="en-US" altLang="zh-CN" sz="2800" b="1" dirty="0">
                <a:sym typeface="Symbol" pitchFamily="18" charset="2"/>
              </a:rPr>
              <a:t>c=a</a:t>
            </a:r>
            <a:r>
              <a:rPr lang="zh-CN" altLang="en-US" sz="2800" b="1" dirty="0">
                <a:sym typeface="Symbol" pitchFamily="18" charset="2"/>
              </a:rPr>
              <a:t>*</a:t>
            </a:r>
            <a:r>
              <a:rPr lang="en-US" altLang="zh-CN" sz="2800" b="1" dirty="0">
                <a:sym typeface="Symbol" pitchFamily="18" charset="2"/>
              </a:rPr>
              <a:t>c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ym typeface="Symbol" pitchFamily="18" charset="2"/>
              </a:rPr>
              <a:t>证明：由已知条件得，若</a:t>
            </a:r>
            <a:r>
              <a:rPr lang="en-US" altLang="zh-CN" sz="2800" b="1" dirty="0">
                <a:sym typeface="Symbol" pitchFamily="18" charset="2"/>
              </a:rPr>
              <a:t>a*b=b*a,</a:t>
            </a:r>
            <a:r>
              <a:rPr lang="zh-CN" altLang="en-US" sz="2800" b="1" dirty="0">
                <a:sym typeface="Symbol" pitchFamily="18" charset="2"/>
              </a:rPr>
              <a:t>则</a:t>
            </a:r>
            <a:r>
              <a:rPr lang="en-US" altLang="zh-CN" sz="2800" b="1" dirty="0">
                <a:sym typeface="Symbol" pitchFamily="18" charset="2"/>
              </a:rPr>
              <a:t>a=b</a:t>
            </a:r>
          </a:p>
          <a:p>
            <a:pPr marL="514350" indent="-514350">
              <a:buFont typeface="Wingdings" panose="05000000000000000000" pitchFamily="2" charset="2"/>
              <a:buAutoNum type="arabicParenR"/>
              <a:defRPr/>
            </a:pPr>
            <a:r>
              <a:rPr lang="en-US" altLang="zh-CN" sz="2800" b="1" dirty="0">
                <a:sym typeface="Symbol" pitchFamily="18" charset="2"/>
              </a:rPr>
              <a:t>(a*a)*a= a*(a*a), a*a=a</a:t>
            </a:r>
          </a:p>
          <a:p>
            <a:pPr marL="514350" indent="-514350">
              <a:buFont typeface="Wingdings" panose="05000000000000000000" pitchFamily="2" charset="2"/>
              <a:buAutoNum type="arabicParenR"/>
              <a:defRPr/>
            </a:pPr>
            <a:r>
              <a:rPr lang="en-US" altLang="zh-CN" sz="2800" b="1" dirty="0">
                <a:sym typeface="Symbol" pitchFamily="18" charset="2"/>
              </a:rPr>
              <a:t>(a*b</a:t>
            </a:r>
            <a:r>
              <a:rPr lang="zh-CN" altLang="en-US" sz="2800" b="1" dirty="0">
                <a:sym typeface="Symbol" pitchFamily="18" charset="2"/>
              </a:rPr>
              <a:t>*</a:t>
            </a:r>
            <a:r>
              <a:rPr lang="en-US" altLang="zh-CN" sz="2800" b="1" dirty="0">
                <a:sym typeface="Symbol" pitchFamily="18" charset="2"/>
              </a:rPr>
              <a:t>a)*a= a*b*a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ym typeface="Symbol" pitchFamily="18" charset="2"/>
              </a:rPr>
              <a:t>      a*(a*b*a)=a*b*a ,</a:t>
            </a:r>
            <a:r>
              <a:rPr lang="zh-CN" altLang="en-US" sz="2800" b="1" dirty="0">
                <a:sym typeface="Symbol" pitchFamily="18" charset="2"/>
              </a:rPr>
              <a:t>因此 </a:t>
            </a:r>
            <a:r>
              <a:rPr lang="en-US" altLang="zh-CN" sz="2800" b="1" dirty="0">
                <a:sym typeface="Symbol" pitchFamily="18" charset="2"/>
              </a:rPr>
              <a:t>a*b</a:t>
            </a:r>
            <a:r>
              <a:rPr lang="zh-CN" altLang="en-US" sz="2800" b="1" dirty="0">
                <a:sym typeface="Symbol" pitchFamily="18" charset="2"/>
              </a:rPr>
              <a:t>*</a:t>
            </a:r>
            <a:r>
              <a:rPr lang="en-US" altLang="zh-CN" sz="2800" b="1" dirty="0">
                <a:sym typeface="Symbol" pitchFamily="18" charset="2"/>
              </a:rPr>
              <a:t>a=a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ym typeface="Symbol" pitchFamily="18" charset="2"/>
              </a:rPr>
              <a:t>3) (a*b</a:t>
            </a:r>
            <a:r>
              <a:rPr lang="zh-CN" altLang="en-US" sz="2800" b="1" dirty="0">
                <a:sym typeface="Symbol" pitchFamily="18" charset="2"/>
              </a:rPr>
              <a:t>*</a:t>
            </a:r>
            <a:r>
              <a:rPr lang="en-US" altLang="zh-CN" sz="2800" b="1" dirty="0">
                <a:sym typeface="Symbol" pitchFamily="18" charset="2"/>
              </a:rPr>
              <a:t>c)*(a</a:t>
            </a:r>
            <a:r>
              <a:rPr lang="zh-CN" altLang="en-US" sz="2800" b="1" dirty="0">
                <a:sym typeface="Symbol" pitchFamily="18" charset="2"/>
              </a:rPr>
              <a:t>*</a:t>
            </a:r>
            <a:r>
              <a:rPr lang="en-US" altLang="zh-CN" sz="2800" b="1" dirty="0">
                <a:sym typeface="Symbol" pitchFamily="18" charset="2"/>
              </a:rPr>
              <a:t>c)=a*b*(c*a*c)=a*b*c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ym typeface="Symbol" pitchFamily="18" charset="2"/>
              </a:rPr>
              <a:t>    (a</a:t>
            </a:r>
            <a:r>
              <a:rPr lang="zh-CN" altLang="en-US" sz="2800" b="1" dirty="0">
                <a:sym typeface="Symbol" pitchFamily="18" charset="2"/>
              </a:rPr>
              <a:t>*</a:t>
            </a:r>
            <a:r>
              <a:rPr lang="en-US" altLang="zh-CN" sz="2800" b="1" dirty="0">
                <a:sym typeface="Symbol" pitchFamily="18" charset="2"/>
              </a:rPr>
              <a:t>c)*(a*b</a:t>
            </a:r>
            <a:r>
              <a:rPr lang="zh-CN" altLang="en-US" sz="2800" b="1" dirty="0">
                <a:sym typeface="Symbol" pitchFamily="18" charset="2"/>
              </a:rPr>
              <a:t>*</a:t>
            </a:r>
            <a:r>
              <a:rPr lang="en-US" altLang="zh-CN" sz="2800" b="1" dirty="0">
                <a:sym typeface="Symbol" pitchFamily="18" charset="2"/>
              </a:rPr>
              <a:t>c)=(a*c*a)*b*c=a*b*c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ym typeface="Symbol" pitchFamily="18" charset="2"/>
              </a:rPr>
              <a:t>    </a:t>
            </a:r>
            <a:r>
              <a:rPr lang="zh-CN" altLang="en-US" sz="2800" b="1" dirty="0">
                <a:sym typeface="Symbol" pitchFamily="18" charset="2"/>
              </a:rPr>
              <a:t>因此，</a:t>
            </a:r>
            <a:r>
              <a:rPr lang="en-US" altLang="zh-CN" sz="2800" b="1" dirty="0">
                <a:sym typeface="Symbol" pitchFamily="18" charset="2"/>
              </a:rPr>
              <a:t>a*b</a:t>
            </a:r>
            <a:r>
              <a:rPr lang="zh-CN" altLang="en-US" sz="2800" b="1" dirty="0">
                <a:sym typeface="Symbol" pitchFamily="18" charset="2"/>
              </a:rPr>
              <a:t>*</a:t>
            </a:r>
            <a:r>
              <a:rPr lang="en-US" altLang="zh-CN" sz="2800" b="1" dirty="0">
                <a:sym typeface="Symbol" pitchFamily="18" charset="2"/>
              </a:rPr>
              <a:t>c=a</a:t>
            </a:r>
            <a:r>
              <a:rPr lang="zh-CN" altLang="en-US" sz="2800" b="1" dirty="0">
                <a:sym typeface="Symbol" pitchFamily="18" charset="2"/>
              </a:rPr>
              <a:t>*</a:t>
            </a:r>
            <a:r>
              <a:rPr lang="en-US" altLang="zh-CN" sz="2800" b="1" dirty="0">
                <a:sym typeface="Symbol" pitchFamily="18" charset="2"/>
              </a:rPr>
              <a:t>c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dirty="0">
              <a:sym typeface="Symbol" pitchFamily="18" charset="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dirty="0">
              <a:sym typeface="Symbol" pitchFamily="18" charset="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dirty="0">
              <a:sym typeface="Symbol" pitchFamily="18" charset="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dirty="0">
              <a:sym typeface="Symbol" pitchFamily="18" charset="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dirty="0">
              <a:sym typeface="Symbol" pitchFamily="18" charset="2"/>
            </a:endParaRPr>
          </a:p>
          <a:p>
            <a:pPr marL="514350" indent="-514350">
              <a:buFont typeface="Wingdings" panose="05000000000000000000" pitchFamily="2" charset="2"/>
              <a:buAutoNum type="arabicParenR"/>
              <a:defRPr/>
            </a:pPr>
            <a:endParaRPr lang="en-US" altLang="zh-CN" sz="2800" b="1" dirty="0">
              <a:sym typeface="Symbol" pitchFamily="18" charset="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dirty="0">
              <a:sym typeface="Symbol" pitchFamily="18" charset="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510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1752F79-AD45-4F4F-9D43-1D86EFA4BBFA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137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620713"/>
            <a:ext cx="8301038" cy="5761037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ea typeface="宋体" panose="02010600030101010101" pitchFamily="2" charset="-122"/>
              </a:rPr>
              <a:t>8</a:t>
            </a:r>
            <a:r>
              <a:rPr lang="en-US" altLang="zh-CN" sz="2800" dirty="0">
                <a:solidFill>
                  <a:srgbClr val="0000FF"/>
                </a:solidFill>
                <a:ea typeface="宋体" panose="02010600030101010101" pitchFamily="2" charset="-122"/>
              </a:rPr>
              <a:t>. </a:t>
            </a:r>
            <a:r>
              <a:rPr lang="zh-CN" altLang="en-US" sz="2800" dirty="0">
                <a:ea typeface="宋体" panose="02010600030101010101" pitchFamily="2" charset="-122"/>
              </a:rPr>
              <a:t>设</a:t>
            </a:r>
            <a:r>
              <a:rPr lang="en-US" altLang="zh-CN" sz="2800" dirty="0">
                <a:ea typeface="宋体" panose="02010600030101010101" pitchFamily="2" charset="-122"/>
              </a:rPr>
              <a:t>(G,</a:t>
            </a:r>
            <a:r>
              <a:rPr lang="zh-CN" altLang="en-US" sz="2800" b="1" dirty="0"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•</a:t>
            </a:r>
            <a:r>
              <a:rPr lang="en-US" altLang="zh-CN" sz="2800" b="1" dirty="0">
                <a:ea typeface="宋体" panose="02010600030101010101" pitchFamily="2" charset="-122"/>
              </a:rPr>
              <a:t>)</a:t>
            </a:r>
            <a:r>
              <a:rPr lang="zh-CN" altLang="en-US" sz="2800" b="1" dirty="0">
                <a:ea typeface="宋体" panose="02010600030101010101" pitchFamily="2" charset="-122"/>
              </a:rPr>
              <a:t>是一个群，</a:t>
            </a:r>
            <a:r>
              <a:rPr lang="en-US" altLang="zh-CN" sz="2800" b="1" dirty="0">
                <a:ea typeface="宋体" panose="02010600030101010101" pitchFamily="2" charset="-122"/>
              </a:rPr>
              <a:t>u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 G</a:t>
            </a:r>
            <a:r>
              <a:rPr lang="zh-CN" altLang="en-US" sz="2800" b="1" dirty="0">
                <a:ea typeface="宋体" panose="02010600030101010101" pitchFamily="2" charset="-122"/>
                <a:sym typeface="Symbol" panose="05050102010706020507" pitchFamily="18" charset="2"/>
              </a:rPr>
              <a:t>，定义</a:t>
            </a:r>
            <a:endParaRPr lang="en-US" altLang="zh-CN" sz="2800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    a*b= a•</a:t>
            </a:r>
            <a:r>
              <a:rPr lang="en-US" altLang="zh-CN" sz="2800" b="1" dirty="0">
                <a:ea typeface="宋体" panose="02010600030101010101" pitchFamily="2" charset="-122"/>
              </a:rPr>
              <a:t>u</a:t>
            </a:r>
            <a:r>
              <a:rPr lang="en-US" altLang="zh-CN" sz="28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•b , </a:t>
            </a:r>
            <a:r>
              <a:rPr lang="zh-CN" altLang="en-US" sz="2800" b="1" dirty="0"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a, </a:t>
            </a:r>
            <a:r>
              <a:rPr lang="en-US" altLang="zh-CN" sz="2800" b="1" dirty="0" err="1">
                <a:ea typeface="宋体" panose="02010600030101010101" pitchFamily="2" charset="-122"/>
                <a:sym typeface="Symbol" panose="05050102010706020507" pitchFamily="18" charset="2"/>
              </a:rPr>
              <a:t>bG</a:t>
            </a:r>
            <a:r>
              <a:rPr lang="zh-CN" altLang="en-US" sz="2800" b="1" dirty="0">
                <a:ea typeface="宋体" panose="02010600030101010101" pitchFamily="2" charset="-122"/>
                <a:sym typeface="Symbol" panose="05050102010706020507" pitchFamily="18" charset="2"/>
              </a:rPr>
              <a:t>，证明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(G,*)</a:t>
            </a:r>
            <a:r>
              <a:rPr lang="zh-CN" altLang="en-US" sz="2800" b="1" dirty="0">
                <a:ea typeface="宋体" panose="02010600030101010101" pitchFamily="2" charset="-122"/>
                <a:sym typeface="Symbol" panose="05050102010706020507" pitchFamily="18" charset="2"/>
              </a:rPr>
              <a:t>是一个群。</a:t>
            </a:r>
            <a:endParaRPr lang="en-US" altLang="zh-CN" sz="2800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800" b="1" dirty="0">
                <a:ea typeface="宋体" panose="02010600030101010101" pitchFamily="2" charset="-122"/>
                <a:sym typeface="Symbol" panose="05050102010706020507" pitchFamily="18" charset="2"/>
              </a:rPr>
              <a:t>证明：</a:t>
            </a:r>
            <a:endParaRPr lang="en-US" altLang="zh-CN" sz="2800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sz="2800" b="1" dirty="0">
                <a:ea typeface="宋体" panose="02010600030101010101" pitchFamily="2" charset="-122"/>
                <a:sym typeface="Symbol" panose="05050102010706020507" pitchFamily="18" charset="2"/>
              </a:rPr>
              <a:t>）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zh-CN" altLang="en-US" sz="2800" b="1" dirty="0">
                <a:ea typeface="宋体" panose="02010600030101010101" pitchFamily="2" charset="-122"/>
                <a:sym typeface="Symbol" panose="05050102010706020507" pitchFamily="18" charset="2"/>
              </a:rPr>
              <a:t>非空</a:t>
            </a:r>
            <a:endParaRPr lang="en-US" altLang="zh-CN" sz="2800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sz="2800" b="1" dirty="0">
                <a:ea typeface="宋体" panose="02010600030101010101" pitchFamily="2" charset="-122"/>
                <a:sym typeface="Symbol" panose="05050102010706020507" pitchFamily="18" charset="2"/>
              </a:rPr>
              <a:t>）封闭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zh-CN" altLang="en-US" sz="2800" b="1" dirty="0"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a, </a:t>
            </a:r>
            <a:r>
              <a:rPr lang="en-US" altLang="zh-CN" sz="2800" b="1" dirty="0" err="1">
                <a:ea typeface="宋体" panose="02010600030101010101" pitchFamily="2" charset="-122"/>
                <a:sym typeface="Symbol" panose="05050102010706020507" pitchFamily="18" charset="2"/>
              </a:rPr>
              <a:t>bG</a:t>
            </a:r>
            <a:r>
              <a:rPr lang="zh-CN" altLang="en-US" sz="28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a*b= a•</a:t>
            </a:r>
            <a:r>
              <a:rPr lang="en-US" altLang="zh-CN" sz="2800" b="1" dirty="0">
                <a:ea typeface="宋体" panose="02010600030101010101" pitchFamily="2" charset="-122"/>
              </a:rPr>
              <a:t>u</a:t>
            </a:r>
            <a:r>
              <a:rPr lang="en-US" altLang="zh-CN" sz="28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•b G</a:t>
            </a:r>
            <a:r>
              <a:rPr lang="zh-CN" altLang="en-US" sz="28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endParaRPr lang="en-US" altLang="zh-CN" sz="2800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lang="zh-CN" altLang="en-US" sz="2800" b="1" dirty="0">
                <a:ea typeface="宋体" panose="02010600030101010101" pitchFamily="2" charset="-122"/>
                <a:sym typeface="Symbol" panose="05050102010706020507" pitchFamily="18" charset="2"/>
              </a:rPr>
              <a:t>）结合律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r>
              <a:rPr lang="zh-CN" altLang="en-US" sz="2800" b="1" dirty="0"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a, </a:t>
            </a:r>
            <a:r>
              <a:rPr lang="en-US" altLang="zh-CN" sz="2800" b="1" dirty="0" err="1">
                <a:ea typeface="宋体" panose="02010600030101010101" pitchFamily="2" charset="-122"/>
                <a:sym typeface="Symbol" panose="05050102010706020507" pitchFamily="18" charset="2"/>
              </a:rPr>
              <a:t>b,cG</a:t>
            </a:r>
            <a:endParaRPr lang="en-US" altLang="zh-CN" sz="2800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(a*b)*c=(a•</a:t>
            </a:r>
            <a:r>
              <a:rPr lang="en-US" altLang="zh-CN" sz="2800" b="1" dirty="0">
                <a:ea typeface="宋体" panose="02010600030101010101" pitchFamily="2" charset="-122"/>
              </a:rPr>
              <a:t>u</a:t>
            </a:r>
            <a:r>
              <a:rPr lang="en-US" altLang="zh-CN" sz="28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•b) •c=a•</a:t>
            </a:r>
            <a:r>
              <a:rPr lang="en-US" altLang="zh-CN" sz="2800" b="1" dirty="0">
                <a:ea typeface="宋体" panose="02010600030101010101" pitchFamily="2" charset="-122"/>
              </a:rPr>
              <a:t>u</a:t>
            </a:r>
            <a:r>
              <a:rPr lang="en-US" altLang="zh-CN" sz="28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•b•</a:t>
            </a:r>
            <a:r>
              <a:rPr lang="en-US" altLang="zh-CN" sz="2800" b="1" dirty="0">
                <a:ea typeface="宋体" panose="02010600030101010101" pitchFamily="2" charset="-122"/>
              </a:rPr>
              <a:t>u</a:t>
            </a:r>
            <a:r>
              <a:rPr lang="en-US" altLang="zh-CN" sz="28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•c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a*(b*c)=a*(b•</a:t>
            </a:r>
            <a:r>
              <a:rPr lang="en-US" altLang="zh-CN" sz="2800" b="1" dirty="0">
                <a:ea typeface="宋体" panose="02010600030101010101" pitchFamily="2" charset="-122"/>
              </a:rPr>
              <a:t>u</a:t>
            </a:r>
            <a:r>
              <a:rPr lang="en-US" altLang="zh-CN" sz="28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•c)=a•</a:t>
            </a:r>
            <a:r>
              <a:rPr lang="en-US" altLang="zh-CN" sz="2800" b="1" dirty="0">
                <a:ea typeface="宋体" panose="02010600030101010101" pitchFamily="2" charset="-122"/>
              </a:rPr>
              <a:t>u</a:t>
            </a:r>
            <a:r>
              <a:rPr lang="en-US" altLang="zh-CN" sz="28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•b•</a:t>
            </a:r>
            <a:r>
              <a:rPr lang="en-US" altLang="zh-CN" sz="2800" b="1" dirty="0">
                <a:ea typeface="宋体" panose="02010600030101010101" pitchFamily="2" charset="-122"/>
              </a:rPr>
              <a:t>u</a:t>
            </a:r>
            <a:r>
              <a:rPr lang="en-US" altLang="zh-CN" sz="28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•c  </a:t>
            </a:r>
            <a:r>
              <a:rPr lang="zh-CN" altLang="en-US" sz="28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(a*b)*c=a*(b*c)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4</a:t>
            </a:r>
            <a:r>
              <a:rPr lang="zh-CN" altLang="en-US" sz="2800" b="1" dirty="0">
                <a:ea typeface="宋体" panose="02010600030101010101" pitchFamily="2" charset="-122"/>
                <a:sym typeface="Symbol" panose="05050102010706020507" pitchFamily="18" charset="2"/>
              </a:rPr>
              <a:t>）左壹：</a:t>
            </a:r>
            <a:r>
              <a:rPr lang="en-US" altLang="zh-CN" sz="2800" b="1" dirty="0" err="1">
                <a:ea typeface="宋体" panose="02010600030101010101" pitchFamily="2" charset="-122"/>
                <a:sym typeface="Symbol" panose="05050102010706020507" pitchFamily="18" charset="2"/>
              </a:rPr>
              <a:t>aG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sz="2800" b="1" dirty="0">
                <a:ea typeface="宋体" panose="02010600030101010101" pitchFamily="2" charset="-122"/>
                <a:sym typeface="Symbol" panose="05050102010706020507" pitchFamily="18" charset="2"/>
              </a:rPr>
              <a:t>有</a:t>
            </a:r>
            <a:r>
              <a:rPr lang="en-US" altLang="zh-CN" sz="2800" b="1" dirty="0" err="1">
                <a:ea typeface="宋体" panose="02010600030101010101" pitchFamily="2" charset="-122"/>
                <a:sym typeface="Symbol" panose="05050102010706020507" pitchFamily="18" charset="2"/>
              </a:rPr>
              <a:t>uG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sz="2800" b="1" dirty="0" err="1">
                <a:ea typeface="宋体" panose="02010600030101010101" pitchFamily="2" charset="-122"/>
                <a:sym typeface="Symbol" panose="05050102010706020507" pitchFamily="18" charset="2"/>
              </a:rPr>
              <a:t>u•a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=u•</a:t>
            </a:r>
            <a:r>
              <a:rPr lang="en-US" altLang="zh-CN" sz="2800" b="1" dirty="0">
                <a:ea typeface="宋体" panose="02010600030101010101" pitchFamily="2" charset="-122"/>
              </a:rPr>
              <a:t>u</a:t>
            </a:r>
            <a:r>
              <a:rPr lang="en-US" altLang="zh-CN" sz="28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•a=a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5) </a:t>
            </a:r>
            <a:r>
              <a:rPr lang="zh-CN" altLang="en-US" sz="2800" b="1" dirty="0">
                <a:ea typeface="宋体" panose="02010600030101010101" pitchFamily="2" charset="-122"/>
                <a:sym typeface="Symbol" panose="05050102010706020507" pitchFamily="18" charset="2"/>
              </a:rPr>
              <a:t>左逆：</a:t>
            </a:r>
            <a:r>
              <a:rPr lang="en-US" altLang="zh-CN" sz="2800" b="1" dirty="0" err="1">
                <a:ea typeface="宋体" panose="02010600030101010101" pitchFamily="2" charset="-122"/>
                <a:sym typeface="Symbol" panose="05050102010706020507" pitchFamily="18" charset="2"/>
              </a:rPr>
              <a:t>aG</a:t>
            </a:r>
            <a:r>
              <a:rPr lang="zh-CN" altLang="en-US" sz="2800" b="1" dirty="0">
                <a:ea typeface="宋体" panose="02010600030101010101" pitchFamily="2" charset="-122"/>
                <a:sym typeface="Symbol" panose="05050102010706020507" pitchFamily="18" charset="2"/>
              </a:rPr>
              <a:t>，有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(u•a</a:t>
            </a:r>
            <a:r>
              <a:rPr lang="en-US" altLang="zh-CN" sz="28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-1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•u) G,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 (u•a</a:t>
            </a:r>
            <a:r>
              <a:rPr lang="en-US" altLang="zh-CN" sz="28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-1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•u)  •a=(u•a</a:t>
            </a:r>
            <a:r>
              <a:rPr lang="en-US" altLang="zh-CN" sz="28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-1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•u) • </a:t>
            </a:r>
            <a:r>
              <a:rPr lang="en-US" altLang="zh-CN" sz="2800" b="1" dirty="0">
                <a:ea typeface="宋体" panose="02010600030101010101" pitchFamily="2" charset="-122"/>
              </a:rPr>
              <a:t>u</a:t>
            </a:r>
            <a:r>
              <a:rPr lang="en-US" altLang="zh-CN" sz="28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•a=u</a:t>
            </a:r>
            <a:endParaRPr lang="en-US" altLang="zh-CN" sz="2800" b="1" baseline="300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sz="2800" dirty="0"/>
          </a:p>
        </p:txBody>
      </p:sp>
      <p:sp>
        <p:nvSpPr>
          <p:cNvPr id="17613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0202582-BB0D-4F04-9A99-06AED0DAD59C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138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975" y="765175"/>
            <a:ext cx="8301038" cy="52832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3000" b="1" dirty="0">
                <a:solidFill>
                  <a:srgbClr val="0000FF"/>
                </a:solidFill>
                <a:ea typeface="宋体" panose="02010600030101010101" pitchFamily="2" charset="-122"/>
              </a:rPr>
              <a:t>9.</a:t>
            </a:r>
            <a:r>
              <a:rPr lang="zh-CN" altLang="en-US" sz="3000" b="1" dirty="0">
                <a:ea typeface="宋体" panose="02010600030101010101" pitchFamily="2" charset="-122"/>
              </a:rPr>
              <a:t>设</a:t>
            </a:r>
            <a:r>
              <a:rPr lang="en-US" altLang="zh-CN" sz="3000" b="1" dirty="0">
                <a:ea typeface="宋体" panose="02010600030101010101" pitchFamily="2" charset="-122"/>
              </a:rPr>
              <a:t>G</a:t>
            </a:r>
            <a:r>
              <a:rPr lang="zh-CN" altLang="en-US" sz="3000" b="1" dirty="0">
                <a:ea typeface="宋体" panose="02010600030101010101" pitchFamily="2" charset="-122"/>
              </a:rPr>
              <a:t>是一个非交换群</a:t>
            </a:r>
            <a:r>
              <a:rPr lang="en-US" altLang="zh-CN" sz="3000" b="1" dirty="0">
                <a:ea typeface="宋体" panose="02010600030101010101" pitchFamily="2" charset="-122"/>
              </a:rPr>
              <a:t>,</a:t>
            </a:r>
            <a:r>
              <a:rPr lang="zh-CN" altLang="en-US" sz="3000" b="1" dirty="0">
                <a:ea typeface="宋体" panose="02010600030101010101" pitchFamily="2" charset="-122"/>
              </a:rPr>
              <a:t>则</a:t>
            </a:r>
            <a:r>
              <a:rPr lang="en-US" altLang="zh-CN" sz="3000" b="1" dirty="0">
                <a:ea typeface="宋体" panose="02010600030101010101" pitchFamily="2" charset="-122"/>
              </a:rPr>
              <a:t>G</a:t>
            </a:r>
            <a:r>
              <a:rPr lang="zh-CN" altLang="en-US" sz="3000" b="1" dirty="0">
                <a:ea typeface="宋体" panose="02010600030101010101" pitchFamily="2" charset="-122"/>
              </a:rPr>
              <a:t>中存在</a:t>
            </a:r>
            <a:r>
              <a:rPr lang="en-US" altLang="zh-CN" sz="3000" b="1" dirty="0" err="1">
                <a:ea typeface="宋体" panose="02010600030101010101" pitchFamily="2" charset="-122"/>
              </a:rPr>
              <a:t>a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b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，使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ab=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ba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且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都不是单位元。</a:t>
            </a:r>
            <a:endParaRPr lang="en-US" altLang="zh-CN" sz="3000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3000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证明：先证存在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a G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，使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aa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 . 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反证法，假设 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xG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，都有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x=x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-1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，则 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x,yG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xy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=(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xy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=y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yx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 , 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与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是非交换群矛盾。</a:t>
            </a:r>
            <a:endParaRPr lang="en-US" altLang="zh-CN" sz="3000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          设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aG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a a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. 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令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b=a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-1 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，则有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ab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ae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be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且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ab=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ba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endParaRPr lang="zh-CN" altLang="en-US" sz="3000" b="1" dirty="0">
              <a:ea typeface="宋体" panose="02010600030101010101" pitchFamily="2" charset="-122"/>
            </a:endParaRPr>
          </a:p>
        </p:txBody>
      </p:sp>
      <p:sp>
        <p:nvSpPr>
          <p:cNvPr id="17817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123A320-896E-40CB-8F46-0E2B2188B2D0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139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内容占位符 2"/>
          <p:cNvSpPr>
            <a:spLocks noGrp="1"/>
          </p:cNvSpPr>
          <p:nvPr>
            <p:ph idx="1"/>
          </p:nvPr>
        </p:nvSpPr>
        <p:spPr>
          <a:xfrm>
            <a:off x="561975" y="692150"/>
            <a:ext cx="8301038" cy="5545138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solidFill>
                  <a:srgbClr val="0000FF"/>
                </a:solidFill>
                <a:ea typeface="宋体" panose="02010600030101010101" pitchFamily="2" charset="-122"/>
              </a:rPr>
              <a:t>10</a:t>
            </a: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、</a:t>
            </a:r>
            <a:r>
              <a:rPr lang="zh-CN" altLang="en-US" sz="3200" b="1" dirty="0">
                <a:ea typeface="宋体" panose="02010600030101010101" pitchFamily="2" charset="-122"/>
              </a:rPr>
              <a:t>证明：在偶数元的有限群</a:t>
            </a:r>
            <a:r>
              <a:rPr lang="en-US" altLang="zh-CN" sz="3200" b="1" dirty="0">
                <a:ea typeface="宋体" panose="02010600030101010101" pitchFamily="2" charset="-122"/>
              </a:rPr>
              <a:t>G</a:t>
            </a:r>
            <a:r>
              <a:rPr lang="zh-CN" altLang="en-US" sz="3200" b="1" dirty="0">
                <a:ea typeface="宋体" panose="02010600030101010101" pitchFamily="2" charset="-122"/>
              </a:rPr>
              <a:t>中必存在元素</a:t>
            </a:r>
            <a:r>
              <a:rPr lang="en-US" altLang="zh-CN" sz="3200" b="1" dirty="0" err="1">
                <a:ea typeface="宋体" panose="02010600030101010101" pitchFamily="2" charset="-122"/>
              </a:rPr>
              <a:t>a≠e</a:t>
            </a:r>
            <a:r>
              <a:rPr lang="en-US" altLang="zh-CN" sz="3200" b="1" dirty="0"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ea typeface="宋体" panose="02010600030101010101" pitchFamily="2" charset="-122"/>
              </a:rPr>
              <a:t>使得</a:t>
            </a:r>
            <a:r>
              <a:rPr lang="en-US" altLang="zh-CN" sz="3200" b="1" dirty="0">
                <a:ea typeface="宋体" panose="02010600030101010101" pitchFamily="2" charset="-122"/>
              </a:rPr>
              <a:t>a</a:t>
            </a:r>
            <a:r>
              <a:rPr lang="en-US" altLang="zh-CN" sz="3200" b="1" baseline="30000" dirty="0">
                <a:ea typeface="宋体" panose="02010600030101010101" pitchFamily="2" charset="-122"/>
              </a:rPr>
              <a:t>2</a:t>
            </a:r>
            <a:r>
              <a:rPr lang="en-US" altLang="zh-CN" sz="3200" b="1" dirty="0">
                <a:ea typeface="宋体" panose="02010600030101010101" pitchFamily="2" charset="-122"/>
              </a:rPr>
              <a:t>=e</a:t>
            </a:r>
            <a:r>
              <a:rPr lang="zh-CN" altLang="en-US" sz="3200" b="1" dirty="0">
                <a:ea typeface="宋体" panose="02010600030101010101" pitchFamily="2" charset="-122"/>
              </a:rPr>
              <a:t>，</a:t>
            </a:r>
            <a:r>
              <a:rPr lang="en-US" altLang="zh-CN" sz="3200" b="1" dirty="0">
                <a:ea typeface="宋体" panose="02010600030101010101" pitchFamily="2" charset="-122"/>
              </a:rPr>
              <a:t>(</a:t>
            </a:r>
            <a:r>
              <a:rPr lang="zh-CN" altLang="en-US" sz="3200" b="1" dirty="0">
                <a:ea typeface="宋体" panose="02010600030101010101" pitchFamily="2" charset="-122"/>
              </a:rPr>
              <a:t>其中</a:t>
            </a:r>
            <a:r>
              <a:rPr lang="en-US" altLang="zh-CN" sz="3200" b="1" dirty="0">
                <a:ea typeface="宋体" panose="02010600030101010101" pitchFamily="2" charset="-122"/>
              </a:rPr>
              <a:t>e</a:t>
            </a:r>
            <a:r>
              <a:rPr lang="zh-CN" altLang="en-US" sz="3200" b="1" dirty="0">
                <a:ea typeface="宋体" panose="02010600030101010101" pitchFamily="2" charset="-122"/>
              </a:rPr>
              <a:t>为单位元</a:t>
            </a:r>
            <a:r>
              <a:rPr lang="en-US" altLang="zh-CN" sz="3200" b="1" dirty="0">
                <a:ea typeface="宋体" panose="02010600030101010101" pitchFamily="2" charset="-122"/>
              </a:rPr>
              <a:t>)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证明</a:t>
            </a:r>
            <a:r>
              <a:rPr lang="zh-CN" altLang="en-US" sz="3200" b="1" dirty="0">
                <a:ea typeface="宋体" panose="02010600030101010101" pitchFamily="2" charset="-122"/>
              </a:rPr>
              <a:t>：</a:t>
            </a:r>
            <a:endParaRPr lang="en-US" altLang="zh-CN" sz="3200" b="1" dirty="0"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ea typeface="宋体" panose="02010600030101010101" pitchFamily="2" charset="-122"/>
              </a:rPr>
              <a:t>只需证明</a:t>
            </a:r>
            <a:r>
              <a:rPr lang="en-US" altLang="zh-CN" sz="3200" b="1" dirty="0">
                <a:ea typeface="宋体" panose="02010600030101010101" pitchFamily="2" charset="-122"/>
              </a:rPr>
              <a:t>G</a:t>
            </a:r>
            <a:r>
              <a:rPr lang="zh-CN" altLang="en-US" sz="3200" b="1" dirty="0">
                <a:ea typeface="宋体" panose="02010600030101010101" pitchFamily="2" charset="-122"/>
              </a:rPr>
              <a:t>中必存在元素</a:t>
            </a:r>
            <a:r>
              <a:rPr lang="en-US" altLang="zh-CN" sz="3200" b="1" dirty="0" err="1">
                <a:ea typeface="宋体" panose="02010600030101010101" pitchFamily="2" charset="-122"/>
              </a:rPr>
              <a:t>a≠e</a:t>
            </a:r>
            <a:r>
              <a:rPr lang="en-US" altLang="zh-CN" sz="3200" b="1" dirty="0"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ea typeface="宋体" panose="02010600030101010101" pitchFamily="2" charset="-122"/>
              </a:rPr>
              <a:t>，使得</a:t>
            </a:r>
            <a:r>
              <a:rPr lang="en-US" altLang="zh-CN" sz="3200" b="1" dirty="0">
                <a:ea typeface="宋体" panose="02010600030101010101" pitchFamily="2" charset="-122"/>
              </a:rPr>
              <a:t>a=a</a:t>
            </a:r>
            <a:r>
              <a:rPr lang="en-US" altLang="zh-CN" sz="3200" b="1" baseline="30000" dirty="0">
                <a:ea typeface="宋体" panose="02010600030101010101" pitchFamily="2" charset="-122"/>
              </a:rPr>
              <a:t>-1</a:t>
            </a:r>
          </a:p>
          <a:p>
            <a:pPr marL="85725" indent="-85725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ea typeface="宋体" panose="02010600030101010101" pitchFamily="2" charset="-122"/>
              </a:rPr>
              <a:t>反证法</a:t>
            </a:r>
            <a:r>
              <a:rPr lang="en-US" altLang="zh-CN" sz="3200" b="1" dirty="0">
                <a:ea typeface="宋体" panose="02010600030101010101" pitchFamily="2" charset="-122"/>
              </a:rPr>
              <a:t>:</a:t>
            </a:r>
            <a:r>
              <a:rPr lang="zh-CN" altLang="en-US" sz="3200" b="1" dirty="0">
                <a:ea typeface="宋体" panose="02010600030101010101" pitchFamily="2" charset="-122"/>
              </a:rPr>
              <a:t>假设对</a:t>
            </a:r>
            <a:r>
              <a:rPr lang="en-US" altLang="zh-CN" sz="3200" b="1" dirty="0">
                <a:ea typeface="宋体" panose="02010600030101010101" pitchFamily="2" charset="-122"/>
              </a:rPr>
              <a:t>G</a:t>
            </a:r>
            <a:r>
              <a:rPr lang="zh-CN" altLang="en-US" sz="3200" b="1" dirty="0">
                <a:ea typeface="宋体" panose="02010600030101010101" pitchFamily="2" charset="-122"/>
              </a:rPr>
              <a:t>中所有的元素</a:t>
            </a:r>
            <a:r>
              <a:rPr lang="en-US" altLang="zh-CN" sz="3200" b="1" dirty="0" err="1">
                <a:ea typeface="宋体" panose="02010600030101010101" pitchFamily="2" charset="-122"/>
              </a:rPr>
              <a:t>a≠e</a:t>
            </a:r>
            <a:r>
              <a:rPr lang="zh-CN" altLang="en-US" sz="3200" b="1" dirty="0">
                <a:ea typeface="宋体" panose="02010600030101010101" pitchFamily="2" charset="-122"/>
              </a:rPr>
              <a:t>，都有</a:t>
            </a:r>
            <a:r>
              <a:rPr lang="en-US" altLang="zh-CN" sz="3200" b="1" dirty="0">
                <a:ea typeface="宋体" panose="02010600030101010101" pitchFamily="2" charset="-122"/>
              </a:rPr>
              <a:t>a≠a</a:t>
            </a:r>
            <a:r>
              <a:rPr lang="en-US" altLang="zh-CN" sz="3200" b="1" baseline="30000" dirty="0">
                <a:ea typeface="宋体" panose="02010600030101010101" pitchFamily="2" charset="-122"/>
              </a:rPr>
              <a:t>-1 </a:t>
            </a:r>
            <a:r>
              <a:rPr lang="zh-CN" altLang="en-US" sz="3200" b="1" dirty="0">
                <a:ea typeface="宋体" panose="02010600030101010101" pitchFamily="2" charset="-122"/>
              </a:rPr>
              <a:t>由群中任意元素的逆唯一，知，</a:t>
            </a:r>
            <a:r>
              <a:rPr lang="en-US" altLang="zh-CN" sz="3200" b="1" dirty="0">
                <a:ea typeface="宋体" panose="02010600030101010101" pitchFamily="2" charset="-122"/>
              </a:rPr>
              <a:t>a</a:t>
            </a:r>
            <a:r>
              <a:rPr lang="zh-CN" altLang="en-US" sz="3200" b="1" dirty="0">
                <a:ea typeface="宋体" panose="02010600030101010101" pitchFamily="2" charset="-122"/>
              </a:rPr>
              <a:t>与</a:t>
            </a:r>
            <a:r>
              <a:rPr lang="en-US" altLang="zh-CN" sz="3200" b="1" dirty="0">
                <a:ea typeface="宋体" panose="02010600030101010101" pitchFamily="2" charset="-122"/>
              </a:rPr>
              <a:t>a</a:t>
            </a:r>
            <a:r>
              <a:rPr lang="en-US" altLang="zh-CN" sz="3200" b="1" baseline="30000" dirty="0">
                <a:ea typeface="宋体" panose="02010600030101010101" pitchFamily="2" charset="-122"/>
              </a:rPr>
              <a:t>-1</a:t>
            </a:r>
            <a:r>
              <a:rPr lang="zh-CN" altLang="en-US" sz="3200" b="1" dirty="0">
                <a:ea typeface="宋体" panose="02010600030101010101" pitchFamily="2" charset="-122"/>
              </a:rPr>
              <a:t>必在群中成对出现，其总的个数为偶数。而</a:t>
            </a:r>
            <a:r>
              <a:rPr lang="en-US" altLang="zh-CN" sz="3200" b="1" dirty="0">
                <a:ea typeface="宋体" panose="02010600030101010101" pitchFamily="2" charset="-122"/>
              </a:rPr>
              <a:t>e=e</a:t>
            </a:r>
            <a:r>
              <a:rPr lang="en-US" altLang="zh-CN" sz="3200" b="1" baseline="30000" dirty="0">
                <a:ea typeface="宋体" panose="02010600030101010101" pitchFamily="2" charset="-122"/>
              </a:rPr>
              <a:t>-1</a:t>
            </a:r>
            <a:r>
              <a:rPr lang="zh-CN" altLang="en-US" sz="3200" b="1" dirty="0">
                <a:ea typeface="宋体" panose="02010600030101010101" pitchFamily="2" charset="-122"/>
              </a:rPr>
              <a:t>，因此加上</a:t>
            </a:r>
            <a:r>
              <a:rPr lang="en-US" altLang="zh-CN" sz="3200" b="1" dirty="0">
                <a:ea typeface="宋体" panose="02010600030101010101" pitchFamily="2" charset="-122"/>
              </a:rPr>
              <a:t>e</a:t>
            </a:r>
            <a:r>
              <a:rPr lang="zh-CN" altLang="en-US" sz="3200" b="1" dirty="0">
                <a:ea typeface="宋体" panose="02010600030101010101" pitchFamily="2" charset="-122"/>
              </a:rPr>
              <a:t>，群</a:t>
            </a:r>
            <a:r>
              <a:rPr lang="en-US" altLang="zh-CN" sz="3200" b="1" dirty="0">
                <a:ea typeface="宋体" panose="02010600030101010101" pitchFamily="2" charset="-122"/>
              </a:rPr>
              <a:t>G</a:t>
            </a:r>
            <a:r>
              <a:rPr lang="zh-CN" altLang="en-US" sz="3200" b="1" dirty="0">
                <a:ea typeface="宋体" panose="02010600030101010101" pitchFamily="2" charset="-122"/>
              </a:rPr>
              <a:t>的元数为奇数，与偶数元群的前提矛盾。</a:t>
            </a:r>
            <a:endParaRPr lang="en-US" altLang="zh-CN" sz="32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2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67544" y="764704"/>
            <a:ext cx="8301038" cy="5441950"/>
          </a:xfrm>
        </p:spPr>
        <p:txBody>
          <a:bodyPr/>
          <a:lstStyle/>
          <a:p>
            <a:pPr marL="0" indent="0">
              <a:lnSpc>
                <a:spcPct val="107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3000" b="1" kern="100" dirty="0" smtClean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11.</a:t>
            </a:r>
            <a:r>
              <a:rPr lang="zh-CN" altLang="zh-CN" sz="30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整数</a:t>
            </a:r>
            <a:r>
              <a:rPr lang="zh-CN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，对任意</a:t>
            </a:r>
            <a:r>
              <a:rPr lang="en-US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Z</a:t>
            </a:r>
            <a:r>
              <a:rPr lang="zh-CN" altLang="en-US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，令</a:t>
            </a:r>
            <a:r>
              <a:rPr lang="el-G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σ</a:t>
            </a:r>
            <a:r>
              <a:rPr lang="en-US" altLang="zh-CN" sz="3000" b="1" kern="100" baseline="-25000" dirty="0"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(x) = </a:t>
            </a:r>
            <a:r>
              <a:rPr lang="en-US" altLang="zh-CN" sz="3000" b="1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x+n</a:t>
            </a:r>
            <a:r>
              <a:rPr lang="en-US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, (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x </a:t>
            </a:r>
            <a:r>
              <a:rPr lang="en-US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Z), </a:t>
            </a:r>
            <a:r>
              <a:rPr lang="zh-CN" altLang="en-US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记</a:t>
            </a:r>
            <a:r>
              <a:rPr lang="en-US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G={</a:t>
            </a:r>
            <a:r>
              <a:rPr lang="el-G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σ</a:t>
            </a:r>
            <a:r>
              <a:rPr lang="en-US" altLang="zh-CN" sz="3000" b="1" kern="100" baseline="-25000" dirty="0"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| n </a:t>
            </a:r>
            <a:r>
              <a:rPr lang="en-US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Z}</a:t>
            </a:r>
            <a:r>
              <a:rPr lang="zh-CN" altLang="en-US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。证明</a:t>
            </a:r>
            <a:r>
              <a:rPr lang="en-US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在映射的乘积运算下构成群。</a:t>
            </a:r>
            <a:endParaRPr lang="en-US" altLang="zh-CN" sz="3000" b="1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b="1" kern="100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证明：</a:t>
            </a:r>
            <a:r>
              <a:rPr lang="en-US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l-G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σ</a:t>
            </a:r>
            <a:r>
              <a:rPr lang="el-GR" altLang="zh-CN" sz="3000" b="1" kern="100" baseline="-25000" dirty="0"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l-G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(x) = x,   (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l-G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l-G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Z). σ</a:t>
            </a:r>
            <a:r>
              <a:rPr lang="el-GR" altLang="zh-CN" sz="3000" b="1" kern="100" baseline="-25000" dirty="0"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l-G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G</a:t>
            </a:r>
            <a:r>
              <a:rPr lang="zh-CN" altLang="el-GR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l-G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l-GR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非空。</a:t>
            </a:r>
            <a:endParaRPr lang="en-US" altLang="zh-CN" sz="3000" b="1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en-US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任取</a:t>
            </a:r>
            <a:r>
              <a:rPr lang="el-G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σ</a:t>
            </a:r>
            <a:r>
              <a:rPr lang="en-US" altLang="zh-CN" sz="3000" b="1" kern="100" baseline="-25000" dirty="0"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l-G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σ</a:t>
            </a:r>
            <a:r>
              <a:rPr lang="en-US" altLang="zh-CN" sz="3000" b="1" kern="100" baseline="-25000" dirty="0"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l-G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pt-B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σ</a:t>
            </a:r>
            <a:r>
              <a:rPr lang="pt-BR" altLang="zh-CN" sz="3000" b="1" kern="100" baseline="-25000" dirty="0"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pt-B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∙σ</a:t>
            </a:r>
            <a:r>
              <a:rPr lang="pt-BR" altLang="zh-CN" sz="3000" b="1" kern="100" baseline="-25000" dirty="0"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pt-B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(x) = σ</a:t>
            </a:r>
            <a:r>
              <a:rPr lang="pt-BR" altLang="zh-CN" sz="3000" b="1" kern="100" baseline="-25000" dirty="0"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pt-B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(σ</a:t>
            </a:r>
            <a:r>
              <a:rPr lang="pt-BR" altLang="zh-CN" sz="3000" b="1" kern="100" baseline="-25000" dirty="0"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pt-B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(x)) = (x+n)+m = x+(m+n) = σ</a:t>
            </a:r>
            <a:r>
              <a:rPr lang="pt-BR" altLang="zh-CN" sz="3000" b="1" kern="100" baseline="-25000" dirty="0">
                <a:ea typeface="宋体" panose="02010600030101010101" pitchFamily="2" charset="-122"/>
                <a:cs typeface="Times New Roman" panose="02020603050405020304" pitchFamily="18" charset="0"/>
              </a:rPr>
              <a:t>m+n</a:t>
            </a:r>
            <a:r>
              <a:rPr lang="pt-B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(x)   (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x </a:t>
            </a:r>
            <a:r>
              <a:rPr lang="en-US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pt-B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Z)</a:t>
            </a:r>
            <a:r>
              <a:rPr lang="zh-CN" altLang="en-US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，即</a:t>
            </a:r>
            <a:r>
              <a:rPr lang="pt-B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σ</a:t>
            </a:r>
            <a:r>
              <a:rPr lang="pt-BR" altLang="zh-CN" sz="3000" b="1" kern="100" baseline="-25000" dirty="0"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pt-B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∙σ</a:t>
            </a:r>
            <a:r>
              <a:rPr lang="pt-BR" altLang="zh-CN" sz="3000" b="1" kern="100" baseline="-25000" dirty="0"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l-G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G</a:t>
            </a:r>
            <a:r>
              <a:rPr lang="zh-CN" altLang="en-US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3000" b="1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zh-CN" altLang="en-US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映射乘积满足结合律</a:t>
            </a:r>
            <a:endParaRPr lang="en-US" altLang="zh-CN" sz="3000" b="1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4)</a:t>
            </a:r>
            <a:r>
              <a:rPr lang="zh-CN" altLang="en-US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存在</a:t>
            </a:r>
            <a:r>
              <a:rPr lang="el-G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σ</a:t>
            </a:r>
            <a:r>
              <a:rPr lang="el-GR" altLang="zh-CN" sz="3000" b="1" kern="100" baseline="-25000" dirty="0"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l-G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G</a:t>
            </a:r>
            <a:r>
              <a:rPr lang="zh-CN" altLang="en-US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，对任意</a:t>
            </a:r>
            <a:r>
              <a:rPr lang="pt-B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σ</a:t>
            </a:r>
            <a:r>
              <a:rPr lang="pt-BR" altLang="zh-CN" sz="3000" b="1" kern="100" baseline="-25000" dirty="0"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l-G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G</a:t>
            </a:r>
            <a:r>
              <a:rPr lang="zh-CN" altLang="en-US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，满足</a:t>
            </a:r>
            <a:r>
              <a:rPr lang="el-G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σ</a:t>
            </a:r>
            <a:r>
              <a:rPr lang="el-GR" altLang="zh-CN" sz="3000" b="1" kern="100" baseline="-25000" dirty="0"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pt-B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∙σ</a:t>
            </a:r>
            <a:r>
              <a:rPr lang="pt-BR" altLang="zh-CN" sz="3000" b="1" kern="100" baseline="-25000" dirty="0"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pt-B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σ</a:t>
            </a:r>
            <a:r>
              <a:rPr lang="pt-BR" altLang="zh-CN" sz="3000" b="1" kern="100" baseline="-25000" dirty="0"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pt-B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∙</a:t>
            </a:r>
            <a:r>
              <a:rPr lang="el-G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σ</a:t>
            </a:r>
            <a:r>
              <a:rPr lang="el-GR" altLang="zh-CN" sz="3000" b="1" kern="100" baseline="-25000" dirty="0"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pt-B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σ</a:t>
            </a:r>
            <a:r>
              <a:rPr lang="pt-BR" altLang="zh-CN" sz="3000" b="1" kern="100" baseline="-25000" dirty="0"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pt-B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5)</a:t>
            </a:r>
            <a:r>
              <a:rPr lang="zh-CN" altLang="en-US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对于任意</a:t>
            </a:r>
            <a:r>
              <a:rPr lang="pt-B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σ</a:t>
            </a:r>
            <a:r>
              <a:rPr lang="pt-BR" altLang="zh-CN" sz="3000" b="1" kern="100" baseline="-25000" dirty="0"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l-G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G</a:t>
            </a:r>
            <a:r>
              <a:rPr lang="zh-CN" altLang="en-US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，存在</a:t>
            </a:r>
            <a:r>
              <a:rPr lang="el-G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σ</a:t>
            </a:r>
            <a:r>
              <a:rPr lang="en-US" altLang="zh-CN" sz="3000" b="1" kern="100" baseline="-25000" dirty="0">
                <a:ea typeface="宋体" panose="02010600030101010101" pitchFamily="2" charset="-122"/>
                <a:cs typeface="Times New Roman" panose="02020603050405020304" pitchFamily="18" charset="0"/>
              </a:rPr>
              <a:t>-n</a:t>
            </a:r>
            <a:r>
              <a:rPr lang="en-US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l-G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G</a:t>
            </a:r>
            <a:r>
              <a:rPr lang="zh-CN" altLang="en-US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sz="3000" b="1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满足</a:t>
            </a:r>
            <a:r>
              <a:rPr lang="el-G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σ</a:t>
            </a:r>
            <a:r>
              <a:rPr lang="en-US" altLang="zh-CN" sz="3000" b="1" kern="100" baseline="-25000" dirty="0">
                <a:ea typeface="宋体" panose="02010600030101010101" pitchFamily="2" charset="-122"/>
                <a:cs typeface="Times New Roman" panose="02020603050405020304" pitchFamily="18" charset="0"/>
              </a:rPr>
              <a:t>-n</a:t>
            </a:r>
            <a:r>
              <a:rPr lang="pt-B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∙σ</a:t>
            </a:r>
            <a:r>
              <a:rPr lang="pt-BR" altLang="zh-CN" sz="3000" b="1" kern="100" baseline="-25000" dirty="0"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pt-B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σ</a:t>
            </a:r>
            <a:r>
              <a:rPr lang="pt-BR" altLang="zh-CN" sz="3000" b="1" kern="100" baseline="-25000" dirty="0"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pt-B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∙</a:t>
            </a:r>
            <a:r>
              <a:rPr lang="el-G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σ</a:t>
            </a:r>
            <a:r>
              <a:rPr lang="en-US" altLang="zh-CN" sz="3000" b="1" kern="100" baseline="-25000" dirty="0">
                <a:ea typeface="宋体" panose="02010600030101010101" pitchFamily="2" charset="-122"/>
                <a:cs typeface="Times New Roman" panose="02020603050405020304" pitchFamily="18" charset="0"/>
              </a:rPr>
              <a:t>-n</a:t>
            </a:r>
            <a:r>
              <a:rPr lang="en-US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l-GR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σ</a:t>
            </a:r>
            <a:r>
              <a:rPr lang="el-GR" altLang="zh-CN" sz="3000" b="1" kern="100" baseline="-25000" dirty="0"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3000" b="1" kern="100" baseline="-25000" dirty="0"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由以上知，</a:t>
            </a:r>
            <a:r>
              <a:rPr lang="en-US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为群。</a:t>
            </a:r>
            <a:endParaRPr lang="pt-BR" altLang="zh-CN" sz="3000" b="1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sz="2800" dirty="0"/>
          </a:p>
        </p:txBody>
      </p:sp>
      <p:sp>
        <p:nvSpPr>
          <p:cNvPr id="7475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1D05551-E4DE-4EA6-BD1F-7FD8BBE3AD06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141</a:t>
            </a:fld>
            <a:endParaRPr lang="en-US" altLang="ko-KR" sz="140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291499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anose="0201060903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anose="02010609030101010101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1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2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0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13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C:\coolpt\TempSlide\B075.POT</Template>
  <TotalTime>15349</TotalTime>
  <Words>12426</Words>
  <Application>Microsoft Office PowerPoint</Application>
  <PresentationFormat>全屏显示(4:3)</PresentationFormat>
  <Paragraphs>1384</Paragraphs>
  <Slides>141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14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141</vt:i4>
      </vt:variant>
    </vt:vector>
  </HeadingPairs>
  <TitlesOfParts>
    <vt:vector size="170" baseType="lpstr">
      <vt:lpstr>-윤명조140</vt:lpstr>
      <vt:lpstr>黑体</vt:lpstr>
      <vt:lpstr>Symbol</vt:lpstr>
      <vt:lpstr>楷体</vt:lpstr>
      <vt:lpstr>华文中宋</vt:lpstr>
      <vt:lpstr>宋体</vt:lpstr>
      <vt:lpstr>Malgun Gothic</vt:lpstr>
      <vt:lpstr>Arial</vt:lpstr>
      <vt:lpstr>굴림</vt:lpstr>
      <vt:lpstr>楷体_GB2312</vt:lpstr>
      <vt:lpstr>Wingdings</vt:lpstr>
      <vt:lpstr>Calibri</vt:lpstr>
      <vt:lpstr>华文新魏</vt:lpstr>
      <vt:lpstr>Times New Roman</vt:lpstr>
      <vt:lpstr>B075</vt:lpstr>
      <vt:lpstr>2_B075</vt:lpstr>
      <vt:lpstr>3_B075</vt:lpstr>
      <vt:lpstr>5_B075</vt:lpstr>
      <vt:lpstr>4_B075</vt:lpstr>
      <vt:lpstr>6_B075</vt:lpstr>
      <vt:lpstr>7_B075</vt:lpstr>
      <vt:lpstr>8_B075</vt:lpstr>
      <vt:lpstr>9_B075</vt:lpstr>
      <vt:lpstr>11_B075</vt:lpstr>
      <vt:lpstr>1_B075</vt:lpstr>
      <vt:lpstr>12_B075</vt:lpstr>
      <vt:lpstr>10_B075</vt:lpstr>
      <vt:lpstr>13_B075</vt:lpstr>
      <vt:lpstr>公式</vt:lpstr>
      <vt:lpstr>第六章   群 、环、域</vt:lpstr>
      <vt:lpstr>6.2 群的定义</vt:lpstr>
      <vt:lpstr>6.2.1 半群</vt:lpstr>
      <vt:lpstr>PowerPoint 演示文稿</vt:lpstr>
      <vt:lpstr>半群的例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6.2.3   群 的 性 质---(1)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6.2.3   群 的 性 质---(3)</vt:lpstr>
      <vt:lpstr>PowerPoint 演示文稿</vt:lpstr>
      <vt:lpstr>PowerPoint 演示文稿</vt:lpstr>
      <vt:lpstr>PowerPoint 演示文稿</vt:lpstr>
      <vt:lpstr>PowerPoint 演示文稿</vt:lpstr>
      <vt:lpstr>习题6.2-2</vt:lpstr>
      <vt:lpstr>习题6.2-2</vt:lpstr>
      <vt:lpstr>PowerPoint 演示文稿</vt:lpstr>
      <vt:lpstr>PowerPoint 演示文稿</vt:lpstr>
      <vt:lpstr>定理6.2.4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证明群的方法</vt:lpstr>
      <vt:lpstr>PowerPoint 演示文稿</vt:lpstr>
      <vt:lpstr>PowerPoint 演示文稿</vt:lpstr>
      <vt:lpstr>习题6.2--3</vt:lpstr>
      <vt:lpstr>习题6.2--3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第六章   群 、环、域</vt:lpstr>
      <vt:lpstr>子群及其陪集</vt:lpstr>
      <vt:lpstr> 6.3.1 子群的定义</vt:lpstr>
      <vt:lpstr> 6.3.1 子群的定义—子群的例</vt:lpstr>
      <vt:lpstr> 6.3.1 子群的定义—平凡子群</vt:lpstr>
      <vt:lpstr> 6.3.1 子群的定义—平凡子群</vt:lpstr>
      <vt:lpstr> 6.3.2子群的判别条件</vt:lpstr>
      <vt:lpstr> 子群的判别条件一（必要性证明）</vt:lpstr>
      <vt:lpstr> 子群的判别条件一（必要性证明）</vt:lpstr>
      <vt:lpstr> 子群的判别条件一（必要性证明）</vt:lpstr>
      <vt:lpstr> 子群的判别条件一（充分性证明）</vt:lpstr>
      <vt:lpstr> 子群的判别条件一</vt:lpstr>
      <vt:lpstr> 应用子群的判别条件一的例</vt:lpstr>
      <vt:lpstr> 应用子群的判别条件一的例</vt:lpstr>
      <vt:lpstr> 应用子群的判别条件一的例</vt:lpstr>
      <vt:lpstr> 6.3.2子群的判别条件</vt:lpstr>
      <vt:lpstr> 子群的判别条件二证明</vt:lpstr>
      <vt:lpstr> 应用子群的判别条件二的例</vt:lpstr>
      <vt:lpstr>应用判别条件二  例</vt:lpstr>
      <vt:lpstr>PowerPoint 演示文稿</vt:lpstr>
      <vt:lpstr> 6.3.2子群的判别条件</vt:lpstr>
      <vt:lpstr> 子群的判别条件三证明</vt:lpstr>
      <vt:lpstr> 应用子群的判别条件三的例</vt:lpstr>
      <vt:lpstr>习题6.2-1</vt:lpstr>
      <vt:lpstr>PowerPoint 演示文稿</vt:lpstr>
      <vt:lpstr>习题6.2-1</vt:lpstr>
      <vt:lpstr>PowerPoint 演示文稿</vt:lpstr>
      <vt:lpstr>PowerPoint 演示文稿</vt:lpstr>
      <vt:lpstr>PowerPoint 演示文稿</vt:lpstr>
      <vt:lpstr>习题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정윤주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정윤주</dc:creator>
  <cp:lastModifiedBy>Windows 用户</cp:lastModifiedBy>
  <cp:revision>1007</cp:revision>
  <dcterms:created xsi:type="dcterms:W3CDTF">2001-07-18T23:57:34Z</dcterms:created>
  <dcterms:modified xsi:type="dcterms:W3CDTF">2025-09-09T08:09:54Z</dcterms:modified>
</cp:coreProperties>
</file>