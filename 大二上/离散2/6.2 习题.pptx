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5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952" r:id="rId1"/>
    <p:sldMasterId id="2147484815" r:id="rId2"/>
    <p:sldMasterId id="2147487046" r:id="rId3"/>
    <p:sldMasterId id="2147487239" r:id="rId4"/>
    <p:sldMasterId id="2147487445" r:id="rId5"/>
    <p:sldMasterId id="2147487460" r:id="rId6"/>
  </p:sldMasterIdLst>
  <p:notesMasterIdLst>
    <p:notesMasterId r:id="rId27"/>
  </p:notesMasterIdLst>
  <p:handoutMasterIdLst>
    <p:handoutMasterId r:id="rId28"/>
  </p:handoutMasterIdLst>
  <p:sldIdLst>
    <p:sldId id="448" r:id="rId7"/>
    <p:sldId id="449" r:id="rId8"/>
    <p:sldId id="450" r:id="rId9"/>
    <p:sldId id="451" r:id="rId10"/>
    <p:sldId id="509" r:id="rId11"/>
    <p:sldId id="510" r:id="rId12"/>
    <p:sldId id="439" r:id="rId13"/>
    <p:sldId id="447" r:id="rId14"/>
    <p:sldId id="508" r:id="rId15"/>
    <p:sldId id="433" r:id="rId16"/>
    <p:sldId id="434" r:id="rId17"/>
    <p:sldId id="435" r:id="rId18"/>
    <p:sldId id="437" r:id="rId19"/>
    <p:sldId id="438" r:id="rId20"/>
    <p:sldId id="441" r:id="rId21"/>
    <p:sldId id="442" r:id="rId22"/>
    <p:sldId id="443" r:id="rId23"/>
    <p:sldId id="445" r:id="rId24"/>
    <p:sldId id="506" r:id="rId25"/>
    <p:sldId id="507" r:id="rId26"/>
  </p:sldIdLst>
  <p:sldSz cx="9144000" cy="6858000" type="screen4x3"/>
  <p:notesSz cx="6858000" cy="9144000"/>
  <p:embeddedFontLst>
    <p:embeddedFont>
      <p:font typeface="-윤명조140" panose="020B0604020202020204" charset="-127"/>
      <p:regular r:id="rId29"/>
    </p:embeddedFont>
    <p:embeddedFont>
      <p:font typeface="楷体_GB2312" panose="02010600030101010101" charset="-122"/>
      <p:regular r:id="rId30"/>
      <p:bold r:id="rId31"/>
      <p:italic r:id="rId32"/>
      <p:boldItalic r:id="rId33"/>
    </p:embeddedFont>
    <p:embeddedFont>
      <p:font typeface="黑体" panose="02010609060101010101" pitchFamily="49" charset="-122"/>
      <p:regular r:id="rId34"/>
    </p:embeddedFont>
    <p:embeddedFont>
      <p:font typeface="华文中宋" panose="02010600040101010101" pitchFamily="2" charset="-122"/>
      <p:regular r:id="rId35"/>
    </p:embeddedFont>
    <p:embeddedFont>
      <p:font typeface="Malgun Gothic" panose="020B0503020000020004" pitchFamily="34" charset="-127"/>
      <p:regular r:id="rId36"/>
      <p:bold r:id="rId37"/>
    </p:embeddedFont>
    <p:embeddedFont>
      <p:font typeface="楷体" panose="02010609060101010101" pitchFamily="49" charset="-122"/>
      <p:regular r:id="rId38"/>
    </p:embeddedFont>
    <p:embeddedFont>
      <p:font typeface="Calibri" panose="020F0502020204030204" pitchFamily="34" charset="0"/>
      <p:regular r:id="rId39"/>
      <p:bold r:id="rId40"/>
      <p:italic r:id="rId41"/>
      <p:boldItalic r:id="rId42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楷体_GB2312" panose="02010600030101010101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楷体_GB2312" panose="02010600030101010101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楷体_GB2312" panose="02010600030101010101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楷体_GB2312" panose="02010600030101010101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楷体_GB2312" panose="02010600030101010101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楷体_GB2312" panose="02010600030101010101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楷体_GB2312" panose="02010600030101010101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楷体_GB2312" panose="02010600030101010101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楷体_GB2312" panose="02010600030101010101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99"/>
    <a:srgbClr val="F8FDCB"/>
    <a:srgbClr val="FFFFFF"/>
    <a:srgbClr val="FF9900"/>
    <a:srgbClr val="C9FFF1"/>
    <a:srgbClr val="0099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7" autoAdjust="0"/>
    <p:restoredTop sz="92849" autoAdjust="0"/>
  </p:normalViewPr>
  <p:slideViewPr>
    <p:cSldViewPr>
      <p:cViewPr varScale="1">
        <p:scale>
          <a:sx n="91" d="100"/>
          <a:sy n="91" d="100"/>
        </p:scale>
        <p:origin x="1138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font" Target="fonts/font11.fntdata"/><Relationship Id="rId21" Type="http://schemas.openxmlformats.org/officeDocument/2006/relationships/slide" Target="slides/slide15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handoutMaster" Target="handoutMasters/handoutMaster1.xml"/><Relationship Id="rId36" Type="http://schemas.openxmlformats.org/officeDocument/2006/relationships/font" Target="fonts/font8.fntdata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font" Target="fonts/font3.fntdata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presProps" Target="presProps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tableStyles" Target="tableStyles.xml"/><Relationship Id="rId20" Type="http://schemas.openxmlformats.org/officeDocument/2006/relationships/slide" Target="slides/slide14.xml"/><Relationship Id="rId41" Type="http://schemas.openxmlformats.org/officeDocument/2006/relationships/font" Target="fonts/font13.fntdata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>
                <a:ea typeface="楷体_GB2312" panose="02010609030101010101" pitchFamily="49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>
                <a:ea typeface="楷体_GB2312" panose="02010609030101010101" pitchFamily="49" charset="-122"/>
              </a:defRPr>
            </a:lvl1pPr>
          </a:lstStyle>
          <a:p>
            <a:pPr>
              <a:defRPr/>
            </a:pPr>
            <a:fld id="{839E61BA-B515-4E03-AFF3-65AC7CE27AD6}" type="datetimeFigureOut">
              <a:rPr lang="zh-CN" altLang="en-US"/>
              <a:pPr>
                <a:defRPr/>
              </a:pPr>
              <a:t>2025/9/21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>
                <a:ea typeface="楷体_GB2312" panose="02010609030101010101" pitchFamily="49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ea typeface="楷体_GB2312" panose="02010609030101010101" pitchFamily="49" charset="-122"/>
              </a:defRPr>
            </a:lvl1pPr>
          </a:lstStyle>
          <a:p>
            <a:pPr>
              <a:defRPr/>
            </a:pPr>
            <a:fld id="{A5500FE0-A276-4FBB-8D34-5CCEAD359A2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47609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>
                <a:ea typeface="楷体_GB2312" panose="02010609030101010101" pitchFamily="49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>
                <a:ea typeface="楷体_GB2312" panose="02010609030101010101" pitchFamily="49" charset="-122"/>
              </a:defRPr>
            </a:lvl1pPr>
          </a:lstStyle>
          <a:p>
            <a:pPr>
              <a:defRPr/>
            </a:pPr>
            <a:fld id="{2CD5B6F9-F6AC-4563-866A-FCD97B3325B4}" type="datetimeFigureOut">
              <a:rPr lang="zh-CN" altLang="en-US"/>
              <a:pPr>
                <a:defRPr/>
              </a:pPr>
              <a:t>2025/9/21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>
                <a:ea typeface="楷体_GB2312" panose="02010609030101010101" pitchFamily="49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ea typeface="楷体_GB2312" panose="02010609030101010101" pitchFamily="49" charset="-122"/>
              </a:defRPr>
            </a:lvl1pPr>
          </a:lstStyle>
          <a:p>
            <a:pPr>
              <a:defRPr/>
            </a:pPr>
            <a:fld id="{4ADC5E21-0C80-42C5-A73A-6503B072930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475029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algun Gothic" panose="020B0503020000020004" pitchFamily="34" charset="-127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algun Gothic" panose="020B0503020000020004" pitchFamily="34" charset="-127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algun Gothic" panose="020B0503020000020004" pitchFamily="34" charset="-127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algun Gothic" panose="020B0503020000020004" pitchFamily="34" charset="-127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algun Gothic" panose="020B0503020000020004" pitchFamily="34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0FBB69-27E6-4070-9872-65D7682911A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11625784"/>
      </p:ext>
    </p:extLst>
  </p:cSld>
  <p:clrMapOvr>
    <a:masterClrMapping/>
  </p:clrMapOvr>
  <p:transition spd="med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4F540F-9CD7-44FB-A48B-56CCA15CD8D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22020329"/>
      </p:ext>
    </p:extLst>
  </p:cSld>
  <p:clrMapOvr>
    <a:masterClrMapping/>
  </p:clrMapOvr>
  <p:transition spd="med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7CA3CF-570D-4E2B-A612-EFBE9E15F2A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01446073"/>
      </p:ext>
    </p:extLst>
  </p:cSld>
  <p:clrMapOvr>
    <a:masterClrMapping/>
  </p:clrMapOvr>
  <p:transition spd="med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BE487E-D359-4A0D-B3EC-1A0FA7BD013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03248528"/>
      </p:ext>
    </p:extLst>
  </p:cSld>
  <p:clrMapOvr>
    <a:masterClrMapping/>
  </p:clrMapOvr>
  <p:transition spd="med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2998FF-4C83-463B-9149-6F632CC1BD4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77971344"/>
      </p:ext>
    </p:extLst>
  </p:cSld>
  <p:clrMapOvr>
    <a:masterClrMapping/>
  </p:clrMapOvr>
  <p:transition spd="med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391339-4090-45F1-A244-03E8CD7E767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90366291"/>
      </p:ext>
    </p:extLst>
  </p:cSld>
  <p:clrMapOvr>
    <a:masterClrMapping/>
  </p:clrMapOvr>
  <p:transition spd="med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88DEDD-FD7E-44A4-B650-7EBC6DB63B6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00783321"/>
      </p:ext>
    </p:extLst>
  </p:cSld>
  <p:clrMapOvr>
    <a:masterClrMapping/>
  </p:clrMapOvr>
  <p:transition spd="med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0AD6EE-33F2-4667-B424-2A0918FDF47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47021344"/>
      </p:ext>
    </p:extLst>
  </p:cSld>
  <p:clrMapOvr>
    <a:masterClrMapping/>
  </p:clrMapOvr>
  <p:transition spd="med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6DC799-D2B4-4475-B63B-3AAB2215094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0577715"/>
      </p:ext>
    </p:extLst>
  </p:cSld>
  <p:clrMapOvr>
    <a:masterClrMapping/>
  </p:clrMapOvr>
  <p:transition spd="med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20C699-6021-431C-920B-7AB4C1D5B03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80254193"/>
      </p:ext>
    </p:extLst>
  </p:cSld>
  <p:clrMapOvr>
    <a:masterClrMapping/>
  </p:clrMapOvr>
  <p:transition spd="med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4A5475-09B5-408C-AF3D-4FA6384322D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56318295"/>
      </p:ext>
    </p:extLst>
  </p:cSld>
  <p:clrMapOvr>
    <a:masterClrMapping/>
  </p:clrMapOvr>
  <p:transition spd="med"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A2E85C-1006-457E-9406-7B06AAD0C63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8479881"/>
      </p:ext>
    </p:extLst>
  </p:cSld>
  <p:clrMapOvr>
    <a:masterClrMapping/>
  </p:clrMapOvr>
  <p:transition spd="med"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FA49E2-AFAA-41A1-AA40-1C347BA7C83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38117806"/>
      </p:ext>
    </p:extLst>
  </p:cSld>
  <p:clrMapOvr>
    <a:masterClrMapping/>
  </p:clrMapOvr>
  <p:transition spd="med">
    <p:rand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A8C4DF-DA78-4FF1-94FF-B9514A13004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6825461"/>
      </p:ext>
    </p:extLst>
  </p:cSld>
  <p:clrMapOvr>
    <a:masterClrMapping/>
  </p:clrMapOvr>
  <p:transition spd="med">
    <p:rand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C86FD9-BF1F-4178-85B0-1299F5C26BF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3198512"/>
      </p:ext>
    </p:extLst>
  </p:cSld>
  <p:clrMapOvr>
    <a:masterClrMapping/>
  </p:clrMapOvr>
  <p:transition spd="med">
    <p:rand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8C6C11-3087-458B-B8F9-67445EB7829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04853003"/>
      </p:ext>
    </p:extLst>
  </p:cSld>
  <p:clrMapOvr>
    <a:masterClrMapping/>
  </p:clrMapOvr>
  <p:transition spd="med">
    <p:rand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B5AC58-DBFF-409A-8B77-09F060F01C3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83989694"/>
      </p:ext>
    </p:extLst>
  </p:cSld>
  <p:clrMapOvr>
    <a:masterClrMapping/>
  </p:clrMapOvr>
  <p:transition spd="med">
    <p:rand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2368F5-CD8A-4DEB-AB30-9009F6100A6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13159796"/>
      </p:ext>
    </p:extLst>
  </p:cSld>
  <p:clrMapOvr>
    <a:masterClrMapping/>
  </p:clrMapOvr>
  <p:transition spd="med">
    <p:random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B449AD-009A-4F03-80FD-E3C5EE36183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57573831"/>
      </p:ext>
    </p:extLst>
  </p:cSld>
  <p:clrMapOvr>
    <a:masterClrMapping/>
  </p:clrMapOvr>
  <p:transition spd="med">
    <p:random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8D1EF2-A787-4385-A941-0CADF995936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97253086"/>
      </p:ext>
    </p:extLst>
  </p:cSld>
  <p:clrMapOvr>
    <a:masterClrMapping/>
  </p:clrMapOvr>
  <p:transition spd="med">
    <p:random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106833-34D8-44D9-BD95-FBE81C4DEFE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20243605"/>
      </p:ext>
    </p:extLst>
  </p:cSld>
  <p:clrMapOvr>
    <a:masterClrMapping/>
  </p:clrMapOvr>
  <p:transition spd="med">
    <p:random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549253-81E8-4C3D-9508-F9DD984F715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87967372"/>
      </p:ext>
    </p:extLst>
  </p:cSld>
  <p:clrMapOvr>
    <a:masterClrMapping/>
  </p:clrMapOvr>
  <p:transition spd="med">
    <p:random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963DF5-9C31-40AA-86AE-7052E7A8D16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04458167"/>
      </p:ext>
    </p:extLst>
  </p:cSld>
  <p:clrMapOvr>
    <a:masterClrMapping/>
  </p:clrMapOvr>
  <p:transition spd="med">
    <p:random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B86F6C-7414-4F5F-9DE9-9EA1123B372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21949813"/>
      </p:ext>
    </p:extLst>
  </p:cSld>
  <p:clrMapOvr>
    <a:masterClrMapping/>
  </p:clrMapOvr>
  <p:transition spd="med">
    <p:random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fld id="{7EC7192D-CAD6-4776-9851-3D6A93BBEF0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4641563"/>
      </p:ext>
    </p:extLst>
  </p:cSld>
  <p:clrMapOvr>
    <a:masterClrMapping/>
  </p:clrMapOvr>
  <p:transition spd="med">
    <p:random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fld id="{79A70268-075A-43B8-B7A6-60FA36BC457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69075021"/>
      </p:ext>
    </p:extLst>
  </p:cSld>
  <p:clrMapOvr>
    <a:masterClrMapping/>
  </p:clrMapOvr>
  <p:transition spd="med">
    <p:random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fld id="{44C5B9A7-E694-40C5-AD2A-A7E470FDB7A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33035082"/>
      </p:ext>
    </p:extLst>
  </p:cSld>
  <p:clrMapOvr>
    <a:masterClrMapping/>
  </p:clrMapOvr>
  <p:transition spd="med">
    <p:random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fld id="{42B6BEF6-3CFB-4315-9E09-F750333942D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17850385"/>
      </p:ext>
    </p:extLst>
  </p:cSld>
  <p:clrMapOvr>
    <a:masterClrMapping/>
  </p:clrMapOvr>
  <p:transition spd="med">
    <p:random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fld id="{5A297CBD-6299-42C1-AB1C-98FE492D724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79381573"/>
      </p:ext>
    </p:extLst>
  </p:cSld>
  <p:clrMapOvr>
    <a:masterClrMapping/>
  </p:clrMapOvr>
  <p:transition spd="med">
    <p:random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fld id="{90E61C7E-6C00-4F4E-9EA6-E9C66632962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77834104"/>
      </p:ext>
    </p:extLst>
  </p:cSld>
  <p:clrMapOvr>
    <a:masterClrMapping/>
  </p:clrMapOvr>
  <p:transition spd="med">
    <p:random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fld id="{50A91B3A-8512-4E3C-8D19-B3716CD4568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4410381"/>
      </p:ext>
    </p:extLst>
  </p:cSld>
  <p:clrMapOvr>
    <a:masterClrMapping/>
  </p:clrMapOvr>
  <p:transition spd="med">
    <p:random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fld id="{595BC94C-B46B-40C7-8AA9-CE9018DAA51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6172780"/>
      </p:ext>
    </p:extLst>
  </p:cSld>
  <p:clrMapOvr>
    <a:masterClrMapping/>
  </p:clrMapOvr>
  <p:transition spd="med">
    <p:random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fld id="{4C685EA5-5580-499B-A451-AD10D9514CF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5957620"/>
      </p:ext>
    </p:extLst>
  </p:cSld>
  <p:clrMapOvr>
    <a:masterClrMapping/>
  </p:clrMapOvr>
  <p:transition spd="med">
    <p:random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fld id="{817F4506-E5FA-4506-A313-330168DB07D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06284937"/>
      </p:ext>
    </p:extLst>
  </p:cSld>
  <p:clrMapOvr>
    <a:masterClrMapping/>
  </p:clrMapOvr>
  <p:transition spd="med">
    <p:random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fld id="{75630AB4-A4F8-4E9C-9DC4-F57226EC037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31382799"/>
      </p:ext>
    </p:extLst>
  </p:cSld>
  <p:clrMapOvr>
    <a:masterClrMapping/>
  </p:clrMapOvr>
  <p:transition spd="med">
    <p:random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fld id="{FA179F36-FEDF-4405-912E-AD55E634DAA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78890023"/>
      </p:ext>
    </p:extLst>
  </p:cSld>
  <p:clrMapOvr>
    <a:masterClrMapping/>
  </p:clrMapOvr>
  <p:transition spd="med">
    <p:random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A213B1-FE99-42EE-8CC3-9F8283C6581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32559301"/>
      </p:ext>
    </p:extLst>
  </p:cSld>
  <p:clrMapOvr>
    <a:masterClrMapping/>
  </p:clrMapOvr>
  <p:transition spd="med">
    <p:random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9FBFA5-2D71-497C-9EE0-51C80C14A7E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72548289"/>
      </p:ext>
    </p:extLst>
  </p:cSld>
  <p:clrMapOvr>
    <a:masterClrMapping/>
  </p:clrMapOvr>
  <p:transition spd="med">
    <p:random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605826-3F95-4FE8-96AC-986F7BA9581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8477007"/>
      </p:ext>
    </p:extLst>
  </p:cSld>
  <p:clrMapOvr>
    <a:masterClrMapping/>
  </p:clrMapOvr>
  <p:transition spd="med">
    <p:random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81466B-69FA-4B09-A91E-1B886B7C0DA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18245294"/>
      </p:ext>
    </p:extLst>
  </p:cSld>
  <p:clrMapOvr>
    <a:masterClrMapping/>
  </p:clrMapOvr>
  <p:transition spd="med">
    <p:random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6FAED7-DAC9-4CFE-9668-1E485D9CA1B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18866160"/>
      </p:ext>
    </p:extLst>
  </p:cSld>
  <p:clrMapOvr>
    <a:masterClrMapping/>
  </p:clrMapOvr>
  <p:transition spd="med">
    <p:random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A4973B-4A5A-44B6-8B60-D205E308596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07472105"/>
      </p:ext>
    </p:extLst>
  </p:cSld>
  <p:clrMapOvr>
    <a:masterClrMapping/>
  </p:clrMapOvr>
  <p:transition spd="med">
    <p:random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DDC852-6983-47A2-8E48-0046A8C8EEB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50974811"/>
      </p:ext>
    </p:extLst>
  </p:cSld>
  <p:clrMapOvr>
    <a:masterClrMapping/>
  </p:clrMapOvr>
  <p:transition spd="med">
    <p:random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643578-997E-46B7-AB7E-3B720C5F5EF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15878582"/>
      </p:ext>
    </p:extLst>
  </p:cSld>
  <p:clrMapOvr>
    <a:masterClrMapping/>
  </p:clrMapOvr>
  <p:transition spd="med">
    <p:random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A71923-D133-4B47-B644-F4BD1F5BE5C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27242999"/>
      </p:ext>
    </p:extLst>
  </p:cSld>
  <p:clrMapOvr>
    <a:masterClrMapping/>
  </p:clrMapOvr>
  <p:transition spd="med">
    <p:random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83FBB2-DEDC-4AAB-A04D-70D7E69BBC5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38492707"/>
      </p:ext>
    </p:extLst>
  </p:cSld>
  <p:clrMapOvr>
    <a:masterClrMapping/>
  </p:clrMapOvr>
  <p:transition spd="med">
    <p:random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1DBCE-5927-4DDD-8BCC-2609F53B036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47809565"/>
      </p:ext>
    </p:extLst>
  </p:cSld>
  <p:clrMapOvr>
    <a:masterClrMapping/>
  </p:clrMapOvr>
  <p:transition spd="med">
    <p:random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3A5D70-6DFA-4C60-8401-A934888D0F3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27610539"/>
      </p:ext>
    </p:extLst>
  </p:cSld>
  <p:clrMapOvr>
    <a:masterClrMapping/>
  </p:clrMapOvr>
  <p:transition spd="med">
    <p:random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zh-CN" altLang="en-US" noProof="1"/>
              <a:t>单击此处编辑母版标题样式</a:t>
            </a:r>
            <a:endParaRPr lang="ko-KR" altLang="en-US" noProof="1"/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zh-CN" altLang="en-US" noProof="1"/>
              <a:t>单击此处编辑母版副标题样式</a:t>
            </a:r>
            <a:endParaRPr lang="ko-KR" altLang="en-US" noProof="1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 eaLnBrk="0" hangingPunct="0">
              <a:buFontTx/>
              <a:buNone/>
              <a:defRPr kumimoji="1"/>
            </a:lvl1pPr>
          </a:lstStyle>
          <a:p>
            <a:pPr>
              <a:defRPr/>
            </a:pPr>
            <a:fld id="{1F2E42A9-1DFA-4960-9104-8B416F84B65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90756385"/>
      </p:ext>
    </p:extLst>
  </p:cSld>
  <p:clrMapOvr>
    <a:masterClrMapping/>
  </p:clrMapOvr>
  <p:transition spd="med">
    <p:random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buFontTx/>
              <a:buNone/>
              <a:defRPr kumimoji="1"/>
            </a:lvl1pPr>
          </a:lstStyle>
          <a:p>
            <a:pPr>
              <a:defRPr/>
            </a:pPr>
            <a:fld id="{5DEC5A8A-F240-4C27-95FC-E0521022B01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57827412"/>
      </p:ext>
    </p:extLst>
  </p:cSld>
  <p:clrMapOvr>
    <a:masterClrMapping/>
  </p:clrMapOvr>
  <p:transition spd="med">
    <p:random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buFontTx/>
              <a:buNone/>
              <a:defRPr kumimoji="1"/>
            </a:lvl1pPr>
          </a:lstStyle>
          <a:p>
            <a:pPr>
              <a:defRPr/>
            </a:pPr>
            <a:fld id="{82D82E2C-94B6-4E93-87F7-8455B0C85EE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6064988"/>
      </p:ext>
    </p:extLst>
  </p:cSld>
  <p:clrMapOvr>
    <a:masterClrMapping/>
  </p:clrMapOvr>
  <p:transition spd="med">
    <p:random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buFontTx/>
              <a:buNone/>
              <a:defRPr kumimoji="1"/>
            </a:lvl1pPr>
          </a:lstStyle>
          <a:p>
            <a:pPr>
              <a:defRPr/>
            </a:pPr>
            <a:fld id="{746E6048-A5E0-4B3C-A0A2-702F795E23D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50645164"/>
      </p:ext>
    </p:extLst>
  </p:cSld>
  <p:clrMapOvr>
    <a:masterClrMapping/>
  </p:clrMapOvr>
  <p:transition spd="med">
    <p:random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buFontTx/>
              <a:buNone/>
              <a:defRPr kumimoji="1"/>
            </a:lvl1pPr>
          </a:lstStyle>
          <a:p>
            <a:pPr>
              <a:defRPr/>
            </a:pPr>
            <a:fld id="{2FB57705-3AE7-4106-8F56-59E8F27F88B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58287162"/>
      </p:ext>
    </p:extLst>
  </p:cSld>
  <p:clrMapOvr>
    <a:masterClrMapping/>
  </p:clrMapOvr>
  <p:transition spd="med">
    <p:random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buFontTx/>
              <a:buNone/>
              <a:defRPr kumimoji="1"/>
            </a:lvl1pPr>
          </a:lstStyle>
          <a:p>
            <a:pPr>
              <a:defRPr/>
            </a:pPr>
            <a:fld id="{262FF6D3-1EC7-46E9-B3BE-1A74694AFBE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28156971"/>
      </p:ext>
    </p:extLst>
  </p:cSld>
  <p:clrMapOvr>
    <a:masterClrMapping/>
  </p:clrMapOvr>
  <p:transition spd="med">
    <p:random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buFontTx/>
              <a:buNone/>
              <a:defRPr kumimoji="1"/>
            </a:lvl1pPr>
          </a:lstStyle>
          <a:p>
            <a:pPr>
              <a:defRPr/>
            </a:pPr>
            <a:fld id="{126BD77E-7405-423F-ABD2-0D87F136C26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02987482"/>
      </p:ext>
    </p:extLst>
  </p:cSld>
  <p:clrMapOvr>
    <a:masterClrMapping/>
  </p:clrMapOvr>
  <p:transition spd="med">
    <p:random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buFontTx/>
              <a:buNone/>
              <a:defRPr kumimoji="1"/>
            </a:lvl1pPr>
          </a:lstStyle>
          <a:p>
            <a:pPr>
              <a:defRPr/>
            </a:pPr>
            <a:fld id="{DF90CA87-85AB-4F59-A5C4-87B0C50D900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28783826"/>
      </p:ext>
    </p:extLst>
  </p:cSld>
  <p:clrMapOvr>
    <a:masterClrMapping/>
  </p:clrMapOvr>
  <p:transition spd="med">
    <p:random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buFontTx/>
              <a:buNone/>
              <a:defRPr kumimoji="1"/>
            </a:lvl1pPr>
          </a:lstStyle>
          <a:p>
            <a:pPr>
              <a:defRPr/>
            </a:pPr>
            <a:fld id="{17F22CF8-43A7-4E01-8768-7EC032C0821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09136297"/>
      </p:ext>
    </p:extLst>
  </p:cSld>
  <p:clrMapOvr>
    <a:masterClrMapping/>
  </p:clrMapOvr>
  <p:transition spd="med">
    <p:random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buFontTx/>
              <a:buNone/>
              <a:defRPr kumimoji="1"/>
            </a:lvl1pPr>
          </a:lstStyle>
          <a:p>
            <a:pPr>
              <a:defRPr/>
            </a:pPr>
            <a:fld id="{4F6FC368-7DDD-49A8-8B75-D37C009ECED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72565593"/>
      </p:ext>
    </p:extLst>
  </p:cSld>
  <p:clrMapOvr>
    <a:masterClrMapping/>
  </p:clrMapOvr>
  <p:transition spd="med">
    <p:random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buFontTx/>
              <a:buNone/>
              <a:defRPr kumimoji="1"/>
            </a:lvl1pPr>
          </a:lstStyle>
          <a:p>
            <a:pPr>
              <a:defRPr/>
            </a:pPr>
            <a:fld id="{6BCB3574-D73A-418E-8457-6D161AF3E01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74817104"/>
      </p:ext>
    </p:extLst>
  </p:cSld>
  <p:clrMapOvr>
    <a:masterClrMapping/>
  </p:clrMapOvr>
  <p:transition spd="med">
    <p:random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buFontTx/>
              <a:buNone/>
              <a:defRPr kumimoji="1"/>
            </a:lvl1pPr>
          </a:lstStyle>
          <a:p>
            <a:pPr>
              <a:defRPr/>
            </a:pPr>
            <a:fld id="{39F5C33D-CFDD-4590-86FF-796A50F4403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71883284"/>
      </p:ext>
    </p:extLst>
  </p:cSld>
  <p:clrMapOvr>
    <a:masterClrMapping/>
  </p:clrMapOvr>
  <p:transition spd="med">
    <p:random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buFontTx/>
              <a:buNone/>
              <a:defRPr kumimoji="1"/>
            </a:lvl1pPr>
          </a:lstStyle>
          <a:p>
            <a:pPr>
              <a:defRPr/>
            </a:pPr>
            <a:fld id="{BCAA8691-9061-468A-8C65-6C4C1C84A3F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35559347"/>
      </p:ext>
    </p:extLst>
  </p:cSld>
  <p:clrMapOvr>
    <a:masterClrMapping/>
  </p:clrMapOvr>
  <p:transition spd="med">
    <p:random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29150" y="1825625"/>
            <a:ext cx="3886200" cy="20986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29150" y="4076700"/>
            <a:ext cx="3886200" cy="21002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buFontTx/>
              <a:buNone/>
              <a:defRPr kumimoji="1"/>
            </a:lvl1pPr>
          </a:lstStyle>
          <a:p>
            <a:pPr>
              <a:defRPr/>
            </a:pPr>
            <a:fld id="{B8B22AD2-C0C1-4675-B715-FA803D3695F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64032259"/>
      </p:ext>
    </p:extLst>
  </p:cSld>
  <p:clrMapOvr>
    <a:masterClrMapping/>
  </p:clrMapOvr>
  <p:transition spd="med">
    <p:random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mtClean="0">
              <a:solidFill>
                <a:srgbClr val="000000"/>
              </a:solidFill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mtClean="0">
              <a:solidFill>
                <a:srgbClr val="000000"/>
              </a:solidFill>
            </a:endParaRPr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9ECBF3-843F-4138-89A2-736F97B0B1FE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674509"/>
      </p:ext>
    </p:extLst>
  </p:cSld>
  <p:clrMapOvr>
    <a:masterClrMapping/>
  </p:clrMapOvr>
  <p:transition spd="med">
    <p:random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959B38-BAF5-4868-9D1D-DCDE4A8F7DAC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4919330"/>
      </p:ext>
    </p:extLst>
  </p:cSld>
  <p:clrMapOvr>
    <a:masterClrMapping/>
  </p:clrMapOvr>
  <p:transition spd="med">
    <p:random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F11AC2-DA14-4505-AF9A-323D9F361A3E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7272216"/>
      </p:ext>
    </p:extLst>
  </p:cSld>
  <p:clrMapOvr>
    <a:masterClrMapping/>
  </p:clrMapOvr>
  <p:transition spd="med">
    <p:random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E9C3BF-7CB0-47E2-A756-04FF943DB228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6765461"/>
      </p:ext>
    </p:extLst>
  </p:cSld>
  <p:clrMapOvr>
    <a:masterClrMapping/>
  </p:clrMapOvr>
  <p:transition spd="med">
    <p:random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21131F-D160-4C8B-A7EC-2CFADF3AC321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2119999"/>
      </p:ext>
    </p:extLst>
  </p:cSld>
  <p:clrMapOvr>
    <a:masterClrMapping/>
  </p:clrMapOvr>
  <p:transition spd="med">
    <p:random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564C8C-4FE1-4FB4-84F4-E60F6034B4DC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2727171"/>
      </p:ext>
    </p:extLst>
  </p:cSld>
  <p:clrMapOvr>
    <a:masterClrMapping/>
  </p:clrMapOvr>
  <p:transition spd="med">
    <p:random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2EF288-F750-4F72-88F5-75B902875235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3903705"/>
      </p:ext>
    </p:extLst>
  </p:cSld>
  <p:clrMapOvr>
    <a:masterClrMapping/>
  </p:clrMapOvr>
  <p:transition spd="med">
    <p:random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408DC5-7793-4F97-BA43-678BE5321D1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7178192"/>
      </p:ext>
    </p:extLst>
  </p:cSld>
  <p:clrMapOvr>
    <a:masterClrMapping/>
  </p:clrMapOvr>
  <p:transition spd="med">
    <p:random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A4F59E-8965-49B9-9C6F-0361DF3E944D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1685109"/>
      </p:ext>
    </p:extLst>
  </p:cSld>
  <p:clrMapOvr>
    <a:masterClrMapping/>
  </p:clrMapOvr>
  <p:transition spd="med">
    <p:random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178585-128E-44E3-8714-C1A93324C4E1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1594447"/>
      </p:ext>
    </p:extLst>
  </p:cSld>
  <p:clrMapOvr>
    <a:masterClrMapping/>
  </p:clrMapOvr>
  <p:transition spd="med">
    <p:random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5E950D-A0B1-46D2-9536-1BDB584523D4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8712425"/>
      </p:ext>
    </p:extLst>
  </p:cSld>
  <p:clrMapOvr>
    <a:masterClrMapping/>
  </p:clrMapOvr>
  <p:transition spd="med">
    <p:random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6927AF-CF1F-4D2A-B9EC-CAECC911C922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425273"/>
      </p:ext>
    </p:extLst>
  </p:cSld>
  <p:clrMapOvr>
    <a:masterClrMapping/>
  </p:clrMapOvr>
  <p:transition spd="med"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1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image" Target="../media/image1.jpe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slideLayout" Target="../slideLayouts/slideLayout61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5" Type="http://schemas.openxmlformats.org/officeDocument/2006/relationships/theme" Target="../theme/theme5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62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4.xml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5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72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과학(일러)1-3"/>
          <p:cNvPicPr>
            <a:picLocks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0208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fld id="{040BF633-0A9E-4C48-A266-AB322BCCEC1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407" r:id="rId1"/>
    <p:sldLayoutId id="2147487290" r:id="rId2"/>
    <p:sldLayoutId id="2147487291" r:id="rId3"/>
    <p:sldLayoutId id="2147487292" r:id="rId4"/>
    <p:sldLayoutId id="2147487293" r:id="rId5"/>
    <p:sldLayoutId id="2147487294" r:id="rId6"/>
    <p:sldLayoutId id="2147487295" r:id="rId7"/>
    <p:sldLayoutId id="2147487296" r:id="rId8"/>
    <p:sldLayoutId id="2147487297" r:id="rId9"/>
    <p:sldLayoutId id="2147487298" r:id="rId10"/>
    <p:sldLayoutId id="2147487299" r:id="rId11"/>
    <p:sldLayoutId id="2147487300" r:id="rId12"/>
  </p:sldLayoutIdLst>
  <p:transition spd="med">
    <p:rand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과학(일러)1-3"/>
          <p:cNvPicPr>
            <a:picLocks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0208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fld id="{2BFBB472-A9B5-4261-BCDA-F39A9E1B6C7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422" r:id="rId1"/>
    <p:sldLayoutId id="2147487301" r:id="rId2"/>
    <p:sldLayoutId id="2147487302" r:id="rId3"/>
    <p:sldLayoutId id="2147487303" r:id="rId4"/>
    <p:sldLayoutId id="2147487304" r:id="rId5"/>
    <p:sldLayoutId id="2147487305" r:id="rId6"/>
    <p:sldLayoutId id="2147487306" r:id="rId7"/>
    <p:sldLayoutId id="2147487307" r:id="rId8"/>
    <p:sldLayoutId id="2147487308" r:id="rId9"/>
    <p:sldLayoutId id="2147487309" r:id="rId10"/>
    <p:sldLayoutId id="2147487310" r:id="rId11"/>
    <p:sldLayoutId id="2147487311" r:id="rId12"/>
  </p:sldLayoutIdLst>
  <p:transition spd="med">
    <p:rand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과학(일러)1-3"/>
          <p:cNvPicPr>
            <a:picLocks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0208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solidFill>
                  <a:srgbClr val="000000"/>
                </a:solidFill>
                <a:latin typeface="-윤명조140" panose="02020603050405020304" pitchFamily="18" charset="-127"/>
                <a:ea typeface="-윤명조140" panose="02020603050405020304" pitchFamily="18" charset="-127"/>
              </a:defRPr>
            </a:lvl1pPr>
          </a:lstStyle>
          <a:p>
            <a:pPr>
              <a:defRPr/>
            </a:pPr>
            <a:fld id="{653163E8-9ED9-44EA-A296-1305EAF04DB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432" r:id="rId1"/>
    <p:sldLayoutId id="2147487433" r:id="rId2"/>
    <p:sldLayoutId id="2147487434" r:id="rId3"/>
    <p:sldLayoutId id="2147487435" r:id="rId4"/>
    <p:sldLayoutId id="2147487436" r:id="rId5"/>
    <p:sldLayoutId id="2147487437" r:id="rId6"/>
    <p:sldLayoutId id="2147487438" r:id="rId7"/>
    <p:sldLayoutId id="2147487439" r:id="rId8"/>
    <p:sldLayoutId id="2147487440" r:id="rId9"/>
    <p:sldLayoutId id="2147487441" r:id="rId10"/>
    <p:sldLayoutId id="2147487442" r:id="rId11"/>
    <p:sldLayoutId id="2147487443" r:id="rId12"/>
  </p:sldLayoutIdLst>
  <p:transition spd="med">
    <p:random/>
  </p:transition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과학(일러)1-3"/>
          <p:cNvPicPr>
            <a:picLocks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0208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fld id="{073F6626-38A5-4FDD-A441-6D88A486768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444" r:id="rId1"/>
    <p:sldLayoutId id="2147487396" r:id="rId2"/>
    <p:sldLayoutId id="2147487397" r:id="rId3"/>
    <p:sldLayoutId id="2147487398" r:id="rId4"/>
    <p:sldLayoutId id="2147487399" r:id="rId5"/>
    <p:sldLayoutId id="2147487400" r:id="rId6"/>
    <p:sldLayoutId id="2147487401" r:id="rId7"/>
    <p:sldLayoutId id="2147487402" r:id="rId8"/>
    <p:sldLayoutId id="2147487403" r:id="rId9"/>
    <p:sldLayoutId id="2147487404" r:id="rId10"/>
    <p:sldLayoutId id="2147487405" r:id="rId11"/>
    <p:sldLayoutId id="2147487406" r:id="rId12"/>
  </p:sldLayoutIdLst>
  <p:transition spd="med">
    <p:rand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과학(일러)1-3"/>
          <p:cNvPicPr>
            <a:picLocks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3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0208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latinLnBrk="1" hangingPunct="1">
              <a:buFontTx/>
              <a:buNone/>
              <a:defRPr kumimoji="1"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latinLnBrk="1" hangingPunct="1">
              <a:buFontTx/>
              <a:buNone/>
              <a:defRPr kumimoji="1"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latinLnBrk="1" hangingPunct="1">
              <a:buFont typeface="Arial" panose="020B0604020202020204" pitchFamily="34" charset="0"/>
              <a:buNone/>
              <a:defRPr kumimoji="0" sz="1400" noProof="1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fld id="{1512B49B-B98E-478F-8431-CED7403D51C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50724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446" r:id="rId1"/>
    <p:sldLayoutId id="2147487447" r:id="rId2"/>
    <p:sldLayoutId id="2147487448" r:id="rId3"/>
    <p:sldLayoutId id="2147487449" r:id="rId4"/>
    <p:sldLayoutId id="2147487450" r:id="rId5"/>
    <p:sldLayoutId id="2147487451" r:id="rId6"/>
    <p:sldLayoutId id="2147487452" r:id="rId7"/>
    <p:sldLayoutId id="2147487453" r:id="rId8"/>
    <p:sldLayoutId id="2147487454" r:id="rId9"/>
    <p:sldLayoutId id="2147487455" r:id="rId10"/>
    <p:sldLayoutId id="2147487456" r:id="rId11"/>
    <p:sldLayoutId id="2147487457" r:id="rId12"/>
    <p:sldLayoutId id="2147487458" r:id="rId13"/>
    <p:sldLayoutId id="2147487459" r:id="rId14"/>
  </p:sldLayoutIdLst>
  <p:transition spd="med">
    <p:rand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华文中宋" panose="02010600040101010101" pitchFamily="2" charset="-122"/>
          <a:ea typeface="华文中宋" panose="02010600040101010101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华文中宋" panose="02010600040101010101" pitchFamily="2" charset="-122"/>
          <a:ea typeface="华文中宋" panose="02010600040101010101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华文中宋" panose="02010600040101010101" pitchFamily="2" charset="-122"/>
          <a:ea typeface="华文中宋" panose="02010600040101010101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华文中宋" panose="02010600040101010101" pitchFamily="2" charset="-122"/>
          <a:ea typeface="华文中宋" panose="02010600040101010101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anose="02010600040101010101" pitchFamily="2" charset="-122"/>
          <a:ea typeface="华文中宋" panose="02010600040101010101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anose="02010600040101010101" pitchFamily="2" charset="-122"/>
          <a:ea typeface="华文中宋" panose="02010600040101010101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anose="02010600040101010101" pitchFamily="2" charset="-122"/>
          <a:ea typeface="华文中宋" panose="02010600040101010101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anose="02010600040101010101" pitchFamily="2" charset="-122"/>
          <a:ea typeface="华文中宋" panose="02010600040101010101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sz="13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과학(일러)1-3"/>
          <p:cNvPicPr>
            <a:picLocks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30208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0208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0208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fld id="{DC184A94-C834-413C-8B63-8B07F723374F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1370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461" r:id="rId1"/>
    <p:sldLayoutId id="2147487462" r:id="rId2"/>
    <p:sldLayoutId id="2147487463" r:id="rId3"/>
    <p:sldLayoutId id="2147487464" r:id="rId4"/>
    <p:sldLayoutId id="2147487465" r:id="rId5"/>
    <p:sldLayoutId id="2147487466" r:id="rId6"/>
    <p:sldLayoutId id="2147487467" r:id="rId7"/>
    <p:sldLayoutId id="2147487468" r:id="rId8"/>
    <p:sldLayoutId id="2147487469" r:id="rId9"/>
    <p:sldLayoutId id="2147487470" r:id="rId10"/>
    <p:sldLayoutId id="2147487471" r:id="rId11"/>
    <p:sldLayoutId id="2147487472" r:id="rId12"/>
  </p:sldLayoutIdLst>
  <p:transition spd="med">
    <p:random/>
  </p:transition>
  <p:timing>
    <p:tnLst>
      <p:par>
        <p:cTn id="1" dur="indefinite" restart="never" nodeType="tmRoot"/>
      </p:par>
    </p:tnLst>
  </p:timing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64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64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6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23850" y="609600"/>
            <a:ext cx="7772400" cy="641350"/>
          </a:xfrm>
        </p:spPr>
        <p:txBody>
          <a:bodyPr>
            <a:spAutoFit/>
          </a:bodyPr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习题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6.2-1</a:t>
            </a:r>
            <a:endParaRPr lang="zh-CN" altLang="zh-CN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3850" y="1268413"/>
            <a:ext cx="8569325" cy="5589587"/>
          </a:xfrm>
        </p:spPr>
        <p:txBody>
          <a:bodyPr/>
          <a:lstStyle/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>
                <a:sym typeface="Symbol" panose="05050102010706020507" pitchFamily="18" charset="2"/>
              </a:rPr>
              <a:t> </a:t>
            </a: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设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(G,·)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是代数系统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则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(G×G,*)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是代数系统，这里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G×G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的运算“*”规定如下：</a:t>
            </a:r>
          </a:p>
          <a:p>
            <a:pPr algn="ctr" eaLnBrk="1" hangingPunct="1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(a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b)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(c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d)=(a·c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b·d)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其中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: a, b, c, d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为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中任意元素。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证明：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(1)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当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(G,·)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是半群时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,(G×G,*)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是半群；</a:t>
            </a:r>
            <a:endParaRPr lang="en-US" altLang="zh-CN" sz="3000" b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(2)(G,·)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有单位元素时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,(G×G,*)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有单位元素；</a:t>
            </a:r>
            <a:endParaRPr lang="en-US" altLang="zh-CN" sz="3000" b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(3)(G,·)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是群时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,(G×G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，*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是群； </a:t>
            </a:r>
          </a:p>
        </p:txBody>
      </p:sp>
      <p:sp>
        <p:nvSpPr>
          <p:cNvPr id="16282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4CE3315-450C-4BEB-B9F0-65DB5990C453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en-US" altLang="ko-KR" sz="140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8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8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8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8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8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8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95536" y="1279525"/>
            <a:ext cx="8353425" cy="4968875"/>
          </a:xfrm>
        </p:spPr>
        <p:txBody>
          <a:bodyPr/>
          <a:lstStyle/>
          <a:p>
            <a:pPr marL="0" indent="0" algn="just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(1)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证明：</a:t>
            </a:r>
            <a:endParaRPr lang="en-US" altLang="zh-CN" sz="3000" b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 algn="just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设（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G,·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）是半群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a,b,c,d,e,f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为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中任意元素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</a:p>
          <a:p>
            <a:pPr marL="0" indent="0" algn="just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任取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a,b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), (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c,d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), (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e,f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属于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G×G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，则有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altLang="zh-CN" sz="3000" b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a,b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)*(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c,d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z="3000" b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*(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e,f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)=((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a·c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), (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b·d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))*(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e,f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=((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a·c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)·e, (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b·d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)·f))=(a·(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c·e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), b·(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d·f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))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=(a, b)*</a:t>
            </a:r>
            <a:r>
              <a:rPr lang="en-US" altLang="zh-CN" sz="3000" b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(c, d)*(e, f)</a:t>
            </a:r>
            <a:r>
              <a:rPr lang="en-US" altLang="zh-CN" sz="3000" b="1" dirty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这就证明了当（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G,·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）是半群时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（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G×G,*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）是</a:t>
            </a:r>
            <a:endParaRPr lang="en-US" altLang="zh-CN" sz="3000" b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半群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CN" sz="2800" b="1" dirty="0">
              <a:sym typeface="Symbol" panose="05050102010706020507" pitchFamily="18" charset="2"/>
            </a:endParaRPr>
          </a:p>
        </p:txBody>
      </p:sp>
      <p:sp>
        <p:nvSpPr>
          <p:cNvPr id="163843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0729F84-258B-427C-BB6C-97CD2F47FC94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ko-KR" sz="140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323850" y="609600"/>
            <a:ext cx="7772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ker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习题</a:t>
            </a:r>
            <a:r>
              <a:rPr lang="en-US" altLang="zh-CN" ker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6.2-1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9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9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9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9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 eaLnBrk="1" hangingPunct="1">
              <a:lnSpc>
                <a:spcPct val="125000"/>
              </a:lnSpc>
              <a:spcBef>
                <a:spcPct val="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(2)</a:t>
            </a:r>
            <a:r>
              <a:rPr lang="zh-CN" altLang="en-US" sz="3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证明：</a:t>
            </a:r>
            <a:endParaRPr lang="en-US" altLang="zh-CN" sz="3000" b="1" dirty="0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 algn="just" eaLnBrk="1" hangingPunct="1">
              <a:lnSpc>
                <a:spcPct val="125000"/>
              </a:lnSpc>
              <a:spcBef>
                <a:spcPct val="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设</a:t>
            </a:r>
            <a:r>
              <a:rPr lang="en-US" altLang="zh-CN" sz="3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(G,·)</a:t>
            </a:r>
            <a:r>
              <a:rPr lang="zh-CN" altLang="en-US" sz="3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有单位元素</a:t>
            </a:r>
            <a:r>
              <a:rPr lang="en-US" altLang="zh-CN" sz="3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zh-CN" altLang="en-US" sz="3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3000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a,b</a:t>
            </a:r>
            <a:r>
              <a:rPr lang="en-US" altLang="zh-CN" sz="3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sz="3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是</a:t>
            </a:r>
            <a:r>
              <a:rPr lang="en-US" altLang="zh-CN" sz="3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(G×G,*)</a:t>
            </a:r>
            <a:r>
              <a:rPr lang="zh-CN" altLang="en-US" sz="3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中任意元素</a:t>
            </a:r>
            <a:r>
              <a:rPr lang="en-US" altLang="zh-CN" sz="3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zh-CN" altLang="en-US" sz="3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则有</a:t>
            </a: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3000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a,b</a:t>
            </a:r>
            <a:r>
              <a:rPr lang="en-US" altLang="zh-CN" sz="3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)*(1,1) =(a·1, b·1)=(</a:t>
            </a:r>
            <a:r>
              <a:rPr lang="en-US" altLang="zh-CN" sz="3000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a,b</a:t>
            </a:r>
            <a:r>
              <a:rPr lang="en-US" altLang="zh-CN" sz="3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zh-CN" altLang="en-US" sz="3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且</a:t>
            </a: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(1,1)*(</a:t>
            </a:r>
            <a:r>
              <a:rPr lang="en-US" altLang="zh-CN" sz="3000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a,b</a:t>
            </a:r>
            <a:r>
              <a:rPr lang="en-US" altLang="zh-CN" sz="3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=(1·a, 1·b)=(a, b),  </a:t>
            </a:r>
            <a:r>
              <a:rPr lang="zh-CN" altLang="en-US" sz="3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故</a:t>
            </a:r>
            <a:r>
              <a:rPr lang="en-US" altLang="zh-CN" sz="3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(1,1)</a:t>
            </a:r>
            <a:r>
              <a:rPr lang="zh-CN" altLang="en-US" sz="3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就是</a:t>
            </a: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(G×G</a:t>
            </a:r>
            <a:r>
              <a:rPr lang="zh-CN" altLang="en-US" sz="3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，*</a:t>
            </a:r>
            <a:r>
              <a:rPr lang="en-US" altLang="zh-CN" sz="3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sz="30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的单位元素。</a:t>
            </a:r>
          </a:p>
          <a:p>
            <a:pPr>
              <a:lnSpc>
                <a:spcPct val="125000"/>
              </a:lnSpc>
              <a:defRPr/>
            </a:pPr>
            <a:endParaRPr lang="zh-CN" altLang="en-US" sz="3000" dirty="0">
              <a:ea typeface="宋体" panose="02010600030101010101" pitchFamily="2" charset="-122"/>
            </a:endParaRPr>
          </a:p>
        </p:txBody>
      </p:sp>
      <p:sp>
        <p:nvSpPr>
          <p:cNvPr id="164867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3DF0999-13EF-4AA4-BC49-493D4CBE945D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ko-KR" sz="140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  <p:sp>
        <p:nvSpPr>
          <p:cNvPr id="16486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23850" y="609600"/>
            <a:ext cx="7772400" cy="641350"/>
          </a:xfrm>
        </p:spPr>
        <p:txBody>
          <a:bodyPr>
            <a:spAutoFit/>
          </a:bodyPr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习题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6.2-1</a:t>
            </a:r>
            <a:endParaRPr lang="zh-CN" altLang="zh-CN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med"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17513" y="1352550"/>
            <a:ext cx="8424862" cy="4895850"/>
          </a:xfrm>
        </p:spPr>
        <p:txBody>
          <a:bodyPr/>
          <a:lstStyle/>
          <a:p>
            <a:pPr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(3)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证明：</a:t>
            </a:r>
            <a:endParaRPr lang="en-US" altLang="zh-CN" sz="3000" b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设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(G,·)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是群，往证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:(G×G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，*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是群。</a:t>
            </a:r>
          </a:p>
          <a:p>
            <a:pPr marL="0" indent="0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我们来证明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(G×G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，*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中的任意元素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(a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b)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有逆元素。</a:t>
            </a:r>
          </a:p>
          <a:p>
            <a:pPr marL="0" indent="0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(a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b)*(a</a:t>
            </a:r>
            <a:r>
              <a:rPr lang="en-US" altLang="zh-CN" sz="3000" b="1" baseline="30000" dirty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3000" b="1" baseline="30000" dirty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 )= (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a·a</a:t>
            </a:r>
            <a:r>
              <a:rPr lang="en-US" altLang="zh-CN" sz="3000" b="1" baseline="30000" dirty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b·b</a:t>
            </a:r>
            <a:r>
              <a:rPr lang="en-US" altLang="zh-CN" sz="3000" b="1" baseline="30000" dirty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 ) =(1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1) 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，其中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3000" b="1" baseline="30000" dirty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和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3000" b="1" baseline="30000" dirty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分别是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和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在群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(G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 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·)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中的逆元素。</a:t>
            </a:r>
            <a:endParaRPr lang="en-US" altLang="zh-CN" sz="3000" b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同样有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 (a</a:t>
            </a:r>
            <a:r>
              <a:rPr lang="en-US" altLang="zh-CN" sz="3000" b="1" baseline="30000" dirty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3000" b="1" baseline="30000" dirty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 )*(a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b )= (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3000" b="1" baseline="30000" dirty="0" err="1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·a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3000" b="1" baseline="30000" dirty="0" err="1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·b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 )= (1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1) 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</a:p>
          <a:p>
            <a:pPr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这就证明了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(a</a:t>
            </a:r>
            <a:r>
              <a:rPr lang="en-US" altLang="zh-CN" sz="3000" b="1" baseline="30000" dirty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3000" b="1" baseline="30000" dirty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 )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是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(a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b)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的逆元素，从而说明</a:t>
            </a:r>
            <a:endParaRPr lang="en-US" altLang="zh-CN" sz="3000" b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(G×G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，*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是群。 </a:t>
            </a:r>
          </a:p>
        </p:txBody>
      </p:sp>
      <p:sp>
        <p:nvSpPr>
          <p:cNvPr id="165891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6EE7325-2571-4225-904C-6DA959833E79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ko-KR" sz="140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323850" y="609600"/>
            <a:ext cx="7772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习题</a:t>
            </a:r>
            <a:r>
              <a:rPr lang="en-US" altLang="zh-CN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6.2-1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/>
          <p:cNvSpPr>
            <a:spLocks noGrp="1"/>
          </p:cNvSpPr>
          <p:nvPr>
            <p:ph type="title"/>
          </p:nvPr>
        </p:nvSpPr>
        <p:spPr>
          <a:xfrm>
            <a:off x="539750" y="476250"/>
            <a:ext cx="8020050" cy="7207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习题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</a:rPr>
              <a:t>6.2--3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1975" y="1125538"/>
            <a:ext cx="8301038" cy="4922837"/>
          </a:xfrm>
        </p:spPr>
        <p:txBody>
          <a:bodyPr/>
          <a:lstStyle/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</a:t>
            </a:r>
            <a:r>
              <a:rPr lang="zh-CN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举例说明定理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6.2.2</a:t>
            </a:r>
            <a:r>
              <a:rPr lang="zh-CN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中的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(1)’</a:t>
            </a:r>
            <a:r>
              <a:rPr lang="zh-CN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和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(2)’</a:t>
            </a:r>
            <a:r>
              <a:rPr lang="zh-CN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分别改成：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中有一个元素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适合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a=a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；</a:t>
            </a:r>
            <a:r>
              <a:rPr lang="zh-CN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对于任意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有一个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zh-CN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适合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=1</a:t>
            </a:r>
            <a:r>
              <a:rPr lang="zh-CN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，则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不见得是一个群。</a:t>
            </a:r>
            <a:endParaRPr lang="en-US" altLang="zh-CN" sz="30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defRPr/>
            </a:pPr>
            <a:r>
              <a:rPr lang="zh-CN" altLang="en-US" sz="3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解：</a:t>
            </a:r>
            <a:endParaRPr lang="zh-CN" altLang="zh-CN" sz="3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3000" dirty="0" smtClean="0"/>
              <a:t>                 G=</a:t>
            </a:r>
            <a:endParaRPr lang="zh-CN" altLang="zh-CN" sz="3000" dirty="0" smtClean="0"/>
          </a:p>
          <a:p>
            <a:pPr>
              <a:defRPr/>
            </a:pPr>
            <a:endParaRPr lang="en-US" altLang="zh-CN" sz="3000" dirty="0" smtClean="0"/>
          </a:p>
          <a:p>
            <a:pPr>
              <a:defRPr/>
            </a:pPr>
            <a:r>
              <a:rPr lang="zh-CN" altLang="en-US" sz="3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有左壹：</a:t>
            </a:r>
            <a:r>
              <a:rPr lang="zh-CN" altLang="en-US" sz="3000" dirty="0" smtClean="0"/>
              <a:t>                       </a:t>
            </a:r>
            <a:r>
              <a:rPr lang="zh-CN" altLang="en-US" sz="3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有右逆：</a:t>
            </a:r>
            <a:endParaRPr lang="en-US" altLang="zh-CN" sz="3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endParaRPr lang="en-US" altLang="zh-CN" sz="3000" dirty="0" smtClean="0"/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但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不是群。</a:t>
            </a:r>
            <a:endParaRPr lang="zh-CN" altLang="en-US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graphicFrame>
        <p:nvGraphicFramePr>
          <p:cNvPr id="3074" name="Object 2"/>
          <p:cNvGraphicFramePr>
            <a:graphicFrameLocks noChangeAspect="1"/>
          </p:cNvGraphicFramePr>
          <p:nvPr>
            <p:extLst/>
          </p:nvPr>
        </p:nvGraphicFramePr>
        <p:xfrm>
          <a:off x="2685847" y="2843809"/>
          <a:ext cx="3305175" cy="115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公式" r:id="rId3" imgW="1384300" imgH="482600" progId="Equation.3">
                  <p:embed/>
                </p:oleObj>
              </mc:Choice>
              <mc:Fallback>
                <p:oleObj name="公式" r:id="rId3" imgW="13843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5847" y="2843809"/>
                        <a:ext cx="3305175" cy="1150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3"/>
          <p:cNvGraphicFramePr>
            <a:graphicFrameLocks noChangeAspect="1"/>
          </p:cNvGraphicFramePr>
          <p:nvPr>
            <p:extLst/>
          </p:nvPr>
        </p:nvGraphicFramePr>
        <p:xfrm>
          <a:off x="2685847" y="4147729"/>
          <a:ext cx="1035050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公式" r:id="rId5" imgW="469900" imgH="457200" progId="Equation.3">
                  <p:embed/>
                </p:oleObj>
              </mc:Choice>
              <mc:Fallback>
                <p:oleObj name="公式" r:id="rId5" imgW="4699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5847" y="4147729"/>
                        <a:ext cx="1035050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" name="Object 4"/>
          <p:cNvGraphicFramePr>
            <a:graphicFrameLocks noChangeAspect="1"/>
          </p:cNvGraphicFramePr>
          <p:nvPr>
            <p:extLst/>
          </p:nvPr>
        </p:nvGraphicFramePr>
        <p:xfrm>
          <a:off x="6300192" y="4135028"/>
          <a:ext cx="1236662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公式" r:id="rId7" imgW="583947" imgH="482391" progId="Equation.3">
                  <p:embed/>
                </p:oleObj>
              </mc:Choice>
              <mc:Fallback>
                <p:oleObj name="公式" r:id="rId7" imgW="583947" imgH="4823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192" y="4135028"/>
                        <a:ext cx="1236662" cy="1020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82507361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因为</a:t>
            </a:r>
            <a:r>
              <a:rPr lang="zh-CN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当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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</a:t>
            </a:r>
            <a:r>
              <a:rPr lang="zh-CN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时</a:t>
            </a:r>
            <a:endParaRPr lang="en-US" altLang="zh-CN" sz="32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因此，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中无单位元。</a:t>
            </a:r>
            <a:endParaRPr lang="en-US" altLang="zh-CN" sz="32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endParaRPr lang="en-US" altLang="zh-CN" dirty="0" smtClean="0"/>
          </a:p>
          <a:p>
            <a:endParaRPr lang="zh-CN" altLang="zh-CN" dirty="0" smtClean="0"/>
          </a:p>
          <a:p>
            <a:endParaRPr lang="zh-CN" altLang="en-US" dirty="0" smtClean="0"/>
          </a:p>
        </p:txBody>
      </p:sp>
      <p:graphicFrame>
        <p:nvGraphicFramePr>
          <p:cNvPr id="34820" name="Object 2"/>
          <p:cNvGraphicFramePr>
            <a:graphicFrameLocks noChangeAspect="1"/>
          </p:cNvGraphicFramePr>
          <p:nvPr/>
        </p:nvGraphicFramePr>
        <p:xfrm>
          <a:off x="1619250" y="2420938"/>
          <a:ext cx="5543550" cy="1223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公式" r:id="rId3" imgW="2070100" imgH="457200" progId="Equation.3">
                  <p:embed/>
                </p:oleObj>
              </mc:Choice>
              <mc:Fallback>
                <p:oleObj name="公式" r:id="rId3" imgW="20701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2420938"/>
                        <a:ext cx="5543550" cy="1223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539750" y="476250"/>
            <a:ext cx="8020050" cy="7207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习题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</a:rPr>
              <a:t>6.2--3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2398876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1341438"/>
            <a:ext cx="8675687" cy="511175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b="1">
                <a:latin typeface="黑体" panose="02010609060101010101" pitchFamily="49" charset="-122"/>
                <a:sym typeface="Symbol" panose="05050102010706020507" pitchFamily="18" charset="2"/>
              </a:rPr>
              <a:t>4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. 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设集合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G={a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c}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上的二元运算表如下：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 b="1">
                <a:sym typeface="Symbol" panose="05050102010706020507" pitchFamily="18" charset="2"/>
              </a:rPr>
              <a:t> 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en-US" sz="2800" b="1">
              <a:sym typeface="Symbol" panose="05050102010706020507" pitchFamily="18" charset="2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en-US" sz="2800" b="1">
              <a:sym typeface="Symbol" panose="05050102010706020507" pitchFamily="18" charset="2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en-US" sz="2800" b="1">
              <a:sym typeface="Symbol" panose="05050102010706020507" pitchFamily="18" charset="2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en-US" sz="2800" b="1">
              <a:sym typeface="Symbol" panose="05050102010706020507" pitchFamily="18" charset="2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en-US" sz="2800" b="1">
              <a:sym typeface="Symbol" panose="05050102010706020507" pitchFamily="18" charset="2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en-US" sz="2800" b="1">
              <a:sym typeface="Symbol" panose="05050102010706020507" pitchFamily="18" charset="2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en-US" sz="2800" b="1">
              <a:sym typeface="Symbol" panose="05050102010706020507" pitchFamily="18" charset="2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 b="1">
                <a:sym typeface="Symbol" panose="05050102010706020507" pitchFamily="18" charset="2"/>
              </a:rPr>
              <a:t> 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则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(G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·)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是否为半群？是否为群？为什么？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解：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(G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·)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是半群，但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(G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·)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不是群，因为</a:t>
            </a:r>
            <a:endParaRPr lang="en-US" altLang="zh-CN" sz="3000" b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元素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zh-CN" altLang="en-US" sz="3000" b="1">
                <a:ea typeface="宋体" panose="02010600030101010101" pitchFamily="2" charset="-122"/>
                <a:sym typeface="Symbol" panose="05050102010706020507" pitchFamily="18" charset="2"/>
              </a:rPr>
              <a:t>没有逆元素</a:t>
            </a:r>
            <a:r>
              <a:rPr lang="zh-CN" altLang="en-US" sz="2800" b="1"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</p:txBody>
      </p:sp>
      <p:graphicFrame>
        <p:nvGraphicFramePr>
          <p:cNvPr id="261155" name="Group 35"/>
          <p:cNvGraphicFramePr>
            <a:graphicFrameLocks noGrp="1"/>
          </p:cNvGraphicFramePr>
          <p:nvPr/>
        </p:nvGraphicFramePr>
        <p:xfrm>
          <a:off x="2051050" y="1916113"/>
          <a:ext cx="4419600" cy="2667000"/>
        </p:xfrm>
        <a:graphic>
          <a:graphicData uri="http://schemas.openxmlformats.org/drawingml/2006/table">
            <a:tbl>
              <a:tblPr/>
              <a:tblGrid>
                <a:gridCol w="11049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1049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1049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1049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6667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sym typeface="Symbol" panose="05050102010706020507" pitchFamily="18" charset="2"/>
                        </a:rPr>
                        <a:t>·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6943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BC63724-9F60-465F-ACB4-12896E59267F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323850" y="609600"/>
            <a:ext cx="7772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习题</a:t>
            </a:r>
            <a:r>
              <a:rPr lang="en-US" altLang="zh-CN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6.2-4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98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98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98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98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3200" b="1">
                <a:ea typeface="楷体" panose="02010609060101010101" pitchFamily="49" charset="-122"/>
                <a:cs typeface="Times New Roman" panose="02020603050405020304" pitchFamily="18" charset="0"/>
              </a:rPr>
              <a:t>计算</a:t>
            </a:r>
            <a:r>
              <a:rPr lang="en-US" altLang="zh-CN" sz="3200" b="1">
                <a:ea typeface="楷体" panose="02010609060101010101" pitchFamily="49" charset="-122"/>
                <a:cs typeface="Times New Roman" panose="02020603050405020304" pitchFamily="18" charset="0"/>
              </a:rPr>
              <a:t>(1 2 3)(2 3 4)(1 4)(2 3)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3200" b="1">
                <a:ea typeface="楷体" panose="02010609060101010101" pitchFamily="49" charset="-122"/>
                <a:cs typeface="Times New Roman" panose="02020603050405020304" pitchFamily="18" charset="0"/>
              </a:rPr>
              <a:t>=(1 3 )(2 4)</a:t>
            </a:r>
            <a:endParaRPr lang="zh-CN" altLang="en-US" sz="3200" b="1"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7939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A125A06-C759-489C-AB4E-DF63F1A08098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ko-KR" sz="140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323850" y="609600"/>
            <a:ext cx="7772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习题</a:t>
            </a:r>
            <a:r>
              <a:rPr lang="en-US" altLang="zh-CN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6.2-5</a:t>
            </a:r>
            <a:endParaRPr lang="zh-CN" altLang="zh-CN" kern="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med"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692150"/>
            <a:ext cx="8207375" cy="5688013"/>
          </a:xfrm>
        </p:spPr>
        <p:txBody>
          <a:bodyPr/>
          <a:lstStyle/>
          <a:p>
            <a:pPr marL="0" indent="0">
              <a:defRPr/>
            </a:pPr>
            <a:r>
              <a:rPr kumimoji="1" lang="zh-CN" altLang="en-US" sz="2800" b="1" dirty="0">
                <a:solidFill>
                  <a:srgbClr val="0000FF"/>
                </a:solidFill>
                <a:ea typeface="宋体" panose="02010600030101010101" pitchFamily="2" charset="-122"/>
              </a:rPr>
              <a:t>习题</a:t>
            </a:r>
            <a:r>
              <a:rPr kumimoji="1" lang="en-US" altLang="zh-CN" sz="2800" b="1" dirty="0">
                <a:solidFill>
                  <a:srgbClr val="0000FF"/>
                </a:solidFill>
                <a:ea typeface="宋体" panose="02010600030101010101" pitchFamily="2" charset="-122"/>
              </a:rPr>
              <a:t>6.2—9:</a:t>
            </a:r>
            <a:r>
              <a:rPr kumimoji="1" lang="zh-CN" altLang="zh-CN" sz="2800" b="1" dirty="0">
                <a:ea typeface="宋体" panose="02010600030101010101" pitchFamily="2" charset="-122"/>
              </a:rPr>
              <a:t> </a:t>
            </a:r>
            <a:r>
              <a:rPr kumimoji="1" lang="en-US" altLang="zh-CN" sz="2800" b="1" dirty="0">
                <a:ea typeface="宋体" panose="02010600030101010101" pitchFamily="2" charset="-122"/>
              </a:rPr>
              <a:t>n</a:t>
            </a:r>
            <a:r>
              <a:rPr kumimoji="1" lang="zh-CN" altLang="zh-CN" sz="2800" b="1" dirty="0">
                <a:ea typeface="宋体" panose="02010600030101010101" pitchFamily="2" charset="-122"/>
              </a:rPr>
              <a:t>个元素的所有置换作成</a:t>
            </a:r>
            <a:r>
              <a:rPr kumimoji="1" lang="en-US" altLang="zh-CN" sz="2800" b="1" dirty="0">
                <a:ea typeface="宋体" panose="02010600030101010101" pitchFamily="2" charset="-122"/>
              </a:rPr>
              <a:t>n</a:t>
            </a:r>
            <a:r>
              <a:rPr kumimoji="1" lang="zh-CN" altLang="zh-CN" sz="2800" b="1" dirty="0">
                <a:ea typeface="宋体" panose="02010600030101010101" pitchFamily="2" charset="-122"/>
              </a:rPr>
              <a:t>次对称群</a:t>
            </a:r>
            <a:r>
              <a:rPr kumimoji="1" lang="en-US" altLang="zh-CN" sz="2800" b="1" dirty="0">
                <a:ea typeface="宋体" panose="02010600030101010101" pitchFamily="2" charset="-122"/>
              </a:rPr>
              <a:t>Sn .</a:t>
            </a:r>
            <a:r>
              <a:rPr kumimoji="1" lang="zh-CN" altLang="zh-CN" sz="2800" b="1" dirty="0">
                <a:ea typeface="宋体" panose="02010600030101010101" pitchFamily="2" charset="-122"/>
              </a:rPr>
              <a:t>证明</a:t>
            </a:r>
            <a:r>
              <a:rPr kumimoji="1" lang="en-US" altLang="zh-CN" sz="2800" b="1" dirty="0">
                <a:ea typeface="宋体" panose="02010600030101010101" pitchFamily="2" charset="-122"/>
              </a:rPr>
              <a:t>n</a:t>
            </a:r>
            <a:r>
              <a:rPr kumimoji="1" lang="zh-CN" altLang="zh-CN" sz="2800" b="1" dirty="0">
                <a:ea typeface="宋体" panose="02010600030101010101" pitchFamily="2" charset="-122"/>
              </a:rPr>
              <a:t>个元素的所有</a:t>
            </a:r>
            <a:r>
              <a:rPr kumimoji="1" lang="zh-CN" altLang="zh-CN" sz="2800" b="1" dirty="0">
                <a:solidFill>
                  <a:srgbClr val="0000FF"/>
                </a:solidFill>
                <a:ea typeface="宋体" panose="02010600030101010101" pitchFamily="2" charset="-122"/>
              </a:rPr>
              <a:t>偶置换</a:t>
            </a:r>
            <a:r>
              <a:rPr kumimoji="1" lang="zh-CN" altLang="zh-CN" sz="2800" b="1" dirty="0">
                <a:ea typeface="宋体" panose="02010600030101010101" pitchFamily="2" charset="-122"/>
              </a:rPr>
              <a:t>作成群（叫做</a:t>
            </a:r>
            <a:r>
              <a:rPr kumimoji="1" lang="en-US" altLang="zh-CN" sz="2800" b="1" dirty="0">
                <a:ea typeface="宋体" panose="02010600030101010101" pitchFamily="2" charset="-122"/>
              </a:rPr>
              <a:t>n</a:t>
            </a:r>
            <a:r>
              <a:rPr kumimoji="1" lang="zh-CN" altLang="zh-CN" sz="2800" b="1" dirty="0">
                <a:ea typeface="宋体" panose="02010600030101010101" pitchFamily="2" charset="-122"/>
              </a:rPr>
              <a:t>次交代群</a:t>
            </a:r>
            <a:r>
              <a:rPr kumimoji="1" lang="en-US" altLang="zh-CN" sz="2800" b="1" dirty="0">
                <a:ea typeface="宋体" panose="02010600030101010101" pitchFamily="2" charset="-122"/>
              </a:rPr>
              <a:t>An</a:t>
            </a:r>
            <a:r>
              <a:rPr kumimoji="1" lang="zh-CN" altLang="zh-CN" sz="2800" b="1" dirty="0">
                <a:ea typeface="宋体" panose="02010600030101010101" pitchFamily="2" charset="-122"/>
              </a:rPr>
              <a:t>）。</a:t>
            </a:r>
            <a:endParaRPr kumimoji="1" lang="en-US" altLang="zh-CN" sz="2800" b="1" dirty="0">
              <a:ea typeface="宋体" panose="02010600030101010101" pitchFamily="2" charset="-122"/>
            </a:endParaRPr>
          </a:p>
          <a:p>
            <a:pPr marL="0" indent="0">
              <a:defRPr/>
            </a:pPr>
            <a:r>
              <a:rPr kumimoji="1" lang="zh-CN" altLang="en-US" sz="2800" b="1" dirty="0">
                <a:ea typeface="宋体" panose="02010600030101010101" pitchFamily="2" charset="-122"/>
              </a:rPr>
              <a:t>解</a:t>
            </a:r>
            <a:r>
              <a:rPr kumimoji="1" lang="en-US" altLang="zh-CN" sz="2800" b="1" dirty="0">
                <a:ea typeface="宋体" panose="02010600030101010101" pitchFamily="2" charset="-122"/>
              </a:rPr>
              <a:t>:</a:t>
            </a:r>
            <a:r>
              <a:rPr kumimoji="1" lang="zh-CN" altLang="en-US" sz="2800" b="1" dirty="0">
                <a:ea typeface="宋体" panose="02010600030101010101" pitchFamily="2" charset="-122"/>
              </a:rPr>
              <a:t>证</a:t>
            </a:r>
            <a:r>
              <a:rPr kumimoji="1" lang="en-US" altLang="zh-CN" sz="2800" b="1" dirty="0">
                <a:ea typeface="宋体" panose="02010600030101010101" pitchFamily="2" charset="-122"/>
              </a:rPr>
              <a:t>n</a:t>
            </a:r>
            <a:r>
              <a:rPr kumimoji="1" lang="zh-CN" altLang="zh-CN" sz="2800" b="1" dirty="0">
                <a:ea typeface="宋体" panose="02010600030101010101" pitchFamily="2" charset="-122"/>
              </a:rPr>
              <a:t>次交代群</a:t>
            </a:r>
            <a:r>
              <a:rPr kumimoji="1" lang="en-US" altLang="zh-CN" sz="2800" b="1" dirty="0">
                <a:ea typeface="宋体" panose="02010600030101010101" pitchFamily="2" charset="-122"/>
              </a:rPr>
              <a:t>An</a:t>
            </a:r>
            <a:r>
              <a:rPr kumimoji="1" lang="zh-CN" altLang="en-US" sz="2800" b="1" dirty="0">
                <a:ea typeface="宋体" panose="02010600030101010101" pitchFamily="2" charset="-122"/>
              </a:rPr>
              <a:t>为群</a:t>
            </a:r>
            <a:endParaRPr kumimoji="1" lang="en-US" altLang="zh-CN" sz="2800" b="1" dirty="0">
              <a:ea typeface="宋体" panose="02010600030101010101" pitchFamily="2" charset="-122"/>
            </a:endParaRPr>
          </a:p>
          <a:p>
            <a:pPr marL="514350" indent="-514350">
              <a:buFont typeface="+mj-ea"/>
              <a:buAutoNum type="circleNumDbPlain"/>
              <a:defRPr/>
            </a:pPr>
            <a:r>
              <a:rPr kumimoji="1" lang="en-US" altLang="zh-CN" sz="2800" b="1" dirty="0">
                <a:ea typeface="宋体" panose="02010600030101010101" pitchFamily="2" charset="-122"/>
              </a:rPr>
              <a:t>An</a:t>
            </a:r>
            <a:r>
              <a:rPr kumimoji="1" lang="zh-CN" altLang="en-US" sz="2800" b="1" dirty="0">
                <a:ea typeface="宋体" panose="02010600030101010101" pitchFamily="2" charset="-122"/>
              </a:rPr>
              <a:t>非空，恒等置换</a:t>
            </a:r>
            <a:r>
              <a:rPr kumimoji="1" lang="en-US" altLang="zh-CN" sz="2800" b="1" dirty="0">
                <a:ea typeface="宋体" panose="02010600030101010101" pitchFamily="2" charset="-122"/>
              </a:rPr>
              <a:t>I</a:t>
            </a:r>
            <a:r>
              <a:rPr kumimoji="1" lang="zh-CN" altLang="en-US" sz="2800" b="1" dirty="0">
                <a:ea typeface="宋体" panose="02010600030101010101" pitchFamily="2" charset="-122"/>
              </a:rPr>
              <a:t>属于</a:t>
            </a:r>
            <a:r>
              <a:rPr kumimoji="1" lang="en-US" altLang="zh-CN" sz="2800" b="1" dirty="0">
                <a:ea typeface="宋体" panose="02010600030101010101" pitchFamily="2" charset="-122"/>
              </a:rPr>
              <a:t>An</a:t>
            </a:r>
          </a:p>
          <a:p>
            <a:pPr marL="514350" indent="-514350">
              <a:buFont typeface="+mj-ea"/>
              <a:buAutoNum type="circleNumDbPlain"/>
              <a:defRPr/>
            </a:pPr>
            <a:r>
              <a:rPr kumimoji="1" lang="zh-CN" altLang="en-US" sz="2800" b="1" dirty="0">
                <a:ea typeface="宋体" panose="02010600030101010101" pitchFamily="2" charset="-122"/>
              </a:rPr>
              <a:t>置换乘法在</a:t>
            </a:r>
            <a:r>
              <a:rPr kumimoji="1" lang="en-US" altLang="zh-CN" sz="2800" b="1" dirty="0">
                <a:ea typeface="宋体" panose="02010600030101010101" pitchFamily="2" charset="-122"/>
              </a:rPr>
              <a:t>An</a:t>
            </a:r>
            <a:r>
              <a:rPr kumimoji="1" lang="zh-CN" altLang="en-US" sz="2800" b="1" dirty="0">
                <a:ea typeface="宋体" panose="02010600030101010101" pitchFamily="2" charset="-122"/>
              </a:rPr>
              <a:t>上封闭，偶置换</a:t>
            </a:r>
            <a:r>
              <a:rPr kumimoji="1"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×</a:t>
            </a:r>
            <a:r>
              <a:rPr kumimoji="1" lang="zh-CN" altLang="en-US" sz="2800" b="1" dirty="0">
                <a:ea typeface="宋体" panose="02010600030101010101" pitchFamily="2" charset="-122"/>
              </a:rPr>
              <a:t>偶置换</a:t>
            </a:r>
            <a:r>
              <a:rPr kumimoji="1" lang="en-US" altLang="zh-CN" sz="2800" b="1" dirty="0">
                <a:ea typeface="宋体" panose="02010600030101010101" pitchFamily="2" charset="-122"/>
              </a:rPr>
              <a:t>=</a:t>
            </a:r>
            <a:r>
              <a:rPr kumimoji="1" lang="zh-CN" altLang="en-US" sz="2800" b="1" dirty="0">
                <a:ea typeface="宋体" panose="02010600030101010101" pitchFamily="2" charset="-122"/>
              </a:rPr>
              <a:t>偶置换</a:t>
            </a:r>
            <a:endParaRPr kumimoji="1" lang="en-US" altLang="zh-CN" sz="2800" b="1" dirty="0">
              <a:ea typeface="宋体" panose="02010600030101010101" pitchFamily="2" charset="-122"/>
            </a:endParaRPr>
          </a:p>
          <a:p>
            <a:pPr marL="514350" indent="-514350">
              <a:buFont typeface="+mj-ea"/>
              <a:buAutoNum type="circleNumDbPlain"/>
              <a:defRPr/>
            </a:pPr>
            <a:r>
              <a:rPr kumimoji="1" lang="zh-CN" altLang="en-US" sz="2800" b="1" dirty="0">
                <a:ea typeface="宋体" panose="02010600030101010101" pitchFamily="2" charset="-122"/>
              </a:rPr>
              <a:t>置换乘法满足结合律</a:t>
            </a:r>
            <a:endParaRPr kumimoji="1" lang="en-US" altLang="zh-CN" sz="2800" b="1" dirty="0">
              <a:ea typeface="宋体" panose="02010600030101010101" pitchFamily="2" charset="-122"/>
            </a:endParaRPr>
          </a:p>
          <a:p>
            <a:pPr marL="514350" indent="-514350">
              <a:buFont typeface="+mj-ea"/>
              <a:buAutoNum type="circleNumDbPlain"/>
              <a:defRPr/>
            </a:pPr>
            <a:r>
              <a:rPr kumimoji="1" lang="zh-CN" altLang="en-US" sz="2800" b="1" dirty="0">
                <a:ea typeface="宋体" panose="02010600030101010101" pitchFamily="2" charset="-122"/>
              </a:rPr>
              <a:t>有单位元</a:t>
            </a:r>
            <a:r>
              <a:rPr kumimoji="1" lang="en-US" altLang="zh-CN" sz="2800" b="1" dirty="0">
                <a:ea typeface="宋体" panose="02010600030101010101" pitchFamily="2" charset="-122"/>
              </a:rPr>
              <a:t>I(</a:t>
            </a:r>
            <a:r>
              <a:rPr kumimoji="1" lang="zh-CN" altLang="en-US" sz="2800" b="1" dirty="0">
                <a:ea typeface="宋体" panose="02010600030101010101" pitchFamily="2" charset="-122"/>
              </a:rPr>
              <a:t>恒等置换</a:t>
            </a:r>
            <a:r>
              <a:rPr kumimoji="1" lang="en-US" altLang="zh-CN" sz="2800" b="1" dirty="0">
                <a:ea typeface="宋体" panose="02010600030101010101" pitchFamily="2" charset="-122"/>
              </a:rPr>
              <a:t>) ∈An</a:t>
            </a:r>
            <a:r>
              <a:rPr kumimoji="1" lang="zh-CN" altLang="en-US" sz="2800" b="1" dirty="0">
                <a:ea typeface="宋体" panose="02010600030101010101" pitchFamily="2" charset="-122"/>
              </a:rPr>
              <a:t>，</a:t>
            </a:r>
            <a:r>
              <a:rPr kumimoji="1" lang="en-US" altLang="zh-CN" sz="2800" b="1" dirty="0">
                <a:ea typeface="宋体" panose="02010600030101010101" pitchFamily="2" charset="-122"/>
              </a:rPr>
              <a:t>σ I=</a:t>
            </a:r>
            <a:r>
              <a:rPr kumimoji="1" lang="en-US" altLang="zh-CN" sz="2800" b="1" dirty="0" err="1">
                <a:ea typeface="宋体" panose="02010600030101010101" pitchFamily="2" charset="-122"/>
              </a:rPr>
              <a:t>Iσ</a:t>
            </a:r>
            <a:r>
              <a:rPr kumimoji="1" lang="en-US" altLang="zh-CN" sz="2800" b="1" dirty="0">
                <a:ea typeface="宋体" panose="02010600030101010101" pitchFamily="2" charset="-122"/>
              </a:rPr>
              <a:t>= σ</a:t>
            </a:r>
          </a:p>
          <a:p>
            <a:pPr marL="0" indent="-514350">
              <a:buFont typeface="+mj-ea"/>
              <a:buAutoNum type="circleNumDbPlain"/>
              <a:defRPr/>
            </a:pPr>
            <a:r>
              <a:rPr kumimoji="1" lang="zh-CN" altLang="en-US" sz="2800" b="1" dirty="0">
                <a:ea typeface="宋体" panose="02010600030101010101" pitchFamily="2" charset="-122"/>
              </a:rPr>
              <a:t>要证对于任意一个</a:t>
            </a:r>
            <a:r>
              <a:rPr kumimoji="1" lang="en-US" altLang="zh-CN" sz="2400" b="1" dirty="0">
                <a:ea typeface="宋体" panose="02010600030101010101" pitchFamily="2" charset="-122"/>
              </a:rPr>
              <a:t>σ </a:t>
            </a:r>
            <a:r>
              <a:rPr kumimoji="1" lang="en-US" altLang="zh-CN" sz="2800" b="1" dirty="0">
                <a:ea typeface="宋体" panose="02010600030101010101" pitchFamily="2" charset="-122"/>
              </a:rPr>
              <a:t>∈</a:t>
            </a:r>
            <a:r>
              <a:rPr kumimoji="1" lang="en-US" altLang="zh-CN" sz="2400" b="1" dirty="0">
                <a:ea typeface="宋体" panose="02010600030101010101" pitchFamily="2" charset="-122"/>
              </a:rPr>
              <a:t>An</a:t>
            </a:r>
            <a:r>
              <a:rPr kumimoji="1" lang="zh-CN" altLang="en-US" sz="2400" b="1" dirty="0">
                <a:ea typeface="宋体" panose="02010600030101010101" pitchFamily="2" charset="-122"/>
              </a:rPr>
              <a:t>，</a:t>
            </a:r>
            <a:r>
              <a:rPr kumimoji="1" lang="zh-CN" altLang="en-US" sz="2800" b="1" dirty="0">
                <a:ea typeface="宋体" panose="02010600030101010101" pitchFamily="2" charset="-122"/>
              </a:rPr>
              <a:t>都存在一个</a:t>
            </a:r>
            <a:r>
              <a:rPr kumimoji="1" lang="en-US" altLang="zh-CN" sz="2800" b="1" dirty="0">
                <a:ea typeface="宋体" panose="02010600030101010101" pitchFamily="2" charset="-122"/>
              </a:rPr>
              <a:t>σ</a:t>
            </a:r>
            <a:r>
              <a:rPr kumimoji="1" lang="en-US" altLang="zh-CN" sz="2800" b="1" baseline="30000" dirty="0">
                <a:ea typeface="宋体" panose="02010600030101010101" pitchFamily="2" charset="-122"/>
              </a:rPr>
              <a:t>-</a:t>
            </a:r>
            <a:r>
              <a:rPr kumimoji="1" lang="en-US" altLang="zh-CN" b="1" baseline="30000" dirty="0">
                <a:ea typeface="宋体" panose="02010600030101010101" pitchFamily="2" charset="-122"/>
              </a:rPr>
              <a:t>1</a:t>
            </a:r>
            <a:r>
              <a:rPr kumimoji="1" lang="en-US" altLang="zh-CN" sz="3200" b="1" dirty="0">
                <a:ea typeface="宋体" panose="02010600030101010101" pitchFamily="2" charset="-122"/>
              </a:rPr>
              <a:t>∈</a:t>
            </a:r>
            <a:r>
              <a:rPr kumimoji="1" lang="en-US" altLang="zh-CN" sz="2800" b="1" dirty="0">
                <a:ea typeface="宋体" panose="02010600030101010101" pitchFamily="2" charset="-122"/>
              </a:rPr>
              <a:t>An</a:t>
            </a:r>
            <a:r>
              <a:rPr kumimoji="1" lang="zh-CN" altLang="en-US" sz="2800" b="1" dirty="0">
                <a:ea typeface="宋体" panose="02010600030101010101" pitchFamily="2" charset="-122"/>
              </a:rPr>
              <a:t>，使</a:t>
            </a:r>
            <a:r>
              <a:rPr kumimoji="1" lang="en-US" altLang="zh-CN" sz="2800" b="1" dirty="0">
                <a:ea typeface="宋体" panose="02010600030101010101" pitchFamily="2" charset="-122"/>
              </a:rPr>
              <a:t>σσ</a:t>
            </a:r>
            <a:r>
              <a:rPr kumimoji="1" lang="en-US" altLang="zh-CN" sz="2800" b="1" baseline="30000" dirty="0">
                <a:ea typeface="宋体" panose="02010600030101010101" pitchFamily="2" charset="-122"/>
              </a:rPr>
              <a:t>-1</a:t>
            </a:r>
            <a:r>
              <a:rPr kumimoji="1" lang="zh-CN" altLang="en-US" sz="2800" b="1" baseline="30000" dirty="0">
                <a:ea typeface="宋体" panose="02010600030101010101" pitchFamily="2" charset="-122"/>
              </a:rPr>
              <a:t>＝</a:t>
            </a:r>
            <a:r>
              <a:rPr kumimoji="1" lang="en-US" altLang="zh-CN" sz="2800" b="1" dirty="0">
                <a:ea typeface="宋体" panose="02010600030101010101" pitchFamily="2" charset="-122"/>
              </a:rPr>
              <a:t>I</a:t>
            </a:r>
            <a:r>
              <a:rPr kumimoji="1" lang="zh-CN" altLang="en-US" sz="2800" b="1" dirty="0">
                <a:ea typeface="宋体" panose="02010600030101010101" pitchFamily="2" charset="-122"/>
              </a:rPr>
              <a:t>。因</a:t>
            </a:r>
            <a:r>
              <a:rPr kumimoji="1" lang="en-US" altLang="zh-CN" sz="2800" b="1" dirty="0" err="1">
                <a:ea typeface="宋体" panose="02010600030101010101" pitchFamily="2" charset="-122"/>
              </a:rPr>
              <a:t>Sn</a:t>
            </a:r>
            <a:r>
              <a:rPr kumimoji="1" lang="zh-CN" altLang="en-US" sz="2800" b="1" dirty="0">
                <a:ea typeface="宋体" panose="02010600030101010101" pitchFamily="2" charset="-122"/>
              </a:rPr>
              <a:t>为</a:t>
            </a:r>
            <a:r>
              <a:rPr kumimoji="1" lang="en-US" altLang="zh-CN" sz="2800" b="1" dirty="0">
                <a:ea typeface="宋体" panose="02010600030101010101" pitchFamily="2" charset="-122"/>
              </a:rPr>
              <a:t>n</a:t>
            </a:r>
            <a:r>
              <a:rPr kumimoji="1" lang="zh-CN" altLang="en-US" sz="2800" b="1" dirty="0">
                <a:ea typeface="宋体" panose="02010600030101010101" pitchFamily="2" charset="-122"/>
              </a:rPr>
              <a:t>次对称群，</a:t>
            </a:r>
            <a:r>
              <a:rPr kumimoji="1" lang="en-US" altLang="zh-CN" sz="2800" b="1" dirty="0">
                <a:ea typeface="宋体" panose="02010600030101010101" pitchFamily="2" charset="-122"/>
              </a:rPr>
              <a:t>σ</a:t>
            </a:r>
            <a:r>
              <a:rPr kumimoji="1" lang="zh-CN" altLang="en-US" sz="2800" b="1" dirty="0">
                <a:ea typeface="宋体" panose="02010600030101010101" pitchFamily="2" charset="-122"/>
              </a:rPr>
              <a:t>在</a:t>
            </a:r>
            <a:r>
              <a:rPr kumimoji="1" lang="en-US" altLang="zh-CN" sz="2800" b="1" dirty="0">
                <a:ea typeface="宋体" panose="02010600030101010101" pitchFamily="2" charset="-122"/>
              </a:rPr>
              <a:t>Sn</a:t>
            </a:r>
            <a:r>
              <a:rPr kumimoji="1" lang="zh-CN" altLang="en-US" sz="2800" b="1" dirty="0">
                <a:ea typeface="宋体" panose="02010600030101010101" pitchFamily="2" charset="-122"/>
              </a:rPr>
              <a:t>中必有逆，</a:t>
            </a:r>
            <a:r>
              <a:rPr kumimoji="1" lang="en-US" altLang="zh-CN" sz="2800" b="1" dirty="0">
                <a:ea typeface="宋体" panose="02010600030101010101" pitchFamily="2" charset="-122"/>
              </a:rPr>
              <a:t>σσ</a:t>
            </a:r>
            <a:r>
              <a:rPr kumimoji="1" lang="en-US" altLang="zh-CN" sz="2800" b="1" baseline="30000" dirty="0">
                <a:ea typeface="宋体" panose="02010600030101010101" pitchFamily="2" charset="-122"/>
              </a:rPr>
              <a:t>-1</a:t>
            </a:r>
            <a:r>
              <a:rPr kumimoji="1" lang="zh-CN" altLang="en-US" sz="2800" b="1" baseline="30000" dirty="0">
                <a:ea typeface="宋体" panose="02010600030101010101" pitchFamily="2" charset="-122"/>
              </a:rPr>
              <a:t>＝</a:t>
            </a:r>
            <a:r>
              <a:rPr kumimoji="1" lang="en-US" altLang="zh-CN" sz="2800" b="1" dirty="0">
                <a:ea typeface="宋体" panose="02010600030101010101" pitchFamily="2" charset="-122"/>
              </a:rPr>
              <a:t>I</a:t>
            </a:r>
            <a:r>
              <a:rPr kumimoji="1" lang="zh-CN" altLang="en-US" sz="2800" b="1" dirty="0">
                <a:ea typeface="宋体" panose="02010600030101010101" pitchFamily="2" charset="-122"/>
              </a:rPr>
              <a:t>，</a:t>
            </a:r>
            <a:r>
              <a:rPr kumimoji="1" lang="en-US" altLang="zh-CN" sz="2800" b="1" dirty="0">
                <a:ea typeface="宋体" panose="02010600030101010101" pitchFamily="2" charset="-122"/>
              </a:rPr>
              <a:t>σ</a:t>
            </a:r>
            <a:r>
              <a:rPr kumimoji="1" lang="zh-CN" altLang="en-US" sz="2800" b="1" dirty="0">
                <a:ea typeface="宋体" panose="02010600030101010101" pitchFamily="2" charset="-122"/>
              </a:rPr>
              <a:t>为偶置换，</a:t>
            </a:r>
            <a:r>
              <a:rPr kumimoji="1" lang="en-US" altLang="zh-CN" sz="2800" b="1" dirty="0">
                <a:ea typeface="宋体" panose="02010600030101010101" pitchFamily="2" charset="-122"/>
              </a:rPr>
              <a:t>I</a:t>
            </a:r>
            <a:r>
              <a:rPr kumimoji="1" lang="zh-CN" altLang="en-US" sz="2800" b="1" dirty="0">
                <a:ea typeface="宋体" panose="02010600030101010101" pitchFamily="2" charset="-122"/>
              </a:rPr>
              <a:t>为偶置换</a:t>
            </a:r>
            <a:r>
              <a:rPr kumimoji="1" lang="en-US" altLang="zh-CN" sz="2800" b="1" dirty="0">
                <a:ea typeface="宋体" panose="02010600030101010101" pitchFamily="2" charset="-122"/>
              </a:rPr>
              <a:t>,</a:t>
            </a:r>
            <a:r>
              <a:rPr kumimoji="1" lang="zh-CN" altLang="en-US" sz="2800" b="1" dirty="0">
                <a:ea typeface="宋体" panose="02010600030101010101" pitchFamily="2" charset="-122"/>
              </a:rPr>
              <a:t>因此，</a:t>
            </a:r>
            <a:r>
              <a:rPr kumimoji="1" lang="en-US" altLang="zh-CN" sz="2800" b="1" dirty="0">
                <a:ea typeface="宋体" panose="02010600030101010101" pitchFamily="2" charset="-122"/>
              </a:rPr>
              <a:t>σ</a:t>
            </a:r>
            <a:r>
              <a:rPr kumimoji="1" lang="en-US" altLang="zh-CN" sz="2800" b="1" baseline="30000" dirty="0">
                <a:ea typeface="宋体" panose="02010600030101010101" pitchFamily="2" charset="-122"/>
              </a:rPr>
              <a:t>-1</a:t>
            </a:r>
            <a:r>
              <a:rPr kumimoji="1" lang="zh-CN" altLang="en-US" sz="2800" b="1" dirty="0">
                <a:ea typeface="宋体" panose="02010600030101010101" pitchFamily="2" charset="-122"/>
              </a:rPr>
              <a:t>为偶置换</a:t>
            </a:r>
            <a:r>
              <a:rPr kumimoji="1" lang="en-US" altLang="zh-CN" sz="2800" b="1" dirty="0">
                <a:ea typeface="宋体" panose="02010600030101010101" pitchFamily="2" charset="-122"/>
              </a:rPr>
              <a:t>∈An.</a:t>
            </a:r>
            <a:endParaRPr kumimoji="1" lang="zh-CN" altLang="zh-CN" sz="2800" dirty="0">
              <a:ea typeface="宋体" panose="02010600030101010101" pitchFamily="2" charset="-122"/>
            </a:endParaRPr>
          </a:p>
          <a:p>
            <a:pPr marL="514350" indent="-514350">
              <a:buFont typeface="+mj-ea"/>
              <a:buAutoNum type="circleNumDbPlain"/>
              <a:defRPr/>
            </a:pPr>
            <a:endParaRPr kumimoji="1" lang="en-US" altLang="zh-CN" dirty="0">
              <a:ea typeface="宋体" panose="02010600030101010101" pitchFamily="2" charset="-122"/>
            </a:endParaRPr>
          </a:p>
        </p:txBody>
      </p:sp>
      <p:sp>
        <p:nvSpPr>
          <p:cNvPr id="161795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8110462-B2FB-40EF-8587-3C67D90831DE}" type="slidenum">
              <a:rPr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zh-CN" altLang="ko-KR" sz="140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70735467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标题 1"/>
          <p:cNvSpPr>
            <a:spLocks noGrp="1"/>
          </p:cNvSpPr>
          <p:nvPr>
            <p:ph type="title"/>
          </p:nvPr>
        </p:nvSpPr>
        <p:spPr>
          <a:xfrm>
            <a:off x="536575" y="404813"/>
            <a:ext cx="8020050" cy="889000"/>
          </a:xfrm>
        </p:spPr>
        <p:txBody>
          <a:bodyPr/>
          <a:lstStyle/>
          <a:p>
            <a:r>
              <a:rPr lang="zh-CN" altLang="en-US">
                <a:solidFill>
                  <a:srgbClr val="000099"/>
                </a:solidFill>
              </a:rPr>
              <a:t>习题</a:t>
            </a:r>
          </a:p>
        </p:txBody>
      </p:sp>
      <p:sp>
        <p:nvSpPr>
          <p:cNvPr id="71683" name="内容占位符 2"/>
          <p:cNvSpPr>
            <a:spLocks noGrp="1"/>
          </p:cNvSpPr>
          <p:nvPr>
            <p:ph idx="1"/>
          </p:nvPr>
        </p:nvSpPr>
        <p:spPr>
          <a:xfrm>
            <a:off x="395288" y="1155700"/>
            <a:ext cx="8301037" cy="5256213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ea typeface="宋体" panose="02010600030101010101" pitchFamily="2" charset="-122"/>
              </a:rPr>
              <a:t>1</a:t>
            </a:r>
            <a:r>
              <a:rPr lang="zh-CN" altLang="en-US" sz="2800" b="1" dirty="0">
                <a:ea typeface="宋体" panose="02010600030101010101" pitchFamily="2" charset="-122"/>
              </a:rPr>
              <a:t>、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给定整数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，令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G={</a:t>
            </a:r>
            <a:r>
              <a:rPr lang="en-US" altLang="zh-CN" sz="28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km|k∈Z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，证明：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(G,+)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是一个群。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证明：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(1)G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非空，至少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0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∈G</a:t>
            </a:r>
          </a:p>
          <a:p>
            <a:pPr marL="0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对于</a:t>
            </a:r>
            <a:r>
              <a:rPr lang="zh-CN" altLang="en-US" sz="28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任意</a:t>
            </a:r>
            <a:r>
              <a:rPr lang="en-US" altLang="zh-CN" sz="28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x,y∈G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 ,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存在</a:t>
            </a:r>
            <a:r>
              <a:rPr lang="en-US" altLang="zh-CN" sz="28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k,l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，使得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x=km ,y=lm ,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由于</a:t>
            </a:r>
            <a:r>
              <a:rPr lang="en-US" altLang="zh-CN" sz="28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k+l∈Z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，因此，</a:t>
            </a:r>
            <a:r>
              <a:rPr lang="en-US" altLang="zh-CN" sz="28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x+y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8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km+lm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=(</a:t>
            </a:r>
            <a:r>
              <a:rPr lang="en-US" altLang="zh-CN" sz="28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k+l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en-US" altLang="zh-CN" sz="28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m∈G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 ,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封闭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由整数运算性质，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满足结合律。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None/>
              <a:defRPr/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(4)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有左壹：</a:t>
            </a:r>
            <a:r>
              <a:rPr lang="en-US" altLang="zh-CN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0m=0∈G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使得对任意</a:t>
            </a:r>
            <a:r>
              <a:rPr lang="en-US" altLang="zh-CN" sz="28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x∈G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，有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0+x=x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(5)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有左逆：对任意</a:t>
            </a:r>
            <a:r>
              <a:rPr lang="en-US" altLang="zh-CN" sz="28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x∈G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，存在</a:t>
            </a:r>
            <a:r>
              <a:rPr lang="en-US" altLang="zh-CN" sz="28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k∈Z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，使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x=km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，因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28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k∈Z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故</a:t>
            </a:r>
            <a:r>
              <a:rPr lang="en-US" altLang="zh-CN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-x=(-k)m ∈G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且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(-x)+x=0 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因此，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(G,+)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为群。</a:t>
            </a:r>
          </a:p>
        </p:txBody>
      </p:sp>
      <p:sp>
        <p:nvSpPr>
          <p:cNvPr id="168964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15C029C-3C59-40F9-8883-0406053A2B58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1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1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188" y="620713"/>
            <a:ext cx="8301037" cy="5761037"/>
          </a:xfrm>
        </p:spPr>
        <p:txBody>
          <a:bodyPr/>
          <a:lstStyle/>
          <a:p>
            <a:pPr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ea typeface="宋体" panose="02010600030101010101" pitchFamily="2" charset="-122"/>
              </a:rPr>
              <a:t>2</a:t>
            </a:r>
            <a:r>
              <a:rPr lang="zh-CN" altLang="en-US" sz="3000" b="1" dirty="0">
                <a:ea typeface="宋体" panose="02010600030101010101" pitchFamily="2" charset="-122"/>
              </a:rPr>
              <a:t>、设</a:t>
            </a:r>
            <a:r>
              <a:rPr lang="en-US" altLang="zh-CN" sz="3000" b="1" dirty="0">
                <a:ea typeface="宋体" panose="02010600030101010101" pitchFamily="2" charset="-122"/>
              </a:rPr>
              <a:t>(G , .)</a:t>
            </a:r>
            <a:r>
              <a:rPr lang="zh-CN" altLang="en-US" sz="3000" b="1" dirty="0">
                <a:ea typeface="宋体" panose="02010600030101010101" pitchFamily="2" charset="-122"/>
              </a:rPr>
              <a:t>是一个群，</a:t>
            </a:r>
            <a:r>
              <a:rPr lang="en-US" altLang="zh-CN" sz="3000" b="1" dirty="0" err="1">
                <a:ea typeface="宋体" panose="02010600030101010101" pitchFamily="2" charset="-122"/>
              </a:rPr>
              <a:t>x,y</a:t>
            </a:r>
            <a:r>
              <a:rPr lang="en-US" altLang="zh-CN" sz="3000" b="1" dirty="0">
                <a:ea typeface="宋体" panose="02010600030101010101" pitchFamily="2" charset="-122"/>
              </a:rPr>
              <a:t> ∈G, k</a:t>
            </a:r>
            <a:r>
              <a:rPr lang="zh-CN" altLang="en-US" sz="3000" b="1" dirty="0">
                <a:ea typeface="宋体" panose="02010600030101010101" pitchFamily="2" charset="-122"/>
              </a:rPr>
              <a:t>是一个正整数</a:t>
            </a:r>
            <a:r>
              <a:rPr lang="en-US" altLang="zh-CN" sz="3000" b="1" dirty="0">
                <a:ea typeface="宋体" panose="02010600030101010101" pitchFamily="2" charset="-122"/>
              </a:rPr>
              <a:t>.</a:t>
            </a:r>
            <a:r>
              <a:rPr lang="zh-CN" altLang="en-US" sz="3000" b="1" dirty="0">
                <a:ea typeface="宋体" panose="02010600030101010101" pitchFamily="2" charset="-122"/>
              </a:rPr>
              <a:t>证明</a:t>
            </a:r>
            <a:r>
              <a:rPr lang="en-US" altLang="zh-CN" sz="3000" b="1" dirty="0">
                <a:ea typeface="宋体" panose="02010600030101010101" pitchFamily="2" charset="-122"/>
              </a:rPr>
              <a:t>:(x</a:t>
            </a:r>
            <a:r>
              <a:rPr lang="en-US" altLang="zh-CN" sz="3000" b="1" baseline="30000" dirty="0">
                <a:ea typeface="宋体" panose="02010600030101010101" pitchFamily="2" charset="-122"/>
              </a:rPr>
              <a:t>-1</a:t>
            </a:r>
            <a:r>
              <a:rPr lang="en-US" altLang="zh-CN" sz="3000" b="1" dirty="0">
                <a:ea typeface="宋体" panose="02010600030101010101" pitchFamily="2" charset="-122"/>
              </a:rPr>
              <a:t>·y·x)</a:t>
            </a:r>
            <a:r>
              <a:rPr lang="en-US" altLang="zh-CN" sz="3000" b="1" baseline="30000" dirty="0">
                <a:ea typeface="宋体" panose="02010600030101010101" pitchFamily="2" charset="-122"/>
              </a:rPr>
              <a:t>k</a:t>
            </a:r>
            <a:r>
              <a:rPr lang="en-US" altLang="zh-CN" sz="3000" b="1" dirty="0">
                <a:ea typeface="宋体" panose="02010600030101010101" pitchFamily="2" charset="-122"/>
              </a:rPr>
              <a:t> =x</a:t>
            </a:r>
            <a:r>
              <a:rPr lang="en-US" altLang="zh-CN" sz="3000" b="1" baseline="30000" dirty="0">
                <a:ea typeface="宋体" panose="02010600030101010101" pitchFamily="2" charset="-122"/>
              </a:rPr>
              <a:t>-1</a:t>
            </a:r>
            <a:r>
              <a:rPr lang="en-US" altLang="zh-CN" sz="3000" b="1" dirty="0">
                <a:ea typeface="宋体" panose="02010600030101010101" pitchFamily="2" charset="-122"/>
              </a:rPr>
              <a:t> y· x</a:t>
            </a:r>
            <a:r>
              <a:rPr lang="zh-CN" altLang="en-US" sz="3000" b="1" dirty="0">
                <a:ea typeface="宋体" panose="02010600030101010101" pitchFamily="2" charset="-122"/>
              </a:rPr>
              <a:t>的充要条件是</a:t>
            </a:r>
            <a:r>
              <a:rPr lang="en-US" altLang="zh-CN" sz="3000" b="1" dirty="0" err="1">
                <a:ea typeface="宋体" panose="02010600030101010101" pitchFamily="2" charset="-122"/>
              </a:rPr>
              <a:t>y</a:t>
            </a:r>
            <a:r>
              <a:rPr lang="en-US" altLang="zh-CN" sz="3000" b="1" baseline="30000" dirty="0" err="1">
                <a:ea typeface="宋体" panose="02010600030101010101" pitchFamily="2" charset="-122"/>
              </a:rPr>
              <a:t>k</a:t>
            </a:r>
            <a:r>
              <a:rPr lang="en-US" altLang="zh-CN" sz="3000" b="1" baseline="30000" dirty="0">
                <a:ea typeface="宋体" panose="02010600030101010101" pitchFamily="2" charset="-122"/>
              </a:rPr>
              <a:t> </a:t>
            </a:r>
            <a:r>
              <a:rPr lang="en-US" altLang="zh-CN" sz="3000" b="1" dirty="0">
                <a:ea typeface="宋体" panose="02010600030101010101" pitchFamily="2" charset="-122"/>
              </a:rPr>
              <a:t>=y.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solidFill>
                  <a:srgbClr val="0000FF"/>
                </a:solidFill>
                <a:ea typeface="宋体" panose="02010600030101010101" pitchFamily="2" charset="-122"/>
              </a:rPr>
              <a:t>证明：</a:t>
            </a:r>
            <a:endParaRPr lang="en-US" altLang="zh-CN" sz="3000" b="1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ea typeface="宋体" panose="02010600030101010101" pitchFamily="2" charset="-122"/>
              </a:rPr>
              <a:t>(x</a:t>
            </a:r>
            <a:r>
              <a:rPr lang="en-US" altLang="zh-CN" sz="3000" b="1" baseline="30000" dirty="0">
                <a:ea typeface="宋体" panose="02010600030101010101" pitchFamily="2" charset="-122"/>
              </a:rPr>
              <a:t>-1</a:t>
            </a:r>
            <a:r>
              <a:rPr lang="en-US" altLang="zh-CN" sz="3000" b="1" dirty="0">
                <a:ea typeface="宋体" panose="02010600030101010101" pitchFamily="2" charset="-122"/>
              </a:rPr>
              <a:t>·y·x)</a:t>
            </a:r>
            <a:r>
              <a:rPr lang="en-US" altLang="zh-CN" sz="3000" b="1" baseline="30000" dirty="0">
                <a:ea typeface="宋体" panose="02010600030101010101" pitchFamily="2" charset="-122"/>
              </a:rPr>
              <a:t>k</a:t>
            </a:r>
            <a:r>
              <a:rPr lang="en-US" altLang="zh-CN" sz="3000" b="1" dirty="0">
                <a:ea typeface="宋体" panose="02010600030101010101" pitchFamily="2" charset="-122"/>
              </a:rPr>
              <a:t>=(x</a:t>
            </a:r>
            <a:r>
              <a:rPr lang="en-US" altLang="zh-CN" sz="3000" b="1" baseline="30000" dirty="0">
                <a:ea typeface="宋体" panose="02010600030101010101" pitchFamily="2" charset="-122"/>
              </a:rPr>
              <a:t>-1</a:t>
            </a:r>
            <a:r>
              <a:rPr lang="en-US" altLang="zh-CN" sz="3000" b="1" dirty="0">
                <a:ea typeface="宋体" panose="02010600030101010101" pitchFamily="2" charset="-122"/>
              </a:rPr>
              <a:t>·y·x) · (x</a:t>
            </a:r>
            <a:r>
              <a:rPr lang="en-US" altLang="zh-CN" sz="3000" b="1" baseline="30000" dirty="0">
                <a:ea typeface="宋体" panose="02010600030101010101" pitchFamily="2" charset="-122"/>
              </a:rPr>
              <a:t>-1</a:t>
            </a:r>
            <a:r>
              <a:rPr lang="en-US" altLang="zh-CN" sz="3000" b="1" dirty="0">
                <a:ea typeface="宋体" panose="02010600030101010101" pitchFamily="2" charset="-122"/>
              </a:rPr>
              <a:t>·y·x) ·…·(x</a:t>
            </a:r>
            <a:r>
              <a:rPr lang="en-US" altLang="zh-CN" sz="3000" b="1" baseline="30000" dirty="0">
                <a:ea typeface="宋体" panose="02010600030101010101" pitchFamily="2" charset="-122"/>
              </a:rPr>
              <a:t>-1</a:t>
            </a:r>
            <a:r>
              <a:rPr lang="en-US" altLang="zh-CN" sz="3000" b="1" dirty="0">
                <a:ea typeface="宋体" panose="02010600030101010101" pitchFamily="2" charset="-122"/>
              </a:rPr>
              <a:t>·y·x)</a:t>
            </a:r>
            <a:endParaRPr lang="zh-CN" altLang="zh-CN" sz="3000" b="1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ea typeface="宋体" panose="02010600030101010101" pitchFamily="2" charset="-122"/>
              </a:rPr>
              <a:t>              =( x</a:t>
            </a:r>
            <a:r>
              <a:rPr lang="en-US" altLang="zh-CN" sz="3000" b="1" baseline="30000" dirty="0">
                <a:ea typeface="宋体" panose="02010600030101010101" pitchFamily="2" charset="-122"/>
              </a:rPr>
              <a:t>-1</a:t>
            </a:r>
            <a:r>
              <a:rPr lang="en-US" altLang="zh-CN" sz="3000" b="1" dirty="0">
                <a:ea typeface="宋体" panose="02010600030101010101" pitchFamily="2" charset="-122"/>
              </a:rPr>
              <a:t>·y) ·(x·x</a:t>
            </a:r>
            <a:r>
              <a:rPr lang="en-US" altLang="zh-CN" sz="3000" b="1" baseline="30000" dirty="0">
                <a:ea typeface="宋体" panose="02010600030101010101" pitchFamily="2" charset="-122"/>
              </a:rPr>
              <a:t>-1</a:t>
            </a:r>
            <a:r>
              <a:rPr lang="en-US" altLang="zh-CN" sz="3000" b="1" dirty="0">
                <a:ea typeface="宋体" panose="02010600030101010101" pitchFamily="2" charset="-122"/>
              </a:rPr>
              <a:t>) ·y·(x·x</a:t>
            </a:r>
            <a:r>
              <a:rPr lang="en-US" altLang="zh-CN" sz="3000" b="1" baseline="30000" dirty="0">
                <a:ea typeface="宋体" panose="02010600030101010101" pitchFamily="2" charset="-122"/>
              </a:rPr>
              <a:t>-1</a:t>
            </a:r>
            <a:r>
              <a:rPr lang="en-US" altLang="zh-CN" sz="3000" b="1" dirty="0">
                <a:ea typeface="宋体" panose="02010600030101010101" pitchFamily="2" charset="-122"/>
              </a:rPr>
              <a:t>) ·…·(x·x</a:t>
            </a:r>
            <a:r>
              <a:rPr lang="en-US" altLang="zh-CN" sz="3000" b="1" baseline="30000" dirty="0">
                <a:ea typeface="宋体" panose="02010600030101010101" pitchFamily="2" charset="-122"/>
              </a:rPr>
              <a:t>-1</a:t>
            </a:r>
            <a:r>
              <a:rPr lang="en-US" altLang="zh-CN" sz="3000" b="1" dirty="0">
                <a:ea typeface="宋体" panose="02010600030101010101" pitchFamily="2" charset="-122"/>
              </a:rPr>
              <a:t>) ·</a:t>
            </a:r>
            <a:r>
              <a:rPr lang="en-US" altLang="zh-CN" sz="3000" b="1" dirty="0" err="1">
                <a:ea typeface="宋体" panose="02010600030101010101" pitchFamily="2" charset="-122"/>
              </a:rPr>
              <a:t>y·x</a:t>
            </a:r>
            <a:endParaRPr lang="zh-CN" altLang="zh-CN" sz="3000" b="1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ea typeface="宋体" panose="02010600030101010101" pitchFamily="2" charset="-122"/>
              </a:rPr>
              <a:t>              = x</a:t>
            </a:r>
            <a:r>
              <a:rPr lang="en-US" altLang="zh-CN" sz="3000" b="1" baseline="30000" dirty="0">
                <a:ea typeface="宋体" panose="02010600030101010101" pitchFamily="2" charset="-122"/>
              </a:rPr>
              <a:t>-1</a:t>
            </a:r>
            <a:r>
              <a:rPr lang="en-US" altLang="zh-CN" sz="3000" b="1" dirty="0">
                <a:ea typeface="宋体" panose="02010600030101010101" pitchFamily="2" charset="-122"/>
              </a:rPr>
              <a:t> </a:t>
            </a:r>
            <a:r>
              <a:rPr lang="en-US" altLang="zh-CN" sz="3000" b="1" dirty="0" err="1">
                <a:ea typeface="宋体" panose="02010600030101010101" pitchFamily="2" charset="-122"/>
              </a:rPr>
              <a:t>y</a:t>
            </a:r>
            <a:r>
              <a:rPr lang="en-US" altLang="zh-CN" sz="3000" b="1" baseline="30000" dirty="0" err="1">
                <a:ea typeface="宋体" panose="02010600030101010101" pitchFamily="2" charset="-122"/>
              </a:rPr>
              <a:t>k</a:t>
            </a:r>
            <a:r>
              <a:rPr lang="en-US" altLang="zh-CN" sz="3000" b="1" dirty="0" err="1">
                <a:ea typeface="宋体" panose="02010600030101010101" pitchFamily="2" charset="-122"/>
              </a:rPr>
              <a:t>x</a:t>
            </a:r>
            <a:r>
              <a:rPr lang="en-US" altLang="zh-CN" sz="3000" b="1" dirty="0">
                <a:ea typeface="宋体" panose="02010600030101010101" pitchFamily="2" charset="-122"/>
              </a:rPr>
              <a:t> 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ea typeface="宋体" panose="02010600030101010101" pitchFamily="2" charset="-122"/>
              </a:rPr>
              <a:t>由上述等式，显然有</a:t>
            </a:r>
            <a:endParaRPr lang="en-US" altLang="zh-CN" sz="3000" b="1" dirty="0">
              <a:ea typeface="宋体" panose="02010600030101010101" pitchFamily="2" charset="-122"/>
            </a:endParaRPr>
          </a:p>
          <a:p>
            <a:pPr marL="800100" indent="-171450"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ea typeface="宋体" panose="02010600030101010101" pitchFamily="2" charset="-122"/>
              </a:rPr>
              <a:t>(x</a:t>
            </a:r>
            <a:r>
              <a:rPr lang="en-US" altLang="zh-CN" sz="3000" b="1" baseline="30000" dirty="0">
                <a:ea typeface="宋体" panose="02010600030101010101" pitchFamily="2" charset="-122"/>
              </a:rPr>
              <a:t>-1</a:t>
            </a:r>
            <a:r>
              <a:rPr lang="en-US" altLang="zh-CN" sz="3000" b="1" dirty="0">
                <a:ea typeface="宋体" panose="02010600030101010101" pitchFamily="2" charset="-122"/>
              </a:rPr>
              <a:t>·y·x)</a:t>
            </a:r>
            <a:r>
              <a:rPr lang="en-US" altLang="zh-CN" sz="3000" b="1" baseline="30000" dirty="0">
                <a:ea typeface="宋体" panose="02010600030101010101" pitchFamily="2" charset="-122"/>
              </a:rPr>
              <a:t>k</a:t>
            </a:r>
            <a:r>
              <a:rPr lang="en-US" altLang="zh-CN" sz="3000" b="1" dirty="0">
                <a:ea typeface="宋体" panose="02010600030101010101" pitchFamily="2" charset="-122"/>
              </a:rPr>
              <a:t> =x</a:t>
            </a:r>
            <a:r>
              <a:rPr lang="en-US" altLang="zh-CN" sz="3000" b="1" baseline="30000" dirty="0">
                <a:ea typeface="宋体" panose="02010600030101010101" pitchFamily="2" charset="-122"/>
              </a:rPr>
              <a:t>-1</a:t>
            </a:r>
            <a:r>
              <a:rPr lang="en-US" altLang="zh-CN" sz="3000" b="1" dirty="0">
                <a:ea typeface="宋体" panose="02010600030101010101" pitchFamily="2" charset="-122"/>
              </a:rPr>
              <a:t> y· x </a:t>
            </a:r>
            <a:r>
              <a:rPr lang="en-US" altLang="zh-CN" sz="3000" b="1" dirty="0" err="1">
                <a:ea typeface="宋体" panose="02010600030101010101" pitchFamily="2" charset="-122"/>
              </a:rPr>
              <a:t>iff</a:t>
            </a:r>
            <a:endParaRPr lang="en-US" altLang="zh-CN" sz="3000" b="1" dirty="0">
              <a:ea typeface="宋体" panose="02010600030101010101" pitchFamily="2" charset="-122"/>
            </a:endParaRPr>
          </a:p>
          <a:p>
            <a:pPr marL="800100" indent="-171450"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ea typeface="宋体" panose="02010600030101010101" pitchFamily="2" charset="-122"/>
              </a:rPr>
              <a:t>x</a:t>
            </a:r>
            <a:r>
              <a:rPr lang="en-US" altLang="zh-CN" sz="3000" b="1" baseline="30000" dirty="0">
                <a:ea typeface="宋体" panose="02010600030101010101" pitchFamily="2" charset="-122"/>
              </a:rPr>
              <a:t>-1</a:t>
            </a:r>
            <a:r>
              <a:rPr lang="en-US" altLang="zh-CN" sz="3000" b="1" dirty="0">
                <a:ea typeface="宋体" panose="02010600030101010101" pitchFamily="2" charset="-122"/>
              </a:rPr>
              <a:t> </a:t>
            </a:r>
            <a:r>
              <a:rPr lang="en-US" altLang="zh-CN" sz="3000" b="1" dirty="0" err="1">
                <a:ea typeface="宋体" panose="02010600030101010101" pitchFamily="2" charset="-122"/>
              </a:rPr>
              <a:t>y</a:t>
            </a:r>
            <a:r>
              <a:rPr lang="en-US" altLang="zh-CN" sz="3000" b="1" baseline="30000" dirty="0" err="1">
                <a:ea typeface="宋体" panose="02010600030101010101" pitchFamily="2" charset="-122"/>
              </a:rPr>
              <a:t>k</a:t>
            </a:r>
            <a:r>
              <a:rPr lang="en-US" altLang="zh-CN" sz="3000" b="1" dirty="0">
                <a:ea typeface="宋体" panose="02010600030101010101" pitchFamily="2" charset="-122"/>
              </a:rPr>
              <a:t>· x=x</a:t>
            </a:r>
            <a:r>
              <a:rPr lang="en-US" altLang="zh-CN" sz="3000" b="1" baseline="30000" dirty="0">
                <a:ea typeface="宋体" panose="02010600030101010101" pitchFamily="2" charset="-122"/>
              </a:rPr>
              <a:t>-1</a:t>
            </a:r>
            <a:r>
              <a:rPr lang="en-US" altLang="zh-CN" sz="3000" b="1" dirty="0">
                <a:ea typeface="宋体" panose="02010600030101010101" pitchFamily="2" charset="-122"/>
              </a:rPr>
              <a:t> y· x </a:t>
            </a:r>
            <a:r>
              <a:rPr lang="en-US" altLang="zh-CN" sz="3000" b="1" dirty="0" err="1">
                <a:ea typeface="宋体" panose="02010600030101010101" pitchFamily="2" charset="-122"/>
              </a:rPr>
              <a:t>iff</a:t>
            </a:r>
            <a:endParaRPr lang="en-US" altLang="zh-CN" sz="3000" b="1" dirty="0">
              <a:ea typeface="宋体" panose="02010600030101010101" pitchFamily="2" charset="-122"/>
            </a:endParaRPr>
          </a:p>
          <a:p>
            <a:pPr marL="800100" indent="-171450">
              <a:buFont typeface="Wingdings" panose="05000000000000000000" pitchFamily="2" charset="2"/>
              <a:buNone/>
              <a:defRPr/>
            </a:pPr>
            <a:r>
              <a:rPr lang="en-US" altLang="zh-CN" sz="3000" b="1" dirty="0" err="1">
                <a:ea typeface="宋体" panose="02010600030101010101" pitchFamily="2" charset="-122"/>
              </a:rPr>
              <a:t>y</a:t>
            </a:r>
            <a:r>
              <a:rPr lang="en-US" altLang="zh-CN" sz="3000" b="1" baseline="30000" dirty="0" err="1">
                <a:ea typeface="宋体" panose="02010600030101010101" pitchFamily="2" charset="-122"/>
              </a:rPr>
              <a:t>k</a:t>
            </a:r>
            <a:r>
              <a:rPr lang="en-US" altLang="zh-CN" sz="3000" b="1" baseline="30000" dirty="0">
                <a:ea typeface="宋体" panose="02010600030101010101" pitchFamily="2" charset="-122"/>
              </a:rPr>
              <a:t> </a:t>
            </a:r>
            <a:r>
              <a:rPr lang="en-US" altLang="zh-CN" sz="3000" b="1" dirty="0">
                <a:ea typeface="宋体" panose="02010600030101010101" pitchFamily="2" charset="-122"/>
              </a:rPr>
              <a:t>=y</a:t>
            </a:r>
            <a:endParaRPr lang="zh-CN" altLang="zh-CN" sz="3000" b="1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  <a:defRPr/>
            </a:pPr>
            <a:endParaRPr lang="zh-CN" altLang="en-US" sz="2800" b="1" dirty="0"/>
          </a:p>
        </p:txBody>
      </p:sp>
      <p:sp>
        <p:nvSpPr>
          <p:cNvPr id="169987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6D2CCCF-18A7-45CE-8B79-9A01091A43A3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内容占位符 2"/>
          <p:cNvSpPr>
            <a:spLocks noGrp="1"/>
          </p:cNvSpPr>
          <p:nvPr>
            <p:ph idx="1"/>
          </p:nvPr>
        </p:nvSpPr>
        <p:spPr>
          <a:xfrm>
            <a:off x="468313" y="549275"/>
            <a:ext cx="8301037" cy="5903913"/>
          </a:xfrm>
        </p:spPr>
        <p:txBody>
          <a:bodyPr/>
          <a:lstStyle/>
          <a:p>
            <a:pPr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3000" b="1" dirty="0">
                <a:ea typeface="宋体" panose="02010600030101010101" pitchFamily="2" charset="-122"/>
              </a:rPr>
              <a:t>3</a:t>
            </a:r>
            <a:r>
              <a:rPr lang="zh-CN" altLang="en-US" sz="3000" b="1" dirty="0">
                <a:ea typeface="宋体" panose="02010600030101010101" pitchFamily="2" charset="-122"/>
              </a:rPr>
              <a:t>、在整数</a:t>
            </a:r>
            <a:r>
              <a:rPr lang="en-US" altLang="zh-CN" sz="3000" b="1" dirty="0">
                <a:ea typeface="宋体" panose="02010600030101010101" pitchFamily="2" charset="-122"/>
              </a:rPr>
              <a:t>Z</a:t>
            </a:r>
            <a:r>
              <a:rPr lang="zh-CN" altLang="en-US" sz="3000" b="1" dirty="0">
                <a:ea typeface="宋体" panose="02010600030101010101" pitchFamily="2" charset="-122"/>
              </a:rPr>
              <a:t>上定义运算</a:t>
            </a:r>
            <a:r>
              <a:rPr lang="en-US" altLang="zh-CN" sz="3000" b="1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•</a:t>
            </a:r>
            <a:r>
              <a:rPr lang="zh-CN" altLang="en-US" sz="3000" b="1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如下：对任意</a:t>
            </a:r>
            <a:r>
              <a:rPr lang="en-US" altLang="zh-CN" sz="3000" b="1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3000" b="1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3000" b="1" dirty="0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3000" b="1" dirty="0">
                <a:ea typeface="宋体" panose="02010600030101010101" pitchFamily="2" charset="-122"/>
              </a:rPr>
              <a:t> ∈Z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a•b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=a+b-2 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。证明：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3000" b="1" dirty="0">
                <a:ea typeface="宋体" panose="02010600030101010101" pitchFamily="2" charset="-122"/>
              </a:rPr>
              <a:t>Z,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 •)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是一个群。</a:t>
            </a:r>
            <a:endParaRPr lang="en-US" altLang="zh-CN" sz="3000" b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125000"/>
              </a:lnSpc>
              <a:buNone/>
            </a:pPr>
            <a:r>
              <a:rPr lang="zh-CN" altLang="en-US" sz="3000" b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证明：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(1)Z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非空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3000" b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(2)</a:t>
            </a:r>
            <a:r>
              <a:rPr lang="zh-CN" altLang="en-US" sz="3000" b="1" dirty="0" smtClean="0">
                <a:solidFill>
                  <a:srgbClr val="C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任取</a:t>
            </a:r>
            <a:r>
              <a:rPr lang="en-US" altLang="zh-CN" sz="3000" b="1" dirty="0" smtClean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3000" b="1" dirty="0" err="1">
                <a:ea typeface="宋体" panose="02010600030101010101" pitchFamily="2" charset="-122"/>
              </a:rPr>
              <a:t>∈Z</a:t>
            </a:r>
            <a:r>
              <a:rPr lang="zh-CN" altLang="en-US" sz="3000" b="1" dirty="0">
                <a:ea typeface="宋体" panose="02010600030101010101" pitchFamily="2" charset="-122"/>
              </a:rPr>
              <a:t>，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a•b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=a+b-2 </a:t>
            </a:r>
            <a:r>
              <a:rPr lang="en-US" altLang="zh-CN" sz="3000" b="1" dirty="0">
                <a:ea typeface="宋体" panose="02010600030101010101" pitchFamily="2" charset="-122"/>
              </a:rPr>
              <a:t>∈Z</a:t>
            </a:r>
            <a:r>
              <a:rPr lang="zh-CN" altLang="en-US" sz="3000" b="1" dirty="0">
                <a:ea typeface="宋体" panose="02010600030101010101" pitchFamily="2" charset="-122"/>
              </a:rPr>
              <a:t>，封闭</a:t>
            </a:r>
            <a:endParaRPr lang="en-US" altLang="zh-CN" sz="3000" b="1" dirty="0"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3000" b="1" dirty="0">
                <a:ea typeface="宋体" panose="02010600030101010101" pitchFamily="2" charset="-122"/>
              </a:rPr>
              <a:t>(3)</a:t>
            </a:r>
            <a:r>
              <a:rPr lang="zh-CN" altLang="en-US" sz="3000" b="1" dirty="0">
                <a:solidFill>
                  <a:srgbClr val="C00000"/>
                </a:solidFill>
                <a:ea typeface="宋体" panose="02010600030101010101" pitchFamily="2" charset="-122"/>
              </a:rPr>
              <a:t>任取</a:t>
            </a:r>
            <a:r>
              <a:rPr lang="en-US" altLang="zh-CN" sz="3000" b="1" dirty="0" err="1">
                <a:ea typeface="宋体" panose="02010600030101010101" pitchFamily="2" charset="-122"/>
              </a:rPr>
              <a:t>a,b,c</a:t>
            </a:r>
            <a:r>
              <a:rPr lang="en-US" altLang="zh-CN" sz="3000" b="1" dirty="0">
                <a:ea typeface="宋体" panose="02010600030101010101" pitchFamily="2" charset="-122"/>
              </a:rPr>
              <a:t> ∈Z,</a:t>
            </a:r>
            <a:r>
              <a:rPr lang="zh-CN" altLang="en-US" sz="3000" b="1" dirty="0">
                <a:ea typeface="宋体" panose="02010600030101010101" pitchFamily="2" charset="-122"/>
              </a:rPr>
              <a:t>有</a:t>
            </a:r>
            <a:r>
              <a:rPr lang="en-US" altLang="zh-CN" sz="3000" b="1" dirty="0">
                <a:ea typeface="宋体" panose="02010600030101010101" pitchFamily="2" charset="-122"/>
              </a:rPr>
              <a:t>(</a:t>
            </a:r>
            <a:r>
              <a:rPr lang="en-US" altLang="zh-CN" sz="3000" b="1" dirty="0" err="1">
                <a:ea typeface="宋体" panose="02010600030101010101" pitchFamily="2" charset="-122"/>
              </a:rPr>
              <a:t>a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•b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) •c=a+b-2+c-2=a+b+c-4</a:t>
            </a:r>
          </a:p>
          <a:p>
            <a:pPr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a•(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b•c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)=a+(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b•c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)-2=a+(b+c-2)-2=a+b+c-4   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结合律</a:t>
            </a:r>
            <a:endParaRPr lang="en-US" altLang="zh-CN" sz="3000" b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(4)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有左壹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3000" b="1" dirty="0">
                <a:ea typeface="宋体" panose="02010600030101010101" pitchFamily="2" charset="-122"/>
              </a:rPr>
              <a:t> ∈Z 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：对任意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3000" b="1" dirty="0" err="1">
                <a:ea typeface="宋体" panose="02010600030101010101" pitchFamily="2" charset="-122"/>
              </a:rPr>
              <a:t>∈Z</a:t>
            </a:r>
            <a:r>
              <a:rPr lang="zh-CN" altLang="en-US" sz="3000" b="1" dirty="0">
                <a:ea typeface="宋体" panose="02010600030101010101" pitchFamily="2" charset="-122"/>
              </a:rPr>
              <a:t>，有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2•a=2+a-2=a  </a:t>
            </a:r>
          </a:p>
          <a:p>
            <a:pPr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(5)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有左逆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4-a</a:t>
            </a:r>
            <a:r>
              <a:rPr lang="en-US" altLang="zh-CN" sz="3000" b="1" dirty="0">
                <a:ea typeface="宋体" panose="02010600030101010101" pitchFamily="2" charset="-122"/>
              </a:rPr>
              <a:t> ∈Z 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: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对任意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3000" b="1" dirty="0" err="1">
                <a:ea typeface="宋体" panose="02010600030101010101" pitchFamily="2" charset="-122"/>
              </a:rPr>
              <a:t>∈Z</a:t>
            </a:r>
            <a:r>
              <a:rPr lang="zh-CN" altLang="en-US" sz="3000" b="1" dirty="0">
                <a:ea typeface="宋体" panose="02010600030101010101" pitchFamily="2" charset="-122"/>
              </a:rPr>
              <a:t>，有</a:t>
            </a:r>
            <a:r>
              <a:rPr lang="en-US" altLang="zh-CN" sz="3000" b="1" dirty="0">
                <a:ea typeface="宋体" panose="02010600030101010101" pitchFamily="2" charset="-122"/>
              </a:rPr>
              <a:t>(4-a)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 •a=(</a:t>
            </a:r>
            <a:r>
              <a:rPr lang="en-US" altLang="zh-CN" sz="3000" b="1" dirty="0">
                <a:ea typeface="宋体" panose="02010600030101010101" pitchFamily="2" charset="-122"/>
              </a:rPr>
              <a:t>4-a)+a-2=2        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因此，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3000" b="1" dirty="0">
                <a:ea typeface="宋体" panose="02010600030101010101" pitchFamily="2" charset="-122"/>
              </a:rPr>
              <a:t>Z,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 •)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是一个群</a:t>
            </a:r>
            <a:endParaRPr lang="en-US" altLang="zh-CN" sz="3000" b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dirty="0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dirty="0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dirty="0"/>
          </a:p>
          <a:p>
            <a:pPr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171011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F716D68-28EC-4D41-B20A-79A1990FA8C8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7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7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37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37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37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37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37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37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37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37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37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37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内容占位符 2"/>
          <p:cNvSpPr>
            <a:spLocks noGrp="1"/>
          </p:cNvSpPr>
          <p:nvPr>
            <p:ph idx="1"/>
          </p:nvPr>
        </p:nvSpPr>
        <p:spPr>
          <a:xfrm>
            <a:off x="561975" y="765175"/>
            <a:ext cx="8301038" cy="5283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3200" b="1">
                <a:ea typeface="宋体" panose="02010600030101010101" pitchFamily="2" charset="-122"/>
              </a:rPr>
              <a:t>4</a:t>
            </a:r>
            <a:r>
              <a:rPr lang="zh-CN" altLang="en-US" sz="3200" b="1">
                <a:ea typeface="宋体" panose="02010600030101010101" pitchFamily="2" charset="-122"/>
              </a:rPr>
              <a:t>、</a:t>
            </a:r>
            <a:r>
              <a:rPr lang="zh-CN" altLang="en-US" sz="3000" b="1">
                <a:ea typeface="宋体" panose="02010600030101010101" pitchFamily="2" charset="-122"/>
              </a:rPr>
              <a:t>设</a:t>
            </a:r>
            <a:r>
              <a:rPr lang="en-US" altLang="zh-CN" sz="3000" b="1">
                <a:ea typeface="宋体" panose="02010600030101010101" pitchFamily="2" charset="-122"/>
              </a:rPr>
              <a:t>(G,</a:t>
            </a:r>
            <a:r>
              <a:rPr lang="en-US" altLang="zh-CN" sz="3000" b="1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•)</a:t>
            </a:r>
            <a:r>
              <a:rPr lang="zh-CN" altLang="en-US" sz="3000" b="1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是一个群，若群</a:t>
            </a:r>
            <a:r>
              <a:rPr lang="en-US" altLang="zh-CN" sz="3000" b="1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sz="3000" b="1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的每一个元素都满足方程</a:t>
            </a:r>
            <a:r>
              <a:rPr lang="en-US" altLang="zh-CN" sz="3000" b="1">
                <a:ea typeface="宋体" panose="02010600030101010101" pitchFamily="2" charset="-122"/>
              </a:rPr>
              <a:t>x</a:t>
            </a:r>
            <a:r>
              <a:rPr lang="en-US" altLang="zh-CN" sz="3000" b="1" baseline="30000">
                <a:ea typeface="宋体" panose="02010600030101010101" pitchFamily="2" charset="-122"/>
              </a:rPr>
              <a:t>2</a:t>
            </a:r>
            <a:r>
              <a:rPr lang="en-US" altLang="zh-CN" sz="3000" b="1">
                <a:ea typeface="宋体" panose="02010600030101010101" pitchFamily="2" charset="-122"/>
              </a:rPr>
              <a:t>=1</a:t>
            </a:r>
            <a:r>
              <a:rPr lang="zh-CN" altLang="en-US" sz="3000" b="1">
                <a:ea typeface="宋体" panose="02010600030101010101" pitchFamily="2" charset="-122"/>
              </a:rPr>
              <a:t>（</a:t>
            </a:r>
            <a:r>
              <a:rPr lang="en-US" altLang="zh-CN" sz="3000" b="1">
                <a:ea typeface="宋体" panose="02010600030101010101" pitchFamily="2" charset="-122"/>
              </a:rPr>
              <a:t>1</a:t>
            </a:r>
            <a:r>
              <a:rPr lang="zh-CN" altLang="en-US" sz="3000" b="1">
                <a:ea typeface="宋体" panose="02010600030101010101" pitchFamily="2" charset="-122"/>
              </a:rPr>
              <a:t>为单位元），那么</a:t>
            </a:r>
            <a:r>
              <a:rPr lang="en-US" altLang="zh-CN" sz="3000" b="1">
                <a:ea typeface="宋体" panose="02010600030101010101" pitchFamily="2" charset="-122"/>
              </a:rPr>
              <a:t>G</a:t>
            </a:r>
            <a:r>
              <a:rPr lang="zh-CN" altLang="en-US" sz="3000" b="1">
                <a:ea typeface="宋体" panose="02010600030101010101" pitchFamily="2" charset="-122"/>
              </a:rPr>
              <a:t>是</a:t>
            </a:r>
            <a:r>
              <a:rPr lang="en-US" altLang="zh-CN" sz="3000" b="1">
                <a:ea typeface="宋体" panose="02010600030101010101" pitchFamily="2" charset="-122"/>
              </a:rPr>
              <a:t>Abel</a:t>
            </a:r>
            <a:r>
              <a:rPr lang="zh-CN" altLang="en-US" sz="3000" b="1">
                <a:ea typeface="宋体" panose="02010600030101010101" pitchFamily="2" charset="-122"/>
              </a:rPr>
              <a:t>群。</a:t>
            </a:r>
            <a:endParaRPr lang="en-US" altLang="zh-CN" sz="3000" b="1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3200" b="1">
                <a:solidFill>
                  <a:srgbClr val="0000FF"/>
                </a:solidFill>
                <a:ea typeface="宋体" panose="02010600030101010101" pitchFamily="2" charset="-122"/>
              </a:rPr>
              <a:t>证法一：</a:t>
            </a:r>
            <a:r>
              <a:rPr lang="zh-CN" altLang="en-US" sz="3200" b="1">
                <a:ea typeface="宋体" panose="02010600030101010101" pitchFamily="2" charset="-122"/>
              </a:rPr>
              <a:t>对任意</a:t>
            </a:r>
            <a:r>
              <a:rPr lang="en-US" altLang="zh-CN" sz="3200" b="1">
                <a:ea typeface="宋体" panose="02010600030101010101" pitchFamily="2" charset="-122"/>
              </a:rPr>
              <a:t>a</a:t>
            </a:r>
            <a:r>
              <a:rPr lang="zh-CN" altLang="en-US" sz="3200" b="1">
                <a:ea typeface="宋体" panose="02010600030101010101" pitchFamily="2" charset="-122"/>
              </a:rPr>
              <a:t>，</a:t>
            </a:r>
            <a:r>
              <a:rPr lang="en-US" altLang="zh-CN" sz="3200" b="1">
                <a:ea typeface="宋体" panose="02010600030101010101" pitchFamily="2" charset="-122"/>
              </a:rPr>
              <a:t>b ∈G</a:t>
            </a:r>
            <a:r>
              <a:rPr lang="zh-CN" altLang="en-US" sz="3200" b="1">
                <a:ea typeface="宋体" panose="02010600030101010101" pitchFamily="2" charset="-122"/>
              </a:rPr>
              <a:t>，</a:t>
            </a:r>
            <a:endParaRPr lang="en-US" altLang="zh-CN" sz="3200" b="1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200" b="1">
                <a:ea typeface="宋体" panose="02010600030101010101" pitchFamily="2" charset="-122"/>
              </a:rPr>
              <a:t>a</a:t>
            </a:r>
            <a:r>
              <a:rPr lang="en-US" altLang="zh-CN" sz="3200" b="1">
                <a:ea typeface="宋体" panose="02010600030101010101" pitchFamily="2" charset="-122"/>
                <a:sym typeface="Symbol" panose="05050102010706020507" pitchFamily="18" charset="2"/>
              </a:rPr>
              <a:t>•</a:t>
            </a:r>
            <a:r>
              <a:rPr lang="en-US" altLang="zh-CN" sz="3200" b="1">
                <a:ea typeface="宋体" panose="02010600030101010101" pitchFamily="2" charset="-122"/>
              </a:rPr>
              <a:t>b=a</a:t>
            </a:r>
            <a:r>
              <a:rPr lang="en-US" altLang="zh-CN" sz="3200" b="1">
                <a:ea typeface="宋体" panose="02010600030101010101" pitchFamily="2" charset="-122"/>
                <a:sym typeface="Symbol" panose="05050102010706020507" pitchFamily="18" charset="2"/>
              </a:rPr>
              <a:t>•1•</a:t>
            </a:r>
            <a:r>
              <a:rPr lang="en-US" altLang="zh-CN" sz="3200" b="1">
                <a:ea typeface="宋体" panose="02010600030101010101" pitchFamily="2" charset="-122"/>
              </a:rPr>
              <a:t>b</a:t>
            </a:r>
            <a:r>
              <a:rPr lang="en-US" altLang="zh-CN" sz="3200" b="1"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lang="en-US" altLang="zh-CN" sz="3200" b="1">
                <a:ea typeface="宋体" panose="02010600030101010101" pitchFamily="2" charset="-122"/>
              </a:rPr>
              <a:t>a</a:t>
            </a:r>
            <a:r>
              <a:rPr lang="en-US" altLang="zh-CN" sz="3200" b="1">
                <a:ea typeface="宋体" panose="02010600030101010101" pitchFamily="2" charset="-122"/>
                <a:sym typeface="Symbol" panose="05050102010706020507" pitchFamily="18" charset="2"/>
              </a:rPr>
              <a:t>•</a:t>
            </a:r>
            <a:r>
              <a:rPr lang="en-US" altLang="zh-CN" sz="3200" b="1">
                <a:ea typeface="宋体" panose="02010600030101010101" pitchFamily="2" charset="-122"/>
              </a:rPr>
              <a:t> (a•b)</a:t>
            </a:r>
            <a:r>
              <a:rPr lang="en-US" altLang="zh-CN" sz="3200" b="1" baseline="30000">
                <a:ea typeface="宋体" panose="02010600030101010101" pitchFamily="2" charset="-122"/>
              </a:rPr>
              <a:t>2</a:t>
            </a:r>
            <a:r>
              <a:rPr lang="en-US" altLang="zh-CN" sz="3200" b="1">
                <a:ea typeface="宋体" panose="02010600030101010101" pitchFamily="2" charset="-122"/>
                <a:sym typeface="Symbol" panose="05050102010706020507" pitchFamily="18" charset="2"/>
              </a:rPr>
              <a:t>•</a:t>
            </a:r>
            <a:r>
              <a:rPr lang="en-US" altLang="zh-CN" sz="3200" b="1">
                <a:ea typeface="宋体" panose="02010600030101010101" pitchFamily="2" charset="-122"/>
              </a:rPr>
              <a:t> b=a</a:t>
            </a:r>
            <a:r>
              <a:rPr lang="en-US" altLang="zh-CN" sz="3200" b="1">
                <a:ea typeface="宋体" panose="02010600030101010101" pitchFamily="2" charset="-122"/>
                <a:sym typeface="Symbol" panose="05050102010706020507" pitchFamily="18" charset="2"/>
              </a:rPr>
              <a:t>•(</a:t>
            </a:r>
            <a:r>
              <a:rPr lang="en-US" altLang="zh-CN" sz="3200" b="1">
                <a:ea typeface="宋体" panose="02010600030101010101" pitchFamily="2" charset="-122"/>
              </a:rPr>
              <a:t>a•b</a:t>
            </a:r>
            <a:r>
              <a:rPr lang="en-US" altLang="zh-CN" sz="3200" b="1">
                <a:ea typeface="宋体" panose="02010600030101010101" pitchFamily="2" charset="-122"/>
                <a:sym typeface="Symbol" panose="05050102010706020507" pitchFamily="18" charset="2"/>
              </a:rPr>
              <a:t>•</a:t>
            </a:r>
            <a:r>
              <a:rPr lang="en-US" altLang="zh-CN" sz="3200" b="1">
                <a:ea typeface="宋体" panose="02010600030101010101" pitchFamily="2" charset="-122"/>
              </a:rPr>
              <a:t>a•b</a:t>
            </a:r>
            <a:r>
              <a:rPr lang="en-US" altLang="zh-CN" sz="3200" b="1">
                <a:ea typeface="宋体" panose="02010600030101010101" pitchFamily="2" charset="-122"/>
                <a:sym typeface="Symbol" panose="05050102010706020507" pitchFamily="18" charset="2"/>
              </a:rPr>
              <a:t>) •</a:t>
            </a:r>
            <a:r>
              <a:rPr lang="en-US" altLang="zh-CN" sz="3200" b="1">
                <a:ea typeface="宋体" panose="02010600030101010101" pitchFamily="2" charset="-122"/>
              </a:rPr>
              <a:t> b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200" b="1">
                <a:ea typeface="宋体" panose="02010600030101010101" pitchFamily="2" charset="-122"/>
              </a:rPr>
              <a:t>= a</a:t>
            </a:r>
            <a:r>
              <a:rPr lang="en-US" altLang="zh-CN" sz="3200" b="1" baseline="30000">
                <a:ea typeface="宋体" panose="02010600030101010101" pitchFamily="2" charset="-122"/>
              </a:rPr>
              <a:t>2</a:t>
            </a:r>
            <a:r>
              <a:rPr lang="en-US" altLang="zh-CN" sz="3200" b="1">
                <a:ea typeface="宋体" panose="02010600030101010101" pitchFamily="2" charset="-122"/>
                <a:sym typeface="Symbol" panose="05050102010706020507" pitchFamily="18" charset="2"/>
              </a:rPr>
              <a:t>• </a:t>
            </a:r>
            <a:r>
              <a:rPr lang="en-US" altLang="zh-CN" sz="3200" b="1">
                <a:ea typeface="宋体" panose="02010600030101010101" pitchFamily="2" charset="-122"/>
              </a:rPr>
              <a:t>(b</a:t>
            </a:r>
            <a:r>
              <a:rPr lang="en-US" altLang="zh-CN" sz="3200" b="1">
                <a:ea typeface="宋体" panose="02010600030101010101" pitchFamily="2" charset="-122"/>
                <a:sym typeface="Symbol" panose="05050102010706020507" pitchFamily="18" charset="2"/>
              </a:rPr>
              <a:t>•</a:t>
            </a:r>
            <a:r>
              <a:rPr lang="en-US" altLang="zh-CN" sz="3200" b="1">
                <a:ea typeface="宋体" panose="02010600030101010101" pitchFamily="2" charset="-122"/>
              </a:rPr>
              <a:t>a) </a:t>
            </a:r>
            <a:r>
              <a:rPr lang="en-US" altLang="zh-CN" sz="3200" b="1">
                <a:ea typeface="宋体" panose="02010600030101010101" pitchFamily="2" charset="-122"/>
                <a:sym typeface="Symbol" panose="05050102010706020507" pitchFamily="18" charset="2"/>
              </a:rPr>
              <a:t>•</a:t>
            </a:r>
            <a:r>
              <a:rPr lang="en-US" altLang="zh-CN" sz="3200" b="1">
                <a:ea typeface="宋体" panose="02010600030101010101" pitchFamily="2" charset="-122"/>
              </a:rPr>
              <a:t>b</a:t>
            </a:r>
            <a:r>
              <a:rPr lang="en-US" altLang="zh-CN" sz="3200" b="1" baseline="30000">
                <a:ea typeface="宋体" panose="02010600030101010101" pitchFamily="2" charset="-122"/>
              </a:rPr>
              <a:t>2</a:t>
            </a:r>
            <a:r>
              <a:rPr lang="en-US" altLang="zh-CN" sz="3200" b="1">
                <a:ea typeface="宋体" panose="02010600030101010101" pitchFamily="2" charset="-122"/>
              </a:rPr>
              <a:t>=1</a:t>
            </a:r>
            <a:r>
              <a:rPr lang="en-US" altLang="zh-CN" sz="3200" b="1">
                <a:ea typeface="宋体" panose="02010600030101010101" pitchFamily="2" charset="-122"/>
                <a:sym typeface="Symbol" panose="05050102010706020507" pitchFamily="18" charset="2"/>
              </a:rPr>
              <a:t>• </a:t>
            </a:r>
            <a:r>
              <a:rPr lang="en-US" altLang="zh-CN" sz="3200" b="1">
                <a:ea typeface="宋体" panose="02010600030101010101" pitchFamily="2" charset="-122"/>
              </a:rPr>
              <a:t>(b</a:t>
            </a:r>
            <a:r>
              <a:rPr lang="en-US" altLang="zh-CN" sz="3200" b="1">
                <a:ea typeface="宋体" panose="02010600030101010101" pitchFamily="2" charset="-122"/>
                <a:sym typeface="Symbol" panose="05050102010706020507" pitchFamily="18" charset="2"/>
              </a:rPr>
              <a:t>•</a:t>
            </a:r>
            <a:r>
              <a:rPr lang="en-US" altLang="zh-CN" sz="3200" b="1">
                <a:ea typeface="宋体" panose="02010600030101010101" pitchFamily="2" charset="-122"/>
              </a:rPr>
              <a:t>a) </a:t>
            </a:r>
            <a:r>
              <a:rPr lang="en-US" altLang="zh-CN" sz="3200" b="1">
                <a:ea typeface="宋体" panose="02010600030101010101" pitchFamily="2" charset="-122"/>
                <a:sym typeface="Symbol" panose="05050102010706020507" pitchFamily="18" charset="2"/>
              </a:rPr>
              <a:t>•1=</a:t>
            </a:r>
            <a:r>
              <a:rPr lang="en-US" altLang="zh-CN" sz="3200" b="1">
                <a:ea typeface="宋体" panose="02010600030101010101" pitchFamily="2" charset="-122"/>
              </a:rPr>
              <a:t>b</a:t>
            </a:r>
            <a:r>
              <a:rPr lang="en-US" altLang="zh-CN" sz="3200" b="1">
                <a:ea typeface="宋体" panose="02010600030101010101" pitchFamily="2" charset="-122"/>
                <a:sym typeface="Symbol" panose="05050102010706020507" pitchFamily="18" charset="2"/>
              </a:rPr>
              <a:t>•</a:t>
            </a:r>
            <a:r>
              <a:rPr lang="en-US" altLang="zh-CN" sz="3200" b="1">
                <a:ea typeface="宋体" panose="02010600030101010101" pitchFamily="2" charset="-122"/>
              </a:rPr>
              <a:t>a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3200" b="1">
                <a:ea typeface="宋体" panose="02010600030101010101" pitchFamily="2" charset="-122"/>
              </a:rPr>
              <a:t>即，</a:t>
            </a:r>
            <a:r>
              <a:rPr lang="en-US" altLang="zh-CN" sz="3200" b="1">
                <a:ea typeface="宋体" panose="02010600030101010101" pitchFamily="2" charset="-122"/>
              </a:rPr>
              <a:t>a</a:t>
            </a:r>
            <a:r>
              <a:rPr lang="en-US" altLang="zh-CN" sz="3200" b="1">
                <a:ea typeface="宋体" panose="02010600030101010101" pitchFamily="2" charset="-122"/>
                <a:sym typeface="Symbol" panose="05050102010706020507" pitchFamily="18" charset="2"/>
              </a:rPr>
              <a:t>•</a:t>
            </a:r>
            <a:r>
              <a:rPr lang="en-US" altLang="zh-CN" sz="3200" b="1">
                <a:ea typeface="宋体" panose="02010600030101010101" pitchFamily="2" charset="-122"/>
              </a:rPr>
              <a:t>b=b</a:t>
            </a:r>
            <a:r>
              <a:rPr lang="en-US" altLang="zh-CN" sz="3200" b="1">
                <a:ea typeface="宋体" panose="02010600030101010101" pitchFamily="2" charset="-122"/>
                <a:sym typeface="Symbol" panose="05050102010706020507" pitchFamily="18" charset="2"/>
              </a:rPr>
              <a:t>•</a:t>
            </a:r>
            <a:r>
              <a:rPr lang="en-US" altLang="zh-CN" sz="3200" b="1">
                <a:ea typeface="宋体" panose="02010600030101010101" pitchFamily="2" charset="-122"/>
              </a:rPr>
              <a:t>a</a:t>
            </a:r>
            <a:r>
              <a:rPr lang="zh-CN" altLang="en-US" sz="3200" b="1">
                <a:ea typeface="宋体" panose="02010600030101010101" pitchFamily="2" charset="-122"/>
              </a:rPr>
              <a:t>，所以</a:t>
            </a:r>
            <a:r>
              <a:rPr lang="en-US" altLang="zh-CN" sz="3200" b="1">
                <a:ea typeface="宋体" panose="02010600030101010101" pitchFamily="2" charset="-122"/>
              </a:rPr>
              <a:t>G</a:t>
            </a:r>
            <a:r>
              <a:rPr lang="zh-CN" altLang="en-US" sz="3200" b="1">
                <a:ea typeface="宋体" panose="02010600030101010101" pitchFamily="2" charset="-122"/>
              </a:rPr>
              <a:t>是</a:t>
            </a:r>
            <a:r>
              <a:rPr lang="en-US" altLang="zh-CN" sz="3200" b="1">
                <a:ea typeface="宋体" panose="02010600030101010101" pitchFamily="2" charset="-122"/>
              </a:rPr>
              <a:t>Abel</a:t>
            </a:r>
            <a:r>
              <a:rPr lang="zh-CN" altLang="en-US" sz="3200" b="1">
                <a:ea typeface="宋体" panose="02010600030101010101" pitchFamily="2" charset="-122"/>
              </a:rPr>
              <a:t>群。</a:t>
            </a:r>
            <a:endParaRPr lang="en-US" altLang="zh-CN" sz="3200" b="1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3200" b="1">
                <a:solidFill>
                  <a:srgbClr val="0000FF"/>
                </a:solidFill>
                <a:ea typeface="宋体" panose="02010600030101010101" pitchFamily="2" charset="-122"/>
              </a:rPr>
              <a:t>证法二：</a:t>
            </a:r>
            <a:r>
              <a:rPr lang="zh-CN" altLang="en-US" sz="3200" b="1">
                <a:ea typeface="宋体" panose="02010600030101010101" pitchFamily="2" charset="-122"/>
              </a:rPr>
              <a:t>对任意的</a:t>
            </a:r>
            <a:r>
              <a:rPr lang="en-US" altLang="zh-CN" sz="3200" b="1">
                <a:ea typeface="宋体" panose="02010600030101010101" pitchFamily="2" charset="-122"/>
              </a:rPr>
              <a:t>x∈G</a:t>
            </a:r>
            <a:r>
              <a:rPr lang="zh-CN" altLang="en-US" sz="3200" b="1">
                <a:ea typeface="宋体" panose="02010600030101010101" pitchFamily="2" charset="-122"/>
              </a:rPr>
              <a:t>，由</a:t>
            </a:r>
            <a:r>
              <a:rPr lang="en-US" altLang="zh-CN" sz="3200" b="1">
                <a:ea typeface="宋体" panose="02010600030101010101" pitchFamily="2" charset="-122"/>
              </a:rPr>
              <a:t>x</a:t>
            </a:r>
            <a:r>
              <a:rPr lang="en-US" altLang="zh-CN" sz="3200" b="1" baseline="30000">
                <a:ea typeface="宋体" panose="02010600030101010101" pitchFamily="2" charset="-122"/>
              </a:rPr>
              <a:t>2</a:t>
            </a:r>
            <a:r>
              <a:rPr lang="en-US" altLang="zh-CN" sz="3200" b="1">
                <a:ea typeface="宋体" panose="02010600030101010101" pitchFamily="2" charset="-122"/>
              </a:rPr>
              <a:t>=1</a:t>
            </a:r>
            <a:r>
              <a:rPr lang="zh-CN" altLang="en-US" sz="3200" b="1">
                <a:ea typeface="宋体" panose="02010600030101010101" pitchFamily="2" charset="-122"/>
              </a:rPr>
              <a:t>可得</a:t>
            </a:r>
            <a:r>
              <a:rPr lang="en-US" altLang="zh-CN" sz="3200" b="1">
                <a:ea typeface="宋体" panose="02010600030101010101" pitchFamily="2" charset="-122"/>
              </a:rPr>
              <a:t>x</a:t>
            </a:r>
            <a:r>
              <a:rPr lang="en-US" altLang="zh-CN" sz="3200" b="1" baseline="30000">
                <a:ea typeface="宋体" panose="02010600030101010101" pitchFamily="2" charset="-122"/>
              </a:rPr>
              <a:t>-1</a:t>
            </a:r>
            <a:r>
              <a:rPr lang="en-US" altLang="zh-CN" sz="3200" b="1">
                <a:ea typeface="宋体" panose="02010600030101010101" pitchFamily="2" charset="-122"/>
              </a:rPr>
              <a:t>=x</a:t>
            </a:r>
            <a:r>
              <a:rPr lang="zh-CN" altLang="en-US" sz="3200" b="1">
                <a:ea typeface="宋体" panose="02010600030101010101" pitchFamily="2" charset="-122"/>
              </a:rPr>
              <a:t>，因此，对任意的</a:t>
            </a:r>
            <a:r>
              <a:rPr lang="en-US" altLang="zh-CN" sz="3200" b="1">
                <a:ea typeface="宋体" panose="02010600030101010101" pitchFamily="2" charset="-122"/>
              </a:rPr>
              <a:t>a</a:t>
            </a:r>
            <a:r>
              <a:rPr lang="zh-CN" altLang="en-US" sz="3200" b="1">
                <a:ea typeface="宋体" panose="02010600030101010101" pitchFamily="2" charset="-122"/>
              </a:rPr>
              <a:t>，</a:t>
            </a:r>
            <a:r>
              <a:rPr lang="en-US" altLang="zh-CN" sz="3200" b="1">
                <a:ea typeface="宋体" panose="02010600030101010101" pitchFamily="2" charset="-122"/>
              </a:rPr>
              <a:t>b∈G</a:t>
            </a:r>
            <a:r>
              <a:rPr lang="zh-CN" altLang="en-US" sz="3200" b="1">
                <a:ea typeface="宋体" panose="02010600030101010101" pitchFamily="2" charset="-122"/>
              </a:rPr>
              <a:t>，有</a:t>
            </a:r>
            <a:endParaRPr lang="en-US" altLang="zh-CN" sz="3200" b="1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200" b="1">
                <a:ea typeface="宋体" panose="02010600030101010101" pitchFamily="2" charset="-122"/>
              </a:rPr>
              <a:t>a</a:t>
            </a:r>
            <a:r>
              <a:rPr lang="en-US" altLang="zh-CN" sz="3200" b="1">
                <a:ea typeface="宋体" panose="02010600030101010101" pitchFamily="2" charset="-122"/>
                <a:sym typeface="Symbol" panose="05050102010706020507" pitchFamily="18" charset="2"/>
              </a:rPr>
              <a:t>•</a:t>
            </a:r>
            <a:r>
              <a:rPr lang="en-US" altLang="zh-CN" sz="3200" b="1">
                <a:ea typeface="宋体" panose="02010600030101010101" pitchFamily="2" charset="-122"/>
              </a:rPr>
              <a:t>b=</a:t>
            </a:r>
            <a:r>
              <a:rPr lang="zh-CN" altLang="zh-CN" sz="3200" b="1">
                <a:ea typeface="宋体" panose="02010600030101010101" pitchFamily="2" charset="-122"/>
              </a:rPr>
              <a:t> </a:t>
            </a:r>
            <a:r>
              <a:rPr lang="en-US" altLang="zh-CN" sz="3200" b="1">
                <a:ea typeface="宋体" panose="02010600030101010101" pitchFamily="2" charset="-122"/>
              </a:rPr>
              <a:t>(a</a:t>
            </a:r>
            <a:r>
              <a:rPr lang="en-US" altLang="zh-CN" sz="3200" b="1">
                <a:ea typeface="宋体" panose="02010600030101010101" pitchFamily="2" charset="-122"/>
                <a:sym typeface="Symbol" panose="05050102010706020507" pitchFamily="18" charset="2"/>
              </a:rPr>
              <a:t>•</a:t>
            </a:r>
            <a:r>
              <a:rPr lang="en-US" altLang="zh-CN" sz="3200" b="1">
                <a:ea typeface="宋体" panose="02010600030101010101" pitchFamily="2" charset="-122"/>
              </a:rPr>
              <a:t>b)</a:t>
            </a:r>
            <a:r>
              <a:rPr lang="en-US" altLang="zh-CN" sz="3200" b="1" baseline="30000">
                <a:ea typeface="宋体" panose="02010600030101010101" pitchFamily="2" charset="-122"/>
              </a:rPr>
              <a:t>-1</a:t>
            </a:r>
            <a:r>
              <a:rPr lang="en-US" altLang="zh-CN" sz="3200" b="1">
                <a:ea typeface="宋体" panose="02010600030101010101" pitchFamily="2" charset="-122"/>
              </a:rPr>
              <a:t>=b</a:t>
            </a:r>
            <a:r>
              <a:rPr lang="en-US" altLang="zh-CN" sz="3200" b="1" baseline="30000">
                <a:ea typeface="宋体" panose="02010600030101010101" pitchFamily="2" charset="-122"/>
              </a:rPr>
              <a:t>-1</a:t>
            </a:r>
            <a:r>
              <a:rPr lang="en-US" altLang="zh-CN" sz="3200" b="1">
                <a:ea typeface="宋体" panose="02010600030101010101" pitchFamily="2" charset="-122"/>
                <a:sym typeface="Symbol" panose="05050102010706020507" pitchFamily="18" charset="2"/>
              </a:rPr>
              <a:t>•</a:t>
            </a:r>
            <a:r>
              <a:rPr lang="en-US" altLang="zh-CN" sz="3200" b="1">
                <a:ea typeface="宋体" panose="02010600030101010101" pitchFamily="2" charset="-122"/>
              </a:rPr>
              <a:t>a</a:t>
            </a:r>
            <a:r>
              <a:rPr lang="en-US" altLang="zh-CN" sz="3200" b="1" baseline="30000">
                <a:ea typeface="宋体" panose="02010600030101010101" pitchFamily="2" charset="-122"/>
              </a:rPr>
              <a:t>-1</a:t>
            </a:r>
            <a:r>
              <a:rPr lang="en-US" altLang="zh-CN" sz="3200" b="1">
                <a:ea typeface="宋体" panose="02010600030101010101" pitchFamily="2" charset="-122"/>
              </a:rPr>
              <a:t>=b</a:t>
            </a:r>
            <a:r>
              <a:rPr lang="en-US" altLang="zh-CN" sz="3200" b="1">
                <a:ea typeface="宋体" panose="02010600030101010101" pitchFamily="2" charset="-122"/>
                <a:sym typeface="Symbol" panose="05050102010706020507" pitchFamily="18" charset="2"/>
              </a:rPr>
              <a:t>•</a:t>
            </a:r>
            <a:r>
              <a:rPr lang="en-US" altLang="zh-CN" sz="3200" b="1">
                <a:ea typeface="宋体" panose="02010600030101010101" pitchFamily="2" charset="-122"/>
              </a:rPr>
              <a:t>a</a:t>
            </a:r>
            <a:endParaRPr lang="zh-CN" altLang="zh-CN" sz="3200" b="1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/>
          </a:p>
        </p:txBody>
      </p:sp>
      <p:sp>
        <p:nvSpPr>
          <p:cNvPr id="172035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89A77F2-C387-477C-8ED5-4A1FF3BDA9F6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68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68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68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68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68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68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68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68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68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68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68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68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内容占位符 2"/>
          <p:cNvSpPr>
            <a:spLocks noGrp="1"/>
          </p:cNvSpPr>
          <p:nvPr>
            <p:ph idx="1"/>
          </p:nvPr>
        </p:nvSpPr>
        <p:spPr>
          <a:xfrm>
            <a:off x="539750" y="692150"/>
            <a:ext cx="8301038" cy="5356225"/>
          </a:xfrm>
        </p:spPr>
        <p:txBody>
          <a:bodyPr/>
          <a:lstStyle/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3200" b="1">
                <a:ea typeface="宋体" panose="02010600030101010101" pitchFamily="2" charset="-122"/>
              </a:rPr>
              <a:t>5. </a:t>
            </a:r>
            <a:r>
              <a:rPr lang="zh-CN" altLang="en-US" sz="3200" b="1">
                <a:ea typeface="宋体" panose="02010600030101010101" pitchFamily="2" charset="-122"/>
              </a:rPr>
              <a:t>证明：在偶数元的有限群</a:t>
            </a:r>
            <a:r>
              <a:rPr lang="en-US" altLang="zh-CN" sz="3200" b="1">
                <a:ea typeface="宋体" panose="02010600030101010101" pitchFamily="2" charset="-122"/>
              </a:rPr>
              <a:t>G</a:t>
            </a:r>
            <a:r>
              <a:rPr lang="zh-CN" altLang="en-US" sz="3200" b="1">
                <a:ea typeface="宋体" panose="02010600030101010101" pitchFamily="2" charset="-122"/>
              </a:rPr>
              <a:t>中，方程</a:t>
            </a:r>
            <a:r>
              <a:rPr lang="en-US" altLang="zh-CN" sz="3200" b="1">
                <a:ea typeface="宋体" panose="02010600030101010101" pitchFamily="2" charset="-122"/>
              </a:rPr>
              <a:t>x</a:t>
            </a:r>
            <a:r>
              <a:rPr lang="en-US" altLang="zh-CN" sz="3200" b="1" baseline="30000">
                <a:ea typeface="宋体" panose="02010600030101010101" pitchFamily="2" charset="-122"/>
              </a:rPr>
              <a:t>2</a:t>
            </a:r>
            <a:r>
              <a:rPr lang="en-US" altLang="zh-CN" sz="3200" b="1">
                <a:ea typeface="宋体" panose="02010600030101010101" pitchFamily="2" charset="-122"/>
              </a:rPr>
              <a:t>=1 </a:t>
            </a:r>
            <a:r>
              <a:rPr lang="zh-CN" altLang="en-US" sz="3200" b="1">
                <a:ea typeface="宋体" panose="02010600030101010101" pitchFamily="2" charset="-122"/>
              </a:rPr>
              <a:t>（</a:t>
            </a:r>
            <a:r>
              <a:rPr lang="en-US" altLang="zh-CN" sz="3200" b="1">
                <a:ea typeface="宋体" panose="02010600030101010101" pitchFamily="2" charset="-122"/>
              </a:rPr>
              <a:t>1</a:t>
            </a:r>
            <a:r>
              <a:rPr lang="zh-CN" altLang="en-US" sz="3200" b="1">
                <a:ea typeface="宋体" panose="02010600030101010101" pitchFamily="2" charset="-122"/>
              </a:rPr>
              <a:t>为单位元），有偶数个解。</a:t>
            </a:r>
            <a:endParaRPr lang="en-US" altLang="zh-CN" sz="3200" b="1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3200" b="1">
                <a:solidFill>
                  <a:srgbClr val="0000FF"/>
                </a:solidFill>
                <a:ea typeface="宋体" panose="02010600030101010101" pitchFamily="2" charset="-122"/>
              </a:rPr>
              <a:t>证明：</a:t>
            </a:r>
            <a:endParaRPr lang="en-US" altLang="zh-CN" sz="3200" b="1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3200" b="1">
                <a:ea typeface="宋体" panose="02010600030101010101" pitchFamily="2" charset="-122"/>
              </a:rPr>
              <a:t> </a:t>
            </a:r>
            <a:r>
              <a:rPr lang="zh-CN" altLang="en-US" sz="3200" b="1">
                <a:ea typeface="宋体" panose="02010600030101010101" pitchFamily="2" charset="-122"/>
              </a:rPr>
              <a:t>由</a:t>
            </a:r>
            <a:r>
              <a:rPr lang="en-US" altLang="zh-CN" sz="3200" b="1">
                <a:ea typeface="宋体" panose="02010600030101010101" pitchFamily="2" charset="-122"/>
              </a:rPr>
              <a:t>x</a:t>
            </a:r>
            <a:r>
              <a:rPr lang="en-US" altLang="zh-CN" sz="3200" b="1" baseline="30000">
                <a:ea typeface="宋体" panose="02010600030101010101" pitchFamily="2" charset="-122"/>
              </a:rPr>
              <a:t>2</a:t>
            </a:r>
            <a:r>
              <a:rPr lang="en-US" altLang="zh-CN" sz="3200" b="1">
                <a:ea typeface="宋体" panose="02010600030101010101" pitchFamily="2" charset="-122"/>
              </a:rPr>
              <a:t>=1</a:t>
            </a:r>
            <a:r>
              <a:rPr lang="zh-CN" altLang="en-US" sz="3200" b="1">
                <a:ea typeface="宋体" panose="02010600030101010101" pitchFamily="2" charset="-122"/>
              </a:rPr>
              <a:t>可得</a:t>
            </a:r>
            <a:r>
              <a:rPr lang="en-US" altLang="zh-CN" sz="3200" b="1">
                <a:ea typeface="宋体" panose="02010600030101010101" pitchFamily="2" charset="-122"/>
              </a:rPr>
              <a:t>x</a:t>
            </a:r>
            <a:r>
              <a:rPr lang="en-US" altLang="zh-CN" sz="3200" b="1" baseline="30000">
                <a:ea typeface="宋体" panose="02010600030101010101" pitchFamily="2" charset="-122"/>
              </a:rPr>
              <a:t>-1</a:t>
            </a:r>
            <a:r>
              <a:rPr lang="en-US" altLang="zh-CN" sz="3200" b="1">
                <a:ea typeface="宋体" panose="02010600030101010101" pitchFamily="2" charset="-122"/>
              </a:rPr>
              <a:t>=x</a:t>
            </a:r>
            <a:r>
              <a:rPr lang="zh-CN" altLang="en-US" sz="3200" b="1">
                <a:ea typeface="宋体" panose="02010600030101010101" pitchFamily="2" charset="-122"/>
              </a:rPr>
              <a:t>。因若</a:t>
            </a:r>
            <a:r>
              <a:rPr lang="en-US" altLang="zh-CN" sz="3200" b="1">
                <a:ea typeface="宋体" panose="02010600030101010101" pitchFamily="2" charset="-122"/>
              </a:rPr>
              <a:t>x</a:t>
            </a:r>
            <a:r>
              <a:rPr lang="en-US" altLang="zh-CN" sz="3200" b="1" baseline="30000">
                <a:ea typeface="宋体" panose="02010600030101010101" pitchFamily="2" charset="-122"/>
              </a:rPr>
              <a:t>-1</a:t>
            </a:r>
            <a:r>
              <a:rPr lang="en-US" altLang="zh-CN" sz="3200" b="1">
                <a:ea typeface="宋体" panose="02010600030101010101" pitchFamily="2" charset="-122"/>
              </a:rPr>
              <a:t>≠x</a:t>
            </a:r>
            <a:r>
              <a:rPr lang="zh-CN" altLang="en-US" sz="3200" b="1">
                <a:ea typeface="宋体" panose="02010600030101010101" pitchFamily="2" charset="-122"/>
              </a:rPr>
              <a:t>，由群中任意元素的逆唯一，知</a:t>
            </a:r>
            <a:r>
              <a:rPr lang="en-US" altLang="zh-CN" sz="3200" b="1">
                <a:ea typeface="宋体" panose="02010600030101010101" pitchFamily="2" charset="-122"/>
              </a:rPr>
              <a:t>x</a:t>
            </a:r>
            <a:r>
              <a:rPr lang="zh-CN" altLang="en-US" sz="3200" b="1">
                <a:ea typeface="宋体" panose="02010600030101010101" pitchFamily="2" charset="-122"/>
              </a:rPr>
              <a:t>与</a:t>
            </a:r>
            <a:r>
              <a:rPr lang="en-US" altLang="zh-CN" sz="3200" b="1">
                <a:ea typeface="宋体" panose="02010600030101010101" pitchFamily="2" charset="-122"/>
              </a:rPr>
              <a:t>x</a:t>
            </a:r>
            <a:r>
              <a:rPr lang="en-US" altLang="zh-CN" sz="3200" b="1" baseline="30000">
                <a:ea typeface="宋体" panose="02010600030101010101" pitchFamily="2" charset="-122"/>
              </a:rPr>
              <a:t>-1</a:t>
            </a:r>
            <a:r>
              <a:rPr lang="zh-CN" altLang="en-US" sz="3200" b="1">
                <a:ea typeface="宋体" panose="02010600030101010101" pitchFamily="2" charset="-122"/>
              </a:rPr>
              <a:t>必在</a:t>
            </a:r>
            <a:r>
              <a:rPr lang="en-US" altLang="zh-CN" sz="3200" b="1">
                <a:ea typeface="宋体" panose="02010600030101010101" pitchFamily="2" charset="-122"/>
              </a:rPr>
              <a:t>G</a:t>
            </a:r>
            <a:r>
              <a:rPr lang="zh-CN" altLang="en-US" sz="3200" b="1">
                <a:ea typeface="宋体" panose="02010600030101010101" pitchFamily="2" charset="-122"/>
              </a:rPr>
              <a:t>中成对出现，其总的个数为偶数。即不满足</a:t>
            </a:r>
            <a:r>
              <a:rPr lang="en-US" altLang="zh-CN" sz="3200" b="1">
                <a:ea typeface="宋体" panose="02010600030101010101" pitchFamily="2" charset="-122"/>
              </a:rPr>
              <a:t>x</a:t>
            </a:r>
            <a:r>
              <a:rPr lang="en-US" altLang="zh-CN" sz="3200" b="1" baseline="30000">
                <a:ea typeface="宋体" panose="02010600030101010101" pitchFamily="2" charset="-122"/>
              </a:rPr>
              <a:t>2</a:t>
            </a:r>
            <a:r>
              <a:rPr lang="en-US" altLang="zh-CN" sz="3200" b="1">
                <a:ea typeface="宋体" panose="02010600030101010101" pitchFamily="2" charset="-122"/>
              </a:rPr>
              <a:t> = 1</a:t>
            </a:r>
            <a:r>
              <a:rPr lang="zh-CN" altLang="en-US" sz="3200" b="1">
                <a:ea typeface="宋体" panose="02010600030101010101" pitchFamily="2" charset="-122"/>
              </a:rPr>
              <a:t>的元素个数为偶数。而</a:t>
            </a:r>
            <a:r>
              <a:rPr lang="en-US" altLang="zh-CN" sz="3200" b="1">
                <a:ea typeface="宋体" panose="02010600030101010101" pitchFamily="2" charset="-122"/>
              </a:rPr>
              <a:t>G</a:t>
            </a:r>
            <a:r>
              <a:rPr lang="zh-CN" altLang="en-US" sz="3200" b="1">
                <a:ea typeface="宋体" panose="02010600030101010101" pitchFamily="2" charset="-122"/>
              </a:rPr>
              <a:t>又为偶数元群，因此</a:t>
            </a:r>
            <a:r>
              <a:rPr lang="en-US" altLang="zh-CN" sz="3200" b="1">
                <a:ea typeface="宋体" panose="02010600030101010101" pitchFamily="2" charset="-122"/>
              </a:rPr>
              <a:t>G</a:t>
            </a:r>
            <a:r>
              <a:rPr lang="zh-CN" altLang="en-US" sz="3200" b="1">
                <a:ea typeface="宋体" panose="02010600030101010101" pitchFamily="2" charset="-122"/>
              </a:rPr>
              <a:t>中满足方程</a:t>
            </a:r>
            <a:r>
              <a:rPr lang="en-US" altLang="zh-CN" sz="3200" b="1">
                <a:ea typeface="宋体" panose="02010600030101010101" pitchFamily="2" charset="-122"/>
              </a:rPr>
              <a:t>x</a:t>
            </a:r>
            <a:r>
              <a:rPr lang="en-US" altLang="zh-CN" sz="3200" b="1" baseline="30000">
                <a:ea typeface="宋体" panose="02010600030101010101" pitchFamily="2" charset="-122"/>
              </a:rPr>
              <a:t>2</a:t>
            </a:r>
            <a:r>
              <a:rPr lang="en-US" altLang="zh-CN" sz="3200" b="1">
                <a:ea typeface="宋体" panose="02010600030101010101" pitchFamily="2" charset="-122"/>
              </a:rPr>
              <a:t>=1 </a:t>
            </a:r>
            <a:r>
              <a:rPr lang="zh-CN" altLang="en-US" sz="3200" b="1">
                <a:ea typeface="宋体" panose="02010600030101010101" pitchFamily="2" charset="-122"/>
              </a:rPr>
              <a:t>的解有偶数个</a:t>
            </a:r>
            <a:r>
              <a:rPr lang="en-US" altLang="zh-CN" sz="3200" b="1">
                <a:ea typeface="宋体" panose="02010600030101010101" pitchFamily="2" charset="-122"/>
              </a:rPr>
              <a:t>.</a:t>
            </a:r>
            <a:endParaRPr lang="zh-CN" altLang="en-US" sz="3200" b="1">
              <a:ea typeface="宋体" panose="02010600030101010101" pitchFamily="2" charset="-122"/>
            </a:endParaRPr>
          </a:p>
        </p:txBody>
      </p:sp>
      <p:sp>
        <p:nvSpPr>
          <p:cNvPr id="173059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3E93AC6-FFFE-4BCD-BC49-03F6EFD7008C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16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16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765175"/>
            <a:ext cx="8301037" cy="5283200"/>
          </a:xfrm>
        </p:spPr>
        <p:txBody>
          <a:bodyPr/>
          <a:lstStyle/>
          <a:p>
            <a:pPr marL="0" indent="0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b="1" dirty="0">
                <a:ea typeface="宋体" panose="02010600030101010101" pitchFamily="2" charset="-122"/>
              </a:rPr>
              <a:t>6.</a:t>
            </a:r>
            <a:r>
              <a:rPr lang="zh-CN" altLang="en-US" sz="3000" dirty="0"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  <a:r>
              <a:rPr lang="en-US" altLang="zh-CN" sz="3000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3000" dirty="0">
                <a:latin typeface="宋体" panose="02010600030101010101" pitchFamily="2" charset="-122"/>
                <a:ea typeface="宋体" panose="02010600030101010101" pitchFamily="2" charset="-122"/>
              </a:rPr>
              <a:t>是一个非空集合，</a:t>
            </a:r>
            <a:r>
              <a:rPr lang="en-US" altLang="zh-CN" sz="3000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3000" baseline="30000" dirty="0">
                <a:latin typeface="宋体" panose="02010600030101010101" pitchFamily="2" charset="-122"/>
                <a:ea typeface="宋体" panose="02010600030101010101" pitchFamily="2" charset="-122"/>
              </a:rPr>
              <a:t>A </a:t>
            </a:r>
            <a:r>
              <a:rPr lang="zh-CN" altLang="en-US" sz="3000" dirty="0"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lang="en-US" altLang="zh-CN" sz="3000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3000" dirty="0">
                <a:latin typeface="宋体" panose="02010600030101010101" pitchFamily="2" charset="-122"/>
                <a:ea typeface="宋体" panose="02010600030101010101" pitchFamily="2" charset="-122"/>
              </a:rPr>
              <a:t>到</a:t>
            </a:r>
            <a:r>
              <a:rPr lang="en-US" altLang="zh-CN" sz="3000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3000" dirty="0">
                <a:latin typeface="宋体" panose="02010600030101010101" pitchFamily="2" charset="-122"/>
                <a:ea typeface="宋体" panose="02010600030101010101" pitchFamily="2" charset="-122"/>
              </a:rPr>
              <a:t>的所有映射组成的集合。试证明</a:t>
            </a:r>
            <a:r>
              <a:rPr lang="en-US" altLang="zh-CN" sz="3000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3000" baseline="30000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3000" dirty="0">
                <a:latin typeface="宋体" panose="02010600030101010101" pitchFamily="2" charset="-122"/>
                <a:ea typeface="宋体" panose="02010600030101010101" pitchFamily="2" charset="-122"/>
              </a:rPr>
              <a:t>关于映射的乘积“</a:t>
            </a:r>
            <a:r>
              <a:rPr lang="zh-CN" altLang="zh-CN" sz="3000" b="1" dirty="0"/>
              <a:t>•</a:t>
            </a:r>
            <a:r>
              <a:rPr lang="zh-CN" altLang="en-US" sz="3000" dirty="0">
                <a:latin typeface="宋体" panose="02010600030101010101" pitchFamily="2" charset="-122"/>
                <a:ea typeface="宋体" panose="02010600030101010101" pitchFamily="2" charset="-122"/>
              </a:rPr>
              <a:t>”构成一个有单位元的半群。</a:t>
            </a:r>
            <a:endParaRPr lang="en-US" altLang="zh-CN" sz="3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3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000" dirty="0">
                <a:latin typeface="宋体" panose="02010600030101010101" pitchFamily="2" charset="-122"/>
                <a:ea typeface="宋体" panose="02010600030101010101" pitchFamily="2" charset="-122"/>
              </a:rPr>
              <a:t>证明：</a:t>
            </a:r>
            <a:endParaRPr lang="en-US" altLang="zh-CN" sz="3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3000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3000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3000" dirty="0">
                <a:latin typeface="宋体" panose="02010600030101010101" pitchFamily="2" charset="-122"/>
                <a:ea typeface="宋体" panose="02010600030101010101" pitchFamily="2" charset="-122"/>
              </a:rPr>
              <a:t>非空，</a:t>
            </a:r>
            <a:r>
              <a:rPr lang="en-US" altLang="zh-CN" sz="3000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3000" b="1" baseline="30000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3000" dirty="0">
                <a:latin typeface="宋体" panose="02010600030101010101" pitchFamily="2" charset="-122"/>
                <a:ea typeface="宋体" panose="02010600030101010101" pitchFamily="2" charset="-122"/>
              </a:rPr>
              <a:t>非空</a:t>
            </a:r>
            <a:endParaRPr lang="en-US" altLang="zh-CN" sz="3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3000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zh-CN" altLang="en-US" sz="3000" b="1" dirty="0">
                <a:solidFill>
                  <a:schemeClr val="bg2"/>
                </a:solidFill>
                <a:sym typeface="Symbol" panose="05050102010706020507" pitchFamily="18" charset="2"/>
              </a:rPr>
              <a:t> </a:t>
            </a:r>
            <a:r>
              <a:rPr lang="zh-CN" altLang="en-US" sz="3000" b="1" dirty="0">
                <a:sym typeface="Symbol" panose="05050102010706020507" pitchFamily="18" charset="2"/>
              </a:rPr>
              <a:t> </a:t>
            </a:r>
            <a:r>
              <a:rPr lang="en-US" altLang="zh-CN" sz="3000" b="1" i="1" dirty="0">
                <a:sym typeface="Symbol" panose="05050102010706020507" pitchFamily="18" charset="2"/>
              </a:rPr>
              <a:t>f, g </a:t>
            </a:r>
            <a:r>
              <a:rPr lang="en-US" altLang="zh-CN" sz="3000" b="1" dirty="0">
                <a:sym typeface="Symbol" panose="05050102010706020507" pitchFamily="18" charset="2"/>
              </a:rPr>
              <a:t></a:t>
            </a:r>
            <a:r>
              <a:rPr lang="en-US" altLang="zh-CN" sz="3000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3000" b="1" baseline="30000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3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3000" b="1" dirty="0"/>
              <a:t>(</a:t>
            </a:r>
            <a:r>
              <a:rPr lang="en-US" altLang="zh-CN" sz="3000" b="1" i="1" dirty="0">
                <a:latin typeface="宋体" panose="02010600030101010101" pitchFamily="2" charset="-122"/>
                <a:ea typeface="宋体" panose="02010600030101010101" pitchFamily="2" charset="-122"/>
              </a:rPr>
              <a:t>f</a:t>
            </a:r>
            <a:r>
              <a:rPr lang="zh-CN" altLang="zh-CN" sz="3000" b="1" dirty="0"/>
              <a:t>•</a:t>
            </a:r>
            <a:r>
              <a:rPr lang="en-US" altLang="zh-CN" sz="3000" b="1" i="1" dirty="0"/>
              <a:t>g</a:t>
            </a:r>
            <a:r>
              <a:rPr lang="en-US" altLang="zh-CN" sz="3000" b="1" dirty="0"/>
              <a:t>)(x)=</a:t>
            </a:r>
            <a:r>
              <a:rPr lang="en-US" altLang="zh-CN" sz="3000" b="1" i="1" dirty="0"/>
              <a:t>f(g(x</a:t>
            </a:r>
            <a:r>
              <a:rPr lang="en-US" altLang="zh-CN" sz="3000" b="1" dirty="0"/>
              <a:t>)) ,</a:t>
            </a:r>
            <a:r>
              <a:rPr lang="zh-CN" altLang="en-US" sz="3000" b="1" dirty="0">
                <a:sym typeface="Symbol" panose="05050102010706020507" pitchFamily="18" charset="2"/>
              </a:rPr>
              <a:t> </a:t>
            </a:r>
            <a:r>
              <a:rPr lang="en-US" altLang="zh-CN" sz="3000" b="1" dirty="0"/>
              <a:t> </a:t>
            </a:r>
            <a:r>
              <a:rPr lang="en-US" altLang="zh-CN" sz="3000" b="1" dirty="0" err="1"/>
              <a:t>x</a:t>
            </a:r>
            <a:r>
              <a:rPr lang="en-US" altLang="zh-CN" sz="3000" b="1" dirty="0" err="1">
                <a:sym typeface="Symbol" panose="05050102010706020507" pitchFamily="18" charset="2"/>
              </a:rPr>
              <a:t>A</a:t>
            </a:r>
            <a:r>
              <a:rPr lang="en-US" altLang="zh-CN" sz="3000" b="1" dirty="0">
                <a:sym typeface="Symbol" panose="05050102010706020507" pitchFamily="18" charset="2"/>
              </a:rPr>
              <a:t> ,</a:t>
            </a:r>
            <a:r>
              <a:rPr lang="en-US" altLang="zh-CN" sz="3000" b="1" i="1" dirty="0">
                <a:latin typeface="宋体" panose="02010600030101010101" pitchFamily="2" charset="-122"/>
                <a:ea typeface="宋体" panose="02010600030101010101" pitchFamily="2" charset="-122"/>
              </a:rPr>
              <a:t> f</a:t>
            </a:r>
            <a:r>
              <a:rPr lang="zh-CN" altLang="zh-CN" sz="3000" b="1" dirty="0"/>
              <a:t>•</a:t>
            </a:r>
            <a:r>
              <a:rPr lang="en-US" altLang="zh-CN" sz="3000" b="1" i="1" dirty="0" err="1"/>
              <a:t>g</a:t>
            </a:r>
            <a:r>
              <a:rPr lang="en-US" altLang="zh-CN" sz="3000" b="1" dirty="0" err="1">
                <a:sym typeface="Symbol" panose="05050102010706020507" pitchFamily="18" charset="2"/>
              </a:rPr>
              <a:t></a:t>
            </a:r>
            <a:r>
              <a:rPr lang="en-US" altLang="zh-CN" sz="30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3000" b="1" baseline="30000" dirty="0" err="1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endParaRPr lang="en-US" altLang="zh-CN" sz="3000" b="1" baseline="30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dirty="0">
                <a:latin typeface="宋体" panose="02010600030101010101" pitchFamily="2" charset="-122"/>
                <a:ea typeface="宋体" panose="02010600030101010101" pitchFamily="2" charset="-122"/>
              </a:rPr>
              <a:t>3)</a:t>
            </a:r>
            <a:r>
              <a:rPr lang="zh-CN" altLang="en-US" sz="3000" dirty="0">
                <a:latin typeface="宋体" panose="02010600030101010101" pitchFamily="2" charset="-122"/>
                <a:ea typeface="宋体" panose="02010600030101010101" pitchFamily="2" charset="-122"/>
              </a:rPr>
              <a:t>映射乘积满足结合律</a:t>
            </a:r>
            <a:endParaRPr lang="en-US" altLang="zh-CN" sz="3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000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3000" dirty="0">
                <a:latin typeface="宋体" panose="02010600030101010101" pitchFamily="2" charset="-122"/>
                <a:ea typeface="宋体" panose="02010600030101010101" pitchFamily="2" charset="-122"/>
              </a:rPr>
              <a:t>）存在单位元</a:t>
            </a:r>
            <a:r>
              <a:rPr lang="en-US" altLang="zh-CN" sz="3000" b="1" dirty="0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3000" b="1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3000" dirty="0">
                <a:latin typeface="宋体" panose="02010600030101010101" pitchFamily="2" charset="-122"/>
                <a:ea typeface="宋体" panose="02010600030101010101" pitchFamily="2" charset="-122"/>
              </a:rPr>
              <a:t>(x)=x</a:t>
            </a:r>
            <a:r>
              <a:rPr lang="zh-CN" altLang="en-US" sz="30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3000" b="1" i="1" dirty="0"/>
              <a:t>f</a:t>
            </a:r>
            <a:r>
              <a:rPr lang="zh-CN" altLang="zh-CN" sz="3000" b="1" dirty="0"/>
              <a:t>•</a:t>
            </a:r>
            <a:r>
              <a:rPr lang="en-US" altLang="zh-CN" sz="3000" b="1" dirty="0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3000" b="1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3000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3000" b="1" dirty="0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3000" b="1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zh-CN" sz="3000" b="1" dirty="0"/>
              <a:t>•</a:t>
            </a:r>
            <a:r>
              <a:rPr lang="en-US" altLang="zh-CN" sz="3000" b="1" i="1" dirty="0"/>
              <a:t>f=f</a:t>
            </a:r>
            <a:endParaRPr lang="zh-CN" altLang="en-US" sz="3000" i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4083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D952D7E-BB2F-4D27-88C7-A32220F4192D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620713"/>
            <a:ext cx="8497887" cy="61214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ea typeface="宋体" panose="02010600030101010101" pitchFamily="2" charset="-122"/>
              </a:rPr>
              <a:t>7.</a:t>
            </a:r>
            <a:r>
              <a:rPr lang="zh-CN" altLang="en-US" b="1" dirty="0">
                <a:ea typeface="宋体" panose="02010600030101010101" pitchFamily="2" charset="-122"/>
              </a:rPr>
              <a:t>设（</a:t>
            </a:r>
            <a:r>
              <a:rPr lang="en-US" altLang="zh-CN" b="1" dirty="0">
                <a:ea typeface="宋体" panose="02010600030101010101" pitchFamily="2" charset="-122"/>
              </a:rPr>
              <a:t>S</a:t>
            </a:r>
            <a:r>
              <a:rPr lang="zh-CN" altLang="en-US" b="1" dirty="0">
                <a:ea typeface="宋体" panose="02010600030101010101" pitchFamily="2" charset="-122"/>
              </a:rPr>
              <a:t>，*）是一个半群，如果对所有的</a:t>
            </a:r>
            <a:r>
              <a:rPr lang="en-US" altLang="zh-CN" b="1" dirty="0" err="1">
                <a:ea typeface="宋体" panose="02010600030101010101" pitchFamily="2" charset="-122"/>
              </a:rPr>
              <a:t>a,b</a:t>
            </a:r>
            <a:r>
              <a:rPr lang="en-US" altLang="zh-CN" sz="2800" b="1" dirty="0">
                <a:sym typeface="Symbol" pitchFamily="18" charset="2"/>
              </a:rPr>
              <a:t> S, </a:t>
            </a:r>
            <a:r>
              <a:rPr lang="zh-CN" altLang="en-US" sz="2800" b="1" dirty="0">
                <a:sym typeface="Symbol" pitchFamily="18" charset="2"/>
              </a:rPr>
              <a:t>只要        </a:t>
            </a:r>
            <a:r>
              <a:rPr lang="en-US" altLang="zh-CN" sz="2800" b="1" dirty="0" err="1">
                <a:sym typeface="Symbol" pitchFamily="18" charset="2"/>
              </a:rPr>
              <a:t>a</a:t>
            </a:r>
            <a:r>
              <a:rPr lang="en-US" altLang="zh-CN" sz="2800" b="1" dirty="0" err="1">
                <a:ea typeface="宋体" panose="02010600030101010101" pitchFamily="2" charset="-122"/>
                <a:sym typeface="Symbol" pitchFamily="18" charset="2"/>
              </a:rPr>
              <a:t>b</a:t>
            </a:r>
            <a:r>
              <a:rPr lang="en-US" altLang="zh-CN" sz="2800" b="1" dirty="0">
                <a:ea typeface="宋体" panose="02010600030101010101" pitchFamily="2" charset="-122"/>
                <a:sym typeface="Symbol" pitchFamily="18" charset="2"/>
              </a:rPr>
              <a:t> </a:t>
            </a:r>
            <a:r>
              <a:rPr lang="zh-CN" altLang="en-US" sz="2800" b="1" dirty="0">
                <a:ea typeface="宋体" panose="02010600030101010101" pitchFamily="2" charset="-122"/>
                <a:sym typeface="Symbol" pitchFamily="18" charset="2"/>
              </a:rPr>
              <a:t>，必有</a:t>
            </a:r>
            <a:r>
              <a:rPr lang="en-US" altLang="zh-CN" sz="2800" b="1" dirty="0">
                <a:ea typeface="宋体" panose="02010600030101010101" pitchFamily="2" charset="-122"/>
                <a:sym typeface="Symbol" pitchFamily="18" charset="2"/>
              </a:rPr>
              <a:t>a</a:t>
            </a:r>
            <a:r>
              <a:rPr lang="zh-CN" altLang="en-US" sz="2800" b="1" dirty="0">
                <a:ea typeface="宋体" panose="02010600030101010101" pitchFamily="2" charset="-122"/>
                <a:sym typeface="Symbol" pitchFamily="18" charset="2"/>
              </a:rPr>
              <a:t>*</a:t>
            </a:r>
            <a:r>
              <a:rPr lang="en-US" altLang="zh-CN" sz="2800" b="1" dirty="0" err="1">
                <a:ea typeface="宋体" panose="02010600030101010101" pitchFamily="2" charset="-122"/>
                <a:sym typeface="Symbol" pitchFamily="18" charset="2"/>
              </a:rPr>
              <a:t>b</a:t>
            </a:r>
            <a:r>
              <a:rPr lang="en-US" altLang="zh-CN" sz="2400" b="1" dirty="0" err="1">
                <a:ea typeface="宋体" panose="02010600030101010101" pitchFamily="2" charset="-122"/>
                <a:sym typeface="Symbol" pitchFamily="18" charset="2"/>
              </a:rPr>
              <a:t>b</a:t>
            </a:r>
            <a:r>
              <a:rPr lang="en-US" altLang="zh-CN" sz="2400" b="1" dirty="0">
                <a:ea typeface="宋体" panose="02010600030101010101" pitchFamily="2" charset="-122"/>
                <a:sym typeface="Symbol" pitchFamily="18" charset="2"/>
              </a:rPr>
              <a:t>*a,  </a:t>
            </a:r>
            <a:r>
              <a:rPr lang="zh-CN" altLang="en-US" sz="2400" b="1" dirty="0">
                <a:ea typeface="宋体" panose="02010600030101010101" pitchFamily="2" charset="-122"/>
                <a:sym typeface="Symbol" pitchFamily="18" charset="2"/>
              </a:rPr>
              <a:t>证明</a:t>
            </a:r>
            <a:r>
              <a:rPr lang="en-US" altLang="zh-CN" sz="2400" b="1" dirty="0">
                <a:ea typeface="宋体" panose="02010600030101010101" pitchFamily="2" charset="-122"/>
                <a:sym typeface="Symbol" pitchFamily="18" charset="2"/>
              </a:rPr>
              <a:t>: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400" b="1" dirty="0">
                <a:ea typeface="宋体" panose="02010600030101010101" pitchFamily="2" charset="-122"/>
                <a:sym typeface="Symbol" pitchFamily="18" charset="2"/>
              </a:rPr>
              <a:t>1</a:t>
            </a:r>
            <a:r>
              <a:rPr lang="zh-CN" altLang="en-US" sz="2400" b="1" dirty="0">
                <a:ea typeface="宋体" panose="02010600030101010101" pitchFamily="2" charset="-122"/>
                <a:sym typeface="Symbol" pitchFamily="18" charset="2"/>
              </a:rPr>
              <a:t>）</a:t>
            </a:r>
            <a:r>
              <a:rPr lang="zh-CN" altLang="en-US" sz="2800" b="1" dirty="0">
                <a:sym typeface="Symbol" pitchFamily="18" charset="2"/>
              </a:rPr>
              <a:t> </a:t>
            </a:r>
            <a:r>
              <a:rPr lang="en-US" altLang="zh-CN" sz="2800" b="1" dirty="0">
                <a:sym typeface="Symbol" pitchFamily="18" charset="2"/>
              </a:rPr>
              <a:t>a</a:t>
            </a:r>
            <a:r>
              <a:rPr lang="en-US" altLang="zh-CN" sz="2400" b="1" dirty="0">
                <a:sym typeface="Symbol" pitchFamily="18" charset="2"/>
              </a:rPr>
              <a:t>S ,</a:t>
            </a:r>
            <a:r>
              <a:rPr lang="zh-CN" altLang="en-US" sz="2400" b="1" dirty="0">
                <a:sym typeface="Symbol" pitchFamily="18" charset="2"/>
              </a:rPr>
              <a:t>有</a:t>
            </a:r>
            <a:r>
              <a:rPr lang="en-US" altLang="zh-CN" sz="2400" b="1" dirty="0">
                <a:sym typeface="Symbol" pitchFamily="18" charset="2"/>
              </a:rPr>
              <a:t>a*a=a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400" b="1" dirty="0">
                <a:ea typeface="宋体" panose="02010600030101010101" pitchFamily="2" charset="-122"/>
                <a:sym typeface="Symbol" pitchFamily="18" charset="2"/>
              </a:rPr>
              <a:t>2)</a:t>
            </a:r>
            <a:r>
              <a:rPr lang="zh-CN" altLang="en-US" sz="2400" b="1" dirty="0">
                <a:sym typeface="Symbol" pitchFamily="18" charset="2"/>
              </a:rPr>
              <a:t> </a:t>
            </a:r>
            <a:r>
              <a:rPr lang="en-US" altLang="zh-CN" sz="2400" b="1" dirty="0" err="1">
                <a:sym typeface="Symbol" pitchFamily="18" charset="2"/>
              </a:rPr>
              <a:t>a,b</a:t>
            </a:r>
            <a:r>
              <a:rPr lang="en-US" altLang="zh-CN" sz="2400" b="1" dirty="0">
                <a:sym typeface="Symbol" pitchFamily="18" charset="2"/>
              </a:rPr>
              <a:t> S</a:t>
            </a:r>
            <a:r>
              <a:rPr lang="en-US" altLang="zh-CN" sz="2000" b="1" dirty="0">
                <a:sym typeface="Symbol" pitchFamily="18" charset="2"/>
              </a:rPr>
              <a:t> , </a:t>
            </a:r>
            <a:r>
              <a:rPr lang="zh-CN" altLang="en-US" sz="2000" b="1" dirty="0">
                <a:sym typeface="Symbol" pitchFamily="18" charset="2"/>
              </a:rPr>
              <a:t>有</a:t>
            </a:r>
            <a:r>
              <a:rPr lang="en-US" altLang="zh-CN" sz="2800" b="1" dirty="0">
                <a:sym typeface="Symbol" pitchFamily="18" charset="2"/>
              </a:rPr>
              <a:t>a*b</a:t>
            </a:r>
            <a:r>
              <a:rPr lang="zh-CN" altLang="en-US" sz="2800" b="1" dirty="0">
                <a:sym typeface="Symbol" pitchFamily="18" charset="2"/>
              </a:rPr>
              <a:t>*</a:t>
            </a:r>
            <a:r>
              <a:rPr lang="en-US" altLang="zh-CN" sz="2800" b="1" dirty="0">
                <a:sym typeface="Symbol" pitchFamily="18" charset="2"/>
              </a:rPr>
              <a:t>a=a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ym typeface="Symbol" pitchFamily="18" charset="2"/>
              </a:rPr>
              <a:t>3</a:t>
            </a:r>
            <a:r>
              <a:rPr lang="zh-CN" altLang="en-US" sz="2800" b="1" dirty="0">
                <a:sym typeface="Symbol" pitchFamily="18" charset="2"/>
              </a:rPr>
              <a:t>）</a:t>
            </a:r>
            <a:r>
              <a:rPr lang="en-US" altLang="zh-CN" sz="2800" b="1" dirty="0" err="1">
                <a:sym typeface="Symbol" pitchFamily="18" charset="2"/>
              </a:rPr>
              <a:t>a,b,c</a:t>
            </a:r>
            <a:r>
              <a:rPr lang="en-US" altLang="zh-CN" sz="2800" b="1" dirty="0">
                <a:sym typeface="Symbol" pitchFamily="18" charset="2"/>
              </a:rPr>
              <a:t> </a:t>
            </a:r>
            <a:r>
              <a:rPr lang="en-US" altLang="zh-CN" sz="2400" b="1" dirty="0">
                <a:sym typeface="Symbol" pitchFamily="18" charset="2"/>
              </a:rPr>
              <a:t>S ,</a:t>
            </a:r>
            <a:r>
              <a:rPr lang="zh-CN" altLang="en-US" sz="2400" b="1" dirty="0">
                <a:sym typeface="Symbol" pitchFamily="18" charset="2"/>
              </a:rPr>
              <a:t>有</a:t>
            </a:r>
            <a:r>
              <a:rPr lang="en-US" altLang="zh-CN" sz="2800" b="1" dirty="0">
                <a:sym typeface="Symbol" pitchFamily="18" charset="2"/>
              </a:rPr>
              <a:t>a*b</a:t>
            </a:r>
            <a:r>
              <a:rPr lang="zh-CN" altLang="en-US" sz="2800" b="1" dirty="0">
                <a:sym typeface="Symbol" pitchFamily="18" charset="2"/>
              </a:rPr>
              <a:t>*</a:t>
            </a:r>
            <a:r>
              <a:rPr lang="en-US" altLang="zh-CN" sz="2800" b="1" dirty="0">
                <a:sym typeface="Symbol" pitchFamily="18" charset="2"/>
              </a:rPr>
              <a:t>c=a</a:t>
            </a:r>
            <a:r>
              <a:rPr lang="zh-CN" altLang="en-US" sz="2800" b="1" dirty="0">
                <a:sym typeface="Symbol" pitchFamily="18" charset="2"/>
              </a:rPr>
              <a:t>*</a:t>
            </a:r>
            <a:r>
              <a:rPr lang="en-US" altLang="zh-CN" sz="2800" b="1" dirty="0">
                <a:sym typeface="Symbol" pitchFamily="18" charset="2"/>
              </a:rPr>
              <a:t>c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sym typeface="Symbol" pitchFamily="18" charset="2"/>
              </a:rPr>
              <a:t>证明：由已知条件得，若</a:t>
            </a:r>
            <a:r>
              <a:rPr lang="en-US" altLang="zh-CN" sz="2800" b="1" dirty="0">
                <a:sym typeface="Symbol" pitchFamily="18" charset="2"/>
              </a:rPr>
              <a:t>a*b=b*a,</a:t>
            </a:r>
            <a:r>
              <a:rPr lang="zh-CN" altLang="en-US" sz="2800" b="1" dirty="0">
                <a:sym typeface="Symbol" pitchFamily="18" charset="2"/>
              </a:rPr>
              <a:t>则</a:t>
            </a:r>
            <a:r>
              <a:rPr lang="en-US" altLang="zh-CN" sz="2800" b="1" dirty="0">
                <a:sym typeface="Symbol" pitchFamily="18" charset="2"/>
              </a:rPr>
              <a:t>a=b</a:t>
            </a:r>
          </a:p>
          <a:p>
            <a:pPr marL="514350" indent="-514350">
              <a:buFont typeface="Wingdings" panose="05000000000000000000" pitchFamily="2" charset="2"/>
              <a:buAutoNum type="arabicParenR"/>
              <a:defRPr/>
            </a:pPr>
            <a:r>
              <a:rPr lang="en-US" altLang="zh-CN" sz="2800" b="1" dirty="0">
                <a:sym typeface="Symbol" pitchFamily="18" charset="2"/>
              </a:rPr>
              <a:t>(a*a)*a= a*(a*a), a*a=a</a:t>
            </a:r>
          </a:p>
          <a:p>
            <a:pPr marL="514350" indent="-514350">
              <a:buFont typeface="Wingdings" panose="05000000000000000000" pitchFamily="2" charset="2"/>
              <a:buAutoNum type="arabicParenR"/>
              <a:defRPr/>
            </a:pPr>
            <a:r>
              <a:rPr lang="en-US" altLang="zh-CN" sz="2800" b="1" dirty="0">
                <a:sym typeface="Symbol" pitchFamily="18" charset="2"/>
              </a:rPr>
              <a:t>(a*b</a:t>
            </a:r>
            <a:r>
              <a:rPr lang="zh-CN" altLang="en-US" sz="2800" b="1" dirty="0">
                <a:sym typeface="Symbol" pitchFamily="18" charset="2"/>
              </a:rPr>
              <a:t>*</a:t>
            </a:r>
            <a:r>
              <a:rPr lang="en-US" altLang="zh-CN" sz="2800" b="1" dirty="0">
                <a:sym typeface="Symbol" pitchFamily="18" charset="2"/>
              </a:rPr>
              <a:t>a)*a= a*b*a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ym typeface="Symbol" pitchFamily="18" charset="2"/>
              </a:rPr>
              <a:t>      a*(a*b*a)=a*b*a ,</a:t>
            </a:r>
            <a:r>
              <a:rPr lang="zh-CN" altLang="en-US" sz="2800" b="1" dirty="0">
                <a:sym typeface="Symbol" pitchFamily="18" charset="2"/>
              </a:rPr>
              <a:t>因此 </a:t>
            </a:r>
            <a:r>
              <a:rPr lang="en-US" altLang="zh-CN" sz="2800" b="1" dirty="0">
                <a:sym typeface="Symbol" pitchFamily="18" charset="2"/>
              </a:rPr>
              <a:t>a*b</a:t>
            </a:r>
            <a:r>
              <a:rPr lang="zh-CN" altLang="en-US" sz="2800" b="1" dirty="0">
                <a:sym typeface="Symbol" pitchFamily="18" charset="2"/>
              </a:rPr>
              <a:t>*</a:t>
            </a:r>
            <a:r>
              <a:rPr lang="en-US" altLang="zh-CN" sz="2800" b="1" dirty="0">
                <a:sym typeface="Symbol" pitchFamily="18" charset="2"/>
              </a:rPr>
              <a:t>a=a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ym typeface="Symbol" pitchFamily="18" charset="2"/>
              </a:rPr>
              <a:t>3) (a*b</a:t>
            </a:r>
            <a:r>
              <a:rPr lang="zh-CN" altLang="en-US" sz="2800" b="1" dirty="0">
                <a:sym typeface="Symbol" pitchFamily="18" charset="2"/>
              </a:rPr>
              <a:t>*</a:t>
            </a:r>
            <a:r>
              <a:rPr lang="en-US" altLang="zh-CN" sz="2800" b="1" dirty="0">
                <a:sym typeface="Symbol" pitchFamily="18" charset="2"/>
              </a:rPr>
              <a:t>c)*(a</a:t>
            </a:r>
            <a:r>
              <a:rPr lang="zh-CN" altLang="en-US" sz="2800" b="1" dirty="0">
                <a:sym typeface="Symbol" pitchFamily="18" charset="2"/>
              </a:rPr>
              <a:t>*</a:t>
            </a:r>
            <a:r>
              <a:rPr lang="en-US" altLang="zh-CN" sz="2800" b="1" dirty="0">
                <a:sym typeface="Symbol" pitchFamily="18" charset="2"/>
              </a:rPr>
              <a:t>c)=a*b*(c*a*c)=a*b*c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ym typeface="Symbol" pitchFamily="18" charset="2"/>
              </a:rPr>
              <a:t>    (a</a:t>
            </a:r>
            <a:r>
              <a:rPr lang="zh-CN" altLang="en-US" sz="2800" b="1" dirty="0">
                <a:sym typeface="Symbol" pitchFamily="18" charset="2"/>
              </a:rPr>
              <a:t>*</a:t>
            </a:r>
            <a:r>
              <a:rPr lang="en-US" altLang="zh-CN" sz="2800" b="1" dirty="0">
                <a:sym typeface="Symbol" pitchFamily="18" charset="2"/>
              </a:rPr>
              <a:t>c)*(a*b</a:t>
            </a:r>
            <a:r>
              <a:rPr lang="zh-CN" altLang="en-US" sz="2800" b="1" dirty="0">
                <a:sym typeface="Symbol" pitchFamily="18" charset="2"/>
              </a:rPr>
              <a:t>*</a:t>
            </a:r>
            <a:r>
              <a:rPr lang="en-US" altLang="zh-CN" sz="2800" b="1" dirty="0">
                <a:sym typeface="Symbol" pitchFamily="18" charset="2"/>
              </a:rPr>
              <a:t>c)=(a*c*a)*b*c=a*b*c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ym typeface="Symbol" pitchFamily="18" charset="2"/>
              </a:rPr>
              <a:t>    </a:t>
            </a:r>
            <a:r>
              <a:rPr lang="zh-CN" altLang="en-US" sz="2800" b="1" dirty="0">
                <a:sym typeface="Symbol" pitchFamily="18" charset="2"/>
              </a:rPr>
              <a:t>因此，</a:t>
            </a:r>
            <a:r>
              <a:rPr lang="en-US" altLang="zh-CN" sz="2800" b="1" dirty="0">
                <a:sym typeface="Symbol" pitchFamily="18" charset="2"/>
              </a:rPr>
              <a:t>a*b</a:t>
            </a:r>
            <a:r>
              <a:rPr lang="zh-CN" altLang="en-US" sz="2800" b="1" dirty="0">
                <a:sym typeface="Symbol" pitchFamily="18" charset="2"/>
              </a:rPr>
              <a:t>*</a:t>
            </a:r>
            <a:r>
              <a:rPr lang="en-US" altLang="zh-CN" sz="2800" b="1" dirty="0">
                <a:sym typeface="Symbol" pitchFamily="18" charset="2"/>
              </a:rPr>
              <a:t>c=a</a:t>
            </a:r>
            <a:r>
              <a:rPr lang="zh-CN" altLang="en-US" sz="2800" b="1" dirty="0">
                <a:sym typeface="Symbol" pitchFamily="18" charset="2"/>
              </a:rPr>
              <a:t>*</a:t>
            </a:r>
            <a:r>
              <a:rPr lang="en-US" altLang="zh-CN" sz="2800" b="1" dirty="0">
                <a:sym typeface="Symbol" pitchFamily="18" charset="2"/>
              </a:rPr>
              <a:t>c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800" b="1" dirty="0">
              <a:sym typeface="Symbol" pitchFamily="18" charset="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800" b="1" dirty="0">
              <a:sym typeface="Symbol" pitchFamily="18" charset="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800" b="1" dirty="0">
              <a:sym typeface="Symbol" pitchFamily="18" charset="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800" b="1" dirty="0">
              <a:sym typeface="Symbol" pitchFamily="18" charset="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800" b="1" dirty="0">
              <a:sym typeface="Symbol" pitchFamily="18" charset="2"/>
            </a:endParaRPr>
          </a:p>
          <a:p>
            <a:pPr marL="514350" indent="-514350">
              <a:buFont typeface="Wingdings" panose="05000000000000000000" pitchFamily="2" charset="2"/>
              <a:buAutoNum type="arabicParenR"/>
              <a:defRPr/>
            </a:pPr>
            <a:endParaRPr lang="en-US" altLang="zh-CN" sz="2800" b="1" dirty="0">
              <a:sym typeface="Symbol" pitchFamily="18" charset="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800" b="1" dirty="0">
              <a:sym typeface="Symbol" pitchFamily="18" charset="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5107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1752F79-AD45-4F4F-9D43-1D86EFA4BBFA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750" y="620713"/>
            <a:ext cx="8301038" cy="5761037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800" b="1">
                <a:ea typeface="宋体" panose="02010600030101010101" pitchFamily="2" charset="-122"/>
              </a:rPr>
              <a:t>8</a:t>
            </a:r>
            <a:r>
              <a:rPr lang="en-US" altLang="zh-CN" sz="2800">
                <a:ea typeface="宋体" panose="02010600030101010101" pitchFamily="2" charset="-122"/>
              </a:rPr>
              <a:t>. </a:t>
            </a:r>
            <a:r>
              <a:rPr lang="zh-CN" altLang="en-US" sz="2800">
                <a:ea typeface="宋体" panose="02010600030101010101" pitchFamily="2" charset="-122"/>
              </a:rPr>
              <a:t>设</a:t>
            </a:r>
            <a:r>
              <a:rPr lang="en-US" altLang="zh-CN" sz="2800">
                <a:ea typeface="宋体" panose="02010600030101010101" pitchFamily="2" charset="-122"/>
              </a:rPr>
              <a:t>(G,</a:t>
            </a:r>
            <a:r>
              <a:rPr lang="zh-CN" altLang="en-US" sz="2800" b="1">
                <a:ea typeface="宋体" panose="02010600030101010101" pitchFamily="2" charset="-122"/>
              </a:rPr>
              <a:t> </a:t>
            </a:r>
            <a:r>
              <a:rPr lang="en-US" altLang="zh-CN" sz="2800" b="1"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•</a:t>
            </a:r>
            <a:r>
              <a:rPr lang="en-US" altLang="zh-CN" sz="2800" b="1">
                <a:ea typeface="宋体" panose="02010600030101010101" pitchFamily="2" charset="-122"/>
              </a:rPr>
              <a:t>)</a:t>
            </a:r>
            <a:r>
              <a:rPr lang="zh-CN" altLang="en-US" sz="2800" b="1">
                <a:ea typeface="宋体" panose="02010600030101010101" pitchFamily="2" charset="-122"/>
              </a:rPr>
              <a:t>是一个群，</a:t>
            </a:r>
            <a:r>
              <a:rPr lang="en-US" altLang="zh-CN" sz="2800" b="1">
                <a:ea typeface="宋体" panose="02010600030101010101" pitchFamily="2" charset="-122"/>
              </a:rPr>
              <a:t>u</a:t>
            </a: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 G</a:t>
            </a:r>
            <a:r>
              <a:rPr lang="zh-CN" altLang="en-US" sz="2800" b="1">
                <a:ea typeface="宋体" panose="02010600030101010101" pitchFamily="2" charset="-122"/>
                <a:sym typeface="Symbol" panose="05050102010706020507" pitchFamily="18" charset="2"/>
              </a:rPr>
              <a:t>，定义</a:t>
            </a:r>
            <a:endParaRPr lang="en-US" altLang="zh-CN" sz="2800" b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    a*b= a•</a:t>
            </a:r>
            <a:r>
              <a:rPr lang="en-US" altLang="zh-CN" sz="2800" b="1">
                <a:ea typeface="宋体" panose="02010600030101010101" pitchFamily="2" charset="-122"/>
              </a:rPr>
              <a:t>u</a:t>
            </a:r>
            <a:r>
              <a:rPr lang="en-US" altLang="zh-CN" sz="2800" b="1" baseline="30000">
                <a:ea typeface="宋体" panose="02010600030101010101" pitchFamily="2" charset="-122"/>
              </a:rPr>
              <a:t>-1</a:t>
            </a: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•b , </a:t>
            </a:r>
            <a:r>
              <a:rPr lang="zh-CN" altLang="en-US" sz="2800" b="1"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a, bG</a:t>
            </a:r>
            <a:r>
              <a:rPr lang="zh-CN" altLang="en-US" sz="2800" b="1">
                <a:ea typeface="宋体" panose="02010600030101010101" pitchFamily="2" charset="-122"/>
                <a:sym typeface="Symbol" panose="05050102010706020507" pitchFamily="18" charset="2"/>
              </a:rPr>
              <a:t>，证明</a:t>
            </a: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(G,*)</a:t>
            </a:r>
            <a:r>
              <a:rPr lang="zh-CN" altLang="en-US" sz="2800" b="1">
                <a:ea typeface="宋体" panose="02010600030101010101" pitchFamily="2" charset="-122"/>
                <a:sym typeface="Symbol" panose="05050102010706020507" pitchFamily="18" charset="2"/>
              </a:rPr>
              <a:t>是一个群。</a:t>
            </a:r>
            <a:endParaRPr lang="en-US" altLang="zh-CN" sz="2800" b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800" b="1">
                <a:ea typeface="宋体" panose="02010600030101010101" pitchFamily="2" charset="-122"/>
                <a:sym typeface="Symbol" panose="05050102010706020507" pitchFamily="18" charset="2"/>
              </a:rPr>
              <a:t>证明：</a:t>
            </a:r>
            <a:endParaRPr lang="en-US" altLang="zh-CN" sz="2800" b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zh-CN" altLang="en-US" sz="2800" b="1">
                <a:ea typeface="宋体" panose="02010600030101010101" pitchFamily="2" charset="-122"/>
                <a:sym typeface="Symbol" panose="05050102010706020507" pitchFamily="18" charset="2"/>
              </a:rPr>
              <a:t>）</a:t>
            </a: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zh-CN" altLang="en-US" sz="2800" b="1">
                <a:ea typeface="宋体" panose="02010600030101010101" pitchFamily="2" charset="-122"/>
                <a:sym typeface="Symbol" panose="05050102010706020507" pitchFamily="18" charset="2"/>
              </a:rPr>
              <a:t>非空</a:t>
            </a:r>
            <a:endParaRPr lang="en-US" altLang="zh-CN" sz="2800" b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zh-CN" altLang="en-US" sz="2800" b="1">
                <a:ea typeface="宋体" panose="02010600030101010101" pitchFamily="2" charset="-122"/>
                <a:sym typeface="Symbol" panose="05050102010706020507" pitchFamily="18" charset="2"/>
              </a:rPr>
              <a:t>）封闭</a:t>
            </a: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: </a:t>
            </a:r>
            <a:r>
              <a:rPr lang="zh-CN" altLang="en-US" sz="2800" b="1"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a, bG</a:t>
            </a:r>
            <a:r>
              <a:rPr lang="zh-CN" altLang="en-US" sz="2800" b="1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a*b= a•</a:t>
            </a:r>
            <a:r>
              <a:rPr lang="en-US" altLang="zh-CN" sz="2800" b="1">
                <a:ea typeface="宋体" panose="02010600030101010101" pitchFamily="2" charset="-122"/>
              </a:rPr>
              <a:t>u</a:t>
            </a:r>
            <a:r>
              <a:rPr lang="en-US" altLang="zh-CN" sz="2800" b="1" baseline="30000">
                <a:ea typeface="宋体" panose="02010600030101010101" pitchFamily="2" charset="-122"/>
              </a:rPr>
              <a:t>-1</a:t>
            </a: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•b G</a:t>
            </a:r>
            <a:r>
              <a:rPr lang="zh-CN" altLang="en-US" sz="2800" b="1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endParaRPr lang="en-US" altLang="zh-CN" sz="2800" b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  <a:r>
              <a:rPr lang="zh-CN" altLang="en-US" sz="2800" b="1">
                <a:ea typeface="宋体" panose="02010600030101010101" pitchFamily="2" charset="-122"/>
                <a:sym typeface="Symbol" panose="05050102010706020507" pitchFamily="18" charset="2"/>
              </a:rPr>
              <a:t>）结合律</a:t>
            </a: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:</a:t>
            </a:r>
            <a:r>
              <a:rPr lang="zh-CN" altLang="en-US" sz="2800" b="1"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a, b,cG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(a*b)*c=(a•</a:t>
            </a:r>
            <a:r>
              <a:rPr lang="en-US" altLang="zh-CN" sz="2800" b="1">
                <a:ea typeface="宋体" panose="02010600030101010101" pitchFamily="2" charset="-122"/>
              </a:rPr>
              <a:t>u</a:t>
            </a:r>
            <a:r>
              <a:rPr lang="en-US" altLang="zh-CN" sz="2800" b="1" baseline="30000">
                <a:ea typeface="宋体" panose="02010600030101010101" pitchFamily="2" charset="-122"/>
              </a:rPr>
              <a:t>-1</a:t>
            </a: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•b) •c=a•</a:t>
            </a:r>
            <a:r>
              <a:rPr lang="en-US" altLang="zh-CN" sz="2800" b="1">
                <a:ea typeface="宋体" panose="02010600030101010101" pitchFamily="2" charset="-122"/>
              </a:rPr>
              <a:t>u</a:t>
            </a:r>
            <a:r>
              <a:rPr lang="en-US" altLang="zh-CN" sz="2800" b="1" baseline="30000">
                <a:ea typeface="宋体" panose="02010600030101010101" pitchFamily="2" charset="-122"/>
              </a:rPr>
              <a:t>-1</a:t>
            </a: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•b•</a:t>
            </a:r>
            <a:r>
              <a:rPr lang="en-US" altLang="zh-CN" sz="2800" b="1">
                <a:ea typeface="宋体" panose="02010600030101010101" pitchFamily="2" charset="-122"/>
              </a:rPr>
              <a:t>u</a:t>
            </a:r>
            <a:r>
              <a:rPr lang="en-US" altLang="zh-CN" sz="2800" b="1" baseline="30000">
                <a:ea typeface="宋体" panose="02010600030101010101" pitchFamily="2" charset="-122"/>
              </a:rPr>
              <a:t>-1</a:t>
            </a: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•c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a*(b*c)=a*(b•</a:t>
            </a:r>
            <a:r>
              <a:rPr lang="en-US" altLang="zh-CN" sz="2800" b="1">
                <a:ea typeface="宋体" panose="02010600030101010101" pitchFamily="2" charset="-122"/>
              </a:rPr>
              <a:t>u</a:t>
            </a:r>
            <a:r>
              <a:rPr lang="en-US" altLang="zh-CN" sz="2800" b="1" baseline="30000">
                <a:ea typeface="宋体" panose="02010600030101010101" pitchFamily="2" charset="-122"/>
              </a:rPr>
              <a:t>-1</a:t>
            </a: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•c)=a•</a:t>
            </a:r>
            <a:r>
              <a:rPr lang="en-US" altLang="zh-CN" sz="2800" b="1">
                <a:ea typeface="宋体" panose="02010600030101010101" pitchFamily="2" charset="-122"/>
              </a:rPr>
              <a:t>u</a:t>
            </a:r>
            <a:r>
              <a:rPr lang="en-US" altLang="zh-CN" sz="2800" b="1" baseline="30000">
                <a:ea typeface="宋体" panose="02010600030101010101" pitchFamily="2" charset="-122"/>
              </a:rPr>
              <a:t>-1</a:t>
            </a: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•b•</a:t>
            </a:r>
            <a:r>
              <a:rPr lang="en-US" altLang="zh-CN" sz="2800" b="1">
                <a:ea typeface="宋体" panose="02010600030101010101" pitchFamily="2" charset="-122"/>
              </a:rPr>
              <a:t>u</a:t>
            </a:r>
            <a:r>
              <a:rPr lang="en-US" altLang="zh-CN" sz="2800" b="1" baseline="30000">
                <a:ea typeface="宋体" panose="02010600030101010101" pitchFamily="2" charset="-122"/>
              </a:rPr>
              <a:t>-1</a:t>
            </a: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•c  </a:t>
            </a:r>
            <a:r>
              <a:rPr lang="zh-CN" altLang="en-US" sz="2800" b="1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(a*b)*c=a*(b*c)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4</a:t>
            </a:r>
            <a:r>
              <a:rPr lang="zh-CN" altLang="en-US" sz="2800" b="1">
                <a:ea typeface="宋体" panose="02010600030101010101" pitchFamily="2" charset="-122"/>
                <a:sym typeface="Symbol" panose="05050102010706020507" pitchFamily="18" charset="2"/>
              </a:rPr>
              <a:t>）左壹：</a:t>
            </a: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aG, </a:t>
            </a:r>
            <a:r>
              <a:rPr lang="zh-CN" altLang="en-US" sz="2800" b="1">
                <a:ea typeface="宋体" panose="02010600030101010101" pitchFamily="2" charset="-122"/>
                <a:sym typeface="Symbol" panose="05050102010706020507" pitchFamily="18" charset="2"/>
              </a:rPr>
              <a:t>有</a:t>
            </a: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uG, u•a=u•</a:t>
            </a:r>
            <a:r>
              <a:rPr lang="en-US" altLang="zh-CN" sz="2800" b="1">
                <a:ea typeface="宋体" panose="02010600030101010101" pitchFamily="2" charset="-122"/>
              </a:rPr>
              <a:t>u</a:t>
            </a:r>
            <a:r>
              <a:rPr lang="en-US" altLang="zh-CN" sz="2800" b="1" baseline="30000">
                <a:ea typeface="宋体" panose="02010600030101010101" pitchFamily="2" charset="-122"/>
              </a:rPr>
              <a:t>-1</a:t>
            </a: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•a=a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5) </a:t>
            </a:r>
            <a:r>
              <a:rPr lang="zh-CN" altLang="en-US" sz="2800" b="1">
                <a:ea typeface="宋体" panose="02010600030101010101" pitchFamily="2" charset="-122"/>
                <a:sym typeface="Symbol" panose="05050102010706020507" pitchFamily="18" charset="2"/>
              </a:rPr>
              <a:t>左逆：</a:t>
            </a: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aG</a:t>
            </a:r>
            <a:r>
              <a:rPr lang="zh-CN" altLang="en-US" sz="2800" b="1">
                <a:ea typeface="宋体" panose="02010600030101010101" pitchFamily="2" charset="-122"/>
                <a:sym typeface="Symbol" panose="05050102010706020507" pitchFamily="18" charset="2"/>
              </a:rPr>
              <a:t>，有</a:t>
            </a: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(u•a</a:t>
            </a:r>
            <a:r>
              <a:rPr lang="en-US" altLang="zh-CN" sz="2800" b="1" baseline="30000">
                <a:ea typeface="宋体" panose="02010600030101010101" pitchFamily="2" charset="-122"/>
                <a:sym typeface="Symbol" panose="05050102010706020507" pitchFamily="18" charset="2"/>
              </a:rPr>
              <a:t>-1</a:t>
            </a: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•u) G,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 (u•a</a:t>
            </a:r>
            <a:r>
              <a:rPr lang="en-US" altLang="zh-CN" sz="2800" b="1" baseline="30000">
                <a:ea typeface="宋体" panose="02010600030101010101" pitchFamily="2" charset="-122"/>
                <a:sym typeface="Symbol" panose="05050102010706020507" pitchFamily="18" charset="2"/>
              </a:rPr>
              <a:t>-1</a:t>
            </a: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•u)  •a=(u•a</a:t>
            </a:r>
            <a:r>
              <a:rPr lang="en-US" altLang="zh-CN" sz="2800" b="1" baseline="30000">
                <a:ea typeface="宋体" panose="02010600030101010101" pitchFamily="2" charset="-122"/>
                <a:sym typeface="Symbol" panose="05050102010706020507" pitchFamily="18" charset="2"/>
              </a:rPr>
              <a:t>-1</a:t>
            </a: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•u) • </a:t>
            </a:r>
            <a:r>
              <a:rPr lang="en-US" altLang="zh-CN" sz="2800" b="1">
                <a:ea typeface="宋体" panose="02010600030101010101" pitchFamily="2" charset="-122"/>
              </a:rPr>
              <a:t>u</a:t>
            </a:r>
            <a:r>
              <a:rPr lang="en-US" altLang="zh-CN" sz="2800" b="1" baseline="30000">
                <a:ea typeface="宋体" panose="02010600030101010101" pitchFamily="2" charset="-122"/>
              </a:rPr>
              <a:t>-1</a:t>
            </a: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•a=u</a:t>
            </a:r>
            <a:endParaRPr lang="en-US" altLang="zh-CN" sz="2800" b="1" baseline="300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sz="2800"/>
          </a:p>
        </p:txBody>
      </p:sp>
      <p:sp>
        <p:nvSpPr>
          <p:cNvPr id="176131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0202582-BB0D-4F04-9A99-06AED0DAD59C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1975" y="765175"/>
            <a:ext cx="8301038" cy="52832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3000" b="1" dirty="0">
                <a:ea typeface="宋体" panose="02010600030101010101" pitchFamily="2" charset="-122"/>
              </a:rPr>
              <a:t>9.</a:t>
            </a:r>
            <a:r>
              <a:rPr lang="zh-CN" altLang="en-US" sz="3000" b="1" dirty="0">
                <a:ea typeface="宋体" panose="02010600030101010101" pitchFamily="2" charset="-122"/>
              </a:rPr>
              <a:t>设</a:t>
            </a:r>
            <a:r>
              <a:rPr lang="en-US" altLang="zh-CN" sz="3000" b="1" dirty="0">
                <a:ea typeface="宋体" panose="02010600030101010101" pitchFamily="2" charset="-122"/>
              </a:rPr>
              <a:t>G</a:t>
            </a:r>
            <a:r>
              <a:rPr lang="zh-CN" altLang="en-US" sz="3000" b="1" dirty="0">
                <a:ea typeface="宋体" panose="02010600030101010101" pitchFamily="2" charset="-122"/>
              </a:rPr>
              <a:t>是一个非交换群</a:t>
            </a:r>
            <a:r>
              <a:rPr lang="en-US" altLang="zh-CN" sz="3000" b="1" dirty="0">
                <a:ea typeface="宋体" panose="02010600030101010101" pitchFamily="2" charset="-122"/>
              </a:rPr>
              <a:t>,</a:t>
            </a:r>
            <a:r>
              <a:rPr lang="zh-CN" altLang="en-US" sz="3000" b="1" dirty="0">
                <a:ea typeface="宋体" panose="02010600030101010101" pitchFamily="2" charset="-122"/>
              </a:rPr>
              <a:t>则</a:t>
            </a:r>
            <a:r>
              <a:rPr lang="en-US" altLang="zh-CN" sz="3000" b="1" dirty="0">
                <a:ea typeface="宋体" panose="02010600030101010101" pitchFamily="2" charset="-122"/>
              </a:rPr>
              <a:t>G</a:t>
            </a:r>
            <a:r>
              <a:rPr lang="zh-CN" altLang="en-US" sz="3000" b="1" dirty="0">
                <a:ea typeface="宋体" panose="02010600030101010101" pitchFamily="2" charset="-122"/>
              </a:rPr>
              <a:t>中存在</a:t>
            </a:r>
            <a:r>
              <a:rPr lang="en-US" altLang="zh-CN" sz="3000" b="1" dirty="0" err="1">
                <a:ea typeface="宋体" panose="02010600030101010101" pitchFamily="2" charset="-122"/>
              </a:rPr>
              <a:t>a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b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，使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ab=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ba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且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都不是单位元。</a:t>
            </a:r>
            <a:endParaRPr lang="en-US" altLang="zh-CN" sz="3000" b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sz="3000" b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证明：先证存在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a G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，使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aa</a:t>
            </a:r>
            <a:r>
              <a:rPr lang="en-US" altLang="zh-CN" sz="3000" b="1" baseline="30000" dirty="0">
                <a:ea typeface="宋体" panose="02010600030101010101" pitchFamily="2" charset="-122"/>
                <a:sym typeface="Symbol" panose="05050102010706020507" pitchFamily="18" charset="2"/>
              </a:rPr>
              <a:t>-1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 . 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反证法，假设 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xG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，都有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x=x</a:t>
            </a:r>
            <a:r>
              <a:rPr lang="en-US" altLang="zh-CN" sz="3000" b="1" baseline="30000" dirty="0">
                <a:ea typeface="宋体" panose="02010600030101010101" pitchFamily="2" charset="-122"/>
                <a:sym typeface="Symbol" panose="05050102010706020507" pitchFamily="18" charset="2"/>
              </a:rPr>
              <a:t>-1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，则 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x,yG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xy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=(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xy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sz="3000" b="1" baseline="30000" dirty="0">
                <a:ea typeface="宋体" panose="02010600030101010101" pitchFamily="2" charset="-122"/>
                <a:sym typeface="Symbol" panose="05050102010706020507" pitchFamily="18" charset="2"/>
              </a:rPr>
              <a:t>-1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=y</a:t>
            </a:r>
            <a:r>
              <a:rPr lang="en-US" altLang="zh-CN" sz="3000" b="1" baseline="30000" dirty="0">
                <a:ea typeface="宋体" panose="02010600030101010101" pitchFamily="2" charset="-122"/>
                <a:sym typeface="Symbol" panose="05050102010706020507" pitchFamily="18" charset="2"/>
              </a:rPr>
              <a:t>-1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3000" b="1" baseline="30000" dirty="0">
                <a:ea typeface="宋体" panose="02010600030101010101" pitchFamily="2" charset="-122"/>
                <a:sym typeface="Symbol" panose="05050102010706020507" pitchFamily="18" charset="2"/>
              </a:rPr>
              <a:t>-1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yx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 , 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与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是非交换群矛盾。</a:t>
            </a:r>
            <a:endParaRPr lang="en-US" altLang="zh-CN" sz="3000" b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          设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aG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a a</a:t>
            </a:r>
            <a:r>
              <a:rPr lang="en-US" altLang="zh-CN" sz="3000" b="1" baseline="30000" dirty="0">
                <a:ea typeface="宋体" panose="02010600030101010101" pitchFamily="2" charset="-122"/>
                <a:sym typeface="Symbol" panose="05050102010706020507" pitchFamily="18" charset="2"/>
              </a:rPr>
              <a:t>-1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. 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令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b=a</a:t>
            </a:r>
            <a:r>
              <a:rPr lang="en-US" altLang="zh-CN" sz="3000" b="1" baseline="30000" dirty="0">
                <a:ea typeface="宋体" panose="02010600030101010101" pitchFamily="2" charset="-122"/>
                <a:sym typeface="Symbol" panose="05050102010706020507" pitchFamily="18" charset="2"/>
              </a:rPr>
              <a:t>-1 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，则有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ab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ae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be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且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ab=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ba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endParaRPr lang="zh-CN" altLang="en-US" sz="3000" b="1" dirty="0">
              <a:ea typeface="宋体" panose="02010600030101010101" pitchFamily="2" charset="-122"/>
            </a:endParaRPr>
          </a:p>
        </p:txBody>
      </p:sp>
      <p:sp>
        <p:nvSpPr>
          <p:cNvPr id="178179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123A320-896E-40CB-8F46-0E2B2188B2D0}" type="slidenum">
              <a:rPr lang="en-US" altLang="ko-KR" sz="1400" smtClean="0"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ko-KR" sz="1400"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内容占位符 2"/>
          <p:cNvSpPr>
            <a:spLocks noGrp="1"/>
          </p:cNvSpPr>
          <p:nvPr>
            <p:ph idx="1"/>
          </p:nvPr>
        </p:nvSpPr>
        <p:spPr>
          <a:xfrm>
            <a:off x="561975" y="692150"/>
            <a:ext cx="8301038" cy="5545138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ea typeface="宋体" panose="02010600030101010101" pitchFamily="2" charset="-122"/>
              </a:rPr>
              <a:t>10</a:t>
            </a:r>
            <a:r>
              <a:rPr lang="zh-CN" altLang="en-US" sz="3000" b="1" dirty="0">
                <a:ea typeface="宋体" panose="02010600030101010101" pitchFamily="2" charset="-122"/>
              </a:rPr>
              <a:t>、</a:t>
            </a:r>
            <a:r>
              <a:rPr lang="zh-CN" altLang="en-US" sz="3200" b="1" dirty="0">
                <a:ea typeface="宋体" panose="02010600030101010101" pitchFamily="2" charset="-122"/>
              </a:rPr>
              <a:t>证明：在偶数元的有限群</a:t>
            </a:r>
            <a:r>
              <a:rPr lang="en-US" altLang="zh-CN" sz="3200" b="1" dirty="0">
                <a:ea typeface="宋体" panose="02010600030101010101" pitchFamily="2" charset="-122"/>
              </a:rPr>
              <a:t>G</a:t>
            </a:r>
            <a:r>
              <a:rPr lang="zh-CN" altLang="en-US" sz="3200" b="1" dirty="0">
                <a:ea typeface="宋体" panose="02010600030101010101" pitchFamily="2" charset="-122"/>
              </a:rPr>
              <a:t>中必存在元素</a:t>
            </a:r>
            <a:r>
              <a:rPr lang="en-US" altLang="zh-CN" sz="3200" b="1" dirty="0" err="1">
                <a:ea typeface="宋体" panose="02010600030101010101" pitchFamily="2" charset="-122"/>
              </a:rPr>
              <a:t>a≠e</a:t>
            </a:r>
            <a:r>
              <a:rPr lang="en-US" altLang="zh-CN" sz="3200" b="1" dirty="0">
                <a:ea typeface="宋体" panose="02010600030101010101" pitchFamily="2" charset="-122"/>
              </a:rPr>
              <a:t> </a:t>
            </a:r>
            <a:r>
              <a:rPr lang="zh-CN" altLang="en-US" sz="3200" b="1" dirty="0">
                <a:ea typeface="宋体" panose="02010600030101010101" pitchFamily="2" charset="-122"/>
              </a:rPr>
              <a:t>使得</a:t>
            </a:r>
            <a:r>
              <a:rPr lang="en-US" altLang="zh-CN" sz="3200" b="1" dirty="0">
                <a:ea typeface="宋体" panose="02010600030101010101" pitchFamily="2" charset="-122"/>
              </a:rPr>
              <a:t>a</a:t>
            </a:r>
            <a:r>
              <a:rPr lang="en-US" altLang="zh-CN" sz="3200" b="1" baseline="30000" dirty="0">
                <a:ea typeface="宋体" panose="02010600030101010101" pitchFamily="2" charset="-122"/>
              </a:rPr>
              <a:t>2</a:t>
            </a:r>
            <a:r>
              <a:rPr lang="en-US" altLang="zh-CN" sz="3200" b="1" dirty="0">
                <a:ea typeface="宋体" panose="02010600030101010101" pitchFamily="2" charset="-122"/>
              </a:rPr>
              <a:t>=e</a:t>
            </a:r>
            <a:r>
              <a:rPr lang="zh-CN" altLang="en-US" sz="3200" b="1" dirty="0">
                <a:ea typeface="宋体" panose="02010600030101010101" pitchFamily="2" charset="-122"/>
              </a:rPr>
              <a:t>，</a:t>
            </a:r>
            <a:r>
              <a:rPr lang="en-US" altLang="zh-CN" sz="3200" b="1" dirty="0">
                <a:ea typeface="宋体" panose="02010600030101010101" pitchFamily="2" charset="-122"/>
              </a:rPr>
              <a:t>(</a:t>
            </a:r>
            <a:r>
              <a:rPr lang="zh-CN" altLang="en-US" sz="3200" b="1" dirty="0">
                <a:ea typeface="宋体" panose="02010600030101010101" pitchFamily="2" charset="-122"/>
              </a:rPr>
              <a:t>其中</a:t>
            </a:r>
            <a:r>
              <a:rPr lang="en-US" altLang="zh-CN" sz="3200" b="1" dirty="0">
                <a:ea typeface="宋体" panose="02010600030101010101" pitchFamily="2" charset="-122"/>
              </a:rPr>
              <a:t>e</a:t>
            </a:r>
            <a:r>
              <a:rPr lang="zh-CN" altLang="en-US" sz="3200" b="1" dirty="0">
                <a:ea typeface="宋体" panose="02010600030101010101" pitchFamily="2" charset="-122"/>
              </a:rPr>
              <a:t>为单位元</a:t>
            </a:r>
            <a:r>
              <a:rPr lang="en-US" altLang="zh-CN" sz="3200" b="1" dirty="0">
                <a:ea typeface="宋体" panose="02010600030101010101" pitchFamily="2" charset="-122"/>
              </a:rPr>
              <a:t>)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证明</a:t>
            </a:r>
            <a:r>
              <a:rPr lang="zh-CN" altLang="en-US" sz="3200" b="1" dirty="0">
                <a:ea typeface="宋体" panose="02010600030101010101" pitchFamily="2" charset="-122"/>
              </a:rPr>
              <a:t>：</a:t>
            </a:r>
            <a:endParaRPr lang="en-US" altLang="zh-CN" sz="3200" b="1" dirty="0"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b="1" dirty="0">
                <a:ea typeface="宋体" panose="02010600030101010101" pitchFamily="2" charset="-122"/>
              </a:rPr>
              <a:t>只需证明</a:t>
            </a:r>
            <a:r>
              <a:rPr lang="en-US" altLang="zh-CN" sz="3200" b="1" dirty="0">
                <a:ea typeface="宋体" panose="02010600030101010101" pitchFamily="2" charset="-122"/>
              </a:rPr>
              <a:t>G</a:t>
            </a:r>
            <a:r>
              <a:rPr lang="zh-CN" altLang="en-US" sz="3200" b="1" dirty="0">
                <a:ea typeface="宋体" panose="02010600030101010101" pitchFamily="2" charset="-122"/>
              </a:rPr>
              <a:t>中必存在元素</a:t>
            </a:r>
            <a:r>
              <a:rPr lang="en-US" altLang="zh-CN" sz="3200" b="1" dirty="0" err="1">
                <a:ea typeface="宋体" panose="02010600030101010101" pitchFamily="2" charset="-122"/>
              </a:rPr>
              <a:t>a≠e</a:t>
            </a:r>
            <a:r>
              <a:rPr lang="en-US" altLang="zh-CN" sz="3200" b="1" dirty="0">
                <a:ea typeface="宋体" panose="02010600030101010101" pitchFamily="2" charset="-122"/>
              </a:rPr>
              <a:t> </a:t>
            </a:r>
            <a:r>
              <a:rPr lang="zh-CN" altLang="en-US" sz="3200" b="1" dirty="0">
                <a:ea typeface="宋体" panose="02010600030101010101" pitchFamily="2" charset="-122"/>
              </a:rPr>
              <a:t>，使得</a:t>
            </a:r>
            <a:r>
              <a:rPr lang="en-US" altLang="zh-CN" sz="3200" b="1" dirty="0">
                <a:ea typeface="宋体" panose="02010600030101010101" pitchFamily="2" charset="-122"/>
              </a:rPr>
              <a:t>a=a</a:t>
            </a:r>
            <a:r>
              <a:rPr lang="en-US" altLang="zh-CN" sz="3200" b="1" baseline="30000" dirty="0">
                <a:ea typeface="宋体" panose="02010600030101010101" pitchFamily="2" charset="-122"/>
              </a:rPr>
              <a:t>-1</a:t>
            </a:r>
          </a:p>
          <a:p>
            <a:pPr marL="85725" indent="-85725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b="1" dirty="0">
                <a:ea typeface="宋体" panose="02010600030101010101" pitchFamily="2" charset="-122"/>
              </a:rPr>
              <a:t>反证法</a:t>
            </a:r>
            <a:r>
              <a:rPr lang="en-US" altLang="zh-CN" sz="3200" b="1" dirty="0">
                <a:ea typeface="宋体" panose="02010600030101010101" pitchFamily="2" charset="-122"/>
              </a:rPr>
              <a:t>:</a:t>
            </a:r>
            <a:r>
              <a:rPr lang="zh-CN" altLang="en-US" sz="3200" b="1" dirty="0">
                <a:ea typeface="宋体" panose="02010600030101010101" pitchFamily="2" charset="-122"/>
              </a:rPr>
              <a:t>假设对</a:t>
            </a:r>
            <a:r>
              <a:rPr lang="en-US" altLang="zh-CN" sz="3200" b="1" dirty="0">
                <a:ea typeface="宋体" panose="02010600030101010101" pitchFamily="2" charset="-122"/>
              </a:rPr>
              <a:t>G</a:t>
            </a:r>
            <a:r>
              <a:rPr lang="zh-CN" altLang="en-US" sz="3200" b="1" dirty="0">
                <a:ea typeface="宋体" panose="02010600030101010101" pitchFamily="2" charset="-122"/>
              </a:rPr>
              <a:t>中所有的元素</a:t>
            </a:r>
            <a:r>
              <a:rPr lang="en-US" altLang="zh-CN" sz="3200" b="1" dirty="0" err="1">
                <a:ea typeface="宋体" panose="02010600030101010101" pitchFamily="2" charset="-122"/>
              </a:rPr>
              <a:t>a≠e</a:t>
            </a:r>
            <a:r>
              <a:rPr lang="zh-CN" altLang="en-US" sz="3200" b="1" dirty="0">
                <a:ea typeface="宋体" panose="02010600030101010101" pitchFamily="2" charset="-122"/>
              </a:rPr>
              <a:t>，都有</a:t>
            </a:r>
            <a:r>
              <a:rPr lang="en-US" altLang="zh-CN" sz="3200" b="1" dirty="0">
                <a:ea typeface="宋体" panose="02010600030101010101" pitchFamily="2" charset="-122"/>
              </a:rPr>
              <a:t>a≠a</a:t>
            </a:r>
            <a:r>
              <a:rPr lang="en-US" altLang="zh-CN" sz="3200" b="1" baseline="30000" dirty="0">
                <a:ea typeface="宋体" panose="02010600030101010101" pitchFamily="2" charset="-122"/>
              </a:rPr>
              <a:t>-1 </a:t>
            </a:r>
            <a:r>
              <a:rPr lang="zh-CN" altLang="en-US" sz="3200" b="1" dirty="0">
                <a:ea typeface="宋体" panose="02010600030101010101" pitchFamily="2" charset="-122"/>
              </a:rPr>
              <a:t>由群中任意元素的逆唯一，知，</a:t>
            </a:r>
            <a:r>
              <a:rPr lang="en-US" altLang="zh-CN" sz="3200" b="1" dirty="0">
                <a:ea typeface="宋体" panose="02010600030101010101" pitchFamily="2" charset="-122"/>
              </a:rPr>
              <a:t>a</a:t>
            </a:r>
            <a:r>
              <a:rPr lang="zh-CN" altLang="en-US" sz="3200" b="1" dirty="0">
                <a:ea typeface="宋体" panose="02010600030101010101" pitchFamily="2" charset="-122"/>
              </a:rPr>
              <a:t>与</a:t>
            </a:r>
            <a:r>
              <a:rPr lang="en-US" altLang="zh-CN" sz="3200" b="1" dirty="0">
                <a:ea typeface="宋体" panose="02010600030101010101" pitchFamily="2" charset="-122"/>
              </a:rPr>
              <a:t>a</a:t>
            </a:r>
            <a:r>
              <a:rPr lang="en-US" altLang="zh-CN" sz="3200" b="1" baseline="30000" dirty="0">
                <a:ea typeface="宋体" panose="02010600030101010101" pitchFamily="2" charset="-122"/>
              </a:rPr>
              <a:t>-1</a:t>
            </a:r>
            <a:r>
              <a:rPr lang="zh-CN" altLang="en-US" sz="3200" b="1" dirty="0">
                <a:ea typeface="宋体" panose="02010600030101010101" pitchFamily="2" charset="-122"/>
              </a:rPr>
              <a:t>必在群中成对出现，其总的个数为偶数。而</a:t>
            </a:r>
            <a:r>
              <a:rPr lang="en-US" altLang="zh-CN" sz="3200" b="1" dirty="0">
                <a:ea typeface="宋体" panose="02010600030101010101" pitchFamily="2" charset="-122"/>
              </a:rPr>
              <a:t>e=e</a:t>
            </a:r>
            <a:r>
              <a:rPr lang="en-US" altLang="zh-CN" sz="3200" b="1" baseline="30000" dirty="0">
                <a:ea typeface="宋体" panose="02010600030101010101" pitchFamily="2" charset="-122"/>
              </a:rPr>
              <a:t>-1</a:t>
            </a:r>
            <a:r>
              <a:rPr lang="zh-CN" altLang="en-US" sz="3200" b="1" dirty="0">
                <a:ea typeface="宋体" panose="02010600030101010101" pitchFamily="2" charset="-122"/>
              </a:rPr>
              <a:t>，因此加上</a:t>
            </a:r>
            <a:r>
              <a:rPr lang="en-US" altLang="zh-CN" sz="3200" b="1" dirty="0">
                <a:ea typeface="宋体" panose="02010600030101010101" pitchFamily="2" charset="-122"/>
              </a:rPr>
              <a:t>e</a:t>
            </a:r>
            <a:r>
              <a:rPr lang="zh-CN" altLang="en-US" sz="3200" b="1" dirty="0">
                <a:ea typeface="宋体" panose="02010600030101010101" pitchFamily="2" charset="-122"/>
              </a:rPr>
              <a:t>，群</a:t>
            </a:r>
            <a:r>
              <a:rPr lang="en-US" altLang="zh-CN" sz="3200" b="1" dirty="0">
                <a:ea typeface="宋体" panose="02010600030101010101" pitchFamily="2" charset="-122"/>
              </a:rPr>
              <a:t>G</a:t>
            </a:r>
            <a:r>
              <a:rPr lang="zh-CN" altLang="en-US" sz="3200" b="1" dirty="0">
                <a:ea typeface="宋体" panose="02010600030101010101" pitchFamily="2" charset="-122"/>
              </a:rPr>
              <a:t>的元数为奇数，与偶数元群的前提矛盾。</a:t>
            </a:r>
            <a:endParaRPr lang="en-US" altLang="zh-CN" sz="3200" b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7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7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27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27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692696"/>
            <a:ext cx="8858250" cy="5356225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3000" b="1" dirty="0">
                <a:ea typeface="宋体" panose="02010600030101010101" pitchFamily="2" charset="-122"/>
              </a:rPr>
              <a:t>11</a:t>
            </a:r>
            <a:r>
              <a:rPr lang="zh-CN" altLang="en-US" sz="3000" b="1" dirty="0">
                <a:ea typeface="宋体" panose="02010600030101010101" pitchFamily="2" charset="-122"/>
              </a:rPr>
              <a:t>、设</a:t>
            </a:r>
            <a:r>
              <a:rPr lang="en-US" altLang="zh-CN" sz="3000" b="1" dirty="0">
                <a:ea typeface="宋体" panose="02010600030101010101" pitchFamily="2" charset="-122"/>
              </a:rPr>
              <a:t>(A,*)</a:t>
            </a:r>
            <a:r>
              <a:rPr lang="zh-CN" altLang="en-US" sz="3000" b="1" dirty="0">
                <a:ea typeface="宋体" panose="02010600030101010101" pitchFamily="2" charset="-122"/>
              </a:rPr>
              <a:t>是一个群，对每一个元素</a:t>
            </a:r>
            <a:r>
              <a:rPr lang="en-US" altLang="zh-CN" sz="3000" b="1" dirty="0" err="1">
                <a:ea typeface="宋体" panose="02010600030101010101" pitchFamily="2" charset="-122"/>
              </a:rPr>
              <a:t>a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A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，做映射   </a:t>
            </a:r>
            <a:r>
              <a:rPr lang="en-US" altLang="zh-CN" sz="3000" b="1" baseline="-25000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(x)=a*x ,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xA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。设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G={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sz="3000" b="1" baseline="-25000" dirty="0" err="1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|</a:t>
            </a:r>
            <a:r>
              <a:rPr lang="en-US" altLang="zh-CN" sz="3000" b="1" dirty="0" err="1">
                <a:ea typeface="宋体" panose="02010600030101010101" pitchFamily="2" charset="-122"/>
              </a:rPr>
              <a:t>a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A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},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证明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关于映射的乘法构成一个群。</a:t>
            </a:r>
            <a:endParaRPr lang="en-US" altLang="zh-CN" sz="3000" b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3000" b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证明：</a:t>
            </a:r>
            <a:endParaRPr lang="en-US" altLang="zh-CN" sz="3000" b="1" dirty="0">
              <a:solidFill>
                <a:srgbClr val="0000FF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1)G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非空，至少</a:t>
            </a:r>
            <a:r>
              <a:rPr lang="en-US" altLang="zh-CN" sz="3000" b="1" baseline="-25000" dirty="0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(x)=e*x=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xG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(e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是群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的单位元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2)</a:t>
            </a:r>
            <a:r>
              <a:rPr lang="zh-CN" altLang="en-US" sz="2800" b="1" dirty="0">
                <a:ea typeface="宋体" panose="02010600030101010101" pitchFamily="2" charset="-122"/>
                <a:sym typeface="Symbol" panose="05050102010706020507" pitchFamily="18" charset="2"/>
              </a:rPr>
              <a:t>任取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sz="3000" b="1" baseline="-25000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sz="3000" b="1" baseline="-25000" dirty="0" err="1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800" b="1" dirty="0" err="1"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zh-CN" altLang="en-US" sz="2800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sz="3000" b="1" baseline="-25000" dirty="0">
                <a:ea typeface="宋体" panose="02010600030101010101" pitchFamily="2" charset="-122"/>
                <a:sym typeface="Symbol" panose="05050102010706020507" pitchFamily="18" charset="2"/>
              </a:rPr>
              <a:t>a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sz="3000" b="1" baseline="-25000" dirty="0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(x)=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sz="3000" b="1" baseline="-25000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(b*x)=(a*b)*x=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sz="3000" b="1" baseline="-25000" dirty="0">
                <a:ea typeface="宋体" panose="02010600030101010101" pitchFamily="2" charset="-122"/>
                <a:sym typeface="Symbol" panose="05050102010706020507" pitchFamily="18" charset="2"/>
              </a:rPr>
              <a:t>a*b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(x)</a:t>
            </a:r>
            <a:r>
              <a:rPr lang="en-US" altLang="zh-CN" sz="2600" b="1" dirty="0"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3)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映射乘法满足结合律</a:t>
            </a:r>
            <a:endParaRPr lang="en-US" altLang="zh-CN" sz="3000" b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4)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存在</a:t>
            </a:r>
            <a:r>
              <a:rPr lang="en-US" altLang="zh-CN" sz="3000" b="1" baseline="-25000" dirty="0" err="1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G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，对于任意</a:t>
            </a:r>
            <a:r>
              <a:rPr lang="en-US" altLang="zh-CN" sz="3000" b="1" baseline="-25000" dirty="0" err="1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G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，</a:t>
            </a:r>
            <a:r>
              <a:rPr lang="en-US" altLang="zh-CN" sz="3000" b="1" baseline="-25000" dirty="0">
                <a:ea typeface="宋体" panose="02010600030101010101" pitchFamily="2" charset="-122"/>
                <a:sym typeface="Symbol" panose="05050102010706020507" pitchFamily="18" charset="2"/>
              </a:rPr>
              <a:t>e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sz="3000" b="1" baseline="-25000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sz="3000" b="1" baseline="-25000" dirty="0">
                <a:ea typeface="宋体" panose="02010600030101010101" pitchFamily="2" charset="-122"/>
                <a:sym typeface="Symbol" panose="05050102010706020507" pitchFamily="18" charset="2"/>
              </a:rPr>
              <a:t>e*a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sz="3000" b="1" baseline="-25000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5)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对任意</a:t>
            </a:r>
            <a:r>
              <a:rPr lang="en-US" altLang="zh-CN" sz="3000" b="1" baseline="-25000" dirty="0" err="1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3000" b="1" dirty="0" err="1">
                <a:ea typeface="宋体" panose="02010600030101010101" pitchFamily="2" charset="-122"/>
                <a:sym typeface="Symbol" panose="05050102010706020507" pitchFamily="18" charset="2"/>
              </a:rPr>
              <a:t>G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存在</a:t>
            </a:r>
            <a:r>
              <a:rPr lang="en-US" altLang="zh-CN" sz="3000" b="1" baseline="-25000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3000" b="1" baseline="30000" dirty="0">
                <a:ea typeface="宋体" panose="02010600030101010101" pitchFamily="2" charset="-122"/>
                <a:sym typeface="Symbol" panose="05050102010706020507" pitchFamily="18" charset="2"/>
              </a:rPr>
              <a:t>-1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G, 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满足</a:t>
            </a:r>
            <a:r>
              <a:rPr lang="en-US" altLang="zh-CN" sz="3000" b="1" baseline="-25000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3000" b="1" baseline="30000" dirty="0">
                <a:ea typeface="宋体" panose="02010600030101010101" pitchFamily="2" charset="-122"/>
                <a:sym typeface="Symbol" panose="05050102010706020507" pitchFamily="18" charset="2"/>
              </a:rPr>
              <a:t>-1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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sz="3000" b="1" baseline="-25000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sz="3000" b="1" baseline="-25000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3000" b="1" baseline="30000" dirty="0">
                <a:ea typeface="宋体" panose="02010600030101010101" pitchFamily="2" charset="-122"/>
                <a:sym typeface="Symbol" panose="05050102010706020507" pitchFamily="18" charset="2"/>
              </a:rPr>
              <a:t>-1</a:t>
            </a:r>
            <a:r>
              <a:rPr lang="zh-CN" altLang="en-US" sz="3000" b="1" baseline="-25000" dirty="0"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 sz="3000" b="1" baseline="-25000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lang="zh-CN" altLang="en-US" sz="3000" b="1" dirty="0">
                <a:ea typeface="宋体" panose="0201060003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sz="3000" b="1" baseline="-25000" dirty="0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endParaRPr lang="zh-CN" altLang="en-US" sz="3000" b="1" baseline="-25000" dirty="0">
              <a:ea typeface="宋体" panose="02010600030101010101" pitchFamily="2" charset="-122"/>
            </a:endParaRPr>
          </a:p>
        </p:txBody>
      </p:sp>
      <p:sp>
        <p:nvSpPr>
          <p:cNvPr id="17920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ED23D98-8FA2-4532-B883-E9CF742B367B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en-US" altLang="ko-KR" sz="140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3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1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2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2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anose="0201060903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anose="02010609030101010101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C:\coolpt\TempSlide\B075.POT</Template>
  <TotalTime>13310</TotalTime>
  <Words>1983</Words>
  <Application>Microsoft Office PowerPoint</Application>
  <PresentationFormat>全屏显示(4:3)</PresentationFormat>
  <Paragraphs>191</Paragraphs>
  <Slides>20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6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9" baseType="lpstr">
      <vt:lpstr>Times New Roman</vt:lpstr>
      <vt:lpstr>-윤명조140</vt:lpstr>
      <vt:lpstr>楷体_GB2312</vt:lpstr>
      <vt:lpstr>黑体</vt:lpstr>
      <vt:lpstr>Symbol</vt:lpstr>
      <vt:lpstr>华文中宋</vt:lpstr>
      <vt:lpstr>宋体</vt:lpstr>
      <vt:lpstr>Malgun Gothic</vt:lpstr>
      <vt:lpstr>Arial</vt:lpstr>
      <vt:lpstr>楷体</vt:lpstr>
      <vt:lpstr>Wingdings</vt:lpstr>
      <vt:lpstr>Calibri</vt:lpstr>
      <vt:lpstr>B075</vt:lpstr>
      <vt:lpstr>3_B075</vt:lpstr>
      <vt:lpstr>11_B075</vt:lpstr>
      <vt:lpstr>12_B075</vt:lpstr>
      <vt:lpstr>2_B075</vt:lpstr>
      <vt:lpstr>1_B075</vt:lpstr>
      <vt:lpstr>公式</vt:lpstr>
      <vt:lpstr>习题6.2-1</vt:lpstr>
      <vt:lpstr>PowerPoint 演示文稿</vt:lpstr>
      <vt:lpstr>习题6.2-1</vt:lpstr>
      <vt:lpstr>PowerPoint 演示文稿</vt:lpstr>
      <vt:lpstr>习题6.2--3</vt:lpstr>
      <vt:lpstr>习题6.2--3</vt:lpstr>
      <vt:lpstr>PowerPoint 演示文稿</vt:lpstr>
      <vt:lpstr>PowerPoint 演示文稿</vt:lpstr>
      <vt:lpstr>PowerPoint 演示文稿</vt:lpstr>
      <vt:lpstr>习题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정윤주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정윤주</dc:creator>
  <cp:lastModifiedBy>Windows 用户</cp:lastModifiedBy>
  <cp:revision>910</cp:revision>
  <dcterms:created xsi:type="dcterms:W3CDTF">2001-07-18T23:57:34Z</dcterms:created>
  <dcterms:modified xsi:type="dcterms:W3CDTF">2025-09-21T04:30:41Z</dcterms:modified>
</cp:coreProperties>
</file>