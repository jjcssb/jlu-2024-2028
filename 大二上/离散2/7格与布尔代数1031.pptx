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52" r:id="rId1"/>
    <p:sldMasterId id="2147487832" r:id="rId2"/>
    <p:sldMasterId id="2147487846" r:id="rId3"/>
    <p:sldMasterId id="2147491365" r:id="rId4"/>
    <p:sldMasterId id="2147491391" r:id="rId5"/>
    <p:sldMasterId id="2147491465" r:id="rId6"/>
  </p:sldMasterIdLst>
  <p:notesMasterIdLst>
    <p:notesMasterId r:id="rId89"/>
  </p:notesMasterIdLst>
  <p:handoutMasterIdLst>
    <p:handoutMasterId r:id="rId90"/>
  </p:handoutMasterIdLst>
  <p:sldIdLst>
    <p:sldId id="403" r:id="rId7"/>
    <p:sldId id="724" r:id="rId8"/>
    <p:sldId id="725" r:id="rId9"/>
    <p:sldId id="863" r:id="rId10"/>
    <p:sldId id="864" r:id="rId11"/>
    <p:sldId id="406" r:id="rId12"/>
    <p:sldId id="407" r:id="rId13"/>
    <p:sldId id="408" r:id="rId14"/>
    <p:sldId id="874" r:id="rId15"/>
    <p:sldId id="696" r:id="rId16"/>
    <p:sldId id="789" r:id="rId17"/>
    <p:sldId id="409" r:id="rId18"/>
    <p:sldId id="795" r:id="rId19"/>
    <p:sldId id="411" r:id="rId20"/>
    <p:sldId id="412" r:id="rId21"/>
    <p:sldId id="421" r:id="rId22"/>
    <p:sldId id="413" r:id="rId23"/>
    <p:sldId id="796" r:id="rId24"/>
    <p:sldId id="699" r:id="rId25"/>
    <p:sldId id="791" r:id="rId26"/>
    <p:sldId id="790" r:id="rId27"/>
    <p:sldId id="418" r:id="rId28"/>
    <p:sldId id="419" r:id="rId29"/>
    <p:sldId id="420" r:id="rId30"/>
    <p:sldId id="942" r:id="rId31"/>
    <p:sldId id="546" r:id="rId32"/>
    <p:sldId id="547" r:id="rId33"/>
    <p:sldId id="548" r:id="rId34"/>
    <p:sldId id="549" r:id="rId35"/>
    <p:sldId id="550" r:id="rId36"/>
    <p:sldId id="792" r:id="rId37"/>
    <p:sldId id="552" r:id="rId38"/>
    <p:sldId id="553" r:id="rId39"/>
    <p:sldId id="554" r:id="rId40"/>
    <p:sldId id="737" r:id="rId41"/>
    <p:sldId id="556" r:id="rId42"/>
    <p:sldId id="557" r:id="rId43"/>
    <p:sldId id="558" r:id="rId44"/>
    <p:sldId id="866" r:id="rId45"/>
    <p:sldId id="793" r:id="rId46"/>
    <p:sldId id="562" r:id="rId47"/>
    <p:sldId id="563" r:id="rId48"/>
    <p:sldId id="726" r:id="rId49"/>
    <p:sldId id="727" r:id="rId50"/>
    <p:sldId id="949" r:id="rId51"/>
    <p:sldId id="576" r:id="rId52"/>
    <p:sldId id="577" r:id="rId53"/>
    <p:sldId id="578" r:id="rId54"/>
    <p:sldId id="579" r:id="rId55"/>
    <p:sldId id="580" r:id="rId56"/>
    <p:sldId id="619" r:id="rId57"/>
    <p:sldId id="581" r:id="rId58"/>
    <p:sldId id="617" r:id="rId59"/>
    <p:sldId id="582" r:id="rId60"/>
    <p:sldId id="583" r:id="rId61"/>
    <p:sldId id="584" r:id="rId62"/>
    <p:sldId id="586" r:id="rId63"/>
    <p:sldId id="938" r:id="rId64"/>
    <p:sldId id="585" r:id="rId65"/>
    <p:sldId id="587" r:id="rId66"/>
    <p:sldId id="588" r:id="rId67"/>
    <p:sldId id="589" r:id="rId68"/>
    <p:sldId id="939" r:id="rId69"/>
    <p:sldId id="940" r:id="rId70"/>
    <p:sldId id="941" r:id="rId71"/>
    <p:sldId id="959" r:id="rId72"/>
    <p:sldId id="833" r:id="rId73"/>
    <p:sldId id="834" r:id="rId74"/>
    <p:sldId id="835" r:id="rId75"/>
    <p:sldId id="836" r:id="rId76"/>
    <p:sldId id="837" r:id="rId77"/>
    <p:sldId id="838" r:id="rId78"/>
    <p:sldId id="948" r:id="rId79"/>
    <p:sldId id="839" r:id="rId80"/>
    <p:sldId id="840" r:id="rId81"/>
    <p:sldId id="889" r:id="rId82"/>
    <p:sldId id="960" r:id="rId83"/>
    <p:sldId id="961" r:id="rId84"/>
    <p:sldId id="841" r:id="rId85"/>
    <p:sldId id="842" r:id="rId86"/>
    <p:sldId id="843" r:id="rId87"/>
    <p:sldId id="844" r:id="rId88"/>
  </p:sldIdLst>
  <p:sldSz cx="9144000" cy="6858000" type="screen4x3"/>
  <p:notesSz cx="6858000" cy="9144000"/>
  <p:embeddedFontLst>
    <p:embeddedFont>
      <p:font typeface="华文楷体" panose="02010600040101010101" pitchFamily="2" charset="-122"/>
      <p:regular r:id="rId91"/>
    </p:embeddedFont>
    <p:embeddedFont>
      <p:font typeface="楷体_GB2312" panose="02010600030101010101" charset="-122"/>
      <p:regular r:id="rId92"/>
      <p:bold r:id="rId93"/>
      <p:italic r:id="rId94"/>
      <p:boldItalic r:id="rId95"/>
    </p:embeddedFont>
    <p:embeddedFont>
      <p:font typeface="华文中宋" panose="02010600040101010101" pitchFamily="2" charset="-122"/>
      <p:regular r:id="rId96"/>
    </p:embeddedFont>
    <p:embeddedFont>
      <p:font typeface="Malgun Gothic" panose="020B0503020000020004" pitchFamily="34" charset="-127"/>
      <p:regular r:id="rId97"/>
      <p:bold r:id="rId98"/>
    </p:embeddedFont>
    <p:embeddedFont>
      <p:font typeface="-윤명조140" panose="020B0604020202020204" charset="-127"/>
      <p:regular r:id="rId99"/>
    </p:embeddedFont>
    <p:embeddedFont>
      <p:font typeface="楷体" panose="02010609060101010101" pitchFamily="49" charset="-122"/>
      <p:regular r:id="rId100"/>
    </p:embeddedFont>
    <p:embeddedFont>
      <p:font typeface="微软雅黑" panose="020B0503020204020204" pitchFamily="34" charset="-122"/>
      <p:regular r:id="rId101"/>
      <p:bold r:id="rId102"/>
    </p:embeddedFont>
    <p:embeddedFont>
      <p:font typeface="Calibri" panose="020F0502020204030204" pitchFamily="34" charset="0"/>
      <p:regular r:id="rId103"/>
      <p:bold r:id="rId104"/>
      <p:italic r:id="rId105"/>
      <p:boldItalic r:id="rId106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8FDCB"/>
    <a:srgbClr val="000099"/>
    <a:srgbClr val="000000"/>
    <a:srgbClr val="FF9900"/>
    <a:srgbClr val="FFFFFF"/>
    <a:srgbClr val="C9FFF1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2931" autoAdjust="0"/>
  </p:normalViewPr>
  <p:slideViewPr>
    <p:cSldViewPr>
      <p:cViewPr varScale="1">
        <p:scale>
          <a:sx n="91" d="100"/>
          <a:sy n="91" d="100"/>
        </p:scale>
        <p:origin x="91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6" y="117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0.xml"/><Relationship Id="rId107" Type="http://schemas.openxmlformats.org/officeDocument/2006/relationships/presProps" Target="presProps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openxmlformats.org/officeDocument/2006/relationships/font" Target="fonts/font12.fntdata"/><Relationship Id="rId5" Type="http://schemas.openxmlformats.org/officeDocument/2006/relationships/slideMaster" Target="slideMasters/slideMaster5.xml"/><Relationship Id="rId90" Type="http://schemas.openxmlformats.org/officeDocument/2006/relationships/handoutMaster" Target="handoutMasters/handoutMaster1.xml"/><Relationship Id="rId95" Type="http://schemas.openxmlformats.org/officeDocument/2006/relationships/font" Target="fonts/font5.fntdata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font" Target="fonts/font13.fntdata"/><Relationship Id="rId108" Type="http://schemas.openxmlformats.org/officeDocument/2006/relationships/viewProps" Target="viewProps.xml"/><Relationship Id="rId54" Type="http://schemas.openxmlformats.org/officeDocument/2006/relationships/slide" Target="slides/slide48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91" Type="http://schemas.openxmlformats.org/officeDocument/2006/relationships/font" Target="fonts/font1.fntdata"/><Relationship Id="rId9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6" Type="http://schemas.openxmlformats.org/officeDocument/2006/relationships/font" Target="fonts/font16.fntdata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font" Target="fonts/font4.fntdata"/><Relationship Id="rId99" Type="http://schemas.openxmlformats.org/officeDocument/2006/relationships/font" Target="fonts/font9.fntdata"/><Relationship Id="rId101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theme" Target="theme/theme1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font" Target="fonts/font7.fntdata"/><Relationship Id="rId104" Type="http://schemas.openxmlformats.org/officeDocument/2006/relationships/font" Target="fonts/font14.fntdata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tableStyles" Target="tableStyles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font" Target="fonts/font10.fntdata"/><Relationship Id="rId105" Type="http://schemas.openxmlformats.org/officeDocument/2006/relationships/font" Target="fonts/font15.fntdata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font" Target="fonts/font3.fntdata"/><Relationship Id="rId98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="" xmlns:a16="http://schemas.microsoft.com/office/drawing/2014/main" id="{A2B536E4-6C94-4F44-8F9E-2AB88D2C60C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1" hangingPunct="0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="" xmlns:a16="http://schemas.microsoft.com/office/drawing/2014/main" id="{95562E8B-89F8-444E-B2DA-BB0F573C3F4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1" hangingPunct="0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2256EB0B-F329-46F1-A87C-08A1F9B8AEE6}" type="datetimeFigureOut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  <p:sp>
        <p:nvSpPr>
          <p:cNvPr id="84996" name="Rectangle 4">
            <a:extLst>
              <a:ext uri="{FF2B5EF4-FFF2-40B4-BE49-F238E27FC236}">
                <a16:creationId xmlns="" xmlns:a16="http://schemas.microsoft.com/office/drawing/2014/main" id="{63C1B967-2EAF-4C01-A6F4-945C2551E7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1" hangingPunct="0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7" name="Rectangle 5">
            <a:extLst>
              <a:ext uri="{FF2B5EF4-FFF2-40B4-BE49-F238E27FC236}">
                <a16:creationId xmlns="" xmlns:a16="http://schemas.microsoft.com/office/drawing/2014/main" id="{D3025C91-6AB4-408E-A2CD-F961344C6DA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1">
              <a:defRPr sz="1200" smtClean="0"/>
            </a:lvl1pPr>
          </a:lstStyle>
          <a:p>
            <a:pPr>
              <a:defRPr/>
            </a:pPr>
            <a:fld id="{8348391B-39D8-49E3-A38C-10C413141B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2624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="" xmlns:a16="http://schemas.microsoft.com/office/drawing/2014/main" id="{FA2C5F23-84CF-4D6B-AFD9-F2733946B4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latin typeface="Times New Roman" pitchFamily="18" charset="0"/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681EAD2C-F682-4E80-AA44-FAB40BF4CDB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latin typeface="Times New Roman" pitchFamily="18" charset="0"/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BA9FCE93-C49B-44E1-AFA9-ACA7B939566F}" type="datetimeFigureOut">
              <a:rPr lang="zh-CN" altLang="en-US"/>
              <a:pPr>
                <a:defRPr/>
              </a:pPr>
              <a:t>2025/10/31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="" xmlns:a16="http://schemas.microsoft.com/office/drawing/2014/main" id="{BDE6FDF7-2C92-4982-877A-F84D69750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="" xmlns:a16="http://schemas.microsoft.com/office/drawing/2014/main" id="{BE514968-5BFB-42BC-9691-1BFE2F66D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4B6F8195-2FCB-4661-8AB1-9A9E16C096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latin typeface="Times New Roman" pitchFamily="18" charset="0"/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4691616A-F101-4DEB-9285-8E771B22F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EC5F57C8-B77E-4A42-92CE-C626494F57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9058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="" xmlns:a16="http://schemas.microsoft.com/office/drawing/2014/main" id="{BFE722E9-D395-41C0-BAA9-A083D12085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="" xmlns:a16="http://schemas.microsoft.com/office/drawing/2014/main" id="{4D2C1966-6C57-4892-8105-28BC799383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5060" name="灯片编号占位符 3">
            <a:extLst>
              <a:ext uri="{FF2B5EF4-FFF2-40B4-BE49-F238E27FC236}">
                <a16:creationId xmlns="" xmlns:a16="http://schemas.microsoft.com/office/drawing/2014/main" id="{AF9CD004-778C-40C3-9CBD-3D66FDE88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4F7CA686-8417-45BB-8C13-2A50FE2FE6B5}" type="slidenum">
              <a:rPr lang="zh-CN" altLang="en-US" sz="1200"/>
              <a:pPr/>
              <a:t>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172942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="" xmlns:a16="http://schemas.microsoft.com/office/drawing/2014/main" id="{CBF55CCE-B94F-4D15-8277-484E653047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备注占位符 2">
            <a:extLst>
              <a:ext uri="{FF2B5EF4-FFF2-40B4-BE49-F238E27FC236}">
                <a16:creationId xmlns="" xmlns:a16="http://schemas.microsoft.com/office/drawing/2014/main" id="{7790D1F2-C31D-4698-B187-2B86AF66FB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1204" name="灯片编号占位符 3">
            <a:extLst>
              <a:ext uri="{FF2B5EF4-FFF2-40B4-BE49-F238E27FC236}">
                <a16:creationId xmlns="" xmlns:a16="http://schemas.microsoft.com/office/drawing/2014/main" id="{532C51FA-5327-4D4D-94FE-16B187530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DB2D84CD-08EF-42C7-B875-4B79BEFD54A4}" type="slidenum">
              <a:rPr lang="zh-CN" altLang="en-US" sz="1200">
                <a:solidFill>
                  <a:srgbClr val="000000"/>
                </a:solidFill>
              </a:rPr>
              <a:pPr/>
              <a:t>11</a:t>
            </a:fld>
            <a:endParaRPr lang="zh-CN" altLang="en-US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392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>
            <a:extLst>
              <a:ext uri="{FF2B5EF4-FFF2-40B4-BE49-F238E27FC236}">
                <a16:creationId xmlns="" xmlns:a16="http://schemas.microsoft.com/office/drawing/2014/main" id="{648B6C14-1480-4D33-9706-89000BF668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备注占位符 2">
            <a:extLst>
              <a:ext uri="{FF2B5EF4-FFF2-40B4-BE49-F238E27FC236}">
                <a16:creationId xmlns="" xmlns:a16="http://schemas.microsoft.com/office/drawing/2014/main" id="{385C9518-C159-45F0-A8FE-B6E383C37B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3252" name="灯片编号占位符 3">
            <a:extLst>
              <a:ext uri="{FF2B5EF4-FFF2-40B4-BE49-F238E27FC236}">
                <a16:creationId xmlns="" xmlns:a16="http://schemas.microsoft.com/office/drawing/2014/main" id="{3683E3B5-C3BF-47D2-8077-5D37EAD6C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CC25B91C-73F6-468E-885D-B32807F4EC56}" type="slidenum">
              <a:rPr lang="zh-CN" altLang="en-US" sz="1200"/>
              <a:pPr/>
              <a:t>12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265889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="" xmlns:a16="http://schemas.microsoft.com/office/drawing/2014/main" id="{26795F99-277F-451D-ACE0-CBE57A70E6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备注占位符 2">
            <a:extLst>
              <a:ext uri="{FF2B5EF4-FFF2-40B4-BE49-F238E27FC236}">
                <a16:creationId xmlns="" xmlns:a16="http://schemas.microsoft.com/office/drawing/2014/main" id="{08097E6A-4B21-402E-B0C0-C5D1EDBEA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6" name="灯片编号占位符 3">
            <a:extLst>
              <a:ext uri="{FF2B5EF4-FFF2-40B4-BE49-F238E27FC236}">
                <a16:creationId xmlns="" xmlns:a16="http://schemas.microsoft.com/office/drawing/2014/main" id="{923A28DE-66A5-40B1-B116-55785ED0F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0F55505A-B001-475E-A20E-A76A937C6AB8}" type="slidenum">
              <a:rPr lang="zh-CN" altLang="en-US" sz="1200"/>
              <a:pPr/>
              <a:t>22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043475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>
            <a:extLst>
              <a:ext uri="{FF2B5EF4-FFF2-40B4-BE49-F238E27FC236}">
                <a16:creationId xmlns="" xmlns:a16="http://schemas.microsoft.com/office/drawing/2014/main" id="{7DE29731-AA32-42B2-8421-201C2302C9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备注占位符 2">
            <a:extLst>
              <a:ext uri="{FF2B5EF4-FFF2-40B4-BE49-F238E27FC236}">
                <a16:creationId xmlns="" xmlns:a16="http://schemas.microsoft.com/office/drawing/2014/main" id="{252B68E9-E73F-44AA-A13D-96CB4173E4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3732" name="灯片编号占位符 3">
            <a:extLst>
              <a:ext uri="{FF2B5EF4-FFF2-40B4-BE49-F238E27FC236}">
                <a16:creationId xmlns="" xmlns:a16="http://schemas.microsoft.com/office/drawing/2014/main" id="{3DEBC954-08B8-4BD3-BC62-3522E13F3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445CEAE5-AA87-442C-AE92-3970C76CAB33}" type="slidenum">
              <a:rPr lang="zh-CN" altLang="en-US" sz="1200"/>
              <a:pPr/>
              <a:t>31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029751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5F57C8-B77E-4A42-92CE-C626494F5797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487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>
            <a:extLst>
              <a:ext uri="{FF2B5EF4-FFF2-40B4-BE49-F238E27FC236}">
                <a16:creationId xmlns="" xmlns:a16="http://schemas.microsoft.com/office/drawing/2014/main" id="{C260018B-DFFC-495E-A610-9010A12A52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备注占位符 2">
            <a:extLst>
              <a:ext uri="{FF2B5EF4-FFF2-40B4-BE49-F238E27FC236}">
                <a16:creationId xmlns="" xmlns:a16="http://schemas.microsoft.com/office/drawing/2014/main" id="{10ADB64D-E2E7-4F33-B347-7A1EE448A2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8308" name="灯片编号占位符 3">
            <a:extLst>
              <a:ext uri="{FF2B5EF4-FFF2-40B4-BE49-F238E27FC236}">
                <a16:creationId xmlns="" xmlns:a16="http://schemas.microsoft.com/office/drawing/2014/main" id="{63E460D6-B214-43F2-88D8-215DC50EC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A0ADBBF8-041C-4E68-BEB4-02E1C5C5B71A}" type="slidenum">
              <a:rPr lang="zh-CN" altLang="en-US" sz="1200"/>
              <a:pPr/>
              <a:t>55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511231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="" xmlns:a16="http://schemas.microsoft.com/office/drawing/2014/main" id="{BAEC09D2-CFF8-475F-93BF-8D33A86D10BE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="" xmlns:a16="http://schemas.microsoft.com/office/drawing/2014/main" id="{911E047A-773C-4AD4-AD79-DCCDC63B0C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>
            <a:extLst>
              <a:ext uri="{FF2B5EF4-FFF2-40B4-BE49-F238E27FC236}">
                <a16:creationId xmlns="" xmlns:a16="http://schemas.microsoft.com/office/drawing/2014/main" id="{77C6E50C-82B1-4AE4-B4A9-288452CD9B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A7C749D0-E48F-4F40-991A-6B1C8E9328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3AB1E9D7-1C99-4F0E-BF98-DA16B22EC7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FC3927E4-AAE0-475C-8524-24A140621D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877DD0F-E600-43C4-A456-DCF1687C2B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903546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FB4782EB-DA4D-4627-B514-ED18F94E52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9712FEDB-690B-437F-A9F6-3C58E6099D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11718E0E-967C-4EC9-B3FB-0AF4C4080A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87CF0-E7D3-40B0-A5EB-1663BFE233F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6197703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5551C950-101A-418A-BD34-2F818A85EE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A8EF4627-FB1A-416B-8602-2322193CDB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A78FB6B2-B1B1-41A3-8AA4-1625B8E07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DD97B-1F49-4856-AFA3-5D8C1160F4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9848731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FB7F7686-B5BE-4BF2-8ED5-C6022DD91A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082535BD-D818-470D-B813-DC9BBC850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A9C398E7-090C-478A-9C9D-1DFDEAC25D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D8DFFD-750D-414B-BD24-FE1C30612C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38740268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BECBDA60-E39F-491D-A5D4-46E1DC0D2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D50002D2-2E38-4513-A7C3-2590057F73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0DD49E72-0761-4C30-94AF-AE330C2926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7A0CF-EB73-44B9-92B9-02D51413AA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3267132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7D5DC9DF-B76D-4E94-BED0-0F5E71543A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80FD13EE-E9C5-48E2-834C-0CD9579358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447ADD68-2951-4DA8-9671-E9A2F20B2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47678-89FD-41E3-9215-2DAD81BE108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7663183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="" xmlns:a16="http://schemas.microsoft.com/office/drawing/2014/main" id="{BA1014A7-4EA3-4EE9-9BC6-930876B773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="" xmlns:a16="http://schemas.microsoft.com/office/drawing/2014/main" id="{19683814-14EB-494F-84A9-FAAE394EA4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AB1FF674-57D9-49AC-8FDC-E639BB0FEA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A2345-C10C-49D8-B838-EDF7B4FC12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5475375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C3A83F68-0922-4E28-B150-8DE2709851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0A5258AA-6A8D-4A07-BA59-DAA6E30349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B3B5743B-6FFE-4CEC-8577-F3AAA6CFAA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5A5C3-2D47-4B4C-BFEF-E499899028B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9667002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2686E551-8AFB-430C-9091-6A2DBC460A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85E218FE-96FF-4A01-AE69-040B920851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897426B9-F5E6-4D73-BB79-3BBC64B81C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520886-687D-4B2A-97B4-D9F3406DC90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3141322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5C266911-9BA4-4F51-8EB8-398B569C9D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8D263136-A39A-467F-9DD1-973644B7B5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4124929E-7B8F-4746-91A0-DFC059254D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51E86-5166-4471-89F9-D79FA3BE0AA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34535496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98F1A9AD-BD34-4EDB-8C05-C82EFB92F5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876AE4B8-4E08-4123-88E8-1E2724A58D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C8789AF8-AC7C-4236-B92E-0895AFE21E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38B4CC-B2A8-4D81-A22B-9CA2BE6F12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8016370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3768822E-F57C-445D-B2AE-4F1906C48E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1CB3D795-6E1E-42BA-A550-B235D58305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DEBF8C61-F775-4DDD-A880-D9E19130B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35801-E84C-45E7-A480-906FA729E84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397738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68C50CDE-509C-40BC-ABCD-4D0D107FEB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5383CCB9-0605-4940-AD38-B4581D8687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93D7A989-F79A-4570-A37A-FAE2332AFF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03BAC-F32D-46D6-BF6E-F25D53C006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5061275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="" xmlns:a16="http://schemas.microsoft.com/office/drawing/2014/main" id="{84D66D23-D332-487A-BA30-D6E6252A68A3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="" xmlns:a16="http://schemas.microsoft.com/office/drawing/2014/main" id="{80842B88-D0E2-4491-A665-3FE1A06A6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>
            <a:extLst>
              <a:ext uri="{FF2B5EF4-FFF2-40B4-BE49-F238E27FC236}">
                <a16:creationId xmlns="" xmlns:a16="http://schemas.microsoft.com/office/drawing/2014/main" id="{25182B19-53A5-43E2-BC1A-383E8399C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FEFDDB1A-3740-476A-B5B3-FEA917C2F0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4B961041-648E-4CCB-9D8E-153863C248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BE780345-B5C5-4197-B453-42E524B8C7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349CC669-A1A0-4A4F-98F0-B8FFB3324CD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48750265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93B7025F-F204-48D0-B27B-37A9796649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2D2DA95E-20BA-4D9C-9501-C083413076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B01E2779-7626-434E-AF3A-F0753902C1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AC833047-620C-4D3E-A98C-02735C987C6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8355001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164B1D08-95A4-4804-8751-52DC30C492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899A7D62-7B00-42C8-B561-96FBA1F4DF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5DE695F7-5797-4C0C-BCFD-C0AA3661A9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17586A03-8657-4956-88D2-57FF77B28E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5053752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B70C4475-9E3D-4E01-9F7B-70FBB13820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2B3ED902-A3C0-43DC-9A45-EDCFEA7420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D76E5844-BB55-4B19-9B6F-73E2AC0339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3BD155B3-A4C4-4F1B-85F7-4FCCF4E06B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973320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C7CF2C60-B5CD-434B-87A4-67BC8A23C3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963915CC-64AA-4881-904A-692C657BCA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03799BEF-1CCA-4E27-AB80-485866DC93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9ACC11F8-23D3-4C1A-A55B-575B09CB69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113683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8C66BD07-6637-4B62-A411-C7C82FFEE1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90A4B6D5-E77D-431A-9BAF-9EE7BC3C59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B97C54EA-C3FA-4059-856C-9C734175BA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A358D747-9FB9-4160-8BDD-E8E0072CD2F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279681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="" xmlns:a16="http://schemas.microsoft.com/office/drawing/2014/main" id="{FE2F80B2-72E1-4949-AC41-89CA71FFA2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="" xmlns:a16="http://schemas.microsoft.com/office/drawing/2014/main" id="{540B40FD-4FA9-472A-8392-71E2A1815C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DC7A9F4F-6523-46A5-861C-379E17614D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5837EC25-920E-4EF6-9A9E-06E0C8AA9A7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0007639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9B9BE466-AA40-4AED-918C-03417F6B7E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79AE9BC0-A236-43C2-828F-D286E6C1B9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5591B41D-0C69-44EB-8670-0D3C39A25A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864F9F1C-1D7D-4ABE-AD90-490ABEC828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7893193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7949D847-6286-4056-BD8C-C06B8CCE79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8378E272-16B1-46CD-A580-261F7C5366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8896D540-3381-4AE7-94FB-B7207958B3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38FD85A9-465C-4CCE-8D87-BE0C822CAB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112575"/>
      </p:ext>
    </p:extLst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B39E3058-BFAA-4A5A-93B1-807BB47261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1005FE83-A6C9-4CC8-95E8-D307AE7F84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C915456F-BBF2-4BC8-A131-CC1661B15C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D708302E-D9D4-4A3A-8D39-8636F454678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7492057"/>
      </p:ext>
    </p:extLst>
  </p:cSld>
  <p:clrMapOvr>
    <a:masterClrMapping/>
  </p:clrMapOvr>
  <p:transition spd="med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00DAE4AB-AFA6-475D-A3FF-A50B3348C7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07A0C829-FFCA-49F1-98C8-723DBE97DA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0D2CB043-11EC-4221-BC31-DF07B5A8CD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8E2CD101-4A8F-459A-A686-B0A734F9B7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2436740"/>
      </p:ext>
    </p:extLst>
  </p:cSld>
  <p:clrMapOvr>
    <a:masterClrMapping/>
  </p:clrMapOvr>
  <p:transition spd="med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2E71E84D-8032-48C8-8110-6A57EBA5D7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E674A76C-7406-4C53-AC7A-349A098544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C55D5AEF-BA56-44B8-AF28-FFCDA02F35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C6E6BD4C-3A7C-4A9B-B470-181BE94EC56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0572714"/>
      </p:ext>
    </p:extLst>
  </p:cSld>
  <p:clrMapOvr>
    <a:masterClrMapping/>
  </p:clrMapOvr>
  <p:transition spd="med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B0AC8043-4FBC-4BD4-869D-564EB01BDD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3F004BA6-0A97-4003-BAA0-2C37F9EFBA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8D7237B2-3BB7-4781-BB3F-C44160572F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51A29347-A085-488C-A033-8F00D6EA93D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22092595"/>
      </p:ext>
    </p:extLst>
  </p:cSld>
  <p:clrMapOvr>
    <a:masterClrMapping/>
  </p:clrMapOvr>
  <p:transition spd="med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="" xmlns:a16="http://schemas.microsoft.com/office/drawing/2014/main" id="{4633C923-418B-45B7-A021-EFC590EA409A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="" xmlns:a16="http://schemas.microsoft.com/office/drawing/2014/main" id="{2C98F2D9-489C-4082-A2B1-749CBD37E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>
            <a:extLst>
              <a:ext uri="{FF2B5EF4-FFF2-40B4-BE49-F238E27FC236}">
                <a16:creationId xmlns="" xmlns:a16="http://schemas.microsoft.com/office/drawing/2014/main" id="{9DBED56E-7FF4-4329-BDA6-635B9CB791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08201414-A3C8-4204-9080-BF30A6C65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284B3027-AF43-4032-A465-2A19195D8E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66FC427B-1F2E-4FA0-AAE1-541ADA02D3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7D59F94-324C-49B3-9266-21C239138B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4125955"/>
      </p:ext>
    </p:extLst>
  </p:cSld>
  <p:clrMapOvr>
    <a:masterClrMapping/>
  </p:clrMapOvr>
  <p:transition spd="med"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F7A698CA-2983-4E3C-BA68-709BF83115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E748B0FF-AF5E-4B1F-894B-F2C057D2D7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BBC9E193-6A7D-4870-ACEB-9F5ECC81EF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CBCF1-43E7-41E5-8DC5-F73C7662FB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9685935"/>
      </p:ext>
    </p:extLst>
  </p:cSld>
  <p:clrMapOvr>
    <a:masterClrMapping/>
  </p:clrMapOvr>
  <p:transition spd="med"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E4AC31B6-E423-415A-A499-D61AF48ABE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323DEF38-5727-4084-919F-4AE68C9206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A2C21D40-502F-4E17-99B0-52E0CAEA52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5F5A3-9975-4420-9D28-B1CD3C26AF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1490403"/>
      </p:ext>
    </p:extLst>
  </p:cSld>
  <p:clrMapOvr>
    <a:masterClrMapping/>
  </p:clrMapOvr>
  <p:transition spd="med"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58C752EB-01AB-41CF-BBDE-7D2354F3B2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99BB6FCE-5B3D-46F1-831B-A703D404EB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55F9F784-30A3-435F-B024-C4420DA6A5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219593-F107-47DE-BE20-3B1D71A237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1978709"/>
      </p:ext>
    </p:extLst>
  </p:cSld>
  <p:clrMapOvr>
    <a:masterClrMapping/>
  </p:clrMapOvr>
  <p:transition spd="med"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2691059E-06CA-4579-A663-0A60BF1E23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9423D5C5-0217-462C-A67A-298CDADD4C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3DE72E07-F3B0-4470-966B-72494F5557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F0470-FEE0-4F4B-A2FA-C2A70C0F04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6765183"/>
      </p:ext>
    </p:extLst>
  </p:cSld>
  <p:clrMapOvr>
    <a:masterClrMapping/>
  </p:clrMapOvr>
  <p:transition spd="med"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E50F2A7D-C92F-4A33-B4D8-D23F7E82E3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751E194E-EF19-43F7-A7BD-F387718CB2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D402DF23-CB37-4964-A9EE-079111ABE1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2CBBBD-6DA8-443D-9C0C-F188CDD37B9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53873786"/>
      </p:ext>
    </p:extLst>
  </p:cSld>
  <p:clrMapOvr>
    <a:masterClrMapping/>
  </p:clrMapOvr>
  <p:transition spd="med"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="" xmlns:a16="http://schemas.microsoft.com/office/drawing/2014/main" id="{3962DBAF-04AD-431C-8110-37CAFE1F1A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="" xmlns:a16="http://schemas.microsoft.com/office/drawing/2014/main" id="{63891894-8465-43DB-821C-21C3398467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E4691944-6B73-418F-AD1E-7983F92EA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EFE58C-6C84-42DF-8BCF-3F14094324B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0634275"/>
      </p:ext>
    </p:extLst>
  </p:cSld>
  <p:clrMapOvr>
    <a:masterClrMapping/>
  </p:clrMapOvr>
  <p:transition spd="med"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F7190CFF-2F63-4652-AD8B-8E807902D2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32FF7682-2369-4A2B-8B81-7E2BF5E684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840F80FE-B113-4417-A440-53F6F63F45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0D533-135A-4AF8-8331-3E25898550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2149420"/>
      </p:ext>
    </p:extLst>
  </p:cSld>
  <p:clrMapOvr>
    <a:masterClrMapping/>
  </p:clrMapOvr>
  <p:transition spd="med"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61489E58-0B4B-494A-9B0E-DF346EAC14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2D392083-DA11-4F47-902E-7B3445D5B8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B7C413BE-D055-4FA6-8769-0D9B311CE9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55797-1311-40E0-B3CB-AAA716367D7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4967770"/>
      </p:ext>
    </p:extLst>
  </p:cSld>
  <p:clrMapOvr>
    <a:masterClrMapping/>
  </p:clrMapOvr>
  <p:transition spd="med"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7F77AE3A-9501-4D74-A1FD-390957467A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1CE5E498-27B5-495A-B721-5C55FC6053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2E3C44B2-C209-4E18-A099-AA92035354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8CED7-5AAE-482C-A68A-6FEC718B984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2030434"/>
      </p:ext>
    </p:extLst>
  </p:cSld>
  <p:clrMapOvr>
    <a:masterClrMapping/>
  </p:clrMapOvr>
  <p:transition spd="med"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0E2CB71F-CF70-4D64-BA45-8DB623A319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5E4D9E3B-AC76-4DE2-BDA0-5D6E5F4793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4AFE303E-1CE2-46A3-A143-FFBF898B65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7DB43-C94A-4042-A9D4-C34DCA08AF7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3744766"/>
      </p:ext>
    </p:extLst>
  </p:cSld>
  <p:clrMapOvr>
    <a:masterClrMapping/>
  </p:clrMapOvr>
  <p:transition spd="med"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0714B18A-9150-4B96-B7F7-9715609258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690FC396-F0A6-4773-9E73-326591F67F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63090DE3-1828-4FAC-867B-6E24D85557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17381-C436-46F8-85FB-7BC0554D3F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0693653"/>
      </p:ext>
    </p:extLst>
  </p:cSld>
  <p:clrMapOvr>
    <a:masterClrMapping/>
  </p:clrMapOvr>
  <p:transition spd="med"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17F57340-487F-4848-9E1C-0B2CA254FF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775BA6A0-08CC-4C90-93B1-CE7CC08034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B83FF63D-4E22-41AE-BBBE-809525466B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A11CB1-448B-4BD2-9464-5658761B11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98672111"/>
      </p:ext>
    </p:extLst>
  </p:cSld>
  <p:clrMapOvr>
    <a:masterClrMapping/>
  </p:clrMapOvr>
  <p:transition spd="med"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33ACB-B7FC-4DCB-8259-8D81FF85DD1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593072"/>
      </p:ext>
    </p:extLst>
  </p:cSld>
  <p:clrMapOvr>
    <a:masterClrMapping/>
  </p:clrMapOvr>
  <p:transition spd="med"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8FE3F-1683-41DA-A542-13489F2A23A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31311"/>
      </p:ext>
    </p:extLst>
  </p:cSld>
  <p:clrMapOvr>
    <a:masterClrMapping/>
  </p:clrMapOvr>
  <p:transition spd="med"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E99312-4007-4DA1-8D6D-DF4F8444E9E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025751"/>
      </p:ext>
    </p:extLst>
  </p:cSld>
  <p:clrMapOvr>
    <a:masterClrMapping/>
  </p:clrMapOvr>
  <p:transition spd="med"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2B450-769A-4340-AD50-1DB2D8E70D4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666891"/>
      </p:ext>
    </p:extLst>
  </p:cSld>
  <p:clrMapOvr>
    <a:masterClrMapping/>
  </p:clrMapOvr>
  <p:transition spd="med"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989EB-D700-4320-92F3-5F1D2027CE6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245324"/>
      </p:ext>
    </p:extLst>
  </p:cSld>
  <p:clrMapOvr>
    <a:masterClrMapping/>
  </p:clrMapOvr>
  <p:transition spd="med"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2DCA6-EE7B-4D9A-953E-C57B8C33758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245789"/>
      </p:ext>
    </p:extLst>
  </p:cSld>
  <p:clrMapOvr>
    <a:masterClrMapping/>
  </p:clrMapOvr>
  <p:transition spd="med"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0FE806-5A93-46BA-A110-1CF71D7F843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130770"/>
      </p:ext>
    </p:extLst>
  </p:cSld>
  <p:clrMapOvr>
    <a:masterClrMapping/>
  </p:clrMapOvr>
  <p:transition spd="med"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F0177-C953-457F-AD1D-9578AAE6639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64834"/>
      </p:ext>
    </p:extLst>
  </p:cSld>
  <p:clrMapOvr>
    <a:masterClrMapping/>
  </p:clrMapOvr>
  <p:transition spd="med"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05A2D-3E32-4BA9-B028-F9C1DED7B40B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203860"/>
      </p:ext>
    </p:extLst>
  </p:cSld>
  <p:clrMapOvr>
    <a:masterClrMapping/>
  </p:clrMapOvr>
  <p:transition spd="med">
    <p:rand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D70069-4BC3-444B-A9B2-90C58552C88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554679"/>
      </p:ext>
    </p:extLst>
  </p:cSld>
  <p:clrMapOvr>
    <a:masterClrMapping/>
  </p:clrMapOvr>
  <p:transition spd="med">
    <p:rand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657B8-B6D7-4B3B-91AB-A065E819AEA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25401"/>
      </p:ext>
    </p:extLst>
  </p:cSld>
  <p:clrMapOvr>
    <a:masterClrMapping/>
  </p:clrMapOvr>
  <p:transition spd="med">
    <p:random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6BA6A-20FD-46AF-BA87-778B9793574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403712"/>
      </p:ext>
    </p:extLst>
  </p:cSld>
  <p:clrMapOvr>
    <a:masterClrMapping/>
  </p:clrMapOvr>
  <p:transition spd="med">
    <p:random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72F47F-2CD8-45A8-B4C6-A07E8D06E66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286993"/>
      </p:ext>
    </p:extLst>
  </p:cSld>
  <p:clrMapOvr>
    <a:masterClrMapping/>
  </p:clrMapOvr>
  <p:transition spd="med">
    <p:random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C6D5BE-BA0D-45CF-B2A1-0A37141613D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329437"/>
      </p:ext>
    </p:extLst>
  </p:cSld>
  <p:clrMapOvr>
    <a:masterClrMapping/>
  </p:clrMapOvr>
  <p:transition spd="med">
    <p:random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2DF0E-E931-46DA-9122-15AAFA5F151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556655"/>
      </p:ext>
    </p:extLst>
  </p:cSld>
  <p:clrMapOvr>
    <a:masterClrMapping/>
  </p:clrMapOvr>
  <p:transition spd="med">
    <p:random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C757A-5C77-43D2-BBC3-AF1A29EA5395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098025"/>
      </p:ext>
    </p:extLst>
  </p:cSld>
  <p:clrMapOvr>
    <a:masterClrMapping/>
  </p:clrMapOvr>
  <p:transition spd="med">
    <p:random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4E6E3C-9D68-44E6-A514-52B34E32D80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890117"/>
      </p:ext>
    </p:extLst>
  </p:cSld>
  <p:clrMapOvr>
    <a:masterClrMapping/>
  </p:clrMapOvr>
  <p:transition spd="med">
    <p:random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C3C57-795C-4C6D-868F-42630A3077F1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110822"/>
      </p:ext>
    </p:extLst>
  </p:cSld>
  <p:clrMapOvr>
    <a:masterClrMapping/>
  </p:clrMapOvr>
  <p:transition spd="med">
    <p:random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4451B-2208-47B2-94FD-579B6E3CC63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510175"/>
      </p:ext>
    </p:extLst>
  </p:cSld>
  <p:clrMapOvr>
    <a:masterClrMapping/>
  </p:clrMapOvr>
  <p:transition spd="med">
    <p:random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B356B-3162-43B2-A4F6-D012378C120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876911"/>
      </p:ext>
    </p:extLst>
  </p:cSld>
  <p:clrMapOvr>
    <a:masterClrMapping/>
  </p:clrMapOvr>
  <p:transition spd="med">
    <p:random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EA6E5-F459-4ABA-AB43-F5ADD24538A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800555"/>
      </p:ext>
    </p:extLst>
  </p:cSld>
  <p:clrMapOvr>
    <a:masterClrMapping/>
  </p:clrMapOvr>
  <p:transition spd="med">
    <p:random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7F2BB3-EE3F-4F1B-9E3D-36079E09A6F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704843"/>
      </p:ext>
    </p:extLst>
  </p:cSld>
  <p:clrMapOvr>
    <a:masterClrMapping/>
  </p:clrMapOvr>
  <p:transition spd="med">
    <p:random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B30F0-C269-44D1-A20E-7A5259AC909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186640"/>
      </p:ext>
    </p:extLst>
  </p:cSld>
  <p:clrMapOvr>
    <a:masterClrMapping/>
  </p:clrMapOvr>
  <p:transition spd="med">
    <p:random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C7677-0BD0-47FC-A2F4-207BA3950821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145187"/>
      </p:ext>
    </p:extLst>
  </p:cSld>
  <p:clrMapOvr>
    <a:masterClrMapping/>
  </p:clrMapOvr>
  <p:transition spd="med">
    <p:random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3CA77-47DC-4F9E-ADBF-07138D0766F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823911"/>
      </p:ext>
    </p:extLst>
  </p:cSld>
  <p:clrMapOvr>
    <a:masterClrMapping/>
  </p:clrMapOvr>
  <p:transition spd="med">
    <p:random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63B01E-61AB-45B7-8323-1C64A0FA8ED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357609"/>
      </p:ext>
    </p:extLst>
  </p:cSld>
  <p:clrMapOvr>
    <a:masterClrMapping/>
  </p:clrMapOvr>
  <p:transition spd="med">
    <p:random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6D74A4-55C0-406A-AC7A-65CCEA2272D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6825642"/>
      </p:ext>
    </p:extLst>
  </p:cSld>
  <p:clrMapOvr>
    <a:masterClrMapping/>
  </p:clrMapOvr>
  <p:transition>
    <p:random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15331-AD77-45F4-9842-8F4AF06682C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2104390"/>
      </p:ext>
    </p:extLst>
  </p:cSld>
  <p:clrMapOvr>
    <a:masterClrMapping/>
  </p:clrMapOvr>
  <p:transition>
    <p:random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33E62B-CFDC-489C-A139-B38FB29143E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2699027"/>
      </p:ext>
    </p:extLst>
  </p:cSld>
  <p:clrMapOvr>
    <a:masterClrMapping/>
  </p:clrMapOvr>
  <p:transition>
    <p:random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38139-607A-4CA2-B148-24E8EAA29CF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23063126"/>
      </p:ext>
    </p:extLst>
  </p:cSld>
  <p:clrMapOvr>
    <a:masterClrMapping/>
  </p:clrMapOvr>
  <p:transition>
    <p:random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3BC0AC-3E80-4FCB-AE0F-24C59C68E0C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9367389"/>
      </p:ext>
    </p:extLst>
  </p:cSld>
  <p:clrMapOvr>
    <a:masterClrMapping/>
  </p:clrMapOvr>
  <p:transition>
    <p:random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2E9CF-38AD-4337-BB3B-D9C0B66CB58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0230356"/>
      </p:ext>
    </p:extLst>
  </p:cSld>
  <p:clrMapOvr>
    <a:masterClrMapping/>
  </p:clrMapOvr>
  <p:transition>
    <p:random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51D43-739C-4121-8756-EDF8A0112A2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86855"/>
      </p:ext>
    </p:extLst>
  </p:cSld>
  <p:clrMapOvr>
    <a:masterClrMapping/>
  </p:clrMapOvr>
  <p:transition>
    <p:random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516802-BD5E-4089-B479-23FFCD41EE4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3977090"/>
      </p:ext>
    </p:extLst>
  </p:cSld>
  <p:clrMapOvr>
    <a:masterClrMapping/>
  </p:clrMapOvr>
  <p:transition>
    <p:random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BD932B-6B6E-4246-ADD9-DF7D9CED6D3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52879437"/>
      </p:ext>
    </p:extLst>
  </p:cSld>
  <p:clrMapOvr>
    <a:masterClrMapping/>
  </p:clrMapOvr>
  <p:transition>
    <p:random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D7EA0-4232-4FC6-8D1B-D8AC2561728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1836884"/>
      </p:ext>
    </p:extLst>
  </p:cSld>
  <p:clrMapOvr>
    <a:masterClrMapping/>
  </p:clrMapOvr>
  <p:transition>
    <p:random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FDF36A-2C7B-4844-975F-B04CDAF84D4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4056327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>
            <a:extLst>
              <a:ext uri="{FF2B5EF4-FFF2-40B4-BE49-F238E27FC236}">
                <a16:creationId xmlns="" xmlns:a16="http://schemas.microsoft.com/office/drawing/2014/main" id="{5F2E1318-717A-41D7-8138-DC8DCA2E4944}"/>
              </a:ext>
            </a:extLst>
          </p:cNvPr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EEF946C2-71AC-4B27-BEC3-8FC01A5EC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="" xmlns:a16="http://schemas.microsoft.com/office/drawing/2014/main" id="{42653F5C-990E-4EB9-84CD-1227CF6DE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>
            <a:extLst>
              <a:ext uri="{FF2B5EF4-FFF2-40B4-BE49-F238E27FC236}">
                <a16:creationId xmlns="" xmlns:a16="http://schemas.microsoft.com/office/drawing/2014/main" id="{9054E06D-F16A-4144-B77A-AB14353776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>
            <a:extLst>
              <a:ext uri="{FF2B5EF4-FFF2-40B4-BE49-F238E27FC236}">
                <a16:creationId xmlns="" xmlns:a16="http://schemas.microsoft.com/office/drawing/2014/main" id="{31BBBF48-A33C-443A-B7F3-75778D1B809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>
            <a:extLst>
              <a:ext uri="{FF2B5EF4-FFF2-40B4-BE49-F238E27FC236}">
                <a16:creationId xmlns="" xmlns:a16="http://schemas.microsoft.com/office/drawing/2014/main" id="{AC831BE9-B60A-4811-940C-EFB8C4809EF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latin typeface="-윤명조140" charset="-127"/>
                <a:ea typeface="-윤명조140" charset="-127"/>
              </a:defRPr>
            </a:lvl1pPr>
          </a:lstStyle>
          <a:p>
            <a:pPr>
              <a:defRPr/>
            </a:pPr>
            <a:fld id="{32474D0C-5AA5-4AE1-9DF0-9E57D534072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326" r:id="rId1"/>
    <p:sldLayoutId id="2147491193" r:id="rId2"/>
    <p:sldLayoutId id="2147491194" r:id="rId3"/>
    <p:sldLayoutId id="2147491195" r:id="rId4"/>
    <p:sldLayoutId id="2147491196" r:id="rId5"/>
    <p:sldLayoutId id="2147491197" r:id="rId6"/>
    <p:sldLayoutId id="2147491198" r:id="rId7"/>
    <p:sldLayoutId id="2147491199" r:id="rId8"/>
    <p:sldLayoutId id="2147491200" r:id="rId9"/>
    <p:sldLayoutId id="2147491201" r:id="rId10"/>
    <p:sldLayoutId id="2147491202" r:id="rId11"/>
    <p:sldLayoutId id="2147491203" r:id="rId12"/>
    <p:sldLayoutId id="2147491204" r:id="rId13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과학(일러)1-3">
            <a:extLst>
              <a:ext uri="{FF2B5EF4-FFF2-40B4-BE49-F238E27FC236}">
                <a16:creationId xmlns="" xmlns:a16="http://schemas.microsoft.com/office/drawing/2014/main" id="{8E1B9A86-99D5-4434-A1BD-1599589A1F4F}"/>
              </a:ext>
            </a:extLst>
          </p:cNvPr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>
            <a:extLst>
              <a:ext uri="{FF2B5EF4-FFF2-40B4-BE49-F238E27FC236}">
                <a16:creationId xmlns="" xmlns:a16="http://schemas.microsoft.com/office/drawing/2014/main" id="{64A51AF1-69A3-4012-BAFB-D418CC440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="" xmlns:a16="http://schemas.microsoft.com/office/drawing/2014/main" id="{761033D2-2570-4857-8F6B-120E74204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>
            <a:extLst>
              <a:ext uri="{FF2B5EF4-FFF2-40B4-BE49-F238E27FC236}">
                <a16:creationId xmlns="" xmlns:a16="http://schemas.microsoft.com/office/drawing/2014/main" id="{605487D5-DD07-416A-B3AC-E160D12CF40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>
            <a:extLst>
              <a:ext uri="{FF2B5EF4-FFF2-40B4-BE49-F238E27FC236}">
                <a16:creationId xmlns="" xmlns:a16="http://schemas.microsoft.com/office/drawing/2014/main" id="{252308ED-0924-48F7-95F1-3CF2E98FCF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>
            <a:extLst>
              <a:ext uri="{FF2B5EF4-FFF2-40B4-BE49-F238E27FC236}">
                <a16:creationId xmlns="" xmlns:a16="http://schemas.microsoft.com/office/drawing/2014/main" id="{7D91C532-7334-4ECF-8CAF-BA53D86E47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solidFill>
                  <a:srgbClr val="000000"/>
                </a:solidFill>
                <a:latin typeface="-윤명조140" charset="-127"/>
                <a:ea typeface="-윤명조140" charset="-127"/>
              </a:defRPr>
            </a:lvl1pPr>
          </a:lstStyle>
          <a:p>
            <a:pPr>
              <a:defRPr/>
            </a:pPr>
            <a:fld id="{73EE0CB8-E9AC-4B08-AE09-FD02D410D0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333" r:id="rId1"/>
    <p:sldLayoutId id="2147491334" r:id="rId2"/>
    <p:sldLayoutId id="2147491335" r:id="rId3"/>
    <p:sldLayoutId id="2147491336" r:id="rId4"/>
    <p:sldLayoutId id="2147491337" r:id="rId5"/>
    <p:sldLayoutId id="2147491338" r:id="rId6"/>
    <p:sldLayoutId id="2147491339" r:id="rId7"/>
    <p:sldLayoutId id="2147491340" r:id="rId8"/>
    <p:sldLayoutId id="2147491341" r:id="rId9"/>
    <p:sldLayoutId id="2147491342" r:id="rId10"/>
    <p:sldLayoutId id="2147491343" r:id="rId11"/>
    <p:sldLayoutId id="2147491344" r:id="rId12"/>
    <p:sldLayoutId id="2147491345" r:id="rId13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과학(일러)1-3">
            <a:extLst>
              <a:ext uri="{FF2B5EF4-FFF2-40B4-BE49-F238E27FC236}">
                <a16:creationId xmlns="" xmlns:a16="http://schemas.microsoft.com/office/drawing/2014/main" id="{B87F9C47-83DF-4AF7-BBBC-5812B42A3CA0}"/>
              </a:ext>
            </a:extLst>
          </p:cNvPr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3">
            <a:extLst>
              <a:ext uri="{FF2B5EF4-FFF2-40B4-BE49-F238E27FC236}">
                <a16:creationId xmlns="" xmlns:a16="http://schemas.microsoft.com/office/drawing/2014/main" id="{7D2B34F3-A61F-491B-9799-912C21C1E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="" xmlns:a16="http://schemas.microsoft.com/office/drawing/2014/main" id="{5A315FA9-250D-4D56-8D88-9A8C82188D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>
            <a:extLst>
              <a:ext uri="{FF2B5EF4-FFF2-40B4-BE49-F238E27FC236}">
                <a16:creationId xmlns="" xmlns:a16="http://schemas.microsoft.com/office/drawing/2014/main" id="{0779B962-8130-4A58-942A-1B696FDDD67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>
            <a:extLst>
              <a:ext uri="{FF2B5EF4-FFF2-40B4-BE49-F238E27FC236}">
                <a16:creationId xmlns="" xmlns:a16="http://schemas.microsoft.com/office/drawing/2014/main" id="{14C61261-8441-4660-9573-E331691A43B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>
            <a:extLst>
              <a:ext uri="{FF2B5EF4-FFF2-40B4-BE49-F238E27FC236}">
                <a16:creationId xmlns="" xmlns:a16="http://schemas.microsoft.com/office/drawing/2014/main" id="{F16D41B7-7450-4370-913C-A0F2C191BC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solidFill>
                  <a:srgbClr val="000000"/>
                </a:solidFill>
                <a:latin typeface="-윤명조140" charset="-127"/>
                <a:ea typeface="-윤명조140" charset="-127"/>
              </a:defRPr>
            </a:lvl1pPr>
          </a:lstStyle>
          <a:p>
            <a:pPr>
              <a:defRPr/>
            </a:pPr>
            <a:fld id="{4D30F3C6-AE94-4689-B7DB-F8A154AE58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346" r:id="rId1"/>
    <p:sldLayoutId id="2147491267" r:id="rId2"/>
    <p:sldLayoutId id="2147491268" r:id="rId3"/>
    <p:sldLayoutId id="2147491269" r:id="rId4"/>
    <p:sldLayoutId id="2147491270" r:id="rId5"/>
    <p:sldLayoutId id="2147491271" r:id="rId6"/>
    <p:sldLayoutId id="2147491272" r:id="rId7"/>
    <p:sldLayoutId id="2147491273" r:id="rId8"/>
    <p:sldLayoutId id="2147491274" r:id="rId9"/>
    <p:sldLayoutId id="2147491275" r:id="rId10"/>
    <p:sldLayoutId id="2147491276" r:id="rId11"/>
    <p:sldLayoutId id="2147491277" r:id="rId12"/>
    <p:sldLayoutId id="2147491278" r:id="rId13"/>
  </p:sldLayoutIdLst>
  <p:transition spd="med">
    <p:random/>
  </p:transition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anose="02020603050405020304" pitchFamily="18" charset="-127"/>
                <a:ea typeface="-윤명조140" panose="02020603050405020304" pitchFamily="18" charset="-127"/>
              </a:defRPr>
            </a:lvl1pPr>
          </a:lstStyle>
          <a:p>
            <a:pPr>
              <a:defRPr/>
            </a:pPr>
            <a:fld id="{6607AA83-2785-4CFE-A103-0381D4F0540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33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366" r:id="rId1"/>
    <p:sldLayoutId id="2147491367" r:id="rId2"/>
    <p:sldLayoutId id="2147491368" r:id="rId3"/>
    <p:sldLayoutId id="2147491369" r:id="rId4"/>
    <p:sldLayoutId id="2147491370" r:id="rId5"/>
    <p:sldLayoutId id="2147491371" r:id="rId6"/>
    <p:sldLayoutId id="2147491372" r:id="rId7"/>
    <p:sldLayoutId id="2147491373" r:id="rId8"/>
    <p:sldLayoutId id="2147491374" r:id="rId9"/>
    <p:sldLayoutId id="2147491375" r:id="rId10"/>
    <p:sldLayoutId id="2147491376" r:id="rId11"/>
    <p:sldLayoutId id="2147491377" r:id="rId12"/>
    <p:sldLayoutId id="2147491378" r:id="rId13"/>
  </p:sldLayoutIdLst>
  <p:transition spd="med"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anose="02020603050405020304" pitchFamily="18" charset="-127"/>
                <a:ea typeface="-윤명조140" panose="02020603050405020304" pitchFamily="18" charset="-127"/>
              </a:defRPr>
            </a:lvl1pPr>
          </a:lstStyle>
          <a:p>
            <a:pPr>
              <a:defRPr/>
            </a:pPr>
            <a:fld id="{8E42A3C1-57DA-4A66-8AC4-563CAB53AD8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28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392" r:id="rId1"/>
    <p:sldLayoutId id="2147491393" r:id="rId2"/>
    <p:sldLayoutId id="2147491394" r:id="rId3"/>
    <p:sldLayoutId id="2147491395" r:id="rId4"/>
    <p:sldLayoutId id="2147491396" r:id="rId5"/>
    <p:sldLayoutId id="2147491397" r:id="rId6"/>
    <p:sldLayoutId id="2147491398" r:id="rId7"/>
    <p:sldLayoutId id="2147491399" r:id="rId8"/>
    <p:sldLayoutId id="2147491400" r:id="rId9"/>
    <p:sldLayoutId id="2147491401" r:id="rId10"/>
    <p:sldLayoutId id="2147491402" r:id="rId11"/>
    <p:sldLayoutId id="2147491403" r:id="rId12"/>
    <p:sldLayoutId id="2147491404" r:id="rId13"/>
  </p:sldLayoutIdLst>
  <p:transition spd="med">
    <p:random/>
  </p:transition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A2D4E0CD-9E77-4A67-BF29-DD05D01FC03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9915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466" r:id="rId1"/>
    <p:sldLayoutId id="2147491467" r:id="rId2"/>
    <p:sldLayoutId id="2147491468" r:id="rId3"/>
    <p:sldLayoutId id="2147491469" r:id="rId4"/>
    <p:sldLayoutId id="2147491470" r:id="rId5"/>
    <p:sldLayoutId id="2147491471" r:id="rId6"/>
    <p:sldLayoutId id="2147491472" r:id="rId7"/>
    <p:sldLayoutId id="2147491473" r:id="rId8"/>
    <p:sldLayoutId id="2147491474" r:id="rId9"/>
    <p:sldLayoutId id="2147491475" r:id="rId10"/>
    <p:sldLayoutId id="2147491476" r:id="rId11"/>
  </p:sldLayoutIdLst>
  <p:transition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w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1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8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1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3.wmf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4.wmf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5.wmf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="" xmlns:a16="http://schemas.microsoft.com/office/drawing/2014/main" id="{62ACF5C6-CBFD-4D94-8E5A-F7E93671B2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5000">
                <a:latin typeface="宋体" panose="02010600030101010101" pitchFamily="2" charset="-122"/>
              </a:rPr>
              <a:t>第七章 格与布尔代数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="" xmlns:a16="http://schemas.microsoft.com/office/drawing/2014/main" id="{BA0F5D6F-9A3A-4DE8-88F8-9B2EC3615B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1988" name="灯片编号占位符 1">
            <a:extLst>
              <a:ext uri="{FF2B5EF4-FFF2-40B4-BE49-F238E27FC236}">
                <a16:creationId xmlns="" xmlns:a16="http://schemas.microsoft.com/office/drawing/2014/main" id="{B1CE8342-9F46-429E-B884-903A30A8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D79DCC2-D04C-4DDA-A8BC-A643FD81A432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="" xmlns:a16="http://schemas.microsoft.com/office/drawing/2014/main" id="{C25D258C-FFE6-4361-8A9E-FE0CAF38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latin typeface="+mj-ea"/>
                <a:cs typeface="+mn-cs"/>
              </a:rPr>
              <a:t>相关知识复习：</a:t>
            </a:r>
            <a:endParaRPr lang="zh-CN" altLang="en-US" dirty="0"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1F580B29-C770-4152-8F2C-E5FD2D104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偏序关系：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上的一个关系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具有自反性，反对称性，传递性，则称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为一个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偏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序关系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偏序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部分序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集合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在部分序关系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</a:t>
            </a: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构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成一个</a:t>
            </a: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偏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序集。</a:t>
            </a: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全序集：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如果对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偏序集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中任意两个元素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b,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，或者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全序集有时也称为链。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3012" name="灯片编号占位符 1">
            <a:extLst>
              <a:ext uri="{FF2B5EF4-FFF2-40B4-BE49-F238E27FC236}">
                <a16:creationId xmlns="" xmlns:a16="http://schemas.microsoft.com/office/drawing/2014/main" id="{8F655278-726F-4DD8-8E7F-9E2B9344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AB2201-84D2-4D30-A47A-066EB8D51DB4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33CD5BC-563A-4AA8-9A3B-90D17B155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423988"/>
            <a:ext cx="8496300" cy="4824412"/>
          </a:xfrm>
        </p:spPr>
        <p:txBody>
          <a:bodyPr/>
          <a:lstStyle/>
          <a:p>
            <a:pPr>
              <a:lnSpc>
                <a:spcPct val="125000"/>
              </a:lnSpc>
              <a:buClr>
                <a:srgbClr val="3333CC"/>
              </a:buClr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上下界：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对于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中的子集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称为子集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的一个上界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，如果对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m,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都有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a(a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m)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的上界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未必在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中，甚至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未必有上界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上下确界：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中的子集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的一个最小上界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或称上确界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的一个上界，并且对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的任意一个上界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，都有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x.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同理，可定义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的最大下界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或称下确界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zh-CN" altLang="zh-CN" sz="3000" b="1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44035" name="灯片编号占位符 1">
            <a:extLst>
              <a:ext uri="{FF2B5EF4-FFF2-40B4-BE49-F238E27FC236}">
                <a16:creationId xmlns="" xmlns:a16="http://schemas.microsoft.com/office/drawing/2014/main" id="{CF226089-091D-4762-BFEF-B2B8B805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490787-0301-4C9D-A693-876422636AB9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" name="标题 4">
            <a:extLst>
              <a:ext uri="{FF2B5EF4-FFF2-40B4-BE49-F238E27FC236}">
                <a16:creationId xmlns="" xmlns:a16="http://schemas.microsoft.com/office/drawing/2014/main" id="{0123381C-A4C6-4ED9-BFFC-7857DB51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latin typeface="+mj-ea"/>
                <a:cs typeface="+mn-cs"/>
              </a:rPr>
              <a:t>相关知识复习：</a:t>
            </a:r>
            <a:endParaRPr lang="zh-CN" altLang="en-US" dirty="0">
              <a:latin typeface="+mj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哈斯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塞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图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hangingPunct="1">
              <a:lnSpc>
                <a:spcPct val="120000"/>
              </a:lnSpc>
              <a:buClr>
                <a:schemeClr val="tx2"/>
              </a:buClr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以平面上的点代表部分序集中的元素。</a:t>
            </a:r>
          </a:p>
          <a:p>
            <a:pPr marL="0" indent="0" algn="just" eaLnBrk="1" hangingPunct="1">
              <a:lnSpc>
                <a:spcPct val="120000"/>
              </a:lnSpc>
              <a:buClr>
                <a:schemeClr val="tx2"/>
              </a:buClr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）若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x≤y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，且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x≠y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画在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的下面。</a:t>
            </a:r>
          </a:p>
          <a:p>
            <a:pPr marL="0" indent="0" eaLnBrk="1" hangingPunct="1">
              <a:lnSpc>
                <a:spcPct val="120000"/>
              </a:lnSpc>
              <a:buClr>
                <a:schemeClr val="tx2"/>
              </a:buClr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）若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x≤y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x≠y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，并且没有不同于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，使得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x≤z≤y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盖住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之间用直线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连结。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287CF0-E7D3-40B0-A5EB-1663BFE233F6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0123381C-A4C6-4ED9-BFFC-7857DB51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latin typeface="+mj-ea"/>
                <a:cs typeface="+mn-cs"/>
              </a:rPr>
              <a:t>相关知识复习：</a:t>
            </a:r>
            <a:endParaRPr lang="zh-CN" altLang="en-US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6924025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287CF0-E7D3-40B0-A5EB-1663BFE233F6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61975" y="1506537"/>
            <a:ext cx="3581400" cy="465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kumimoji="0"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A=</a:t>
            </a:r>
          </a:p>
          <a:p>
            <a:pPr marL="0" indent="0"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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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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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</a:t>
            </a:r>
            <a:r>
              <a:rPr kumimoji="0" lang="en-US" altLang="zh-CN" sz="4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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</a:t>
            </a:r>
            <a:r>
              <a:rPr kumimoji="0" lang="en-US" altLang="zh-CN" sz="4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c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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</a:t>
            </a:r>
            <a:r>
              <a:rPr kumimoji="0" lang="en-US" altLang="zh-CN" sz="4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0" lang="en-US" altLang="zh-CN" sz="4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c,d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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</a:p>
          <a:p>
            <a:pPr marL="0" indent="0"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</a:t>
            </a:r>
            <a:r>
              <a:rPr kumimoji="0" lang="en-US" altLang="zh-CN" sz="4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a,b,c,e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</a:t>
            </a:r>
            <a:r>
              <a:rPr kumimoji="0"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， </a:t>
            </a:r>
            <a:br>
              <a:rPr kumimoji="0"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</a:br>
            <a:r>
              <a:rPr kumimoji="0"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则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(A, 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) </a:t>
            </a:r>
            <a:r>
              <a:rPr kumimoji="0"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是一个部分序集。</a:t>
            </a:r>
            <a:endParaRPr kumimoji="0" lang="en-US" altLang="zh-CN" sz="4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endParaRPr kumimoji="0"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4108450" y="1486147"/>
            <a:ext cx="4473575" cy="4572000"/>
            <a:chOff x="0" y="0"/>
            <a:chExt cx="2818" cy="2880"/>
          </a:xfrm>
        </p:grpSpPr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1522" y="1008"/>
              <a:ext cx="96" cy="9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1522" y="1776"/>
              <a:ext cx="96" cy="9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850" y="528"/>
              <a:ext cx="96" cy="9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2146" y="528"/>
              <a:ext cx="96" cy="9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850" y="2400"/>
              <a:ext cx="96" cy="9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2146" y="2400"/>
              <a:ext cx="96" cy="9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1570" y="1104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898" y="624"/>
              <a:ext cx="624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H="1">
              <a:off x="1618" y="624"/>
              <a:ext cx="576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>
              <a:off x="946" y="1872"/>
              <a:ext cx="624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1570" y="1872"/>
              <a:ext cx="576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314" y="2313"/>
              <a:ext cx="584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r>
                <a:rPr lang="zh-CN" altLang="en-US" sz="4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r>
                <a:rPr lang="en-US" altLang="zh-CN" sz="4000" dirty="0">
                  <a:latin typeface="Times New Roman" panose="02020603050405020304" pitchFamily="18" charset="0"/>
                </a:rPr>
                <a:t>a</a:t>
              </a:r>
              <a:r>
                <a:rPr lang="en-US" altLang="zh-CN" sz="4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</a:t>
              </a: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2048" y="2361"/>
              <a:ext cx="602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r>
                <a:rPr lang="zh-CN" altLang="en-US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r>
                <a:rPr lang="en-US" altLang="zh-CN" sz="4000">
                  <a:latin typeface="Times New Roman" panose="02020603050405020304" pitchFamily="18" charset="0"/>
                </a:rPr>
                <a:t>b</a:t>
              </a:r>
              <a:r>
                <a:rPr lang="en-US" altLang="zh-CN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</a:t>
              </a: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680" y="1440"/>
              <a:ext cx="842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r>
                <a:rPr lang="zh-CN" altLang="en-US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r>
                <a:rPr lang="en-US" altLang="zh-CN" sz="4000">
                  <a:latin typeface="Times New Roman" panose="02020603050405020304" pitchFamily="18" charset="0"/>
                </a:rPr>
                <a:t>a,b</a:t>
              </a:r>
              <a:r>
                <a:rPr lang="en-US" altLang="zh-CN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</a:t>
              </a: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1562" y="912"/>
              <a:ext cx="1064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r>
                <a:rPr lang="zh-CN" altLang="en-US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r>
                <a:rPr lang="en-US" altLang="zh-CN" sz="4000">
                  <a:latin typeface="Times New Roman" panose="02020603050405020304" pitchFamily="18" charset="0"/>
                </a:rPr>
                <a:t>a,b,c</a:t>
              </a:r>
              <a:r>
                <a:rPr lang="en-US" altLang="zh-CN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</a:t>
              </a: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0" y="0"/>
              <a:ext cx="1322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r>
                <a:rPr lang="zh-CN" altLang="en-US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r>
                <a:rPr lang="en-US" altLang="zh-CN" sz="4000">
                  <a:latin typeface="Times New Roman" panose="02020603050405020304" pitchFamily="18" charset="0"/>
                </a:rPr>
                <a:t>a,b,c,d</a:t>
              </a:r>
              <a:r>
                <a:rPr lang="en-US" altLang="zh-CN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</a:t>
              </a: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1532" y="9"/>
              <a:ext cx="1286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r>
                <a:rPr lang="zh-CN" altLang="en-US" sz="4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r>
                <a:rPr lang="en-US" altLang="zh-CN" sz="4000" dirty="0" err="1">
                  <a:latin typeface="Times New Roman" panose="02020603050405020304" pitchFamily="18" charset="0"/>
                </a:rPr>
                <a:t>a,b,c,e</a:t>
              </a:r>
              <a:r>
                <a:rPr lang="en-US" altLang="zh-CN" sz="4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</a:t>
              </a:r>
            </a:p>
          </p:txBody>
        </p:sp>
      </p:grpSp>
      <p:sp>
        <p:nvSpPr>
          <p:cNvPr id="24" name="标题 4">
            <a:extLst>
              <a:ext uri="{FF2B5EF4-FFF2-40B4-BE49-F238E27FC236}">
                <a16:creationId xmlns="" xmlns:a16="http://schemas.microsoft.com/office/drawing/2014/main" id="{0123381C-A4C6-4ED9-BFFC-7857DB51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latin typeface="+mj-ea"/>
                <a:cs typeface="+mn-cs"/>
              </a:rPr>
              <a:t>相关知识复习：</a:t>
            </a:r>
            <a:endParaRPr lang="zh-CN" altLang="en-US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5227810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>
            <a:extLst>
              <a:ext uri="{FF2B5EF4-FFF2-40B4-BE49-F238E27FC236}">
                <a16:creationId xmlns="" xmlns:a16="http://schemas.microsoft.com/office/drawing/2014/main" id="{CFED688C-6D49-463C-ABDE-CB73E4EAA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124744"/>
            <a:ext cx="8532812" cy="4536356"/>
          </a:xfrm>
        </p:spPr>
        <p:txBody>
          <a:bodyPr/>
          <a:lstStyle/>
          <a:p>
            <a:pPr marL="357188" indent="-357188" algn="ctr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    </a:t>
            </a: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-357188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7.2.1 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偏序格：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给出一个偏序集（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L,≤),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如果对于任意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{a, b}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中都有一个最大下界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记为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{a, b})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和一个最小上界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sup{a, b})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则称（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为一个格。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357188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结论：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全序集是一个格，不是所有偏序集都是格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6083" name="灯片编号占位符 1">
            <a:extLst>
              <a:ext uri="{FF2B5EF4-FFF2-40B4-BE49-F238E27FC236}">
                <a16:creationId xmlns="" xmlns:a16="http://schemas.microsoft.com/office/drawing/2014/main" id="{DDF3B3D9-D61C-48D5-BDC9-1260B14A8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866662-BF07-4190-9366-BE9B6E713896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="" xmlns:a16="http://schemas.microsoft.com/office/drawing/2014/main" id="{49481D31-2D8D-4D53-AA80-489770240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0000FF"/>
                </a:solidFill>
                <a:latin typeface="+mn-lt"/>
              </a:rPr>
              <a:t>7.2</a:t>
            </a:r>
            <a:r>
              <a:rPr lang="zh-CN" altLang="en-US" dirty="0">
                <a:solidFill>
                  <a:srgbClr val="0000FF"/>
                </a:solidFill>
                <a:latin typeface="+mn-lt"/>
              </a:rPr>
              <a:t>格的定义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="" xmlns:a16="http://schemas.microsoft.com/office/drawing/2014/main" id="{2881BFC1-C768-4924-9B59-511943594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89038"/>
            <a:ext cx="8816975" cy="5624512"/>
          </a:xfrm>
        </p:spPr>
        <p:txBody>
          <a:bodyPr/>
          <a:lstStyle/>
          <a:p>
            <a:pPr algn="just"/>
            <a:r>
              <a:rPr lang="zh-CN" altLang="en-US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例：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ea typeface="宋体" panose="02010600030101010101" pitchFamily="2" charset="-122"/>
              </a:rPr>
              <a:t>是任意一个集合，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的幂集合，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则，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部分序集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是一个格。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因为对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sup{A, B}=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(S),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{A,B}=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</a:p>
          <a:p>
            <a:pPr algn="just"/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是所有正整数集合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,D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中的“整除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关系”，对任意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aDb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当且仅当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整除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于是，偏序集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是一个格。对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a, b∈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的最小公倍∈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}= 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的最高公因∈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</p:txBody>
      </p:sp>
      <p:sp>
        <p:nvSpPr>
          <p:cNvPr id="47107" name="灯片编号占位符 1">
            <a:extLst>
              <a:ext uri="{FF2B5EF4-FFF2-40B4-BE49-F238E27FC236}">
                <a16:creationId xmlns="" xmlns:a16="http://schemas.microsoft.com/office/drawing/2014/main" id="{FF0FF3F3-3577-4BDB-B934-975BDE3E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DBE2A5-6B72-43A8-A790-EC9B969FA02C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="" xmlns:a16="http://schemas.microsoft.com/office/drawing/2014/main" id="{6A5B749E-BE07-4B79-8F0D-212CF2232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533401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</a:rPr>
              <a:t>偏序</a:t>
            </a:r>
            <a:r>
              <a:rPr lang="zh-CN" altLang="en-US" dirty="0">
                <a:solidFill>
                  <a:srgbClr val="0000FF"/>
                </a:solidFill>
                <a:latin typeface="+mn-lt"/>
              </a:rPr>
              <a:t>格的例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>
            <a:extLst>
              <a:ext uri="{FF2B5EF4-FFF2-40B4-BE49-F238E27FC236}">
                <a16:creationId xmlns="" xmlns:a16="http://schemas.microsoft.com/office/drawing/2014/main" id="{0FC79A92-5A48-463C-82E1-C58FB8CE34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497887" cy="5256212"/>
          </a:xfrm>
        </p:spPr>
        <p:txBody>
          <a:bodyPr/>
          <a:lstStyle/>
          <a:p>
            <a:pPr indent="-157163" algn="just">
              <a:lnSpc>
                <a:spcPct val="110000"/>
              </a:lnSpc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ea typeface="宋体" pitchFamily="2" charset="-122"/>
              </a:rPr>
              <a:t>例</a:t>
            </a:r>
            <a:r>
              <a:rPr lang="en-US" altLang="zh-CN" sz="3000" b="1" dirty="0" smtClean="0">
                <a:solidFill>
                  <a:srgbClr val="0000FF"/>
                </a:solidFill>
                <a:ea typeface="宋体" pitchFamily="2" charset="-122"/>
              </a:rPr>
              <a:t>: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是一个正整数，</a:t>
            </a: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的所有正因数的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集合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于是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(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是格。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是整除关系，其中</a:t>
            </a:r>
            <a:endParaRPr lang="en-US" altLang="zh-CN" sz="3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indent="14288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sup{</a:t>
            </a: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}=a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的最小公倍∈ </a:t>
            </a: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</a:p>
          <a:p>
            <a:pPr indent="14288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</a:t>
            </a: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}= a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的最高公因∈ </a:t>
            </a: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indent="14288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例：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={1,2,3,6}   S</a:t>
            </a:r>
            <a:r>
              <a:rPr lang="en-US" altLang="zh-CN" sz="3000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24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={1,2,3,4,6,8,12,24}</a:t>
            </a:r>
          </a:p>
          <a:p>
            <a:pPr indent="14288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D) 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8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D)  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24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D)  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30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D)  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都是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格。</a:t>
            </a:r>
            <a:endParaRPr lang="en-US" altLang="zh-CN" sz="3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indent="14288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注：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S={1, 2,3,6,12,24,36} 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问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(S,D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是否为格？</a:t>
            </a:r>
          </a:p>
          <a:p>
            <a:pPr indent="-157163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3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indent="-157163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3000" b="1" dirty="0">
              <a:ea typeface="宋体" pitchFamily="2" charset="-122"/>
            </a:endParaRPr>
          </a:p>
          <a:p>
            <a:pPr indent="-157163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3000" b="1" dirty="0">
              <a:ea typeface="宋体" pitchFamily="2" charset="-122"/>
            </a:endParaRP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endParaRPr lang="en-US" altLang="zh-CN" b="1" dirty="0"/>
          </a:p>
        </p:txBody>
      </p:sp>
      <p:sp>
        <p:nvSpPr>
          <p:cNvPr id="48131" name="灯片编号占位符 1">
            <a:extLst>
              <a:ext uri="{FF2B5EF4-FFF2-40B4-BE49-F238E27FC236}">
                <a16:creationId xmlns="" xmlns:a16="http://schemas.microsoft.com/office/drawing/2014/main" id="{56F42941-E300-45E7-B68A-B6FD7113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AA0CBC-9148-4B7B-8734-9D824132FF28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7" name="标题 4">
            <a:extLst>
              <a:ext uri="{FF2B5EF4-FFF2-40B4-BE49-F238E27FC236}">
                <a16:creationId xmlns="" xmlns:a16="http://schemas.microsoft.com/office/drawing/2014/main" id="{6A5B749E-BE07-4B79-8F0D-212CF2232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>
                <a:solidFill>
                  <a:srgbClr val="0000FF"/>
                </a:solidFill>
                <a:latin typeface="+mn-lt"/>
              </a:rPr>
              <a:t>偏序格的例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556792"/>
            <a:ext cx="8544247" cy="4572000"/>
          </a:xfrm>
        </p:spPr>
        <p:txBody>
          <a:bodyPr/>
          <a:lstStyle/>
          <a:p>
            <a:pPr algn="just"/>
            <a:r>
              <a:rPr lang="zh-CN" altLang="en-US" sz="31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1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: </a:t>
            </a:r>
            <a:r>
              <a:rPr lang="zh-CN" altLang="en-US" sz="3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是所有的命题</a:t>
            </a:r>
            <a:r>
              <a:rPr lang="zh-CN" altLang="en-US" sz="3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集合</a:t>
            </a:r>
            <a:r>
              <a:rPr lang="en-US" altLang="zh-CN" sz="3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定义“</a:t>
            </a:r>
            <a:r>
              <a:rPr lang="zh-CN" altLang="en-US" sz="3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</a:t>
            </a:r>
            <a:r>
              <a:rPr lang="zh-CN" altLang="en-US" sz="3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” 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如下：</a:t>
            </a:r>
          </a:p>
          <a:p>
            <a:pPr algn="ctr"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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当且仅当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蕴涵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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）是一个格。因为</a:t>
            </a:r>
          </a:p>
          <a:p>
            <a:pPr algn="just"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B}=A∧B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 ,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B}=A∨B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 </a:t>
            </a:r>
          </a:p>
          <a:p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287CF0-E7D3-40B0-A5EB-1663BFE233F6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7" name="标题 4">
            <a:extLst>
              <a:ext uri="{FF2B5EF4-FFF2-40B4-BE49-F238E27FC236}">
                <a16:creationId xmlns="" xmlns:a16="http://schemas.microsoft.com/office/drawing/2014/main" id="{6A5B749E-BE07-4B79-8F0D-212CF2232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>
                <a:solidFill>
                  <a:srgbClr val="0000FF"/>
                </a:solidFill>
                <a:latin typeface="+mn-lt"/>
              </a:rPr>
              <a:t>偏序格的例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864378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="" xmlns:a16="http://schemas.microsoft.com/office/drawing/2014/main" id="{BB102948-D355-4987-B8AC-6532783C47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0050" y="1397097"/>
            <a:ext cx="8020050" cy="592138"/>
          </a:xfrm>
        </p:spPr>
        <p:txBody>
          <a:bodyPr/>
          <a:lstStyle/>
          <a:p>
            <a:r>
              <a:rPr lang="zh-CN" altLang="en-US" sz="3200" b="0" dirty="0">
                <a:latin typeface="宋体" panose="02010600030101010101" pitchFamily="2" charset="-122"/>
                <a:ea typeface="宋体" panose="02010600030101010101" pitchFamily="2" charset="-122"/>
              </a:rPr>
              <a:t>判断下面那些是格？</a:t>
            </a:r>
          </a:p>
        </p:txBody>
      </p:sp>
      <p:sp>
        <p:nvSpPr>
          <p:cNvPr id="49155" name="文本框 92">
            <a:extLst>
              <a:ext uri="{FF2B5EF4-FFF2-40B4-BE49-F238E27FC236}">
                <a16:creationId xmlns="" xmlns:a16="http://schemas.microsoft.com/office/drawing/2014/main" id="{E4EA1F53-F1DF-4860-8E1E-6774A7399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734" y="4831523"/>
            <a:ext cx="76327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(1)                  (2)                    (3)                    (4)   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grpSp>
        <p:nvGrpSpPr>
          <p:cNvPr id="49156" name="组合 13">
            <a:extLst>
              <a:ext uri="{FF2B5EF4-FFF2-40B4-BE49-F238E27FC236}">
                <a16:creationId xmlns="" xmlns:a16="http://schemas.microsoft.com/office/drawing/2014/main" id="{6DDC7E04-62F3-4A7C-99E3-999F790164D6}"/>
              </a:ext>
            </a:extLst>
          </p:cNvPr>
          <p:cNvGrpSpPr>
            <a:grpSpLocks/>
          </p:cNvGrpSpPr>
          <p:nvPr/>
        </p:nvGrpSpPr>
        <p:grpSpPr bwMode="auto">
          <a:xfrm>
            <a:off x="835025" y="2170855"/>
            <a:ext cx="7473950" cy="2574925"/>
            <a:chOff x="820938" y="1988078"/>
            <a:chExt cx="7475337" cy="2572810"/>
          </a:xfrm>
        </p:grpSpPr>
        <p:grpSp>
          <p:nvGrpSpPr>
            <p:cNvPr id="49159" name="组合 9">
              <a:extLst>
                <a:ext uri="{FF2B5EF4-FFF2-40B4-BE49-F238E27FC236}">
                  <a16:creationId xmlns="" xmlns:a16="http://schemas.microsoft.com/office/drawing/2014/main" id="{E43CC37A-C6BF-426E-A6D3-7868B44569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8148" y="2120194"/>
              <a:ext cx="1426633" cy="2420056"/>
              <a:chOff x="2538148" y="2120194"/>
              <a:chExt cx="1426633" cy="2420056"/>
            </a:xfrm>
          </p:grpSpPr>
          <p:sp>
            <p:nvSpPr>
              <p:cNvPr id="49193" name="菱形 59">
                <a:extLst>
                  <a:ext uri="{FF2B5EF4-FFF2-40B4-BE49-F238E27FC236}">
                    <a16:creationId xmlns="" xmlns:a16="http://schemas.microsoft.com/office/drawing/2014/main" id="{DA353477-E6CA-4863-BADA-CABFFCBFAB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790211" flipH="1">
                <a:off x="3205245" y="2130076"/>
                <a:ext cx="736407" cy="1280319"/>
              </a:xfrm>
              <a:prstGeom prst="diamond">
                <a:avLst/>
              </a:prstGeom>
              <a:noFill/>
              <a:ln w="158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cxnSp>
            <p:nvCxnSpPr>
              <p:cNvPr id="49194" name="直接连接符 30">
                <a:extLst>
                  <a:ext uri="{FF2B5EF4-FFF2-40B4-BE49-F238E27FC236}">
                    <a16:creationId xmlns="" xmlns:a16="http://schemas.microsoft.com/office/drawing/2014/main" id="{5268DC6A-E5AD-4305-B23A-EBA5501939B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275805" y="3319992"/>
                <a:ext cx="0" cy="1144588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9195" name="菱形 58">
                <a:extLst>
                  <a:ext uri="{FF2B5EF4-FFF2-40B4-BE49-F238E27FC236}">
                    <a16:creationId xmlns="" xmlns:a16="http://schemas.microsoft.com/office/drawing/2014/main" id="{434F07F4-50ED-4795-A925-7A7AF9BF9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790211">
                <a:off x="2568847" y="2120194"/>
                <a:ext cx="736407" cy="1280319"/>
              </a:xfrm>
              <a:prstGeom prst="diamond">
                <a:avLst/>
              </a:prstGeom>
              <a:noFill/>
              <a:ln w="158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49196" name="椭圆 22">
                <a:extLst>
                  <a:ext uri="{FF2B5EF4-FFF2-40B4-BE49-F238E27FC236}">
                    <a16:creationId xmlns="" xmlns:a16="http://schemas.microsoft.com/office/drawing/2014/main" id="{41E9756B-F12F-4A61-AFB4-236E0C3A5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3575" y="2519496"/>
                <a:ext cx="144463" cy="142875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9197" name="椭圆 23">
                <a:extLst>
                  <a:ext uri="{FF2B5EF4-FFF2-40B4-BE49-F238E27FC236}">
                    <a16:creationId xmlns="" xmlns:a16="http://schemas.microsoft.com/office/drawing/2014/main" id="{815F4F03-FA1B-4F31-A2E3-259CA6BB4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0319" y="2143124"/>
                <a:ext cx="144462" cy="144462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9198" name="椭圆 25">
                <a:extLst>
                  <a:ext uri="{FF2B5EF4-FFF2-40B4-BE49-F238E27FC236}">
                    <a16:creationId xmlns="" xmlns:a16="http://schemas.microsoft.com/office/drawing/2014/main" id="{AB83DE62-E206-43D5-99ED-1FAC1035F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3574" y="3219450"/>
                <a:ext cx="144463" cy="144463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9199" name="椭圆 21">
                <a:extLst>
                  <a:ext uri="{FF2B5EF4-FFF2-40B4-BE49-F238E27FC236}">
                    <a16:creationId xmlns="" xmlns:a16="http://schemas.microsoft.com/office/drawing/2014/main" id="{756615D5-EF33-46C0-B5FC-A4C7C21E1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1275" y="2162440"/>
                <a:ext cx="142875" cy="144462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9200" name="椭圆 26">
                <a:extLst>
                  <a:ext uri="{FF2B5EF4-FFF2-40B4-BE49-F238E27FC236}">
                    <a16:creationId xmlns="" xmlns:a16="http://schemas.microsoft.com/office/drawing/2014/main" id="{9586EBBB-6413-4DD0-8D53-5B6F74B1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5793" y="2878931"/>
                <a:ext cx="144462" cy="142875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9201" name="椭圆 38">
                <a:extLst>
                  <a:ext uri="{FF2B5EF4-FFF2-40B4-BE49-F238E27FC236}">
                    <a16:creationId xmlns="" xmlns:a16="http://schemas.microsoft.com/office/drawing/2014/main" id="{F93BE16C-A92C-4A5C-A3CC-9BCE33E9E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8148" y="2884487"/>
                <a:ext cx="144463" cy="142875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pic>
            <p:nvPicPr>
              <p:cNvPr id="49202" name="图片 54">
                <a:extLst>
                  <a:ext uri="{FF2B5EF4-FFF2-40B4-BE49-F238E27FC236}">
                    <a16:creationId xmlns="" xmlns:a16="http://schemas.microsoft.com/office/drawing/2014/main" id="{E94E122D-53D5-4ABA-BCA5-B8C6CC5575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03574" y="4381500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9160" name="组合 1">
              <a:extLst>
                <a:ext uri="{FF2B5EF4-FFF2-40B4-BE49-F238E27FC236}">
                  <a16:creationId xmlns="" xmlns:a16="http://schemas.microsoft.com/office/drawing/2014/main" id="{2363B65B-6300-481D-B68A-5E2AD36884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600" y="2121520"/>
              <a:ext cx="3495675" cy="2387600"/>
              <a:chOff x="4800600" y="1939925"/>
              <a:chExt cx="3495675" cy="2387600"/>
            </a:xfrm>
          </p:grpSpPr>
          <p:sp>
            <p:nvSpPr>
              <p:cNvPr id="49171" name="椭圆 40">
                <a:extLst>
                  <a:ext uri="{FF2B5EF4-FFF2-40B4-BE49-F238E27FC236}">
                    <a16:creationId xmlns="" xmlns:a16="http://schemas.microsoft.com/office/drawing/2014/main" id="{C03D80C6-A295-494B-BEA5-7F12EA130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5600" y="1965325"/>
                <a:ext cx="144463" cy="144463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49172" name="直接连接符 42">
                <a:extLst>
                  <a:ext uri="{FF2B5EF4-FFF2-40B4-BE49-F238E27FC236}">
                    <a16:creationId xmlns="" xmlns:a16="http://schemas.microsoft.com/office/drawing/2014/main" id="{6591503E-558E-4F99-89E4-3E6E713EC2A9}"/>
                  </a:ext>
                </a:extLst>
              </p:cNvPr>
              <p:cNvCxnSpPr>
                <a:cxnSpLocks noChangeShapeType="1"/>
                <a:stCxn id="49171" idx="2"/>
                <a:endCxn id="49174" idx="7"/>
              </p:cNvCxnSpPr>
              <p:nvPr/>
            </p:nvCxnSpPr>
            <p:spPr bwMode="auto">
              <a:xfrm flipH="1">
                <a:off x="4924425" y="2038350"/>
                <a:ext cx="511175" cy="561975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173" name="直接连接符 44">
                <a:extLst>
                  <a:ext uri="{FF2B5EF4-FFF2-40B4-BE49-F238E27FC236}">
                    <a16:creationId xmlns="" xmlns:a16="http://schemas.microsoft.com/office/drawing/2014/main" id="{8236B068-241F-4F21-8482-81BD13ADE5FA}"/>
                  </a:ext>
                </a:extLst>
              </p:cNvPr>
              <p:cNvCxnSpPr>
                <a:cxnSpLocks noChangeShapeType="1"/>
                <a:stCxn id="49171" idx="6"/>
                <a:endCxn id="49175" idx="1"/>
              </p:cNvCxnSpPr>
              <p:nvPr/>
            </p:nvCxnSpPr>
            <p:spPr bwMode="auto">
              <a:xfrm>
                <a:off x="5580063" y="2038350"/>
                <a:ext cx="525462" cy="561975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9174" name="椭圆 45">
                <a:extLst>
                  <a:ext uri="{FF2B5EF4-FFF2-40B4-BE49-F238E27FC236}">
                    <a16:creationId xmlns="" xmlns:a16="http://schemas.microsoft.com/office/drawing/2014/main" id="{0643DF7F-775A-44A8-A538-A8F4D9441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600" y="2579688"/>
                <a:ext cx="144463" cy="144462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9175" name="椭圆 46">
                <a:extLst>
                  <a:ext uri="{FF2B5EF4-FFF2-40B4-BE49-F238E27FC236}">
                    <a16:creationId xmlns="" xmlns:a16="http://schemas.microsoft.com/office/drawing/2014/main" id="{69B33650-1A78-44B6-9563-58CBB2023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4888" y="2579688"/>
                <a:ext cx="142875" cy="144462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49176" name="直接连接符 48">
                <a:extLst>
                  <a:ext uri="{FF2B5EF4-FFF2-40B4-BE49-F238E27FC236}">
                    <a16:creationId xmlns="" xmlns:a16="http://schemas.microsoft.com/office/drawing/2014/main" id="{9A8A517F-66BC-43C9-AB08-E1C7FBE28006}"/>
                  </a:ext>
                </a:extLst>
              </p:cNvPr>
              <p:cNvCxnSpPr>
                <a:cxnSpLocks noChangeShapeType="1"/>
                <a:stCxn id="49174" idx="5"/>
                <a:endCxn id="49179" idx="1"/>
              </p:cNvCxnSpPr>
              <p:nvPr/>
            </p:nvCxnSpPr>
            <p:spPr bwMode="auto">
              <a:xfrm>
                <a:off x="4924425" y="2701925"/>
                <a:ext cx="530225" cy="582613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177" name="直接连接符 50">
                <a:extLst>
                  <a:ext uri="{FF2B5EF4-FFF2-40B4-BE49-F238E27FC236}">
                    <a16:creationId xmlns="" xmlns:a16="http://schemas.microsoft.com/office/drawing/2014/main" id="{70DCBF5D-B091-4BA3-ABDE-887EB4D64D55}"/>
                  </a:ext>
                </a:extLst>
              </p:cNvPr>
              <p:cNvCxnSpPr>
                <a:cxnSpLocks noChangeShapeType="1"/>
                <a:stCxn id="49175" idx="4"/>
                <a:endCxn id="49179" idx="7"/>
              </p:cNvCxnSpPr>
              <p:nvPr/>
            </p:nvCxnSpPr>
            <p:spPr bwMode="auto">
              <a:xfrm flipH="1">
                <a:off x="5556250" y="2724150"/>
                <a:ext cx="600075" cy="5603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pic>
            <p:nvPicPr>
              <p:cNvPr id="49178" name="图片 55">
                <a:extLst>
                  <a:ext uri="{FF2B5EF4-FFF2-40B4-BE49-F238E27FC236}">
                    <a16:creationId xmlns="" xmlns:a16="http://schemas.microsoft.com/office/drawing/2014/main" id="{36F2C1F9-1413-462F-AC00-94AA178A3C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29250" y="4168775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179" name="椭圆 58">
                <a:extLst>
                  <a:ext uri="{FF2B5EF4-FFF2-40B4-BE49-F238E27FC236}">
                    <a16:creationId xmlns="" xmlns:a16="http://schemas.microsoft.com/office/drawing/2014/main" id="{AAB5F721-5999-4904-9CBE-2CCF328220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425" y="3262313"/>
                <a:ext cx="144463" cy="144462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49180" name="直接连接符 62">
                <a:extLst>
                  <a:ext uri="{FF2B5EF4-FFF2-40B4-BE49-F238E27FC236}">
                    <a16:creationId xmlns="" xmlns:a16="http://schemas.microsoft.com/office/drawing/2014/main" id="{61AC8D95-7252-49FA-B32A-BAB6E4CCA25C}"/>
                  </a:ext>
                </a:extLst>
              </p:cNvPr>
              <p:cNvCxnSpPr>
                <a:cxnSpLocks noChangeShapeType="1"/>
                <a:stCxn id="49179" idx="4"/>
                <a:endCxn id="49178" idx="0"/>
              </p:cNvCxnSpPr>
              <p:nvPr/>
            </p:nvCxnSpPr>
            <p:spPr bwMode="auto">
              <a:xfrm>
                <a:off x="5505450" y="3406775"/>
                <a:ext cx="0" cy="76200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pic>
            <p:nvPicPr>
              <p:cNvPr id="49181" name="图片 72">
                <a:extLst>
                  <a:ext uri="{FF2B5EF4-FFF2-40B4-BE49-F238E27FC236}">
                    <a16:creationId xmlns="" xmlns:a16="http://schemas.microsoft.com/office/drawing/2014/main" id="{05835866-56CD-4777-9AF1-BC1457DC39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67625" y="1939925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9182" name="直接连接符 74">
                <a:extLst>
                  <a:ext uri="{FF2B5EF4-FFF2-40B4-BE49-F238E27FC236}">
                    <a16:creationId xmlns="" xmlns:a16="http://schemas.microsoft.com/office/drawing/2014/main" id="{71811BFF-0510-4A5C-B148-F9DC6CF8A9DF}"/>
                  </a:ext>
                </a:extLst>
              </p:cNvPr>
              <p:cNvCxnSpPr>
                <a:cxnSpLocks noChangeShapeType="1"/>
                <a:stCxn id="49181" idx="1"/>
              </p:cNvCxnSpPr>
              <p:nvPr/>
            </p:nvCxnSpPr>
            <p:spPr bwMode="auto">
              <a:xfrm flipH="1">
                <a:off x="7164388" y="2019300"/>
                <a:ext cx="503237" cy="581025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183" name="直接连接符 76">
                <a:extLst>
                  <a:ext uri="{FF2B5EF4-FFF2-40B4-BE49-F238E27FC236}">
                    <a16:creationId xmlns="" xmlns:a16="http://schemas.microsoft.com/office/drawing/2014/main" id="{6F253A49-D3CB-41A5-8AE3-F44D12B9E435}"/>
                  </a:ext>
                </a:extLst>
              </p:cNvPr>
              <p:cNvCxnSpPr>
                <a:cxnSpLocks noChangeShapeType="1"/>
                <a:stCxn id="49181" idx="3"/>
                <a:endCxn id="49185" idx="0"/>
              </p:cNvCxnSpPr>
              <p:nvPr/>
            </p:nvCxnSpPr>
            <p:spPr bwMode="auto">
              <a:xfrm>
                <a:off x="7820025" y="2019300"/>
                <a:ext cx="368300" cy="525463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pic>
            <p:nvPicPr>
              <p:cNvPr id="49184" name="图片 78">
                <a:extLst>
                  <a:ext uri="{FF2B5EF4-FFF2-40B4-BE49-F238E27FC236}">
                    <a16:creationId xmlns="" xmlns:a16="http://schemas.microsoft.com/office/drawing/2014/main" id="{8DB52C71-4E3D-4846-9085-4F04B16E8B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91363" y="2544763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85" name="图片 79">
                <a:extLst>
                  <a:ext uri="{FF2B5EF4-FFF2-40B4-BE49-F238E27FC236}">
                    <a16:creationId xmlns="" xmlns:a16="http://schemas.microsoft.com/office/drawing/2014/main" id="{19A20963-E566-4EAA-99D5-358AD8AE5D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12125" y="2544763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9186" name="直接连接符 82">
                <a:extLst>
                  <a:ext uri="{FF2B5EF4-FFF2-40B4-BE49-F238E27FC236}">
                    <a16:creationId xmlns="" xmlns:a16="http://schemas.microsoft.com/office/drawing/2014/main" id="{7EA7A241-F22D-4EE4-AE58-600B7D243BB7}"/>
                  </a:ext>
                </a:extLst>
              </p:cNvPr>
              <p:cNvCxnSpPr>
                <a:cxnSpLocks noChangeShapeType="1"/>
                <a:stCxn id="49185" idx="2"/>
              </p:cNvCxnSpPr>
              <p:nvPr/>
            </p:nvCxnSpPr>
            <p:spPr bwMode="auto">
              <a:xfrm flipH="1">
                <a:off x="7164388" y="2703513"/>
                <a:ext cx="1023937" cy="719137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187" name="直接连接符 84">
                <a:extLst>
                  <a:ext uri="{FF2B5EF4-FFF2-40B4-BE49-F238E27FC236}">
                    <a16:creationId xmlns="" xmlns:a16="http://schemas.microsoft.com/office/drawing/2014/main" id="{BE9C1134-B42A-4848-A974-84619A7BD6AF}"/>
                  </a:ext>
                </a:extLst>
              </p:cNvPr>
              <p:cNvCxnSpPr>
                <a:cxnSpLocks noChangeShapeType="1"/>
                <a:stCxn id="49184" idx="2"/>
              </p:cNvCxnSpPr>
              <p:nvPr/>
            </p:nvCxnSpPr>
            <p:spPr bwMode="auto">
              <a:xfrm>
                <a:off x="7167563" y="2703513"/>
                <a:ext cx="1020762" cy="747712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pic>
            <p:nvPicPr>
              <p:cNvPr id="49188" name="图片 85">
                <a:extLst>
                  <a:ext uri="{FF2B5EF4-FFF2-40B4-BE49-F238E27FC236}">
                    <a16:creationId xmlns="" xmlns:a16="http://schemas.microsoft.com/office/drawing/2014/main" id="{48393362-BBDB-4345-82F5-10B78C7189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88188" y="3340100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89" name="图片 86">
                <a:extLst>
                  <a:ext uri="{FF2B5EF4-FFF2-40B4-BE49-F238E27FC236}">
                    <a16:creationId xmlns="" xmlns:a16="http://schemas.microsoft.com/office/drawing/2014/main" id="{D151A916-B8EF-46E2-AB07-3EDD2D1D5E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43875" y="3357563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90" name="图片 87">
                <a:extLst>
                  <a:ext uri="{FF2B5EF4-FFF2-40B4-BE49-F238E27FC236}">
                    <a16:creationId xmlns="" xmlns:a16="http://schemas.microsoft.com/office/drawing/2014/main" id="{A5C2D79F-BDE4-4FEC-A2DE-D9684F7590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40638" y="4089400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9191" name="直接连接符 89">
                <a:extLst>
                  <a:ext uri="{FF2B5EF4-FFF2-40B4-BE49-F238E27FC236}">
                    <a16:creationId xmlns="" xmlns:a16="http://schemas.microsoft.com/office/drawing/2014/main" id="{EC3421B6-0CE0-4794-A86D-7F0D95534A21}"/>
                  </a:ext>
                </a:extLst>
              </p:cNvPr>
              <p:cNvCxnSpPr>
                <a:cxnSpLocks noChangeShapeType="1"/>
                <a:stCxn id="49188" idx="2"/>
                <a:endCxn id="49190" idx="0"/>
              </p:cNvCxnSpPr>
              <p:nvPr/>
            </p:nvCxnSpPr>
            <p:spPr bwMode="auto">
              <a:xfrm>
                <a:off x="7164388" y="3498850"/>
                <a:ext cx="552450" cy="59055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192" name="直接连接符 91">
                <a:extLst>
                  <a:ext uri="{FF2B5EF4-FFF2-40B4-BE49-F238E27FC236}">
                    <a16:creationId xmlns="" xmlns:a16="http://schemas.microsoft.com/office/drawing/2014/main" id="{3F1EC249-43E4-4316-A8B1-56E1C15CF480}"/>
                  </a:ext>
                </a:extLst>
              </p:cNvPr>
              <p:cNvCxnSpPr>
                <a:cxnSpLocks noChangeShapeType="1"/>
                <a:stCxn id="49189" idx="2"/>
                <a:endCxn id="49190" idx="0"/>
              </p:cNvCxnSpPr>
              <p:nvPr/>
            </p:nvCxnSpPr>
            <p:spPr bwMode="auto">
              <a:xfrm flipH="1">
                <a:off x="7716838" y="3516313"/>
                <a:ext cx="503237" cy="573087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9161" name="组合 12">
              <a:extLst>
                <a:ext uri="{FF2B5EF4-FFF2-40B4-BE49-F238E27FC236}">
                  <a16:creationId xmlns="" xmlns:a16="http://schemas.microsoft.com/office/drawing/2014/main" id="{4E321C53-680F-41A6-AB36-63511A7C62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0938" y="1988078"/>
              <a:ext cx="1041361" cy="2572810"/>
              <a:chOff x="820938" y="1988078"/>
              <a:chExt cx="1041361" cy="2572810"/>
            </a:xfrm>
          </p:grpSpPr>
          <p:sp>
            <p:nvSpPr>
              <p:cNvPr id="49162" name="菱形 4">
                <a:extLst>
                  <a:ext uri="{FF2B5EF4-FFF2-40B4-BE49-F238E27FC236}">
                    <a16:creationId xmlns="" xmlns:a16="http://schemas.microsoft.com/office/drawing/2014/main" id="{16DED344-3008-4143-87B5-5D92B5E8E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1391" y="2644775"/>
                <a:ext cx="894815" cy="1280319"/>
              </a:xfrm>
              <a:prstGeom prst="diamond">
                <a:avLst/>
              </a:prstGeom>
              <a:noFill/>
              <a:ln w="158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cxnSp>
            <p:nvCxnSpPr>
              <p:cNvPr id="49163" name="直接连接符 5">
                <a:extLst>
                  <a:ext uri="{FF2B5EF4-FFF2-40B4-BE49-F238E27FC236}">
                    <a16:creationId xmlns="" xmlns:a16="http://schemas.microsoft.com/office/drawing/2014/main" id="{2C0C93C1-BA48-482B-83EC-425A098653E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331913" y="2132087"/>
                <a:ext cx="0" cy="504825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164" name="直接连接符 13">
                <a:extLst>
                  <a:ext uri="{FF2B5EF4-FFF2-40B4-BE49-F238E27FC236}">
                    <a16:creationId xmlns="" xmlns:a16="http://schemas.microsoft.com/office/drawing/2014/main" id="{98A75CDD-7D32-4DC0-9ACD-ACF7DAB8EE9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331913" y="3983832"/>
                <a:ext cx="6885" cy="51831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pic>
            <p:nvPicPr>
              <p:cNvPr id="49165" name="图片 54">
                <a:extLst>
                  <a:ext uri="{FF2B5EF4-FFF2-40B4-BE49-F238E27FC236}">
                    <a16:creationId xmlns="" xmlns:a16="http://schemas.microsoft.com/office/drawing/2014/main" id="{76FC0E3F-4314-43F2-AC71-E2567659D4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8289" y="1988078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66" name="图片 54">
                <a:extLst>
                  <a:ext uri="{FF2B5EF4-FFF2-40B4-BE49-F238E27FC236}">
                    <a16:creationId xmlns="" xmlns:a16="http://schemas.microsoft.com/office/drawing/2014/main" id="{88D841D6-2B4A-49CF-AF9A-6ADC08DD2A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8311" y="2572544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67" name="图片 54">
                <a:extLst>
                  <a:ext uri="{FF2B5EF4-FFF2-40B4-BE49-F238E27FC236}">
                    <a16:creationId xmlns="" xmlns:a16="http://schemas.microsoft.com/office/drawing/2014/main" id="{33BD8DDB-55B5-4669-8799-DAC9DD800B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62598" y="3845719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68" name="图片 54">
                <a:extLst>
                  <a:ext uri="{FF2B5EF4-FFF2-40B4-BE49-F238E27FC236}">
                    <a16:creationId xmlns="" xmlns:a16="http://schemas.microsoft.com/office/drawing/2014/main" id="{6835996E-381D-4EFC-BEDD-716AFA56CA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09899" y="3219450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69" name="图片 54">
                <a:extLst>
                  <a:ext uri="{FF2B5EF4-FFF2-40B4-BE49-F238E27FC236}">
                    <a16:creationId xmlns="" xmlns:a16="http://schemas.microsoft.com/office/drawing/2014/main" id="{536C4D85-E69C-4EC7-9A7E-24E62E53F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0938" y="3212306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70" name="图片 54">
                <a:extLst>
                  <a:ext uri="{FF2B5EF4-FFF2-40B4-BE49-F238E27FC236}">
                    <a16:creationId xmlns="" xmlns:a16="http://schemas.microsoft.com/office/drawing/2014/main" id="{98A0059C-553A-4C3B-AC6F-788EB61EBE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5713" y="4402138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49157" name="灯片编号占位符 1">
            <a:extLst>
              <a:ext uri="{FF2B5EF4-FFF2-40B4-BE49-F238E27FC236}">
                <a16:creationId xmlns="" xmlns:a16="http://schemas.microsoft.com/office/drawing/2014/main" id="{99CEA478-D882-4F1F-8C53-CC08CE18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9FC6C0-3E94-4FF1-88B3-87FE97B3C8F6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D6546023-C17F-4D42-986E-986F30664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5591175"/>
            <a:ext cx="70754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答案：</a:t>
            </a:r>
            <a:r>
              <a:rPr lang="en-US" altLang="zh-CN" sz="2800"/>
              <a:t>(1) , (3) , (4)</a:t>
            </a:r>
            <a:endParaRPr lang="zh-CN" altLang="en-US" sz="2800"/>
          </a:p>
        </p:txBody>
      </p:sp>
      <p:sp>
        <p:nvSpPr>
          <p:cNvPr id="51" name="标题 4">
            <a:extLst>
              <a:ext uri="{FF2B5EF4-FFF2-40B4-BE49-F238E27FC236}">
                <a16:creationId xmlns="" xmlns:a16="http://schemas.microsoft.com/office/drawing/2014/main" id="{6A5B749E-BE07-4B79-8F0D-212CF22326DF}"/>
              </a:ext>
            </a:extLst>
          </p:cNvPr>
          <p:cNvSpPr txBox="1">
            <a:spLocks/>
          </p:cNvSpPr>
          <p:nvPr/>
        </p:nvSpPr>
        <p:spPr bwMode="auto">
          <a:xfrm>
            <a:off x="561975" y="620713"/>
            <a:ext cx="80200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kern="0" dirty="0" smtClean="0"/>
              <a:t/>
            </a:r>
            <a:br>
              <a:rPr lang="en-US" altLang="zh-CN" kern="0" dirty="0" smtClean="0"/>
            </a:br>
            <a:r>
              <a:rPr lang="zh-CN" altLang="en-US" kern="0" dirty="0" smtClean="0">
                <a:solidFill>
                  <a:srgbClr val="0000FF"/>
                </a:solidFill>
                <a:latin typeface="+mn-lt"/>
              </a:rPr>
              <a:t>练习：</a:t>
            </a:r>
            <a:r>
              <a:rPr lang="zh-CN" altLang="en-US" kern="0" dirty="0" smtClean="0">
                <a:solidFill>
                  <a:srgbClr val="0000FF"/>
                </a:solidFill>
              </a:rPr>
              <a:t> </a:t>
            </a:r>
            <a:r>
              <a:rPr lang="zh-CN" altLang="en-US" kern="0" dirty="0" smtClean="0"/>
              <a:t/>
            </a:r>
            <a:br>
              <a:rPr lang="zh-CN" altLang="en-US" kern="0" dirty="0" smtClean="0"/>
            </a:br>
            <a:endParaRPr lang="zh-CN" altLang="en-US" kern="0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C924A2B-4A0B-42A2-9B26-A35C19F9C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469473"/>
            <a:ext cx="8467725" cy="455181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判断下面哪些不是格？</a:t>
            </a:r>
            <a:endParaRPr lang="en-US" altLang="zh-CN" sz="3000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</a:t>
            </a:r>
            <a:r>
              <a:rPr lang="en-US" altLang="zh-CN" sz="2800" dirty="0"/>
              <a:t>A               B                 C                   D                  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答案：</a:t>
            </a:r>
            <a:r>
              <a:rPr lang="en-US" altLang="zh-CN" sz="2800" dirty="0"/>
              <a:t>B E</a:t>
            </a:r>
            <a:endParaRPr lang="zh-CN" altLang="en-US" sz="2800" dirty="0"/>
          </a:p>
        </p:txBody>
      </p:sp>
      <p:sp>
        <p:nvSpPr>
          <p:cNvPr id="50180" name="Line 8">
            <a:extLst>
              <a:ext uri="{FF2B5EF4-FFF2-40B4-BE49-F238E27FC236}">
                <a16:creationId xmlns="" xmlns:a16="http://schemas.microsoft.com/office/drawing/2014/main" id="{1D6E28A0-79BD-4144-9426-F29ED88641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100" y="2870200"/>
            <a:ext cx="446088" cy="342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81" name="组合 5">
            <a:extLst>
              <a:ext uri="{FF2B5EF4-FFF2-40B4-BE49-F238E27FC236}">
                <a16:creationId xmlns="" xmlns:a16="http://schemas.microsoft.com/office/drawing/2014/main" id="{C441CB99-3363-4256-ACB4-42E1FBA7B4F7}"/>
              </a:ext>
            </a:extLst>
          </p:cNvPr>
          <p:cNvGrpSpPr>
            <a:grpSpLocks/>
          </p:cNvGrpSpPr>
          <p:nvPr/>
        </p:nvGrpSpPr>
        <p:grpSpPr bwMode="auto">
          <a:xfrm>
            <a:off x="546100" y="2533650"/>
            <a:ext cx="890588" cy="1543050"/>
            <a:chOff x="546100" y="2505075"/>
            <a:chExt cx="890588" cy="1543050"/>
          </a:xfrm>
        </p:grpSpPr>
        <p:sp>
          <p:nvSpPr>
            <p:cNvPr id="50218" name="Line 3">
              <a:extLst>
                <a:ext uri="{FF2B5EF4-FFF2-40B4-BE49-F238E27FC236}">
                  <a16:creationId xmlns="" xmlns:a16="http://schemas.microsoft.com/office/drawing/2014/main" id="{8188BB4C-64B5-41BE-9F18-DCE94132FC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6100" y="2505075"/>
              <a:ext cx="445294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9" name="Line 4">
              <a:extLst>
                <a:ext uri="{FF2B5EF4-FFF2-40B4-BE49-F238E27FC236}">
                  <a16:creationId xmlns="" xmlns:a16="http://schemas.microsoft.com/office/drawing/2014/main" id="{94942116-F5CD-4338-AB7F-E63608252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1394" y="2505075"/>
              <a:ext cx="445294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0" name="Line 5">
              <a:extLst>
                <a:ext uri="{FF2B5EF4-FFF2-40B4-BE49-F238E27FC236}">
                  <a16:creationId xmlns="" xmlns:a16="http://schemas.microsoft.com/office/drawing/2014/main" id="{1EA6F0F2-B46D-4CC2-BE10-3FA576FD0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100" y="2847975"/>
              <a:ext cx="0" cy="857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1" name="Line 7">
              <a:extLst>
                <a:ext uri="{FF2B5EF4-FFF2-40B4-BE49-F238E27FC236}">
                  <a16:creationId xmlns="" xmlns:a16="http://schemas.microsoft.com/office/drawing/2014/main" id="{951F3F47-FBC8-4699-B848-6A91597B6E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6688" y="2847975"/>
              <a:ext cx="0" cy="857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2" name="Line 9">
              <a:extLst>
                <a:ext uri="{FF2B5EF4-FFF2-40B4-BE49-F238E27FC236}">
                  <a16:creationId xmlns="" xmlns:a16="http://schemas.microsoft.com/office/drawing/2014/main" id="{6D2B8D16-4546-4BC2-9E1E-BEFA031138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1394" y="2847975"/>
              <a:ext cx="445294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3" name="Line 10">
              <a:extLst>
                <a:ext uri="{FF2B5EF4-FFF2-40B4-BE49-F238E27FC236}">
                  <a16:creationId xmlns="" xmlns:a16="http://schemas.microsoft.com/office/drawing/2014/main" id="{EFD13F53-0A6D-4413-8CA9-FA08213B87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6100" y="3533775"/>
              <a:ext cx="445294" cy="171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4" name="Line 11">
              <a:extLst>
                <a:ext uri="{FF2B5EF4-FFF2-40B4-BE49-F238E27FC236}">
                  <a16:creationId xmlns="" xmlns:a16="http://schemas.microsoft.com/office/drawing/2014/main" id="{912E0A5E-944D-4890-A41E-E7245C570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91394" y="3533775"/>
              <a:ext cx="445294" cy="171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5" name="Line 12">
              <a:extLst>
                <a:ext uri="{FF2B5EF4-FFF2-40B4-BE49-F238E27FC236}">
                  <a16:creationId xmlns="" xmlns:a16="http://schemas.microsoft.com/office/drawing/2014/main" id="{B743A8FC-9C38-42DB-B773-63DCD08BA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100" y="3705225"/>
              <a:ext cx="445294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6" name="Line 13">
              <a:extLst>
                <a:ext uri="{FF2B5EF4-FFF2-40B4-BE49-F238E27FC236}">
                  <a16:creationId xmlns="" xmlns:a16="http://schemas.microsoft.com/office/drawing/2014/main" id="{AA5F6DE5-64BF-4BCB-902C-9EC81977A5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1394" y="3705225"/>
              <a:ext cx="445294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2" name="Group 14">
            <a:extLst>
              <a:ext uri="{FF2B5EF4-FFF2-40B4-BE49-F238E27FC236}">
                <a16:creationId xmlns="" xmlns:a16="http://schemas.microsoft.com/office/drawing/2014/main" id="{4111DEEF-4E44-431C-95A2-C1F879CDBD1B}"/>
              </a:ext>
            </a:extLst>
          </p:cNvPr>
          <p:cNvGrpSpPr>
            <a:grpSpLocks/>
          </p:cNvGrpSpPr>
          <p:nvPr/>
        </p:nvGrpSpPr>
        <p:grpSpPr bwMode="auto">
          <a:xfrm>
            <a:off x="2016125" y="2505075"/>
            <a:ext cx="1130300" cy="1543050"/>
            <a:chOff x="4140" y="11892"/>
            <a:chExt cx="1080" cy="1092"/>
          </a:xfrm>
        </p:grpSpPr>
        <p:sp>
          <p:nvSpPr>
            <p:cNvPr id="50210" name="Line 15">
              <a:extLst>
                <a:ext uri="{FF2B5EF4-FFF2-40B4-BE49-F238E27FC236}">
                  <a16:creationId xmlns="" xmlns:a16="http://schemas.microsoft.com/office/drawing/2014/main" id="{52D05DC9-10E1-4076-9DE5-DD7A14E092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0" y="11892"/>
              <a:ext cx="54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1" name="Line 16">
              <a:extLst>
                <a:ext uri="{FF2B5EF4-FFF2-40B4-BE49-F238E27FC236}">
                  <a16:creationId xmlns="" xmlns:a16="http://schemas.microsoft.com/office/drawing/2014/main" id="{1DCEA673-3E5A-4760-9733-6D34B4889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0" y="11892"/>
              <a:ext cx="54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2" name="Line 17">
              <a:extLst>
                <a:ext uri="{FF2B5EF4-FFF2-40B4-BE49-F238E27FC236}">
                  <a16:creationId xmlns="" xmlns:a16="http://schemas.microsoft.com/office/drawing/2014/main" id="{57FD3941-2092-4768-AC27-4430D36BC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" y="12204"/>
              <a:ext cx="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3" name="Line 18">
              <a:extLst>
                <a:ext uri="{FF2B5EF4-FFF2-40B4-BE49-F238E27FC236}">
                  <a16:creationId xmlns="" xmlns:a16="http://schemas.microsoft.com/office/drawing/2014/main" id="{4ECA0547-35B2-4C75-ABCE-BD16E2429B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" y="12204"/>
              <a:ext cx="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4" name="Line 19">
              <a:extLst>
                <a:ext uri="{FF2B5EF4-FFF2-40B4-BE49-F238E27FC236}">
                  <a16:creationId xmlns="" xmlns:a16="http://schemas.microsoft.com/office/drawing/2014/main" id="{30C62DEF-90E4-4EA7-9B1D-06EA855193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" y="12672"/>
              <a:ext cx="54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5" name="Line 20">
              <a:extLst>
                <a:ext uri="{FF2B5EF4-FFF2-40B4-BE49-F238E27FC236}">
                  <a16:creationId xmlns="" xmlns:a16="http://schemas.microsoft.com/office/drawing/2014/main" id="{C50B9124-16D2-4A60-B13C-E7A3BC7645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0" y="12672"/>
              <a:ext cx="54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6" name="Line 21">
              <a:extLst>
                <a:ext uri="{FF2B5EF4-FFF2-40B4-BE49-F238E27FC236}">
                  <a16:creationId xmlns="" xmlns:a16="http://schemas.microsoft.com/office/drawing/2014/main" id="{5094ED35-6F6E-417B-833F-8D4990BCA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" y="12204"/>
              <a:ext cx="108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7" name="Line 22">
              <a:extLst>
                <a:ext uri="{FF2B5EF4-FFF2-40B4-BE49-F238E27FC236}">
                  <a16:creationId xmlns="" xmlns:a16="http://schemas.microsoft.com/office/drawing/2014/main" id="{DB350CEC-92F5-4040-A3C2-A4A132A282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0" y="12204"/>
              <a:ext cx="108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83" name="Line 24">
            <a:extLst>
              <a:ext uri="{FF2B5EF4-FFF2-40B4-BE49-F238E27FC236}">
                <a16:creationId xmlns="" xmlns:a16="http://schemas.microsoft.com/office/drawing/2014/main" id="{300F9B1D-A63C-4C4D-BC79-ADB96B1218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1575" y="2476500"/>
            <a:ext cx="652463" cy="447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4" name="Line 25">
            <a:extLst>
              <a:ext uri="{FF2B5EF4-FFF2-40B4-BE49-F238E27FC236}">
                <a16:creationId xmlns="" xmlns:a16="http://schemas.microsoft.com/office/drawing/2014/main" id="{8DD2C5F4-71CD-4438-8E85-B769959FF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4038" y="2476500"/>
            <a:ext cx="650875" cy="447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5" name="Line 28">
            <a:extLst>
              <a:ext uri="{FF2B5EF4-FFF2-40B4-BE49-F238E27FC236}">
                <a16:creationId xmlns="" xmlns:a16="http://schemas.microsoft.com/office/drawing/2014/main" id="{F3F03DC7-E37F-440A-BCCA-525AA54BF1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1575" y="3595688"/>
            <a:ext cx="652463" cy="447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6" name="Line 29">
            <a:extLst>
              <a:ext uri="{FF2B5EF4-FFF2-40B4-BE49-F238E27FC236}">
                <a16:creationId xmlns="" xmlns:a16="http://schemas.microsoft.com/office/drawing/2014/main" id="{04A3D592-D381-47AD-83E0-5FEF20EB5F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64038" y="3595688"/>
            <a:ext cx="650875" cy="447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7" name="Line 30">
            <a:extLst>
              <a:ext uri="{FF2B5EF4-FFF2-40B4-BE49-F238E27FC236}">
                <a16:creationId xmlns="" xmlns:a16="http://schemas.microsoft.com/office/drawing/2014/main" id="{31939B88-8381-4FCF-8C82-6F2F4AEA9F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4038" y="3371850"/>
            <a:ext cx="650875" cy="223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8" name="Line 31">
            <a:extLst>
              <a:ext uri="{FF2B5EF4-FFF2-40B4-BE49-F238E27FC236}">
                <a16:creationId xmlns="" xmlns:a16="http://schemas.microsoft.com/office/drawing/2014/main" id="{261116FE-68E4-4CD4-87FA-69E56618E6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64038" y="2924175"/>
            <a:ext cx="650875" cy="447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9" name="Line 32">
            <a:extLst>
              <a:ext uri="{FF2B5EF4-FFF2-40B4-BE49-F238E27FC236}">
                <a16:creationId xmlns="" xmlns:a16="http://schemas.microsoft.com/office/drawing/2014/main" id="{E8116E8A-ED50-41D5-8452-E5C0109F55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11575" y="2924175"/>
            <a:ext cx="652463" cy="447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0" name="Line 33">
            <a:extLst>
              <a:ext uri="{FF2B5EF4-FFF2-40B4-BE49-F238E27FC236}">
                <a16:creationId xmlns="" xmlns:a16="http://schemas.microsoft.com/office/drawing/2014/main" id="{EA1710C4-A984-444F-8E3D-753059C262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1575" y="3371850"/>
            <a:ext cx="652463" cy="223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91" name="Group 34">
            <a:extLst>
              <a:ext uri="{FF2B5EF4-FFF2-40B4-BE49-F238E27FC236}">
                <a16:creationId xmlns="" xmlns:a16="http://schemas.microsoft.com/office/drawing/2014/main" id="{B0626E4D-A5B3-40E9-8D7C-AE93719522FF}"/>
              </a:ext>
            </a:extLst>
          </p:cNvPr>
          <p:cNvGrpSpPr>
            <a:grpSpLocks/>
          </p:cNvGrpSpPr>
          <p:nvPr/>
        </p:nvGrpSpPr>
        <p:grpSpPr bwMode="auto">
          <a:xfrm>
            <a:off x="5654675" y="2374900"/>
            <a:ext cx="1265238" cy="1770063"/>
            <a:chOff x="8280" y="11892"/>
            <a:chExt cx="720" cy="1404"/>
          </a:xfrm>
        </p:grpSpPr>
        <p:sp>
          <p:nvSpPr>
            <p:cNvPr id="50201" name="Line 35">
              <a:extLst>
                <a:ext uri="{FF2B5EF4-FFF2-40B4-BE49-F238E27FC236}">
                  <a16:creationId xmlns="" xmlns:a16="http://schemas.microsoft.com/office/drawing/2014/main" id="{D2119CC3-64C9-4AD5-9890-56B7428C6A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80" y="11892"/>
              <a:ext cx="36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2" name="Line 36">
              <a:extLst>
                <a:ext uri="{FF2B5EF4-FFF2-40B4-BE49-F238E27FC236}">
                  <a16:creationId xmlns="" xmlns:a16="http://schemas.microsoft.com/office/drawing/2014/main" id="{0E5D46BF-98CC-40D2-B893-5C5302204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0" y="11892"/>
              <a:ext cx="36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3" name="Line 37">
              <a:extLst>
                <a:ext uri="{FF2B5EF4-FFF2-40B4-BE49-F238E27FC236}">
                  <a16:creationId xmlns="" xmlns:a16="http://schemas.microsoft.com/office/drawing/2014/main" id="{FD29729D-C9C4-41AF-A8E1-20465338A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0" y="12204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4" name="Line 38">
              <a:extLst>
                <a:ext uri="{FF2B5EF4-FFF2-40B4-BE49-F238E27FC236}">
                  <a16:creationId xmlns="" xmlns:a16="http://schemas.microsoft.com/office/drawing/2014/main" id="{1A652998-F3E3-4B97-B705-71A09E1DD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0" y="12516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5" name="Line 39">
              <a:extLst>
                <a:ext uri="{FF2B5EF4-FFF2-40B4-BE49-F238E27FC236}">
                  <a16:creationId xmlns="" xmlns:a16="http://schemas.microsoft.com/office/drawing/2014/main" id="{94032C48-2E37-449F-88E2-F008637E0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00" y="12204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6" name="Line 40">
              <a:extLst>
                <a:ext uri="{FF2B5EF4-FFF2-40B4-BE49-F238E27FC236}">
                  <a16:creationId xmlns="" xmlns:a16="http://schemas.microsoft.com/office/drawing/2014/main" id="{144F2B88-22DC-45CB-B6DD-3BDB22969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0" y="12204"/>
              <a:ext cx="36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7" name="Line 41">
              <a:extLst>
                <a:ext uri="{FF2B5EF4-FFF2-40B4-BE49-F238E27FC236}">
                  <a16:creationId xmlns="" xmlns:a16="http://schemas.microsoft.com/office/drawing/2014/main" id="{1F67BF3F-B9F7-4FD5-AB02-F2603B90B8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0" y="12204"/>
              <a:ext cx="36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8" name="Line 42">
              <a:extLst>
                <a:ext uri="{FF2B5EF4-FFF2-40B4-BE49-F238E27FC236}">
                  <a16:creationId xmlns="" xmlns:a16="http://schemas.microsoft.com/office/drawing/2014/main" id="{D691D7D1-5528-47DB-A0FF-92BA86828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0" y="12984"/>
              <a:ext cx="36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9" name="Line 43">
              <a:extLst>
                <a:ext uri="{FF2B5EF4-FFF2-40B4-BE49-F238E27FC236}">
                  <a16:creationId xmlns="" xmlns:a16="http://schemas.microsoft.com/office/drawing/2014/main" id="{5606CA77-0DF6-4755-A4E0-BDD07BDB28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0" y="12984"/>
              <a:ext cx="36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92" name="组合 1">
            <a:extLst>
              <a:ext uri="{FF2B5EF4-FFF2-40B4-BE49-F238E27FC236}">
                <a16:creationId xmlns="" xmlns:a16="http://schemas.microsoft.com/office/drawing/2014/main" id="{295A002A-1997-43DF-AD6C-D29E6AB44B32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2492375"/>
            <a:ext cx="1284288" cy="1566863"/>
            <a:chOff x="7468222" y="2492725"/>
            <a:chExt cx="1284292" cy="1566864"/>
          </a:xfrm>
        </p:grpSpPr>
        <p:sp>
          <p:nvSpPr>
            <p:cNvPr id="50195" name="Line 25">
              <a:extLst>
                <a:ext uri="{FF2B5EF4-FFF2-40B4-BE49-F238E27FC236}">
                  <a16:creationId xmlns="" xmlns:a16="http://schemas.microsoft.com/office/drawing/2014/main" id="{2FACA015-EA08-4E21-BF19-B504261C79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0845" y="2492727"/>
              <a:ext cx="651669" cy="10406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6" name="Line 28">
              <a:extLst>
                <a:ext uri="{FF2B5EF4-FFF2-40B4-BE49-F238E27FC236}">
                  <a16:creationId xmlns="" xmlns:a16="http://schemas.microsoft.com/office/drawing/2014/main" id="{9F339FB4-E03C-4D6F-84AB-A9AD87340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8223" y="3533331"/>
              <a:ext cx="632623" cy="5262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Line 29">
              <a:extLst>
                <a:ext uri="{FF2B5EF4-FFF2-40B4-BE49-F238E27FC236}">
                  <a16:creationId xmlns="" xmlns:a16="http://schemas.microsoft.com/office/drawing/2014/main" id="{065DE7F2-039E-4259-814F-13E9E09CC3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00842" y="3533330"/>
              <a:ext cx="651671" cy="5262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8" name="Line 30">
              <a:extLst>
                <a:ext uri="{FF2B5EF4-FFF2-40B4-BE49-F238E27FC236}">
                  <a16:creationId xmlns="" xmlns:a16="http://schemas.microsoft.com/office/drawing/2014/main" id="{818DF0E3-EA2F-443C-B806-9D6D78F86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0845" y="2945505"/>
              <a:ext cx="651668" cy="587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9" name="Line 33">
              <a:extLst>
                <a:ext uri="{FF2B5EF4-FFF2-40B4-BE49-F238E27FC236}">
                  <a16:creationId xmlns="" xmlns:a16="http://schemas.microsoft.com/office/drawing/2014/main" id="{3184FD3C-94A2-4BDA-9C62-E413AD9CE0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8225" y="2492725"/>
              <a:ext cx="632620" cy="10406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0" name="Line 29">
              <a:extLst>
                <a:ext uri="{FF2B5EF4-FFF2-40B4-BE49-F238E27FC236}">
                  <a16:creationId xmlns="" xmlns:a16="http://schemas.microsoft.com/office/drawing/2014/main" id="{56EA92DF-8B83-4600-9AB7-54B20649F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68222" y="2945504"/>
              <a:ext cx="632620" cy="5878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50193" name="直接连接符 3">
            <a:extLst>
              <a:ext uri="{FF2B5EF4-FFF2-40B4-BE49-F238E27FC236}">
                <a16:creationId xmlns="" xmlns:a16="http://schemas.microsoft.com/office/drawing/2014/main" id="{2BBCC5EC-02D4-45A3-8203-9E8EEBAC40F9}"/>
              </a:ext>
            </a:extLst>
          </p:cNvPr>
          <p:cNvCxnSpPr>
            <a:cxnSpLocks noChangeShapeType="1"/>
            <a:stCxn id="50222" idx="1"/>
            <a:endCxn id="50224" idx="1"/>
          </p:cNvCxnSpPr>
          <p:nvPr/>
        </p:nvCxnSpPr>
        <p:spPr bwMode="auto">
          <a:xfrm>
            <a:off x="992188" y="3219450"/>
            <a:ext cx="0" cy="3429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94" name="灯片编号占位符 1">
            <a:extLst>
              <a:ext uri="{FF2B5EF4-FFF2-40B4-BE49-F238E27FC236}">
                <a16:creationId xmlns="" xmlns:a16="http://schemas.microsoft.com/office/drawing/2014/main" id="{C734AEBB-16D7-4BA6-8D92-48722A3E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AC4E80-F536-461B-BD72-C003FCC3758A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1" name="标题 4">
            <a:extLst>
              <a:ext uri="{FF2B5EF4-FFF2-40B4-BE49-F238E27FC236}">
                <a16:creationId xmlns="" xmlns:a16="http://schemas.microsoft.com/office/drawing/2014/main" id="{6A5B749E-BE07-4B79-8F0D-212CF22326DF}"/>
              </a:ext>
            </a:extLst>
          </p:cNvPr>
          <p:cNvSpPr txBox="1">
            <a:spLocks/>
          </p:cNvSpPr>
          <p:nvPr/>
        </p:nvSpPr>
        <p:spPr bwMode="auto">
          <a:xfrm>
            <a:off x="561975" y="620713"/>
            <a:ext cx="80200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endParaRPr lang="en-US" altLang="zh-CN" kern="0" dirty="0" smtClean="0">
              <a:solidFill>
                <a:srgbClr val="0000FF"/>
              </a:solidFill>
              <a:latin typeface="+mn-lt"/>
            </a:endParaRPr>
          </a:p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kern="0" dirty="0" smtClean="0">
                <a:solidFill>
                  <a:srgbClr val="0000FF"/>
                </a:solidFill>
                <a:latin typeface="+mn-lt"/>
              </a:rPr>
              <a:t>练习：</a:t>
            </a:r>
            <a:r>
              <a:rPr lang="zh-CN" altLang="en-US" kern="0" dirty="0" smtClean="0">
                <a:solidFill>
                  <a:srgbClr val="0000FF"/>
                </a:solidFill>
              </a:rPr>
              <a:t> </a:t>
            </a:r>
            <a:r>
              <a:rPr lang="zh-CN" altLang="en-US" kern="0" dirty="0" smtClean="0"/>
              <a:t/>
            </a:r>
            <a:br>
              <a:rPr lang="zh-CN" altLang="en-US" kern="0" dirty="0" smtClean="0"/>
            </a:br>
            <a:r>
              <a:rPr lang="zh-CN" altLang="en-US" kern="0" dirty="0"/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="" xmlns:a16="http://schemas.microsoft.com/office/drawing/2014/main" id="{78B5E48A-65CA-48A0-8362-2EC5A387F7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3238" y="1270000"/>
            <a:ext cx="8318500" cy="5183188"/>
          </a:xfrm>
        </p:spPr>
        <p:txBody>
          <a:bodyPr/>
          <a:lstStyle/>
          <a:p>
            <a:pPr algn="just"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7.2.1′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是格，则称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的子格。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的子格。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000" b="1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52227" name="组合 52">
            <a:extLst>
              <a:ext uri="{FF2B5EF4-FFF2-40B4-BE49-F238E27FC236}">
                <a16:creationId xmlns="" xmlns:a16="http://schemas.microsoft.com/office/drawing/2014/main" id="{C7BF0A7C-8734-46CD-9671-A95387B0C970}"/>
              </a:ext>
            </a:extLst>
          </p:cNvPr>
          <p:cNvGrpSpPr>
            <a:grpSpLocks/>
          </p:cNvGrpSpPr>
          <p:nvPr/>
        </p:nvGrpSpPr>
        <p:grpSpPr bwMode="auto">
          <a:xfrm>
            <a:off x="1768475" y="3317875"/>
            <a:ext cx="2082800" cy="2127250"/>
            <a:chOff x="1768118" y="3318340"/>
            <a:chExt cx="2083177" cy="2127219"/>
          </a:xfrm>
        </p:grpSpPr>
        <p:grpSp>
          <p:nvGrpSpPr>
            <p:cNvPr id="52246" name="组合 4">
              <a:extLst>
                <a:ext uri="{FF2B5EF4-FFF2-40B4-BE49-F238E27FC236}">
                  <a16:creationId xmlns="" xmlns:a16="http://schemas.microsoft.com/office/drawing/2014/main" id="{64956C3B-AB01-4ED4-970F-637E792161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1664" y="3717032"/>
              <a:ext cx="1036200" cy="1368152"/>
              <a:chOff x="1547664" y="3356992"/>
              <a:chExt cx="1656184" cy="1944216"/>
            </a:xfrm>
          </p:grpSpPr>
          <p:sp>
            <p:nvSpPr>
              <p:cNvPr id="52251" name="菱形 1">
                <a:extLst>
                  <a:ext uri="{FF2B5EF4-FFF2-40B4-BE49-F238E27FC236}">
                    <a16:creationId xmlns="" xmlns:a16="http://schemas.microsoft.com/office/drawing/2014/main" id="{964EBE2C-172C-4FD9-A185-C261034123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9672" y="3429000"/>
                <a:ext cx="1512168" cy="1800200"/>
              </a:xfrm>
              <a:prstGeom prst="diamond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2252" name="椭圆 2">
                <a:extLst>
                  <a:ext uri="{FF2B5EF4-FFF2-40B4-BE49-F238E27FC236}">
                    <a16:creationId xmlns="" xmlns:a16="http://schemas.microsoft.com/office/drawing/2014/main" id="{57C80F70-2890-490E-AF0F-091C07112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748" y="3356992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2253" name="椭圆 7">
                <a:extLst>
                  <a:ext uri="{FF2B5EF4-FFF2-40B4-BE49-F238E27FC236}">
                    <a16:creationId xmlns="" xmlns:a16="http://schemas.microsoft.com/office/drawing/2014/main" id="{5645147A-FFBA-47A6-A025-31677B3C01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748" y="5157192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2254" name="椭圆 8">
                <a:extLst>
                  <a:ext uri="{FF2B5EF4-FFF2-40B4-BE49-F238E27FC236}">
                    <a16:creationId xmlns="" xmlns:a16="http://schemas.microsoft.com/office/drawing/2014/main" id="{BF33D4E9-67FC-40D3-B8FB-AB5F4A3ED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9832" y="4257092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2255" name="椭圆 9">
                <a:extLst>
                  <a:ext uri="{FF2B5EF4-FFF2-40B4-BE49-F238E27FC236}">
                    <a16:creationId xmlns="" xmlns:a16="http://schemas.microsoft.com/office/drawing/2014/main" id="{29E66144-A3BF-4FB5-ABAC-463E37E1A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7664" y="4259725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</p:grpSp>
        <p:sp>
          <p:nvSpPr>
            <p:cNvPr id="52247" name="矩形 25">
              <a:extLst>
                <a:ext uri="{FF2B5EF4-FFF2-40B4-BE49-F238E27FC236}">
                  <a16:creationId xmlns="" xmlns:a16="http://schemas.microsoft.com/office/drawing/2014/main" id="{DAE95095-D771-4CB8-89D9-151543788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118" y="4220919"/>
              <a:ext cx="531012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2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8" name="矩形 31">
              <a:extLst>
                <a:ext uri="{FF2B5EF4-FFF2-40B4-BE49-F238E27FC236}">
                  <a16:creationId xmlns="" xmlns:a16="http://schemas.microsoft.com/office/drawing/2014/main" id="{27BE9694-945F-4BA1-A3CC-C6D690526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4258" y="5085183"/>
              <a:ext cx="531012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1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9" name="矩形 32">
              <a:extLst>
                <a:ext uri="{FF2B5EF4-FFF2-40B4-BE49-F238E27FC236}">
                  <a16:creationId xmlns="" xmlns:a16="http://schemas.microsoft.com/office/drawing/2014/main" id="{FB03D343-E139-4854-8C64-DC3B5966A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283" y="4220919"/>
              <a:ext cx="531012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3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50" name="矩形 33">
              <a:extLst>
                <a:ext uri="{FF2B5EF4-FFF2-40B4-BE49-F238E27FC236}">
                  <a16:creationId xmlns="" xmlns:a16="http://schemas.microsoft.com/office/drawing/2014/main" id="{2BD2A708-4F44-4A1A-AAD3-2AB797159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4258" y="3318340"/>
              <a:ext cx="531012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6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</p:grpSp>
      <p:grpSp>
        <p:nvGrpSpPr>
          <p:cNvPr id="52228" name="组合 51">
            <a:extLst>
              <a:ext uri="{FF2B5EF4-FFF2-40B4-BE49-F238E27FC236}">
                <a16:creationId xmlns="" xmlns:a16="http://schemas.microsoft.com/office/drawing/2014/main" id="{0F8251E3-45AF-41E2-BA7F-4B67174C1852}"/>
              </a:ext>
            </a:extLst>
          </p:cNvPr>
          <p:cNvGrpSpPr>
            <a:grpSpLocks/>
          </p:cNvGrpSpPr>
          <p:nvPr/>
        </p:nvGrpSpPr>
        <p:grpSpPr bwMode="auto">
          <a:xfrm>
            <a:off x="4613275" y="2673350"/>
            <a:ext cx="2132013" cy="3590925"/>
            <a:chOff x="4612857" y="2674072"/>
            <a:chExt cx="2132122" cy="3590544"/>
          </a:xfrm>
        </p:grpSpPr>
        <p:sp>
          <p:nvSpPr>
            <p:cNvPr id="52231" name="矩形 10">
              <a:extLst>
                <a:ext uri="{FF2B5EF4-FFF2-40B4-BE49-F238E27FC236}">
                  <a16:creationId xmlns="" xmlns:a16="http://schemas.microsoft.com/office/drawing/2014/main" id="{D6C1A6B3-2893-4B41-ABB9-425DC8160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365" y="2857458"/>
              <a:ext cx="1086611" cy="3235838"/>
            </a:xfrm>
            <a:custGeom>
              <a:avLst/>
              <a:gdLst>
                <a:gd name="T0" fmla="*/ 1 w 2121290"/>
                <a:gd name="T1" fmla="*/ 2147483646 h 1579653"/>
                <a:gd name="T2" fmla="*/ 1 w 2121290"/>
                <a:gd name="T3" fmla="*/ 0 h 1579653"/>
                <a:gd name="T4" fmla="*/ 1 w 2121290"/>
                <a:gd name="T5" fmla="*/ 2147483646 h 1579653"/>
                <a:gd name="T6" fmla="*/ 0 w 2121290"/>
                <a:gd name="T7" fmla="*/ 2147483646 h 1579653"/>
                <a:gd name="T8" fmla="*/ 1 w 2121290"/>
                <a:gd name="T9" fmla="*/ 2147483646 h 15796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1290" h="1579653">
                  <a:moveTo>
                    <a:pt x="33057" y="425136"/>
                  </a:moveTo>
                  <a:lnTo>
                    <a:pt x="2079765" y="0"/>
                  </a:lnTo>
                  <a:cubicBezTo>
                    <a:pt x="2082587" y="526551"/>
                    <a:pt x="2118468" y="636835"/>
                    <a:pt x="2121290" y="1163386"/>
                  </a:cubicBezTo>
                  <a:lnTo>
                    <a:pt x="0" y="1579653"/>
                  </a:lnTo>
                  <a:lnTo>
                    <a:pt x="33057" y="425136"/>
                  </a:lnTo>
                  <a:close/>
                </a:path>
              </a:pathLst>
            </a:cu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52232" name="直接连接符 16">
              <a:extLst>
                <a:ext uri="{FF2B5EF4-FFF2-40B4-BE49-F238E27FC236}">
                  <a16:creationId xmlns="" xmlns:a16="http://schemas.microsoft.com/office/drawing/2014/main" id="{64C25982-60FC-4B69-AA58-47CB2D07A13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45511" y="3627852"/>
              <a:ext cx="1074480" cy="877966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3" name="直接连接符 23">
              <a:extLst>
                <a:ext uri="{FF2B5EF4-FFF2-40B4-BE49-F238E27FC236}">
                  <a16:creationId xmlns="" xmlns:a16="http://schemas.microsoft.com/office/drawing/2014/main" id="{9D036AB2-5B87-40A3-A3C5-573720F0DA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35426" y="4453634"/>
              <a:ext cx="1085006" cy="848018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234" name="椭圆 24">
              <a:extLst>
                <a:ext uri="{FF2B5EF4-FFF2-40B4-BE49-F238E27FC236}">
                  <a16:creationId xmlns="" xmlns:a16="http://schemas.microsoft.com/office/drawing/2014/main" id="{326DB36D-A1B6-4454-AFE0-EE863FBB7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991" y="2803458"/>
              <a:ext cx="126000" cy="126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2235" name="椭圆 27">
              <a:extLst>
                <a:ext uri="{FF2B5EF4-FFF2-40B4-BE49-F238E27FC236}">
                  <a16:creationId xmlns="" xmlns:a16="http://schemas.microsoft.com/office/drawing/2014/main" id="{F97AF320-2E14-4F63-B6D8-DBF0209DB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678" y="3661980"/>
              <a:ext cx="126000" cy="126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2236" name="椭圆 28">
              <a:extLst>
                <a:ext uri="{FF2B5EF4-FFF2-40B4-BE49-F238E27FC236}">
                  <a16:creationId xmlns="" xmlns:a16="http://schemas.microsoft.com/office/drawing/2014/main" id="{6FED5EC9-7F30-4F66-9B28-4F9C2C19F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4585" y="5161844"/>
              <a:ext cx="126000" cy="126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2237" name="椭圆 29">
              <a:extLst>
                <a:ext uri="{FF2B5EF4-FFF2-40B4-BE49-F238E27FC236}">
                  <a16:creationId xmlns="" xmlns:a16="http://schemas.microsoft.com/office/drawing/2014/main" id="{A2F31B8B-96A8-4278-BB78-4D75C9020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8634" y="6006785"/>
              <a:ext cx="126000" cy="126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2238" name="矩形 34">
              <a:extLst>
                <a:ext uri="{FF2B5EF4-FFF2-40B4-BE49-F238E27FC236}">
                  <a16:creationId xmlns="" xmlns:a16="http://schemas.microsoft.com/office/drawing/2014/main" id="{E8ED6524-8C37-478D-B4FC-74901B78A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2857" y="3556082"/>
              <a:ext cx="358553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8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39" name="矩形 35">
              <a:extLst>
                <a:ext uri="{FF2B5EF4-FFF2-40B4-BE49-F238E27FC236}">
                  <a16:creationId xmlns="" xmlns:a16="http://schemas.microsoft.com/office/drawing/2014/main" id="{14987859-6496-46F3-9FB4-D28011462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2857" y="4326628"/>
              <a:ext cx="358553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4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0" name="矩形 36">
              <a:extLst>
                <a:ext uri="{FF2B5EF4-FFF2-40B4-BE49-F238E27FC236}">
                  <a16:creationId xmlns="" xmlns:a16="http://schemas.microsoft.com/office/drawing/2014/main" id="{84A0D556-1DEA-46A8-A64B-2320CB8D2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2857" y="5122988"/>
              <a:ext cx="358553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2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1" name="矩形 37">
              <a:extLst>
                <a:ext uri="{FF2B5EF4-FFF2-40B4-BE49-F238E27FC236}">
                  <a16:creationId xmlns="" xmlns:a16="http://schemas.microsoft.com/office/drawing/2014/main" id="{1091CF9B-DC7F-4D08-9AA9-BA8C9CC9A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2857" y="5904240"/>
              <a:ext cx="358553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1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2" name="矩形 38">
              <a:extLst>
                <a:ext uri="{FF2B5EF4-FFF2-40B4-BE49-F238E27FC236}">
                  <a16:creationId xmlns="" xmlns:a16="http://schemas.microsoft.com/office/drawing/2014/main" id="{3DDC92BA-EE5B-4407-A10A-88B6310A9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8394" y="2674072"/>
              <a:ext cx="646585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24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3" name="矩形 39">
              <a:extLst>
                <a:ext uri="{FF2B5EF4-FFF2-40B4-BE49-F238E27FC236}">
                  <a16:creationId xmlns="" xmlns:a16="http://schemas.microsoft.com/office/drawing/2014/main" id="{52294BF3-61A6-4995-86ED-06DA9ACA2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8394" y="3450129"/>
              <a:ext cx="646585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12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4" name="矩形 40">
              <a:extLst>
                <a:ext uri="{FF2B5EF4-FFF2-40B4-BE49-F238E27FC236}">
                  <a16:creationId xmlns="" xmlns:a16="http://schemas.microsoft.com/office/drawing/2014/main" id="{19549138-D6C0-44B4-AA21-B215FD30D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8394" y="4267695"/>
              <a:ext cx="646585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6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5" name="矩形 41">
              <a:extLst>
                <a:ext uri="{FF2B5EF4-FFF2-40B4-BE49-F238E27FC236}">
                  <a16:creationId xmlns="" xmlns:a16="http://schemas.microsoft.com/office/drawing/2014/main" id="{E2C8AA21-EC5E-43FF-8139-6C36763A9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8394" y="5047121"/>
              <a:ext cx="646585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3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</p:grpSp>
      <p:sp>
        <p:nvSpPr>
          <p:cNvPr id="52229" name="灯片编号占位符 1">
            <a:extLst>
              <a:ext uri="{FF2B5EF4-FFF2-40B4-BE49-F238E27FC236}">
                <a16:creationId xmlns="" xmlns:a16="http://schemas.microsoft.com/office/drawing/2014/main" id="{AE309186-20C4-4962-B084-D633FC69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C34DE8E-5601-49E8-B1DC-02873A26D098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2230" name="标题 4">
            <a:extLst>
              <a:ext uri="{FF2B5EF4-FFF2-40B4-BE49-F238E27FC236}">
                <a16:creationId xmlns="" xmlns:a16="http://schemas.microsoft.com/office/drawing/2014/main" id="{F368B909-DA52-4695-8569-25531DF42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>
                <a:solidFill>
                  <a:srgbClr val="0000FF"/>
                </a:solidFill>
              </a:rPr>
              <a:t>偏序子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F9BFA71C-89C6-4E2E-A4B7-E2D953793927}"/>
              </a:ext>
            </a:extLst>
          </p:cNvPr>
          <p:cNvSpPr>
            <a:spLocks noGrp="1"/>
          </p:cNvSpPr>
          <p:nvPr>
            <p:ph idx="1"/>
          </p:nvPr>
        </p:nvSpPr>
        <p:spPr>
          <a:ln w="57150"/>
        </p:spPr>
        <p:txBody>
          <a:bodyPr/>
          <a:lstStyle/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defRPr/>
            </a:pPr>
            <a:r>
              <a:rPr lang="zh-CN" altLang="en-US" sz="3000" b="1" kern="1200" dirty="0">
                <a:solidFill>
                  <a:srgbClr val="0000FF"/>
                </a:solidFill>
                <a:ea typeface="宋体" pitchFamily="2" charset="-122"/>
              </a:rPr>
              <a:t>定义</a:t>
            </a:r>
            <a:r>
              <a:rPr lang="en-US" altLang="zh-CN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7.2.2  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是一个集合，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，⊕是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上两个二元代数运算，如果这</a:t>
            </a:r>
            <a:r>
              <a:rPr lang="zh-CN" altLang="en-US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两种运算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对于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中元素满足：</a:t>
            </a:r>
          </a:p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（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）交换律：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b×a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b⊕a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</a:p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（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）结合律：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)×c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</a:p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                        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</a:p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（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）吸收律：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)=a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</a:p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                         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⊕(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)=a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</a:p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则称此代数系统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b="1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b="1" kern="12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为一个格</a:t>
            </a:r>
            <a:r>
              <a:rPr lang="zh-CN" altLang="en-US" sz="3000" b="1" kern="1200" dirty="0">
                <a:solidFill>
                  <a:srgbClr val="000000"/>
                </a:solidFill>
                <a:ea typeface="宋体" pitchFamily="2" charset="-122"/>
              </a:rPr>
              <a:t>。 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54275" name="灯片编号占位符 3">
            <a:extLst>
              <a:ext uri="{FF2B5EF4-FFF2-40B4-BE49-F238E27FC236}">
                <a16:creationId xmlns="" xmlns:a16="http://schemas.microsoft.com/office/drawing/2014/main" id="{FD0CAC82-5724-4E17-8B7D-823D57361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9485B8-D739-4892-BB6F-1B575470805E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51A1E3FE-1CCD-4311-9EC5-2E2FBE5F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>
                <a:solidFill>
                  <a:srgbClr val="0000FF"/>
                </a:solidFill>
                <a:latin typeface="+mn-lt"/>
              </a:rPr>
              <a:t>代数格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="" xmlns:a16="http://schemas.microsoft.com/office/drawing/2014/main" id="{3A06582B-2FFC-44DC-B7D3-CFB9C9906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1401587"/>
            <a:ext cx="8639175" cy="5329113"/>
          </a:xfrm>
        </p:spPr>
        <p:txBody>
          <a:bodyPr/>
          <a:lstStyle/>
          <a:p>
            <a:pPr marL="0" indent="-71438">
              <a:lnSpc>
                <a:spcPct val="110000"/>
              </a:lnSpc>
              <a:defRPr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×, 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×)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为交换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半群。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71438">
              <a:lnSpc>
                <a:spcPct val="105000"/>
              </a:lnSpc>
              <a:defRPr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7.2.2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中由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 满足吸收律可推出它们一定满足幂等律。</a:t>
            </a:r>
            <a:endParaRPr lang="en-US" altLang="zh-CN" sz="30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，⊕满足吸收律知，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⊕(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               </a:t>
            </a:r>
            <a:r>
              <a:rPr lang="en-US" altLang="zh-CN" sz="3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a×(a⊕(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))=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</a:t>
            </a:r>
            <a:r>
              <a:rPr lang="en-US" altLang="zh-CN" sz="3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a⊕a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a⊕(a×(a ⊕a))=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，⊕满足吸收律知，上面两式的等式右端都等于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。因此，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⊕ a = 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 定义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运算亦满足幂等律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3000" b="1" dirty="0">
              <a:ea typeface="宋体" panose="02010600030101010101" pitchFamily="2" charset="-122"/>
            </a:endParaRPr>
          </a:p>
          <a:p>
            <a:pPr marL="0" indent="-71438">
              <a:lnSpc>
                <a:spcPct val="110000"/>
              </a:lnSpc>
              <a:defRPr/>
            </a:pPr>
            <a:endParaRPr lang="zh-CN" altLang="en-US" sz="3000" b="1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5299" name="灯片编号占位符 1">
            <a:extLst>
              <a:ext uri="{FF2B5EF4-FFF2-40B4-BE49-F238E27FC236}">
                <a16:creationId xmlns="" xmlns:a16="http://schemas.microsoft.com/office/drawing/2014/main" id="{0D160617-4AB3-48A9-808A-DEB6498E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4E843F-9024-412B-8F71-C89714D6C666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" name="标题 4">
            <a:extLst>
              <a:ext uri="{FF2B5EF4-FFF2-40B4-BE49-F238E27FC236}">
                <a16:creationId xmlns="" xmlns:a16="http://schemas.microsoft.com/office/drawing/2014/main" id="{51A1E3FE-1CCD-4311-9EC5-2E2FBE5F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note</a:t>
            </a:r>
            <a:r>
              <a:rPr lang="zh-CN" altLang="en-US" dirty="0" smtClean="0">
                <a:solidFill>
                  <a:srgbClr val="0000FF"/>
                </a:solidFill>
                <a:latin typeface="+mn-lt"/>
              </a:rPr>
              <a:t>：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="" xmlns:a16="http://schemas.microsoft.com/office/drawing/2014/main" id="{98201D75-E950-4647-8D5D-8227FD0AAA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1220788"/>
            <a:ext cx="8640960" cy="5256212"/>
          </a:xfrm>
        </p:spPr>
        <p:txBody>
          <a:bodyPr/>
          <a:lstStyle/>
          <a:p>
            <a:pPr marL="0" algn="just">
              <a:lnSpc>
                <a:spcPct val="110000"/>
              </a:lnSpc>
              <a:spcBef>
                <a:spcPct val="0"/>
              </a:spcBef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7.2.5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的幂集合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ρ(S),∩,∪)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是一个代数格。而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是偏序格。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易见对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A,B∈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0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A∩B = A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A∪B = 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algn="just">
              <a:lnSpc>
                <a:spcPct val="110000"/>
              </a:lnSpc>
              <a:spcBef>
                <a:spcPct val="0"/>
              </a:spcBef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7.2.6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是所有正整数集合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两个正整数的最高公因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最小公倍⊕是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上两个代数运算，于是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 (Z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是一个代数格。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偏序格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 D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是整除关系。易见，对任意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     </a:t>
            </a:r>
          </a:p>
          <a:p>
            <a:pPr marL="0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a D b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56323" name="灯片编号占位符 1">
            <a:extLst>
              <a:ext uri="{FF2B5EF4-FFF2-40B4-BE49-F238E27FC236}">
                <a16:creationId xmlns="" xmlns:a16="http://schemas.microsoft.com/office/drawing/2014/main" id="{E5CA16A9-1F9C-4CF1-9D64-A5FD7B8F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AA32ED-8936-43AA-9202-B9467EFB6464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74DB8C11-3353-417E-8493-20AF4428B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548680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</a:rPr>
              <a:t>代数格</a:t>
            </a:r>
            <a:r>
              <a:rPr lang="zh-CN" altLang="en-US" dirty="0">
                <a:solidFill>
                  <a:srgbClr val="0000FF"/>
                </a:solidFill>
                <a:latin typeface="+mn-lt"/>
              </a:rPr>
              <a:t>的</a:t>
            </a:r>
            <a:r>
              <a:rPr lang="zh-CN" altLang="en-US" dirty="0" smtClean="0">
                <a:solidFill>
                  <a:srgbClr val="0000FF"/>
                </a:solidFill>
                <a:latin typeface="+mn-lt"/>
              </a:rPr>
              <a:t>例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内容占位符 2">
            <a:extLst>
              <a:ext uri="{FF2B5EF4-FFF2-40B4-BE49-F238E27FC236}">
                <a16:creationId xmlns="" xmlns:a16="http://schemas.microsoft.com/office/drawing/2014/main" id="{0AB57DCB-AB16-4EBF-9EB9-1FE4CDFD0E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7.27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是一个正整数，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的所有正因数的集合，两个正整数的最高公因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最小公倍⊕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上两个代数运算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是一个代数格。</a:t>
            </a:r>
          </a:p>
          <a:p>
            <a:endParaRPr lang="zh-CN" altLang="en-US" dirty="0"/>
          </a:p>
        </p:txBody>
      </p:sp>
      <p:sp>
        <p:nvSpPr>
          <p:cNvPr id="57347" name="灯片编号占位符 1">
            <a:extLst>
              <a:ext uri="{FF2B5EF4-FFF2-40B4-BE49-F238E27FC236}">
                <a16:creationId xmlns="" xmlns:a16="http://schemas.microsoft.com/office/drawing/2014/main" id="{AE3D30F9-13D0-4A9C-8194-987C5E58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9B23AA-3401-4E6F-8482-ED6944673033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="" xmlns:a16="http://schemas.microsoft.com/office/drawing/2014/main" id="{74BA5611-7C23-453C-B36E-F2C34D893638}"/>
              </a:ext>
            </a:extLst>
          </p:cNvPr>
          <p:cNvSpPr txBox="1">
            <a:spLocks/>
          </p:cNvSpPr>
          <p:nvPr/>
        </p:nvSpPr>
        <p:spPr>
          <a:xfrm>
            <a:off x="561975" y="620713"/>
            <a:ext cx="8020050" cy="655637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/>
                <a:ea typeface="宋体" panose="02010600030101010101" pitchFamily="2" charset="-122"/>
                <a:cs typeface="+mn-cs"/>
              </a:rPr>
              <a:t>代数格的例</a:t>
            </a:r>
            <a:endParaRPr lang="zh-CN" altLang="en-US" kern="0" dirty="0"/>
          </a:p>
        </p:txBody>
      </p:sp>
    </p:spTree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="" xmlns:a16="http://schemas.microsoft.com/office/drawing/2014/main" id="{C97FCFE8-D9CC-4CF8-B9A1-06A5FF6554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代数格与偏序格的等价性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EFEABCAB-55F4-4542-9E36-6234C5A46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3650"/>
            <a:ext cx="8569325" cy="5256213"/>
          </a:xfrm>
        </p:spPr>
        <p:txBody>
          <a:bodyPr/>
          <a:lstStyle/>
          <a:p>
            <a:pPr marL="0" indent="-71438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定理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7.2.1: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所定义的格和定义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所定义的格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等价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即，一个偏序格必是一个代数格；反之亦然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71438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en-US" altLang="zh-CN" sz="3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(L,≤)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是一个偏序格，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则对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，记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sup{a, b}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-71438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，其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{a, b}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sup{a, b}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唯一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所以如上定义的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，⊕是集合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上的两种二元代数运算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不难证明，对于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×,⊕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满足交换律、结合律、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吸收律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则根据定义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是一个代数格 </a:t>
            </a:r>
            <a:r>
              <a:rPr lang="zh-CN" altLang="en-US" sz="3000" b="1" dirty="0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58372" name="灯片编号占位符 1">
            <a:extLst>
              <a:ext uri="{FF2B5EF4-FFF2-40B4-BE49-F238E27FC236}">
                <a16:creationId xmlns="" xmlns:a16="http://schemas.microsoft.com/office/drawing/2014/main" id="{872EB030-65E6-410B-9BC4-227534DC4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F7F8CAA-857C-41FA-BD10-B20332EEA4A2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="" xmlns:a16="http://schemas.microsoft.com/office/drawing/2014/main" id="{1483D28B-EA81-46F0-A375-EDFB56001F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代数格与偏序格的等价性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74759FC1-4792-4182-BC9C-A1C17CFE2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3650"/>
            <a:ext cx="8569325" cy="5256213"/>
          </a:xfrm>
        </p:spPr>
        <p:txBody>
          <a:bodyPr/>
          <a:lstStyle/>
          <a:p>
            <a:pPr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只证明吸收律中的一条：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×(</a:t>
            </a:r>
            <a:r>
              <a:rPr lang="en-US" altLang="zh-CN" sz="3000" dirty="0" err="1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dirty="0" err="1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的最大下界，所以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)≤a</a:t>
            </a:r>
          </a:p>
          <a:p>
            <a:pPr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另一方面，由于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a≤a⊕b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，所以，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的下界，故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a≤a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a=a×(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-71438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endParaRPr lang="zh-CN" altLang="en-US" sz="3000" b="1" dirty="0">
              <a:ea typeface="宋体" panose="02010600030101010101" pitchFamily="2" charset="-122"/>
            </a:endParaRPr>
          </a:p>
        </p:txBody>
      </p:sp>
      <p:sp>
        <p:nvSpPr>
          <p:cNvPr id="59396" name="灯片编号占位符 1">
            <a:extLst>
              <a:ext uri="{FF2B5EF4-FFF2-40B4-BE49-F238E27FC236}">
                <a16:creationId xmlns="" xmlns:a16="http://schemas.microsoft.com/office/drawing/2014/main" id="{6E17FC86-F11C-47FC-A4C0-517CAE12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48E032-27CF-4EDE-83E1-AE053F2CDC21}" type="slidenum">
              <a:rPr lang="en-US" altLang="ko-KR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="" xmlns:a16="http://schemas.microsoft.com/office/drawing/2014/main" id="{55BDACB2-95CC-4B7F-9639-BA60E27060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8775" y="1268413"/>
            <a:ext cx="8785225" cy="5256212"/>
          </a:xfrm>
        </p:spPr>
        <p:txBody>
          <a:bodyPr/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0000FF"/>
                </a:solidFill>
              </a:rPr>
              <a:t>ii</a:t>
            </a:r>
            <a:r>
              <a:rPr lang="zh-CN" altLang="en-US" sz="3000" b="1" dirty="0">
                <a:solidFill>
                  <a:srgbClr val="0000FF"/>
                </a:solidFill>
              </a:rPr>
              <a:t>）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若代数系统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×, ⊕)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是一个代数格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，在集合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上定义一个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关系≤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如下：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①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往证：≤是一个半序关系。</a:t>
            </a:r>
            <a:endParaRPr lang="en-US" altLang="zh-CN" sz="30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自反性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=a×(a⊕(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))= a,</a:t>
            </a:r>
          </a:p>
          <a:p>
            <a:pPr algn="just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反对称性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若有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a≤b,b≤a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则应有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，所以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传递性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b≤c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，则有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</a:p>
          <a:p>
            <a:pPr algn="just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)×c=a×(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亦即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a≤c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30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3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2900" b="1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endParaRPr lang="zh-CN" altLang="en-US" sz="2900" b="1" dirty="0">
              <a:ea typeface="宋体" panose="02010600030101010101" pitchFamily="2" charset="-122"/>
            </a:endParaRPr>
          </a:p>
        </p:txBody>
      </p:sp>
      <p:sp>
        <p:nvSpPr>
          <p:cNvPr id="60419" name="灯片编号占位符 1">
            <a:extLst>
              <a:ext uri="{FF2B5EF4-FFF2-40B4-BE49-F238E27FC236}">
                <a16:creationId xmlns="" xmlns:a16="http://schemas.microsoft.com/office/drawing/2014/main" id="{41E2C296-FDDF-4B02-A4C2-C529160B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A630C6-73CE-4ED0-8B8A-627752ECD38A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="" xmlns:a16="http://schemas.microsoft.com/office/drawing/2014/main" id="{560A04ED-152F-4A8A-9530-C2C3A625D2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代数格与偏序格的等价性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="" xmlns:a16="http://schemas.microsoft.com/office/drawing/2014/main" id="{93C91CAE-1095-4FF4-BAF4-87EEC2EEEF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8775" y="1268413"/>
            <a:ext cx="8785225" cy="5183187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②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往证：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 ⊕ b = 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spcBef>
                <a:spcPts val="0"/>
              </a:spcBef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</a:p>
          <a:p>
            <a:pPr marL="0" indent="0" algn="just" eaLnBrk="1" latinLnBrk="0" hangingPunct="1">
              <a:spcBef>
                <a:spcPts val="0"/>
              </a:spcBef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(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 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 = b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 eaLnBrk="1" latinLnBrk="0" hangingPunct="1">
              <a:spcBef>
                <a:spcPts val="0"/>
              </a:spcBef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b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	</a:t>
            </a:r>
          </a:p>
          <a:p>
            <a:pPr marL="0" indent="0" algn="just" eaLnBrk="1" latinLnBrk="0" hangingPunct="1">
              <a:spcBef>
                <a:spcPts val="0"/>
              </a:spcBef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=a×(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)=a</a:t>
            </a:r>
            <a:r>
              <a:rPr lang="zh-CN" altLang="en-US" sz="3000" kern="120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kern="12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spcBef>
                <a:spcPts val="0"/>
              </a:spcBef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a,b,c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L, </a:t>
            </a:r>
            <a:r>
              <a:rPr lang="en-US" altLang="zh-CN" sz="3000" dirty="0" err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</a:t>
            </a:r>
            <a:r>
              <a:rPr lang="en-US" altLang="zh-CN" sz="3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en-US" altLang="zh-CN" sz="3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 ⊕ b = b</a:t>
            </a:r>
            <a:endParaRPr lang="zh-CN" altLang="en-US" sz="3000" kern="1200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③往证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{a,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L,  {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中必有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{a, b}, sup{a, b}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，且就是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由吸收律知  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a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b×(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b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algn="just" eaLnBrk="1" latinLnBrk="0" hangingPunct="1"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a≤(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),b≤(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。亦即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的上界。</a:t>
            </a:r>
          </a:p>
          <a:p>
            <a:pPr marL="0" indent="0" algn="just" eaLnBrk="1" latinLnBrk="0" hangingPunct="1"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indent="0" algn="just" eaLnBrk="1" latinLnBrk="0" hangingPunct="1"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 sz="3000" b="1" kern="1200" dirty="0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3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2900" b="1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endParaRPr lang="zh-CN" altLang="en-US" sz="2900" b="1" dirty="0">
              <a:ea typeface="宋体" panose="02010600030101010101" pitchFamily="2" charset="-122"/>
            </a:endParaRPr>
          </a:p>
        </p:txBody>
      </p:sp>
      <p:sp>
        <p:nvSpPr>
          <p:cNvPr id="61443" name="灯片编号占位符 1">
            <a:extLst>
              <a:ext uri="{FF2B5EF4-FFF2-40B4-BE49-F238E27FC236}">
                <a16:creationId xmlns="" xmlns:a16="http://schemas.microsoft.com/office/drawing/2014/main" id="{ABB57AA9-57A3-4AB6-9C86-09AB445EA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4F18C85-4301-452A-8F2E-F2718DB04E20}" type="slidenum">
              <a:rPr lang="en-US" altLang="ko-KR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  <p:sp>
        <p:nvSpPr>
          <p:cNvPr id="61444" name="Rectangle 2">
            <a:extLst>
              <a:ext uri="{FF2B5EF4-FFF2-40B4-BE49-F238E27FC236}">
                <a16:creationId xmlns="" xmlns:a16="http://schemas.microsoft.com/office/drawing/2014/main" id="{1B8C01F8-F1B5-481B-9E32-15A7800D0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代数格与偏序格的等价性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B8FB723B-3D48-423C-BD2F-37B06E255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268413"/>
            <a:ext cx="8064500" cy="5329237"/>
          </a:xfrm>
        </p:spPr>
        <p:txBody>
          <a:bodyPr/>
          <a:lstStyle/>
          <a:p>
            <a:pPr algn="just" eaLnBrk="1" latinLnBrk="0" hangingPunct="1">
              <a:lnSpc>
                <a:spcPct val="90000"/>
              </a:lnSpc>
              <a:buClr>
                <a:srgbClr val="000000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③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en-US" altLang="zh-CN" sz="2800" kern="1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</a:t>
            </a:r>
            <a:r>
              <a:rPr lang="zh-CN" altLang="en-US" sz="28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b}=(</a:t>
            </a:r>
            <a:r>
              <a:rPr lang="en-US" altLang="zh-CN" sz="28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kern="1200" dirty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c∈L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，且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的上界，亦即有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a≤c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b≤c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，则应有     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=c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=c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，于是，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 =a⊕(b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c)</a:t>
            </a:r>
            <a:endParaRPr lang="zh-CN" altLang="en-US" sz="28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endParaRPr lang="zh-CN" altLang="en-US" sz="28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c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故有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的最小上界，即</a:t>
            </a:r>
          </a:p>
          <a:p>
            <a:pPr algn="ctr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b}=(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同理可证，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b}=(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综上，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为半序格。  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buClr>
                <a:srgbClr val="000000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62467" name="灯片编号占位符 3">
            <a:extLst>
              <a:ext uri="{FF2B5EF4-FFF2-40B4-BE49-F238E27FC236}">
                <a16:creationId xmlns="" xmlns:a16="http://schemas.microsoft.com/office/drawing/2014/main" id="{CF9D82DC-B0C8-40C7-B618-06D7C8F5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5925D3-21A2-4FE2-8C4E-11AF7B38A423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2468" name="Rectangle 2">
            <a:extLst>
              <a:ext uri="{FF2B5EF4-FFF2-40B4-BE49-F238E27FC236}">
                <a16:creationId xmlns="" xmlns:a16="http://schemas.microsoft.com/office/drawing/2014/main" id="{F219F47D-B295-4D43-8D57-A82E7C1C0E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代数格与偏序格的等价性</a:t>
            </a:r>
          </a:p>
        </p:txBody>
      </p:sp>
    </p:spTree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="" xmlns:a16="http://schemas.microsoft.com/office/drawing/2014/main" id="{D81D0D79-CD2C-4967-8685-8B6AD1F2D2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70000"/>
            <a:ext cx="8351837" cy="4967288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7.2.2′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是一个代数格，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(S,×,⊕)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的一个子格，当且仅当在运算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是封闭的。</a:t>
            </a:r>
          </a:p>
          <a:p>
            <a:pPr marL="0" indent="0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的子格的充要条件是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  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,×,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一个格。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0" indent="0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的代数子格，其中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×,⊕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分别是最高公因和最小公倍运算。</a:t>
            </a:r>
          </a:p>
        </p:txBody>
      </p:sp>
      <p:sp>
        <p:nvSpPr>
          <p:cNvPr id="63491" name="灯片编号占位符 1">
            <a:extLst>
              <a:ext uri="{FF2B5EF4-FFF2-40B4-BE49-F238E27FC236}">
                <a16:creationId xmlns="" xmlns:a16="http://schemas.microsoft.com/office/drawing/2014/main" id="{0E84119B-EF5F-4EE6-B06F-284E30E8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849D43-6C10-43A2-B123-17E7575D4B46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3492" name="Rectangle 2">
            <a:extLst>
              <a:ext uri="{FF2B5EF4-FFF2-40B4-BE49-F238E27FC236}">
                <a16:creationId xmlns="" xmlns:a16="http://schemas.microsoft.com/office/drawing/2014/main" id="{98060BA7-2167-4ED6-A65F-5784A175B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代数子格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>
            <a:extLst>
              <a:ext uri="{FF2B5EF4-FFF2-40B4-BE49-F238E27FC236}">
                <a16:creationId xmlns="" xmlns:a16="http://schemas.microsoft.com/office/drawing/2014/main" id="{7D970B57-310E-44FC-A2F6-2BF54AEB8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496300" cy="5338762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是一个偏序格，与其等价的代数格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>
              <a:lnSpc>
                <a:spcPct val="130000"/>
              </a:lnSpc>
              <a:buClr>
                <a:srgbClr val="0000FF"/>
              </a:buClr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×, 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的代数子格，则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，≤）是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的偏序子格；</a:t>
            </a:r>
          </a:p>
          <a:p>
            <a:pPr>
              <a:lnSpc>
                <a:spcPct val="130000"/>
              </a:lnSpc>
              <a:buClr>
                <a:srgbClr val="0000FF"/>
              </a:buClr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的偏序子格，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(S,×,⊕) 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不一定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×, 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的代数子格</a:t>
            </a:r>
            <a:r>
              <a:rPr lang="zh-CN" altLang="en-US" sz="3000" b="1" dirty="0">
                <a:ea typeface="宋体" panose="02010600030101010101" pitchFamily="2" charset="-122"/>
              </a:rPr>
              <a:t>。 </a:t>
            </a:r>
          </a:p>
        </p:txBody>
      </p:sp>
      <p:sp>
        <p:nvSpPr>
          <p:cNvPr id="65539" name="灯片编号占位符 1">
            <a:extLst>
              <a:ext uri="{FF2B5EF4-FFF2-40B4-BE49-F238E27FC236}">
                <a16:creationId xmlns="" xmlns:a16="http://schemas.microsoft.com/office/drawing/2014/main" id="{46A81EC1-A672-44F2-BC89-35D4834D7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A897A94-30ED-402B-9B9F-433066BE72AF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5540" name="Rectangle 2">
            <a:extLst>
              <a:ext uri="{FF2B5EF4-FFF2-40B4-BE49-F238E27FC236}">
                <a16:creationId xmlns="" xmlns:a16="http://schemas.microsoft.com/office/drawing/2014/main" id="{6C47BAC5-5361-4475-9D07-3A472EAB6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代数子格与偏序子格的关系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62" name="Group 48">
            <a:extLst>
              <a:ext uri="{FF2B5EF4-FFF2-40B4-BE49-F238E27FC236}">
                <a16:creationId xmlns="" xmlns:a16="http://schemas.microsoft.com/office/drawing/2014/main" id="{2A6253D6-0EBB-4E8B-9A48-0823A8F80019}"/>
              </a:ext>
            </a:extLst>
          </p:cNvPr>
          <p:cNvGrpSpPr>
            <a:grpSpLocks/>
          </p:cNvGrpSpPr>
          <p:nvPr/>
        </p:nvGrpSpPr>
        <p:grpSpPr bwMode="auto">
          <a:xfrm>
            <a:off x="3273425" y="3500438"/>
            <a:ext cx="3760788" cy="3105150"/>
            <a:chOff x="1924" y="1282"/>
            <a:chExt cx="2369" cy="2270"/>
          </a:xfrm>
        </p:grpSpPr>
        <p:sp>
          <p:nvSpPr>
            <p:cNvPr id="66566" name="Line 31">
              <a:extLst>
                <a:ext uri="{FF2B5EF4-FFF2-40B4-BE49-F238E27FC236}">
                  <a16:creationId xmlns="" xmlns:a16="http://schemas.microsoft.com/office/drawing/2014/main" id="{CCF05B5A-1B94-49E6-BC94-6827F0C94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647"/>
              <a:ext cx="0" cy="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66567" name="Group 47">
              <a:extLst>
                <a:ext uri="{FF2B5EF4-FFF2-40B4-BE49-F238E27FC236}">
                  <a16:creationId xmlns="" xmlns:a16="http://schemas.microsoft.com/office/drawing/2014/main" id="{E35195E3-D259-4A29-8D30-746511F04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4" y="1282"/>
              <a:ext cx="2369" cy="2270"/>
              <a:chOff x="1924" y="1282"/>
              <a:chExt cx="2369" cy="2270"/>
            </a:xfrm>
          </p:grpSpPr>
          <p:sp>
            <p:nvSpPr>
              <p:cNvPr id="66568" name="Line 26">
                <a:extLst>
                  <a:ext uri="{FF2B5EF4-FFF2-40B4-BE49-F238E27FC236}">
                    <a16:creationId xmlns="" xmlns:a16="http://schemas.microsoft.com/office/drawing/2014/main" id="{94FA42A1-DD2D-4510-949F-B6E88F921B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2081"/>
                <a:ext cx="693" cy="4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66569" name="Group 46">
                <a:extLst>
                  <a:ext uri="{FF2B5EF4-FFF2-40B4-BE49-F238E27FC236}">
                    <a16:creationId xmlns="" xmlns:a16="http://schemas.microsoft.com/office/drawing/2014/main" id="{D9885D56-242F-4BA5-85F2-64F574FC01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4" y="1282"/>
                <a:ext cx="2369" cy="2270"/>
                <a:chOff x="1924" y="1282"/>
                <a:chExt cx="2369" cy="2270"/>
              </a:xfrm>
            </p:grpSpPr>
            <p:sp>
              <p:nvSpPr>
                <p:cNvPr id="66570" name="Line 30">
                  <a:extLst>
                    <a:ext uri="{FF2B5EF4-FFF2-40B4-BE49-F238E27FC236}">
                      <a16:creationId xmlns="" xmlns:a16="http://schemas.microsoft.com/office/drawing/2014/main" id="{4B8E3033-5B12-4950-BB90-93E262D180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15" y="2047"/>
                  <a:ext cx="10" cy="5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66571" name="Group 45">
                  <a:extLst>
                    <a:ext uri="{FF2B5EF4-FFF2-40B4-BE49-F238E27FC236}">
                      <a16:creationId xmlns="" xmlns:a16="http://schemas.microsoft.com/office/drawing/2014/main" id="{3B77B425-EE73-4BFF-B5FC-5312FA7F97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4" y="1282"/>
                  <a:ext cx="2369" cy="2270"/>
                  <a:chOff x="1924" y="1296"/>
                  <a:chExt cx="2369" cy="2270"/>
                </a:xfrm>
              </p:grpSpPr>
              <p:grpSp>
                <p:nvGrpSpPr>
                  <p:cNvPr id="66572" name="Group 40">
                    <a:extLst>
                      <a:ext uri="{FF2B5EF4-FFF2-40B4-BE49-F238E27FC236}">
                        <a16:creationId xmlns="" xmlns:a16="http://schemas.microsoft.com/office/drawing/2014/main" id="{899B7E17-46C9-4361-975B-E465210058C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24" y="1296"/>
                    <a:ext cx="2369" cy="2270"/>
                    <a:chOff x="1924" y="1296"/>
                    <a:chExt cx="2369" cy="2270"/>
                  </a:xfrm>
                </p:grpSpPr>
                <p:grpSp>
                  <p:nvGrpSpPr>
                    <p:cNvPr id="66585" name="Group 39">
                      <a:extLst>
                        <a:ext uri="{FF2B5EF4-FFF2-40B4-BE49-F238E27FC236}">
                          <a16:creationId xmlns="" xmlns:a16="http://schemas.microsoft.com/office/drawing/2014/main" id="{97565A49-2404-4A13-9873-F2BAEE15A6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4" y="1296"/>
                      <a:ext cx="2369" cy="2270"/>
                      <a:chOff x="1924" y="1296"/>
                      <a:chExt cx="2369" cy="2270"/>
                    </a:xfrm>
                  </p:grpSpPr>
                  <p:sp>
                    <p:nvSpPr>
                      <p:cNvPr id="66594" name="Text Box 4">
                        <a:extLst>
                          <a:ext uri="{FF2B5EF4-FFF2-40B4-BE49-F238E27FC236}">
                            <a16:creationId xmlns="" xmlns:a16="http://schemas.microsoft.com/office/drawing/2014/main" id="{4DC331F3-06F8-4D70-A211-721D9210361F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95" y="2362"/>
                        <a:ext cx="509" cy="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25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6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9pPr>
                      </a:lstStyle>
                      <a:p>
                        <a:pPr algn="just" latinLnBrk="0">
                          <a:spcBef>
                            <a:spcPct val="0"/>
                          </a:spcBef>
                          <a:buClrTx/>
                          <a:buFontTx/>
                          <a:buNone/>
                        </a:pPr>
                        <a:r>
                          <a:rPr kumimoji="0" lang="en-US" altLang="zh-CN" sz="3200">
                            <a:ea typeface="宋体" panose="02010600030101010101" pitchFamily="2" charset="-122"/>
                          </a:rPr>
                          <a:t>a</a:t>
                        </a:r>
                        <a:r>
                          <a:rPr kumimoji="0" lang="en-US" altLang="zh-CN" sz="3200" baseline="-25000">
                            <a:ea typeface="宋体" panose="02010600030101010101" pitchFamily="2" charset="-122"/>
                          </a:rPr>
                          <a:t>6</a:t>
                        </a:r>
                        <a:endParaRPr kumimoji="0" lang="en-US" altLang="zh-CN" sz="3200">
                          <a:ea typeface="宋体" panose="02010600030101010101" pitchFamily="2" charset="-122"/>
                        </a:endParaRPr>
                      </a:p>
                    </p:txBody>
                  </p:sp>
                  <p:grpSp>
                    <p:nvGrpSpPr>
                      <p:cNvPr id="66595" name="Group 38">
                        <a:extLst>
                          <a:ext uri="{FF2B5EF4-FFF2-40B4-BE49-F238E27FC236}">
                            <a16:creationId xmlns="" xmlns:a16="http://schemas.microsoft.com/office/drawing/2014/main" id="{DE706F2F-02E0-4176-8D04-4C29B928342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24" y="1296"/>
                        <a:ext cx="2369" cy="2270"/>
                        <a:chOff x="1924" y="1296"/>
                        <a:chExt cx="2369" cy="2270"/>
                      </a:xfrm>
                    </p:grpSpPr>
                    <p:sp>
                      <p:nvSpPr>
                        <p:cNvPr id="66596" name="Text Box 6">
                          <a:extLst>
                            <a:ext uri="{FF2B5EF4-FFF2-40B4-BE49-F238E27FC236}">
                              <a16:creationId xmlns="" xmlns:a16="http://schemas.microsoft.com/office/drawing/2014/main" id="{D55DAA51-7474-455A-8954-CDB3408B7FEC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92" y="1943"/>
                          <a:ext cx="509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>
                          <a:lvl1pPr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25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1pPr>
                          <a:lvl2pPr marL="742950" indent="-28575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2pPr>
                          <a:lvl3pPr marL="1143000" indent="-22860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3pPr>
                          <a:lvl4pPr marL="1600200" indent="-22860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6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4pPr>
                          <a:lvl5pPr marL="2057400" indent="-22860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5pPr>
                          <a:lvl6pPr marL="25146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6pPr>
                          <a:lvl7pPr marL="29718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7pPr>
                          <a:lvl8pPr marL="34290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8pPr>
                          <a:lvl9pPr marL="38862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9pPr>
                        </a:lstStyle>
                        <a:p>
                          <a:pPr algn="just" latinLnBrk="0">
                            <a:spcBef>
                              <a:spcPct val="0"/>
                            </a:spcBef>
                            <a:buClrTx/>
                            <a:buFontTx/>
                            <a:buNone/>
                          </a:pPr>
                          <a:r>
                            <a:rPr kumimoji="0" lang="en-US" altLang="zh-CN" sz="3200">
                              <a:ea typeface="宋体" panose="02010600030101010101" pitchFamily="2" charset="-122"/>
                            </a:rPr>
                            <a:t>a</a:t>
                          </a:r>
                          <a:r>
                            <a:rPr kumimoji="0" lang="en-US" altLang="zh-CN" sz="3200" baseline="-25000">
                              <a:ea typeface="宋体" panose="02010600030101010101" pitchFamily="2" charset="-122"/>
                            </a:rPr>
                            <a:t>3</a:t>
                          </a:r>
                          <a:endParaRPr kumimoji="0" lang="en-US" altLang="zh-CN" sz="3200">
                            <a:ea typeface="宋体" panose="02010600030101010101" pitchFamily="2" charset="-122"/>
                          </a:endParaRPr>
                        </a:p>
                      </p:txBody>
                    </p:sp>
                    <p:grpSp>
                      <p:nvGrpSpPr>
                        <p:cNvPr id="66597" name="Group 37">
                          <a:extLst>
                            <a:ext uri="{FF2B5EF4-FFF2-40B4-BE49-F238E27FC236}">
                              <a16:creationId xmlns="" xmlns:a16="http://schemas.microsoft.com/office/drawing/2014/main" id="{6FA0E8DE-80F4-4A92-AC4E-5BC64A609CB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24" y="1296"/>
                          <a:ext cx="2369" cy="2270"/>
                          <a:chOff x="1924" y="1296"/>
                          <a:chExt cx="2369" cy="2270"/>
                        </a:xfrm>
                      </p:grpSpPr>
                      <p:sp>
                        <p:nvSpPr>
                          <p:cNvPr id="66598" name="Text Box 8">
                            <a:extLst>
                              <a:ext uri="{FF2B5EF4-FFF2-40B4-BE49-F238E27FC236}">
                                <a16:creationId xmlns="" xmlns:a16="http://schemas.microsoft.com/office/drawing/2014/main" id="{EC56F7B3-07FA-459F-9403-94731E4A5F7C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897" y="1296"/>
                            <a:ext cx="509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>
                                <a:ea typeface="宋体" panose="02010600030101010101" pitchFamily="2" charset="-122"/>
                              </a:rPr>
                              <a:t>a</a:t>
                            </a:r>
                            <a:r>
                              <a:rPr kumimoji="0" lang="en-US" altLang="zh-CN" sz="3200" baseline="-25000">
                                <a:ea typeface="宋体" panose="02010600030101010101" pitchFamily="2" charset="-122"/>
                              </a:rPr>
                              <a:t>1</a:t>
                            </a:r>
                            <a:endParaRPr kumimoji="0" lang="en-US" altLang="zh-CN" sz="32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66599" name="Text Box 9">
                            <a:extLst>
                              <a:ext uri="{FF2B5EF4-FFF2-40B4-BE49-F238E27FC236}">
                                <a16:creationId xmlns="" xmlns:a16="http://schemas.microsoft.com/office/drawing/2014/main" id="{3B53BFA9-AC85-449E-B768-846765B0D150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924" y="1782"/>
                            <a:ext cx="508" cy="5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>
                                <a:ea typeface="宋体" panose="02010600030101010101" pitchFamily="2" charset="-122"/>
                              </a:rPr>
                              <a:t>a</a:t>
                            </a:r>
                            <a:r>
                              <a:rPr kumimoji="0" lang="en-US" altLang="zh-CN" sz="3200" baseline="-25000">
                                <a:ea typeface="宋体" panose="02010600030101010101" pitchFamily="2" charset="-122"/>
                              </a:rPr>
                              <a:t>2</a:t>
                            </a:r>
                            <a:endParaRPr kumimoji="0" lang="en-US" altLang="zh-CN" sz="32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66600" name="Text Box 10">
                            <a:extLst>
                              <a:ext uri="{FF2B5EF4-FFF2-40B4-BE49-F238E27FC236}">
                                <a16:creationId xmlns="" xmlns:a16="http://schemas.microsoft.com/office/drawing/2014/main" id="{A5A945B1-F069-41EF-AEF5-A5F0016C6BB2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73" y="1768"/>
                            <a:ext cx="508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>
                                <a:ea typeface="宋体" panose="02010600030101010101" pitchFamily="2" charset="-122"/>
                              </a:rPr>
                              <a:t>a</a:t>
                            </a:r>
                            <a:r>
                              <a:rPr kumimoji="0" lang="en-US" altLang="zh-CN" sz="3200" baseline="-25000">
                                <a:ea typeface="宋体" panose="02010600030101010101" pitchFamily="2" charset="-122"/>
                              </a:rPr>
                              <a:t>4</a:t>
                            </a:r>
                            <a:endParaRPr kumimoji="0" lang="en-US" altLang="zh-CN" sz="32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66601" name="Text Box 11">
                            <a:extLst>
                              <a:ext uri="{FF2B5EF4-FFF2-40B4-BE49-F238E27FC236}">
                                <a16:creationId xmlns="" xmlns:a16="http://schemas.microsoft.com/office/drawing/2014/main" id="{22BB1956-BD6D-46E2-822C-401D3392316F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924" y="2416"/>
                            <a:ext cx="508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>
                                <a:ea typeface="宋体" panose="02010600030101010101" pitchFamily="2" charset="-122"/>
                              </a:rPr>
                              <a:t>a</a:t>
                            </a:r>
                            <a:r>
                              <a:rPr kumimoji="0" lang="en-US" altLang="zh-CN" sz="3200" baseline="-25000">
                                <a:ea typeface="宋体" panose="02010600030101010101" pitchFamily="2" charset="-122"/>
                              </a:rPr>
                              <a:t>5</a:t>
                            </a:r>
                            <a:endParaRPr kumimoji="0" lang="en-US" altLang="zh-CN" sz="32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66602" name="Text Box 12">
                            <a:extLst>
                              <a:ext uri="{FF2B5EF4-FFF2-40B4-BE49-F238E27FC236}">
                                <a16:creationId xmlns="" xmlns:a16="http://schemas.microsoft.com/office/drawing/2014/main" id="{BE8BA42D-710C-4769-B77D-8C308D913893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855" y="3065"/>
                            <a:ext cx="507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>
                                <a:ea typeface="宋体" panose="02010600030101010101" pitchFamily="2" charset="-122"/>
                              </a:rPr>
                              <a:t>a</a:t>
                            </a:r>
                            <a:r>
                              <a:rPr kumimoji="0" lang="en-US" altLang="zh-CN" sz="3200" baseline="-25000">
                                <a:ea typeface="宋体" panose="02010600030101010101" pitchFamily="2" charset="-122"/>
                              </a:rPr>
                              <a:t>8</a:t>
                            </a:r>
                            <a:endParaRPr kumimoji="0" lang="en-US" altLang="zh-CN" sz="32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66603" name="Text Box 13">
                            <a:extLst>
                              <a:ext uri="{FF2B5EF4-FFF2-40B4-BE49-F238E27FC236}">
                                <a16:creationId xmlns="" xmlns:a16="http://schemas.microsoft.com/office/drawing/2014/main" id="{6D353066-7D89-4662-B1C6-755FC03EC0B6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785" y="2431"/>
                            <a:ext cx="508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>
                                <a:ea typeface="宋体" panose="02010600030101010101" pitchFamily="2" charset="-122"/>
                              </a:rPr>
                              <a:t>a</a:t>
                            </a:r>
                            <a:r>
                              <a:rPr kumimoji="0" lang="en-US" altLang="zh-CN" sz="3200" baseline="-25000">
                                <a:ea typeface="宋体" panose="02010600030101010101" pitchFamily="2" charset="-122"/>
                              </a:rPr>
                              <a:t>7</a:t>
                            </a:r>
                            <a:endParaRPr kumimoji="0" lang="en-US" altLang="zh-CN" sz="32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66586" name="Oval 14">
                      <a:extLst>
                        <a:ext uri="{FF2B5EF4-FFF2-40B4-BE49-F238E27FC236}">
                          <a16:creationId xmlns="" xmlns:a16="http://schemas.microsoft.com/office/drawing/2014/main" id="{B193F7DC-8DFB-43A0-BDF7-35FF3E029BD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1605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87" name="Oval 15">
                      <a:extLst>
                        <a:ext uri="{FF2B5EF4-FFF2-40B4-BE49-F238E27FC236}">
                          <a16:creationId xmlns="" xmlns:a16="http://schemas.microsoft.com/office/drawing/2014/main" id="{BDBD7D95-FC85-4343-83F1-7CFD622E3C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2" y="2067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88" name="Oval 16">
                      <a:extLst>
                        <a:ext uri="{FF2B5EF4-FFF2-40B4-BE49-F238E27FC236}">
                          <a16:creationId xmlns="" xmlns:a16="http://schemas.microsoft.com/office/drawing/2014/main" id="{4E69003B-4D23-46DD-829C-B4B24FAB6C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2" y="2626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89" name="Oval 17">
                      <a:extLst>
                        <a:ext uri="{FF2B5EF4-FFF2-40B4-BE49-F238E27FC236}">
                          <a16:creationId xmlns="" xmlns:a16="http://schemas.microsoft.com/office/drawing/2014/main" id="{C181B35E-1482-45FE-BC38-399ED3B3794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3088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90" name="Oval 18">
                      <a:extLst>
                        <a:ext uri="{FF2B5EF4-FFF2-40B4-BE49-F238E27FC236}">
                          <a16:creationId xmlns="" xmlns:a16="http://schemas.microsoft.com/office/drawing/2014/main" id="{7E565A65-1C3E-4AE7-AC50-E63DE73C2F6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2162"/>
                      <a:ext cx="47" cy="6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91" name="Oval 19">
                      <a:extLst>
                        <a:ext uri="{FF2B5EF4-FFF2-40B4-BE49-F238E27FC236}">
                          <a16:creationId xmlns="" xmlns:a16="http://schemas.microsoft.com/office/drawing/2014/main" id="{6545E21C-29EF-4E63-96A4-AA35B1B6F1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89" y="2008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92" name="Oval 20">
                      <a:extLst>
                        <a:ext uri="{FF2B5EF4-FFF2-40B4-BE49-F238E27FC236}">
                          <a16:creationId xmlns="" xmlns:a16="http://schemas.microsoft.com/office/drawing/2014/main" id="{08E50F95-CE8D-4363-ADBC-76ADF351A3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2471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93" name="Oval 21">
                      <a:extLst>
                        <a:ext uri="{FF2B5EF4-FFF2-40B4-BE49-F238E27FC236}">
                          <a16:creationId xmlns="" xmlns:a16="http://schemas.microsoft.com/office/drawing/2014/main" id="{CDD53ECA-1767-49E9-949B-CF37443F47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89" y="2626"/>
                      <a:ext cx="59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</p:grpSp>
              <p:grpSp>
                <p:nvGrpSpPr>
                  <p:cNvPr id="66573" name="Group 44">
                    <a:extLst>
                      <a:ext uri="{FF2B5EF4-FFF2-40B4-BE49-F238E27FC236}">
                        <a16:creationId xmlns="" xmlns:a16="http://schemas.microsoft.com/office/drawing/2014/main" id="{8A35205B-45CB-430A-9E5B-9CC82B75C98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98" y="1629"/>
                    <a:ext cx="1402" cy="1491"/>
                    <a:chOff x="2198" y="1629"/>
                    <a:chExt cx="1402" cy="1491"/>
                  </a:xfrm>
                </p:grpSpPr>
                <p:grpSp>
                  <p:nvGrpSpPr>
                    <p:cNvPr id="66574" name="Group 43">
                      <a:extLst>
                        <a:ext uri="{FF2B5EF4-FFF2-40B4-BE49-F238E27FC236}">
                          <a16:creationId xmlns="" xmlns:a16="http://schemas.microsoft.com/office/drawing/2014/main" id="{F1992F98-DA87-4754-929A-88851E58151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98" y="1629"/>
                      <a:ext cx="1402" cy="1491"/>
                      <a:chOff x="2198" y="1629"/>
                      <a:chExt cx="1402" cy="1491"/>
                    </a:xfrm>
                  </p:grpSpPr>
                  <p:sp>
                    <p:nvSpPr>
                      <p:cNvPr id="66576" name="Line 23">
                        <a:extLst>
                          <a:ext uri="{FF2B5EF4-FFF2-40B4-BE49-F238E27FC236}">
                            <a16:creationId xmlns="" xmlns:a16="http://schemas.microsoft.com/office/drawing/2014/main" id="{BA11A788-271E-4339-9D5A-17D5F6EF82F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98" y="2112"/>
                        <a:ext cx="0" cy="57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66577" name="Group 42">
                        <a:extLst>
                          <a:ext uri="{FF2B5EF4-FFF2-40B4-BE49-F238E27FC236}">
                            <a16:creationId xmlns="" xmlns:a16="http://schemas.microsoft.com/office/drawing/2014/main" id="{B4DC6EF4-0961-4750-8BFA-E19354F4A4D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47" y="2496"/>
                        <a:ext cx="1353" cy="624"/>
                        <a:chOff x="2247" y="2496"/>
                        <a:chExt cx="1353" cy="624"/>
                      </a:xfrm>
                    </p:grpSpPr>
                    <p:sp>
                      <p:nvSpPr>
                        <p:cNvPr id="66582" name="Line 22">
                          <a:extLst>
                            <a:ext uri="{FF2B5EF4-FFF2-40B4-BE49-F238E27FC236}">
                              <a16:creationId xmlns="" xmlns:a16="http://schemas.microsoft.com/office/drawing/2014/main" id="{3F2D1A5D-8DFE-471F-A3D3-2447DE04DBF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247" y="2674"/>
                          <a:ext cx="681" cy="44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6583" name="Line 24">
                          <a:extLst>
                            <a:ext uri="{FF2B5EF4-FFF2-40B4-BE49-F238E27FC236}">
                              <a16:creationId xmlns="" xmlns:a16="http://schemas.microsoft.com/office/drawing/2014/main" id="{3F5BA45B-4C0E-4FCD-ADE4-8DDACB56CE8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28" y="2496"/>
                          <a:ext cx="0" cy="62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6584" name="Line 25">
                          <a:extLst>
                            <a:ext uri="{FF2B5EF4-FFF2-40B4-BE49-F238E27FC236}">
                              <a16:creationId xmlns="" xmlns:a16="http://schemas.microsoft.com/office/drawing/2014/main" id="{B07A729B-286D-420A-B069-7EEB2E7528B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880" y="2640"/>
                          <a:ext cx="720" cy="48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66578" name="Line 27">
                        <a:extLst>
                          <a:ext uri="{FF2B5EF4-FFF2-40B4-BE49-F238E27FC236}">
                            <a16:creationId xmlns="" xmlns:a16="http://schemas.microsoft.com/office/drawing/2014/main" id="{AB529CC6-6A45-4600-81E6-41115F790CE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43" y="1642"/>
                        <a:ext cx="647" cy="41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6579" name="Line 28">
                        <a:extLst>
                          <a:ext uri="{FF2B5EF4-FFF2-40B4-BE49-F238E27FC236}">
                            <a16:creationId xmlns="" xmlns:a16="http://schemas.microsoft.com/office/drawing/2014/main" id="{9659C649-2741-4C39-917C-CE4801EF6D5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42" y="1629"/>
                        <a:ext cx="647" cy="39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6580" name="Line 29">
                        <a:extLst>
                          <a:ext uri="{FF2B5EF4-FFF2-40B4-BE49-F238E27FC236}">
                            <a16:creationId xmlns="" xmlns:a16="http://schemas.microsoft.com/office/drawing/2014/main" id="{D51A726B-CC17-4FCE-B6D6-788A47E1C50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928" y="2039"/>
                        <a:ext cx="666" cy="457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6581" name="Line 32">
                        <a:extLst>
                          <a:ext uri="{FF2B5EF4-FFF2-40B4-BE49-F238E27FC236}">
                            <a16:creationId xmlns="" xmlns:a16="http://schemas.microsoft.com/office/drawing/2014/main" id="{0305698B-7D7A-4BF0-B797-8BD55B1B22B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56" y="2208"/>
                        <a:ext cx="672" cy="43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66575" name="Line 33">
                      <a:extLst>
                        <a:ext uri="{FF2B5EF4-FFF2-40B4-BE49-F238E27FC236}">
                          <a16:creationId xmlns="" xmlns:a16="http://schemas.microsoft.com/office/drawing/2014/main" id="{B5BFBF66-C198-45BE-B8CA-A7E39CCFE8A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1" y="2208"/>
                      <a:ext cx="659" cy="43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</p:grpSp>
      <p:sp>
        <p:nvSpPr>
          <p:cNvPr id="66563" name="Rectangle 35">
            <a:extLst>
              <a:ext uri="{FF2B5EF4-FFF2-40B4-BE49-F238E27FC236}">
                <a16:creationId xmlns="" xmlns:a16="http://schemas.microsoft.com/office/drawing/2014/main" id="{805DE0AC-2B25-4399-A871-76EBB1012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2400"/>
            <a:ext cx="8780463" cy="645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latinLnBrk="0" hangingPunct="1">
              <a:buSzPct val="80000"/>
              <a:buFont typeface="Wingdings" panose="05000000000000000000" pitchFamily="2" charset="2"/>
              <a:buNone/>
            </a:pPr>
            <a:endParaRPr lang="zh-CN" altLang="zh-CN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4977" name="Rectangle 49">
            <a:extLst>
              <a:ext uri="{FF2B5EF4-FFF2-40B4-BE49-F238E27FC236}">
                <a16:creationId xmlns="" xmlns:a16="http://schemas.microsoft.com/office/drawing/2014/main" id="{30BFBF36-AF8C-4F32-B87A-64D5C0C3B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20713"/>
            <a:ext cx="8280400" cy="597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L={a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5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7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8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},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L,≤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）是格。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取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={a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},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则（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，≤）是（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，≤）的偏序子格，也是（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L,×,⊕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）的代数子格。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(2)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取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={a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8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},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 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的偏序子格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但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,×,⊕)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不是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的代数子格。因为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×a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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 即，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在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下不封闭。</a:t>
            </a:r>
          </a:p>
        </p:txBody>
      </p:sp>
      <p:sp>
        <p:nvSpPr>
          <p:cNvPr id="66565" name="灯片编号占位符 1">
            <a:extLst>
              <a:ext uri="{FF2B5EF4-FFF2-40B4-BE49-F238E27FC236}">
                <a16:creationId xmlns="" xmlns:a16="http://schemas.microsoft.com/office/drawing/2014/main" id="{FB6A0C53-8A84-4377-A288-61B992F3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D7FC5CC-422F-4B77-905A-9F962A4BBCBE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9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9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9F014894-1975-4448-A109-423231C1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239838"/>
            <a:ext cx="8459787" cy="5068887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一个格（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L, ≤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）的</a:t>
            </a:r>
            <a:r>
              <a:rPr lang="zh-CN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哈塞</a:t>
            </a:r>
            <a:r>
              <a:rPr lang="zh-CN" altLang="en-US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（斯）</a:t>
            </a:r>
            <a:r>
              <a:rPr lang="zh-CN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图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如下图所示。取</a:t>
            </a:r>
            <a:r>
              <a:rPr lang="es-E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的子集</a:t>
            </a:r>
            <a:r>
              <a:rPr lang="es-E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s-E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s-E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={c,e,g,f }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s-E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s-E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s-E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={a,b,g,f}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。请问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≤)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是不是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的子格？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(S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≤)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是不是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zh-CN" altLang="zh-CN" sz="3000" b="1" kern="100" dirty="0">
                <a:ea typeface="宋体" panose="02010600030101010101" pitchFamily="2" charset="-122"/>
              </a:rPr>
              <a:t>？</a:t>
            </a:r>
            <a:endParaRPr lang="en-US" altLang="zh-CN" sz="3000" b="1" kern="1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3000" b="1" kern="1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3000" b="1" kern="1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3000" b="1" kern="1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30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解：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S1</a:t>
            </a: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不是；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S2</a:t>
            </a: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endParaRPr lang="en-US" altLang="zh-CN" sz="30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zh-CN" sz="2800" kern="100" dirty="0"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sz="2800" dirty="0"/>
          </a:p>
        </p:txBody>
      </p:sp>
      <p:sp>
        <p:nvSpPr>
          <p:cNvPr id="110595" name="Rectangle 43">
            <a:extLst>
              <a:ext uri="{FF2B5EF4-FFF2-40B4-BE49-F238E27FC236}">
                <a16:creationId xmlns="" xmlns:a16="http://schemas.microsoft.com/office/drawing/2014/main" id="{3DBE0720-7F55-4751-B1B0-BB94AF08D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300" y="187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  <a:defRPr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110596" name="组合 1">
            <a:extLst>
              <a:ext uri="{FF2B5EF4-FFF2-40B4-BE49-F238E27FC236}">
                <a16:creationId xmlns="" xmlns:a16="http://schemas.microsoft.com/office/drawing/2014/main" id="{CBD140BA-EF1D-4CF7-AAD0-CFE8BCA6D841}"/>
              </a:ext>
            </a:extLst>
          </p:cNvPr>
          <p:cNvGrpSpPr>
            <a:grpSpLocks/>
          </p:cNvGrpSpPr>
          <p:nvPr/>
        </p:nvGrpSpPr>
        <p:grpSpPr bwMode="auto">
          <a:xfrm>
            <a:off x="2857500" y="2567459"/>
            <a:ext cx="4105275" cy="3525837"/>
            <a:chOff x="2116362" y="2382571"/>
            <a:chExt cx="4105275" cy="3525838"/>
          </a:xfrm>
        </p:grpSpPr>
        <p:sp>
          <p:nvSpPr>
            <p:cNvPr id="110599" name="Line 17">
              <a:extLst>
                <a:ext uri="{FF2B5EF4-FFF2-40B4-BE49-F238E27FC236}">
                  <a16:creationId xmlns="" xmlns:a16="http://schemas.microsoft.com/office/drawing/2014/main" id="{8BB0AB52-E659-463E-A91F-B0FCA19F4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68332" y="2769266"/>
              <a:ext cx="1416722" cy="61148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0600" name="Line 16">
              <a:extLst>
                <a:ext uri="{FF2B5EF4-FFF2-40B4-BE49-F238E27FC236}">
                  <a16:creationId xmlns="" xmlns:a16="http://schemas.microsoft.com/office/drawing/2014/main" id="{8DE314E2-7659-4213-9694-AD670D909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5054" y="2769266"/>
              <a:ext cx="1446621" cy="61148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0601" name="Line 15">
              <a:extLst>
                <a:ext uri="{FF2B5EF4-FFF2-40B4-BE49-F238E27FC236}">
                  <a16:creationId xmlns="" xmlns:a16="http://schemas.microsoft.com/office/drawing/2014/main" id="{33A8672E-F697-4C2C-982C-D9B3A7D38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332" y="4677588"/>
              <a:ext cx="1499518" cy="58947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0602" name="Line 14">
              <a:extLst>
                <a:ext uri="{FF2B5EF4-FFF2-40B4-BE49-F238E27FC236}">
                  <a16:creationId xmlns="" xmlns:a16="http://schemas.microsoft.com/office/drawing/2014/main" id="{7B693CE3-EF9D-42D8-B7EA-2A23EF141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33975" y="3404325"/>
              <a:ext cx="0" cy="12732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0603" name="Line 13">
              <a:extLst>
                <a:ext uri="{FF2B5EF4-FFF2-40B4-BE49-F238E27FC236}">
                  <a16:creationId xmlns="" xmlns:a16="http://schemas.microsoft.com/office/drawing/2014/main" id="{65ABD99B-72CF-4771-96BF-49A20886C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132" y="3404325"/>
              <a:ext cx="1508717" cy="54231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0604" name="Line 12">
              <a:extLst>
                <a:ext uri="{FF2B5EF4-FFF2-40B4-BE49-F238E27FC236}">
                  <a16:creationId xmlns="" xmlns:a16="http://schemas.microsoft.com/office/drawing/2014/main" id="{AAF27E98-FBBB-4BEB-B8F1-468AE054AF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000000" flipV="1">
              <a:off x="4143531" y="3513466"/>
              <a:ext cx="1448921" cy="32381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0605" name="Line 11">
              <a:extLst>
                <a:ext uri="{FF2B5EF4-FFF2-40B4-BE49-F238E27FC236}">
                  <a16:creationId xmlns="" xmlns:a16="http://schemas.microsoft.com/office/drawing/2014/main" id="{DFB6878C-F7DE-4047-8E40-52400B3C8B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132" y="3380746"/>
              <a:ext cx="9199" cy="129684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0606" name="Line 10">
              <a:extLst>
                <a:ext uri="{FF2B5EF4-FFF2-40B4-BE49-F238E27FC236}">
                  <a16:creationId xmlns="" xmlns:a16="http://schemas.microsoft.com/office/drawing/2014/main" id="{69AC6BA4-9B80-45FC-AB06-09717BCB1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7850" y="3946641"/>
              <a:ext cx="0" cy="132042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0607" name="Line 9">
              <a:extLst>
                <a:ext uri="{FF2B5EF4-FFF2-40B4-BE49-F238E27FC236}">
                  <a16:creationId xmlns="" xmlns:a16="http://schemas.microsoft.com/office/drawing/2014/main" id="{127E839F-695C-4BE7-AEAC-9BB61395BF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7850" y="4677588"/>
              <a:ext cx="1363825" cy="58947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0608" name="Text Box 8">
              <a:extLst>
                <a:ext uri="{FF2B5EF4-FFF2-40B4-BE49-F238E27FC236}">
                  <a16:creationId xmlns="" xmlns:a16="http://schemas.microsoft.com/office/drawing/2014/main" id="{DA250431-1E79-42A4-82C1-40A98336F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5740" y="2382571"/>
              <a:ext cx="439276" cy="628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ko-KR" b="1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a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110609" name="Text Box 7">
              <a:extLst>
                <a:ext uri="{FF2B5EF4-FFF2-40B4-BE49-F238E27FC236}">
                  <a16:creationId xmlns="" xmlns:a16="http://schemas.microsoft.com/office/drawing/2014/main" id="{2AB8C2C8-E2AB-43BC-9C00-3B80FABE6E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6362" y="3105659"/>
              <a:ext cx="517472" cy="521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ko-KR" b="1">
                  <a:solidFill>
                    <a:srgbClr val="000000"/>
                  </a:solidFill>
                  <a:cs typeface="Times New Roman" panose="02020603050405020304" pitchFamily="18" charset="0"/>
                </a:rPr>
                <a:t>b</a:t>
              </a:r>
              <a:endParaRPr lang="en-US" altLang="ko-KR">
                <a:solidFill>
                  <a:srgbClr val="000000"/>
                </a:solidFill>
              </a:endParaRPr>
            </a:p>
          </p:txBody>
        </p:sp>
        <p:sp>
          <p:nvSpPr>
            <p:cNvPr id="110610" name="Text Box 6">
              <a:extLst>
                <a:ext uri="{FF2B5EF4-FFF2-40B4-BE49-F238E27FC236}">
                  <a16:creationId xmlns="" xmlns:a16="http://schemas.microsoft.com/office/drawing/2014/main" id="{663D5324-FCE0-49DC-8EA9-7377EFDEA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9959" y="3497069"/>
              <a:ext cx="411677" cy="515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ko-KR" b="1">
                  <a:solidFill>
                    <a:srgbClr val="000000"/>
                  </a:solidFill>
                  <a:cs typeface="Times New Roman" panose="02020603050405020304" pitchFamily="18" charset="0"/>
                </a:rPr>
                <a:t>c</a:t>
              </a:r>
              <a:endParaRPr lang="en-US" altLang="ko-KR">
                <a:solidFill>
                  <a:srgbClr val="000000"/>
                </a:solidFill>
              </a:endParaRPr>
            </a:p>
          </p:txBody>
        </p:sp>
        <p:sp>
          <p:nvSpPr>
            <p:cNvPr id="110611" name="Text Box 5">
              <a:extLst>
                <a:ext uri="{FF2B5EF4-FFF2-40B4-BE49-F238E27FC236}">
                  <a16:creationId xmlns="" xmlns:a16="http://schemas.microsoft.com/office/drawing/2014/main" id="{6040E74F-B790-46D1-99E3-6377E82F08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7266" y="3027062"/>
              <a:ext cx="524371" cy="565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ko-KR" b="1">
                  <a:solidFill>
                    <a:srgbClr val="000000"/>
                  </a:solidFill>
                  <a:cs typeface="Times New Roman" panose="02020603050405020304" pitchFamily="18" charset="0"/>
                </a:rPr>
                <a:t>d</a:t>
              </a:r>
              <a:endParaRPr lang="en-US" altLang="ko-KR">
                <a:solidFill>
                  <a:srgbClr val="000000"/>
                </a:solidFill>
              </a:endParaRPr>
            </a:p>
          </p:txBody>
        </p:sp>
        <p:sp>
          <p:nvSpPr>
            <p:cNvPr id="110612" name="Text Box 4">
              <a:extLst>
                <a:ext uri="{FF2B5EF4-FFF2-40B4-BE49-F238E27FC236}">
                  <a16:creationId xmlns="" xmlns:a16="http://schemas.microsoft.com/office/drawing/2014/main" id="{27129366-9AB7-40D6-AB06-F7B05ACBDA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554" y="4481097"/>
              <a:ext cx="413977" cy="515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ko-KR" b="1">
                  <a:solidFill>
                    <a:srgbClr val="000000"/>
                  </a:solidFill>
                  <a:cs typeface="Times New Roman" panose="02020603050405020304" pitchFamily="18" charset="0"/>
                </a:rPr>
                <a:t>e</a:t>
              </a:r>
              <a:endParaRPr lang="en-US" altLang="ko-KR">
                <a:solidFill>
                  <a:srgbClr val="000000"/>
                </a:solidFill>
              </a:endParaRPr>
            </a:p>
          </p:txBody>
        </p:sp>
        <p:sp>
          <p:nvSpPr>
            <p:cNvPr id="110613" name="Text Box 3">
              <a:extLst>
                <a:ext uri="{FF2B5EF4-FFF2-40B4-BE49-F238E27FC236}">
                  <a16:creationId xmlns="" xmlns:a16="http://schemas.microsoft.com/office/drawing/2014/main" id="{C11C7CCD-3080-421F-86B0-F53A8AC41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5054" y="5392816"/>
              <a:ext cx="411677" cy="515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ko-KR" b="1">
                  <a:solidFill>
                    <a:srgbClr val="000000"/>
                  </a:solidFill>
                  <a:cs typeface="Times New Roman" panose="02020603050405020304" pitchFamily="18" charset="0"/>
                </a:rPr>
                <a:t>f</a:t>
              </a:r>
              <a:endParaRPr lang="en-US" altLang="ko-KR">
                <a:solidFill>
                  <a:srgbClr val="000000"/>
                </a:solidFill>
              </a:endParaRPr>
            </a:p>
          </p:txBody>
        </p:sp>
        <p:sp>
          <p:nvSpPr>
            <p:cNvPr id="110614" name="Text Box 2">
              <a:extLst>
                <a:ext uri="{FF2B5EF4-FFF2-40B4-BE49-F238E27FC236}">
                  <a16:creationId xmlns="" xmlns:a16="http://schemas.microsoft.com/office/drawing/2014/main" id="{39CB11BB-6A5E-4E4A-83CB-37324B6F0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9667" y="4655581"/>
              <a:ext cx="413977" cy="515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ko-KR" b="1">
                  <a:solidFill>
                    <a:srgbClr val="000000"/>
                  </a:solidFill>
                  <a:cs typeface="Times New Roman" panose="02020603050405020304" pitchFamily="18" charset="0"/>
                </a:rPr>
                <a:t>g</a:t>
              </a:r>
              <a:endParaRPr lang="en-US" altLang="ko-KR">
                <a:solidFill>
                  <a:srgbClr val="000000"/>
                </a:solidFill>
              </a:endParaRPr>
            </a:p>
          </p:txBody>
        </p:sp>
      </p:grpSp>
      <p:sp>
        <p:nvSpPr>
          <p:cNvPr id="110597" name="灯片编号占位符 1">
            <a:extLst>
              <a:ext uri="{FF2B5EF4-FFF2-40B4-BE49-F238E27FC236}">
                <a16:creationId xmlns="" xmlns:a16="http://schemas.microsoft.com/office/drawing/2014/main" id="{A4D3B2A5-F673-4F9F-AE47-D6F84E8C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C75DD087-38FD-4823-A541-6A60045D7920}" type="slidenum">
              <a:rPr lang="en-US" altLang="ko-KR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25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="" xmlns:a16="http://schemas.microsoft.com/office/drawing/2014/main" id="{9D67E2CE-0D96-4C7D-83D8-D758063F7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思考：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407334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>
            <a:extLst>
              <a:ext uri="{FF2B5EF4-FFF2-40B4-BE49-F238E27FC236}">
                <a16:creationId xmlns="" xmlns:a16="http://schemas.microsoft.com/office/drawing/2014/main" id="{153FCFA1-29D3-4B2C-8B07-34947C11D1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-108520" y="1556792"/>
            <a:ext cx="9144000" cy="990600"/>
          </a:xfrm>
        </p:spPr>
        <p:txBody>
          <a:bodyPr/>
          <a:lstStyle/>
          <a:p>
            <a:pPr>
              <a:defRPr/>
            </a:pPr>
            <a:r>
              <a:rPr lang="en-US" altLang="zh-CN" sz="5000" dirty="0">
                <a:latin typeface="+mn-lt"/>
              </a:rPr>
              <a:t>§7.3  </a:t>
            </a:r>
            <a:r>
              <a:rPr lang="zh-CN" altLang="en-US" sz="5000" dirty="0">
                <a:latin typeface="宋体" pitchFamily="2" charset="-122"/>
              </a:rPr>
              <a:t>格的性质</a:t>
            </a:r>
          </a:p>
        </p:txBody>
      </p:sp>
      <p:sp>
        <p:nvSpPr>
          <p:cNvPr id="67587" name="Rectangle 5">
            <a:extLst>
              <a:ext uri="{FF2B5EF4-FFF2-40B4-BE49-F238E27FC236}">
                <a16:creationId xmlns="" xmlns:a16="http://schemas.microsoft.com/office/drawing/2014/main" id="{4E6A9B86-7433-45C9-AA16-857094FDFF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691680" y="3573463"/>
            <a:ext cx="5617170" cy="1943100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altLang="zh-CN" sz="3400" b="1" smtClean="0">
                <a:solidFill>
                  <a:schemeClr val="tx2"/>
                </a:solidFill>
                <a:ea typeface="华文楷体" panose="02010600040101010101" pitchFamily="2" charset="-122"/>
              </a:rPr>
              <a:t>7.3.1 </a:t>
            </a:r>
            <a:r>
              <a:rPr lang="zh-CN" altLang="en-US" sz="3400" b="1" dirty="0" smtClean="0">
                <a:solidFill>
                  <a:schemeClr val="tx2"/>
                </a:solidFill>
                <a:ea typeface="华文楷体" panose="02010600040101010101" pitchFamily="2" charset="-122"/>
              </a:rPr>
              <a:t>对偶原理 （删除）</a:t>
            </a:r>
            <a:endParaRPr lang="en-US" altLang="zh-CN" sz="3400" b="1" dirty="0" smtClean="0">
              <a:solidFill>
                <a:schemeClr val="tx2"/>
              </a:solidFill>
              <a:ea typeface="华文楷体" panose="02010600040101010101" pitchFamily="2" charset="-122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altLang="zh-CN" sz="3400" b="1" dirty="0" smtClean="0">
                <a:solidFill>
                  <a:schemeClr val="tx2"/>
                </a:solidFill>
                <a:ea typeface="华文楷体" panose="02010600040101010101" pitchFamily="2" charset="-122"/>
              </a:rPr>
              <a:t>7.3.2</a:t>
            </a:r>
            <a:r>
              <a:rPr lang="zh-CN" altLang="en-US" sz="3400" b="1" dirty="0" smtClean="0">
                <a:solidFill>
                  <a:schemeClr val="tx2"/>
                </a:solidFill>
                <a:ea typeface="华文楷体" panose="02010600040101010101" pitchFamily="2" charset="-122"/>
              </a:rPr>
              <a:t>格 </a:t>
            </a:r>
            <a:r>
              <a:rPr lang="zh-CN" altLang="en-US" sz="3400" b="1" dirty="0">
                <a:solidFill>
                  <a:schemeClr val="tx2"/>
                </a:solidFill>
                <a:ea typeface="华文楷体" panose="02010600040101010101" pitchFamily="2" charset="-122"/>
              </a:rPr>
              <a:t>的其他 性 质 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altLang="zh-CN" sz="3400" b="1" dirty="0" smtClean="0">
                <a:solidFill>
                  <a:schemeClr val="tx2"/>
                </a:solidFill>
                <a:ea typeface="华文楷体" panose="02010600040101010101" pitchFamily="2" charset="-122"/>
              </a:rPr>
              <a:t>7.3.3</a:t>
            </a:r>
            <a:r>
              <a:rPr lang="zh-CN" altLang="en-US" sz="3400" b="1" dirty="0" smtClean="0">
                <a:solidFill>
                  <a:schemeClr val="tx2"/>
                </a:solidFill>
                <a:ea typeface="华文楷体" panose="02010600040101010101" pitchFamily="2" charset="-122"/>
              </a:rPr>
              <a:t>格</a:t>
            </a:r>
            <a:r>
              <a:rPr lang="zh-CN" altLang="en-US" sz="3400" b="1" dirty="0">
                <a:solidFill>
                  <a:schemeClr val="tx2"/>
                </a:solidFill>
                <a:ea typeface="华文楷体" panose="02010600040101010101" pitchFamily="2" charset="-122"/>
              </a:rPr>
              <a:t>的同态与同构</a:t>
            </a:r>
          </a:p>
        </p:txBody>
      </p:sp>
      <p:sp>
        <p:nvSpPr>
          <p:cNvPr id="67588" name="灯片编号占位符 1">
            <a:extLst>
              <a:ext uri="{FF2B5EF4-FFF2-40B4-BE49-F238E27FC236}">
                <a16:creationId xmlns="" xmlns:a16="http://schemas.microsoft.com/office/drawing/2014/main" id="{2A5037CC-239B-4FE1-BB57-5E04F3B2B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E50F50-3E2C-4BFE-8D71-CD5005EDEF4D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>
            <a:extLst>
              <a:ext uri="{FF2B5EF4-FFF2-40B4-BE49-F238E27FC236}">
                <a16:creationId xmlns="" xmlns:a16="http://schemas.microsoft.com/office/drawing/2014/main" id="{A62A977C-48A6-4961-81F7-E5C93B8B1B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18" y="1276350"/>
            <a:ext cx="8208963" cy="4967287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7.3.1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中任意元素，于是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 ⊕ b = b 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思考：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格，对任意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 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L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,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是否都有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ab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=a ?</a:t>
            </a:r>
            <a:endParaRPr lang="en-US" altLang="zh-CN" sz="32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800" b="1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800" b="1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800" b="1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800" b="1" dirty="0"/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b="1" dirty="0"/>
          </a:p>
        </p:txBody>
      </p:sp>
      <p:sp>
        <p:nvSpPr>
          <p:cNvPr id="68611" name="灯片编号占位符 1">
            <a:extLst>
              <a:ext uri="{FF2B5EF4-FFF2-40B4-BE49-F238E27FC236}">
                <a16:creationId xmlns="" xmlns:a16="http://schemas.microsoft.com/office/drawing/2014/main" id="{C5F20EE6-461A-4FE0-9304-46042DCBF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249717-7252-484D-BC62-509C0AA533A1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="" xmlns:a16="http://schemas.microsoft.com/office/drawing/2014/main" id="{A2B7B05C-809C-4B46-A136-D4F4937D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0000FF"/>
                </a:solidFill>
                <a:latin typeface="+mn-lt"/>
              </a:rPr>
              <a:t>7.3.2   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格的其他性质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4813826-21EE-4DE8-883B-74C76BA41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692150"/>
            <a:ext cx="8301037" cy="5761038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7.3.2  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(L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是一个格，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中任意元素，如果</a:t>
            </a:r>
            <a:r>
              <a:rPr lang="en-US" altLang="zh-CN" sz="32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b≤c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，则有 </a:t>
            </a:r>
            <a:r>
              <a:rPr lang="en-US" altLang="zh-CN" sz="32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a×b≤a×c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endParaRPr lang="en-US" altLang="zh-CN" sz="32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                                         </a:t>
            </a:r>
            <a:r>
              <a:rPr lang="en-US" altLang="zh-CN" sz="32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a⊕b≤a⊕c</a:t>
            </a:r>
            <a:endParaRPr lang="en-US" altLang="zh-CN" sz="32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b≤c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，所以由定理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7.3.1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知</a:t>
            </a: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            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=b</a:t>
            </a: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又因为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)×(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a×c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a×a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)×(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= a×(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= 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再由定理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7.3.1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知：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a×b≤a×c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同理可证得第二个不等式。 </a:t>
            </a:r>
          </a:p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sz="3200" b="1" dirty="0">
              <a:solidFill>
                <a:srgbClr val="0000FF"/>
              </a:solidFill>
              <a:ea typeface="宋体" pitchFamily="2" charset="-122"/>
            </a:endParaRPr>
          </a:p>
          <a:p>
            <a:pPr algn="just">
              <a:buFont typeface="Wingdings" panose="05000000000000000000" pitchFamily="2" charset="2"/>
              <a:buNone/>
              <a:defRPr/>
            </a:pPr>
            <a:endParaRPr lang="zh-CN" altLang="en-US" sz="3200" dirty="0"/>
          </a:p>
        </p:txBody>
      </p:sp>
      <p:sp>
        <p:nvSpPr>
          <p:cNvPr id="69635" name="灯片编号占位符 1">
            <a:extLst>
              <a:ext uri="{FF2B5EF4-FFF2-40B4-BE49-F238E27FC236}">
                <a16:creationId xmlns="" xmlns:a16="http://schemas.microsoft.com/office/drawing/2014/main" id="{54AAD62C-DEE9-4C6B-BD09-7D64F944E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76E4ED-88E5-4A53-AAAA-DCEE646CE55B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内容占位符 2">
            <a:extLst>
              <a:ext uri="{FF2B5EF4-FFF2-40B4-BE49-F238E27FC236}">
                <a16:creationId xmlns="" xmlns:a16="http://schemas.microsoft.com/office/drawing/2014/main" id="{58A84046-651D-4BF4-B831-246E1D5971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747315"/>
            <a:ext cx="8301037" cy="5965174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7.3.3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中任意元素。于是有 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≤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)×(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a×(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≥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200" dirty="0" smtClean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algn="just">
              <a:lnSpc>
                <a:spcPct val="15000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其中关系“≥”是关系“≤”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的对偶关系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lnSpc>
                <a:spcPct val="90000"/>
              </a:lnSpc>
              <a:buNone/>
            </a:pPr>
            <a:endParaRPr lang="zh-CN" altLang="en-US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spcBef>
                <a:spcPct val="0"/>
              </a:spcBef>
              <a:buClr>
                <a:srgbClr val="3366FF"/>
              </a:buClr>
              <a:buSzPct val="80000"/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70659" name="灯片编号占位符 1">
            <a:extLst>
              <a:ext uri="{FF2B5EF4-FFF2-40B4-BE49-F238E27FC236}">
                <a16:creationId xmlns="" xmlns:a16="http://schemas.microsoft.com/office/drawing/2014/main" id="{FC3BC693-D632-4CAB-8D7C-737C6F94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06E516-653B-49EA-A824-80AF65B38649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="" xmlns:a16="http://schemas.microsoft.com/office/drawing/2014/main" id="{8B567470-1637-4458-8B7C-BEF8015FF6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908050"/>
            <a:ext cx="8424862" cy="53292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Note: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在一般格中，分配律不是总成立的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，但上述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分配不等式总是成立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  </a:t>
            </a:r>
          </a:p>
          <a:p>
            <a:pPr algn="just">
              <a:buFont typeface="Wingdings" panose="05000000000000000000" pitchFamily="2" charset="2"/>
              <a:buNone/>
            </a:pP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≠(a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sz="3000" baseline="-30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3000" baseline="-30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×(b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⊕(b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)=0</a:t>
            </a:r>
          </a:p>
        </p:txBody>
      </p:sp>
      <p:sp>
        <p:nvSpPr>
          <p:cNvPr id="71683" name="Line 3">
            <a:extLst>
              <a:ext uri="{FF2B5EF4-FFF2-40B4-BE49-F238E27FC236}">
                <a16:creationId xmlns="" xmlns:a16="http://schemas.microsoft.com/office/drawing/2014/main" id="{A5AFDF26-E39E-491A-8153-984512016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54238" y="2054225"/>
            <a:ext cx="649287" cy="8080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4" name="Line 4">
            <a:extLst>
              <a:ext uri="{FF2B5EF4-FFF2-40B4-BE49-F238E27FC236}">
                <a16:creationId xmlns="" xmlns:a16="http://schemas.microsoft.com/office/drawing/2014/main" id="{B7009651-A41D-4B2C-950A-780353823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1000" y="3265488"/>
            <a:ext cx="485775" cy="8080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5" name="Line 5">
            <a:extLst>
              <a:ext uri="{FF2B5EF4-FFF2-40B4-BE49-F238E27FC236}">
                <a16:creationId xmlns="" xmlns:a16="http://schemas.microsoft.com/office/drawing/2014/main" id="{B7DF99DD-5888-4064-83C8-A1FD0C8AF7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1000" y="2457450"/>
            <a:ext cx="649288" cy="8080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6" name="Line 6">
            <a:extLst>
              <a:ext uri="{FF2B5EF4-FFF2-40B4-BE49-F238E27FC236}">
                <a16:creationId xmlns="" xmlns:a16="http://schemas.microsoft.com/office/drawing/2014/main" id="{4565B427-9450-4F86-BA1F-20D9C2844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9963" y="2054225"/>
            <a:ext cx="649287" cy="6064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7" name="Line 7">
            <a:extLst>
              <a:ext uri="{FF2B5EF4-FFF2-40B4-BE49-F238E27FC236}">
                <a16:creationId xmlns="" xmlns:a16="http://schemas.microsoft.com/office/drawing/2014/main" id="{16693036-AE2F-433D-8A60-6351405D71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288" y="2457450"/>
            <a:ext cx="0" cy="8080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8" name="Line 8">
            <a:extLst>
              <a:ext uri="{FF2B5EF4-FFF2-40B4-BE49-F238E27FC236}">
                <a16:creationId xmlns="" xmlns:a16="http://schemas.microsoft.com/office/drawing/2014/main" id="{D9E9308C-C01A-4A74-BCFA-7EEC0301F1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8363" y="3265488"/>
            <a:ext cx="161925" cy="8080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1689" name="组合 2">
            <a:extLst>
              <a:ext uri="{FF2B5EF4-FFF2-40B4-BE49-F238E27FC236}">
                <a16:creationId xmlns="" xmlns:a16="http://schemas.microsoft.com/office/drawing/2014/main" id="{A2734885-77F7-4AED-BDA3-353BC30DB611}"/>
              </a:ext>
            </a:extLst>
          </p:cNvPr>
          <p:cNvGrpSpPr>
            <a:grpSpLocks/>
          </p:cNvGrpSpPr>
          <p:nvPr/>
        </p:nvGrpSpPr>
        <p:grpSpPr bwMode="auto">
          <a:xfrm>
            <a:off x="5276850" y="1576388"/>
            <a:ext cx="2174875" cy="2681287"/>
            <a:chOff x="4565650" y="1576388"/>
            <a:chExt cx="2174875" cy="2681287"/>
          </a:xfrm>
        </p:grpSpPr>
        <p:sp>
          <p:nvSpPr>
            <p:cNvPr id="71692" name="Text Box 11">
              <a:extLst>
                <a:ext uri="{FF2B5EF4-FFF2-40B4-BE49-F238E27FC236}">
                  <a16:creationId xmlns="" xmlns:a16="http://schemas.microsoft.com/office/drawing/2014/main" id="{186011F3-D278-4E71-AFFE-D6D9E4F76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6125" y="2293938"/>
              <a:ext cx="481013" cy="623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just" latinLnBrk="0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kumimoji="0"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693" name="Text Box 12">
              <a:extLst>
                <a:ext uri="{FF2B5EF4-FFF2-40B4-BE49-F238E27FC236}">
                  <a16:creationId xmlns="" xmlns:a16="http://schemas.microsoft.com/office/drawing/2014/main" id="{79BEB511-A716-40B5-8AD5-13C221F4C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6125" y="3132138"/>
              <a:ext cx="914400" cy="51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just" latinLnBrk="0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kumimoji="0"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71694" name="Group 13">
              <a:extLst>
                <a:ext uri="{FF2B5EF4-FFF2-40B4-BE49-F238E27FC236}">
                  <a16:creationId xmlns="" xmlns:a16="http://schemas.microsoft.com/office/drawing/2014/main" id="{58F8B17D-1F16-4948-B8AF-59C1FA1F90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5650" y="1576388"/>
              <a:ext cx="1319213" cy="2681287"/>
              <a:chOff x="1152" y="912"/>
              <a:chExt cx="831" cy="1689"/>
            </a:xfrm>
          </p:grpSpPr>
          <p:grpSp>
            <p:nvGrpSpPr>
              <p:cNvPr id="71695" name="Group 14">
                <a:extLst>
                  <a:ext uri="{FF2B5EF4-FFF2-40B4-BE49-F238E27FC236}">
                    <a16:creationId xmlns="" xmlns:a16="http://schemas.microsoft.com/office/drawing/2014/main" id="{6CF43DD8-B2FF-4BC6-94FF-0E7DEB86CD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912"/>
                <a:ext cx="831" cy="1689"/>
                <a:chOff x="1152" y="912"/>
                <a:chExt cx="831" cy="1689"/>
              </a:xfrm>
            </p:grpSpPr>
            <p:sp>
              <p:nvSpPr>
                <p:cNvPr id="71701" name="Text Box 15">
                  <a:extLst>
                    <a:ext uri="{FF2B5EF4-FFF2-40B4-BE49-F238E27FC236}">
                      <a16:creationId xmlns="" xmlns:a16="http://schemas.microsoft.com/office/drawing/2014/main" id="{8072137D-2D05-4B7A-A5C4-370CC413BAD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03" cy="3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71702" name="Text Box 16">
                  <a:extLst>
                    <a:ext uri="{FF2B5EF4-FFF2-40B4-BE49-F238E27FC236}">
                      <a16:creationId xmlns="" xmlns:a16="http://schemas.microsoft.com/office/drawing/2014/main" id="{97C6031F-66ED-46B0-8A2E-F35756E4F7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0" y="912"/>
                  <a:ext cx="303" cy="3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71703" name="Text Box 17">
                  <a:extLst>
                    <a:ext uri="{FF2B5EF4-FFF2-40B4-BE49-F238E27FC236}">
                      <a16:creationId xmlns="" xmlns:a16="http://schemas.microsoft.com/office/drawing/2014/main" id="{A764B54A-F568-4781-8763-7134D277B8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2" y="1548"/>
                  <a:ext cx="303" cy="3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a</a:t>
                  </a:r>
                  <a:r>
                    <a:rPr kumimoji="0" lang="en-US" altLang="zh-CN" sz="2400" baseline="-250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</a:t>
                  </a:r>
                  <a:endParaRPr kumimoji="0" lang="en-US" altLang="zh-CN" sz="240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704" name="Line 18">
                  <a:extLst>
                    <a:ext uri="{FF2B5EF4-FFF2-40B4-BE49-F238E27FC236}">
                      <a16:creationId xmlns="" xmlns:a16="http://schemas.microsoft.com/office/drawing/2014/main" id="{A166C733-E6AF-4E14-BA8A-6442860506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6" y="1294"/>
                  <a:ext cx="204" cy="254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705" name="Line 19">
                  <a:extLst>
                    <a:ext uri="{FF2B5EF4-FFF2-40B4-BE49-F238E27FC236}">
                      <a16:creationId xmlns="" xmlns:a16="http://schemas.microsoft.com/office/drawing/2014/main" id="{94710649-DA4F-4528-9759-8CC7C29B22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0" y="1440"/>
                  <a:ext cx="0" cy="578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706" name="Line 20">
                  <a:extLst>
                    <a:ext uri="{FF2B5EF4-FFF2-40B4-BE49-F238E27FC236}">
                      <a16:creationId xmlns="" xmlns:a16="http://schemas.microsoft.com/office/drawing/2014/main" id="{1FA02E6B-F221-4E4B-A90B-77A90CE5D5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47" y="2050"/>
                  <a:ext cx="307" cy="2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696" name="Group 21">
                <a:extLst>
                  <a:ext uri="{FF2B5EF4-FFF2-40B4-BE49-F238E27FC236}">
                    <a16:creationId xmlns="" xmlns:a16="http://schemas.microsoft.com/office/drawing/2014/main" id="{99AC9BB5-2530-4BB5-ABBC-1F35F5F4DE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1104"/>
                <a:ext cx="672" cy="1200"/>
                <a:chOff x="1296" y="1104"/>
                <a:chExt cx="672" cy="1200"/>
              </a:xfrm>
            </p:grpSpPr>
            <p:sp>
              <p:nvSpPr>
                <p:cNvPr id="71697" name="Line 22">
                  <a:extLst>
                    <a:ext uri="{FF2B5EF4-FFF2-40B4-BE49-F238E27FC236}">
                      <a16:creationId xmlns="" xmlns:a16="http://schemas.microsoft.com/office/drawing/2014/main" id="{8DDD5B6E-BEBD-49C7-9E42-4A1AC40D47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96" y="1104"/>
                  <a:ext cx="480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1698" name="Line 23">
                  <a:extLst>
                    <a:ext uri="{FF2B5EF4-FFF2-40B4-BE49-F238E27FC236}">
                      <a16:creationId xmlns="" xmlns:a16="http://schemas.microsoft.com/office/drawing/2014/main" id="{710685AC-A466-4E44-B20F-B7A0A5DDA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96" y="1632"/>
                  <a:ext cx="347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1699" name="Line 24">
                  <a:extLst>
                    <a:ext uri="{FF2B5EF4-FFF2-40B4-BE49-F238E27FC236}">
                      <a16:creationId xmlns="" xmlns:a16="http://schemas.microsoft.com/office/drawing/2014/main" id="{3F3285CD-9688-4AA2-8C12-87F76AC648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1104"/>
                  <a:ext cx="192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1700" name="Line 25">
                  <a:extLst>
                    <a:ext uri="{FF2B5EF4-FFF2-40B4-BE49-F238E27FC236}">
                      <a16:creationId xmlns="" xmlns:a16="http://schemas.microsoft.com/office/drawing/2014/main" id="{5B1BCFD9-2D0B-4F5B-9BFD-81F8FD73B7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64" y="1488"/>
                  <a:ext cx="4" cy="5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1690" name="灯片编号占位符 1">
            <a:extLst>
              <a:ext uri="{FF2B5EF4-FFF2-40B4-BE49-F238E27FC236}">
                <a16:creationId xmlns="" xmlns:a16="http://schemas.microsoft.com/office/drawing/2014/main" id="{536F1C5C-C70A-43D3-8A0B-A8B4C07D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235C346-566F-4839-8ED7-8D10ED625E1B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pic>
        <p:nvPicPr>
          <p:cNvPr id="71691" name="图片 3">
            <a:extLst>
              <a:ext uri="{FF2B5EF4-FFF2-40B4-BE49-F238E27FC236}">
                <a16:creationId xmlns="" xmlns:a16="http://schemas.microsoft.com/office/drawing/2014/main" id="{811C8D1F-2FCB-4C8E-A797-3A0B20CB4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588" y="3792538"/>
            <a:ext cx="3000375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="" xmlns:a16="http://schemas.microsoft.com/office/drawing/2014/main" id="{43E25624-DFE0-4B32-A7DA-A3305DBD9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92150"/>
            <a:ext cx="7848600" cy="539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just" eaLnBrk="1" latinLnBrk="0" hangingPunct="1">
              <a:lnSpc>
                <a:spcPct val="90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  <a:ea typeface="宋体" panose="02010600030101010101" pitchFamily="2" charset="-122"/>
              </a:rPr>
              <a:t>7.3.4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设（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，≤）是一个格，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中任意元素，于是，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⊕(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×(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Clr>
                <a:srgbClr val="3333CC"/>
              </a:buClr>
              <a:buSzPct val="8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 </a:t>
            </a:r>
          </a:p>
          <a:p>
            <a:pPr algn="just" eaLnBrk="1" hangingPunct="1">
              <a:lnSpc>
                <a:spcPct val="90000"/>
              </a:lnSpc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，则由定理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7.3.1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知：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=b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。由定理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Clr>
                <a:srgbClr val="0000FF"/>
              </a:buClr>
              <a:buSzPct val="80000"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7.3.3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   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)×(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Clr>
                <a:srgbClr val="0000FF"/>
              </a:buClr>
              <a:buSzPct val="80000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                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b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×(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×(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则由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的定义知              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≤ a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Clr>
                <a:srgbClr val="0000FF"/>
              </a:buClr>
              <a:buSzPct val="80000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的定义知  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b×(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b, 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2707" name="灯片编号占位符 1">
            <a:extLst>
              <a:ext uri="{FF2B5EF4-FFF2-40B4-BE49-F238E27FC236}">
                <a16:creationId xmlns="" xmlns:a16="http://schemas.microsoft.com/office/drawing/2014/main" id="{5A7B4998-CD15-4FB2-A1C0-EFC1771E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fld id="{AD98F82E-FAA7-4DCE-B4E9-F771E5A56EB6}" type="slidenum">
              <a:rPr lang="en-US" altLang="ko-KR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 latinLnBrk="0"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内容占位符 2">
            <a:extLst>
              <a:ext uri="{FF2B5EF4-FFF2-40B4-BE49-F238E27FC236}">
                <a16:creationId xmlns="" xmlns:a16="http://schemas.microsoft.com/office/drawing/2014/main" id="{19A4E57C-02D9-4E05-926D-65FD7E8096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270000"/>
            <a:ext cx="8299450" cy="5327650"/>
          </a:xfrm>
        </p:spPr>
        <p:txBody>
          <a:bodyPr/>
          <a:lstStyle/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是两个格，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内的映射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(S,∧,∨)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格同态映射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，如果对任意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，都有</a:t>
            </a:r>
          </a:p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g(a)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g(a)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g(b).</a:t>
            </a:r>
          </a:p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内的同态映射称为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格的自同态映射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上的同态映射，且是一对一的，则称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格同构映射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，并称格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与格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是同构的。此时，对任意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，任意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y∈S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，有</a:t>
            </a:r>
          </a:p>
          <a:p>
            <a:pPr algn="ctr">
              <a:lnSpc>
                <a:spcPct val="11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baseline="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(g(x))=x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baseline="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(y))=y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  <a:p>
            <a:endParaRPr lang="zh-CN" altLang="en-US" dirty="0"/>
          </a:p>
        </p:txBody>
      </p:sp>
      <p:sp>
        <p:nvSpPr>
          <p:cNvPr id="74755" name="灯片编号占位符 2">
            <a:extLst>
              <a:ext uri="{FF2B5EF4-FFF2-40B4-BE49-F238E27FC236}">
                <a16:creationId xmlns="" xmlns:a16="http://schemas.microsoft.com/office/drawing/2014/main" id="{4A21B9C8-517A-445F-A705-91274550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AC3FB6-8817-47B5-9ADE-555C57738CE4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="" xmlns:a16="http://schemas.microsoft.com/office/drawing/2014/main" id="{8DFD39A1-87BC-4FBD-A788-B8E52A8F4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7.3.3 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格的同态和同构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>
            <a:extLst>
              <a:ext uri="{FF2B5EF4-FFF2-40B4-BE49-F238E27FC236}">
                <a16:creationId xmlns="" xmlns:a16="http://schemas.microsoft.com/office/drawing/2014/main" id="{416C64A6-B95C-44BB-B36C-3A00C00DA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2" y="1268413"/>
            <a:ext cx="8496175" cy="5199062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S={a, b},ρ(S)={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,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{a}, {b}, {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(ρ(S), ∩, ∪)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是一个格。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L={0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，规定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en-US" altLang="zh-CN" sz="30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，∧，∨分别是集合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中两个元素在≤下的最大下界，最小上界运算，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,∧,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∨)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一个格。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规定映射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为：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g({a}) = 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g({a, b}) = 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g({b}) = 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= 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75779" name="灯片编号占位符 1">
            <a:extLst>
              <a:ext uri="{FF2B5EF4-FFF2-40B4-BE49-F238E27FC236}">
                <a16:creationId xmlns="" xmlns:a16="http://schemas.microsoft.com/office/drawing/2014/main" id="{FBD9F959-7E39-4B12-A277-B30CDD0D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AB58B8-B14E-4E56-97A8-19266969AD0C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="" xmlns:a16="http://schemas.microsoft.com/office/drawing/2014/main" id="{A432AADB-5714-4DF7-8A2D-9056109D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>
                <a:solidFill>
                  <a:srgbClr val="0000FF"/>
                </a:solidFill>
                <a:latin typeface="+mn-lt"/>
              </a:rPr>
              <a:t>同态映射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的例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dirty="0" smtClean="0"/>
              <a:t>  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内容占位符 2">
            <a:extLst>
              <a:ext uri="{FF2B5EF4-FFF2-40B4-BE49-F238E27FC236}">
                <a16:creationId xmlns="" xmlns:a16="http://schemas.microsoft.com/office/drawing/2014/main" id="{9E66BC4D-4DE4-4A40-A705-910155A03D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765175"/>
            <a:ext cx="8399462" cy="52832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往证：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是同态映射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。首先证对任意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g(A∩B)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g(A)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∧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ctr">
              <a:buFont typeface="Wingdings" panose="05000000000000000000" pitchFamily="2" charset="2"/>
              <a:buNone/>
            </a:pP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a∈A∩B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g(A∩B) = 1,    g(A) ∧ g(B) = 1 ∧ 1 = 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g(A∩B) = 0,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∧g(B) =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综上，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g(A∩B)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g(A)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∧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  <a:p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6803" name="Object 3">
            <a:extLst>
              <a:ext uri="{FF2B5EF4-FFF2-40B4-BE49-F238E27FC236}">
                <a16:creationId xmlns="" xmlns:a16="http://schemas.microsoft.com/office/drawing/2014/main" id="{3E2B54D0-5575-47D9-B816-DA70A297A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3500438"/>
          <a:ext cx="3357563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69" name="公式" r:id="rId3" imgW="3381829" imgH="1611086" progId="Equation.3">
                  <p:embed/>
                </p:oleObj>
              </mc:Choice>
              <mc:Fallback>
                <p:oleObj name="公式" r:id="rId3" imgW="3381829" imgH="161108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500438"/>
                        <a:ext cx="3357563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4" name="灯片编号占位符 1">
            <a:extLst>
              <a:ext uri="{FF2B5EF4-FFF2-40B4-BE49-F238E27FC236}">
                <a16:creationId xmlns="" xmlns:a16="http://schemas.microsoft.com/office/drawing/2014/main" id="{9279391D-2347-4220-A8EB-EFE5363B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C73813-59B4-4B6C-8410-800C4892F81B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2">
            <a:extLst>
              <a:ext uri="{FF2B5EF4-FFF2-40B4-BE49-F238E27FC236}">
                <a16:creationId xmlns="" xmlns:a16="http://schemas.microsoft.com/office/drawing/2014/main" id="{94DE384B-F6B1-4B22-AB9A-973CA1E4D4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1975" y="765175"/>
            <a:ext cx="8301038" cy="5283200"/>
          </a:xfrm>
        </p:spPr>
        <p:txBody>
          <a:bodyPr/>
          <a:lstStyle/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再证：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28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2800" dirty="0" err="1" smtClean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g(A∪B)=g(A)∨g(B)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g(A∪B)=1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g(A)∨g(B)= 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g(A∪B)= 0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g(A)∨g(B)=0 ∨ 0 = 0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综上，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 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）。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上的同态映射。</a:t>
            </a:r>
          </a:p>
          <a:p>
            <a:endParaRPr lang="zh-CN" altLang="en-US" dirty="0"/>
          </a:p>
        </p:txBody>
      </p:sp>
      <p:graphicFrame>
        <p:nvGraphicFramePr>
          <p:cNvPr id="77827" name="Object 2">
            <a:extLst>
              <a:ext uri="{FF2B5EF4-FFF2-40B4-BE49-F238E27FC236}">
                <a16:creationId xmlns="" xmlns:a16="http://schemas.microsoft.com/office/drawing/2014/main" id="{86F18BF5-AAC8-4FE7-BEA0-111C864BCB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1484313"/>
          <a:ext cx="3244850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93" name="公式" r:id="rId3" imgW="3265714" imgH="1611086" progId="Equation.3">
                  <p:embed/>
                </p:oleObj>
              </mc:Choice>
              <mc:Fallback>
                <p:oleObj name="公式" r:id="rId3" imgW="3265714" imgH="161108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484313"/>
                        <a:ext cx="3244850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灯片编号占位符 1">
            <a:extLst>
              <a:ext uri="{FF2B5EF4-FFF2-40B4-BE49-F238E27FC236}">
                <a16:creationId xmlns="" xmlns:a16="http://schemas.microsoft.com/office/drawing/2014/main" id="{EF739139-1A8B-47E5-A70E-BC393C66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6F0AA3-9523-4B82-88A0-85121F435A2A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>
            <a:extLst>
              <a:ext uri="{FF2B5EF4-FFF2-40B4-BE49-F238E27FC236}">
                <a16:creationId xmlns="" xmlns:a16="http://schemas.microsoft.com/office/drawing/2014/main" id="{73A9D96A-3211-4123-B88D-FF634E7B3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533400"/>
            <a:ext cx="8020050" cy="592138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同构映射的例</a:t>
            </a:r>
          </a:p>
        </p:txBody>
      </p:sp>
      <p:sp>
        <p:nvSpPr>
          <p:cNvPr id="38915" name="内容占位符 2">
            <a:extLst>
              <a:ext uri="{FF2B5EF4-FFF2-40B4-BE49-F238E27FC236}">
                <a16:creationId xmlns="" xmlns:a16="http://schemas.microsoft.com/office/drawing/2014/main" id="{0DE0B475-87FC-4B30-9F0A-6FC64F6C3D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1975" y="1196975"/>
            <a:ext cx="8301038" cy="4851400"/>
          </a:xfrm>
        </p:spPr>
        <p:txBody>
          <a:bodyPr/>
          <a:lstStyle/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ea typeface="宋体" panose="02010600030101010101" pitchFamily="2" charset="-122"/>
              </a:rPr>
              <a:t>. </a:t>
            </a:r>
            <a:r>
              <a:rPr lang="zh-CN" altLang="en-US" sz="2800" b="1">
                <a:ea typeface="宋体" panose="02010600030101010101" pitchFamily="2" charset="-122"/>
              </a:rPr>
              <a:t>设</a:t>
            </a:r>
            <a:r>
              <a:rPr lang="en-US" altLang="zh-CN" sz="2800" b="1">
                <a:ea typeface="宋体" panose="02010600030101010101" pitchFamily="2" charset="-122"/>
              </a:rPr>
              <a:t>S={a,b,c},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ρ(S)={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sz="2800" b="1">
                <a:ea typeface="宋体" panose="02010600030101010101" pitchFamily="2" charset="-122"/>
              </a:rPr>
              <a:t>,{a},{b},{c},{a,b},{b,c},{a,c},{a,b,c}},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则</a:t>
            </a:r>
            <a:r>
              <a:rPr lang="en-US" altLang="zh-CN" sz="2800" b="1">
                <a:solidFill>
                  <a:srgbClr val="0000FF"/>
                </a:solidFill>
                <a:ea typeface="宋体" panose="02010600030101010101" pitchFamily="2" charset="-122"/>
              </a:rPr>
              <a:t>(ρ(S),∩,∪)</a:t>
            </a:r>
            <a:r>
              <a:rPr lang="zh-CN" altLang="en-US" sz="2800" b="1">
                <a:ea typeface="宋体" panose="02010600030101010101" pitchFamily="2" charset="-122"/>
              </a:rPr>
              <a:t>是一个格。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FF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800" b="1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 baseline="-30000">
                <a:solidFill>
                  <a:srgbClr val="0000FF"/>
                </a:solidFill>
                <a:ea typeface="宋体" panose="02010600030101010101" pitchFamily="2" charset="-122"/>
              </a:rPr>
              <a:t>30</a:t>
            </a:r>
            <a:r>
              <a:rPr lang="zh-CN" altLang="en-US" sz="2800" b="1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800" b="1">
                <a:solidFill>
                  <a:srgbClr val="0000FF"/>
                </a:solidFill>
                <a:ea typeface="宋体" panose="02010600030101010101" pitchFamily="2" charset="-122"/>
              </a:rPr>
              <a:t>×</a:t>
            </a:r>
            <a:r>
              <a:rPr lang="zh-CN" altLang="en-US" sz="2800" b="1">
                <a:solidFill>
                  <a:srgbClr val="0000FF"/>
                </a:solidFill>
                <a:ea typeface="宋体" panose="02010600030101010101" pitchFamily="2" charset="-122"/>
              </a:rPr>
              <a:t>，⊕）</a:t>
            </a:r>
            <a:r>
              <a:rPr lang="zh-CN" altLang="en-US" sz="2800" b="1">
                <a:ea typeface="宋体" panose="02010600030101010101" pitchFamily="2" charset="-122"/>
              </a:rPr>
              <a:t>是一个格</a:t>
            </a:r>
            <a:r>
              <a:rPr lang="en-US" altLang="zh-CN" sz="2800" b="1">
                <a:ea typeface="宋体" panose="02010600030101010101" pitchFamily="2" charset="-122"/>
              </a:rPr>
              <a:t>,×</a:t>
            </a:r>
            <a:r>
              <a:rPr lang="zh-CN" altLang="en-US" sz="2800" b="1">
                <a:ea typeface="宋体" panose="02010600030101010101" pitchFamily="2" charset="-122"/>
              </a:rPr>
              <a:t>、⊕分别是求两个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正整数的最高公因、最小公倍运算。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规定映射</a:t>
            </a:r>
            <a:r>
              <a:rPr lang="en-US" altLang="zh-CN" sz="2800" b="1">
                <a:ea typeface="宋体" panose="02010600030101010101" pitchFamily="2" charset="-122"/>
              </a:rPr>
              <a:t>g</a:t>
            </a:r>
            <a:r>
              <a:rPr lang="zh-CN" altLang="en-US" sz="2800" b="1">
                <a:ea typeface="宋体" panose="02010600030101010101" pitchFamily="2" charset="-122"/>
              </a:rPr>
              <a:t>为： 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zh-CN" altLang="en-US" sz="2800" b="1">
                <a:ea typeface="宋体" panose="02010600030101010101" pitchFamily="2" charset="-122"/>
              </a:rPr>
              <a:t>→</a:t>
            </a:r>
            <a:r>
              <a:rPr lang="en-US" altLang="zh-CN" sz="2800" b="1">
                <a:ea typeface="宋体" panose="02010600030101010101" pitchFamily="2" charset="-122"/>
              </a:rPr>
              <a:t>1, {a}→2, {b}→3,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{c}→5,{a,b}→6,{a,c}→10,{b,c}→15,{a,b,c}→30</a:t>
            </a:r>
            <a:r>
              <a:rPr lang="zh-CN" altLang="en-US" sz="2800" b="1">
                <a:ea typeface="宋体" panose="02010600030101010101" pitchFamily="2" charset="-122"/>
              </a:rPr>
              <a:t>。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则显然</a:t>
            </a:r>
            <a:r>
              <a:rPr lang="en-US" altLang="zh-CN" sz="2800" b="1">
                <a:ea typeface="宋体" panose="02010600030101010101" pitchFamily="2" charset="-122"/>
              </a:rPr>
              <a:t>g</a:t>
            </a:r>
            <a:r>
              <a:rPr lang="zh-CN" altLang="en-US" sz="2800" b="1">
                <a:ea typeface="宋体" panose="02010600030101010101" pitchFamily="2" charset="-122"/>
              </a:rPr>
              <a:t>为</a:t>
            </a:r>
            <a:r>
              <a:rPr lang="en-US" altLang="zh-CN" sz="2800" b="1">
                <a:ea typeface="宋体" panose="02010600030101010101" pitchFamily="2" charset="-122"/>
              </a:rPr>
              <a:t>ρ(S)</a:t>
            </a:r>
            <a:r>
              <a:rPr lang="zh-CN" altLang="en-US" sz="2800" b="1">
                <a:ea typeface="宋体" panose="02010600030101010101" pitchFamily="2" charset="-122"/>
              </a:rPr>
              <a:t>到</a:t>
            </a:r>
            <a:r>
              <a:rPr lang="en-US" altLang="zh-CN" sz="2800" b="1">
                <a:ea typeface="宋体" panose="02010600030101010101" pitchFamily="2" charset="-122"/>
              </a:rPr>
              <a:t>S</a:t>
            </a:r>
            <a:r>
              <a:rPr lang="en-US" altLang="zh-CN" sz="2800" b="1" baseline="-30000">
                <a:ea typeface="宋体" panose="02010600030101010101" pitchFamily="2" charset="-122"/>
              </a:rPr>
              <a:t>30</a:t>
            </a:r>
            <a:r>
              <a:rPr lang="zh-CN" altLang="en-US" sz="2800" b="1">
                <a:ea typeface="宋体" panose="02010600030101010101" pitchFamily="2" charset="-122"/>
              </a:rPr>
              <a:t>上的</a:t>
            </a:r>
            <a:r>
              <a:rPr lang="en-US" altLang="zh-CN" sz="2800" b="1">
                <a:ea typeface="宋体" panose="02010600030101010101" pitchFamily="2" charset="-122"/>
              </a:rPr>
              <a:t>1-1</a:t>
            </a:r>
            <a:r>
              <a:rPr lang="zh-CN" altLang="en-US" sz="2800" b="1">
                <a:ea typeface="宋体" panose="02010600030101010101" pitchFamily="2" charset="-122"/>
              </a:rPr>
              <a:t>映射。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不难验证对任意</a:t>
            </a:r>
            <a:r>
              <a:rPr lang="en-US" altLang="zh-CN" sz="2800" b="1">
                <a:ea typeface="宋体" panose="02010600030101010101" pitchFamily="2" charset="-122"/>
              </a:rPr>
              <a:t>A,B</a:t>
            </a:r>
            <a:r>
              <a:rPr lang="en-US" altLang="zh-CN" sz="3200" b="1">
                <a:ea typeface="宋体" panose="02010600030101010101" pitchFamily="2" charset="-122"/>
              </a:rPr>
              <a:t>∈</a:t>
            </a:r>
            <a:r>
              <a:rPr lang="en-US" altLang="zh-CN" sz="2800" b="1">
                <a:ea typeface="宋体" panose="02010600030101010101" pitchFamily="2" charset="-122"/>
              </a:rPr>
              <a:t>ρ</a:t>
            </a:r>
            <a:r>
              <a:rPr lang="zh-CN" altLang="en-US" sz="2800" b="1">
                <a:ea typeface="宋体" panose="02010600030101010101" pitchFamily="2" charset="-122"/>
              </a:rPr>
              <a:t>（</a:t>
            </a:r>
            <a:r>
              <a:rPr lang="en-US" altLang="zh-CN" sz="2800" b="1">
                <a:ea typeface="宋体" panose="02010600030101010101" pitchFamily="2" charset="-122"/>
              </a:rPr>
              <a:t>S</a:t>
            </a:r>
            <a:r>
              <a:rPr lang="zh-CN" altLang="en-US" sz="2800" b="1">
                <a:ea typeface="宋体" panose="02010600030101010101" pitchFamily="2" charset="-122"/>
              </a:rPr>
              <a:t>），有：</a:t>
            </a:r>
          </a:p>
          <a:p>
            <a:pPr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g(A∩B)=g(A)×g(B),  g(A∪B)=g(A)⊕g(B), </a:t>
            </a:r>
            <a:endParaRPr lang="zh-CN" altLang="en-US" sz="2800"/>
          </a:p>
          <a:p>
            <a:pPr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endParaRPr lang="zh-CN" altLang="en-US" sz="2800" b="1">
              <a:ea typeface="宋体" panose="02010600030101010101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E0EC0AC8-2D73-4AF9-9893-7CC6710F3128}"/>
              </a:ext>
            </a:extLst>
          </p:cNvPr>
          <p:cNvGrpSpPr>
            <a:grpSpLocks/>
          </p:cNvGrpSpPr>
          <p:nvPr/>
        </p:nvGrpSpPr>
        <p:grpSpPr bwMode="auto">
          <a:xfrm>
            <a:off x="561975" y="1196975"/>
            <a:ext cx="7775575" cy="5348287"/>
            <a:chOff x="823913" y="1125537"/>
            <a:chExt cx="7777162" cy="5347989"/>
          </a:xfrm>
        </p:grpSpPr>
        <p:grpSp>
          <p:nvGrpSpPr>
            <p:cNvPr id="78854" name="组合 10">
              <a:extLst>
                <a:ext uri="{FF2B5EF4-FFF2-40B4-BE49-F238E27FC236}">
                  <a16:creationId xmlns="" xmlns:a16="http://schemas.microsoft.com/office/drawing/2014/main" id="{1D1DC701-7D30-4BDE-90F8-29CD02234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3913" y="1125537"/>
              <a:ext cx="7777162" cy="5347989"/>
              <a:chOff x="823913" y="1125537"/>
              <a:chExt cx="7777162" cy="5347989"/>
            </a:xfrm>
          </p:grpSpPr>
          <p:grpSp>
            <p:nvGrpSpPr>
              <p:cNvPr id="78856" name="组合 174">
                <a:extLst>
                  <a:ext uri="{FF2B5EF4-FFF2-40B4-BE49-F238E27FC236}">
                    <a16:creationId xmlns="" xmlns:a16="http://schemas.microsoft.com/office/drawing/2014/main" id="{3A156C95-E43E-4861-AD5D-0DE960B4C5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3913" y="1125537"/>
                <a:ext cx="7777162" cy="5347989"/>
                <a:chOff x="827584" y="1340767"/>
                <a:chExt cx="7776864" cy="5348126"/>
              </a:xfrm>
            </p:grpSpPr>
            <p:sp>
              <p:nvSpPr>
                <p:cNvPr id="78858" name="Rectangle 34">
                  <a:extLst>
                    <a:ext uri="{FF2B5EF4-FFF2-40B4-BE49-F238E27FC236}">
                      <a16:creationId xmlns="" xmlns:a16="http://schemas.microsoft.com/office/drawing/2014/main" id="{9C62719D-AA7C-44EF-BD70-FAC4A70155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7584" y="1340767"/>
                  <a:ext cx="7632408" cy="5348126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 dirty="0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78859" name="Group 74">
                  <a:extLst>
                    <a:ext uri="{FF2B5EF4-FFF2-40B4-BE49-F238E27FC236}">
                      <a16:creationId xmlns="" xmlns:a16="http://schemas.microsoft.com/office/drawing/2014/main" id="{9155683C-0814-4512-9FC1-61AAA46548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52120" y="1920323"/>
                  <a:ext cx="2952328" cy="3164861"/>
                  <a:chOff x="3379" y="1831"/>
                  <a:chExt cx="2268" cy="2189"/>
                </a:xfrm>
              </p:grpSpPr>
              <p:sp>
                <p:nvSpPr>
                  <p:cNvPr id="78888" name="Oval 46">
                    <a:extLst>
                      <a:ext uri="{FF2B5EF4-FFF2-40B4-BE49-F238E27FC236}">
                        <a16:creationId xmlns="" xmlns:a16="http://schemas.microsoft.com/office/drawing/2014/main" id="{E1891B15-83AA-4333-B55A-C031AE5A20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64" y="3030"/>
                    <a:ext cx="40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89" name="Line 47">
                    <a:extLst>
                      <a:ext uri="{FF2B5EF4-FFF2-40B4-BE49-F238E27FC236}">
                        <a16:creationId xmlns="" xmlns:a16="http://schemas.microsoft.com/office/drawing/2014/main" id="{46536F9B-C92E-441C-9EC2-D20152B665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42" y="2653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0" name="Oval 48">
                    <a:extLst>
                      <a:ext uri="{FF2B5EF4-FFF2-40B4-BE49-F238E27FC236}">
                        <a16:creationId xmlns="" xmlns:a16="http://schemas.microsoft.com/office/drawing/2014/main" id="{C7CC83F5-95BD-4284-B75D-659127C58A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31" y="2653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91" name="Oval 49">
                    <a:extLst>
                      <a:ext uri="{FF2B5EF4-FFF2-40B4-BE49-F238E27FC236}">
                        <a16:creationId xmlns="" xmlns:a16="http://schemas.microsoft.com/office/drawing/2014/main" id="{58ED856A-39A1-4AD8-8538-AD7EF80A1D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31" y="3174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92" name="Line 50">
                    <a:extLst>
                      <a:ext uri="{FF2B5EF4-FFF2-40B4-BE49-F238E27FC236}">
                        <a16:creationId xmlns="" xmlns:a16="http://schemas.microsoft.com/office/drawing/2014/main" id="{BAE40C7D-8DC9-4F5F-9A9C-303E3CF863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77" y="2653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3" name="Line 51">
                    <a:extLst>
                      <a:ext uri="{FF2B5EF4-FFF2-40B4-BE49-F238E27FC236}">
                        <a16:creationId xmlns="" xmlns:a16="http://schemas.microsoft.com/office/drawing/2014/main" id="{0DC664CD-04CC-4F5B-8A83-40BD0C1CDBE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410" y="2656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4" name="Line 52">
                    <a:extLst>
                      <a:ext uri="{FF2B5EF4-FFF2-40B4-BE49-F238E27FC236}">
                        <a16:creationId xmlns="" xmlns:a16="http://schemas.microsoft.com/office/drawing/2014/main" id="{CE9A6BA3-D267-4949-B2CD-20C6EAF67F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77" y="2221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5" name="Line 53">
                    <a:extLst>
                      <a:ext uri="{FF2B5EF4-FFF2-40B4-BE49-F238E27FC236}">
                        <a16:creationId xmlns="" xmlns:a16="http://schemas.microsoft.com/office/drawing/2014/main" id="{5B871C79-3BCD-459C-9265-9E1FFA5302B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10" y="2221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6" name="Line 54">
                    <a:extLst>
                      <a:ext uri="{FF2B5EF4-FFF2-40B4-BE49-F238E27FC236}">
                        <a16:creationId xmlns="" xmlns:a16="http://schemas.microsoft.com/office/drawing/2014/main" id="{4AFAE25D-8323-400F-9E7E-34719E731A3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10" y="3085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7" name="Line 55">
                    <a:extLst>
                      <a:ext uri="{FF2B5EF4-FFF2-40B4-BE49-F238E27FC236}">
                        <a16:creationId xmlns="" xmlns:a16="http://schemas.microsoft.com/office/drawing/2014/main" id="{8AA89045-5AE4-421A-816C-1C13DAD66DA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10" y="2221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8" name="Line 56">
                    <a:extLst>
                      <a:ext uri="{FF2B5EF4-FFF2-40B4-BE49-F238E27FC236}">
                        <a16:creationId xmlns="" xmlns:a16="http://schemas.microsoft.com/office/drawing/2014/main" id="{784FAF52-638D-4E6E-B4AB-E6C948C7106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77" y="2656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8899" name="Group 57">
                    <a:extLst>
                      <a:ext uri="{FF2B5EF4-FFF2-40B4-BE49-F238E27FC236}">
                        <a16:creationId xmlns="" xmlns:a16="http://schemas.microsoft.com/office/drawing/2014/main" id="{D695A4F5-130B-4FA8-9A56-8C5CCEA494D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577" y="2794"/>
                    <a:ext cx="1665" cy="867"/>
                    <a:chOff x="1051" y="861"/>
                    <a:chExt cx="1665" cy="867"/>
                  </a:xfrm>
                </p:grpSpPr>
                <p:sp>
                  <p:nvSpPr>
                    <p:cNvPr id="78910" name="Line 58">
                      <a:extLst>
                        <a:ext uri="{FF2B5EF4-FFF2-40B4-BE49-F238E27FC236}">
                          <a16:creationId xmlns="" xmlns:a16="http://schemas.microsoft.com/office/drawing/2014/main" id="{9C587694-1399-4C0A-9728-EDCC6442770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051" y="861"/>
                      <a:ext cx="833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911" name="Line 59">
                      <a:extLst>
                        <a:ext uri="{FF2B5EF4-FFF2-40B4-BE49-F238E27FC236}">
                          <a16:creationId xmlns="" xmlns:a16="http://schemas.microsoft.com/office/drawing/2014/main" id="{3E4A48A4-CFB1-43E1-84D5-590876A3A2E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84" y="861"/>
                      <a:ext cx="832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912" name="Line 60">
                      <a:extLst>
                        <a:ext uri="{FF2B5EF4-FFF2-40B4-BE49-F238E27FC236}">
                          <a16:creationId xmlns="" xmlns:a16="http://schemas.microsoft.com/office/drawing/2014/main" id="{C11721FF-1417-48DC-8D82-F9830827058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1" y="1296"/>
                      <a:ext cx="833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913" name="Line 61">
                      <a:extLst>
                        <a:ext uri="{FF2B5EF4-FFF2-40B4-BE49-F238E27FC236}">
                          <a16:creationId xmlns="" xmlns:a16="http://schemas.microsoft.com/office/drawing/2014/main" id="{2C795799-AF56-45BD-929B-2A6A69F529A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884" y="1296"/>
                      <a:ext cx="832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8900" name="Text Box 62">
                    <a:extLst>
                      <a:ext uri="{FF2B5EF4-FFF2-40B4-BE49-F238E27FC236}">
                        <a16:creationId xmlns="" xmlns:a16="http://schemas.microsoft.com/office/drawing/2014/main" id="{027E5774-0EC9-444A-AAE6-32C686AE29D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96" y="1831"/>
                    <a:ext cx="679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30</a:t>
                    </a:r>
                  </a:p>
                </p:txBody>
              </p:sp>
              <p:sp>
                <p:nvSpPr>
                  <p:cNvPr id="78901" name="Oval 63">
                    <a:extLst>
                      <a:ext uri="{FF2B5EF4-FFF2-40B4-BE49-F238E27FC236}">
                        <a16:creationId xmlns="" xmlns:a16="http://schemas.microsoft.com/office/drawing/2014/main" id="{944923CF-C2C7-47FE-9D52-2AB071F634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64" y="2742"/>
                    <a:ext cx="40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902" name="Oval 64">
                    <a:extLst>
                      <a:ext uri="{FF2B5EF4-FFF2-40B4-BE49-F238E27FC236}">
                        <a16:creationId xmlns="" xmlns:a16="http://schemas.microsoft.com/office/drawing/2014/main" id="{0A22CA77-CC92-4D25-9A91-242FC239C1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96" y="2598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903" name="Oval 65">
                    <a:extLst>
                      <a:ext uri="{FF2B5EF4-FFF2-40B4-BE49-F238E27FC236}">
                        <a16:creationId xmlns="" xmlns:a16="http://schemas.microsoft.com/office/drawing/2014/main" id="{C237A111-4297-4014-8B92-20DE78B71E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96" y="3174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904" name="Text Box 66">
                    <a:extLst>
                      <a:ext uri="{FF2B5EF4-FFF2-40B4-BE49-F238E27FC236}">
                        <a16:creationId xmlns="" xmlns:a16="http://schemas.microsoft.com/office/drawing/2014/main" id="{CBC2B8F3-BF75-4F0E-B141-359483F1038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79" y="2478"/>
                    <a:ext cx="544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6</a:t>
                    </a:r>
                  </a:p>
                </p:txBody>
              </p:sp>
              <p:sp>
                <p:nvSpPr>
                  <p:cNvPr id="78905" name="Text Box 67">
                    <a:extLst>
                      <a:ext uri="{FF2B5EF4-FFF2-40B4-BE49-F238E27FC236}">
                        <a16:creationId xmlns="" xmlns:a16="http://schemas.microsoft.com/office/drawing/2014/main" id="{6EDE37E7-1491-4DB2-BF7C-7D69CCDAB21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77" y="2568"/>
                    <a:ext cx="544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10</a:t>
                    </a:r>
                  </a:p>
                </p:txBody>
              </p:sp>
              <p:sp>
                <p:nvSpPr>
                  <p:cNvPr id="78906" name="Text Box 69">
                    <a:extLst>
                      <a:ext uri="{FF2B5EF4-FFF2-40B4-BE49-F238E27FC236}">
                        <a16:creationId xmlns="" xmlns:a16="http://schemas.microsoft.com/office/drawing/2014/main" id="{22D2DB50-C2EA-435D-AFD0-940895FE4F6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79" y="3067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  <p:sp>
                <p:nvSpPr>
                  <p:cNvPr id="78907" name="Text Box 70">
                    <a:extLst>
                      <a:ext uri="{FF2B5EF4-FFF2-40B4-BE49-F238E27FC236}">
                        <a16:creationId xmlns="" xmlns:a16="http://schemas.microsoft.com/office/drawing/2014/main" id="{7C2BD3F9-9F59-4BD3-BF66-BCA3D2061DF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22" y="3022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3</a:t>
                    </a:r>
                  </a:p>
                </p:txBody>
              </p:sp>
              <p:sp>
                <p:nvSpPr>
                  <p:cNvPr id="78908" name="Text Box 71">
                    <a:extLst>
                      <a:ext uri="{FF2B5EF4-FFF2-40B4-BE49-F238E27FC236}">
                        <a16:creationId xmlns="" xmlns:a16="http://schemas.microsoft.com/office/drawing/2014/main" id="{707A4866-205C-4A1C-9A89-711D345BF3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239" y="3067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5</a:t>
                    </a:r>
                  </a:p>
                </p:txBody>
              </p:sp>
              <p:sp>
                <p:nvSpPr>
                  <p:cNvPr id="78909" name="Text Box 72">
                    <a:extLst>
                      <a:ext uri="{FF2B5EF4-FFF2-40B4-BE49-F238E27FC236}">
                        <a16:creationId xmlns="" xmlns:a16="http://schemas.microsoft.com/office/drawing/2014/main" id="{2891773E-4EE1-46F1-B6FF-070BC44609F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32" y="3657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1</a:t>
                    </a:r>
                    <a:endParaRPr kumimoji="0" lang="el-GR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8860" name="Group 73">
                  <a:extLst>
                    <a:ext uri="{FF2B5EF4-FFF2-40B4-BE49-F238E27FC236}">
                      <a16:creationId xmlns="" xmlns:a16="http://schemas.microsoft.com/office/drawing/2014/main" id="{C9AB0187-CDDE-4533-95F5-5BA85C79761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71600" y="1844824"/>
                  <a:ext cx="4248150" cy="3241675"/>
                  <a:chOff x="204" y="1933"/>
                  <a:chExt cx="2676" cy="2042"/>
                </a:xfrm>
              </p:grpSpPr>
              <p:sp>
                <p:nvSpPr>
                  <p:cNvPr id="78861" name="Oval 6">
                    <a:extLst>
                      <a:ext uri="{FF2B5EF4-FFF2-40B4-BE49-F238E27FC236}">
                        <a16:creationId xmlns="" xmlns:a16="http://schemas.microsoft.com/office/drawing/2014/main" id="{866BD6EB-13EF-4D8E-9E75-A53342A1A4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06" y="3030"/>
                    <a:ext cx="40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62" name="Line 9">
                    <a:extLst>
                      <a:ext uri="{FF2B5EF4-FFF2-40B4-BE49-F238E27FC236}">
                        <a16:creationId xmlns="" xmlns:a16="http://schemas.microsoft.com/office/drawing/2014/main" id="{94E00DAE-47EC-4A76-8EF3-53A02584BB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84" y="2653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63" name="Oval 11">
                    <a:extLst>
                      <a:ext uri="{FF2B5EF4-FFF2-40B4-BE49-F238E27FC236}">
                        <a16:creationId xmlns="" xmlns:a16="http://schemas.microsoft.com/office/drawing/2014/main" id="{177D6F28-7CAD-4F5D-A521-B7E42285D4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3" y="2653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64" name="Oval 12">
                    <a:extLst>
                      <a:ext uri="{FF2B5EF4-FFF2-40B4-BE49-F238E27FC236}">
                        <a16:creationId xmlns="" xmlns:a16="http://schemas.microsoft.com/office/drawing/2014/main" id="{77FC4F45-FF12-494B-95DD-6CD27C5415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3" y="3174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65" name="Line 14">
                    <a:extLst>
                      <a:ext uri="{FF2B5EF4-FFF2-40B4-BE49-F238E27FC236}">
                        <a16:creationId xmlns="" xmlns:a16="http://schemas.microsoft.com/office/drawing/2014/main" id="{9EFA91F8-02F3-42F5-9A73-520D4382CC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19" y="2653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66" name="Line 16">
                    <a:extLst>
                      <a:ext uri="{FF2B5EF4-FFF2-40B4-BE49-F238E27FC236}">
                        <a16:creationId xmlns="" xmlns:a16="http://schemas.microsoft.com/office/drawing/2014/main" id="{83684FFC-BB0D-41DF-8DBC-E3A0BD0A5F2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52" y="2656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67" name="Line 19">
                    <a:extLst>
                      <a:ext uri="{FF2B5EF4-FFF2-40B4-BE49-F238E27FC236}">
                        <a16:creationId xmlns="" xmlns:a16="http://schemas.microsoft.com/office/drawing/2014/main" id="{5FCB5610-371D-48FA-AB6F-0CAC9CA4345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19" y="2221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68" name="Line 20">
                    <a:extLst>
                      <a:ext uri="{FF2B5EF4-FFF2-40B4-BE49-F238E27FC236}">
                        <a16:creationId xmlns="" xmlns:a16="http://schemas.microsoft.com/office/drawing/2014/main" id="{9F8856F8-8DC5-474F-8208-8D0B1DD4C64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52" y="2221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69" name="Line 21">
                    <a:extLst>
                      <a:ext uri="{FF2B5EF4-FFF2-40B4-BE49-F238E27FC236}">
                        <a16:creationId xmlns="" xmlns:a16="http://schemas.microsoft.com/office/drawing/2014/main" id="{BEC0B6FD-DAA0-46F1-8AB2-6D47902C3EC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52" y="3085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70" name="Line 22">
                    <a:extLst>
                      <a:ext uri="{FF2B5EF4-FFF2-40B4-BE49-F238E27FC236}">
                        <a16:creationId xmlns="" xmlns:a16="http://schemas.microsoft.com/office/drawing/2014/main" id="{C7A6812A-075B-44E1-9EE0-446B58927D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52" y="2221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71" name="Line 24">
                    <a:extLst>
                      <a:ext uri="{FF2B5EF4-FFF2-40B4-BE49-F238E27FC236}">
                        <a16:creationId xmlns="" xmlns:a16="http://schemas.microsoft.com/office/drawing/2014/main" id="{389F452E-02A8-4957-A8A1-83980C62F3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19" y="2656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8872" name="Group 25">
                    <a:extLst>
                      <a:ext uri="{FF2B5EF4-FFF2-40B4-BE49-F238E27FC236}">
                        <a16:creationId xmlns="" xmlns:a16="http://schemas.microsoft.com/office/drawing/2014/main" id="{8D399A57-033D-45CF-90E5-9CF245218F0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19" y="2794"/>
                    <a:ext cx="1665" cy="867"/>
                    <a:chOff x="1051" y="861"/>
                    <a:chExt cx="1665" cy="867"/>
                  </a:xfrm>
                </p:grpSpPr>
                <p:sp>
                  <p:nvSpPr>
                    <p:cNvPr id="78884" name="Line 26">
                      <a:extLst>
                        <a:ext uri="{FF2B5EF4-FFF2-40B4-BE49-F238E27FC236}">
                          <a16:creationId xmlns="" xmlns:a16="http://schemas.microsoft.com/office/drawing/2014/main" id="{9ACE6740-46CF-46EB-8913-D67405EB124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051" y="861"/>
                      <a:ext cx="833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885" name="Line 27">
                      <a:extLst>
                        <a:ext uri="{FF2B5EF4-FFF2-40B4-BE49-F238E27FC236}">
                          <a16:creationId xmlns="" xmlns:a16="http://schemas.microsoft.com/office/drawing/2014/main" id="{B941370D-0E94-417E-9795-6BCAFF66E6F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84" y="861"/>
                      <a:ext cx="832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886" name="Line 28">
                      <a:extLst>
                        <a:ext uri="{FF2B5EF4-FFF2-40B4-BE49-F238E27FC236}">
                          <a16:creationId xmlns="" xmlns:a16="http://schemas.microsoft.com/office/drawing/2014/main" id="{0510A4FE-ECE2-424D-ABCC-2941CD1221C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1" y="1296"/>
                      <a:ext cx="833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887" name="Line 29">
                      <a:extLst>
                        <a:ext uri="{FF2B5EF4-FFF2-40B4-BE49-F238E27FC236}">
                          <a16:creationId xmlns="" xmlns:a16="http://schemas.microsoft.com/office/drawing/2014/main" id="{C87D05E3-A714-4DAB-920C-FAC7E761A81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884" y="1296"/>
                      <a:ext cx="832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8873" name="Text Box 30">
                    <a:extLst>
                      <a:ext uri="{FF2B5EF4-FFF2-40B4-BE49-F238E27FC236}">
                        <a16:creationId xmlns="" xmlns:a16="http://schemas.microsoft.com/office/drawing/2014/main" id="{B381F676-5D40-4B01-B3BC-DC1FDD7B5AA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2" y="1933"/>
                    <a:ext cx="679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 dirty="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</a:t>
                    </a:r>
                    <a:r>
                      <a:rPr kumimoji="0" lang="en-US" altLang="zh-CN" sz="2400" dirty="0" err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a,b,c</a:t>
                    </a:r>
                    <a:r>
                      <a:rPr kumimoji="0" lang="en-US" altLang="zh-CN" sz="2400" dirty="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}</a:t>
                    </a:r>
                  </a:p>
                </p:txBody>
              </p:sp>
              <p:sp>
                <p:nvSpPr>
                  <p:cNvPr id="78874" name="Oval 36">
                    <a:extLst>
                      <a:ext uri="{FF2B5EF4-FFF2-40B4-BE49-F238E27FC236}">
                        <a16:creationId xmlns="" xmlns:a16="http://schemas.microsoft.com/office/drawing/2014/main" id="{4B9E1B9C-D113-47FD-A1B0-94C5D443D8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06" y="2742"/>
                    <a:ext cx="40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75" name="Oval 37">
                    <a:extLst>
                      <a:ext uri="{FF2B5EF4-FFF2-40B4-BE49-F238E27FC236}">
                        <a16:creationId xmlns="" xmlns:a16="http://schemas.microsoft.com/office/drawing/2014/main" id="{EA217DD9-EA30-47DC-96E1-0172465EDD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38" y="2598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76" name="Oval 38">
                    <a:extLst>
                      <a:ext uri="{FF2B5EF4-FFF2-40B4-BE49-F238E27FC236}">
                        <a16:creationId xmlns="" xmlns:a16="http://schemas.microsoft.com/office/drawing/2014/main" id="{DA1974E8-6388-43A5-B869-E2305A8340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38" y="3174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77" name="Text Box 39">
                    <a:extLst>
                      <a:ext uri="{FF2B5EF4-FFF2-40B4-BE49-F238E27FC236}">
                        <a16:creationId xmlns="" xmlns:a16="http://schemas.microsoft.com/office/drawing/2014/main" id="{5DBB7AE7-88F4-4148-B3A3-220D05F1893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4" y="2478"/>
                    <a:ext cx="544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{a,b}</a:t>
                    </a:r>
                  </a:p>
                </p:txBody>
              </p:sp>
              <p:sp>
                <p:nvSpPr>
                  <p:cNvPr id="78878" name="Text Box 40">
                    <a:extLst>
                      <a:ext uri="{FF2B5EF4-FFF2-40B4-BE49-F238E27FC236}">
                        <a16:creationId xmlns="" xmlns:a16="http://schemas.microsoft.com/office/drawing/2014/main" id="{46DF23BA-1FD2-4B42-8352-130A213A619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74" y="2523"/>
                    <a:ext cx="544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{a,c}</a:t>
                    </a:r>
                  </a:p>
                </p:txBody>
              </p:sp>
              <p:sp>
                <p:nvSpPr>
                  <p:cNvPr id="78879" name="Text Box 41">
                    <a:extLst>
                      <a:ext uri="{FF2B5EF4-FFF2-40B4-BE49-F238E27FC236}">
                        <a16:creationId xmlns="" xmlns:a16="http://schemas.microsoft.com/office/drawing/2014/main" id="{6E891452-8B07-4715-A1AE-BE29124DFE3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387"/>
                    <a:ext cx="544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{b,c}</a:t>
                    </a:r>
                  </a:p>
                </p:txBody>
              </p:sp>
              <p:sp>
                <p:nvSpPr>
                  <p:cNvPr id="78880" name="Text Box 42">
                    <a:extLst>
                      <a:ext uri="{FF2B5EF4-FFF2-40B4-BE49-F238E27FC236}">
                        <a16:creationId xmlns="" xmlns:a16="http://schemas.microsoft.com/office/drawing/2014/main" id="{65D71739-38DC-454F-BFA9-53D10D582A0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0" y="2976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{a}</a:t>
                    </a:r>
                  </a:p>
                </p:txBody>
              </p:sp>
              <p:sp>
                <p:nvSpPr>
                  <p:cNvPr id="78881" name="Text Box 43">
                    <a:extLst>
                      <a:ext uri="{FF2B5EF4-FFF2-40B4-BE49-F238E27FC236}">
                        <a16:creationId xmlns="" xmlns:a16="http://schemas.microsoft.com/office/drawing/2014/main" id="{178D2567-8413-41B1-A5F3-BADC88DF4D5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19" y="2976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{b}</a:t>
                    </a:r>
                  </a:p>
                </p:txBody>
              </p:sp>
              <p:sp>
                <p:nvSpPr>
                  <p:cNvPr id="78882" name="Text Box 44">
                    <a:extLst>
                      <a:ext uri="{FF2B5EF4-FFF2-40B4-BE49-F238E27FC236}">
                        <a16:creationId xmlns="" xmlns:a16="http://schemas.microsoft.com/office/drawing/2014/main" id="{AEE932BA-2566-4B71-B325-7ABCAA88E9D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81" y="3067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{c}</a:t>
                    </a:r>
                  </a:p>
                </p:txBody>
              </p:sp>
              <p:sp>
                <p:nvSpPr>
                  <p:cNvPr id="78883" name="Text Box 45">
                    <a:extLst>
                      <a:ext uri="{FF2B5EF4-FFF2-40B4-BE49-F238E27FC236}">
                        <a16:creationId xmlns="" xmlns:a16="http://schemas.microsoft.com/office/drawing/2014/main" id="{33D933A3-261D-407C-A4EE-280F27F0764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30" y="3612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 dirty="0" smtClean="0">
                        <a:solidFill>
                          <a:srgbClr val="000000"/>
                        </a:solidFill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</a:t>
                    </a:r>
                    <a:endParaRPr kumimoji="0" lang="el-GR" altLang="zh-CN" sz="2400" dirty="0">
                      <a:solidFill>
                        <a:srgbClr val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40968" name="文本框 9">
                <a:extLst>
                  <a:ext uri="{FF2B5EF4-FFF2-40B4-BE49-F238E27FC236}">
                    <a16:creationId xmlns="" xmlns:a16="http://schemas.microsoft.com/office/drawing/2014/main" id="{F8742FC3-A73D-4B85-BE92-17ADB72773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3914" y="4652739"/>
                <a:ext cx="7583938" cy="16434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latinLnBrk="0">
                  <a:lnSpc>
                    <a:spcPct val="120000"/>
                  </a:lnSpc>
                  <a:spcBef>
                    <a:spcPct val="0"/>
                  </a:spcBef>
                  <a:buClrTx/>
                  <a:buFontTx/>
                  <a:buNone/>
                  <a:defRPr/>
                </a:pPr>
                <a:r>
                  <a:rPr lang="zh-CN" altLang="en-US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规定映射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g</a:t>
                </a:r>
                <a:r>
                  <a:rPr lang="zh-CN" altLang="en-US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：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 1, {a}2 , {b}3, {c}</a:t>
                </a:r>
                <a:r>
                  <a:rPr kumimoji="0" lang="en-US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 5,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 {</a:t>
                </a:r>
                <a:r>
                  <a:rPr kumimoji="0" lang="en-US" altLang="zh-CN" sz="2800" dirty="0" err="1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a,b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}6,{</a:t>
                </a:r>
                <a:r>
                  <a:rPr kumimoji="0" lang="en-US" altLang="zh-CN" sz="2800" dirty="0" err="1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a,c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}10, {</a:t>
                </a:r>
                <a:r>
                  <a:rPr kumimoji="0" lang="en-US" altLang="zh-CN" sz="2800" dirty="0" err="1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b,c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}</a:t>
                </a:r>
                <a:r>
                  <a:rPr kumimoji="0" lang="en-US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 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15,  {</a:t>
                </a:r>
                <a:r>
                  <a:rPr kumimoji="0" lang="en-US" altLang="zh-CN" sz="2800" dirty="0" err="1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a,b,c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}</a:t>
                </a:r>
                <a:r>
                  <a:rPr kumimoji="0" lang="en-US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30</a:t>
                </a:r>
                <a:r>
                  <a:rPr kumimoji="0" lang="zh-CN" altLang="en-US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。</a:t>
                </a:r>
                <a:endParaRPr lang="en-US" altLang="zh-CN" sz="2800" dirty="0" smtClean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latinLnBrk="0">
                  <a:lnSpc>
                    <a:spcPct val="120000"/>
                  </a:lnSpc>
                  <a:spcBef>
                    <a:spcPct val="0"/>
                  </a:spcBef>
                  <a:buClrTx/>
                  <a:buFontTx/>
                  <a:buNone/>
                  <a:defRPr/>
                </a:pPr>
                <a:r>
                  <a:rPr lang="zh-CN" altLang="en-US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可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验证：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g</a:t>
                </a:r>
                <a:r>
                  <a:rPr lang="zh-CN" altLang="en-US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是</a:t>
                </a:r>
                <a:r>
                  <a:rPr lang="en-US" altLang="zh-CN" sz="2800" dirty="0" smtClean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ρ 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(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S)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到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30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的同构</a:t>
                </a:r>
                <a:r>
                  <a:rPr lang="zh-CN" altLang="en-US" sz="2800" dirty="0" smtClean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映射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。</a:t>
                </a:r>
                <a:endPara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8855" name="Text Box 71">
              <a:extLst>
                <a:ext uri="{FF2B5EF4-FFF2-40B4-BE49-F238E27FC236}">
                  <a16:creationId xmlns="" xmlns:a16="http://schemas.microsoft.com/office/drawing/2014/main" id="{4F88D30E-8A95-43A0-BFAA-D61EE7C0B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3375" y="2374900"/>
              <a:ext cx="531813" cy="525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just" latinLnBrk="0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15</a:t>
              </a:r>
            </a:p>
          </p:txBody>
        </p:sp>
      </p:grpSp>
      <p:sp>
        <p:nvSpPr>
          <p:cNvPr id="78853" name="灯片编号占位符 2">
            <a:extLst>
              <a:ext uri="{FF2B5EF4-FFF2-40B4-BE49-F238E27FC236}">
                <a16:creationId xmlns="" xmlns:a16="http://schemas.microsoft.com/office/drawing/2014/main" id="{403CCB73-6684-4708-92B9-C1961C4BE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BED2236-EF03-479D-A845-2E7546A25D65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3937" y="1276735"/>
            <a:ext cx="7358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S={</a:t>
            </a:r>
            <a:r>
              <a:rPr lang="en-US" altLang="zh-CN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a,b,c</a:t>
            </a:r>
            <a:r>
              <a:rPr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},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(ρ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∩,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∪)</a:t>
            </a:r>
            <a:r>
              <a:rPr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(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30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zh-CN" sz="2800" b="1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n-US" altLang="zh-CN" sz="2800" b="1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 </a:t>
            </a:r>
            <a:r>
              <a:rPr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>
            <a:extLst>
              <a:ext uri="{FF2B5EF4-FFF2-40B4-BE49-F238E27FC236}">
                <a16:creationId xmlns="" xmlns:a16="http://schemas.microsoft.com/office/drawing/2014/main" id="{377E18C6-B949-4F5A-AC5E-E2996674C3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55713"/>
            <a:ext cx="8569325" cy="5268912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7.3.5 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(L,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(S,∧,∨)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(S,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是两个格。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内的同态映射，则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是保序映射，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亦即，对任意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buFont typeface="Wingdings" panose="05000000000000000000" pitchFamily="2" charset="2"/>
              <a:buNone/>
            </a:pP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</a:t>
            </a:r>
            <a:r>
              <a:rPr lang="en-US" altLang="zh-CN" sz="3000" baseline="-30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g(a),</a:t>
            </a: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g(b)= g(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g(a)</a:t>
            </a:r>
            <a:endParaRPr lang="zh-CN" altLang="en-US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3200" b="1" dirty="0">
              <a:ea typeface="宋体" panose="02010600030101010101" pitchFamily="2" charset="-122"/>
            </a:endParaRPr>
          </a:p>
          <a:p>
            <a:pPr algn="ctr">
              <a:buFont typeface="Wingdings" panose="05000000000000000000" pitchFamily="2" charset="2"/>
              <a:buNone/>
            </a:pPr>
            <a:endParaRPr lang="zh-CN" altLang="en-US" sz="2800" b="1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zh-CN" altLang="en-US" sz="2800" b="1" dirty="0">
              <a:ea typeface="宋体" panose="02010600030101010101" pitchFamily="2" charset="-122"/>
            </a:endParaRPr>
          </a:p>
        </p:txBody>
      </p:sp>
      <p:sp>
        <p:nvSpPr>
          <p:cNvPr id="79875" name="灯片编号占位符 1">
            <a:extLst>
              <a:ext uri="{FF2B5EF4-FFF2-40B4-BE49-F238E27FC236}">
                <a16:creationId xmlns="" xmlns:a16="http://schemas.microsoft.com/office/drawing/2014/main" id="{0060E8E2-A00E-46B4-BEEF-4D8475FF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1309A3-022B-4B49-838F-EE6370028ECB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79876" name="标题 1">
            <a:extLst>
              <a:ext uri="{FF2B5EF4-FFF2-40B4-BE49-F238E27FC236}">
                <a16:creationId xmlns="" xmlns:a16="http://schemas.microsoft.com/office/drawing/2014/main" id="{F3317152-0EFB-4B93-A8BB-EADEFE803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533400"/>
            <a:ext cx="8020050" cy="592138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格的同态映射一定是保序映射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="" xmlns:a16="http://schemas.microsoft.com/office/drawing/2014/main" id="{9D3AEAE0-6C59-4514-BBE8-20F3F4503A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8640763" cy="592138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zh-CN" altLang="en-US" sz="28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同态映射一定是保序映射</a:t>
            </a:r>
            <a:r>
              <a: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28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但</a:t>
            </a:r>
            <a:r>
              <a:rPr lang="zh-CN" altLang="en-US" sz="28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保序</a:t>
            </a:r>
            <a:r>
              <a:rPr lang="zh-CN" altLang="en-US" sz="2800" b="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不一定同态</a:t>
            </a:r>
            <a:r>
              <a:rPr lang="en-US" altLang="zh-CN" sz="28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2800" b="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="" xmlns:a16="http://schemas.microsoft.com/office/drawing/2014/main" id="{405FBF41-673C-466E-8164-F4F3B4268B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9568" y="969169"/>
            <a:ext cx="8569325" cy="1919287"/>
          </a:xfrm>
        </p:spPr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zh-CN" altLang="en-US" sz="2800" dirty="0">
                <a:ea typeface="宋体" panose="02010600030101010101" pitchFamily="2" charset="-122"/>
              </a:rPr>
              <a:t>下面给出</a:t>
            </a:r>
            <a:r>
              <a:rPr lang="en-US" altLang="zh-CN" sz="2800" dirty="0">
                <a:ea typeface="宋体" panose="02010600030101010101" pitchFamily="2" charset="-122"/>
              </a:rPr>
              <a:t>3</a:t>
            </a:r>
            <a:r>
              <a:rPr lang="zh-CN" altLang="en-US" sz="2800" dirty="0">
                <a:ea typeface="宋体" panose="02010600030101010101" pitchFamily="2" charset="-122"/>
              </a:rPr>
              <a:t>个格</a:t>
            </a:r>
            <a:r>
              <a:rPr lang="en-US" altLang="zh-CN" sz="2800" dirty="0">
                <a:ea typeface="宋体" panose="02010600030101010101" pitchFamily="2" charset="-122"/>
              </a:rPr>
              <a:t>L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, L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 , L</a:t>
            </a:r>
            <a:r>
              <a:rPr lang="en-US" altLang="zh-CN" sz="2800" baseline="-25000" dirty="0">
                <a:ea typeface="宋体" panose="02010600030101010101" pitchFamily="2" charset="-122"/>
              </a:rPr>
              <a:t>3 </a:t>
            </a:r>
            <a:r>
              <a:rPr lang="zh-CN" altLang="en-US" sz="2800" dirty="0">
                <a:ea typeface="宋体" panose="02010600030101010101" pitchFamily="2" charset="-122"/>
              </a:rPr>
              <a:t>。定义映射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：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L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(a)=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(b)=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(c)=a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(d)=d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0" indent="0" eaLnBrk="1" hangingPunct="1">
              <a:spcBef>
                <a:spcPts val="0"/>
              </a:spcBef>
              <a:buClr>
                <a:srgbClr val="003399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：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L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(b)= 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(c)= 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(d)=d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(a)=a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：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L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(a)=a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(b)=b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(c)=c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(d)=d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ym typeface="Symbol" panose="05050102010706020507" pitchFamily="18" charset="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bc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)=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(d)=d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(b) 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(c)= a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bc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)=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(a)=a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(b)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(c)= d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=d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bc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)=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(d)=d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(b) 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(c)=b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c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=c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b="1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b="1" baseline="-25000" dirty="0">
              <a:sym typeface="Symbol" panose="05050102010706020507" pitchFamily="18" charset="2"/>
            </a:endParaRPr>
          </a:p>
        </p:txBody>
      </p:sp>
      <p:grpSp>
        <p:nvGrpSpPr>
          <p:cNvPr id="80900" name="Group 28">
            <a:extLst>
              <a:ext uri="{FF2B5EF4-FFF2-40B4-BE49-F238E27FC236}">
                <a16:creationId xmlns="" xmlns:a16="http://schemas.microsoft.com/office/drawing/2014/main" id="{554B521E-F5B5-452E-A341-7FBB7442FCA6}"/>
              </a:ext>
            </a:extLst>
          </p:cNvPr>
          <p:cNvGrpSpPr>
            <a:grpSpLocks/>
          </p:cNvGrpSpPr>
          <p:nvPr/>
        </p:nvGrpSpPr>
        <p:grpSpPr bwMode="auto">
          <a:xfrm>
            <a:off x="4067175" y="2924944"/>
            <a:ext cx="401638" cy="2065338"/>
            <a:chOff x="2096" y="2251"/>
            <a:chExt cx="253" cy="1301"/>
          </a:xfrm>
        </p:grpSpPr>
        <p:sp>
          <p:nvSpPr>
            <p:cNvPr id="80914" name="Line 9">
              <a:extLst>
                <a:ext uri="{FF2B5EF4-FFF2-40B4-BE49-F238E27FC236}">
                  <a16:creationId xmlns="" xmlns:a16="http://schemas.microsoft.com/office/drawing/2014/main" id="{E77BA559-948B-4FF6-BDFC-1BCA3791A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2568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15" name="Rectangle 19">
              <a:extLst>
                <a:ext uri="{FF2B5EF4-FFF2-40B4-BE49-F238E27FC236}">
                  <a16:creationId xmlns="" xmlns:a16="http://schemas.microsoft.com/office/drawing/2014/main" id="{BEB321AC-78E6-4065-B1DC-956D9C8AC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6" y="2251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916" name="Rectangle 20">
              <a:extLst>
                <a:ext uri="{FF2B5EF4-FFF2-40B4-BE49-F238E27FC236}">
                  <a16:creationId xmlns="" xmlns:a16="http://schemas.microsoft.com/office/drawing/2014/main" id="{48365885-36A3-4839-BF68-B810EFCEC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6" y="2931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917" name="Rectangle 21">
              <a:extLst>
                <a:ext uri="{FF2B5EF4-FFF2-40B4-BE49-F238E27FC236}">
                  <a16:creationId xmlns="" xmlns:a16="http://schemas.microsoft.com/office/drawing/2014/main" id="{372E07D7-4293-4C58-96F7-459D87B87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326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L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80901" name="Group 27">
            <a:extLst>
              <a:ext uri="{FF2B5EF4-FFF2-40B4-BE49-F238E27FC236}">
                <a16:creationId xmlns="" xmlns:a16="http://schemas.microsoft.com/office/drawing/2014/main" id="{21708DD3-6256-4C54-BBAA-6F82CD4B6872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2852936"/>
            <a:ext cx="1604963" cy="2165350"/>
            <a:chOff x="476" y="2251"/>
            <a:chExt cx="1011" cy="1364"/>
          </a:xfrm>
        </p:grpSpPr>
        <p:grpSp>
          <p:nvGrpSpPr>
            <p:cNvPr id="80904" name="Group 4">
              <a:extLst>
                <a:ext uri="{FF2B5EF4-FFF2-40B4-BE49-F238E27FC236}">
                  <a16:creationId xmlns="" xmlns:a16="http://schemas.microsoft.com/office/drawing/2014/main" id="{4BCB2472-70DE-43B1-8868-8CA6A9357C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3" y="2523"/>
              <a:ext cx="528" cy="576"/>
              <a:chOff x="576" y="2976"/>
              <a:chExt cx="528" cy="576"/>
            </a:xfrm>
          </p:grpSpPr>
          <p:sp>
            <p:nvSpPr>
              <p:cNvPr id="80910" name="Line 5">
                <a:extLst>
                  <a:ext uri="{FF2B5EF4-FFF2-40B4-BE49-F238E27FC236}">
                    <a16:creationId xmlns="" xmlns:a16="http://schemas.microsoft.com/office/drawing/2014/main" id="{A05D2FE8-8D4B-4DC9-8682-556088774F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6" y="2976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0911" name="Line 6">
                <a:extLst>
                  <a:ext uri="{FF2B5EF4-FFF2-40B4-BE49-F238E27FC236}">
                    <a16:creationId xmlns="" xmlns:a16="http://schemas.microsoft.com/office/drawing/2014/main" id="{D81791A8-5FB1-46EF-84E8-A4FB5DB09D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2976"/>
                <a:ext cx="24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0912" name="Line 7">
                <a:extLst>
                  <a:ext uri="{FF2B5EF4-FFF2-40B4-BE49-F238E27FC236}">
                    <a16:creationId xmlns="" xmlns:a16="http://schemas.microsoft.com/office/drawing/2014/main" id="{D918C533-5796-4D66-8FCB-6FFF5B757D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312"/>
                <a:ext cx="24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0913" name="Line 8">
                <a:extLst>
                  <a:ext uri="{FF2B5EF4-FFF2-40B4-BE49-F238E27FC236}">
                    <a16:creationId xmlns="" xmlns:a16="http://schemas.microsoft.com/office/drawing/2014/main" id="{7746C59B-59F7-4277-8735-B73A3C2A7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3312"/>
                <a:ext cx="288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80905" name="Rectangle 22">
              <a:extLst>
                <a:ext uri="{FF2B5EF4-FFF2-40B4-BE49-F238E27FC236}">
                  <a16:creationId xmlns="" xmlns:a16="http://schemas.microsoft.com/office/drawing/2014/main" id="{CED8C1DA-C312-4F04-B56C-7347A3F67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270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80906" name="Rectangle 23">
              <a:extLst>
                <a:ext uri="{FF2B5EF4-FFF2-40B4-BE49-F238E27FC236}">
                  <a16:creationId xmlns="" xmlns:a16="http://schemas.microsoft.com/office/drawing/2014/main" id="{20291CA3-15B8-4538-8DC5-A07984ED4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302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80907" name="Rectangle 24">
              <a:extLst>
                <a:ext uri="{FF2B5EF4-FFF2-40B4-BE49-F238E27FC236}">
                  <a16:creationId xmlns="" xmlns:a16="http://schemas.microsoft.com/office/drawing/2014/main" id="{2E32D295-5E79-45E4-9E6B-B3907CEF4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70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80908" name="Rectangle 25">
              <a:extLst>
                <a:ext uri="{FF2B5EF4-FFF2-40B4-BE49-F238E27FC236}">
                  <a16:creationId xmlns="" xmlns:a16="http://schemas.microsoft.com/office/drawing/2014/main" id="{5B8D31CE-995D-4074-9C8B-28A039C07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2251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80909" name="Rectangle 26">
              <a:extLst>
                <a:ext uri="{FF2B5EF4-FFF2-40B4-BE49-F238E27FC236}">
                  <a16:creationId xmlns="" xmlns:a16="http://schemas.microsoft.com/office/drawing/2014/main" id="{B863605D-B518-4EE4-BE3A-03628C487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3327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L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0902" name="灯片编号占位符 1">
            <a:extLst>
              <a:ext uri="{FF2B5EF4-FFF2-40B4-BE49-F238E27FC236}">
                <a16:creationId xmlns="" xmlns:a16="http://schemas.microsoft.com/office/drawing/2014/main" id="{39B3095A-2A17-4DDF-ADF6-481AFA515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DCE9F3-35E5-414B-A099-666A86E7709A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pic>
        <p:nvPicPr>
          <p:cNvPr id="80903" name="图片 2">
            <a:extLst>
              <a:ext uri="{FF2B5EF4-FFF2-40B4-BE49-F238E27FC236}">
                <a16:creationId xmlns="" xmlns:a16="http://schemas.microsoft.com/office/drawing/2014/main" id="{7C5E8839-6624-4339-AC34-243E463D5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2713136"/>
            <a:ext cx="890587" cy="273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536" y="836712"/>
            <a:ext cx="8352928" cy="5588000"/>
          </a:xfrm>
        </p:spPr>
        <p:txBody>
          <a:bodyPr/>
          <a:lstStyle/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7.3.6</a:t>
            </a:r>
            <a:r>
              <a:rPr lang="en-US" altLang="zh-CN" sz="3000" dirty="0" smtClean="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是此格的自同态映射，于是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g(L)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×, ⊕)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的代数子格。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a′,b′∈g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(L) ,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则必有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a,b∈L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a′= g(a)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b′= g(b)</a:t>
            </a:r>
            <a:endParaRPr lang="zh-CN" altLang="en-US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的自同态映射，所以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a′×b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′=g(a)×g(b)= g(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)∈g(L)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a′⊕b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 g(a)⊕g(b)=g(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)∈g(L)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即在运算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，⊕下，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g(L)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封闭的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(g(L)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的代数子格。 </a:t>
            </a:r>
          </a:p>
        </p:txBody>
      </p:sp>
    </p:spTree>
    <p:extLst>
      <p:ext uri="{BB962C8B-B14F-4D97-AF65-F5344CB8AC3E}">
        <p14:creationId xmlns:p14="http://schemas.microsoft.com/office/powerpoint/2010/main" val="137181211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89C0DCD-C85A-482A-90A5-D16BD798A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836712"/>
            <a:ext cx="8301037" cy="4896544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7.3.7 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(L,×,⊕), (S,∧,∨)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是两个格，若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上的同构映射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的逆映射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上的同构映射。</a:t>
            </a:r>
          </a:p>
          <a:p>
            <a:pPr>
              <a:defRPr/>
            </a:pPr>
            <a:endParaRPr lang="zh-CN" altLang="en-US" sz="2800" dirty="0">
              <a:ea typeface="宋体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="" xmlns:a16="http://schemas.microsoft.com/office/drawing/2014/main" id="{CEEDB745-8360-4563-951E-8C5EEC6E3F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692150"/>
            <a:ext cx="8280400" cy="583247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宋体" pitchFamily="2" charset="-122"/>
              </a:rPr>
              <a:t>推论：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若格（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×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，⊕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  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(L, 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≤</a:t>
            </a:r>
            <a:r>
              <a:rPr lang="en-US" altLang="zh-CN" sz="28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和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格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，∧，∨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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(S, 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≤</a:t>
            </a:r>
            <a:r>
              <a:rPr lang="en-US" altLang="zh-CN" sz="28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同构 ，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是其同构映射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</a:t>
            </a:r>
            <a:endParaRPr lang="en-US" altLang="zh-CN" sz="2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对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中任意两个元素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，有</a:t>
            </a:r>
            <a:r>
              <a:rPr lang="en-US" altLang="zh-CN" sz="28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a≤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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g(a)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≤</a:t>
            </a:r>
            <a:r>
              <a:rPr lang="en-US" altLang="zh-CN" sz="28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g(b)</a:t>
            </a:r>
          </a:p>
          <a:p>
            <a:pPr algn="just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endParaRPr lang="zh-CN" altLang="en-US" sz="2800" b="1" dirty="0">
              <a:ea typeface="宋体" pitchFamily="2" charset="-122"/>
            </a:endParaRPr>
          </a:p>
        </p:txBody>
      </p:sp>
      <p:graphicFrame>
        <p:nvGraphicFramePr>
          <p:cNvPr id="83971" name="Object 2">
            <a:extLst>
              <a:ext uri="{FF2B5EF4-FFF2-40B4-BE49-F238E27FC236}">
                <a16:creationId xmlns="" xmlns:a16="http://schemas.microsoft.com/office/drawing/2014/main" id="{A830DCB1-C7D1-4967-8D49-48662224D7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95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="" xmlns:a16="http://schemas.microsoft.com/office/drawing/2014/main" id="{32A890D6-DF14-4AED-A8B6-3C3BBD4B7FC5}"/>
              </a:ext>
            </a:extLst>
          </p:cNvPr>
          <p:cNvGrpSpPr>
            <a:grpSpLocks/>
          </p:cNvGrpSpPr>
          <p:nvPr/>
        </p:nvGrpSpPr>
        <p:grpSpPr bwMode="auto">
          <a:xfrm>
            <a:off x="741363" y="2349500"/>
            <a:ext cx="7775575" cy="4032250"/>
            <a:chOff x="740569" y="2348880"/>
            <a:chExt cx="7777162" cy="4032324"/>
          </a:xfrm>
        </p:grpSpPr>
        <p:grpSp>
          <p:nvGrpSpPr>
            <p:cNvPr id="83974" name="组合 174">
              <a:extLst>
                <a:ext uri="{FF2B5EF4-FFF2-40B4-BE49-F238E27FC236}">
                  <a16:creationId xmlns="" xmlns:a16="http://schemas.microsoft.com/office/drawing/2014/main" id="{6BAE86BE-44D5-4ADF-B3DB-2C69D62B52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569" y="2348880"/>
              <a:ext cx="7777162" cy="4032324"/>
              <a:chOff x="827584" y="1340768"/>
              <a:chExt cx="7776864" cy="4824536"/>
            </a:xfrm>
          </p:grpSpPr>
          <p:sp>
            <p:nvSpPr>
              <p:cNvPr id="83976" name="Rectangle 34">
                <a:extLst>
                  <a:ext uri="{FF2B5EF4-FFF2-40B4-BE49-F238E27FC236}">
                    <a16:creationId xmlns="" xmlns:a16="http://schemas.microsoft.com/office/drawing/2014/main" id="{83479D8E-F3B1-41DD-B5C4-1F28BC9E1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584" y="1340768"/>
                <a:ext cx="7632408" cy="4824536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83977" name="Group 74">
                <a:extLst>
                  <a:ext uri="{FF2B5EF4-FFF2-40B4-BE49-F238E27FC236}">
                    <a16:creationId xmlns="" xmlns:a16="http://schemas.microsoft.com/office/drawing/2014/main" id="{CBCAA975-BA40-43D3-BE95-218262C732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52120" y="2132856"/>
                <a:ext cx="2952328" cy="2952328"/>
                <a:chOff x="3379" y="1978"/>
                <a:chExt cx="2268" cy="2042"/>
              </a:xfrm>
            </p:grpSpPr>
            <p:sp>
              <p:nvSpPr>
                <p:cNvPr id="84006" name="Oval 46">
                  <a:extLst>
                    <a:ext uri="{FF2B5EF4-FFF2-40B4-BE49-F238E27FC236}">
                      <a16:creationId xmlns="" xmlns:a16="http://schemas.microsoft.com/office/drawing/2014/main" id="{B32D328C-1889-4855-8205-9B610890EB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4" y="3030"/>
                  <a:ext cx="40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007" name="Line 47">
                  <a:extLst>
                    <a:ext uri="{FF2B5EF4-FFF2-40B4-BE49-F238E27FC236}">
                      <a16:creationId xmlns="" xmlns:a16="http://schemas.microsoft.com/office/drawing/2014/main" id="{BDF11F1F-4ED5-485B-B01F-2775FBFD48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42" y="2653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08" name="Oval 48">
                  <a:extLst>
                    <a:ext uri="{FF2B5EF4-FFF2-40B4-BE49-F238E27FC236}">
                      <a16:creationId xmlns="" xmlns:a16="http://schemas.microsoft.com/office/drawing/2014/main" id="{2BAB36A6-EC7A-4FAB-AFE3-0632B7CB1B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31" y="2653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009" name="Oval 49">
                  <a:extLst>
                    <a:ext uri="{FF2B5EF4-FFF2-40B4-BE49-F238E27FC236}">
                      <a16:creationId xmlns="" xmlns:a16="http://schemas.microsoft.com/office/drawing/2014/main" id="{F06B2F5C-00B4-4C25-820B-2933B6A918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31" y="3174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010" name="Line 50">
                  <a:extLst>
                    <a:ext uri="{FF2B5EF4-FFF2-40B4-BE49-F238E27FC236}">
                      <a16:creationId xmlns="" xmlns:a16="http://schemas.microsoft.com/office/drawing/2014/main" id="{46582678-20BE-4ED2-BECE-30F551F069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77" y="2653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11" name="Line 51">
                  <a:extLst>
                    <a:ext uri="{FF2B5EF4-FFF2-40B4-BE49-F238E27FC236}">
                      <a16:creationId xmlns="" xmlns:a16="http://schemas.microsoft.com/office/drawing/2014/main" id="{3EAA12ED-872E-4760-91D6-9878A47F69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0" y="2656"/>
                  <a:ext cx="832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12" name="Line 52">
                  <a:extLst>
                    <a:ext uri="{FF2B5EF4-FFF2-40B4-BE49-F238E27FC236}">
                      <a16:creationId xmlns="" xmlns:a16="http://schemas.microsoft.com/office/drawing/2014/main" id="{2E2AA4F0-C8D6-426F-A8C0-C283A99738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77" y="2221"/>
                  <a:ext cx="833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13" name="Line 53">
                  <a:extLst>
                    <a:ext uri="{FF2B5EF4-FFF2-40B4-BE49-F238E27FC236}">
                      <a16:creationId xmlns="" xmlns:a16="http://schemas.microsoft.com/office/drawing/2014/main" id="{290C5725-BA50-4F10-B98D-349887E9AD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0" y="2221"/>
                  <a:ext cx="832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14" name="Line 54">
                  <a:extLst>
                    <a:ext uri="{FF2B5EF4-FFF2-40B4-BE49-F238E27FC236}">
                      <a16:creationId xmlns="" xmlns:a16="http://schemas.microsoft.com/office/drawing/2014/main" id="{6D8F34AF-3322-4040-8498-CC38A43D31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0" y="3085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15" name="Line 55">
                  <a:extLst>
                    <a:ext uri="{FF2B5EF4-FFF2-40B4-BE49-F238E27FC236}">
                      <a16:creationId xmlns="" xmlns:a16="http://schemas.microsoft.com/office/drawing/2014/main" id="{A2EF0DE2-C404-4A72-B18B-4661DD43AB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0" y="2221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16" name="Line 56">
                  <a:extLst>
                    <a:ext uri="{FF2B5EF4-FFF2-40B4-BE49-F238E27FC236}">
                      <a16:creationId xmlns="" xmlns:a16="http://schemas.microsoft.com/office/drawing/2014/main" id="{DA1E679C-79D8-4299-8E11-210468FE72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77" y="2656"/>
                  <a:ext cx="833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84017" name="Group 57">
                  <a:extLst>
                    <a:ext uri="{FF2B5EF4-FFF2-40B4-BE49-F238E27FC236}">
                      <a16:creationId xmlns="" xmlns:a16="http://schemas.microsoft.com/office/drawing/2014/main" id="{CC1E11AE-D863-4FAC-9427-27A44A78CF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77" y="2794"/>
                  <a:ext cx="1665" cy="867"/>
                  <a:chOff x="1051" y="861"/>
                  <a:chExt cx="1665" cy="867"/>
                </a:xfrm>
              </p:grpSpPr>
              <p:sp>
                <p:nvSpPr>
                  <p:cNvPr id="84028" name="Line 58">
                    <a:extLst>
                      <a:ext uri="{FF2B5EF4-FFF2-40B4-BE49-F238E27FC236}">
                        <a16:creationId xmlns="" xmlns:a16="http://schemas.microsoft.com/office/drawing/2014/main" id="{E34CA12A-DEE9-43CE-A55C-F01C95242D8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51" y="861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29" name="Line 59">
                    <a:extLst>
                      <a:ext uri="{FF2B5EF4-FFF2-40B4-BE49-F238E27FC236}">
                        <a16:creationId xmlns="" xmlns:a16="http://schemas.microsoft.com/office/drawing/2014/main" id="{6BA93879-7619-44FF-9C0C-9A8EFA657F8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84" y="861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30" name="Line 60">
                    <a:extLst>
                      <a:ext uri="{FF2B5EF4-FFF2-40B4-BE49-F238E27FC236}">
                        <a16:creationId xmlns="" xmlns:a16="http://schemas.microsoft.com/office/drawing/2014/main" id="{7F50717E-3869-4F3A-AC85-E5987A5459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51" y="1296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31" name="Line 61">
                    <a:extLst>
                      <a:ext uri="{FF2B5EF4-FFF2-40B4-BE49-F238E27FC236}">
                        <a16:creationId xmlns="" xmlns:a16="http://schemas.microsoft.com/office/drawing/2014/main" id="{5EF6A68F-5AC9-43BA-BE46-BA25C8E305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84" y="1296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4018" name="Text Box 62">
                  <a:extLst>
                    <a:ext uri="{FF2B5EF4-FFF2-40B4-BE49-F238E27FC236}">
                      <a16:creationId xmlns="" xmlns:a16="http://schemas.microsoft.com/office/drawing/2014/main" id="{AFD66985-10E3-4E57-9CEB-FD0B18D742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42" y="1978"/>
                  <a:ext cx="679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30</a:t>
                  </a:r>
                </a:p>
              </p:txBody>
            </p:sp>
            <p:sp>
              <p:nvSpPr>
                <p:cNvPr id="84019" name="Oval 63">
                  <a:extLst>
                    <a:ext uri="{FF2B5EF4-FFF2-40B4-BE49-F238E27FC236}">
                      <a16:creationId xmlns="" xmlns:a16="http://schemas.microsoft.com/office/drawing/2014/main" id="{A12F124D-E378-49B8-9A0B-B0D273C732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4" y="2742"/>
                  <a:ext cx="40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020" name="Oval 64">
                  <a:extLst>
                    <a:ext uri="{FF2B5EF4-FFF2-40B4-BE49-F238E27FC236}">
                      <a16:creationId xmlns="" xmlns:a16="http://schemas.microsoft.com/office/drawing/2014/main" id="{F0D2208A-5872-4473-9880-3795D68788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96" y="2598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021" name="Oval 65">
                  <a:extLst>
                    <a:ext uri="{FF2B5EF4-FFF2-40B4-BE49-F238E27FC236}">
                      <a16:creationId xmlns="" xmlns:a16="http://schemas.microsoft.com/office/drawing/2014/main" id="{2B544EFA-DF0A-47AE-A92E-E750D3159F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96" y="3174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022" name="Text Box 66">
                  <a:extLst>
                    <a:ext uri="{FF2B5EF4-FFF2-40B4-BE49-F238E27FC236}">
                      <a16:creationId xmlns="" xmlns:a16="http://schemas.microsoft.com/office/drawing/2014/main" id="{C8B66FA6-CF77-4199-AA1E-537707C18B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79" y="2478"/>
                  <a:ext cx="544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6</a:t>
                  </a:r>
                </a:p>
              </p:txBody>
            </p:sp>
            <p:sp>
              <p:nvSpPr>
                <p:cNvPr id="84023" name="Text Box 67">
                  <a:extLst>
                    <a:ext uri="{FF2B5EF4-FFF2-40B4-BE49-F238E27FC236}">
                      <a16:creationId xmlns="" xmlns:a16="http://schemas.microsoft.com/office/drawing/2014/main" id="{74F72108-F301-4246-9F43-5DA9DBA6BA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7" y="2568"/>
                  <a:ext cx="544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10</a:t>
                  </a:r>
                </a:p>
              </p:txBody>
            </p:sp>
            <p:sp>
              <p:nvSpPr>
                <p:cNvPr id="84024" name="Text Box 69">
                  <a:extLst>
                    <a:ext uri="{FF2B5EF4-FFF2-40B4-BE49-F238E27FC236}">
                      <a16:creationId xmlns="" xmlns:a16="http://schemas.microsoft.com/office/drawing/2014/main" id="{8B66C499-90FB-4B97-9767-F4634EF08A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79" y="3067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84025" name="Text Box 70">
                  <a:extLst>
                    <a:ext uri="{FF2B5EF4-FFF2-40B4-BE49-F238E27FC236}">
                      <a16:creationId xmlns="" xmlns:a16="http://schemas.microsoft.com/office/drawing/2014/main" id="{4889FF11-354D-4DA6-8D71-729D1510FC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22" y="3022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84026" name="Text Box 71">
                  <a:extLst>
                    <a:ext uri="{FF2B5EF4-FFF2-40B4-BE49-F238E27FC236}">
                      <a16:creationId xmlns="" xmlns:a16="http://schemas.microsoft.com/office/drawing/2014/main" id="{2DA5003D-752F-47BB-BD8C-4A3C3C9C57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39" y="3067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5</a:t>
                  </a:r>
                </a:p>
              </p:txBody>
            </p:sp>
            <p:sp>
              <p:nvSpPr>
                <p:cNvPr id="84027" name="Text Box 72">
                  <a:extLst>
                    <a:ext uri="{FF2B5EF4-FFF2-40B4-BE49-F238E27FC236}">
                      <a16:creationId xmlns="" xmlns:a16="http://schemas.microsoft.com/office/drawing/2014/main" id="{F0362FAE-CDF8-4571-9F12-CEA34C951A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32" y="3657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</a:t>
                  </a:r>
                  <a:endParaRPr kumimoji="0" lang="el-GR" altLang="zh-CN" sz="240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3978" name="Group 73">
                <a:extLst>
                  <a:ext uri="{FF2B5EF4-FFF2-40B4-BE49-F238E27FC236}">
                    <a16:creationId xmlns="" xmlns:a16="http://schemas.microsoft.com/office/drawing/2014/main" id="{FB80F52D-FEFB-4C57-A3D9-C000A2AC15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1600" y="1844824"/>
                <a:ext cx="4248150" cy="3241675"/>
                <a:chOff x="204" y="1933"/>
                <a:chExt cx="2676" cy="2042"/>
              </a:xfrm>
            </p:grpSpPr>
            <p:sp>
              <p:nvSpPr>
                <p:cNvPr id="83979" name="Oval 6">
                  <a:extLst>
                    <a:ext uri="{FF2B5EF4-FFF2-40B4-BE49-F238E27FC236}">
                      <a16:creationId xmlns="" xmlns:a16="http://schemas.microsoft.com/office/drawing/2014/main" id="{5F7EE24E-7AED-4154-9241-AC6ECAF8F2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6" y="3030"/>
                  <a:ext cx="40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980" name="Line 9">
                  <a:extLst>
                    <a:ext uri="{FF2B5EF4-FFF2-40B4-BE49-F238E27FC236}">
                      <a16:creationId xmlns="" xmlns:a16="http://schemas.microsoft.com/office/drawing/2014/main" id="{07A6259E-55D7-4BAE-BF32-4ABEC273D1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4" y="2653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1" name="Oval 11">
                  <a:extLst>
                    <a:ext uri="{FF2B5EF4-FFF2-40B4-BE49-F238E27FC236}">
                      <a16:creationId xmlns="" xmlns:a16="http://schemas.microsoft.com/office/drawing/2014/main" id="{E9CA6BDA-623F-4EE5-960E-FFE3988AD5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3" y="2653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982" name="Oval 12">
                  <a:extLst>
                    <a:ext uri="{FF2B5EF4-FFF2-40B4-BE49-F238E27FC236}">
                      <a16:creationId xmlns="" xmlns:a16="http://schemas.microsoft.com/office/drawing/2014/main" id="{8CAF57C2-BE81-4602-AF76-EA0955D8A7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3" y="3174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983" name="Line 14">
                  <a:extLst>
                    <a:ext uri="{FF2B5EF4-FFF2-40B4-BE49-F238E27FC236}">
                      <a16:creationId xmlns="" xmlns:a16="http://schemas.microsoft.com/office/drawing/2014/main" id="{32A1E5BF-75E8-4E1E-A287-5E1F527A7C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19" y="2653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4" name="Line 16">
                  <a:extLst>
                    <a:ext uri="{FF2B5EF4-FFF2-40B4-BE49-F238E27FC236}">
                      <a16:creationId xmlns="" xmlns:a16="http://schemas.microsoft.com/office/drawing/2014/main" id="{D730EDEF-0636-4E48-B7AC-FFABEAF699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52" y="2656"/>
                  <a:ext cx="832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5" name="Line 19">
                  <a:extLst>
                    <a:ext uri="{FF2B5EF4-FFF2-40B4-BE49-F238E27FC236}">
                      <a16:creationId xmlns="" xmlns:a16="http://schemas.microsoft.com/office/drawing/2014/main" id="{BF3B83A8-99BE-4542-BE06-F34C2342B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19" y="2221"/>
                  <a:ext cx="833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6" name="Line 20">
                  <a:extLst>
                    <a:ext uri="{FF2B5EF4-FFF2-40B4-BE49-F238E27FC236}">
                      <a16:creationId xmlns="" xmlns:a16="http://schemas.microsoft.com/office/drawing/2014/main" id="{0C2AF53A-9AE2-4462-B7C8-A7FAB30659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221"/>
                  <a:ext cx="832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7" name="Line 21">
                  <a:extLst>
                    <a:ext uri="{FF2B5EF4-FFF2-40B4-BE49-F238E27FC236}">
                      <a16:creationId xmlns="" xmlns:a16="http://schemas.microsoft.com/office/drawing/2014/main" id="{3A355FC4-4146-49DA-9E30-77B148AB4B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3085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8" name="Line 22">
                  <a:extLst>
                    <a:ext uri="{FF2B5EF4-FFF2-40B4-BE49-F238E27FC236}">
                      <a16:creationId xmlns="" xmlns:a16="http://schemas.microsoft.com/office/drawing/2014/main" id="{E32A31B8-0EEE-4B0D-B54A-B6A710F090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221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9" name="Line 24">
                  <a:extLst>
                    <a:ext uri="{FF2B5EF4-FFF2-40B4-BE49-F238E27FC236}">
                      <a16:creationId xmlns="" xmlns:a16="http://schemas.microsoft.com/office/drawing/2014/main" id="{1D2D5131-9223-4EA7-B1DC-02388BC2D1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19" y="2656"/>
                  <a:ext cx="833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83990" name="Group 25">
                  <a:extLst>
                    <a:ext uri="{FF2B5EF4-FFF2-40B4-BE49-F238E27FC236}">
                      <a16:creationId xmlns="" xmlns:a16="http://schemas.microsoft.com/office/drawing/2014/main" id="{4764A238-7F53-402D-A73C-C7477F0583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19" y="2794"/>
                  <a:ext cx="1665" cy="867"/>
                  <a:chOff x="1051" y="861"/>
                  <a:chExt cx="1665" cy="867"/>
                </a:xfrm>
              </p:grpSpPr>
              <p:sp>
                <p:nvSpPr>
                  <p:cNvPr id="84002" name="Line 26">
                    <a:extLst>
                      <a:ext uri="{FF2B5EF4-FFF2-40B4-BE49-F238E27FC236}">
                        <a16:creationId xmlns="" xmlns:a16="http://schemas.microsoft.com/office/drawing/2014/main" id="{B0E56855-DC9D-477C-A4F7-137F956640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51" y="861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03" name="Line 27">
                    <a:extLst>
                      <a:ext uri="{FF2B5EF4-FFF2-40B4-BE49-F238E27FC236}">
                        <a16:creationId xmlns="" xmlns:a16="http://schemas.microsoft.com/office/drawing/2014/main" id="{1669FAC0-7D11-4563-813D-9C3D7168B8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84" y="861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04" name="Line 28">
                    <a:extLst>
                      <a:ext uri="{FF2B5EF4-FFF2-40B4-BE49-F238E27FC236}">
                        <a16:creationId xmlns="" xmlns:a16="http://schemas.microsoft.com/office/drawing/2014/main" id="{91D3D899-6D38-4769-8C63-9FC65250C6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51" y="1296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05" name="Line 29">
                    <a:extLst>
                      <a:ext uri="{FF2B5EF4-FFF2-40B4-BE49-F238E27FC236}">
                        <a16:creationId xmlns="" xmlns:a16="http://schemas.microsoft.com/office/drawing/2014/main" id="{AF2F4C38-2192-439B-8C82-59B82A9643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84" y="1296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3991" name="Text Box 30">
                  <a:extLst>
                    <a:ext uri="{FF2B5EF4-FFF2-40B4-BE49-F238E27FC236}">
                      <a16:creationId xmlns="" xmlns:a16="http://schemas.microsoft.com/office/drawing/2014/main" id="{DCFCACEB-A2A0-429E-B3DF-BCD60239A7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2" y="1933"/>
                  <a:ext cx="679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{a,b,c}</a:t>
                  </a:r>
                </a:p>
              </p:txBody>
            </p:sp>
            <p:sp>
              <p:nvSpPr>
                <p:cNvPr id="83992" name="Oval 36">
                  <a:extLst>
                    <a:ext uri="{FF2B5EF4-FFF2-40B4-BE49-F238E27FC236}">
                      <a16:creationId xmlns="" xmlns:a16="http://schemas.microsoft.com/office/drawing/2014/main" id="{6082B54B-A7CF-4EA4-830B-9D3E186915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6" y="2742"/>
                  <a:ext cx="40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993" name="Oval 37">
                  <a:extLst>
                    <a:ext uri="{FF2B5EF4-FFF2-40B4-BE49-F238E27FC236}">
                      <a16:creationId xmlns="" xmlns:a16="http://schemas.microsoft.com/office/drawing/2014/main" id="{7A7D796B-9703-440E-A67E-CB21A34ABC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8" y="2598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994" name="Oval 38">
                  <a:extLst>
                    <a:ext uri="{FF2B5EF4-FFF2-40B4-BE49-F238E27FC236}">
                      <a16:creationId xmlns="" xmlns:a16="http://schemas.microsoft.com/office/drawing/2014/main" id="{C091FCE5-F586-40C4-97F7-4B92CA577D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8" y="3174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995" name="Text Box 39">
                  <a:extLst>
                    <a:ext uri="{FF2B5EF4-FFF2-40B4-BE49-F238E27FC236}">
                      <a16:creationId xmlns="" xmlns:a16="http://schemas.microsoft.com/office/drawing/2014/main" id="{84B20A8B-7FB2-45F2-AE57-73FD956134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4" y="2478"/>
                  <a:ext cx="544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{a,b}</a:t>
                  </a:r>
                </a:p>
              </p:txBody>
            </p:sp>
            <p:sp>
              <p:nvSpPr>
                <p:cNvPr id="83996" name="Text Box 40">
                  <a:extLst>
                    <a:ext uri="{FF2B5EF4-FFF2-40B4-BE49-F238E27FC236}">
                      <a16:creationId xmlns="" xmlns:a16="http://schemas.microsoft.com/office/drawing/2014/main" id="{0E8DBCE9-7548-4B24-B7B8-782FA096E3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4" y="2523"/>
                  <a:ext cx="544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{a,c}</a:t>
                  </a:r>
                </a:p>
              </p:txBody>
            </p:sp>
            <p:sp>
              <p:nvSpPr>
                <p:cNvPr id="83997" name="Text Box 41">
                  <a:extLst>
                    <a:ext uri="{FF2B5EF4-FFF2-40B4-BE49-F238E27FC236}">
                      <a16:creationId xmlns="" xmlns:a16="http://schemas.microsoft.com/office/drawing/2014/main" id="{33B21CA2-6834-469C-B41D-6A02E78DA5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6" y="2387"/>
                  <a:ext cx="544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{b,c}</a:t>
                  </a:r>
                </a:p>
              </p:txBody>
            </p:sp>
            <p:sp>
              <p:nvSpPr>
                <p:cNvPr id="83998" name="Text Box 42">
                  <a:extLst>
                    <a:ext uri="{FF2B5EF4-FFF2-40B4-BE49-F238E27FC236}">
                      <a16:creationId xmlns="" xmlns:a16="http://schemas.microsoft.com/office/drawing/2014/main" id="{95C762FE-9583-45DA-9471-D9CAA31C52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" y="2976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{a}</a:t>
                  </a:r>
                </a:p>
              </p:txBody>
            </p:sp>
            <p:sp>
              <p:nvSpPr>
                <p:cNvPr id="83999" name="Text Box 43">
                  <a:extLst>
                    <a:ext uri="{FF2B5EF4-FFF2-40B4-BE49-F238E27FC236}">
                      <a16:creationId xmlns="" xmlns:a16="http://schemas.microsoft.com/office/drawing/2014/main" id="{5CD0DA59-B9D3-4111-AAF4-D0D08167A21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19" y="2976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{b}</a:t>
                  </a:r>
                </a:p>
              </p:txBody>
            </p:sp>
            <p:sp>
              <p:nvSpPr>
                <p:cNvPr id="84000" name="Text Box 44">
                  <a:extLst>
                    <a:ext uri="{FF2B5EF4-FFF2-40B4-BE49-F238E27FC236}">
                      <a16:creationId xmlns="" xmlns:a16="http://schemas.microsoft.com/office/drawing/2014/main" id="{90638FB0-7318-4C0D-A915-19D3732C32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81" y="3067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{c}</a:t>
                  </a:r>
                </a:p>
              </p:txBody>
            </p:sp>
            <p:sp>
              <p:nvSpPr>
                <p:cNvPr id="84001" name="Text Box 45">
                  <a:extLst>
                    <a:ext uri="{FF2B5EF4-FFF2-40B4-BE49-F238E27FC236}">
                      <a16:creationId xmlns="" xmlns:a16="http://schemas.microsoft.com/office/drawing/2014/main" id="{6C952C78-E2A7-4930-839A-2989017F43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83" y="3612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{}</a:t>
                  </a:r>
                  <a:endParaRPr kumimoji="0" lang="el-GR" altLang="zh-CN" sz="240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83975" name="Text Box 71">
              <a:extLst>
                <a:ext uri="{FF2B5EF4-FFF2-40B4-BE49-F238E27FC236}">
                  <a16:creationId xmlns="" xmlns:a16="http://schemas.microsoft.com/office/drawing/2014/main" id="{0AACB90F-9242-4519-A5DB-684C89517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9305" y="3641183"/>
              <a:ext cx="531127" cy="524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just" latinLnBrk="0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15</a:t>
              </a:r>
            </a:p>
          </p:txBody>
        </p:sp>
      </p:grpSp>
      <p:sp>
        <p:nvSpPr>
          <p:cNvPr id="83973" name="灯片编号占位符 1">
            <a:extLst>
              <a:ext uri="{FF2B5EF4-FFF2-40B4-BE49-F238E27FC236}">
                <a16:creationId xmlns="" xmlns:a16="http://schemas.microsoft.com/office/drawing/2014/main" id="{520B5099-4F79-4A76-BEAD-9CF240013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5AA85F-D419-41B0-A2B1-DAB58E578C10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="" xmlns:a16="http://schemas.microsoft.com/office/drawing/2014/main" id="{CA3F53AA-57B9-4F64-9FC6-C8F23CEF4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476250"/>
            <a:ext cx="7772400" cy="735013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  <a:ea typeface="宋体" pitchFamily="2" charset="-122"/>
              </a:rPr>
              <a:t>n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宋体" pitchFamily="2" charset="-122"/>
              </a:rPr>
              <a:t>维格 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="" xmlns:a16="http://schemas.microsoft.com/office/drawing/2014/main" id="{98BE7B2F-8B56-440E-972E-55FA63C18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8135938" cy="511175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L={0, 1}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，规定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0≤1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。于是，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≤)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∧,∨)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是与之等价的代数格，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∧,∨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分别是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中两个元素的最大下界、最小上界运算。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)∣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规定：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)≤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=1,…,n)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(L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是一个格，通常称为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维格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令与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等价的代数格为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,×,⊕)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，对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中任意两个元素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，显然有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)×(b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)⊕(b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∨b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∨b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</p:txBody>
      </p:sp>
      <p:sp>
        <p:nvSpPr>
          <p:cNvPr id="84996" name="灯片编号占位符 1">
            <a:extLst>
              <a:ext uri="{FF2B5EF4-FFF2-40B4-BE49-F238E27FC236}">
                <a16:creationId xmlns="" xmlns:a16="http://schemas.microsoft.com/office/drawing/2014/main" id="{92B61211-F59F-4A9B-9ED9-2DE88244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E54C97-CE79-46D1-81F6-62C434BB6A94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="" xmlns:a16="http://schemas.microsoft.com/office/drawing/2014/main" id="{B32ACFBF-5B83-454A-BD6A-DC11A80AB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803275"/>
            <a:ext cx="8370887" cy="544512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是含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元素的集合，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的幂集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合，则格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en-US" altLang="zh-CN" sz="3000" baseline="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同构。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S={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上的映射如下：任取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g(A)=(a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其中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       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显然，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上的一对一映射。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可证：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上的同态映射。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即证：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g(A∩B)=g(A)×g(B)   g(A∪B)=g(A)⊕g(B)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0179" name="矩形 3">
            <a:extLst>
              <a:ext uri="{FF2B5EF4-FFF2-40B4-BE49-F238E27FC236}">
                <a16:creationId xmlns="" xmlns:a16="http://schemas.microsoft.com/office/drawing/2014/main" id="{033E10BB-C618-4C0A-9E88-BBCEA1012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527425"/>
            <a:ext cx="6477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86020" name="灯片编号占位符 1">
            <a:extLst>
              <a:ext uri="{FF2B5EF4-FFF2-40B4-BE49-F238E27FC236}">
                <a16:creationId xmlns="" xmlns:a16="http://schemas.microsoft.com/office/drawing/2014/main" id="{78942D2B-A2DD-47B0-B119-82697D78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6CF14A7-ABA9-4AAF-A7F4-3C1EA862AD3C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内容占位符 2">
            <a:extLst>
              <a:ext uri="{FF2B5EF4-FFF2-40B4-BE49-F238E27FC236}">
                <a16:creationId xmlns="" xmlns:a16="http://schemas.microsoft.com/office/drawing/2014/main" id="{06F46A38-A82C-4078-9A6B-4B7A36F830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620712"/>
            <a:ext cx="8042275" cy="5832623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, 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g(A)=(a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g(B)=(b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g(A∩B)=(c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，于是由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的定义知：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   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   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c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   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∈A∩B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    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同时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故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×(b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,g(A∩B)=g(A)×g(B).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同理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g(A∪B)=g(A)⊕g(B)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。证毕。</a:t>
            </a:r>
          </a:p>
        </p:txBody>
      </p:sp>
      <p:pic>
        <p:nvPicPr>
          <p:cNvPr id="87043" name="图片 1">
            <a:extLst>
              <a:ext uri="{FF2B5EF4-FFF2-40B4-BE49-F238E27FC236}">
                <a16:creationId xmlns="" xmlns:a16="http://schemas.microsoft.com/office/drawing/2014/main" id="{D9750A1D-3A6D-44D2-9860-8E21E44C5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284538"/>
            <a:ext cx="804862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4" name="灯片编号占位符 1">
            <a:extLst>
              <a:ext uri="{FF2B5EF4-FFF2-40B4-BE49-F238E27FC236}">
                <a16:creationId xmlns="" xmlns:a16="http://schemas.microsoft.com/office/drawing/2014/main" id="{3A3930D6-FE34-4F74-8EF5-C8740EF6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7497DE-1751-4873-A8BD-66D89EF954B7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矩形 3">
            <a:extLst>
              <a:ext uri="{FF2B5EF4-FFF2-40B4-BE49-F238E27FC236}">
                <a16:creationId xmlns="" xmlns:a16="http://schemas.microsoft.com/office/drawing/2014/main" id="{033E10BB-C618-4C0A-9E88-BBCEA1012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1988840"/>
            <a:ext cx="6477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6" name="矩形 3">
            <a:extLst>
              <a:ext uri="{FF2B5EF4-FFF2-40B4-BE49-F238E27FC236}">
                <a16:creationId xmlns="" xmlns:a16="http://schemas.microsoft.com/office/drawing/2014/main" id="{033E10BB-C618-4C0A-9E88-BBCEA1012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398162"/>
            <a:ext cx="6477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="" xmlns:a16="http://schemas.microsoft.com/office/drawing/2014/main" id="{033E10BB-C618-4C0A-9E88-BBCEA1012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0342" y="2898545"/>
            <a:ext cx="6477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7" y="1189522"/>
            <a:ext cx="8301038" cy="4572000"/>
          </a:xfrm>
        </p:spPr>
        <p:txBody>
          <a:bodyPr/>
          <a:lstStyle/>
          <a:p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画出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维格的哈斯图。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sz="3200" b="1" dirty="0">
              <a:ea typeface="宋体" panose="02010600030101010101" pitchFamily="2" charset="-122"/>
            </a:endParaRPr>
          </a:p>
          <a:p>
            <a:endParaRPr lang="zh-CN" altLang="en-US" sz="3200" b="1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287CF0-E7D3-40B0-A5EB-1663BFE233F6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45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CA3F53AA-57B9-4F64-9FC6-C8F23CEF4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476250"/>
            <a:ext cx="7772400" cy="73501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思考：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  <p:grpSp>
        <p:nvGrpSpPr>
          <p:cNvPr id="5" name="Group 48">
            <a:extLst>
              <a:ext uri="{FF2B5EF4-FFF2-40B4-BE49-F238E27FC236}">
                <a16:creationId xmlns="" xmlns:a16="http://schemas.microsoft.com/office/drawing/2014/main" id="{2A6253D6-0EBB-4E8B-9A48-0823A8F80019}"/>
              </a:ext>
            </a:extLst>
          </p:cNvPr>
          <p:cNvGrpSpPr>
            <a:grpSpLocks/>
          </p:cNvGrpSpPr>
          <p:nvPr/>
        </p:nvGrpSpPr>
        <p:grpSpPr bwMode="auto">
          <a:xfrm>
            <a:off x="1323114" y="2204864"/>
            <a:ext cx="6056894" cy="3376652"/>
            <a:chOff x="1526" y="1282"/>
            <a:chExt cx="2905" cy="2212"/>
          </a:xfrm>
        </p:grpSpPr>
        <p:sp>
          <p:nvSpPr>
            <p:cNvPr id="7" name="Line 31">
              <a:extLst>
                <a:ext uri="{FF2B5EF4-FFF2-40B4-BE49-F238E27FC236}">
                  <a16:creationId xmlns="" xmlns:a16="http://schemas.microsoft.com/office/drawing/2014/main" id="{CCF05B5A-1B94-49E6-BC94-6827F0C94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647"/>
              <a:ext cx="0" cy="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8" name="Group 47">
              <a:extLst>
                <a:ext uri="{FF2B5EF4-FFF2-40B4-BE49-F238E27FC236}">
                  <a16:creationId xmlns="" xmlns:a16="http://schemas.microsoft.com/office/drawing/2014/main" id="{E35195E3-D259-4A29-8D30-746511F04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1282"/>
              <a:ext cx="2905" cy="2212"/>
              <a:chOff x="1526" y="1282"/>
              <a:chExt cx="2905" cy="2212"/>
            </a:xfrm>
          </p:grpSpPr>
          <p:sp>
            <p:nvSpPr>
              <p:cNvPr id="9" name="Line 26">
                <a:extLst>
                  <a:ext uri="{FF2B5EF4-FFF2-40B4-BE49-F238E27FC236}">
                    <a16:creationId xmlns="" xmlns:a16="http://schemas.microsoft.com/office/drawing/2014/main" id="{94FA42A1-DD2D-4510-949F-B6E88F921B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2081"/>
                <a:ext cx="693" cy="4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0" name="Group 46">
                <a:extLst>
                  <a:ext uri="{FF2B5EF4-FFF2-40B4-BE49-F238E27FC236}">
                    <a16:creationId xmlns="" xmlns:a16="http://schemas.microsoft.com/office/drawing/2014/main" id="{D9885D56-242F-4BA5-85F2-64F574FC01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" y="1282"/>
                <a:ext cx="2905" cy="2212"/>
                <a:chOff x="1526" y="1282"/>
                <a:chExt cx="2905" cy="2212"/>
              </a:xfrm>
            </p:grpSpPr>
            <p:sp>
              <p:nvSpPr>
                <p:cNvPr id="11" name="Line 30">
                  <a:extLst>
                    <a:ext uri="{FF2B5EF4-FFF2-40B4-BE49-F238E27FC236}">
                      <a16:creationId xmlns="" xmlns:a16="http://schemas.microsoft.com/office/drawing/2014/main" id="{4B8E3033-5B12-4950-BB90-93E262D180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15" y="2047"/>
                  <a:ext cx="10" cy="5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12" name="Group 45">
                  <a:extLst>
                    <a:ext uri="{FF2B5EF4-FFF2-40B4-BE49-F238E27FC236}">
                      <a16:creationId xmlns="" xmlns:a16="http://schemas.microsoft.com/office/drawing/2014/main" id="{3B77B425-EE73-4BFF-B5FC-5312FA7F97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26" y="1282"/>
                  <a:ext cx="2905" cy="2212"/>
                  <a:chOff x="1526" y="1296"/>
                  <a:chExt cx="2905" cy="2212"/>
                </a:xfrm>
              </p:grpSpPr>
              <p:grpSp>
                <p:nvGrpSpPr>
                  <p:cNvPr id="13" name="Group 40">
                    <a:extLst>
                      <a:ext uri="{FF2B5EF4-FFF2-40B4-BE49-F238E27FC236}">
                        <a16:creationId xmlns="" xmlns:a16="http://schemas.microsoft.com/office/drawing/2014/main" id="{899B7E17-46C9-4361-975B-E465210058C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26" y="1296"/>
                    <a:ext cx="2905" cy="2212"/>
                    <a:chOff x="1526" y="1296"/>
                    <a:chExt cx="2905" cy="2212"/>
                  </a:xfrm>
                </p:grpSpPr>
                <p:grpSp>
                  <p:nvGrpSpPr>
                    <p:cNvPr id="26" name="Group 39">
                      <a:extLst>
                        <a:ext uri="{FF2B5EF4-FFF2-40B4-BE49-F238E27FC236}">
                          <a16:creationId xmlns="" xmlns:a16="http://schemas.microsoft.com/office/drawing/2014/main" id="{97565A49-2404-4A13-9873-F2BAEE15A6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26" y="1296"/>
                      <a:ext cx="2905" cy="2212"/>
                      <a:chOff x="1526" y="1296"/>
                      <a:chExt cx="2905" cy="2212"/>
                    </a:xfrm>
                  </p:grpSpPr>
                  <p:sp>
                    <p:nvSpPr>
                      <p:cNvPr id="35" name="Text Box 4">
                        <a:extLst>
                          <a:ext uri="{FF2B5EF4-FFF2-40B4-BE49-F238E27FC236}">
                            <a16:creationId xmlns="" xmlns:a16="http://schemas.microsoft.com/office/drawing/2014/main" id="{4DC331F3-06F8-4D70-A211-721D9210361F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95" y="2362"/>
                        <a:ext cx="666" cy="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25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6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9pPr>
                      </a:lstStyle>
                      <a:p>
                        <a:pPr algn="just" latinLnBrk="0">
                          <a:spcBef>
                            <a:spcPct val="0"/>
                          </a:spcBef>
                          <a:buClrTx/>
                          <a:buFontTx/>
                          <a:buNone/>
                        </a:pPr>
                        <a:r>
                          <a:rPr kumimoji="0" lang="en-US" altLang="zh-CN" sz="2800" dirty="0">
                            <a:solidFill>
                              <a:srgbClr val="000000"/>
                            </a:solidFill>
                            <a:ea typeface="宋体" panose="02010600030101010101" pitchFamily="2" charset="-122"/>
                          </a:rPr>
                          <a:t>(</a:t>
                        </a:r>
                        <a:r>
                          <a:rPr kumimoji="0" lang="en-US" altLang="zh-CN" sz="2800" dirty="0" smtClean="0">
                            <a:solidFill>
                              <a:srgbClr val="000000"/>
                            </a:solidFill>
                            <a:ea typeface="宋体" panose="02010600030101010101" pitchFamily="2" charset="-122"/>
                          </a:rPr>
                          <a:t>0,1,0)</a:t>
                        </a:r>
                        <a:endParaRPr kumimoji="0" lang="en-US" altLang="zh-CN" sz="2800" dirty="0">
                          <a:solidFill>
                            <a:srgbClr val="000000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grpSp>
                    <p:nvGrpSpPr>
                      <p:cNvPr id="36" name="Group 38">
                        <a:extLst>
                          <a:ext uri="{FF2B5EF4-FFF2-40B4-BE49-F238E27FC236}">
                            <a16:creationId xmlns="" xmlns:a16="http://schemas.microsoft.com/office/drawing/2014/main" id="{DE706F2F-02E0-4176-8D04-4C29B928342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26" y="1296"/>
                        <a:ext cx="2905" cy="2212"/>
                        <a:chOff x="1526" y="1296"/>
                        <a:chExt cx="2905" cy="2212"/>
                      </a:xfrm>
                    </p:grpSpPr>
                    <p:sp>
                      <p:nvSpPr>
                        <p:cNvPr id="37" name="Text Box 6">
                          <a:extLst>
                            <a:ext uri="{FF2B5EF4-FFF2-40B4-BE49-F238E27FC236}">
                              <a16:creationId xmlns="" xmlns:a16="http://schemas.microsoft.com/office/drawing/2014/main" id="{D55DAA51-7474-455A-8954-CDB3408B7FEC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40" y="1828"/>
                          <a:ext cx="684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>
                          <a:lvl1pPr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25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1pPr>
                          <a:lvl2pPr marL="742950" indent="-28575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2pPr>
                          <a:lvl3pPr marL="1143000" indent="-22860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3pPr>
                          <a:lvl4pPr marL="1600200" indent="-22860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6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4pPr>
                          <a:lvl5pPr marL="2057400" indent="-22860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5pPr>
                          <a:lvl6pPr marL="25146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6pPr>
                          <a:lvl7pPr marL="29718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7pPr>
                          <a:lvl8pPr marL="34290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8pPr>
                          <a:lvl9pPr marL="38862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9pPr>
                        </a:lstStyle>
                        <a:p>
                          <a:pPr algn="just" latinLnBrk="0">
                            <a:spcBef>
                              <a:spcPct val="0"/>
                            </a:spcBef>
                            <a:buClrTx/>
                            <a:buFontTx/>
                            <a:buNone/>
                          </a:pPr>
                          <a:r>
                            <a:rPr kumimoji="0" lang="en-US" altLang="zh-CN" sz="28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rPr>
                            <a:t>(</a:t>
                          </a:r>
                          <a:r>
                            <a:rPr kumimoji="0" lang="en-US" altLang="zh-CN" sz="2800" dirty="0" smtClean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rPr>
                            <a:t>1,0,1)</a:t>
                          </a:r>
                          <a:endParaRPr kumimoji="0" lang="en-US" altLang="zh-CN" sz="2800" dirty="0">
                            <a:solidFill>
                              <a:srgbClr val="000000"/>
                            </a:solidFill>
                            <a:ea typeface="宋体" panose="02010600030101010101" pitchFamily="2" charset="-122"/>
                          </a:endParaRPr>
                        </a:p>
                      </p:txBody>
                    </p:sp>
                    <p:grpSp>
                      <p:nvGrpSpPr>
                        <p:cNvPr id="38" name="Group 37">
                          <a:extLst>
                            <a:ext uri="{FF2B5EF4-FFF2-40B4-BE49-F238E27FC236}">
                              <a16:creationId xmlns="" xmlns:a16="http://schemas.microsoft.com/office/drawing/2014/main" id="{6FA0E8DE-80F4-4A92-AC4E-5BC64A609CB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526" y="1296"/>
                          <a:ext cx="2905" cy="2212"/>
                          <a:chOff x="1526" y="1296"/>
                          <a:chExt cx="2905" cy="2212"/>
                        </a:xfrm>
                      </p:grpSpPr>
                      <p:sp>
                        <p:nvSpPr>
                          <p:cNvPr id="39" name="Text Box 8">
                            <a:extLst>
                              <a:ext uri="{FF2B5EF4-FFF2-40B4-BE49-F238E27FC236}">
                                <a16:creationId xmlns="" xmlns:a16="http://schemas.microsoft.com/office/drawing/2014/main" id="{EC56F7B3-07FA-459F-9403-94731E4A5F7C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897" y="1296"/>
                            <a:ext cx="982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 dirty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(</a:t>
                            </a:r>
                            <a:r>
                              <a:rPr kumimoji="0" lang="en-US" altLang="zh-CN" sz="3200" dirty="0" smtClean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1,1,1)</a:t>
                            </a:r>
                            <a:endParaRPr kumimoji="0" lang="en-US" altLang="zh-CN" sz="32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0" name="Text Box 9">
                            <a:extLst>
                              <a:ext uri="{FF2B5EF4-FFF2-40B4-BE49-F238E27FC236}">
                                <a16:creationId xmlns="" xmlns:a16="http://schemas.microsoft.com/office/drawing/2014/main" id="{3B53BFA9-AC85-449E-B768-846765B0D150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5" y="1788"/>
                            <a:ext cx="764" cy="5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2800" dirty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(</a:t>
                            </a:r>
                            <a:r>
                              <a:rPr kumimoji="0" lang="en-US" altLang="zh-CN" sz="2800" dirty="0" smtClean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0,1,1</a:t>
                            </a:r>
                            <a:r>
                              <a:rPr kumimoji="0" lang="en-US" altLang="zh-CN" sz="2800" dirty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)</a:t>
                            </a:r>
                          </a:p>
                        </p:txBody>
                      </p:sp>
                      <p:sp>
                        <p:nvSpPr>
                          <p:cNvPr id="41" name="Text Box 10">
                            <a:extLst>
                              <a:ext uri="{FF2B5EF4-FFF2-40B4-BE49-F238E27FC236}">
                                <a16:creationId xmlns="" xmlns:a16="http://schemas.microsoft.com/office/drawing/2014/main" id="{A5A945B1-F069-41EF-AEF5-A5F0016C6BB2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73" y="1768"/>
                            <a:ext cx="758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 typeface="Wingdings" panose="05000000000000000000" pitchFamily="2" charset="2"/>
                              <a:buNone/>
                            </a:pPr>
                            <a:r>
                              <a:rPr kumimoji="0" lang="en-US" altLang="zh-CN" sz="2800" dirty="0" smtClean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(1,1,0)</a:t>
                            </a:r>
                            <a:endParaRPr kumimoji="0" lang="en-US" altLang="zh-CN" sz="28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endParaRPr>
                          </a:p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endParaRPr kumimoji="0" lang="en-US" altLang="zh-CN" sz="32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2" name="Text Box 11">
                            <a:extLst>
                              <a:ext uri="{FF2B5EF4-FFF2-40B4-BE49-F238E27FC236}">
                                <a16:creationId xmlns="" xmlns:a16="http://schemas.microsoft.com/office/drawing/2014/main" id="{22BB1956-BD6D-46E2-822C-401D3392316F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26" y="2416"/>
                            <a:ext cx="906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2800" dirty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(</a:t>
                            </a:r>
                            <a:r>
                              <a:rPr kumimoji="0" lang="en-US" altLang="zh-CN" sz="2800" dirty="0" smtClean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0,0,1)</a:t>
                            </a:r>
                            <a:endParaRPr kumimoji="0" lang="en-US" altLang="zh-CN" sz="28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3" name="Text Box 12">
                            <a:extLst>
                              <a:ext uri="{FF2B5EF4-FFF2-40B4-BE49-F238E27FC236}">
                                <a16:creationId xmlns="" xmlns:a16="http://schemas.microsoft.com/office/drawing/2014/main" id="{BE8BA42D-710C-4769-B77D-8C308D913893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475" y="3178"/>
                            <a:ext cx="912" cy="3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2800" dirty="0" smtClean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(0,0,0)</a:t>
                            </a:r>
                            <a:endParaRPr kumimoji="0" lang="en-US" altLang="zh-CN" sz="28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4" name="Text Box 13">
                            <a:extLst>
                              <a:ext uri="{FF2B5EF4-FFF2-40B4-BE49-F238E27FC236}">
                                <a16:creationId xmlns="" xmlns:a16="http://schemas.microsoft.com/office/drawing/2014/main" id="{6D353066-7D89-4662-B1C6-755FC03EC0B6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18" y="2510"/>
                            <a:ext cx="749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2800" dirty="0" smtClean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(1,0,0)</a:t>
                            </a:r>
                            <a:endParaRPr kumimoji="0" lang="en-US" altLang="zh-CN" sz="28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27" name="Oval 14">
                      <a:extLst>
                        <a:ext uri="{FF2B5EF4-FFF2-40B4-BE49-F238E27FC236}">
                          <a16:creationId xmlns="" xmlns:a16="http://schemas.microsoft.com/office/drawing/2014/main" id="{B193F7DC-8DFB-43A0-BDF7-35FF3E029BD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1605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8" name="Oval 15">
                      <a:extLst>
                        <a:ext uri="{FF2B5EF4-FFF2-40B4-BE49-F238E27FC236}">
                          <a16:creationId xmlns="" xmlns:a16="http://schemas.microsoft.com/office/drawing/2014/main" id="{BDBD7D95-FC85-4343-83F1-7CFD622E3C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2" y="2067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9" name="Oval 16">
                      <a:extLst>
                        <a:ext uri="{FF2B5EF4-FFF2-40B4-BE49-F238E27FC236}">
                          <a16:creationId xmlns="" xmlns:a16="http://schemas.microsoft.com/office/drawing/2014/main" id="{4E69003B-4D23-46DD-829C-B4B24FAB6C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2" y="2626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0" name="Oval 17">
                      <a:extLst>
                        <a:ext uri="{FF2B5EF4-FFF2-40B4-BE49-F238E27FC236}">
                          <a16:creationId xmlns="" xmlns:a16="http://schemas.microsoft.com/office/drawing/2014/main" id="{C181B35E-1482-45FE-BC38-399ED3B3794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3088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1" name="Oval 18">
                      <a:extLst>
                        <a:ext uri="{FF2B5EF4-FFF2-40B4-BE49-F238E27FC236}">
                          <a16:creationId xmlns="" xmlns:a16="http://schemas.microsoft.com/office/drawing/2014/main" id="{7E565A65-1C3E-4AE7-AC50-E63DE73C2F6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2162"/>
                      <a:ext cx="47" cy="6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2" name="Oval 19">
                      <a:extLst>
                        <a:ext uri="{FF2B5EF4-FFF2-40B4-BE49-F238E27FC236}">
                          <a16:creationId xmlns="" xmlns:a16="http://schemas.microsoft.com/office/drawing/2014/main" id="{6545E21C-29EF-4E63-96A4-AA35B1B6F1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89" y="2008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3" name="Oval 20">
                      <a:extLst>
                        <a:ext uri="{FF2B5EF4-FFF2-40B4-BE49-F238E27FC236}">
                          <a16:creationId xmlns="" xmlns:a16="http://schemas.microsoft.com/office/drawing/2014/main" id="{08E50F95-CE8D-4363-ADBC-76ADF351A3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2471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4" name="Oval 21">
                      <a:extLst>
                        <a:ext uri="{FF2B5EF4-FFF2-40B4-BE49-F238E27FC236}">
                          <a16:creationId xmlns="" xmlns:a16="http://schemas.microsoft.com/office/drawing/2014/main" id="{CDD53ECA-1767-49E9-949B-CF37443F47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89" y="2626"/>
                      <a:ext cx="59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14" name="Group 44">
                    <a:extLst>
                      <a:ext uri="{FF2B5EF4-FFF2-40B4-BE49-F238E27FC236}">
                        <a16:creationId xmlns="" xmlns:a16="http://schemas.microsoft.com/office/drawing/2014/main" id="{8A35205B-45CB-430A-9E5B-9CC82B75C98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98" y="1629"/>
                    <a:ext cx="1402" cy="1491"/>
                    <a:chOff x="2198" y="1629"/>
                    <a:chExt cx="1402" cy="1491"/>
                  </a:xfrm>
                </p:grpSpPr>
                <p:grpSp>
                  <p:nvGrpSpPr>
                    <p:cNvPr id="15" name="Group 43">
                      <a:extLst>
                        <a:ext uri="{FF2B5EF4-FFF2-40B4-BE49-F238E27FC236}">
                          <a16:creationId xmlns="" xmlns:a16="http://schemas.microsoft.com/office/drawing/2014/main" id="{F1992F98-DA87-4754-929A-88851E58151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98" y="1629"/>
                      <a:ext cx="1402" cy="1491"/>
                      <a:chOff x="2198" y="1629"/>
                      <a:chExt cx="1402" cy="1491"/>
                    </a:xfrm>
                  </p:grpSpPr>
                  <p:sp>
                    <p:nvSpPr>
                      <p:cNvPr id="17" name="Line 23">
                        <a:extLst>
                          <a:ext uri="{FF2B5EF4-FFF2-40B4-BE49-F238E27FC236}">
                            <a16:creationId xmlns="" xmlns:a16="http://schemas.microsoft.com/office/drawing/2014/main" id="{BA11A788-271E-4339-9D5A-17D5F6EF82F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98" y="2112"/>
                        <a:ext cx="0" cy="57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grpSp>
                    <p:nvGrpSpPr>
                      <p:cNvPr id="18" name="Group 42">
                        <a:extLst>
                          <a:ext uri="{FF2B5EF4-FFF2-40B4-BE49-F238E27FC236}">
                            <a16:creationId xmlns="" xmlns:a16="http://schemas.microsoft.com/office/drawing/2014/main" id="{B4DC6EF4-0961-4750-8BFA-E19354F4A4D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47" y="2496"/>
                        <a:ext cx="1353" cy="624"/>
                        <a:chOff x="2247" y="2496"/>
                        <a:chExt cx="1353" cy="624"/>
                      </a:xfrm>
                    </p:grpSpPr>
                    <p:sp>
                      <p:nvSpPr>
                        <p:cNvPr id="23" name="Line 22">
                          <a:extLst>
                            <a:ext uri="{FF2B5EF4-FFF2-40B4-BE49-F238E27FC236}">
                              <a16:creationId xmlns="" xmlns:a16="http://schemas.microsoft.com/office/drawing/2014/main" id="{3F2D1A5D-8DFE-471F-A3D3-2447DE04DBF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247" y="2674"/>
                          <a:ext cx="681" cy="44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" name="Line 24">
                          <a:extLst>
                            <a:ext uri="{FF2B5EF4-FFF2-40B4-BE49-F238E27FC236}">
                              <a16:creationId xmlns="" xmlns:a16="http://schemas.microsoft.com/office/drawing/2014/main" id="{3F5BA45B-4C0E-4FCD-ADE4-8DDACB56CE8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28" y="2496"/>
                          <a:ext cx="0" cy="62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5" name="Line 25">
                          <a:extLst>
                            <a:ext uri="{FF2B5EF4-FFF2-40B4-BE49-F238E27FC236}">
                              <a16:creationId xmlns="" xmlns:a16="http://schemas.microsoft.com/office/drawing/2014/main" id="{B07A729B-286D-420A-B069-7EEB2E7528B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880" y="2640"/>
                          <a:ext cx="720" cy="48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  <p:sp>
                    <p:nvSpPr>
                      <p:cNvPr id="19" name="Line 27">
                        <a:extLst>
                          <a:ext uri="{FF2B5EF4-FFF2-40B4-BE49-F238E27FC236}">
                            <a16:creationId xmlns="" xmlns:a16="http://schemas.microsoft.com/office/drawing/2014/main" id="{AB529CC6-6A45-4600-81E6-41115F790CE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43" y="1642"/>
                        <a:ext cx="647" cy="41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20" name="Line 28">
                        <a:extLst>
                          <a:ext uri="{FF2B5EF4-FFF2-40B4-BE49-F238E27FC236}">
                            <a16:creationId xmlns="" xmlns:a16="http://schemas.microsoft.com/office/drawing/2014/main" id="{9659C649-2741-4C39-917C-CE4801EF6D5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42" y="1629"/>
                        <a:ext cx="647" cy="39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21" name="Line 29">
                        <a:extLst>
                          <a:ext uri="{FF2B5EF4-FFF2-40B4-BE49-F238E27FC236}">
                            <a16:creationId xmlns="" xmlns:a16="http://schemas.microsoft.com/office/drawing/2014/main" id="{D51A726B-CC17-4FCE-B6D6-788A47E1C50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928" y="2039"/>
                        <a:ext cx="666" cy="457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22" name="Line 32">
                        <a:extLst>
                          <a:ext uri="{FF2B5EF4-FFF2-40B4-BE49-F238E27FC236}">
                            <a16:creationId xmlns="" xmlns:a16="http://schemas.microsoft.com/office/drawing/2014/main" id="{0305698B-7D7A-4BF0-B797-8BD55B1B22B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56" y="2208"/>
                        <a:ext cx="672" cy="43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6" name="Line 33">
                      <a:extLst>
                        <a:ext uri="{FF2B5EF4-FFF2-40B4-BE49-F238E27FC236}">
                          <a16:creationId xmlns="" xmlns:a16="http://schemas.microsoft.com/office/drawing/2014/main" id="{B5BFBF66-C198-45BE-B8CA-A7E39CCFE8A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1" y="2208"/>
                      <a:ext cx="659" cy="43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270054329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>
            <a:extLst>
              <a:ext uri="{FF2B5EF4-FFF2-40B4-BE49-F238E27FC236}">
                <a16:creationId xmlns="" xmlns:a16="http://schemas.microsoft.com/office/drawing/2014/main" id="{808DF673-7D6C-4B87-ACB5-DF6916DF69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11413" y="2852738"/>
            <a:ext cx="4248150" cy="2368550"/>
          </a:xfrm>
        </p:spPr>
        <p:txBody>
          <a:bodyPr/>
          <a:lstStyle/>
          <a:p>
            <a:pPr algn="l">
              <a:lnSpc>
                <a:spcPct val="90000"/>
              </a:lnSpc>
              <a:defRPr/>
            </a:pPr>
            <a:r>
              <a:rPr lang="en-US" altLang="zh-CN" sz="3500" b="1" dirty="0">
                <a:solidFill>
                  <a:schemeClr val="tx1"/>
                </a:solidFill>
              </a:rPr>
              <a:t>7.4.1  </a:t>
            </a:r>
            <a:r>
              <a:rPr lang="zh-CN" altLang="en-US" sz="3500" b="1" dirty="0">
                <a:solidFill>
                  <a:schemeClr val="tx1"/>
                </a:solidFill>
                <a:latin typeface="+mj-ea"/>
                <a:ea typeface="+mj-ea"/>
              </a:rPr>
              <a:t>有 界 格 </a:t>
            </a:r>
          </a:p>
          <a:p>
            <a:pPr algn="l">
              <a:lnSpc>
                <a:spcPct val="90000"/>
              </a:lnSpc>
              <a:defRPr/>
            </a:pPr>
            <a:r>
              <a:rPr lang="en-US" altLang="zh-CN" sz="3500" b="1" dirty="0">
                <a:solidFill>
                  <a:schemeClr val="tx1"/>
                </a:solidFill>
              </a:rPr>
              <a:t>7.4.2  </a:t>
            </a:r>
            <a:r>
              <a:rPr lang="zh-CN" altLang="en-US" sz="3500" b="1" dirty="0">
                <a:solidFill>
                  <a:schemeClr val="tx1"/>
                </a:solidFill>
                <a:latin typeface="+mj-ea"/>
                <a:ea typeface="+mj-ea"/>
              </a:rPr>
              <a:t>有 余 格 </a:t>
            </a:r>
          </a:p>
          <a:p>
            <a:pPr algn="l">
              <a:lnSpc>
                <a:spcPct val="90000"/>
              </a:lnSpc>
              <a:defRPr/>
            </a:pPr>
            <a:r>
              <a:rPr lang="en-US" altLang="zh-CN" sz="3500" b="1" dirty="0">
                <a:solidFill>
                  <a:schemeClr val="tx1"/>
                </a:solidFill>
              </a:rPr>
              <a:t>7.4.3  </a:t>
            </a:r>
            <a:r>
              <a:rPr lang="zh-CN" altLang="en-US" sz="3500" b="1" dirty="0">
                <a:solidFill>
                  <a:schemeClr val="tx1"/>
                </a:solidFill>
                <a:latin typeface="+mj-ea"/>
                <a:ea typeface="+mj-ea"/>
              </a:rPr>
              <a:t>分 配 </a:t>
            </a:r>
            <a:r>
              <a:rPr lang="zh-CN" altLang="en-US" sz="3500" b="1" dirty="0" smtClean="0">
                <a:solidFill>
                  <a:schemeClr val="tx1"/>
                </a:solidFill>
                <a:latin typeface="+mj-ea"/>
                <a:ea typeface="+mj-ea"/>
              </a:rPr>
              <a:t>格</a:t>
            </a:r>
            <a:endParaRPr lang="en-US" altLang="zh-CN" sz="3500" b="1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90000"/>
              </a:lnSpc>
              <a:defRPr/>
            </a:pPr>
            <a:r>
              <a:rPr lang="en-US" altLang="zh-CN" sz="3500" b="1" dirty="0" smtClean="0">
                <a:solidFill>
                  <a:schemeClr val="tx1"/>
                </a:solidFill>
              </a:rPr>
              <a:t>7.4.4  </a:t>
            </a:r>
            <a:r>
              <a:rPr lang="zh-CN" altLang="en-US" sz="3500" b="1" dirty="0">
                <a:solidFill>
                  <a:schemeClr val="tx1"/>
                </a:solidFill>
                <a:latin typeface="+mj-ea"/>
                <a:ea typeface="+mj-ea"/>
              </a:rPr>
              <a:t>模 </a:t>
            </a:r>
            <a:r>
              <a:rPr lang="zh-CN" altLang="en-US" sz="3500" b="1" dirty="0" smtClean="0">
                <a:solidFill>
                  <a:schemeClr val="tx1"/>
                </a:solidFill>
                <a:latin typeface="+mj-ea"/>
                <a:ea typeface="+mj-ea"/>
              </a:rPr>
              <a:t>格（删除）</a:t>
            </a:r>
            <a:endParaRPr lang="zh-CN" altLang="en-US" sz="3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8067" name="Rectangle 4">
            <a:extLst>
              <a:ext uri="{FF2B5EF4-FFF2-40B4-BE49-F238E27FC236}">
                <a16:creationId xmlns="" xmlns:a16="http://schemas.microsoft.com/office/drawing/2014/main" id="{D057D382-50E6-4258-A4D5-1EFA1DB227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628775"/>
            <a:ext cx="9144000" cy="990600"/>
          </a:xfrm>
        </p:spPr>
        <p:txBody>
          <a:bodyPr/>
          <a:lstStyle/>
          <a:p>
            <a:r>
              <a:rPr lang="en-US" altLang="zh-CN" sz="5000">
                <a:latin typeface="宋体" panose="02010600030101010101" pitchFamily="2" charset="-122"/>
              </a:rPr>
              <a:t>§7.4 </a:t>
            </a:r>
            <a:r>
              <a:rPr lang="zh-CN" altLang="en-US" sz="5000">
                <a:latin typeface="宋体" panose="02010600030101010101" pitchFamily="2" charset="-122"/>
              </a:rPr>
              <a:t>几种特殊的格</a:t>
            </a:r>
          </a:p>
        </p:txBody>
      </p:sp>
      <p:sp>
        <p:nvSpPr>
          <p:cNvPr id="88068" name="Rectangle 6">
            <a:extLst>
              <a:ext uri="{FF2B5EF4-FFF2-40B4-BE49-F238E27FC236}">
                <a16:creationId xmlns="" xmlns:a16="http://schemas.microsoft.com/office/drawing/2014/main" id="{D3537616-DB43-4067-A7CA-1FC7BD161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565400"/>
            <a:ext cx="5830888" cy="285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ctr" eaLnBrk="1" hangingPunct="1">
              <a:buClr>
                <a:srgbClr val="003399"/>
              </a:buClr>
              <a:buFont typeface="Wingdings" panose="05000000000000000000" pitchFamily="2" charset="2"/>
              <a:buNone/>
            </a:pPr>
            <a:endParaRPr lang="zh-CN" altLang="zh-CN" sz="3400" b="1">
              <a:solidFill>
                <a:srgbClr val="000000"/>
              </a:solidFill>
              <a:latin typeface="楷体_GB2312" charset="-122"/>
            </a:endParaRPr>
          </a:p>
        </p:txBody>
      </p:sp>
      <p:sp>
        <p:nvSpPr>
          <p:cNvPr id="88069" name="灯片编号占位符 1">
            <a:extLst>
              <a:ext uri="{FF2B5EF4-FFF2-40B4-BE49-F238E27FC236}">
                <a16:creationId xmlns="" xmlns:a16="http://schemas.microsoft.com/office/drawing/2014/main" id="{81D88760-9E8C-4B54-9193-3F9E1113A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D48247-09AF-43D5-B2F2-6B33548A6DC0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="" xmlns:a16="http://schemas.microsoft.com/office/drawing/2014/main" id="{6F04E91E-6A3A-45A1-9322-39F4830BA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7.4.1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界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="" xmlns:a16="http://schemas.microsoft.com/office/drawing/2014/main" id="{CD0FAC12-E34F-4C13-A0BC-439F47790D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640762" cy="5256213"/>
          </a:xfrm>
        </p:spPr>
        <p:txBody>
          <a:bodyPr/>
          <a:lstStyle/>
          <a:p>
            <a:pPr marL="0" indent="-157163">
              <a:lnSpc>
                <a:spcPct val="120000"/>
              </a:lnSpc>
              <a:buClr>
                <a:srgbClr val="0000FF"/>
              </a:buClr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引理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是一个格。若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的任意一个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有限非空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子集，则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有一个最大下界和一个最小上界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157163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的最大下界为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</a:p>
          <a:p>
            <a:pPr marL="0" indent="-157163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的最小上界为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 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-157163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Note: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对于格的一个无穷子集，引理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结论不成立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157163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例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，所有正偶数组成的集合</a:t>
            </a:r>
          </a:p>
          <a:p>
            <a:pPr marL="0" indent="-157163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，显然，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没有最小上界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89092" name="灯片编号占位符 1">
            <a:extLst>
              <a:ext uri="{FF2B5EF4-FFF2-40B4-BE49-F238E27FC236}">
                <a16:creationId xmlns="" xmlns:a16="http://schemas.microsoft.com/office/drawing/2014/main" id="{2B94862B-5E10-447E-B5FE-A1C92D7A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2566FA-0F55-47F6-818C-685D77EB4B96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="" xmlns:a16="http://schemas.microsoft.com/office/drawing/2014/main" id="{A6E6248D-2B95-48D2-BF75-9E633F1EBF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85863"/>
            <a:ext cx="8539163" cy="5122862"/>
          </a:xfrm>
        </p:spPr>
        <p:txBody>
          <a:bodyPr/>
          <a:lstStyle/>
          <a:p>
            <a:pPr marL="0" indent="-157163" algn="just">
              <a:buClr>
                <a:srgbClr val="0000FF"/>
              </a:buClr>
              <a:defRPr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7.4.1: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称为有界格，如果它有一个最大元素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记为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和一个最小元素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记为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，亦即，对任意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，都有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0≤a≤1,  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称为格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的界。</a:t>
            </a:r>
          </a:p>
          <a:p>
            <a:pPr marL="0" indent="-157163" algn="just">
              <a:buClr>
                <a:srgbClr val="0000FF"/>
              </a:buClr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有限格必是有界格</a:t>
            </a:r>
          </a:p>
          <a:p>
            <a:pPr marL="0" indent="-157163" algn="just"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L={a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 ,</a:t>
            </a:r>
          </a:p>
          <a:p>
            <a:pPr marL="0" indent="-157163" algn="just"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0 = 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×…×a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</a:p>
          <a:p>
            <a:pPr marL="0" indent="-157163" algn="just"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1 = 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⊕…⊕a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300037" indent="-457200" algn="just">
              <a:buClr>
                <a:srgbClr val="0000FF"/>
              </a:buClr>
              <a:defRPr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有界格一定是有限格吗？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0115" name="灯片编号占位符 1">
            <a:extLst>
              <a:ext uri="{FF2B5EF4-FFF2-40B4-BE49-F238E27FC236}">
                <a16:creationId xmlns="" xmlns:a16="http://schemas.microsoft.com/office/drawing/2014/main" id="{119087A7-9A8D-45E9-9F1B-3C80F881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292547-EEAB-4E0A-AB62-C12C6563A223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4B078179-DB41-448F-ADF5-4DB23ED39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7.4.1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界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内容占位符 2">
            <a:extLst>
              <a:ext uri="{FF2B5EF4-FFF2-40B4-BE49-F238E27FC236}">
                <a16:creationId xmlns="" xmlns:a16="http://schemas.microsoft.com/office/drawing/2014/main" id="{C905D539-57A9-4D55-AD36-BA5873A27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3" y="1341438"/>
            <a:ext cx="8432800" cy="5040312"/>
          </a:xfrm>
        </p:spPr>
        <p:txBody>
          <a:bodyPr/>
          <a:lstStyle/>
          <a:p>
            <a:pPr marL="0" algn="just">
              <a:spcBef>
                <a:spcPts val="0"/>
              </a:spcBef>
              <a:buClr>
                <a:srgbClr val="0000FF"/>
              </a:buClr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引理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2.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0, 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是有界格，则对任意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，恒有</a:t>
            </a:r>
          </a:p>
          <a:p>
            <a:pPr marL="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⊕ 0 = 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a×1 = 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⊕ 1 = 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a×0 = 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7.4.2: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在有界格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中，一个元素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，称为元素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余元素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，如果</a:t>
            </a:r>
          </a:p>
          <a:p>
            <a:pPr marL="0"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Note: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在有界格中，一元素可能没有余元素；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如果有余元素，可以有一个或一个以上的余元素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endParaRPr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139" name="灯片编号占位符 1">
            <a:extLst>
              <a:ext uri="{FF2B5EF4-FFF2-40B4-BE49-F238E27FC236}">
                <a16:creationId xmlns="" xmlns:a16="http://schemas.microsoft.com/office/drawing/2014/main" id="{7E4A572D-2432-4313-AA39-790C40FD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05564C-84D5-41F0-AD67-840A452273A2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35D4EA32-EC5E-4603-B7AC-2A25FC6CE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7.4.1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界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="" xmlns:a16="http://schemas.microsoft.com/office/drawing/2014/main" id="{F81F8EC7-2220-4FC8-A120-01C2E093F9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1975" y="1520825"/>
            <a:ext cx="8301038" cy="4572000"/>
          </a:xfrm>
        </p:spPr>
        <p:txBody>
          <a:bodyPr/>
          <a:lstStyle/>
          <a:p>
            <a:pPr algn="just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</a:p>
        </p:txBody>
      </p:sp>
      <p:grpSp>
        <p:nvGrpSpPr>
          <p:cNvPr id="92163" name="组合 39">
            <a:extLst>
              <a:ext uri="{FF2B5EF4-FFF2-40B4-BE49-F238E27FC236}">
                <a16:creationId xmlns="" xmlns:a16="http://schemas.microsoft.com/office/drawing/2014/main" id="{4D70E8F6-9FAB-446D-BFE6-8440544378B4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1604963"/>
            <a:ext cx="1441450" cy="2544762"/>
            <a:chOff x="838200" y="2420888"/>
            <a:chExt cx="1441450" cy="2544812"/>
          </a:xfrm>
        </p:grpSpPr>
        <p:grpSp>
          <p:nvGrpSpPr>
            <p:cNvPr id="92197" name="Group 12">
              <a:extLst>
                <a:ext uri="{FF2B5EF4-FFF2-40B4-BE49-F238E27FC236}">
                  <a16:creationId xmlns="" xmlns:a16="http://schemas.microsoft.com/office/drawing/2014/main" id="{883B5276-5ACF-4A09-BC00-23AAE7108DC8}"/>
                </a:ext>
              </a:extLst>
            </p:cNvPr>
            <p:cNvGrpSpPr>
              <a:grpSpLocks/>
            </p:cNvGrpSpPr>
            <p:nvPr/>
          </p:nvGrpSpPr>
          <p:grpSpPr bwMode="auto">
            <a:xfrm rot="10656844">
              <a:off x="1157288" y="2924175"/>
              <a:ext cx="762000" cy="1524000"/>
              <a:chOff x="3792" y="1344"/>
              <a:chExt cx="480" cy="960"/>
            </a:xfrm>
          </p:grpSpPr>
          <p:grpSp>
            <p:nvGrpSpPr>
              <p:cNvPr id="92202" name="Group 13">
                <a:extLst>
                  <a:ext uri="{FF2B5EF4-FFF2-40B4-BE49-F238E27FC236}">
                    <a16:creationId xmlns="" xmlns:a16="http://schemas.microsoft.com/office/drawing/2014/main" id="{B7789894-F0A4-47D6-B48C-25ADC291F0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2" y="1632"/>
                <a:ext cx="480" cy="672"/>
                <a:chOff x="960" y="1344"/>
                <a:chExt cx="480" cy="672"/>
              </a:xfrm>
            </p:grpSpPr>
            <p:grpSp>
              <p:nvGrpSpPr>
                <p:cNvPr id="92204" name="Group 14">
                  <a:extLst>
                    <a:ext uri="{FF2B5EF4-FFF2-40B4-BE49-F238E27FC236}">
                      <a16:creationId xmlns="" xmlns:a16="http://schemas.microsoft.com/office/drawing/2014/main" id="{C0C1540D-EEB6-4BCD-AA6C-F706F3DBB0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0" y="1344"/>
                  <a:ext cx="480" cy="672"/>
                  <a:chOff x="960" y="1344"/>
                  <a:chExt cx="480" cy="672"/>
                </a:xfrm>
              </p:grpSpPr>
              <p:sp>
                <p:nvSpPr>
                  <p:cNvPr id="92206" name="Line 15">
                    <a:extLst>
                      <a:ext uri="{FF2B5EF4-FFF2-40B4-BE49-F238E27FC236}">
                        <a16:creationId xmlns="" xmlns:a16="http://schemas.microsoft.com/office/drawing/2014/main" id="{7E7F8D41-AA17-40C0-AA3F-992F566D1E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00" y="1344"/>
                    <a:ext cx="240" cy="28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207" name="Line 16">
                    <a:extLst>
                      <a:ext uri="{FF2B5EF4-FFF2-40B4-BE49-F238E27FC236}">
                        <a16:creationId xmlns="" xmlns:a16="http://schemas.microsoft.com/office/drawing/2014/main" id="{01F882C8-417C-4CA6-BB20-739397ED82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60" y="1344"/>
                    <a:ext cx="240" cy="24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208" name="Line 17">
                    <a:extLst>
                      <a:ext uri="{FF2B5EF4-FFF2-40B4-BE49-F238E27FC236}">
                        <a16:creationId xmlns="" xmlns:a16="http://schemas.microsoft.com/office/drawing/2014/main" id="{C399AEAA-CBB3-4EF9-BEE4-7426B1C380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60" y="1584"/>
                    <a:ext cx="19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2205" name="Line 18">
                  <a:extLst>
                    <a:ext uri="{FF2B5EF4-FFF2-40B4-BE49-F238E27FC236}">
                      <a16:creationId xmlns="" xmlns:a16="http://schemas.microsoft.com/office/drawing/2014/main" id="{8322BA2D-431E-43F3-87A1-8DAF1B93FE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2" y="1632"/>
                  <a:ext cx="288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92203" name="Line 19">
                <a:extLst>
                  <a:ext uri="{FF2B5EF4-FFF2-40B4-BE49-F238E27FC236}">
                    <a16:creationId xmlns="" xmlns:a16="http://schemas.microsoft.com/office/drawing/2014/main" id="{19B6B053-D2EA-4630-8EF0-652DB1BA70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134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2198" name="Text Box 35">
              <a:extLst>
                <a:ext uri="{FF2B5EF4-FFF2-40B4-BE49-F238E27FC236}">
                  <a16:creationId xmlns="" xmlns:a16="http://schemas.microsoft.com/office/drawing/2014/main" id="{C98AD1F9-3BA0-4086-A7C1-86069DDD5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3305175"/>
              <a:ext cx="319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a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sp>
          <p:nvSpPr>
            <p:cNvPr id="92199" name="Text Box 36">
              <a:extLst>
                <a:ext uri="{FF2B5EF4-FFF2-40B4-BE49-F238E27FC236}">
                  <a16:creationId xmlns="" xmlns:a16="http://schemas.microsoft.com/office/drawing/2014/main" id="{B290CD3D-9A5D-437A-ABC0-730592F870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3100" y="33559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b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sp>
          <p:nvSpPr>
            <p:cNvPr id="92200" name="Text Box 37">
              <a:extLst>
                <a:ext uri="{FF2B5EF4-FFF2-40B4-BE49-F238E27FC236}">
                  <a16:creationId xmlns="" xmlns:a16="http://schemas.microsoft.com/office/drawing/2014/main" id="{0D7DAC6C-A15D-4FB3-B3D4-9867CA43B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648" y="2420888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1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sp>
          <p:nvSpPr>
            <p:cNvPr id="92201" name="Text Box 38">
              <a:extLst>
                <a:ext uri="{FF2B5EF4-FFF2-40B4-BE49-F238E27FC236}">
                  <a16:creationId xmlns="" xmlns:a16="http://schemas.microsoft.com/office/drawing/2014/main" id="{27298859-DB92-46CD-9075-BB2FFE250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3188" y="45085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0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</p:grpSp>
      <p:grpSp>
        <p:nvGrpSpPr>
          <p:cNvPr id="92164" name="组合 42">
            <a:extLst>
              <a:ext uri="{FF2B5EF4-FFF2-40B4-BE49-F238E27FC236}">
                <a16:creationId xmlns="" xmlns:a16="http://schemas.microsoft.com/office/drawing/2014/main" id="{E85BFE62-6FA7-4AC8-9785-9091E0E62EE1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1722438"/>
            <a:ext cx="1441450" cy="1993900"/>
            <a:chOff x="2884488" y="2708920"/>
            <a:chExt cx="1441450" cy="1993900"/>
          </a:xfrm>
        </p:grpSpPr>
        <p:sp>
          <p:nvSpPr>
            <p:cNvPr id="92186" name="Text Box 40">
              <a:extLst>
                <a:ext uri="{FF2B5EF4-FFF2-40B4-BE49-F238E27FC236}">
                  <a16:creationId xmlns="" xmlns:a16="http://schemas.microsoft.com/office/drawing/2014/main" id="{7430834B-C40C-485F-A527-8B171EB52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388" y="34036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b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grpSp>
          <p:nvGrpSpPr>
            <p:cNvPr id="92187" name="组合 41">
              <a:extLst>
                <a:ext uri="{FF2B5EF4-FFF2-40B4-BE49-F238E27FC236}">
                  <a16:creationId xmlns="" xmlns:a16="http://schemas.microsoft.com/office/drawing/2014/main" id="{10ABD838-B3ED-4D3F-ACED-A29471C213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4488" y="2708920"/>
              <a:ext cx="1122362" cy="1993900"/>
              <a:chOff x="2884488" y="2611438"/>
              <a:chExt cx="1122362" cy="1993900"/>
            </a:xfrm>
          </p:grpSpPr>
          <p:grpSp>
            <p:nvGrpSpPr>
              <p:cNvPr id="92188" name="Group 5">
                <a:extLst>
                  <a:ext uri="{FF2B5EF4-FFF2-40B4-BE49-F238E27FC236}">
                    <a16:creationId xmlns="" xmlns:a16="http://schemas.microsoft.com/office/drawing/2014/main" id="{9ADCBFB9-6261-4FEA-A127-4C3DBE85C4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44850" y="3081338"/>
                <a:ext cx="762000" cy="1066800"/>
                <a:chOff x="960" y="1344"/>
                <a:chExt cx="480" cy="672"/>
              </a:xfrm>
            </p:grpSpPr>
            <p:grpSp>
              <p:nvGrpSpPr>
                <p:cNvPr id="92192" name="Group 6">
                  <a:extLst>
                    <a:ext uri="{FF2B5EF4-FFF2-40B4-BE49-F238E27FC236}">
                      <a16:creationId xmlns="" xmlns:a16="http://schemas.microsoft.com/office/drawing/2014/main" id="{A9696C95-27B6-428F-8ACE-EBF0E5A8D7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0" y="1344"/>
                  <a:ext cx="480" cy="672"/>
                  <a:chOff x="960" y="1344"/>
                  <a:chExt cx="480" cy="672"/>
                </a:xfrm>
              </p:grpSpPr>
              <p:sp>
                <p:nvSpPr>
                  <p:cNvPr id="92194" name="Line 7">
                    <a:extLst>
                      <a:ext uri="{FF2B5EF4-FFF2-40B4-BE49-F238E27FC236}">
                        <a16:creationId xmlns="" xmlns:a16="http://schemas.microsoft.com/office/drawing/2014/main" id="{90426F0B-0805-4D40-A0E4-99C116225D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00" y="1344"/>
                    <a:ext cx="240" cy="28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195" name="Line 8">
                    <a:extLst>
                      <a:ext uri="{FF2B5EF4-FFF2-40B4-BE49-F238E27FC236}">
                        <a16:creationId xmlns="" xmlns:a16="http://schemas.microsoft.com/office/drawing/2014/main" id="{D747CAE6-D60C-488F-A3C4-9955ADCE4F7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60" y="1344"/>
                    <a:ext cx="240" cy="24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196" name="Line 9">
                    <a:extLst>
                      <a:ext uri="{FF2B5EF4-FFF2-40B4-BE49-F238E27FC236}">
                        <a16:creationId xmlns="" xmlns:a16="http://schemas.microsoft.com/office/drawing/2014/main" id="{99CB1C5B-53BF-4065-B99D-8BA222A7FD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60" y="1584"/>
                    <a:ext cx="19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2193" name="Line 10">
                  <a:extLst>
                    <a:ext uri="{FF2B5EF4-FFF2-40B4-BE49-F238E27FC236}">
                      <a16:creationId xmlns="" xmlns:a16="http://schemas.microsoft.com/office/drawing/2014/main" id="{FCAE5C23-4F0C-473E-82E2-4CA95B6A2D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2" y="1632"/>
                  <a:ext cx="288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92189" name="Text Box 39">
                <a:extLst>
                  <a:ext uri="{FF2B5EF4-FFF2-40B4-BE49-F238E27FC236}">
                    <a16:creationId xmlns="" xmlns:a16="http://schemas.microsoft.com/office/drawing/2014/main" id="{6CA44CF1-EC6D-40B1-8375-ADED386FC7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4488" y="3352800"/>
                <a:ext cx="319087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a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2190" name="Text Box 41">
                <a:extLst>
                  <a:ext uri="{FF2B5EF4-FFF2-40B4-BE49-F238E27FC236}">
                    <a16:creationId xmlns="" xmlns:a16="http://schemas.microsoft.com/office/drawing/2014/main" id="{77403956-8DD4-4365-8D23-DD0B2F1F88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19475" y="2611438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1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2191" name="Text Box 42">
                <a:extLst>
                  <a:ext uri="{FF2B5EF4-FFF2-40B4-BE49-F238E27FC236}">
                    <a16:creationId xmlns="" xmlns:a16="http://schemas.microsoft.com/office/drawing/2014/main" id="{FFECBAFB-940C-44A9-BA6F-C1B7016DBA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9313" y="4148138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0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92165" name="组合 44">
            <a:extLst>
              <a:ext uri="{FF2B5EF4-FFF2-40B4-BE49-F238E27FC236}">
                <a16:creationId xmlns="" xmlns:a16="http://schemas.microsoft.com/office/drawing/2014/main" id="{86D4DA0C-33AF-4679-8A35-D4BF2717C7B4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1674813"/>
            <a:ext cx="1711325" cy="2185987"/>
            <a:chOff x="5116513" y="2395140"/>
            <a:chExt cx="1711325" cy="2185988"/>
          </a:xfrm>
        </p:grpSpPr>
        <p:sp>
          <p:nvSpPr>
            <p:cNvPr id="92174" name="Text Box 43">
              <a:extLst>
                <a:ext uri="{FF2B5EF4-FFF2-40B4-BE49-F238E27FC236}">
                  <a16:creationId xmlns="" xmlns:a16="http://schemas.microsoft.com/office/drawing/2014/main" id="{DFC0D293-BDF9-4AEE-9E92-FDB4F65EC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7788" y="2852738"/>
              <a:ext cx="3190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a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grpSp>
          <p:nvGrpSpPr>
            <p:cNvPr id="92175" name="组合 43">
              <a:extLst>
                <a:ext uri="{FF2B5EF4-FFF2-40B4-BE49-F238E27FC236}">
                  <a16:creationId xmlns="" xmlns:a16="http://schemas.microsoft.com/office/drawing/2014/main" id="{60C22D32-EC36-43E1-BC6A-8B3315CFAA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6513" y="2395140"/>
              <a:ext cx="1711325" cy="2185988"/>
              <a:chOff x="5116513" y="2492375"/>
              <a:chExt cx="1711325" cy="2185988"/>
            </a:xfrm>
          </p:grpSpPr>
          <p:grpSp>
            <p:nvGrpSpPr>
              <p:cNvPr id="92176" name="Group 20">
                <a:extLst>
                  <a:ext uri="{FF2B5EF4-FFF2-40B4-BE49-F238E27FC236}">
                    <a16:creationId xmlns="" xmlns:a16="http://schemas.microsoft.com/office/drawing/2014/main" id="{E137491B-B79B-4512-95DF-A0236BAE98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6875" y="2925688"/>
                <a:ext cx="1066800" cy="1295400"/>
                <a:chOff x="2832" y="1392"/>
                <a:chExt cx="672" cy="816"/>
              </a:xfrm>
            </p:grpSpPr>
            <p:sp>
              <p:nvSpPr>
                <p:cNvPr id="92181" name="Line 21">
                  <a:extLst>
                    <a:ext uri="{FF2B5EF4-FFF2-40B4-BE49-F238E27FC236}">
                      <a16:creationId xmlns="" xmlns:a16="http://schemas.microsoft.com/office/drawing/2014/main" id="{24128FC8-6686-4E20-A862-78A62F8D6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1392"/>
                  <a:ext cx="288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2182" name="Line 22">
                  <a:extLst>
                    <a:ext uri="{FF2B5EF4-FFF2-40B4-BE49-F238E27FC236}">
                      <a16:creationId xmlns="" xmlns:a16="http://schemas.microsoft.com/office/drawing/2014/main" id="{B32FB942-B21A-477B-A37F-3E5EDC3B22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832" y="1392"/>
                  <a:ext cx="384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2183" name="Line 23">
                  <a:extLst>
                    <a:ext uri="{FF2B5EF4-FFF2-40B4-BE49-F238E27FC236}">
                      <a16:creationId xmlns="" xmlns:a16="http://schemas.microsoft.com/office/drawing/2014/main" id="{9927776A-F77D-432B-9F37-A6858FC8DB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1536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2184" name="Line 24">
                  <a:extLst>
                    <a:ext uri="{FF2B5EF4-FFF2-40B4-BE49-F238E27FC236}">
                      <a16:creationId xmlns="" xmlns:a16="http://schemas.microsoft.com/office/drawing/2014/main" id="{596EB4E9-87E4-4A97-8563-797B93FFB9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1872"/>
                  <a:ext cx="28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2185" name="Line 25">
                  <a:extLst>
                    <a:ext uri="{FF2B5EF4-FFF2-40B4-BE49-F238E27FC236}">
                      <a16:creationId xmlns="" xmlns:a16="http://schemas.microsoft.com/office/drawing/2014/main" id="{7AFB4ADB-78E2-45B7-BB78-178C93388C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20" y="1680"/>
                  <a:ext cx="384" cy="5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92177" name="Text Box 44">
                <a:extLst>
                  <a:ext uri="{FF2B5EF4-FFF2-40B4-BE49-F238E27FC236}">
                    <a16:creationId xmlns="" xmlns:a16="http://schemas.microsoft.com/office/drawing/2014/main" id="{CC366BBC-B7E2-499E-ACBE-0FCDD66D85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8750" y="3140075"/>
                <a:ext cx="319088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c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2178" name="Text Box 45">
                <a:extLst>
                  <a:ext uri="{FF2B5EF4-FFF2-40B4-BE49-F238E27FC236}">
                    <a16:creationId xmlns="" xmlns:a16="http://schemas.microsoft.com/office/drawing/2014/main" id="{FB8AA401-4A78-4D47-9245-C52D553F1E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8838" y="2492375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1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2179" name="Text Box 46">
                <a:extLst>
                  <a:ext uri="{FF2B5EF4-FFF2-40B4-BE49-F238E27FC236}">
                    <a16:creationId xmlns="" xmlns:a16="http://schemas.microsoft.com/office/drawing/2014/main" id="{9E8FFF52-60CF-4F9D-BDA0-4D3F925F82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5800" y="4221163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0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2180" name="Text Box 47">
                <a:extLst>
                  <a:ext uri="{FF2B5EF4-FFF2-40B4-BE49-F238E27FC236}">
                    <a16:creationId xmlns="" xmlns:a16="http://schemas.microsoft.com/office/drawing/2014/main" id="{BAE1EE8E-D965-461C-B6CF-A883D4F69B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16513" y="3500438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b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57350" name="Text Box 53">
            <a:extLst>
              <a:ext uri="{FF2B5EF4-FFF2-40B4-BE49-F238E27FC236}">
                <a16:creationId xmlns="" xmlns:a16="http://schemas.microsoft.com/office/drawing/2014/main" id="{45AFA1C5-D295-4289-9BFD-132BD6240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246563"/>
            <a:ext cx="187325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a, b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均无余</a:t>
            </a:r>
            <a:endParaRPr lang="zh-CN" altLang="en-US" sz="2800" baseline="-25000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57351" name="Text Box 54">
            <a:extLst>
              <a:ext uri="{FF2B5EF4-FFF2-40B4-BE49-F238E27FC236}">
                <a16:creationId xmlns="" xmlns:a16="http://schemas.microsoft.com/office/drawing/2014/main" id="{FCF2A0B8-9731-48A2-803A-880E8A63F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4221163"/>
            <a:ext cx="2160587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a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有唯一余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b</a:t>
            </a:r>
            <a:endParaRPr lang="en-US" altLang="zh-CN" sz="2800" baseline="-25000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57352" name="Text Box 55">
            <a:extLst>
              <a:ext uri="{FF2B5EF4-FFF2-40B4-BE49-F238E27FC236}">
                <a16:creationId xmlns="" xmlns:a16="http://schemas.microsoft.com/office/drawing/2014/main" id="{687F4527-74C6-4A89-95C0-2C4383C9B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48150"/>
            <a:ext cx="237648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c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有两个余</a:t>
            </a:r>
            <a:r>
              <a:rPr lang="en-US" altLang="zh-CN" sz="280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a,b</a:t>
            </a:r>
            <a:endParaRPr lang="en-US" altLang="zh-CN" sz="2800" baseline="-25000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55704" name="Rectangle 56">
            <a:extLst>
              <a:ext uri="{FF2B5EF4-FFF2-40B4-BE49-F238E27FC236}">
                <a16:creationId xmlns="" xmlns:a16="http://schemas.microsoft.com/office/drawing/2014/main" id="{BA0E1C17-E3D6-47AE-A44D-D38449C5D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0" y="4522788"/>
            <a:ext cx="90360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7188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Clr>
                <a:srgbClr val="0000FF"/>
              </a:buClr>
            </a:pPr>
            <a:endParaRPr lang="zh-CN" altLang="en-US" sz="2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2170" name="灯片编号占位符 1">
            <a:extLst>
              <a:ext uri="{FF2B5EF4-FFF2-40B4-BE49-F238E27FC236}">
                <a16:creationId xmlns="" xmlns:a16="http://schemas.microsoft.com/office/drawing/2014/main" id="{8ABC4A0C-C2A3-441E-8833-8BB5A1DF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12F44E9-B74A-494F-8360-3613EA4859B0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8" name="Rectangle 2">
            <a:extLst>
              <a:ext uri="{FF2B5EF4-FFF2-40B4-BE49-F238E27FC236}">
                <a16:creationId xmlns="" xmlns:a16="http://schemas.microsoft.com/office/drawing/2014/main" id="{6F8EBB37-7B1E-4B51-B6D1-CC8FFA4C18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7.4.1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界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92172" name="图片 3">
            <a:extLst>
              <a:ext uri="{FF2B5EF4-FFF2-40B4-BE49-F238E27FC236}">
                <a16:creationId xmlns="" xmlns:a16="http://schemas.microsoft.com/office/drawing/2014/main" id="{84F590E3-F617-4213-BDF0-8446CA6A5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525" y="1754188"/>
            <a:ext cx="2122488" cy="19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73" name="文本框 2">
            <a:extLst>
              <a:ext uri="{FF2B5EF4-FFF2-40B4-BE49-F238E27FC236}">
                <a16:creationId xmlns="" xmlns:a16="http://schemas.microsoft.com/office/drawing/2014/main" id="{255488B8-4106-4FF3-9E70-240BE56A9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4076700"/>
            <a:ext cx="1914525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b1,b2,b3</a:t>
            </a:r>
            <a:r>
              <a:rPr lang="zh-CN" altLang="en-US" dirty="0">
                <a:ea typeface="宋体" panose="02010600030101010101" pitchFamily="2" charset="-122"/>
                <a:cs typeface="Times New Roman" panose="02020603050405020304" pitchFamily="18" charset="0"/>
              </a:rPr>
              <a:t>互为余元素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CD7A0D5F-0068-49F3-BF50-5BADE4CF5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341438"/>
            <a:ext cx="8301038" cy="45720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b="1" kern="1200" dirty="0">
                <a:solidFill>
                  <a:srgbClr val="0000FF"/>
                </a:solidFill>
                <a:ea typeface="宋体" pitchFamily="2" charset="-122"/>
              </a:rPr>
              <a:t>引理</a:t>
            </a:r>
            <a:r>
              <a:rPr lang="en-US" altLang="zh-CN" sz="3200" b="1" kern="1200" dirty="0">
                <a:solidFill>
                  <a:srgbClr val="0000FF"/>
                </a:solidFill>
                <a:ea typeface="宋体" pitchFamily="2" charset="-122"/>
              </a:rPr>
              <a:t>3</a:t>
            </a:r>
            <a:r>
              <a:rPr lang="zh-CN" altLang="en-US" sz="3200" b="1" kern="1200" dirty="0">
                <a:solidFill>
                  <a:srgbClr val="0000FF"/>
                </a:solidFill>
                <a:ea typeface="宋体" pitchFamily="2" charset="-122"/>
              </a:rPr>
              <a:t>：</a:t>
            </a:r>
            <a:r>
              <a:rPr lang="zh-CN" altLang="en-US" sz="3200" kern="1200" dirty="0">
                <a:solidFill>
                  <a:srgbClr val="000000"/>
                </a:solidFill>
                <a:ea typeface="宋体" pitchFamily="2" charset="-122"/>
              </a:rPr>
              <a:t>在有界格（</a:t>
            </a:r>
            <a:r>
              <a:rPr lang="en-US" altLang="zh-CN" sz="3200" kern="1200" dirty="0">
                <a:solidFill>
                  <a:srgbClr val="000000"/>
                </a:solidFill>
                <a:ea typeface="宋体" pitchFamily="2" charset="-122"/>
              </a:rPr>
              <a:t>L,×,⊕, 0, 1)</a:t>
            </a:r>
            <a:r>
              <a:rPr lang="zh-CN" altLang="en-US" sz="3200" kern="1200" dirty="0">
                <a:solidFill>
                  <a:srgbClr val="000000"/>
                </a:solidFill>
                <a:ea typeface="宋体" pitchFamily="2" charset="-122"/>
              </a:rPr>
              <a:t>中，</a:t>
            </a:r>
            <a:r>
              <a:rPr lang="en-US" altLang="zh-CN" sz="3200" kern="1200" dirty="0">
                <a:solidFill>
                  <a:srgbClr val="000000"/>
                </a:solidFill>
                <a:ea typeface="宋体" pitchFamily="2" charset="-122"/>
              </a:rPr>
              <a:t>1</a:t>
            </a:r>
            <a:r>
              <a:rPr lang="zh-CN" altLang="en-US" sz="3200" kern="1200" dirty="0">
                <a:solidFill>
                  <a:srgbClr val="000000"/>
                </a:solidFill>
                <a:ea typeface="宋体" pitchFamily="2" charset="-122"/>
              </a:rPr>
              <a:t>是</a:t>
            </a:r>
            <a:r>
              <a:rPr lang="en-US" altLang="zh-CN" sz="3200" kern="1200" dirty="0">
                <a:solidFill>
                  <a:srgbClr val="000000"/>
                </a:solidFill>
                <a:ea typeface="宋体" pitchFamily="2" charset="-122"/>
              </a:rPr>
              <a:t>0</a:t>
            </a:r>
            <a:r>
              <a:rPr lang="zh-CN" altLang="en-US" sz="3200" kern="1200" dirty="0">
                <a:solidFill>
                  <a:srgbClr val="000000"/>
                </a:solidFill>
                <a:ea typeface="宋体" pitchFamily="2" charset="-122"/>
              </a:rPr>
              <a:t>的</a:t>
            </a:r>
            <a:r>
              <a:rPr lang="zh-CN" altLang="en-US" sz="3200" kern="1200" dirty="0" smtClean="0">
                <a:solidFill>
                  <a:srgbClr val="000000"/>
                </a:solidFill>
                <a:ea typeface="宋体" pitchFamily="2" charset="-122"/>
              </a:rPr>
              <a:t>唯一一 </a:t>
            </a:r>
            <a:r>
              <a:rPr lang="zh-CN" altLang="en-US" sz="3200" kern="1200" dirty="0">
                <a:solidFill>
                  <a:srgbClr val="000000"/>
                </a:solidFill>
                <a:ea typeface="宋体" pitchFamily="2" charset="-122"/>
              </a:rPr>
              <a:t>个余元素，反之亦然。</a:t>
            </a:r>
          </a:p>
          <a:p>
            <a:pPr>
              <a:lnSpc>
                <a:spcPct val="120000"/>
              </a:lnSpc>
              <a:defRPr/>
            </a:pPr>
            <a:endParaRPr lang="zh-CN" altLang="en-US" sz="3200" dirty="0"/>
          </a:p>
        </p:txBody>
      </p:sp>
      <p:sp>
        <p:nvSpPr>
          <p:cNvPr id="93187" name="灯片编号占位符 1">
            <a:extLst>
              <a:ext uri="{FF2B5EF4-FFF2-40B4-BE49-F238E27FC236}">
                <a16:creationId xmlns="" xmlns:a16="http://schemas.microsoft.com/office/drawing/2014/main" id="{EB2D567C-64D6-4BC2-8905-C73831DB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2C3C143-F861-43EB-9D99-EA7B52F9DC38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C700993B-03BB-45E3-B149-922F19A2EB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7.4.1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界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3">
            <a:extLst>
              <a:ext uri="{FF2B5EF4-FFF2-40B4-BE49-F238E27FC236}">
                <a16:creationId xmlns="" xmlns:a16="http://schemas.microsoft.com/office/drawing/2014/main" id="{29B17F66-C6C2-43CB-A31E-8E3266924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284288"/>
            <a:ext cx="8400231" cy="5516562"/>
          </a:xfrm>
        </p:spPr>
        <p:txBody>
          <a:bodyPr/>
          <a:lstStyle/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7.4.3:</a:t>
            </a:r>
            <a:r>
              <a:rPr lang="en-US" altLang="zh-CN" sz="3000" b="1" dirty="0">
                <a:ea typeface="宋体" panose="02010600030101010101" pitchFamily="2" charset="-122"/>
              </a:rPr>
              <a:t> </a:t>
            </a:r>
            <a:r>
              <a:rPr lang="zh-CN" altLang="en-US" sz="3000" dirty="0">
                <a:ea typeface="宋体" panose="02010600030101010101" pitchFamily="2" charset="-122"/>
              </a:rPr>
              <a:t>称有界格</a:t>
            </a:r>
            <a:r>
              <a:rPr lang="en-US" altLang="zh-CN" sz="3000" dirty="0">
                <a:ea typeface="宋体" panose="02010600030101010101" pitchFamily="2" charset="-122"/>
              </a:rPr>
              <a:t>(L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</a:rPr>
              <a:t>×</a:t>
            </a:r>
            <a:r>
              <a:rPr lang="zh-CN" altLang="en-US" sz="3000" dirty="0">
                <a:ea typeface="宋体" panose="02010600030101010101" pitchFamily="2" charset="-122"/>
              </a:rPr>
              <a:t>，⊕，</a:t>
            </a:r>
            <a:r>
              <a:rPr lang="en-US" altLang="zh-CN" sz="3000" dirty="0">
                <a:ea typeface="宋体" panose="02010600030101010101" pitchFamily="2" charset="-122"/>
              </a:rPr>
              <a:t>0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</a:rPr>
              <a:t>1)</a:t>
            </a:r>
            <a:r>
              <a:rPr lang="zh-CN" altLang="en-US" sz="3000" dirty="0">
                <a:ea typeface="宋体" panose="02010600030101010101" pitchFamily="2" charset="-122"/>
              </a:rPr>
              <a:t>是一个有余格如果对</a:t>
            </a:r>
            <a:r>
              <a:rPr lang="en-US" altLang="zh-CN" sz="3000" dirty="0">
                <a:ea typeface="宋体" panose="02010600030101010101" pitchFamily="2" charset="-122"/>
              </a:rPr>
              <a:t>L</a:t>
            </a:r>
            <a:r>
              <a:rPr lang="zh-CN" altLang="en-US" sz="3000" dirty="0">
                <a:ea typeface="宋体" panose="02010600030101010101" pitchFamily="2" charset="-122"/>
              </a:rPr>
              <a:t>中每一个元素，都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</a:rPr>
              <a:t>至少</a:t>
            </a:r>
            <a:r>
              <a:rPr lang="zh-CN" altLang="en-US" sz="3000" dirty="0">
                <a:ea typeface="宋体" panose="02010600030101010101" pitchFamily="2" charset="-122"/>
              </a:rPr>
              <a:t>有一个余元素。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Clr>
                <a:srgbClr val="0000FF"/>
              </a:buClr>
              <a:buNone/>
            </a:pP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800" b="1" dirty="0">
              <a:ea typeface="宋体" panose="02010600030101010101" pitchFamily="2" charset="-122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lang="zh-CN" altLang="en-US" b="1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b="1" dirty="0"/>
          </a:p>
        </p:txBody>
      </p:sp>
      <p:grpSp>
        <p:nvGrpSpPr>
          <p:cNvPr id="94211" name="组合 42">
            <a:extLst>
              <a:ext uri="{FF2B5EF4-FFF2-40B4-BE49-F238E27FC236}">
                <a16:creationId xmlns="" xmlns:a16="http://schemas.microsoft.com/office/drawing/2014/main" id="{5892DDC7-D726-4E22-B48E-7B2610E680EB}"/>
              </a:ext>
            </a:extLst>
          </p:cNvPr>
          <p:cNvGrpSpPr>
            <a:grpSpLocks/>
          </p:cNvGrpSpPr>
          <p:nvPr/>
        </p:nvGrpSpPr>
        <p:grpSpPr bwMode="auto">
          <a:xfrm>
            <a:off x="1824038" y="3636963"/>
            <a:ext cx="1441450" cy="1993900"/>
            <a:chOff x="2884488" y="2708920"/>
            <a:chExt cx="1441450" cy="1993900"/>
          </a:xfrm>
        </p:grpSpPr>
        <p:sp>
          <p:nvSpPr>
            <p:cNvPr id="94228" name="Text Box 40">
              <a:extLst>
                <a:ext uri="{FF2B5EF4-FFF2-40B4-BE49-F238E27FC236}">
                  <a16:creationId xmlns="" xmlns:a16="http://schemas.microsoft.com/office/drawing/2014/main" id="{3AFBEBC2-9D01-408B-AC59-5CB4E2CA85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388" y="34036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b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grpSp>
          <p:nvGrpSpPr>
            <p:cNvPr id="94229" name="组合 41">
              <a:extLst>
                <a:ext uri="{FF2B5EF4-FFF2-40B4-BE49-F238E27FC236}">
                  <a16:creationId xmlns="" xmlns:a16="http://schemas.microsoft.com/office/drawing/2014/main" id="{826BD351-FA1C-44A5-9EC5-FCD8FADC36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4488" y="2708920"/>
              <a:ext cx="1122362" cy="1993900"/>
              <a:chOff x="2884488" y="2611438"/>
              <a:chExt cx="1122362" cy="1993900"/>
            </a:xfrm>
          </p:grpSpPr>
          <p:grpSp>
            <p:nvGrpSpPr>
              <p:cNvPr id="94230" name="Group 5">
                <a:extLst>
                  <a:ext uri="{FF2B5EF4-FFF2-40B4-BE49-F238E27FC236}">
                    <a16:creationId xmlns="" xmlns:a16="http://schemas.microsoft.com/office/drawing/2014/main" id="{BDC85CB2-D0B5-4A0B-ACA8-48158ABFA0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44850" y="3081338"/>
                <a:ext cx="762000" cy="1066800"/>
                <a:chOff x="960" y="1344"/>
                <a:chExt cx="480" cy="672"/>
              </a:xfrm>
            </p:grpSpPr>
            <p:grpSp>
              <p:nvGrpSpPr>
                <p:cNvPr id="94234" name="Group 6">
                  <a:extLst>
                    <a:ext uri="{FF2B5EF4-FFF2-40B4-BE49-F238E27FC236}">
                      <a16:creationId xmlns="" xmlns:a16="http://schemas.microsoft.com/office/drawing/2014/main" id="{567DC05A-940D-4090-8BFB-BCC383C6FA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0" y="1344"/>
                  <a:ext cx="480" cy="672"/>
                  <a:chOff x="960" y="1344"/>
                  <a:chExt cx="480" cy="672"/>
                </a:xfrm>
              </p:grpSpPr>
              <p:sp>
                <p:nvSpPr>
                  <p:cNvPr id="94236" name="Line 7">
                    <a:extLst>
                      <a:ext uri="{FF2B5EF4-FFF2-40B4-BE49-F238E27FC236}">
                        <a16:creationId xmlns="" xmlns:a16="http://schemas.microsoft.com/office/drawing/2014/main" id="{E691EDB1-807F-4224-9A2A-710E493AAD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00" y="1344"/>
                    <a:ext cx="240" cy="28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4237" name="Line 8">
                    <a:extLst>
                      <a:ext uri="{FF2B5EF4-FFF2-40B4-BE49-F238E27FC236}">
                        <a16:creationId xmlns="" xmlns:a16="http://schemas.microsoft.com/office/drawing/2014/main" id="{A343C508-F144-443B-BE9F-654EC490202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60" y="1344"/>
                    <a:ext cx="240" cy="24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4238" name="Line 9">
                    <a:extLst>
                      <a:ext uri="{FF2B5EF4-FFF2-40B4-BE49-F238E27FC236}">
                        <a16:creationId xmlns="" xmlns:a16="http://schemas.microsoft.com/office/drawing/2014/main" id="{C90674CF-3484-40F9-BAA7-78F2883187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60" y="1584"/>
                    <a:ext cx="19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4235" name="Line 10">
                  <a:extLst>
                    <a:ext uri="{FF2B5EF4-FFF2-40B4-BE49-F238E27FC236}">
                      <a16:creationId xmlns="" xmlns:a16="http://schemas.microsoft.com/office/drawing/2014/main" id="{DC87976F-C8BB-4AA0-B54D-75A6D7A3E3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2" y="1632"/>
                  <a:ext cx="288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94231" name="Text Box 39">
                <a:extLst>
                  <a:ext uri="{FF2B5EF4-FFF2-40B4-BE49-F238E27FC236}">
                    <a16:creationId xmlns="" xmlns:a16="http://schemas.microsoft.com/office/drawing/2014/main" id="{DD0A498D-A8D1-4FB3-BB3B-10123D3CB6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4488" y="3352800"/>
                <a:ext cx="319087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a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4232" name="Text Box 41">
                <a:extLst>
                  <a:ext uri="{FF2B5EF4-FFF2-40B4-BE49-F238E27FC236}">
                    <a16:creationId xmlns="" xmlns:a16="http://schemas.microsoft.com/office/drawing/2014/main" id="{733F9D8E-8D29-4334-A11F-D7EA44EA65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19475" y="2611438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1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4233" name="Text Box 42">
                <a:extLst>
                  <a:ext uri="{FF2B5EF4-FFF2-40B4-BE49-F238E27FC236}">
                    <a16:creationId xmlns="" xmlns:a16="http://schemas.microsoft.com/office/drawing/2014/main" id="{A8E09C32-7278-4680-82C0-2C8DD9BA2C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9313" y="4148138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0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94212" name="组合 44">
            <a:extLst>
              <a:ext uri="{FF2B5EF4-FFF2-40B4-BE49-F238E27FC236}">
                <a16:creationId xmlns="" xmlns:a16="http://schemas.microsoft.com/office/drawing/2014/main" id="{899B051A-A16A-4A01-AF50-DEE3E2C2C5EC}"/>
              </a:ext>
            </a:extLst>
          </p:cNvPr>
          <p:cNvGrpSpPr>
            <a:grpSpLocks/>
          </p:cNvGrpSpPr>
          <p:nvPr/>
        </p:nvGrpSpPr>
        <p:grpSpPr bwMode="auto">
          <a:xfrm>
            <a:off x="4208463" y="3513138"/>
            <a:ext cx="1711325" cy="2187575"/>
            <a:chOff x="5116513" y="2395140"/>
            <a:chExt cx="1711325" cy="2185988"/>
          </a:xfrm>
        </p:grpSpPr>
        <p:sp>
          <p:nvSpPr>
            <p:cNvPr id="94216" name="Text Box 43">
              <a:extLst>
                <a:ext uri="{FF2B5EF4-FFF2-40B4-BE49-F238E27FC236}">
                  <a16:creationId xmlns="" xmlns:a16="http://schemas.microsoft.com/office/drawing/2014/main" id="{40EBE07C-5BFE-48B0-AEBF-CDC25A0C5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7788" y="2852738"/>
              <a:ext cx="3190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a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grpSp>
          <p:nvGrpSpPr>
            <p:cNvPr id="94217" name="组合 43">
              <a:extLst>
                <a:ext uri="{FF2B5EF4-FFF2-40B4-BE49-F238E27FC236}">
                  <a16:creationId xmlns="" xmlns:a16="http://schemas.microsoft.com/office/drawing/2014/main" id="{5FCE4DD1-D76F-4CD7-8658-196BA83D8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6513" y="2395140"/>
              <a:ext cx="1711325" cy="2185988"/>
              <a:chOff x="5116513" y="2492375"/>
              <a:chExt cx="1711325" cy="2185988"/>
            </a:xfrm>
          </p:grpSpPr>
          <p:grpSp>
            <p:nvGrpSpPr>
              <p:cNvPr id="94218" name="Group 20">
                <a:extLst>
                  <a:ext uri="{FF2B5EF4-FFF2-40B4-BE49-F238E27FC236}">
                    <a16:creationId xmlns="" xmlns:a16="http://schemas.microsoft.com/office/drawing/2014/main" id="{454E29B3-42C6-474E-8A77-FF19502246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6875" y="2925688"/>
                <a:ext cx="1066800" cy="1295400"/>
                <a:chOff x="2832" y="1392"/>
                <a:chExt cx="672" cy="816"/>
              </a:xfrm>
            </p:grpSpPr>
            <p:sp>
              <p:nvSpPr>
                <p:cNvPr id="94223" name="Line 21">
                  <a:extLst>
                    <a:ext uri="{FF2B5EF4-FFF2-40B4-BE49-F238E27FC236}">
                      <a16:creationId xmlns="" xmlns:a16="http://schemas.microsoft.com/office/drawing/2014/main" id="{10942A33-85DF-4A73-BBBE-A559F64A29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1392"/>
                  <a:ext cx="288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4224" name="Line 22">
                  <a:extLst>
                    <a:ext uri="{FF2B5EF4-FFF2-40B4-BE49-F238E27FC236}">
                      <a16:creationId xmlns="" xmlns:a16="http://schemas.microsoft.com/office/drawing/2014/main" id="{4F586986-2767-4F94-AB78-17BE61A89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832" y="1392"/>
                  <a:ext cx="384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4225" name="Line 23">
                  <a:extLst>
                    <a:ext uri="{FF2B5EF4-FFF2-40B4-BE49-F238E27FC236}">
                      <a16:creationId xmlns="" xmlns:a16="http://schemas.microsoft.com/office/drawing/2014/main" id="{0840EC59-3258-4268-91DE-333DF32A54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1536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4226" name="Line 24">
                  <a:extLst>
                    <a:ext uri="{FF2B5EF4-FFF2-40B4-BE49-F238E27FC236}">
                      <a16:creationId xmlns="" xmlns:a16="http://schemas.microsoft.com/office/drawing/2014/main" id="{519261A6-02BE-4908-BF59-E2456ABD5A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1872"/>
                  <a:ext cx="28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4227" name="Line 25">
                  <a:extLst>
                    <a:ext uri="{FF2B5EF4-FFF2-40B4-BE49-F238E27FC236}">
                      <a16:creationId xmlns="" xmlns:a16="http://schemas.microsoft.com/office/drawing/2014/main" id="{7BCBF120-A3CC-4505-A735-03E62A46FA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20" y="1680"/>
                  <a:ext cx="384" cy="5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94219" name="Text Box 44">
                <a:extLst>
                  <a:ext uri="{FF2B5EF4-FFF2-40B4-BE49-F238E27FC236}">
                    <a16:creationId xmlns="" xmlns:a16="http://schemas.microsoft.com/office/drawing/2014/main" id="{1880E420-7887-40BA-8BC7-0D4F7FABC7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8750" y="3140075"/>
                <a:ext cx="319088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c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4220" name="Text Box 45">
                <a:extLst>
                  <a:ext uri="{FF2B5EF4-FFF2-40B4-BE49-F238E27FC236}">
                    <a16:creationId xmlns="" xmlns:a16="http://schemas.microsoft.com/office/drawing/2014/main" id="{6BF58106-ED10-42E6-B00B-DBB20E66F0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8838" y="2492375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1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4221" name="Text Box 46">
                <a:extLst>
                  <a:ext uri="{FF2B5EF4-FFF2-40B4-BE49-F238E27FC236}">
                    <a16:creationId xmlns="" xmlns:a16="http://schemas.microsoft.com/office/drawing/2014/main" id="{6E43F82F-1D5E-4CA7-B2C5-21171C42BD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5800" y="4221163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0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4222" name="Text Box 47">
                <a:extLst>
                  <a:ext uri="{FF2B5EF4-FFF2-40B4-BE49-F238E27FC236}">
                    <a16:creationId xmlns="" xmlns:a16="http://schemas.microsoft.com/office/drawing/2014/main" id="{F0203300-035F-414D-B5B4-F0394AB899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16513" y="3500438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b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94213" name="灯片编号占位符 1">
            <a:extLst>
              <a:ext uri="{FF2B5EF4-FFF2-40B4-BE49-F238E27FC236}">
                <a16:creationId xmlns="" xmlns:a16="http://schemas.microsoft.com/office/drawing/2014/main" id="{9DC503F5-3ADB-4603-A8AF-B4281C14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D6412FE-274C-42B9-BE06-6FB987695DCA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="" xmlns:a16="http://schemas.microsoft.com/office/drawing/2014/main" id="{064ACD73-1A3A-40D3-961F-E69938397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7.4.2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余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94215" name="图片 3">
            <a:extLst>
              <a:ext uri="{FF2B5EF4-FFF2-40B4-BE49-F238E27FC236}">
                <a16:creationId xmlns="" xmlns:a16="http://schemas.microsoft.com/office/drawing/2014/main" id="{7B372BD8-1ABC-406C-A78B-FDDB765B8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3567113"/>
            <a:ext cx="2122488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C3083A49-BDB1-464A-888A-0827D8153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个元素的集合，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的幂集合，于是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,(ρ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），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有余格。其中，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是此格的界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任意元素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S-A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是其余元素。</a:t>
            </a:r>
          </a:p>
          <a:p>
            <a:pPr marL="0" indent="0" algn="just">
              <a:buClr>
                <a:srgbClr val="000000"/>
              </a:buClr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00"/>
              </a:solidFill>
            </a:endParaRPr>
          </a:p>
          <a:p>
            <a:pPr>
              <a:defRPr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0C398A85-F13B-4042-8EF3-C29366C46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124744"/>
            <a:ext cx="6499225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6" name="灯片编号占位符 1">
            <a:extLst>
              <a:ext uri="{FF2B5EF4-FFF2-40B4-BE49-F238E27FC236}">
                <a16:creationId xmlns="" xmlns:a16="http://schemas.microsoft.com/office/drawing/2014/main" id="{EE35C0CC-6F23-41EF-A810-62F731C5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3A1CAC-916B-47DA-B38F-C26C527D72FE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7067B914-EF6F-4288-AC76-81AB8364C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7.4.2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余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内容占位符 2">
            <a:extLst>
              <a:ext uri="{FF2B5EF4-FFF2-40B4-BE49-F238E27FC236}">
                <a16:creationId xmlns="" xmlns:a16="http://schemas.microsoft.com/office/drawing/2014/main" id="{F5C28B6C-C4E0-4461-97B6-A4323678F5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n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维格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是一个有余格，其中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1), 0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是界。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是其 余元素，其中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en-US" sz="3000" dirty="0">
              <a:ea typeface="宋体" panose="02010600030101010101" pitchFamily="2" charset="-122"/>
            </a:endParaRPr>
          </a:p>
        </p:txBody>
      </p:sp>
      <p:graphicFrame>
        <p:nvGraphicFramePr>
          <p:cNvPr id="96259" name="Object 2">
            <a:extLst>
              <a:ext uri="{FF2B5EF4-FFF2-40B4-BE49-F238E27FC236}">
                <a16:creationId xmlns="" xmlns:a16="http://schemas.microsoft.com/office/drawing/2014/main" id="{E4A55E90-A92B-4D58-8DBC-6FF03D621C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7538" y="4076700"/>
          <a:ext cx="37909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24" name="公式" r:id="rId3" imgW="1586811" imgH="482391" progId="Equation.3">
                  <p:embed/>
                </p:oleObj>
              </mc:Choice>
              <mc:Fallback>
                <p:oleObj name="公式" r:id="rId3" imgW="1586811" imgH="48239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4076700"/>
                        <a:ext cx="3790950" cy="11525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0" name="灯片编号占位符 1">
            <a:extLst>
              <a:ext uri="{FF2B5EF4-FFF2-40B4-BE49-F238E27FC236}">
                <a16:creationId xmlns="" xmlns:a16="http://schemas.microsoft.com/office/drawing/2014/main" id="{A513652C-067C-48FE-892D-6D468F595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3508D1-3963-4A06-A4E1-4672D6087E2C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14119E54-8848-422B-BEF3-BCCA433FD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7.4.2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余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Rectangle 3">
            <a:extLst>
              <a:ext uri="{FF2B5EF4-FFF2-40B4-BE49-F238E27FC236}">
                <a16:creationId xmlns="" xmlns:a16="http://schemas.microsoft.com/office/drawing/2014/main" id="{F50764BF-B05E-44DA-909C-E1D01F657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8424863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5738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just" eaLnBrk="1" latinLnBrk="0" hangingPunct="1"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7.4.4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称为分配格，如果对任意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latinLnBrk="0" hangingPunct="1"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c∈L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，恒有</a:t>
            </a:r>
          </a:p>
          <a:p>
            <a:pPr algn="ctr" eaLnBrk="1" latinLnBrk="0" hangingPunct="1"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)⊕(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algn="ctr" eaLnBrk="1" latinLnBrk="0" hangingPunct="1"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)×(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algn="ctr" eaLnBrk="1" latinLnBrk="0" hangingPunct="1"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latinLnBrk="0" hangingPunct="1">
              <a:lnSpc>
                <a:spcPct val="120000"/>
              </a:lnSpc>
              <a:buClr>
                <a:srgbClr val="3333CC"/>
              </a:buClr>
              <a:buSzPct val="80000"/>
              <a:buFontTx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维格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≤</a:t>
            </a:r>
            <a:r>
              <a:rPr lang="en-US" altLang="zh-CN" sz="30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，格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(ρ(S),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D)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D)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都是分配格。 </a:t>
            </a:r>
          </a:p>
          <a:p>
            <a:pPr eaLnBrk="1" latinLnBrk="0" hangingPunct="1">
              <a:lnSpc>
                <a:spcPct val="120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7283" name="灯片编号占位符 1">
            <a:extLst>
              <a:ext uri="{FF2B5EF4-FFF2-40B4-BE49-F238E27FC236}">
                <a16:creationId xmlns="" xmlns:a16="http://schemas.microsoft.com/office/drawing/2014/main" id="{9144D68B-78FD-489B-BE2D-0E0EEFCB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F4FC03B-109F-4F12-B077-68B153890767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55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8D62E42D-DEF9-43D0-963D-4C5AA168D132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9" name="Rectangle 3">
            <a:extLst>
              <a:ext uri="{FF2B5EF4-FFF2-40B4-BE49-F238E27FC236}">
                <a16:creationId xmlns="" xmlns:a16="http://schemas.microsoft.com/office/drawing/2014/main" id="{FB4CB698-53C0-4B89-8CFD-C0DA5A1CB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" y="1196752"/>
            <a:ext cx="8064500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85738" eaLnBrk="1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Note: </a:t>
            </a:r>
          </a:p>
          <a:p>
            <a:pPr marL="185738" eaLnBrk="1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(1)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分配格定义中的两个等式是等价的</a:t>
            </a:r>
          </a:p>
          <a:p>
            <a:pPr marL="185738" eaLnBrk="1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由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⊕(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), 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得</a:t>
            </a:r>
            <a:endParaRPr lang="en-US" altLang="zh-CN" sz="3200" dirty="0">
              <a:solidFill>
                <a:srgbClr val="00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185738" eaLnBrk="1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)×(</a:t>
            </a:r>
            <a:r>
              <a:rPr lang="en-US" altLang="zh-CN" sz="3200" dirty="0" err="1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＝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)×a)⊕((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)×c)</a:t>
            </a:r>
            <a:b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</a:b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＝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a⊕((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)⊕(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))</a:t>
            </a:r>
            <a:b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</a:b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＝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(a⊕ 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))⊕(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</a:t>
            </a:r>
            <a:b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</a:br>
            <a:r>
              <a:rPr lang="zh-CN" altLang="en-US" sz="3200" dirty="0">
                <a:solidFill>
                  <a:srgbClr val="3333CC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＝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a⊕(</a:t>
            </a:r>
            <a:r>
              <a:rPr lang="en-US" altLang="zh-CN" sz="3200" dirty="0" err="1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(2)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但不是所有的格都是分配格 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(3) 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分配格的任意</a:t>
            </a:r>
            <a: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子格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仍是分配格。</a:t>
            </a:r>
            <a:endParaRPr lang="en-US" altLang="zh-CN" sz="3200" dirty="0">
              <a:solidFill>
                <a:srgbClr val="00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endParaRPr lang="en-US" altLang="zh-CN" sz="3200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99331" name="灯片编号占位符 1">
            <a:extLst>
              <a:ext uri="{FF2B5EF4-FFF2-40B4-BE49-F238E27FC236}">
                <a16:creationId xmlns="" xmlns:a16="http://schemas.microsoft.com/office/drawing/2014/main" id="{D4A01EEB-C4CE-4939-9993-E5D7B4E6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6333ACE-42ED-4E3F-9AA5-03D0C4F68947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77B97C09-8D47-4693-BE97-AA0BFC5FBBC9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>
            <a:extLst>
              <a:ext uri="{FF2B5EF4-FFF2-40B4-BE49-F238E27FC236}">
                <a16:creationId xmlns="" xmlns:a16="http://schemas.microsoft.com/office/drawing/2014/main" id="{7B994531-B321-442E-BD04-3C2B64C02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3217863"/>
            <a:ext cx="8483352" cy="32353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图中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是分配格，但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 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不是。因为在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(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cd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be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=b,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(b c)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(b d)=a a=a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(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bc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d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=d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(d b)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(d c)=a c=c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称为钻石格，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称为五角格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是分配格当且仅当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既不含有与五角格同构的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子格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   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也不含有与钻石格同构的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子格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8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00355" name="组合 4">
            <a:extLst>
              <a:ext uri="{FF2B5EF4-FFF2-40B4-BE49-F238E27FC236}">
                <a16:creationId xmlns="" xmlns:a16="http://schemas.microsoft.com/office/drawing/2014/main" id="{65BA24DB-B369-4A2A-974E-53C1DD3A16DE}"/>
              </a:ext>
            </a:extLst>
          </p:cNvPr>
          <p:cNvGrpSpPr>
            <a:grpSpLocks/>
          </p:cNvGrpSpPr>
          <p:nvPr/>
        </p:nvGrpSpPr>
        <p:grpSpPr bwMode="auto">
          <a:xfrm>
            <a:off x="560388" y="547688"/>
            <a:ext cx="6664325" cy="2087562"/>
            <a:chOff x="593726" y="955328"/>
            <a:chExt cx="6664324" cy="2255838"/>
          </a:xfrm>
        </p:grpSpPr>
        <p:sp>
          <p:nvSpPr>
            <p:cNvPr id="100362" name="Rectangle 49">
              <a:extLst>
                <a:ext uri="{FF2B5EF4-FFF2-40B4-BE49-F238E27FC236}">
                  <a16:creationId xmlns="" xmlns:a16="http://schemas.microsoft.com/office/drawing/2014/main" id="{7EE2A501-5A7F-4996-9389-3971C70CC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063" y="2060575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00363" name="Rectangle 50">
              <a:extLst>
                <a:ext uri="{FF2B5EF4-FFF2-40B4-BE49-F238E27FC236}">
                  <a16:creationId xmlns="" xmlns:a16="http://schemas.microsoft.com/office/drawing/2014/main" id="{E0BC071F-0C06-4A7A-9128-2647E9184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7050" y="1603375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00364" name="Rectangle 51">
              <a:extLst>
                <a:ext uri="{FF2B5EF4-FFF2-40B4-BE49-F238E27FC236}">
                  <a16:creationId xmlns="" xmlns:a16="http://schemas.microsoft.com/office/drawing/2014/main" id="{B5C370E7-377D-4DA3-A209-BB1DE74E1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888" y="2708275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00365" name="Rectangle 52">
              <a:extLst>
                <a:ext uri="{FF2B5EF4-FFF2-40B4-BE49-F238E27FC236}">
                  <a16:creationId xmlns="" xmlns:a16="http://schemas.microsoft.com/office/drawing/2014/main" id="{81C4BBC2-161B-4CF9-81BC-7CB57F39E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1341438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grpSp>
          <p:nvGrpSpPr>
            <p:cNvPr id="100366" name="组合 3">
              <a:extLst>
                <a:ext uri="{FF2B5EF4-FFF2-40B4-BE49-F238E27FC236}">
                  <a16:creationId xmlns="" xmlns:a16="http://schemas.microsoft.com/office/drawing/2014/main" id="{92750343-DAFB-403F-8C64-6147C540C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726" y="955328"/>
              <a:ext cx="6323012" cy="2255838"/>
              <a:chOff x="593726" y="1005946"/>
              <a:chExt cx="6323012" cy="2255838"/>
            </a:xfrm>
          </p:grpSpPr>
          <p:sp>
            <p:nvSpPr>
              <p:cNvPr id="100368" name="Rectangle 41">
                <a:extLst>
                  <a:ext uri="{FF2B5EF4-FFF2-40B4-BE49-F238E27FC236}">
                    <a16:creationId xmlns="" xmlns:a16="http://schemas.microsoft.com/office/drawing/2014/main" id="{C288B472-B8BC-4F3A-89BA-4F9D2F5E4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6551" y="1773238"/>
                <a:ext cx="3810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00369" name="Rectangle 42">
                <a:extLst>
                  <a:ext uri="{FF2B5EF4-FFF2-40B4-BE49-F238E27FC236}">
                    <a16:creationId xmlns="" xmlns:a16="http://schemas.microsoft.com/office/drawing/2014/main" id="{1C4C322D-A20F-4EB5-9DCE-DA1505637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3388" y="1628775"/>
                <a:ext cx="3810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00370" name="Rectangle 43">
                <a:extLst>
                  <a:ext uri="{FF2B5EF4-FFF2-40B4-BE49-F238E27FC236}">
                    <a16:creationId xmlns="" xmlns:a16="http://schemas.microsoft.com/office/drawing/2014/main" id="{077DCBC2-1F61-408B-A950-C7E2626E1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7413" y="2565400"/>
                <a:ext cx="3810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00371" name="Rectangle 44">
                <a:extLst>
                  <a:ext uri="{FF2B5EF4-FFF2-40B4-BE49-F238E27FC236}">
                    <a16:creationId xmlns="" xmlns:a16="http://schemas.microsoft.com/office/drawing/2014/main" id="{63DE6EFD-A921-472F-B168-53DB98AFE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1876" y="1100138"/>
                <a:ext cx="3810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d</a:t>
                </a:r>
              </a:p>
            </p:txBody>
          </p:sp>
          <p:grpSp>
            <p:nvGrpSpPr>
              <p:cNvPr id="100372" name="组合 1">
                <a:extLst>
                  <a:ext uri="{FF2B5EF4-FFF2-40B4-BE49-F238E27FC236}">
                    <a16:creationId xmlns="" xmlns:a16="http://schemas.microsoft.com/office/drawing/2014/main" id="{C74B7025-7F83-4311-832C-A418892C57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3726" y="1005946"/>
                <a:ext cx="6323012" cy="2255838"/>
                <a:chOff x="611188" y="981075"/>
                <a:chExt cx="6323012" cy="2255838"/>
              </a:xfrm>
            </p:grpSpPr>
            <p:grpSp>
              <p:nvGrpSpPr>
                <p:cNvPr id="100373" name="Group 9">
                  <a:extLst>
                    <a:ext uri="{FF2B5EF4-FFF2-40B4-BE49-F238E27FC236}">
                      <a16:creationId xmlns="" xmlns:a16="http://schemas.microsoft.com/office/drawing/2014/main" id="{90600A4B-9D11-4FFA-AF34-17F9727EF0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57400" y="1600200"/>
                  <a:ext cx="762000" cy="1066800"/>
                  <a:chOff x="960" y="1344"/>
                  <a:chExt cx="480" cy="672"/>
                </a:xfrm>
              </p:grpSpPr>
              <p:grpSp>
                <p:nvGrpSpPr>
                  <p:cNvPr id="100404" name="Group 10">
                    <a:extLst>
                      <a:ext uri="{FF2B5EF4-FFF2-40B4-BE49-F238E27FC236}">
                        <a16:creationId xmlns="" xmlns:a16="http://schemas.microsoft.com/office/drawing/2014/main" id="{C963E8FA-0FDF-40EA-A437-B4204332D56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60" y="1344"/>
                    <a:ext cx="480" cy="672"/>
                    <a:chOff x="960" y="1344"/>
                    <a:chExt cx="480" cy="672"/>
                  </a:xfrm>
                </p:grpSpPr>
                <p:sp>
                  <p:nvSpPr>
                    <p:cNvPr id="100406" name="Line 11">
                      <a:extLst>
                        <a:ext uri="{FF2B5EF4-FFF2-40B4-BE49-F238E27FC236}">
                          <a16:creationId xmlns="" xmlns:a16="http://schemas.microsoft.com/office/drawing/2014/main" id="{C22A3A26-9C51-48B8-9565-457E63270D1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00" y="1344"/>
                      <a:ext cx="240" cy="28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0407" name="Line 12">
                      <a:extLst>
                        <a:ext uri="{FF2B5EF4-FFF2-40B4-BE49-F238E27FC236}">
                          <a16:creationId xmlns="" xmlns:a16="http://schemas.microsoft.com/office/drawing/2014/main" id="{B817914A-878F-40B5-B24B-01BA395AF5F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960" y="1344"/>
                      <a:ext cx="240" cy="24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0408" name="Line 13">
                      <a:extLst>
                        <a:ext uri="{FF2B5EF4-FFF2-40B4-BE49-F238E27FC236}">
                          <a16:creationId xmlns="" xmlns:a16="http://schemas.microsoft.com/office/drawing/2014/main" id="{B2C8BF1B-16C2-4C6A-AB97-D8C982D4B5D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1584"/>
                      <a:ext cx="192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00405" name="Line 14">
                    <a:extLst>
                      <a:ext uri="{FF2B5EF4-FFF2-40B4-BE49-F238E27FC236}">
                        <a16:creationId xmlns="" xmlns:a16="http://schemas.microsoft.com/office/drawing/2014/main" id="{79CE3E94-E74E-45B9-B4E7-96E64AA890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52" y="1632"/>
                    <a:ext cx="288" cy="38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0374" name="Group 24">
                  <a:extLst>
                    <a:ext uri="{FF2B5EF4-FFF2-40B4-BE49-F238E27FC236}">
                      <a16:creationId xmlns="" xmlns:a16="http://schemas.microsoft.com/office/drawing/2014/main" id="{A0188C80-6463-4D5E-AB51-91CD81EF027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867400" y="1447800"/>
                  <a:ext cx="1066800" cy="1295400"/>
                  <a:chOff x="2832" y="1392"/>
                  <a:chExt cx="672" cy="816"/>
                </a:xfrm>
              </p:grpSpPr>
              <p:sp>
                <p:nvSpPr>
                  <p:cNvPr id="100399" name="Line 25">
                    <a:extLst>
                      <a:ext uri="{FF2B5EF4-FFF2-40B4-BE49-F238E27FC236}">
                        <a16:creationId xmlns="" xmlns:a16="http://schemas.microsoft.com/office/drawing/2014/main" id="{0D50ED96-517E-49B3-8EFD-0C67E5F337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16" y="1392"/>
                    <a:ext cx="288" cy="28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400" name="Line 26">
                    <a:extLst>
                      <a:ext uri="{FF2B5EF4-FFF2-40B4-BE49-F238E27FC236}">
                        <a16:creationId xmlns="" xmlns:a16="http://schemas.microsoft.com/office/drawing/2014/main" id="{6CBBB405-C966-4474-AF3E-88E15E2D47E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32" y="1392"/>
                    <a:ext cx="384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401" name="Line 27">
                    <a:extLst>
                      <a:ext uri="{FF2B5EF4-FFF2-40B4-BE49-F238E27FC236}">
                        <a16:creationId xmlns="" xmlns:a16="http://schemas.microsoft.com/office/drawing/2014/main" id="{A74C864F-EC31-4145-83B4-B4AE1A4104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32" y="1536"/>
                    <a:ext cx="0" cy="33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402" name="Line 28">
                    <a:extLst>
                      <a:ext uri="{FF2B5EF4-FFF2-40B4-BE49-F238E27FC236}">
                        <a16:creationId xmlns="" xmlns:a16="http://schemas.microsoft.com/office/drawing/2014/main" id="{6F4693CA-B991-471B-AB1E-9523E25782E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32" y="1872"/>
                    <a:ext cx="288" cy="33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403" name="Line 29">
                    <a:extLst>
                      <a:ext uri="{FF2B5EF4-FFF2-40B4-BE49-F238E27FC236}">
                        <a16:creationId xmlns="" xmlns:a16="http://schemas.microsoft.com/office/drawing/2014/main" id="{E657ECE6-CC6C-4AA1-9F8D-8190377723A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20" y="1680"/>
                    <a:ext cx="384" cy="52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0375" name="组合 1">
                  <a:extLst>
                    <a:ext uri="{FF2B5EF4-FFF2-40B4-BE49-F238E27FC236}">
                      <a16:creationId xmlns="" xmlns:a16="http://schemas.microsoft.com/office/drawing/2014/main" id="{D40CB4EB-B79F-4525-8D37-B6C28F9D0A1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1188" y="1052513"/>
                  <a:ext cx="647700" cy="2184400"/>
                  <a:chOff x="611188" y="1052513"/>
                  <a:chExt cx="647700" cy="2184400"/>
                </a:xfrm>
              </p:grpSpPr>
              <p:grpSp>
                <p:nvGrpSpPr>
                  <p:cNvPr id="100391" name="Group 32">
                    <a:extLst>
                      <a:ext uri="{FF2B5EF4-FFF2-40B4-BE49-F238E27FC236}">
                        <a16:creationId xmlns="" xmlns:a16="http://schemas.microsoft.com/office/drawing/2014/main" id="{8DA1D60F-7A54-4E29-9B83-88648F2C9D7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042988" y="1484313"/>
                    <a:ext cx="76200" cy="1371600"/>
                    <a:chOff x="2736" y="2832"/>
                    <a:chExt cx="0" cy="576"/>
                  </a:xfrm>
                </p:grpSpPr>
                <p:sp>
                  <p:nvSpPr>
                    <p:cNvPr id="100396" name="Line 33">
                      <a:extLst>
                        <a:ext uri="{FF2B5EF4-FFF2-40B4-BE49-F238E27FC236}">
                          <a16:creationId xmlns="" xmlns:a16="http://schemas.microsoft.com/office/drawing/2014/main" id="{5F935B1E-160E-427B-B27B-93EAE859FA3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36" y="2832"/>
                      <a:ext cx="0" cy="19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0397" name="Line 34">
                      <a:extLst>
                        <a:ext uri="{FF2B5EF4-FFF2-40B4-BE49-F238E27FC236}">
                          <a16:creationId xmlns="" xmlns:a16="http://schemas.microsoft.com/office/drawing/2014/main" id="{E3D92D1C-D24C-4574-9E1A-E6FAC2991EE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36" y="3024"/>
                      <a:ext cx="0" cy="19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0398" name="Line 35">
                      <a:extLst>
                        <a:ext uri="{FF2B5EF4-FFF2-40B4-BE49-F238E27FC236}">
                          <a16:creationId xmlns="" xmlns:a16="http://schemas.microsoft.com/office/drawing/2014/main" id="{938BC3BB-D73B-4101-A2DA-7F5EA681187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36" y="3216"/>
                      <a:ext cx="0" cy="19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00392" name="Rectangle 36">
                    <a:extLst>
                      <a:ext uri="{FF2B5EF4-FFF2-40B4-BE49-F238E27FC236}">
                        <a16:creationId xmlns="" xmlns:a16="http://schemas.microsoft.com/office/drawing/2014/main" id="{80EFDECE-104A-4CBA-90BC-BCCFB286D4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1988" y="1555750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c</a:t>
                    </a:r>
                  </a:p>
                </p:txBody>
              </p:sp>
              <p:sp>
                <p:nvSpPr>
                  <p:cNvPr id="100393" name="Rectangle 37">
                    <a:extLst>
                      <a:ext uri="{FF2B5EF4-FFF2-40B4-BE49-F238E27FC236}">
                        <a16:creationId xmlns="" xmlns:a16="http://schemas.microsoft.com/office/drawing/2014/main" id="{9DA2F133-0EFA-48BB-8C56-D944FA1FE3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188" y="2132013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b</a:t>
                    </a:r>
                  </a:p>
                </p:txBody>
              </p:sp>
              <p:sp>
                <p:nvSpPr>
                  <p:cNvPr id="100394" name="Rectangle 38">
                    <a:extLst>
                      <a:ext uri="{FF2B5EF4-FFF2-40B4-BE49-F238E27FC236}">
                        <a16:creationId xmlns="" xmlns:a16="http://schemas.microsoft.com/office/drawing/2014/main" id="{17632C64-C029-4A14-BA3E-D84F8E8BEE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77888" y="2779713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</a:t>
                    </a:r>
                  </a:p>
                </p:txBody>
              </p:sp>
              <p:sp>
                <p:nvSpPr>
                  <p:cNvPr id="100395" name="Rectangle 39">
                    <a:extLst>
                      <a:ext uri="{FF2B5EF4-FFF2-40B4-BE49-F238E27FC236}">
                        <a16:creationId xmlns="" xmlns:a16="http://schemas.microsoft.com/office/drawing/2014/main" id="{31EFEDE1-0AD9-41B5-9BA0-72C8BD8FED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7088" y="1052513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d</a:t>
                    </a:r>
                  </a:p>
                </p:txBody>
              </p:sp>
            </p:grpSp>
            <p:grpSp>
              <p:nvGrpSpPr>
                <p:cNvPr id="100376" name="组合 2">
                  <a:extLst>
                    <a:ext uri="{FF2B5EF4-FFF2-40B4-BE49-F238E27FC236}">
                      <a16:creationId xmlns="" xmlns:a16="http://schemas.microsoft.com/office/drawing/2014/main" id="{3925F0A3-9EB9-4C7F-A3E0-44E2713D84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2500" y="981075"/>
                  <a:ext cx="1531938" cy="2041525"/>
                  <a:chOff x="3492500" y="981075"/>
                  <a:chExt cx="1531938" cy="2041525"/>
                </a:xfrm>
              </p:grpSpPr>
              <p:grpSp>
                <p:nvGrpSpPr>
                  <p:cNvPr id="100377" name="Group 15">
                    <a:extLst>
                      <a:ext uri="{FF2B5EF4-FFF2-40B4-BE49-F238E27FC236}">
                        <a16:creationId xmlns="" xmlns:a16="http://schemas.microsoft.com/office/drawing/2014/main" id="{58020B1A-90C8-459D-94FE-F403F7278EF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86200" y="1447800"/>
                    <a:ext cx="762000" cy="1066800"/>
                    <a:chOff x="1824" y="1440"/>
                    <a:chExt cx="480" cy="672"/>
                  </a:xfrm>
                </p:grpSpPr>
                <p:sp>
                  <p:nvSpPr>
                    <p:cNvPr id="100383" name="Line 16">
                      <a:extLst>
                        <a:ext uri="{FF2B5EF4-FFF2-40B4-BE49-F238E27FC236}">
                          <a16:creationId xmlns="" xmlns:a16="http://schemas.microsoft.com/office/drawing/2014/main" id="{97119138-134C-4D41-8B1F-5B656AA5595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64" y="1440"/>
                      <a:ext cx="0" cy="24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100384" name="Group 17">
                      <a:extLst>
                        <a:ext uri="{FF2B5EF4-FFF2-40B4-BE49-F238E27FC236}">
                          <a16:creationId xmlns="" xmlns:a16="http://schemas.microsoft.com/office/drawing/2014/main" id="{FFB30DB6-BA42-44EA-B6E6-C0D7436B52D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24" y="1440"/>
                      <a:ext cx="480" cy="672"/>
                      <a:chOff x="960" y="1344"/>
                      <a:chExt cx="480" cy="672"/>
                    </a:xfrm>
                  </p:grpSpPr>
                  <p:grpSp>
                    <p:nvGrpSpPr>
                      <p:cNvPr id="100386" name="Group 18">
                        <a:extLst>
                          <a:ext uri="{FF2B5EF4-FFF2-40B4-BE49-F238E27FC236}">
                            <a16:creationId xmlns="" xmlns:a16="http://schemas.microsoft.com/office/drawing/2014/main" id="{97E03E31-F708-4788-9BA3-39F2EDA7865B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960" y="1344"/>
                        <a:ext cx="480" cy="672"/>
                        <a:chOff x="960" y="1344"/>
                        <a:chExt cx="480" cy="672"/>
                      </a:xfrm>
                    </p:grpSpPr>
                    <p:sp>
                      <p:nvSpPr>
                        <p:cNvPr id="100388" name="Line 19">
                          <a:extLst>
                            <a:ext uri="{FF2B5EF4-FFF2-40B4-BE49-F238E27FC236}">
                              <a16:creationId xmlns="" xmlns:a16="http://schemas.microsoft.com/office/drawing/2014/main" id="{6D1E9A5A-E872-4494-B740-632628AC71A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200" y="1344"/>
                          <a:ext cx="240" cy="288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 type="oval" w="med" len="med"/>
                          <a:tailEnd type="oval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0389" name="Line 20">
                          <a:extLst>
                            <a:ext uri="{FF2B5EF4-FFF2-40B4-BE49-F238E27FC236}">
                              <a16:creationId xmlns="" xmlns:a16="http://schemas.microsoft.com/office/drawing/2014/main" id="{0159E9E9-E1F6-469F-A19B-950EC17EBA7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960" y="1344"/>
                          <a:ext cx="240" cy="24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 type="oval" w="med" len="med"/>
                          <a:tailEnd type="oval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0390" name="Line 21">
                          <a:extLst>
                            <a:ext uri="{FF2B5EF4-FFF2-40B4-BE49-F238E27FC236}">
                              <a16:creationId xmlns="" xmlns:a16="http://schemas.microsoft.com/office/drawing/2014/main" id="{4ECA7296-9D55-4CC7-8E1F-469A200D920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960" y="1584"/>
                          <a:ext cx="192" cy="432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 type="oval" w="med" len="med"/>
                          <a:tailEnd type="oval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100387" name="Line 22">
                        <a:extLst>
                          <a:ext uri="{FF2B5EF4-FFF2-40B4-BE49-F238E27FC236}">
                            <a16:creationId xmlns="" xmlns:a16="http://schemas.microsoft.com/office/drawing/2014/main" id="{C192EFDB-9A9C-4C24-BD78-7C8334BC187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152" y="1632"/>
                        <a:ext cx="288" cy="384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 type="oval" w="med" len="med"/>
                        <a:tailEnd type="oval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00385" name="Line 23">
                      <a:extLst>
                        <a:ext uri="{FF2B5EF4-FFF2-40B4-BE49-F238E27FC236}">
                          <a16:creationId xmlns="" xmlns:a16="http://schemas.microsoft.com/office/drawing/2014/main" id="{A21A86CC-9CED-405B-91A8-D71D0FC9904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16" y="1680"/>
                      <a:ext cx="48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00378" name="Rectangle 45">
                    <a:extLst>
                      <a:ext uri="{FF2B5EF4-FFF2-40B4-BE49-F238E27FC236}">
                        <a16:creationId xmlns="" xmlns:a16="http://schemas.microsoft.com/office/drawing/2014/main" id="{24212EA6-C16C-405E-A2E2-1BFD51B517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95738" y="1628775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c</a:t>
                    </a:r>
                  </a:p>
                </p:txBody>
              </p:sp>
              <p:sp>
                <p:nvSpPr>
                  <p:cNvPr id="100379" name="Rectangle 46">
                    <a:extLst>
                      <a:ext uri="{FF2B5EF4-FFF2-40B4-BE49-F238E27FC236}">
                        <a16:creationId xmlns="" xmlns:a16="http://schemas.microsoft.com/office/drawing/2014/main" id="{DAF9DE4E-629E-4BA4-8DE0-DE1C3DB336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92500" y="1557338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b</a:t>
                    </a:r>
                  </a:p>
                </p:txBody>
              </p:sp>
              <p:sp>
                <p:nvSpPr>
                  <p:cNvPr id="100380" name="Rectangle 47">
                    <a:extLst>
                      <a:ext uri="{FF2B5EF4-FFF2-40B4-BE49-F238E27FC236}">
                        <a16:creationId xmlns="" xmlns:a16="http://schemas.microsoft.com/office/drawing/2014/main" id="{E6B9B56F-AFC2-4686-915C-565D77F6E9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95738" y="2565400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</a:t>
                    </a:r>
                  </a:p>
                </p:txBody>
              </p:sp>
              <p:sp>
                <p:nvSpPr>
                  <p:cNvPr id="100381" name="Rectangle 48">
                    <a:extLst>
                      <a:ext uri="{FF2B5EF4-FFF2-40B4-BE49-F238E27FC236}">
                        <a16:creationId xmlns="" xmlns:a16="http://schemas.microsoft.com/office/drawing/2014/main" id="{44BFB075-C144-4001-84DA-543F538387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43438" y="1628775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d</a:t>
                    </a:r>
                  </a:p>
                </p:txBody>
              </p:sp>
              <p:sp>
                <p:nvSpPr>
                  <p:cNvPr id="100382" name="Rectangle 53">
                    <a:extLst>
                      <a:ext uri="{FF2B5EF4-FFF2-40B4-BE49-F238E27FC236}">
                        <a16:creationId xmlns="" xmlns:a16="http://schemas.microsoft.com/office/drawing/2014/main" id="{3C241BCE-FD87-4F98-9215-F21C7D0A34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67175" y="981075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e</a:t>
                    </a:r>
                  </a:p>
                </p:txBody>
              </p:sp>
            </p:grpSp>
          </p:grpSp>
        </p:grpSp>
        <p:sp>
          <p:nvSpPr>
            <p:cNvPr id="100367" name="Rectangle 54">
              <a:extLst>
                <a:ext uri="{FF2B5EF4-FFF2-40B4-BE49-F238E27FC236}">
                  <a16:creationId xmlns="" xmlns:a16="http://schemas.microsoft.com/office/drawing/2014/main" id="{AABC94D7-5800-4436-8000-20223DEE0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7763" y="1052513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</p:grpSp>
      <p:grpSp>
        <p:nvGrpSpPr>
          <p:cNvPr id="100356" name="组合 5">
            <a:extLst>
              <a:ext uri="{FF2B5EF4-FFF2-40B4-BE49-F238E27FC236}">
                <a16:creationId xmlns="" xmlns:a16="http://schemas.microsoft.com/office/drawing/2014/main" id="{7ABB851A-FECC-491D-9C51-B7913E68917C}"/>
              </a:ext>
            </a:extLst>
          </p:cNvPr>
          <p:cNvGrpSpPr>
            <a:grpSpLocks/>
          </p:cNvGrpSpPr>
          <p:nvPr/>
        </p:nvGrpSpPr>
        <p:grpSpPr bwMode="auto">
          <a:xfrm>
            <a:off x="887413" y="2546350"/>
            <a:ext cx="5688012" cy="554038"/>
            <a:chOff x="900113" y="3259138"/>
            <a:chExt cx="5688012" cy="554037"/>
          </a:xfrm>
        </p:grpSpPr>
        <p:sp>
          <p:nvSpPr>
            <p:cNvPr id="100358" name="Rectangle 40">
              <a:extLst>
                <a:ext uri="{FF2B5EF4-FFF2-40B4-BE49-F238E27FC236}">
                  <a16:creationId xmlns="" xmlns:a16="http://schemas.microsoft.com/office/drawing/2014/main" id="{B6BA1974-5F25-474A-8428-555A52D69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13" y="3355975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L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0359" name="Rectangle 55">
              <a:extLst>
                <a:ext uri="{FF2B5EF4-FFF2-40B4-BE49-F238E27FC236}">
                  <a16:creationId xmlns="" xmlns:a16="http://schemas.microsoft.com/office/drawing/2014/main" id="{2CFCE20A-EF83-46AE-BA00-258AF5CBC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175" y="3284538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L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0360" name="Rectangle 56">
              <a:extLst>
                <a:ext uri="{FF2B5EF4-FFF2-40B4-BE49-F238E27FC236}">
                  <a16:creationId xmlns="" xmlns:a16="http://schemas.microsoft.com/office/drawing/2014/main" id="{66E279D4-FB62-41FC-98F6-2D35D8332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6313" y="3332163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L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0361" name="Rectangle 57">
              <a:extLst>
                <a:ext uri="{FF2B5EF4-FFF2-40B4-BE49-F238E27FC236}">
                  <a16:creationId xmlns="" xmlns:a16="http://schemas.microsoft.com/office/drawing/2014/main" id="{BF5369C7-B333-48F5-8A63-C3C37299C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7125" y="3259138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L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00357" name="灯片编号占位符 1">
            <a:extLst>
              <a:ext uri="{FF2B5EF4-FFF2-40B4-BE49-F238E27FC236}">
                <a16:creationId xmlns="" xmlns:a16="http://schemas.microsoft.com/office/drawing/2014/main" id="{0A387093-31E5-4F43-81D8-9D87A555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368A9C-10E5-4775-A1C0-31ED5FF4DB18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57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F53F01DD-C8D6-45B1-A994-508A6C5AB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713" y="1268413"/>
            <a:ext cx="8691562" cy="4327525"/>
          </a:xfrm>
        </p:spPr>
        <p:txBody>
          <a:bodyPr/>
          <a:lstStyle/>
          <a:p>
            <a:pPr>
              <a:defRPr/>
            </a:pPr>
            <a:r>
              <a:rPr lang="zh-CN" altLang="en-US" sz="2900" dirty="0">
                <a:ea typeface="宋体" panose="02010600030101010101" pitchFamily="2" charset="-122"/>
              </a:rPr>
              <a:t>下面哪些是分配格？</a:t>
            </a:r>
            <a:endParaRPr lang="en-US" altLang="zh-CN" sz="2900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ea typeface="宋体" panose="02010600030101010101" pitchFamily="2" charset="-12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2900" b="1" dirty="0">
              <a:ea typeface="宋体" panose="02010600030101010101" pitchFamily="2" charset="-122"/>
            </a:endParaRPr>
          </a:p>
        </p:txBody>
      </p:sp>
      <p:pic>
        <p:nvPicPr>
          <p:cNvPr id="107523" name="图片 3">
            <a:extLst>
              <a:ext uri="{FF2B5EF4-FFF2-40B4-BE49-F238E27FC236}">
                <a16:creationId xmlns="" xmlns:a16="http://schemas.microsoft.com/office/drawing/2014/main" id="{F6BAE09C-909F-4CE6-A385-DA4740DA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2390775"/>
            <a:ext cx="1639887" cy="209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7524" name="Group 36">
            <a:extLst>
              <a:ext uri="{FF2B5EF4-FFF2-40B4-BE49-F238E27FC236}">
                <a16:creationId xmlns="" xmlns:a16="http://schemas.microsoft.com/office/drawing/2014/main" id="{72BC1E5F-9568-4533-AB3A-CEB113A987DD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2473325"/>
            <a:ext cx="960437" cy="1384300"/>
            <a:chOff x="978" y="7528"/>
            <a:chExt cx="900" cy="936"/>
          </a:xfrm>
        </p:grpSpPr>
        <p:sp>
          <p:nvSpPr>
            <p:cNvPr id="107563" name="Line 41">
              <a:extLst>
                <a:ext uri="{FF2B5EF4-FFF2-40B4-BE49-F238E27FC236}">
                  <a16:creationId xmlns="" xmlns:a16="http://schemas.microsoft.com/office/drawing/2014/main" id="{E6C4B66E-2338-44A0-8F04-DB890E2CFE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" y="7528"/>
              <a:ext cx="54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7564" name="Line 40">
              <a:extLst>
                <a:ext uri="{FF2B5EF4-FFF2-40B4-BE49-F238E27FC236}">
                  <a16:creationId xmlns="" xmlns:a16="http://schemas.microsoft.com/office/drawing/2014/main" id="{3F04BA08-A14B-489C-9223-682000B67A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8" y="7528"/>
              <a:ext cx="360" cy="2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7565" name="Line 39">
              <a:extLst>
                <a:ext uri="{FF2B5EF4-FFF2-40B4-BE49-F238E27FC236}">
                  <a16:creationId xmlns="" xmlns:a16="http://schemas.microsoft.com/office/drawing/2014/main" id="{A5E1A52F-0102-4F84-9C11-B75879F9F7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8" y="7770"/>
              <a:ext cx="0" cy="4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7566" name="Line 38">
              <a:extLst>
                <a:ext uri="{FF2B5EF4-FFF2-40B4-BE49-F238E27FC236}">
                  <a16:creationId xmlns="" xmlns:a16="http://schemas.microsoft.com/office/drawing/2014/main" id="{90C6C36F-CD1D-4B0A-B029-2B90CDA09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8" y="7840"/>
              <a:ext cx="540" cy="6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7567" name="Line 37">
              <a:extLst>
                <a:ext uri="{FF2B5EF4-FFF2-40B4-BE49-F238E27FC236}">
                  <a16:creationId xmlns="" xmlns:a16="http://schemas.microsoft.com/office/drawing/2014/main" id="{5436A9E9-335C-41B7-B28C-12CFEF69C0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8" y="8190"/>
              <a:ext cx="360" cy="2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cxnSp>
        <p:nvCxnSpPr>
          <p:cNvPr id="107525" name="直接连接符 42">
            <a:extLst>
              <a:ext uri="{FF2B5EF4-FFF2-40B4-BE49-F238E27FC236}">
                <a16:creationId xmlns="" xmlns:a16="http://schemas.microsoft.com/office/drawing/2014/main" id="{FEA22393-37B1-418B-809D-3A49DA8BC69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703888" y="3355975"/>
            <a:ext cx="0" cy="658813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7526" name="组合 43">
            <a:extLst>
              <a:ext uri="{FF2B5EF4-FFF2-40B4-BE49-F238E27FC236}">
                <a16:creationId xmlns="" xmlns:a16="http://schemas.microsoft.com/office/drawing/2014/main" id="{C66A26AD-25F3-4678-80B9-9CA9B08D4C94}"/>
              </a:ext>
            </a:extLst>
          </p:cNvPr>
          <p:cNvGrpSpPr>
            <a:grpSpLocks/>
          </p:cNvGrpSpPr>
          <p:nvPr/>
        </p:nvGrpSpPr>
        <p:grpSpPr bwMode="auto">
          <a:xfrm>
            <a:off x="6988175" y="2322513"/>
            <a:ext cx="1333500" cy="2474912"/>
            <a:chOff x="6988176" y="2276872"/>
            <a:chExt cx="1333382" cy="2475118"/>
          </a:xfrm>
        </p:grpSpPr>
        <p:pic>
          <p:nvPicPr>
            <p:cNvPr id="107548" name="图片 63">
              <a:extLst>
                <a:ext uri="{FF2B5EF4-FFF2-40B4-BE49-F238E27FC236}">
                  <a16:creationId xmlns="" xmlns:a16="http://schemas.microsoft.com/office/drawing/2014/main" id="{B7825622-6C61-4FF4-ABF4-36EE0EAF5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1203" y="2276872"/>
              <a:ext cx="94253" cy="90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7549" name="组合 37">
              <a:extLst>
                <a:ext uri="{FF2B5EF4-FFF2-40B4-BE49-F238E27FC236}">
                  <a16:creationId xmlns="" xmlns:a16="http://schemas.microsoft.com/office/drawing/2014/main" id="{4569D7B2-993D-4373-86C7-40E8AAA09A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88176" y="2309770"/>
              <a:ext cx="1333382" cy="2442220"/>
              <a:chOff x="6988176" y="2371482"/>
              <a:chExt cx="1333382" cy="2442220"/>
            </a:xfrm>
          </p:grpSpPr>
          <p:pic>
            <p:nvPicPr>
              <p:cNvPr id="107550" name="图片 71">
                <a:extLst>
                  <a:ext uri="{FF2B5EF4-FFF2-40B4-BE49-F238E27FC236}">
                    <a16:creationId xmlns="" xmlns:a16="http://schemas.microsoft.com/office/drawing/2014/main" id="{8A61DAF0-CAA9-4AD7-8B42-E1595DE03D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8212243" y="3042797"/>
                <a:ext cx="109315" cy="104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07551" name="组合 14">
                <a:extLst>
                  <a:ext uri="{FF2B5EF4-FFF2-40B4-BE49-F238E27FC236}">
                    <a16:creationId xmlns="" xmlns:a16="http://schemas.microsoft.com/office/drawing/2014/main" id="{2A8398C1-A3DD-4E3B-8B06-869CDDE47A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88176" y="2371482"/>
                <a:ext cx="1278724" cy="2442220"/>
                <a:chOff x="6987565" y="1720938"/>
                <a:chExt cx="1278736" cy="2442528"/>
              </a:xfrm>
            </p:grpSpPr>
            <p:pic>
              <p:nvPicPr>
                <p:cNvPr id="107552" name="图片 76">
                  <a:extLst>
                    <a:ext uri="{FF2B5EF4-FFF2-40B4-BE49-F238E27FC236}">
                      <a16:creationId xmlns="" xmlns:a16="http://schemas.microsoft.com/office/drawing/2014/main" id="{46D51E7A-5A40-4A08-A92F-E987EED903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07427" y="2392339"/>
                  <a:ext cx="108373" cy="1049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7553" name="图片 82">
                  <a:extLst>
                    <a:ext uri="{FF2B5EF4-FFF2-40B4-BE49-F238E27FC236}">
                      <a16:creationId xmlns="" xmlns:a16="http://schemas.microsoft.com/office/drawing/2014/main" id="{6AFCDC24-414A-4343-8569-98060B6241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71078" y="3354728"/>
                  <a:ext cx="121972" cy="1168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107554" name="组合 12">
                  <a:extLst>
                    <a:ext uri="{FF2B5EF4-FFF2-40B4-BE49-F238E27FC236}">
                      <a16:creationId xmlns="" xmlns:a16="http://schemas.microsoft.com/office/drawing/2014/main" id="{0FCCABD3-2D06-4339-829E-E9C18516DEA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987565" y="1720938"/>
                  <a:ext cx="1278736" cy="2442528"/>
                  <a:chOff x="6987565" y="1720938"/>
                  <a:chExt cx="1278736" cy="2442528"/>
                </a:xfrm>
              </p:grpSpPr>
              <p:cxnSp>
                <p:nvCxnSpPr>
                  <p:cNvPr id="107555" name="直接连接符 65">
                    <a:extLst>
                      <a:ext uri="{FF2B5EF4-FFF2-40B4-BE49-F238E27FC236}">
                        <a16:creationId xmlns="" xmlns:a16="http://schemas.microsoft.com/office/drawing/2014/main" id="{EB147A58-8763-46FC-9A86-77536EDCF7F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7059577" y="1720938"/>
                    <a:ext cx="682307" cy="641017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pic>
                <p:nvPicPr>
                  <p:cNvPr id="107556" name="图片 66">
                    <a:extLst>
                      <a:ext uri="{FF2B5EF4-FFF2-40B4-BE49-F238E27FC236}">
                        <a16:creationId xmlns="" xmlns:a16="http://schemas.microsoft.com/office/drawing/2014/main" id="{69A445AB-1913-4362-97B1-7604DB7DD2F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987565" y="2373135"/>
                    <a:ext cx="107065" cy="10278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cxnSp>
                <p:nvCxnSpPr>
                  <p:cNvPr id="107557" name="直接连接符 73">
                    <a:extLst>
                      <a:ext uri="{FF2B5EF4-FFF2-40B4-BE49-F238E27FC236}">
                        <a16:creationId xmlns="" xmlns:a16="http://schemas.microsoft.com/office/drawing/2014/main" id="{4A1BAD3D-B843-413B-847B-CDDB3F17AE23}"/>
                      </a:ext>
                    </a:extLst>
                  </p:cNvPr>
                  <p:cNvCxnSpPr>
                    <a:cxnSpLocks noChangeShapeType="1"/>
                    <a:stCxn id="107548" idx="3"/>
                    <a:endCxn id="107550" idx="0"/>
                  </p:cNvCxnSpPr>
                  <p:nvPr/>
                </p:nvCxnSpPr>
                <p:spPr bwMode="auto">
                  <a:xfrm>
                    <a:off x="7844853" y="1733205"/>
                    <a:ext cx="421448" cy="659133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7558" name="直接连接符 75">
                    <a:extLst>
                      <a:ext uri="{FF2B5EF4-FFF2-40B4-BE49-F238E27FC236}">
                        <a16:creationId xmlns="" xmlns:a16="http://schemas.microsoft.com/office/drawing/2014/main" id="{02F44B48-F8C1-408E-86C6-6B7BDAF0819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7670263" y="1740142"/>
                    <a:ext cx="100815" cy="632832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7559" name="直接连接符 78">
                    <a:extLst>
                      <a:ext uri="{FF2B5EF4-FFF2-40B4-BE49-F238E27FC236}">
                        <a16:creationId xmlns="" xmlns:a16="http://schemas.microsoft.com/office/drawing/2014/main" id="{132CE611-4119-4C9C-9263-312110F9F6EF}"/>
                      </a:ext>
                    </a:extLst>
                  </p:cNvPr>
                  <p:cNvCxnSpPr>
                    <a:cxnSpLocks noChangeShapeType="1"/>
                    <a:stCxn id="107552" idx="2"/>
                  </p:cNvCxnSpPr>
                  <p:nvPr/>
                </p:nvCxnSpPr>
                <p:spPr bwMode="auto">
                  <a:xfrm>
                    <a:off x="7661613" y="2497326"/>
                    <a:ext cx="155237" cy="907899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7560" name="直接连接符 84">
                    <a:extLst>
                      <a:ext uri="{FF2B5EF4-FFF2-40B4-BE49-F238E27FC236}">
                        <a16:creationId xmlns="" xmlns:a16="http://schemas.microsoft.com/office/drawing/2014/main" id="{4730319B-96B0-44BD-9227-3CEAA297A3A4}"/>
                      </a:ext>
                    </a:extLst>
                  </p:cNvPr>
                  <p:cNvCxnSpPr>
                    <a:cxnSpLocks noChangeShapeType="1"/>
                    <a:stCxn id="107556" idx="2"/>
                  </p:cNvCxnSpPr>
                  <p:nvPr/>
                </p:nvCxnSpPr>
                <p:spPr bwMode="auto">
                  <a:xfrm>
                    <a:off x="7041098" y="2475922"/>
                    <a:ext cx="767067" cy="931327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7561" name="直接连接符 86">
                    <a:extLst>
                      <a:ext uri="{FF2B5EF4-FFF2-40B4-BE49-F238E27FC236}">
                        <a16:creationId xmlns="" xmlns:a16="http://schemas.microsoft.com/office/drawing/2014/main" id="{A06934DF-56E9-407D-8A3D-0F97C4879D9B}"/>
                      </a:ext>
                    </a:extLst>
                  </p:cNvPr>
                  <p:cNvCxnSpPr>
                    <a:cxnSpLocks noChangeShapeType="1"/>
                    <a:endCxn id="107553" idx="0"/>
                  </p:cNvCxnSpPr>
                  <p:nvPr/>
                </p:nvCxnSpPr>
                <p:spPr bwMode="auto">
                  <a:xfrm flipH="1">
                    <a:off x="7832065" y="2497113"/>
                    <a:ext cx="425776" cy="857615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pic>
                <p:nvPicPr>
                  <p:cNvPr id="107562" name="图片 91">
                    <a:extLst>
                      <a:ext uri="{FF2B5EF4-FFF2-40B4-BE49-F238E27FC236}">
                        <a16:creationId xmlns="" xmlns:a16="http://schemas.microsoft.com/office/drawing/2014/main" id="{91D5E96D-50E5-4DE7-8F27-401DCCC038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788855" y="4072348"/>
                    <a:ext cx="94911" cy="911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</p:grpSp>
      </p:grpSp>
      <p:sp>
        <p:nvSpPr>
          <p:cNvPr id="100" name="文本框 99">
            <a:extLst>
              <a:ext uri="{FF2B5EF4-FFF2-40B4-BE49-F238E27FC236}">
                <a16:creationId xmlns="" xmlns:a16="http://schemas.microsoft.com/office/drawing/2014/main" id="{F261003A-6D86-4F11-AB38-1F71CC716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172075"/>
            <a:ext cx="20447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zh-CN" altLang="en-US" sz="29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解：都不是</a:t>
            </a:r>
          </a:p>
        </p:txBody>
      </p:sp>
      <p:sp>
        <p:nvSpPr>
          <p:cNvPr id="107528" name="灯片编号占位符 1">
            <a:extLst>
              <a:ext uri="{FF2B5EF4-FFF2-40B4-BE49-F238E27FC236}">
                <a16:creationId xmlns="" xmlns:a16="http://schemas.microsoft.com/office/drawing/2014/main" id="{78FC5B86-3BCE-45FE-B54B-91C678AE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E728DB-C1DA-4ED0-975D-885694633E7B}" type="slidenum">
              <a:rPr lang="en-US" altLang="ko-KR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58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  <p:sp>
        <p:nvSpPr>
          <p:cNvPr id="46" name="Rectangle 2">
            <a:extLst>
              <a:ext uri="{FF2B5EF4-FFF2-40B4-BE49-F238E27FC236}">
                <a16:creationId xmlns="" xmlns:a16="http://schemas.microsoft.com/office/drawing/2014/main" id="{7C9F3D0C-0DDE-4A17-AB44-5F0420109045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zh-CN" altLang="en-US" kern="0" dirty="0" smtClean="0">
                <a:solidFill>
                  <a:srgbClr val="0000FF"/>
                </a:solidFill>
                <a:latin typeface="Times New Roman"/>
              </a:rPr>
              <a:t>思考：</a:t>
            </a:r>
            <a:r>
              <a:rPr lang="zh-CN" altLang="en-US" kern="0" dirty="0" smtClean="0">
                <a:solidFill>
                  <a:srgbClr val="0000FF"/>
                </a:solidFill>
              </a:rPr>
              <a:t> </a:t>
            </a:r>
            <a:endParaRPr lang="zh-CN" altLang="en-US" kern="0" dirty="0">
              <a:solidFill>
                <a:srgbClr val="0000FF"/>
              </a:solidFill>
            </a:endParaRPr>
          </a:p>
        </p:txBody>
      </p:sp>
      <p:sp>
        <p:nvSpPr>
          <p:cNvPr id="107530" name="椭圆 31">
            <a:extLst>
              <a:ext uri="{FF2B5EF4-FFF2-40B4-BE49-F238E27FC236}">
                <a16:creationId xmlns="" xmlns:a16="http://schemas.microsoft.com/office/drawing/2014/main" id="{346C2814-1D73-4F1A-BDBF-78185E9AE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913" y="3963988"/>
            <a:ext cx="114300" cy="115887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107531" name="组合 18">
            <a:extLst>
              <a:ext uri="{FF2B5EF4-FFF2-40B4-BE49-F238E27FC236}">
                <a16:creationId xmlns="" xmlns:a16="http://schemas.microsoft.com/office/drawing/2014/main" id="{1771B073-A3C6-4A95-83FD-09B097D47E6E}"/>
              </a:ext>
            </a:extLst>
          </p:cNvPr>
          <p:cNvGrpSpPr>
            <a:grpSpLocks/>
          </p:cNvGrpSpPr>
          <p:nvPr/>
        </p:nvGrpSpPr>
        <p:grpSpPr bwMode="auto">
          <a:xfrm>
            <a:off x="4598988" y="2420938"/>
            <a:ext cx="1693862" cy="1858962"/>
            <a:chOff x="4598997" y="2405796"/>
            <a:chExt cx="1694238" cy="1859121"/>
          </a:xfrm>
        </p:grpSpPr>
        <p:pic>
          <p:nvPicPr>
            <p:cNvPr id="107533" name="图片 36">
              <a:extLst>
                <a:ext uri="{FF2B5EF4-FFF2-40B4-BE49-F238E27FC236}">
                  <a16:creationId xmlns="" xmlns:a16="http://schemas.microsoft.com/office/drawing/2014/main" id="{03F4604A-0604-4EB7-8B23-622FC30A6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27262" y="3278405"/>
              <a:ext cx="134822" cy="129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7534" name="直接连接符 61">
              <a:extLst>
                <a:ext uri="{FF2B5EF4-FFF2-40B4-BE49-F238E27FC236}">
                  <a16:creationId xmlns="" xmlns:a16="http://schemas.microsoft.com/office/drawing/2014/main" id="{2E9B526B-1C00-434C-8F1C-7C41CA72E8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734161" y="2975794"/>
              <a:ext cx="456106" cy="367108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07535" name="组合 17">
              <a:extLst>
                <a:ext uri="{FF2B5EF4-FFF2-40B4-BE49-F238E27FC236}">
                  <a16:creationId xmlns="" xmlns:a16="http://schemas.microsoft.com/office/drawing/2014/main" id="{2F5A838C-0E78-4174-9B3D-8C0441E910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8997" y="2405796"/>
              <a:ext cx="1694238" cy="1859121"/>
              <a:chOff x="4598997" y="2405796"/>
              <a:chExt cx="1694238" cy="1859121"/>
            </a:xfrm>
          </p:grpSpPr>
          <p:cxnSp>
            <p:nvCxnSpPr>
              <p:cNvPr id="107536" name="直接连接符 33">
                <a:extLst>
                  <a:ext uri="{FF2B5EF4-FFF2-40B4-BE49-F238E27FC236}">
                    <a16:creationId xmlns="" xmlns:a16="http://schemas.microsoft.com/office/drawing/2014/main" id="{6DA0CA29-03C2-447B-B3F1-44597E7F380B}"/>
                  </a:ext>
                </a:extLst>
              </p:cNvPr>
              <p:cNvCxnSpPr>
                <a:cxnSpLocks noChangeShapeType="1"/>
                <a:stCxn id="107541" idx="5"/>
              </p:cNvCxnSpPr>
              <p:nvPr/>
            </p:nvCxnSpPr>
            <p:spPr bwMode="auto">
              <a:xfrm>
                <a:off x="5172976" y="2959044"/>
                <a:ext cx="479498" cy="349911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537" name="直接连接符 51">
                <a:extLst>
                  <a:ext uri="{FF2B5EF4-FFF2-40B4-BE49-F238E27FC236}">
                    <a16:creationId xmlns="" xmlns:a16="http://schemas.microsoft.com/office/drawing/2014/main" id="{B6BC46C4-C42D-44AA-92A7-B30356A0D02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172976" y="2476670"/>
                <a:ext cx="471097" cy="400465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538" name="直接连接符 51">
                <a:extLst>
                  <a:ext uri="{FF2B5EF4-FFF2-40B4-BE49-F238E27FC236}">
                    <a16:creationId xmlns="" xmlns:a16="http://schemas.microsoft.com/office/drawing/2014/main" id="{FB10D3C5-60CC-4500-83FC-B993912BE53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649568" y="2945937"/>
                <a:ext cx="471097" cy="400465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7539" name="椭圆 31">
                <a:extLst>
                  <a:ext uri="{FF2B5EF4-FFF2-40B4-BE49-F238E27FC236}">
                    <a16:creationId xmlns="" xmlns:a16="http://schemas.microsoft.com/office/drawing/2014/main" id="{9BF46938-F09E-4E0E-835B-2387E1CDC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3155" y="2405796"/>
                <a:ext cx="113497" cy="115837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7540" name="椭圆 31">
                <a:extLst>
                  <a:ext uri="{FF2B5EF4-FFF2-40B4-BE49-F238E27FC236}">
                    <a16:creationId xmlns="" xmlns:a16="http://schemas.microsoft.com/office/drawing/2014/main" id="{F106C4AD-5EB9-439E-9FD3-1C46411D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8997" y="3284984"/>
                <a:ext cx="113497" cy="115837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7541" name="椭圆 31">
                <a:extLst>
                  <a:ext uri="{FF2B5EF4-FFF2-40B4-BE49-F238E27FC236}">
                    <a16:creationId xmlns="" xmlns:a16="http://schemas.microsoft.com/office/drawing/2014/main" id="{AD103285-98C9-4295-BDE2-C29B28BA0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6100" y="2860171"/>
                <a:ext cx="113497" cy="115837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7542" name="椭圆 31">
                <a:extLst>
                  <a:ext uri="{FF2B5EF4-FFF2-40B4-BE49-F238E27FC236}">
                    <a16:creationId xmlns="" xmlns:a16="http://schemas.microsoft.com/office/drawing/2014/main" id="{A2810BBB-B2E8-433E-A31D-7418AE8994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3818" y="4149080"/>
                <a:ext cx="113497" cy="115837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07543" name="直接连接符 51">
                <a:extLst>
                  <a:ext uri="{FF2B5EF4-FFF2-40B4-BE49-F238E27FC236}">
                    <a16:creationId xmlns="" xmlns:a16="http://schemas.microsoft.com/office/drawing/2014/main" id="{50E74FCD-162C-4F1D-B7A2-A54C080580A6}"/>
                  </a:ext>
                </a:extLst>
              </p:cNvPr>
              <p:cNvCxnSpPr>
                <a:cxnSpLocks noChangeShapeType="1"/>
                <a:endCxn id="107540" idx="5"/>
              </p:cNvCxnSpPr>
              <p:nvPr/>
            </p:nvCxnSpPr>
            <p:spPr bwMode="auto">
              <a:xfrm flipH="1" flipV="1">
                <a:off x="4695873" y="3383857"/>
                <a:ext cx="424793" cy="781749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7544" name="椭圆 31">
                <a:extLst>
                  <a:ext uri="{FF2B5EF4-FFF2-40B4-BE49-F238E27FC236}">
                    <a16:creationId xmlns="" xmlns:a16="http://schemas.microsoft.com/office/drawing/2014/main" id="{143B7A29-C738-4552-BAB0-D6141CF96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9738" y="2888018"/>
                <a:ext cx="113497" cy="115837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07545" name="直接连接符 51">
                <a:extLst>
                  <a:ext uri="{FF2B5EF4-FFF2-40B4-BE49-F238E27FC236}">
                    <a16:creationId xmlns="" xmlns:a16="http://schemas.microsoft.com/office/drawing/2014/main" id="{A1ED3D5E-0352-489E-8C3D-EE89DCD64AA6}"/>
                  </a:ext>
                </a:extLst>
              </p:cNvPr>
              <p:cNvCxnSpPr>
                <a:cxnSpLocks noChangeShapeType="1"/>
                <a:endCxn id="107530" idx="3"/>
              </p:cNvCxnSpPr>
              <p:nvPr/>
            </p:nvCxnSpPr>
            <p:spPr bwMode="auto">
              <a:xfrm flipV="1">
                <a:off x="5206000" y="4062362"/>
                <a:ext cx="461156" cy="153312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546" name="直接连接符 13">
                <a:extLst>
                  <a:ext uri="{FF2B5EF4-FFF2-40B4-BE49-F238E27FC236}">
                    <a16:creationId xmlns="" xmlns:a16="http://schemas.microsoft.com/office/drawing/2014/main" id="{06D42228-C45C-4CE6-8CA8-36CA1699C12B}"/>
                  </a:ext>
                </a:extLst>
              </p:cNvPr>
              <p:cNvCxnSpPr>
                <a:cxnSpLocks noChangeShapeType="1"/>
                <a:stCxn id="107539" idx="5"/>
                <a:endCxn id="107544" idx="1"/>
              </p:cNvCxnSpPr>
              <p:nvPr/>
            </p:nvCxnSpPr>
            <p:spPr bwMode="auto">
              <a:xfrm>
                <a:off x="5710031" y="2504669"/>
                <a:ext cx="486328" cy="400313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547" name="直接连接符 42">
                <a:extLst>
                  <a:ext uri="{FF2B5EF4-FFF2-40B4-BE49-F238E27FC236}">
                    <a16:creationId xmlns="" xmlns:a16="http://schemas.microsoft.com/office/drawing/2014/main" id="{147FB7DA-3B1A-4D3C-B717-BE257D7268C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5703508" y="3401700"/>
                <a:ext cx="1" cy="66028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cxnSp>
        <p:nvCxnSpPr>
          <p:cNvPr id="107532" name="直接连接符 54">
            <a:extLst>
              <a:ext uri="{FF2B5EF4-FFF2-40B4-BE49-F238E27FC236}">
                <a16:creationId xmlns="" xmlns:a16="http://schemas.microsoft.com/office/drawing/2014/main" id="{A18523A7-F7BE-4BDF-A8D8-5C43FD7806E6}"/>
              </a:ext>
            </a:extLst>
          </p:cNvPr>
          <p:cNvCxnSpPr>
            <a:cxnSpLocks noChangeShapeType="1"/>
            <a:stCxn id="107553" idx="2"/>
            <a:endCxn id="107562" idx="0"/>
          </p:cNvCxnSpPr>
          <p:nvPr/>
        </p:nvCxnSpPr>
        <p:spPr bwMode="auto">
          <a:xfrm>
            <a:off x="7832725" y="4105275"/>
            <a:ext cx="4763" cy="600075"/>
          </a:xfrm>
          <a:prstGeom prst="line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80887861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="" xmlns:a16="http://schemas.microsoft.com/office/drawing/2014/main" id="{69E69F8C-80E0-4845-99DA-E1E49D0D15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2575" y="1125538"/>
            <a:ext cx="8709025" cy="5543550"/>
          </a:xfrm>
        </p:spPr>
        <p:txBody>
          <a:bodyPr/>
          <a:lstStyle/>
          <a:p>
            <a:pPr indent="-71438" algn="just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ea typeface="宋体" panose="02010600030101010101" pitchFamily="2" charset="-122"/>
              </a:rPr>
              <a:t>                          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="" xmlns:a16="http://schemas.microsoft.com/office/drawing/2014/main" id="{6D4DA62C-9B52-4F6C-9A86-5455B6C13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8" y="1557338"/>
            <a:ext cx="7772400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just" eaLnBrk="1" hangingPunct="1">
              <a:buClr>
                <a:srgbClr val="003399"/>
              </a:buClr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引理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4  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</a:rPr>
              <a:t>任意一个链都是一个</a:t>
            </a:r>
            <a:r>
              <a:rPr lang="zh-CN" altLang="en-US" sz="3200" dirty="0" smtClean="0">
                <a:solidFill>
                  <a:srgbClr val="0000FF"/>
                </a:solidFill>
                <a:ea typeface="宋体" panose="02010600030101010101" pitchFamily="2" charset="-122"/>
              </a:rPr>
              <a:t>分配格</a:t>
            </a:r>
            <a:r>
              <a:rPr lang="zh-CN" altLang="en-US" sz="3200" dirty="0" smtClean="0">
                <a:ea typeface="宋体" panose="02010600030101010101" pitchFamily="2" charset="-122"/>
              </a:rPr>
              <a:t>。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01380" name="灯片编号占位符 1">
            <a:extLst>
              <a:ext uri="{FF2B5EF4-FFF2-40B4-BE49-F238E27FC236}">
                <a16:creationId xmlns="" xmlns:a16="http://schemas.microsoft.com/office/drawing/2014/main" id="{EFDE8AC8-46EC-48A1-8710-24BF02F1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B059ED-4C77-481F-8BF5-30030CB37C6A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82512F20-933A-4289-BA1E-7DD8D203DB30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>
            <a:extLst>
              <a:ext uri="{FF2B5EF4-FFF2-40B4-BE49-F238E27FC236}">
                <a16:creationId xmlns="" xmlns:a16="http://schemas.microsoft.com/office/drawing/2014/main" id="{2482565C-56BF-4AC1-A61A-2C32CE970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68413"/>
            <a:ext cx="8399462" cy="5184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latinLnBrk="0" hangingPunct="1">
              <a:lnSpc>
                <a:spcPct val="125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7.4.1(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德摩根定律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</a:p>
          <a:p>
            <a:pPr marL="0" indent="0" algn="just" eaLnBrk="1" latinLnBrk="0" hangingPunct="1">
              <a:lnSpc>
                <a:spcPct val="125000"/>
              </a:lnSpc>
              <a:spcBef>
                <a:spcPts val="0"/>
              </a:spcBef>
              <a:buClr>
                <a:srgbClr val="3333CC"/>
              </a:buClr>
              <a:buSzPct val="80000"/>
              <a:buNone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是一个分配格，对任意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 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b∈L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，若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有余元素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</a:p>
          <a:p>
            <a:pPr algn="just" eaLnBrk="1" latinLnBrk="0" hangingPunct="1">
              <a:lnSpc>
                <a:spcPct val="125000"/>
              </a:lnSpc>
              <a:buClr>
                <a:srgbClr val="3333CC"/>
              </a:buClr>
              <a:buSzPct val="80000"/>
              <a:buNone/>
              <a:defRPr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′= 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a′⊕b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       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′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a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′</a:t>
            </a:r>
            <a:endParaRPr lang="en-US" altLang="zh-CN" sz="29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2403" name="灯片编号占位符 1">
            <a:extLst>
              <a:ext uri="{FF2B5EF4-FFF2-40B4-BE49-F238E27FC236}">
                <a16:creationId xmlns="" xmlns:a16="http://schemas.microsoft.com/office/drawing/2014/main" id="{B44E46C2-ECB6-4065-85DE-B0BBA06B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69749ED-797E-4570-B991-F64D5D0F9F8F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AE0DBF36-3377-4584-8C1B-0F01B19E7CCC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="" xmlns:a16="http://schemas.microsoft.com/office/drawing/2014/main" id="{7E10454D-9085-40BE-8A24-2AC735693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560" y="1174605"/>
            <a:ext cx="7848600" cy="5329237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7.4.2 :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是分配格，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 b,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，如果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b⊕c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= 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= a×(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a×(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)⊕(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)⊕(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b×(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b×(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b 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zh-CN" b="1" dirty="0"/>
          </a:p>
        </p:txBody>
      </p:sp>
      <p:sp>
        <p:nvSpPr>
          <p:cNvPr id="103427" name="灯片编号占位符 1">
            <a:extLst>
              <a:ext uri="{FF2B5EF4-FFF2-40B4-BE49-F238E27FC236}">
                <a16:creationId xmlns="" xmlns:a16="http://schemas.microsoft.com/office/drawing/2014/main" id="{C9029214-B31C-4F4F-A8C8-9ABD900A2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DDCF97-5FAD-4038-8C6F-F44C663D590D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597005E6-5675-49D7-AAA3-5D3FB3D66797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="" xmlns:a16="http://schemas.microsoft.com/office/drawing/2014/main" id="{C7EB093D-3C57-40DC-B6D7-5ACF3EC4A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370013"/>
            <a:ext cx="8353425" cy="4752975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推论：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设格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是一个有余分配格，则对任意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的余元素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是唯一的。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是有余格，设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a″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的余元素，即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 0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 1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″= 0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″= 1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″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″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由定理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7.4.2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a′= a″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</p:txBody>
      </p:sp>
      <p:sp>
        <p:nvSpPr>
          <p:cNvPr id="104451" name="灯片编号占位符 1">
            <a:extLst>
              <a:ext uri="{FF2B5EF4-FFF2-40B4-BE49-F238E27FC236}">
                <a16:creationId xmlns="" xmlns:a16="http://schemas.microsoft.com/office/drawing/2014/main" id="{3E2EE226-57E7-49FD-9619-301404947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3731FCF-121E-4A6A-AA81-DAC9ECDB164F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5B997C7C-53EB-4613-A8A4-DA9C136619B9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4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F16CEE9-DD80-47D8-9943-3977CCC80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484313"/>
            <a:ext cx="8301037" cy="4105275"/>
          </a:xfrm>
        </p:spPr>
        <p:txBody>
          <a:bodyPr/>
          <a:lstStyle/>
          <a:p>
            <a:pPr algn="just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3000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为一集合，（ρ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(A),</a:t>
            </a:r>
            <a:r>
              <a:rPr lang="en-US" altLang="zh-CN" sz="3000" kern="100" spc="-3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kern="100" spc="-3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）为有余格，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中每个元素的余元素（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）。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tabLst>
                <a:tab pos="2700655" algn="l"/>
              </a:tabLst>
              <a:defRPr/>
            </a:pP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．存在且唯一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         B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．不存在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tabLst>
                <a:tab pos="2700655" algn="l"/>
              </a:tabLst>
              <a:defRPr/>
            </a:pP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．存在但不唯一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．可能存在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答案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5475" name="灯片编号占位符 1">
            <a:extLst>
              <a:ext uri="{FF2B5EF4-FFF2-40B4-BE49-F238E27FC236}">
                <a16:creationId xmlns="" xmlns:a16="http://schemas.microsoft.com/office/drawing/2014/main" id="{4F0861F3-687D-4B63-A74C-F95936F71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BFC57D-CAA6-4ECE-A327-CB020C543182}" type="slidenum">
              <a:rPr lang="en-US" altLang="ko-KR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4F197A22-2E8E-4522-8F90-7D603643D8A1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Times New Roman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293423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47EB8D8-E62C-452C-8821-0B2782E1D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88" y="1287463"/>
            <a:ext cx="8302625" cy="5195887"/>
          </a:xfrm>
        </p:spPr>
        <p:txBody>
          <a:bodyPr/>
          <a:lstStyle/>
          <a:p>
            <a:pPr algn="just">
              <a:lnSpc>
                <a:spcPct val="125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zh-CN" sz="3000" kern="100" spc="-3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有界格是否一定有限？有余格中，每个元素的余元素一定唯一吗？</a:t>
            </a:r>
            <a:endParaRPr lang="zh-CN" altLang="zh-CN" sz="30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zh-CN" sz="3000" kern="100" spc="-3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任意一个链都是分配格吗？是有余分配格吗？</a:t>
            </a:r>
            <a:endParaRPr lang="zh-CN" altLang="zh-CN" sz="30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 , 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是有界分配格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中有一元素存在余元素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问余元素是否一定唯一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是自然数集，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是数的小于等于关系，则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(N,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是有余分配格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对吗？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答案：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不一定；不一定；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2.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是，不一定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3.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一定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不对</a:t>
            </a:r>
          </a:p>
        </p:txBody>
      </p:sp>
      <p:sp>
        <p:nvSpPr>
          <p:cNvPr id="106499" name="灯片编号占位符 1">
            <a:extLst>
              <a:ext uri="{FF2B5EF4-FFF2-40B4-BE49-F238E27FC236}">
                <a16:creationId xmlns="" xmlns:a16="http://schemas.microsoft.com/office/drawing/2014/main" id="{1CE97087-0BC4-4285-8CBB-7B50E6770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17FFF4-2B9C-4B26-9D12-7DB689252C59}" type="slidenum">
              <a:rPr lang="en-US" altLang="ko-KR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38B0E50B-582A-4E6F-9139-BE100CDD5DF1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/>
              </a:rPr>
              <a:t>练习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883337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内容占位符 2"/>
          <p:cNvSpPr>
            <a:spLocks noGrp="1"/>
          </p:cNvSpPr>
          <p:nvPr>
            <p:ph idx="1"/>
          </p:nvPr>
        </p:nvSpPr>
        <p:spPr>
          <a:xfrm>
            <a:off x="403225" y="1125538"/>
            <a:ext cx="8588375" cy="4032250"/>
          </a:xfrm>
        </p:spPr>
        <p:txBody>
          <a:bodyPr/>
          <a:lstStyle/>
          <a:p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下面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给出的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元格中请回答哪些是分配格，哪些是有余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？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128003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128004" name="Group 1"/>
          <p:cNvGrpSpPr>
            <a:grpSpLocks/>
          </p:cNvGrpSpPr>
          <p:nvPr/>
        </p:nvGrpSpPr>
        <p:grpSpPr bwMode="auto">
          <a:xfrm>
            <a:off x="684213" y="2349500"/>
            <a:ext cx="1150937" cy="2303463"/>
            <a:chOff x="4991" y="6939"/>
            <a:chExt cx="694" cy="780"/>
          </a:xfrm>
        </p:grpSpPr>
        <p:grpSp>
          <p:nvGrpSpPr>
            <p:cNvPr id="128044" name="Group 5"/>
            <p:cNvGrpSpPr>
              <a:grpSpLocks/>
            </p:cNvGrpSpPr>
            <p:nvPr/>
          </p:nvGrpSpPr>
          <p:grpSpPr bwMode="auto">
            <a:xfrm>
              <a:off x="4991" y="7251"/>
              <a:ext cx="360" cy="468"/>
              <a:chOff x="5937" y="11580"/>
              <a:chExt cx="360" cy="468"/>
            </a:xfrm>
          </p:grpSpPr>
          <p:sp>
            <p:nvSpPr>
              <p:cNvPr id="128048" name="Line 7"/>
              <p:cNvSpPr>
                <a:spLocks noChangeShapeType="1"/>
              </p:cNvSpPr>
              <p:nvPr/>
            </p:nvSpPr>
            <p:spPr bwMode="auto">
              <a:xfrm>
                <a:off x="5937" y="11580"/>
                <a:ext cx="360" cy="15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28049" name="Line 6"/>
              <p:cNvSpPr>
                <a:spLocks noChangeShapeType="1"/>
              </p:cNvSpPr>
              <p:nvPr/>
            </p:nvSpPr>
            <p:spPr bwMode="auto">
              <a:xfrm>
                <a:off x="6297" y="11736"/>
                <a:ext cx="0" cy="312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28045" name="Line 4"/>
            <p:cNvSpPr>
              <a:spLocks noChangeShapeType="1"/>
            </p:cNvSpPr>
            <p:nvPr/>
          </p:nvSpPr>
          <p:spPr bwMode="auto">
            <a:xfrm flipV="1">
              <a:off x="4994" y="6939"/>
              <a:ext cx="360" cy="31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46" name="Line 3"/>
            <p:cNvSpPr>
              <a:spLocks noChangeShapeType="1"/>
            </p:cNvSpPr>
            <p:nvPr/>
          </p:nvSpPr>
          <p:spPr bwMode="auto">
            <a:xfrm>
              <a:off x="5351" y="6939"/>
              <a:ext cx="334" cy="25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47" name="Line 2"/>
            <p:cNvSpPr>
              <a:spLocks noChangeShapeType="1"/>
            </p:cNvSpPr>
            <p:nvPr/>
          </p:nvSpPr>
          <p:spPr bwMode="auto">
            <a:xfrm flipH="1">
              <a:off x="5351" y="7196"/>
              <a:ext cx="334" cy="21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28005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128006" name="Rectangle 2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128007" name="Rectangle 2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128008" name="Group 21"/>
          <p:cNvGrpSpPr>
            <a:grpSpLocks/>
          </p:cNvGrpSpPr>
          <p:nvPr/>
        </p:nvGrpSpPr>
        <p:grpSpPr bwMode="auto">
          <a:xfrm>
            <a:off x="3563938" y="2492375"/>
            <a:ext cx="1558925" cy="2046288"/>
            <a:chOff x="3544" y="6447"/>
            <a:chExt cx="776" cy="1140"/>
          </a:xfrm>
        </p:grpSpPr>
        <p:sp>
          <p:nvSpPr>
            <p:cNvPr id="128038" name="Line 27"/>
            <p:cNvSpPr>
              <a:spLocks noChangeShapeType="1"/>
            </p:cNvSpPr>
            <p:nvPr/>
          </p:nvSpPr>
          <p:spPr bwMode="auto">
            <a:xfrm flipH="1">
              <a:off x="3551" y="6468"/>
              <a:ext cx="360" cy="46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9" name="Line 26"/>
            <p:cNvSpPr>
              <a:spLocks noChangeShapeType="1"/>
            </p:cNvSpPr>
            <p:nvPr/>
          </p:nvSpPr>
          <p:spPr bwMode="auto">
            <a:xfrm>
              <a:off x="3544" y="6939"/>
              <a:ext cx="360" cy="62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40" name="Line 25"/>
            <p:cNvSpPr>
              <a:spLocks noChangeShapeType="1"/>
            </p:cNvSpPr>
            <p:nvPr/>
          </p:nvSpPr>
          <p:spPr bwMode="auto">
            <a:xfrm>
              <a:off x="3911" y="6468"/>
              <a:ext cx="409" cy="46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41" name="Line 24"/>
            <p:cNvSpPr>
              <a:spLocks noChangeShapeType="1"/>
            </p:cNvSpPr>
            <p:nvPr/>
          </p:nvSpPr>
          <p:spPr bwMode="auto">
            <a:xfrm flipH="1">
              <a:off x="3911" y="6963"/>
              <a:ext cx="394" cy="62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42" name="Line 23"/>
            <p:cNvSpPr>
              <a:spLocks noChangeShapeType="1"/>
            </p:cNvSpPr>
            <p:nvPr/>
          </p:nvSpPr>
          <p:spPr bwMode="auto">
            <a:xfrm>
              <a:off x="3904" y="6447"/>
              <a:ext cx="7" cy="54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43" name="Line 22"/>
            <p:cNvSpPr>
              <a:spLocks noChangeShapeType="1"/>
            </p:cNvSpPr>
            <p:nvPr/>
          </p:nvSpPr>
          <p:spPr bwMode="auto">
            <a:xfrm>
              <a:off x="3911" y="6807"/>
              <a:ext cx="0" cy="78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28009" name="Rectangle 3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128010" name="Group 29"/>
          <p:cNvGrpSpPr>
            <a:grpSpLocks/>
          </p:cNvGrpSpPr>
          <p:nvPr/>
        </p:nvGrpSpPr>
        <p:grpSpPr bwMode="auto">
          <a:xfrm>
            <a:off x="5724524" y="2492375"/>
            <a:ext cx="830380" cy="1871663"/>
            <a:chOff x="6249" y="6435"/>
            <a:chExt cx="669" cy="996"/>
          </a:xfrm>
        </p:grpSpPr>
        <p:sp>
          <p:nvSpPr>
            <p:cNvPr id="128033" name="Line 34"/>
            <p:cNvSpPr>
              <a:spLocks noChangeShapeType="1"/>
            </p:cNvSpPr>
            <p:nvPr/>
          </p:nvSpPr>
          <p:spPr bwMode="auto">
            <a:xfrm>
              <a:off x="6249" y="7112"/>
              <a:ext cx="360" cy="3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4" name="Line 33"/>
            <p:cNvSpPr>
              <a:spLocks noChangeShapeType="1"/>
            </p:cNvSpPr>
            <p:nvPr/>
          </p:nvSpPr>
          <p:spPr bwMode="auto">
            <a:xfrm flipV="1">
              <a:off x="6249" y="6807"/>
              <a:ext cx="360" cy="30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5" name="Line 32"/>
            <p:cNvSpPr>
              <a:spLocks noChangeShapeType="1"/>
            </p:cNvSpPr>
            <p:nvPr/>
          </p:nvSpPr>
          <p:spPr bwMode="auto">
            <a:xfrm>
              <a:off x="6609" y="6807"/>
              <a:ext cx="291" cy="35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6" name="Line 31"/>
            <p:cNvSpPr>
              <a:spLocks noChangeShapeType="1"/>
            </p:cNvSpPr>
            <p:nvPr/>
          </p:nvSpPr>
          <p:spPr bwMode="auto">
            <a:xfrm flipH="1">
              <a:off x="6597" y="7163"/>
              <a:ext cx="321" cy="26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7" name="Line 30"/>
            <p:cNvSpPr>
              <a:spLocks noChangeShapeType="1"/>
            </p:cNvSpPr>
            <p:nvPr/>
          </p:nvSpPr>
          <p:spPr bwMode="auto">
            <a:xfrm flipV="1">
              <a:off x="6609" y="6435"/>
              <a:ext cx="6" cy="37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28011" name="Rectangle 4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128012" name="Group 36"/>
          <p:cNvGrpSpPr>
            <a:grpSpLocks/>
          </p:cNvGrpSpPr>
          <p:nvPr/>
        </p:nvGrpSpPr>
        <p:grpSpPr bwMode="auto">
          <a:xfrm>
            <a:off x="7227888" y="2565400"/>
            <a:ext cx="960437" cy="1384300"/>
            <a:chOff x="978" y="7528"/>
            <a:chExt cx="900" cy="936"/>
          </a:xfrm>
        </p:grpSpPr>
        <p:sp>
          <p:nvSpPr>
            <p:cNvPr id="128028" name="Line 41"/>
            <p:cNvSpPr>
              <a:spLocks noChangeShapeType="1"/>
            </p:cNvSpPr>
            <p:nvPr/>
          </p:nvSpPr>
          <p:spPr bwMode="auto">
            <a:xfrm flipH="1">
              <a:off x="978" y="7528"/>
              <a:ext cx="54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29" name="Line 40"/>
            <p:cNvSpPr>
              <a:spLocks noChangeShapeType="1"/>
            </p:cNvSpPr>
            <p:nvPr/>
          </p:nvSpPr>
          <p:spPr bwMode="auto">
            <a:xfrm>
              <a:off x="1518" y="7528"/>
              <a:ext cx="360" cy="2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0" name="Line 39"/>
            <p:cNvSpPr>
              <a:spLocks noChangeShapeType="1"/>
            </p:cNvSpPr>
            <p:nvPr/>
          </p:nvSpPr>
          <p:spPr bwMode="auto">
            <a:xfrm flipH="1">
              <a:off x="1878" y="7770"/>
              <a:ext cx="0" cy="4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1" name="Line 38"/>
            <p:cNvSpPr>
              <a:spLocks noChangeShapeType="1"/>
            </p:cNvSpPr>
            <p:nvPr/>
          </p:nvSpPr>
          <p:spPr bwMode="auto">
            <a:xfrm>
              <a:off x="978" y="7840"/>
              <a:ext cx="540" cy="6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2" name="Line 37"/>
            <p:cNvSpPr>
              <a:spLocks noChangeShapeType="1"/>
            </p:cNvSpPr>
            <p:nvPr/>
          </p:nvSpPr>
          <p:spPr bwMode="auto">
            <a:xfrm flipH="1">
              <a:off x="1518" y="8190"/>
              <a:ext cx="360" cy="2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51" name="文本框 50"/>
          <p:cNvSpPr txBox="1">
            <a:spLocks noChangeArrowheads="1"/>
          </p:cNvSpPr>
          <p:nvPr/>
        </p:nvSpPr>
        <p:spPr bwMode="auto">
          <a:xfrm>
            <a:off x="506413" y="5289550"/>
            <a:ext cx="79930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答案：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分配格：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(1)(2)(4)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有余格：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(3)(5)</a:t>
            </a:r>
          </a:p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</a:t>
            </a:r>
            <a:endParaRPr lang="zh-CN" alt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014" name="文本框 51"/>
          <p:cNvSpPr txBox="1">
            <a:spLocks noChangeArrowheads="1"/>
          </p:cNvSpPr>
          <p:nvPr/>
        </p:nvSpPr>
        <p:spPr bwMode="auto">
          <a:xfrm>
            <a:off x="611188" y="4724400"/>
            <a:ext cx="79216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3000">
                <a:solidFill>
                  <a:srgbClr val="000000"/>
                </a:solidFill>
              </a:rPr>
              <a:t>(1)             (2)            (3)                 (4)              (5)</a:t>
            </a:r>
            <a:endParaRPr lang="zh-CN" altLang="en-US" sz="3000">
              <a:solidFill>
                <a:srgbClr val="000000"/>
              </a:solidFill>
            </a:endParaRPr>
          </a:p>
        </p:txBody>
      </p:sp>
      <p:sp>
        <p:nvSpPr>
          <p:cNvPr id="12801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B9A02B5-41C5-4CA8-9814-9F2E99C7374C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grpSp>
        <p:nvGrpSpPr>
          <p:cNvPr id="128017" name="组合 5"/>
          <p:cNvGrpSpPr>
            <a:grpSpLocks/>
          </p:cNvGrpSpPr>
          <p:nvPr/>
        </p:nvGrpSpPr>
        <p:grpSpPr bwMode="auto">
          <a:xfrm>
            <a:off x="2555875" y="2420938"/>
            <a:ext cx="120650" cy="2232025"/>
            <a:chOff x="2555776" y="2565400"/>
            <a:chExt cx="72008" cy="1799704"/>
          </a:xfrm>
        </p:grpSpPr>
        <p:sp>
          <p:nvSpPr>
            <p:cNvPr id="128018" name="椭圆 43"/>
            <p:cNvSpPr>
              <a:spLocks noChangeArrowheads="1"/>
            </p:cNvSpPr>
            <p:nvPr/>
          </p:nvSpPr>
          <p:spPr bwMode="auto">
            <a:xfrm>
              <a:off x="2555776" y="3001864"/>
              <a:ext cx="72008" cy="6709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grpSp>
          <p:nvGrpSpPr>
            <p:cNvPr id="128019" name="组合 4"/>
            <p:cNvGrpSpPr>
              <a:grpSpLocks/>
            </p:cNvGrpSpPr>
            <p:nvPr/>
          </p:nvGrpSpPr>
          <p:grpSpPr bwMode="auto">
            <a:xfrm>
              <a:off x="2555776" y="2565400"/>
              <a:ext cx="72008" cy="1799704"/>
              <a:chOff x="2555776" y="2565400"/>
              <a:chExt cx="72008" cy="1799704"/>
            </a:xfrm>
          </p:grpSpPr>
          <p:sp>
            <p:nvSpPr>
              <p:cNvPr id="128020" name="椭圆 1"/>
              <p:cNvSpPr>
                <a:spLocks noChangeArrowheads="1"/>
              </p:cNvSpPr>
              <p:nvPr/>
            </p:nvSpPr>
            <p:spPr bwMode="auto">
              <a:xfrm>
                <a:off x="2555776" y="2565400"/>
                <a:ext cx="72008" cy="6709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021" name="椭圆 44"/>
              <p:cNvSpPr>
                <a:spLocks noChangeArrowheads="1"/>
              </p:cNvSpPr>
              <p:nvPr/>
            </p:nvSpPr>
            <p:spPr bwMode="auto">
              <a:xfrm>
                <a:off x="2555776" y="3433912"/>
                <a:ext cx="72008" cy="6709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022" name="椭圆 45"/>
              <p:cNvSpPr>
                <a:spLocks noChangeArrowheads="1"/>
              </p:cNvSpPr>
              <p:nvPr/>
            </p:nvSpPr>
            <p:spPr bwMode="auto">
              <a:xfrm>
                <a:off x="2555776" y="3865960"/>
                <a:ext cx="72008" cy="6709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023" name="椭圆 46"/>
              <p:cNvSpPr>
                <a:spLocks noChangeArrowheads="1"/>
              </p:cNvSpPr>
              <p:nvPr/>
            </p:nvSpPr>
            <p:spPr bwMode="auto">
              <a:xfrm>
                <a:off x="2555776" y="4298008"/>
                <a:ext cx="72008" cy="6709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28024" name="直接连接符 3"/>
              <p:cNvCxnSpPr>
                <a:cxnSpLocks noChangeShapeType="1"/>
                <a:stCxn id="128020" idx="4"/>
              </p:cNvCxnSpPr>
              <p:nvPr/>
            </p:nvCxnSpPr>
            <p:spPr bwMode="auto">
              <a:xfrm>
                <a:off x="2591780" y="2632496"/>
                <a:ext cx="0" cy="369368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8025" name="直接连接符 51"/>
              <p:cNvCxnSpPr>
                <a:cxnSpLocks noChangeShapeType="1"/>
              </p:cNvCxnSpPr>
              <p:nvPr/>
            </p:nvCxnSpPr>
            <p:spPr bwMode="auto">
              <a:xfrm>
                <a:off x="2591780" y="3059338"/>
                <a:ext cx="0" cy="369368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8026" name="直接连接符 52"/>
              <p:cNvCxnSpPr>
                <a:cxnSpLocks noChangeShapeType="1"/>
              </p:cNvCxnSpPr>
              <p:nvPr/>
            </p:nvCxnSpPr>
            <p:spPr bwMode="auto">
              <a:xfrm>
                <a:off x="2591780" y="3486785"/>
                <a:ext cx="0" cy="369368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8027" name="直接连接符 53"/>
              <p:cNvCxnSpPr>
                <a:cxnSpLocks noChangeShapeType="1"/>
              </p:cNvCxnSpPr>
              <p:nvPr/>
            </p:nvCxnSpPr>
            <p:spPr bwMode="auto">
              <a:xfrm>
                <a:off x="2591780" y="3909737"/>
                <a:ext cx="0" cy="369368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50" name="Rectangle 2">
            <a:extLst>
              <a:ext uri="{FF2B5EF4-FFF2-40B4-BE49-F238E27FC236}">
                <a16:creationId xmlns="" xmlns:a16="http://schemas.microsoft.com/office/drawing/2014/main" id="{7C9F3D0C-0DDE-4A17-AB44-5F0420109045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/>
              </a:rPr>
              <a:t>练习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949591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194" y="908720"/>
            <a:ext cx="8568952" cy="547260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、第四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次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作业（</a:t>
            </a: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今晚截止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是含壹环，对于任意的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b∈R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endParaRPr lang="zh-CN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=a+b+1,</a:t>
            </a:r>
            <a:endParaRPr lang="zh-CN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a⊙b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a·b+a+b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buNone/>
            </a:pP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⊙)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也是含壹环</a:t>
            </a:r>
            <a:r>
              <a:rPr lang="zh-CN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、关于复习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、关于答疑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、第二次随堂测试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 </a:t>
            </a:r>
            <a:endParaRPr lang="zh-CN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815331-AD77-45F4-9842-8F4AF06682C8}" type="slidenum">
              <a:rPr lang="ko-KR" altLang="en-US" smtClean="0"/>
              <a:pPr>
                <a:defRPr/>
              </a:pPr>
              <a:t>66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02189018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-323850" y="1557338"/>
            <a:ext cx="9144000" cy="1066800"/>
          </a:xfrm>
        </p:spPr>
        <p:txBody>
          <a:bodyPr/>
          <a:lstStyle/>
          <a:p>
            <a:r>
              <a:rPr lang="en-US" altLang="zh-CN" sz="6100" smtClean="0">
                <a:latin typeface="Times New Roman" panose="02020603050405020304" pitchFamily="18" charset="0"/>
              </a:rPr>
              <a:t>§7.5  </a:t>
            </a:r>
            <a:r>
              <a:rPr lang="zh-CN" altLang="en-US" sz="6100" smtClean="0">
                <a:latin typeface="Times New Roman" panose="02020603050405020304" pitchFamily="18" charset="0"/>
              </a:rPr>
              <a:t>布 尔 代 数</a:t>
            </a:r>
          </a:p>
        </p:txBody>
      </p:sp>
      <p:sp>
        <p:nvSpPr>
          <p:cNvPr id="13005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068638"/>
            <a:ext cx="7129463" cy="2800350"/>
          </a:xfrm>
        </p:spPr>
        <p:txBody>
          <a:bodyPr/>
          <a:lstStyle/>
          <a:p>
            <a:pPr algn="l"/>
            <a:r>
              <a:rPr lang="en-US" altLang="zh-CN" sz="3500" b="1" dirty="0" smtClean="0">
                <a:solidFill>
                  <a:schemeClr val="tx2"/>
                </a:solidFill>
              </a:rPr>
              <a:t>7.5.1  </a:t>
            </a:r>
            <a:r>
              <a:rPr lang="zh-CN" altLang="en-US" sz="35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布尔代数的定义及其性质</a:t>
            </a:r>
            <a:endParaRPr lang="zh-CN" altLang="en-US" sz="3500" b="1" dirty="0" smtClean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/>
            <a:endParaRPr lang="zh-CN" altLang="en-US" b="1" dirty="0" smtClean="0">
              <a:solidFill>
                <a:schemeClr val="tx2"/>
              </a:solidFill>
            </a:endParaRPr>
          </a:p>
        </p:txBody>
      </p:sp>
      <p:sp>
        <p:nvSpPr>
          <p:cNvPr id="13005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03860A-424B-43C0-8E2F-D1444234FA8D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947954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  <a:ea typeface="宋体" pitchFamily="2" charset="-122"/>
              </a:rPr>
              <a:t>7.5.1 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布尔代数的定义及其性质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270000"/>
            <a:ext cx="8208963" cy="4822825"/>
          </a:xfrm>
        </p:spPr>
        <p:txBody>
          <a:bodyPr/>
          <a:lstStyle/>
          <a:p>
            <a:pPr algn="just">
              <a:buClr>
                <a:srgbClr val="0000FF"/>
              </a:buClr>
            </a:pPr>
            <a:r>
              <a:rPr lang="zh-CN" altLang="en-US" sz="32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sz="32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3200" b="1" dirty="0" smtClean="0">
                <a:ea typeface="宋体" panose="02010600030101010101" pitchFamily="2" charset="-122"/>
              </a:rPr>
              <a:t> 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一个有余分配格是一个布尔代数。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记为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ˉ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13107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CEAF997-0074-4C2D-9E74-1E970BA02BF3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105323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54038" y="1412875"/>
            <a:ext cx="8266434" cy="4606925"/>
          </a:xfrm>
        </p:spPr>
        <p:txBody>
          <a:bodyPr/>
          <a:lstStyle/>
          <a:p>
            <a:pPr algn="just">
              <a:buClr>
                <a:srgbClr val="0000FF"/>
              </a:buClr>
            </a:pP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，ˉ，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是一个布尔代数，</a:t>
            </a: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是集合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中任意元素，有如下性质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</a:p>
          <a:p>
            <a:pPr algn="just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 因为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是一个格，有</a:t>
            </a:r>
          </a:p>
          <a:p>
            <a:pPr algn="just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a·a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a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           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1’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a+a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b·a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         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2’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b+a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)·c=a·(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b·c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3’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)+c=a+(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a·(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a,              4’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a+(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a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endParaRPr lang="zh-CN" altLang="en-US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209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067E284-9A2E-42C6-BDE1-60CFD5D44D53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布尔代数的性质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197763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54038" y="1412875"/>
            <a:ext cx="8313737" cy="4606925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二</a:t>
            </a:r>
            <a:r>
              <a:rPr lang="en-US" altLang="zh-CN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r>
              <a:rPr lang="zh-CN" altLang="en-US" sz="3000" b="1" dirty="0" smtClean="0">
                <a:ea typeface="宋体" panose="02010600030101010101" pitchFamily="2" charset="-122"/>
              </a:rPr>
              <a:t>  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zh-CN" altLang="en-US" sz="3000" dirty="0" smtClean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分配格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，所以有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a·(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5’)a+(b·c)=(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·(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6) 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b·c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7)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a·c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a+c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b=c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证：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6)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左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=(a·(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)) +(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b·c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)=(a+(b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c))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c))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=(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·(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b+c+b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).(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zh-CN" altLang="en-US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312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29EF11-FF12-499C-BFF8-9C46D199A8D0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70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布尔代数的性质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258372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内容占位符 2"/>
          <p:cNvSpPr>
            <a:spLocks noGrp="1"/>
          </p:cNvSpPr>
          <p:nvPr>
            <p:ph idx="1"/>
          </p:nvPr>
        </p:nvSpPr>
        <p:spPr>
          <a:xfrm>
            <a:off x="467544" y="1212850"/>
            <a:ext cx="8568952" cy="4572000"/>
          </a:xfrm>
        </p:spPr>
        <p:txBody>
          <a:bodyPr/>
          <a:lstStyle/>
          <a:p>
            <a:pPr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三</a:t>
            </a:r>
            <a:r>
              <a:rPr lang="en-US" altLang="zh-CN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r>
              <a:rPr lang="zh-CN" altLang="en-US" sz="30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endParaRPr lang="en-US" altLang="zh-CN" sz="3000" b="1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是有界格，所以有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8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0≤a≤1</a:t>
            </a:r>
            <a:endParaRPr lang="zh-CN" altLang="en-US" sz="32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9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a·0 = 0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              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9’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a+1 = 1</a:t>
            </a:r>
            <a:endParaRPr lang="zh-CN" altLang="en-US" sz="32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a·1 = a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             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10’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a+0 = a</a:t>
            </a:r>
            <a:endParaRPr lang="zh-CN" altLang="en-US" sz="32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14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9E7F57-98ED-4126-AAF0-34EE370977A1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71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布尔代数的性质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610538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E25E47-4CCD-4C09-88A6-DCDB96ABE077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72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布尔代数的性质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  <p:pic>
        <p:nvPicPr>
          <p:cNvPr id="135172" name="内容占位符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169988"/>
            <a:ext cx="7775575" cy="5211762"/>
          </a:xfrm>
        </p:spPr>
      </p:pic>
    </p:spTree>
    <p:extLst>
      <p:ext uri="{BB962C8B-B14F-4D97-AF65-F5344CB8AC3E}">
        <p14:creationId xmlns:p14="http://schemas.microsoft.com/office/powerpoint/2010/main" val="222586785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764704"/>
            <a:ext cx="8301038" cy="528367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 smtClean="0"/>
              <a:t>16)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zh-CN" altLang="en-US" sz="2800" dirty="0" smtClean="0"/>
              <a:t>证明</a:t>
            </a:r>
            <a:r>
              <a:rPr lang="en-US" altLang="zh-CN" sz="2800" dirty="0" smtClean="0">
                <a:sym typeface="Wingdings" panose="05000000000000000000" pitchFamily="2" charset="2"/>
              </a:rPr>
              <a:t>: (1)</a:t>
            </a:r>
            <a:r>
              <a:rPr lang="en-US" altLang="zh-CN" sz="2800" dirty="0" smtClean="0">
                <a:sym typeface="Symbol" panose="05050102010706020507" pitchFamily="18" charset="2"/>
              </a:rPr>
              <a:t>(2)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 smtClean="0">
                <a:sym typeface="Symbol" panose="05050102010706020507" pitchFamily="18" charset="2"/>
              </a:rPr>
              <a:t>(2) (3)</a:t>
            </a:r>
          </a:p>
          <a:p>
            <a:pPr marL="0" indent="0">
              <a:spcBef>
                <a:spcPts val="1800"/>
              </a:spcBef>
              <a:buNone/>
            </a:pPr>
            <a:endParaRPr lang="en-US" altLang="zh-CN" sz="2800" dirty="0">
              <a:sym typeface="Symbol" panose="05050102010706020507" pitchFamily="18" charset="2"/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 smtClean="0">
                <a:sym typeface="Symbol" panose="05050102010706020507" pitchFamily="18" charset="2"/>
              </a:rPr>
              <a:t>(3)</a:t>
            </a:r>
            <a:r>
              <a:rPr lang="en-US" altLang="zh-CN" sz="2800" dirty="0">
                <a:sym typeface="Symbol" panose="05050102010706020507" pitchFamily="18" charset="2"/>
              </a:rPr>
              <a:t> </a:t>
            </a:r>
            <a:r>
              <a:rPr lang="en-US" altLang="zh-CN" sz="2800" dirty="0" smtClean="0">
                <a:sym typeface="Symbol" panose="05050102010706020507" pitchFamily="18" charset="2"/>
              </a:rPr>
              <a:t>(4)</a:t>
            </a:r>
          </a:p>
          <a:p>
            <a:pPr marL="0" indent="0">
              <a:spcBef>
                <a:spcPts val="1800"/>
              </a:spcBef>
              <a:buNone/>
            </a:pPr>
            <a:endParaRPr lang="en-US" altLang="zh-CN" sz="2800" dirty="0">
              <a:sym typeface="Symbol" panose="05050102010706020507" pitchFamily="18" charset="2"/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2800" dirty="0" smtClean="0">
                <a:sym typeface="Symbol" panose="05050102010706020507" pitchFamily="18" charset="2"/>
              </a:rPr>
              <a:t>(4)</a:t>
            </a:r>
            <a:r>
              <a:rPr lang="en-US" altLang="zh-CN" sz="2800" dirty="0">
                <a:sym typeface="Symbol" panose="05050102010706020507" pitchFamily="18" charset="2"/>
              </a:rPr>
              <a:t> </a:t>
            </a:r>
            <a:r>
              <a:rPr lang="en-US" altLang="zh-CN" sz="2800" dirty="0" smtClean="0">
                <a:sym typeface="Symbol" panose="05050102010706020507" pitchFamily="18" charset="2"/>
              </a:rPr>
              <a:t>(1)</a:t>
            </a:r>
          </a:p>
          <a:p>
            <a:pPr marL="0" indent="0">
              <a:spcBef>
                <a:spcPts val="1800"/>
              </a:spcBef>
              <a:buNone/>
            </a:pPr>
            <a:endParaRPr lang="en-US" altLang="zh-CN" sz="2800" dirty="0" smtClean="0">
              <a:sym typeface="Symbol" panose="05050102010706020507" pitchFamily="18" charset="2"/>
            </a:endParaRPr>
          </a:p>
          <a:p>
            <a:pPr marL="0" indent="0">
              <a:spcBef>
                <a:spcPts val="1800"/>
              </a:spcBef>
              <a:buNone/>
            </a:pPr>
            <a:endParaRPr lang="en-US" altLang="zh-CN" sz="2800" dirty="0" smtClean="0">
              <a:sym typeface="Symbol" panose="05050102010706020507" pitchFamily="18" charset="2"/>
            </a:endParaRPr>
          </a:p>
          <a:p>
            <a:pPr marL="0" indent="0">
              <a:spcBef>
                <a:spcPts val="1800"/>
              </a:spcBef>
              <a:buNone/>
            </a:pPr>
            <a:endParaRPr lang="en-US" altLang="zh-CN" sz="2800" dirty="0" smtClean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2800" dirty="0" smtClean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2800" dirty="0" smtClean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2800" dirty="0" smtClean="0"/>
              <a:t> 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58FE3F-1683-41DA-A542-13489F2A23AF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73</a:t>
            </a:fld>
            <a:endParaRPr lang="en-US" altLang="ko-KR">
              <a:solidFill>
                <a:srgbClr val="00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580959"/>
              </p:ext>
            </p:extLst>
          </p:nvPr>
        </p:nvGraphicFramePr>
        <p:xfrm>
          <a:off x="1259632" y="791863"/>
          <a:ext cx="513873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33" name="Equation" r:id="rId3" imgW="2298600" imgH="215640" progId="Equation.3">
                  <p:embed/>
                </p:oleObj>
              </mc:Choice>
              <mc:Fallback>
                <p:oleObj name="Equation" r:id="rId3" imgW="2298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791863"/>
                        <a:ext cx="5138737" cy="479425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196262"/>
              </p:ext>
            </p:extLst>
          </p:nvPr>
        </p:nvGraphicFramePr>
        <p:xfrm>
          <a:off x="3059832" y="1412776"/>
          <a:ext cx="49688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34" name="Equation" r:id="rId5" imgW="2222280" imgH="215640" progId="Equation.3">
                  <p:embed/>
                </p:oleObj>
              </mc:Choice>
              <mc:Fallback>
                <p:oleObj name="Equation" r:id="rId5" imgW="22222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1412776"/>
                        <a:ext cx="4968875" cy="479425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697217"/>
              </p:ext>
            </p:extLst>
          </p:nvPr>
        </p:nvGraphicFramePr>
        <p:xfrm>
          <a:off x="552780" y="2636912"/>
          <a:ext cx="826293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35" name="Equation" r:id="rId7" imgW="3695400" imgH="241200" progId="Equation.3">
                  <p:embed/>
                </p:oleObj>
              </mc:Choice>
              <mc:Fallback>
                <p:oleObj name="Equation" r:id="rId7" imgW="3695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780" y="2636912"/>
                        <a:ext cx="8262937" cy="534987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966510"/>
              </p:ext>
            </p:extLst>
          </p:nvPr>
        </p:nvGraphicFramePr>
        <p:xfrm>
          <a:off x="561975" y="3966023"/>
          <a:ext cx="54800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36" name="Equation" r:id="rId9" imgW="2450880" imgH="215640" progId="Equation.3">
                  <p:embed/>
                </p:oleObj>
              </mc:Choice>
              <mc:Fallback>
                <p:oleObj name="Equation" r:id="rId9" imgW="2450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3966023"/>
                        <a:ext cx="5480050" cy="479425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878198"/>
              </p:ext>
            </p:extLst>
          </p:nvPr>
        </p:nvGraphicFramePr>
        <p:xfrm>
          <a:off x="467544" y="5350277"/>
          <a:ext cx="8496944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37" name="Equation" r:id="rId11" imgW="3936960" imgH="241200" progId="Equation.3">
                  <p:embed/>
                </p:oleObj>
              </mc:Choice>
              <mc:Fallback>
                <p:oleObj name="Equation" r:id="rId11" imgW="39369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5350277"/>
                        <a:ext cx="8496944" cy="534987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1271811"/>
      </p:ext>
    </p:extLst>
  </p:cSld>
  <p:clrMapOvr>
    <a:masterClrMapping/>
  </p:clrMapOvr>
  <p:transition spd="med"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Huntington(</a:t>
            </a: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亨廷顿</a:t>
            </a:r>
            <a:r>
              <a:rPr lang="en-US" altLang="zh-CN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)</a:t>
            </a: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公理 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7991475" cy="4948237"/>
          </a:xfrm>
        </p:spPr>
        <p:txBody>
          <a:bodyPr/>
          <a:lstStyle/>
          <a:p>
            <a:pPr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b="1" dirty="0">
                <a:solidFill>
                  <a:srgbClr val="0000FF"/>
                </a:solidFill>
                <a:ea typeface="宋体" pitchFamily="2" charset="-122"/>
              </a:rPr>
              <a:t>定理</a:t>
            </a:r>
            <a:r>
              <a:rPr lang="en-US" altLang="zh-CN" sz="2900" b="1" dirty="0" smtClean="0">
                <a:solidFill>
                  <a:srgbClr val="0000FF"/>
                </a:solidFill>
                <a:ea typeface="宋体" pitchFamily="2" charset="-122"/>
              </a:rPr>
              <a:t>7.5.1:  </a:t>
            </a:r>
            <a:r>
              <a:rPr lang="zh-CN" altLang="en-US" sz="2900" dirty="0">
                <a:ea typeface="宋体" pitchFamily="2" charset="-122"/>
              </a:rPr>
              <a:t>设</a:t>
            </a:r>
            <a:r>
              <a:rPr lang="en-US" altLang="zh-CN" sz="2900" dirty="0">
                <a:ea typeface="宋体" pitchFamily="2" charset="-122"/>
              </a:rPr>
              <a:t>B</a:t>
            </a:r>
            <a:r>
              <a:rPr lang="zh-CN" altLang="en-US" sz="2900" dirty="0">
                <a:ea typeface="宋体" pitchFamily="2" charset="-122"/>
              </a:rPr>
              <a:t>是一个</a:t>
            </a:r>
            <a:r>
              <a:rPr lang="zh-CN" altLang="en-US" sz="2900" dirty="0">
                <a:solidFill>
                  <a:srgbClr val="0000FF"/>
                </a:solidFill>
                <a:ea typeface="宋体" pitchFamily="2" charset="-122"/>
              </a:rPr>
              <a:t>至少含有两个不同元素</a:t>
            </a:r>
            <a:r>
              <a:rPr lang="zh-CN" altLang="en-US" sz="2900" dirty="0" smtClean="0">
                <a:ea typeface="宋体" pitchFamily="2" charset="-122"/>
              </a:rPr>
              <a:t>的</a:t>
            </a:r>
            <a:endParaRPr lang="en-US" altLang="zh-CN" sz="2900" dirty="0" smtClean="0">
              <a:ea typeface="宋体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ea typeface="宋体" pitchFamily="2" charset="-122"/>
              </a:rPr>
              <a:t> </a:t>
            </a:r>
            <a:r>
              <a:rPr lang="zh-CN" altLang="en-US" sz="2900" dirty="0" smtClean="0">
                <a:ea typeface="宋体" pitchFamily="2" charset="-122"/>
              </a:rPr>
              <a:t>集合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>
                <a:ea typeface="宋体" pitchFamily="2" charset="-122"/>
              </a:rPr>
              <a:t>·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>
                <a:ea typeface="宋体" pitchFamily="2" charset="-122"/>
              </a:rPr>
              <a:t>+</a:t>
            </a:r>
            <a:r>
              <a:rPr lang="zh-CN" altLang="en-US" sz="2900" dirty="0">
                <a:ea typeface="宋体" pitchFamily="2" charset="-122"/>
              </a:rPr>
              <a:t>是定义在</a:t>
            </a:r>
            <a:r>
              <a:rPr lang="en-US" altLang="zh-CN" sz="2900" dirty="0">
                <a:ea typeface="宋体" pitchFamily="2" charset="-122"/>
              </a:rPr>
              <a:t>B</a:t>
            </a:r>
            <a:r>
              <a:rPr lang="zh-CN" altLang="en-US" sz="2900" dirty="0">
                <a:ea typeface="宋体" pitchFamily="2" charset="-122"/>
              </a:rPr>
              <a:t>上的两种代数运算，</a:t>
            </a:r>
            <a:r>
              <a:rPr lang="zh-CN" altLang="en-US" sz="2900" dirty="0" smtClean="0">
                <a:ea typeface="宋体" pitchFamily="2" charset="-122"/>
              </a:rPr>
              <a:t>如果</a:t>
            </a:r>
            <a:endParaRPr lang="en-US" altLang="zh-CN" sz="2900" dirty="0" smtClean="0">
              <a:ea typeface="宋体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ea typeface="宋体" pitchFamily="2" charset="-122"/>
              </a:rPr>
              <a:t>对</a:t>
            </a:r>
            <a:r>
              <a:rPr lang="zh-CN" altLang="en-US" sz="2900" dirty="0">
                <a:ea typeface="宋体" pitchFamily="2" charset="-122"/>
              </a:rPr>
              <a:t>任意</a:t>
            </a:r>
            <a:r>
              <a:rPr lang="en-US" altLang="zh-CN" sz="2900" dirty="0">
                <a:ea typeface="宋体" pitchFamily="2" charset="-122"/>
              </a:rPr>
              <a:t>a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>
                <a:ea typeface="宋体" pitchFamily="2" charset="-122"/>
              </a:rPr>
              <a:t>b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 err="1">
                <a:ea typeface="宋体" pitchFamily="2" charset="-122"/>
              </a:rPr>
              <a:t>c∈B</a:t>
            </a:r>
            <a:r>
              <a:rPr lang="zh-CN" altLang="en-US" sz="2900" dirty="0">
                <a:ea typeface="宋体" pitchFamily="2" charset="-122"/>
              </a:rPr>
              <a:t>，满足下面公理：</a:t>
            </a:r>
          </a:p>
          <a:p>
            <a:pPr marL="0" indent="14288"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solidFill>
                  <a:srgbClr val="0000FF"/>
                </a:solidFill>
                <a:ea typeface="宋体" pitchFamily="2" charset="-122"/>
              </a:rPr>
              <a:t>H</a:t>
            </a:r>
            <a:r>
              <a:rPr lang="en-US" altLang="zh-CN" sz="2900" baseline="-30000" dirty="0">
                <a:solidFill>
                  <a:srgbClr val="0000FF"/>
                </a:solidFill>
                <a:ea typeface="宋体" pitchFamily="2" charset="-122"/>
              </a:rPr>
              <a:t>1</a:t>
            </a:r>
            <a:r>
              <a:rPr lang="zh-CN" altLang="en-US" sz="2900" dirty="0">
                <a:solidFill>
                  <a:srgbClr val="0000FF"/>
                </a:solidFill>
                <a:ea typeface="宋体" pitchFamily="2" charset="-122"/>
              </a:rPr>
              <a:t>：</a:t>
            </a:r>
            <a:r>
              <a:rPr lang="en-US" altLang="zh-CN" sz="2900" dirty="0" err="1">
                <a:ea typeface="宋体" pitchFamily="2" charset="-122"/>
              </a:rPr>
              <a:t>a·b</a:t>
            </a:r>
            <a:r>
              <a:rPr lang="en-US" altLang="zh-CN" sz="2900" dirty="0">
                <a:ea typeface="宋体" pitchFamily="2" charset="-122"/>
              </a:rPr>
              <a:t> = </a:t>
            </a:r>
            <a:r>
              <a:rPr lang="en-US" altLang="zh-CN" sz="2900" dirty="0" err="1">
                <a:ea typeface="宋体" pitchFamily="2" charset="-122"/>
              </a:rPr>
              <a:t>b·a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 err="1">
                <a:ea typeface="宋体" pitchFamily="2" charset="-122"/>
              </a:rPr>
              <a:t>a+b</a:t>
            </a:r>
            <a:r>
              <a:rPr lang="en-US" altLang="zh-CN" sz="2900" dirty="0">
                <a:ea typeface="宋体" pitchFamily="2" charset="-122"/>
              </a:rPr>
              <a:t> = </a:t>
            </a:r>
            <a:r>
              <a:rPr lang="en-US" altLang="zh-CN" sz="2900" dirty="0" err="1">
                <a:ea typeface="宋体" pitchFamily="2" charset="-122"/>
              </a:rPr>
              <a:t>b+a</a:t>
            </a:r>
            <a:r>
              <a:rPr lang="en-US" altLang="zh-CN" sz="2900" dirty="0">
                <a:ea typeface="宋体" pitchFamily="2" charset="-122"/>
              </a:rPr>
              <a:t>.</a:t>
            </a:r>
          </a:p>
          <a:p>
            <a:pPr marL="0" indent="14288"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solidFill>
                  <a:srgbClr val="0000FF"/>
                </a:solidFill>
                <a:ea typeface="宋体" pitchFamily="2" charset="-122"/>
              </a:rPr>
              <a:t>H</a:t>
            </a:r>
            <a:r>
              <a:rPr lang="en-US" altLang="zh-CN" sz="2900" baseline="-30000" dirty="0">
                <a:solidFill>
                  <a:srgbClr val="0000FF"/>
                </a:solidFill>
                <a:ea typeface="宋体" pitchFamily="2" charset="-122"/>
              </a:rPr>
              <a:t>2</a:t>
            </a:r>
            <a:r>
              <a:rPr lang="zh-CN" altLang="en-US" sz="2900" dirty="0">
                <a:solidFill>
                  <a:srgbClr val="0000FF"/>
                </a:solidFill>
                <a:ea typeface="宋体" pitchFamily="2" charset="-122"/>
              </a:rPr>
              <a:t>：</a:t>
            </a:r>
            <a:r>
              <a:rPr lang="en-US" altLang="zh-CN" sz="2900" dirty="0">
                <a:ea typeface="宋体" pitchFamily="2" charset="-122"/>
              </a:rPr>
              <a:t>a</a:t>
            </a:r>
            <a:r>
              <a:rPr lang="en-US" altLang="zh-CN" sz="2900" dirty="0" smtClean="0">
                <a:ea typeface="宋体" pitchFamily="2" charset="-122"/>
              </a:rPr>
              <a:t>·(</a:t>
            </a:r>
            <a:r>
              <a:rPr lang="en-US" altLang="zh-CN" sz="2900" dirty="0" err="1" smtClean="0">
                <a:ea typeface="宋体" pitchFamily="2" charset="-122"/>
              </a:rPr>
              <a:t>b+c</a:t>
            </a:r>
            <a:r>
              <a:rPr lang="en-US" altLang="zh-CN" sz="2900" dirty="0">
                <a:ea typeface="宋体" pitchFamily="2" charset="-122"/>
              </a:rPr>
              <a:t>)=(</a:t>
            </a:r>
            <a:r>
              <a:rPr lang="en-US" altLang="zh-CN" sz="2900" dirty="0" err="1">
                <a:ea typeface="宋体" pitchFamily="2" charset="-122"/>
              </a:rPr>
              <a:t>a·b</a:t>
            </a:r>
            <a:r>
              <a:rPr lang="en-US" altLang="zh-CN" sz="2900" dirty="0">
                <a:ea typeface="宋体" pitchFamily="2" charset="-122"/>
              </a:rPr>
              <a:t>)+(</a:t>
            </a:r>
            <a:r>
              <a:rPr lang="en-US" altLang="zh-CN" sz="2900" dirty="0" err="1">
                <a:ea typeface="宋体" pitchFamily="2" charset="-122"/>
              </a:rPr>
              <a:t>a·c</a:t>
            </a:r>
            <a:r>
              <a:rPr lang="en-US" altLang="zh-CN" sz="2900" dirty="0">
                <a:ea typeface="宋体" pitchFamily="2" charset="-122"/>
              </a:rPr>
              <a:t>),  a+(</a:t>
            </a:r>
            <a:r>
              <a:rPr lang="en-US" altLang="zh-CN" sz="2900" dirty="0" err="1">
                <a:ea typeface="宋体" pitchFamily="2" charset="-122"/>
              </a:rPr>
              <a:t>b·c</a:t>
            </a:r>
            <a:r>
              <a:rPr lang="en-US" altLang="zh-CN" sz="2900" dirty="0">
                <a:ea typeface="宋体" pitchFamily="2" charset="-122"/>
              </a:rPr>
              <a:t>)=(</a:t>
            </a:r>
            <a:r>
              <a:rPr lang="en-US" altLang="zh-CN" sz="2900" dirty="0" err="1">
                <a:ea typeface="宋体" pitchFamily="2" charset="-122"/>
              </a:rPr>
              <a:t>a+b</a:t>
            </a:r>
            <a:r>
              <a:rPr lang="en-US" altLang="zh-CN" sz="2900" dirty="0">
                <a:ea typeface="宋体" pitchFamily="2" charset="-122"/>
              </a:rPr>
              <a:t>)·(</a:t>
            </a:r>
            <a:r>
              <a:rPr lang="en-US" altLang="zh-CN" sz="2900" dirty="0" err="1">
                <a:ea typeface="宋体" pitchFamily="2" charset="-122"/>
              </a:rPr>
              <a:t>a+c</a:t>
            </a:r>
            <a:r>
              <a:rPr lang="en-US" altLang="zh-CN" sz="2900" dirty="0">
                <a:ea typeface="宋体" pitchFamily="2" charset="-122"/>
              </a:rPr>
              <a:t>)</a:t>
            </a:r>
            <a:r>
              <a:rPr lang="zh-CN" altLang="en-US" sz="2900" dirty="0">
                <a:ea typeface="宋体" pitchFamily="2" charset="-122"/>
              </a:rPr>
              <a:t>。</a:t>
            </a:r>
          </a:p>
          <a:p>
            <a:pPr marL="0" indent="14288"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solidFill>
                  <a:srgbClr val="0000FF"/>
                </a:solidFill>
                <a:ea typeface="宋体" pitchFamily="2" charset="-122"/>
              </a:rPr>
              <a:t>H</a:t>
            </a:r>
            <a:r>
              <a:rPr lang="en-US" altLang="zh-CN" sz="2900" baseline="-30000" dirty="0">
                <a:solidFill>
                  <a:srgbClr val="0000FF"/>
                </a:solidFill>
                <a:ea typeface="宋体" pitchFamily="2" charset="-122"/>
              </a:rPr>
              <a:t>3</a:t>
            </a:r>
            <a:r>
              <a:rPr lang="zh-CN" altLang="en-US" sz="2900" dirty="0">
                <a:solidFill>
                  <a:srgbClr val="0000FF"/>
                </a:solidFill>
                <a:ea typeface="宋体" pitchFamily="2" charset="-122"/>
              </a:rPr>
              <a:t>：</a:t>
            </a:r>
            <a:r>
              <a:rPr lang="en-US" altLang="zh-CN" sz="2900" dirty="0">
                <a:ea typeface="宋体" pitchFamily="2" charset="-122"/>
              </a:rPr>
              <a:t>B</a:t>
            </a:r>
            <a:r>
              <a:rPr lang="zh-CN" altLang="en-US" sz="2900" dirty="0">
                <a:ea typeface="宋体" pitchFamily="2" charset="-122"/>
              </a:rPr>
              <a:t>中有元素</a:t>
            </a:r>
            <a:r>
              <a:rPr lang="en-US" altLang="zh-CN" sz="2900" dirty="0">
                <a:ea typeface="宋体" pitchFamily="2" charset="-122"/>
              </a:rPr>
              <a:t>0</a:t>
            </a:r>
            <a:r>
              <a:rPr lang="zh-CN" altLang="en-US" sz="2900" dirty="0">
                <a:ea typeface="宋体" pitchFamily="2" charset="-122"/>
              </a:rPr>
              <a:t>和元素</a:t>
            </a:r>
            <a:r>
              <a:rPr lang="en-US" altLang="zh-CN" sz="2900" dirty="0">
                <a:ea typeface="宋体" pitchFamily="2" charset="-122"/>
              </a:rPr>
              <a:t>1,</a:t>
            </a:r>
            <a:r>
              <a:rPr lang="zh-CN" altLang="en-US" sz="2900" dirty="0">
                <a:ea typeface="宋体" pitchFamily="2" charset="-122"/>
              </a:rPr>
              <a:t>使得对任意</a:t>
            </a:r>
            <a:r>
              <a:rPr lang="en-US" altLang="zh-CN" sz="2900" dirty="0" err="1">
                <a:ea typeface="宋体" pitchFamily="2" charset="-122"/>
              </a:rPr>
              <a:t>a∈B</a:t>
            </a:r>
            <a:r>
              <a:rPr lang="en-US" altLang="zh-CN" sz="2900" dirty="0">
                <a:ea typeface="宋体" pitchFamily="2" charset="-122"/>
              </a:rPr>
              <a:t>,</a:t>
            </a:r>
            <a:r>
              <a:rPr lang="zh-CN" altLang="en-US" sz="2900" dirty="0">
                <a:ea typeface="宋体" pitchFamily="2" charset="-122"/>
              </a:rPr>
              <a:t>有</a:t>
            </a:r>
          </a:p>
          <a:p>
            <a:pPr marL="0" indent="14288"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dirty="0">
                <a:ea typeface="宋体" pitchFamily="2" charset="-122"/>
              </a:rPr>
              <a:t>                   </a:t>
            </a:r>
            <a:r>
              <a:rPr lang="en-US" altLang="zh-CN" sz="2900" dirty="0">
                <a:ea typeface="宋体" pitchFamily="2" charset="-122"/>
              </a:rPr>
              <a:t>a·1 = a,  a+0 = a</a:t>
            </a:r>
            <a:r>
              <a:rPr lang="zh-CN" altLang="en-US" sz="2900" dirty="0">
                <a:ea typeface="宋体" pitchFamily="2" charset="-122"/>
              </a:rPr>
              <a:t>。</a:t>
            </a:r>
          </a:p>
          <a:p>
            <a:pPr marL="0"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solidFill>
                  <a:srgbClr val="0000FF"/>
                </a:solidFill>
                <a:ea typeface="宋体" pitchFamily="2" charset="-122"/>
              </a:rPr>
              <a:t>H</a:t>
            </a:r>
            <a:r>
              <a:rPr lang="en-US" altLang="zh-CN" sz="2900" baseline="-30000" dirty="0" smtClean="0">
                <a:solidFill>
                  <a:srgbClr val="0000FF"/>
                </a:solidFill>
                <a:ea typeface="宋体" pitchFamily="2" charset="-122"/>
              </a:rPr>
              <a:t>4</a:t>
            </a:r>
            <a:r>
              <a:rPr lang="zh-CN" altLang="en-US" sz="2900" dirty="0">
                <a:solidFill>
                  <a:srgbClr val="0000FF"/>
                </a:solidFill>
                <a:ea typeface="宋体" pitchFamily="2" charset="-122"/>
              </a:rPr>
              <a:t>：  </a:t>
            </a:r>
            <a:r>
              <a:rPr lang="zh-CN" altLang="en-US" sz="2900" dirty="0">
                <a:ea typeface="宋体" pitchFamily="2" charset="-122"/>
              </a:rPr>
              <a:t>对任意</a:t>
            </a:r>
            <a:r>
              <a:rPr lang="en-US" altLang="zh-CN" sz="2900" dirty="0" err="1">
                <a:ea typeface="宋体" pitchFamily="2" charset="-122"/>
              </a:rPr>
              <a:t>a∈B</a:t>
            </a:r>
            <a:r>
              <a:rPr lang="zh-CN" altLang="en-US" sz="2900" dirty="0">
                <a:ea typeface="宋体" pitchFamily="2" charset="-122"/>
              </a:rPr>
              <a:t>，有     </a:t>
            </a:r>
            <a:r>
              <a:rPr lang="zh-CN" altLang="en-US" sz="2900" dirty="0" smtClean="0">
                <a:ea typeface="宋体" pitchFamily="2" charset="-122"/>
              </a:rPr>
              <a:t>∈</a:t>
            </a:r>
            <a:r>
              <a:rPr lang="en-US" altLang="zh-CN" sz="2900" dirty="0">
                <a:ea typeface="宋体" pitchFamily="2" charset="-122"/>
              </a:rPr>
              <a:t>B</a:t>
            </a:r>
            <a:r>
              <a:rPr lang="zh-CN" altLang="en-US" sz="2900" dirty="0">
                <a:ea typeface="宋体" pitchFamily="2" charset="-122"/>
              </a:rPr>
              <a:t>，使得</a:t>
            </a:r>
          </a:p>
          <a:p>
            <a:pPr marL="0" algn="just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dirty="0">
                <a:ea typeface="宋体" pitchFamily="2" charset="-122"/>
              </a:rPr>
              <a:t>                 </a:t>
            </a:r>
          </a:p>
          <a:p>
            <a:pPr marL="0" indent="14288" algn="just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ea typeface="宋体" pitchFamily="2" charset="-122"/>
              </a:rPr>
              <a:t>则</a:t>
            </a:r>
            <a:r>
              <a:rPr lang="en-US" altLang="zh-CN" sz="2900" dirty="0" smtClean="0">
                <a:ea typeface="宋体" pitchFamily="2" charset="-122"/>
              </a:rPr>
              <a:t>(B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>
                <a:ea typeface="宋体" pitchFamily="2" charset="-122"/>
              </a:rPr>
              <a:t>·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>
                <a:ea typeface="宋体" pitchFamily="2" charset="-122"/>
              </a:rPr>
              <a:t>+</a:t>
            </a:r>
            <a:r>
              <a:rPr lang="zh-CN" altLang="en-US" sz="2900" dirty="0">
                <a:ea typeface="宋体" pitchFamily="2" charset="-122"/>
              </a:rPr>
              <a:t>，ˉ，</a:t>
            </a:r>
            <a:r>
              <a:rPr lang="en-US" altLang="zh-CN" sz="2900" dirty="0">
                <a:ea typeface="宋体" pitchFamily="2" charset="-122"/>
              </a:rPr>
              <a:t>0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 smtClean="0">
                <a:ea typeface="宋体" pitchFamily="2" charset="-122"/>
              </a:rPr>
              <a:t>1)</a:t>
            </a:r>
            <a:r>
              <a:rPr lang="zh-CN" altLang="en-US" sz="2900" dirty="0" smtClean="0">
                <a:ea typeface="宋体" pitchFamily="2" charset="-122"/>
              </a:rPr>
              <a:t>是</a:t>
            </a:r>
            <a:r>
              <a:rPr lang="zh-CN" altLang="en-US" sz="2900" dirty="0">
                <a:ea typeface="宋体" pitchFamily="2" charset="-122"/>
              </a:rPr>
              <a:t>一个布尔代数</a:t>
            </a:r>
            <a:r>
              <a:rPr lang="zh-CN" altLang="en-US" sz="2900" dirty="0"/>
              <a:t>。</a:t>
            </a:r>
            <a:r>
              <a:rPr lang="zh-CN" altLang="en-US" b="1" dirty="0"/>
              <a:t> </a:t>
            </a:r>
          </a:p>
        </p:txBody>
      </p:sp>
      <p:graphicFrame>
        <p:nvGraphicFramePr>
          <p:cNvPr id="109572" name="Object 2"/>
          <p:cNvGraphicFramePr>
            <a:graphicFrameLocks noChangeAspect="1"/>
          </p:cNvGraphicFramePr>
          <p:nvPr/>
        </p:nvGraphicFramePr>
        <p:xfrm>
          <a:off x="2543175" y="5270500"/>
          <a:ext cx="23828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76" name="Equation" r:id="rId3" imgW="1066800" imgH="241300" progId="Equation.3">
                  <p:embed/>
                </p:oleObj>
              </mc:Choice>
              <mc:Fallback>
                <p:oleObj name="Equation" r:id="rId3" imgW="10668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175" y="5270500"/>
                        <a:ext cx="23828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3" name="Object 3"/>
          <p:cNvGraphicFramePr>
            <a:graphicFrameLocks noChangeAspect="1"/>
          </p:cNvGraphicFramePr>
          <p:nvPr/>
        </p:nvGraphicFramePr>
        <p:xfrm>
          <a:off x="4392613" y="4786313"/>
          <a:ext cx="2841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77" name="Equation" r:id="rId5" imgW="126780" imgH="215526" progId="Equation.3">
                  <p:embed/>
                </p:oleObj>
              </mc:Choice>
              <mc:Fallback>
                <p:oleObj name="Equation" r:id="rId5" imgW="126780" imgH="2155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4786313"/>
                        <a:ext cx="28416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1881AE-B395-46AB-B921-99C9EF35C19C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74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139858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7920038" cy="5256212"/>
          </a:xfrm>
        </p:spPr>
        <p:txBody>
          <a:bodyPr/>
          <a:lstStyle/>
          <a:p>
            <a:pPr marL="609600" indent="-609600" algn="just"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3000" dirty="0" smtClean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电路代数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，ˉ，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endParaRPr lang="zh-CN" altLang="en-US" sz="3000" dirty="0" smtClean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09600" indent="-609600" algn="just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其中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B={0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1}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09600" indent="-609600" algn="just">
              <a:buClr>
                <a:srgbClr val="0000FF"/>
              </a:buClr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B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上的运算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，ˉ如下表定义： </a:t>
            </a:r>
          </a:p>
          <a:p>
            <a:pPr marL="609600" indent="-609600" algn="just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ctr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b="1" dirty="0" smtClean="0">
              <a:latin typeface="宋体" panose="02010600030101010101" pitchFamily="2" charset="-122"/>
            </a:endParaRPr>
          </a:p>
          <a:p>
            <a:pPr marL="609600" indent="-609600" algn="just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b="1" dirty="0" smtClean="0">
              <a:latin typeface="宋体" panose="02010600030101010101" pitchFamily="2" charset="-122"/>
            </a:endParaRPr>
          </a:p>
        </p:txBody>
      </p:sp>
      <p:graphicFrame>
        <p:nvGraphicFramePr>
          <p:cNvPr id="184324" name="Group 4"/>
          <p:cNvGraphicFramePr>
            <a:graphicFrameLocks noGrp="1"/>
          </p:cNvGraphicFramePr>
          <p:nvPr/>
        </p:nvGraphicFramePr>
        <p:xfrm>
          <a:off x="838200" y="2832100"/>
          <a:ext cx="2057400" cy="1749426"/>
        </p:xfrm>
        <a:graphic>
          <a:graphicData uri="http://schemas.openxmlformats.org/drawingml/2006/table">
            <a:tbl>
              <a:tblPr/>
              <a:tblGrid>
                <a:gridCol w="762000"/>
                <a:gridCol w="609600"/>
                <a:gridCol w="685800"/>
              </a:tblGrid>
              <a:tr h="563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4342" name="Group 22"/>
          <p:cNvGraphicFramePr>
            <a:graphicFrameLocks noGrp="1"/>
          </p:cNvGraphicFramePr>
          <p:nvPr/>
        </p:nvGraphicFramePr>
        <p:xfrm>
          <a:off x="3200400" y="2867025"/>
          <a:ext cx="2057400" cy="1714501"/>
        </p:xfrm>
        <a:graphic>
          <a:graphicData uri="http://schemas.openxmlformats.org/drawingml/2006/table">
            <a:tbl>
              <a:tblPr/>
              <a:tblGrid>
                <a:gridCol w="660400"/>
                <a:gridCol w="711200"/>
                <a:gridCol w="685800"/>
              </a:tblGrid>
              <a:tr h="6175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1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4360" name="Group 40"/>
          <p:cNvGraphicFramePr>
            <a:graphicFrameLocks noGrp="1"/>
          </p:cNvGraphicFramePr>
          <p:nvPr/>
        </p:nvGraphicFramePr>
        <p:xfrm>
          <a:off x="5562600" y="2849563"/>
          <a:ext cx="1371600" cy="1731963"/>
        </p:xfrm>
        <a:graphic>
          <a:graphicData uri="http://schemas.openxmlformats.org/drawingml/2006/table">
            <a:tbl>
              <a:tblPr/>
              <a:tblGrid>
                <a:gridCol w="660400"/>
                <a:gridCol w="711200"/>
              </a:tblGrid>
              <a:tr h="6175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7269" name="Object 2"/>
          <p:cNvGraphicFramePr>
            <a:graphicFrameLocks noChangeAspect="1"/>
          </p:cNvGraphicFramePr>
          <p:nvPr/>
        </p:nvGraphicFramePr>
        <p:xfrm>
          <a:off x="6400800" y="2878138"/>
          <a:ext cx="2841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54" name="Equation" r:id="rId3" imgW="126780" imgH="215526" progId="Equation.3">
                  <p:embed/>
                </p:oleObj>
              </mc:Choice>
              <mc:Fallback>
                <p:oleObj name="Equation" r:id="rId3" imgW="126780" imgH="2155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878138"/>
                        <a:ext cx="2841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7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666B26-12DC-4A1A-BC57-996C0F90755E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75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布尔代数的例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107320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189038"/>
            <a:ext cx="8301038" cy="4859337"/>
          </a:xfrm>
        </p:spPr>
        <p:txBody>
          <a:bodyPr/>
          <a:lstStyle/>
          <a:p>
            <a:endParaRPr lang="en-US" altLang="zh-CN" dirty="0" smtClean="0"/>
          </a:p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集合代数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(ρ(S)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，∩，∪，ˉ，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S)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09600" indent="-609600" algn="just">
              <a:lnSpc>
                <a:spcPct val="110000"/>
              </a:lnSpc>
              <a:buClr>
                <a:srgbClr val="0000FF"/>
              </a:buClr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其中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</a:t>
            </a:r>
            <a: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非空集合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命题代数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∨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┐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F, T) , S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是命题公式的集合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2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10000"/>
              </a:lnSpc>
              <a:buClr>
                <a:srgbClr val="0000FF"/>
              </a:buClr>
              <a:buNone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endParaRPr lang="zh-CN" altLang="en-US" sz="32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09600" indent="-609600" algn="just">
              <a:lnSpc>
                <a:spcPct val="110000"/>
              </a:lnSpc>
              <a:buClr>
                <a:srgbClr val="0000FF"/>
              </a:buClr>
              <a:buNone/>
            </a:pPr>
            <a:endParaRPr lang="zh-CN" altLang="en-US" sz="3200" b="1" dirty="0">
              <a:ea typeface="宋体" panose="02010600030101010101" pitchFamily="2" charset="-122"/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58FE3F-1683-41DA-A542-13489F2A23AF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76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布尔代数的例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6632537"/>
      </p:ext>
    </p:extLst>
  </p:cSld>
  <p:clrMapOvr>
    <a:masterClrMapping/>
  </p:clrMapOvr>
  <p:transition spd="med"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501697" y="476672"/>
            <a:ext cx="7881938" cy="712788"/>
          </a:xfrm>
        </p:spPr>
        <p:txBody>
          <a:bodyPr/>
          <a:lstStyle/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集合代数：</a:t>
            </a:r>
            <a:r>
              <a:rPr lang="en-US" altLang="zh-CN" sz="3200" b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(ρ(S)</a:t>
            </a:r>
            <a:r>
              <a:rPr lang="zh-CN" altLang="en-US" sz="3200" b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，∩，∪，ˉ，</a:t>
            </a:r>
            <a:r>
              <a:rPr lang="zh-CN" altLang="en-US" sz="3200" b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zh-CN" altLang="en-US" sz="3200" b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b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S)</a:t>
            </a:r>
            <a:endParaRPr lang="zh-CN" altLang="en-US" sz="3200" b="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053768"/>
            <a:ext cx="8856662" cy="52562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A,B,C∈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，运算∪，∩满足： 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等幂律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A∩A = 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A∪A = A</a:t>
            </a:r>
            <a:endParaRPr lang="zh-CN" altLang="en-US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交换律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A∩B = B∩A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A∪B = B∪A</a:t>
            </a:r>
            <a:endParaRPr lang="zh-CN" altLang="en-US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结合律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A∩(B∩C)=(A∩B)∩C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A∪(B∪C)=(A∪B)∪C</a:t>
            </a:r>
            <a:endParaRPr lang="zh-CN" altLang="en-US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分配律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A∩(B∪C)=(A∩B)∪(A∩C)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A∪(B∩C)=(A∪B)∩(A∪C)</a:t>
            </a:r>
            <a:endParaRPr lang="zh-CN" altLang="en-US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吸收律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A∩(A∪B)=A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A∪(A∩B)=A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若引进余集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ˉ的概念，有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 Morgan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定律</a:t>
            </a:r>
            <a:r>
              <a:rPr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800" b="1" dirty="0" smtClean="0"/>
          </a:p>
        </p:txBody>
      </p:sp>
      <p:graphicFrame>
        <p:nvGraphicFramePr>
          <p:cNvPr id="49156" name="Object 2"/>
          <p:cNvGraphicFramePr>
            <a:graphicFrameLocks noChangeAspect="1"/>
          </p:cNvGraphicFramePr>
          <p:nvPr>
            <p:extLst/>
          </p:nvPr>
        </p:nvGraphicFramePr>
        <p:xfrm>
          <a:off x="2083569" y="5805264"/>
          <a:ext cx="442277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8" name="Equation" r:id="rId3" imgW="1739900" imgH="215900" progId="Equation.DSMT4">
                  <p:embed/>
                </p:oleObj>
              </mc:Choice>
              <mc:Fallback>
                <p:oleObj name="Equation" r:id="rId3" imgW="17399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3569" y="5805264"/>
                        <a:ext cx="442277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FE64D4-A619-46B2-86E3-BD83B60771AB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77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769009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856" y="427799"/>
            <a:ext cx="7772400" cy="881063"/>
          </a:xfrm>
        </p:spPr>
        <p:txBody>
          <a:bodyPr/>
          <a:lstStyle/>
          <a:p>
            <a:r>
              <a:rPr lang="zh-CN" altLang="en-US" sz="3000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命题代数</a:t>
            </a:r>
            <a:r>
              <a:rPr lang="en-US" altLang="zh-CN" sz="3000" b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 </a:t>
            </a:r>
            <a:r>
              <a:rPr lang="zh-CN" altLang="en-US" sz="3000" b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</a:t>
            </a:r>
            <a:r>
              <a:rPr lang="en-US" altLang="zh-CN" sz="3000" b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b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∨</a:t>
            </a:r>
            <a:r>
              <a:rPr lang="en-US" altLang="zh-CN" sz="3000" b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000" b="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b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F, T)</a:t>
            </a:r>
            <a:endParaRPr lang="zh-CN" altLang="en-US" sz="3000" b="0" dirty="0" smtClean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856" y="1278210"/>
            <a:ext cx="8856663" cy="53911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宋体" panose="02010600030101010101" pitchFamily="2" charset="-122"/>
              </a:rPr>
              <a:t>对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A,B,C∈</a:t>
            </a:r>
            <a:r>
              <a:rPr lang="en-US" altLang="zh-CN" sz="2800" dirty="0" smtClean="0">
                <a:ea typeface="宋体" panose="02010600030101010101" pitchFamily="2" charset="-122"/>
              </a:rPr>
              <a:t>S</a:t>
            </a:r>
            <a:r>
              <a:rPr lang="zh-CN" altLang="en-US" sz="2800" dirty="0" smtClean="0">
                <a:ea typeface="宋体" panose="02010600030101010101" pitchFamily="2" charset="-122"/>
              </a:rPr>
              <a:t>，运算∧，∨满足：</a:t>
            </a:r>
            <a:r>
              <a:rPr lang="zh-CN" altLang="en-US" sz="28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ea typeface="宋体" panose="02010600030101010101" pitchFamily="2" charset="-122"/>
              </a:rPr>
              <a:t>等幂律  </a:t>
            </a:r>
            <a:r>
              <a:rPr lang="en-US" altLang="zh-CN" sz="2800" dirty="0" smtClean="0">
                <a:ea typeface="宋体" panose="02010600030101010101" pitchFamily="2" charset="-122"/>
              </a:rPr>
              <a:t>A∧A = A</a:t>
            </a:r>
            <a:r>
              <a:rPr lang="zh-CN" altLang="en-US" sz="2800" dirty="0" smtClean="0">
                <a:ea typeface="宋体" panose="02010600030101010101" pitchFamily="2" charset="-122"/>
              </a:rPr>
              <a:t>，      </a:t>
            </a:r>
            <a:r>
              <a:rPr lang="en-US" altLang="zh-CN" sz="2800" dirty="0" smtClean="0">
                <a:ea typeface="宋体" panose="02010600030101010101" pitchFamily="2" charset="-122"/>
              </a:rPr>
              <a:t>A∨A = A</a:t>
            </a:r>
            <a:endParaRPr lang="zh-CN" altLang="en-US" sz="2800" dirty="0" smtClean="0">
              <a:ea typeface="宋体" panose="02010600030101010101" pitchFamily="2" charset="-122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ea typeface="宋体" panose="02010600030101010101" pitchFamily="2" charset="-122"/>
              </a:rPr>
              <a:t>交换律  </a:t>
            </a:r>
            <a:r>
              <a:rPr lang="en-US" altLang="zh-CN" sz="2800" dirty="0" smtClean="0">
                <a:ea typeface="宋体" panose="02010600030101010101" pitchFamily="2" charset="-122"/>
              </a:rPr>
              <a:t>A∧B = B∧A</a:t>
            </a:r>
            <a:r>
              <a:rPr lang="zh-CN" altLang="en-US" sz="28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dirty="0" smtClean="0">
                <a:ea typeface="宋体" panose="02010600030101010101" pitchFamily="2" charset="-122"/>
              </a:rPr>
              <a:t>A∨B = B∨A  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ea typeface="宋体" panose="02010600030101010101" pitchFamily="2" charset="-122"/>
              </a:rPr>
              <a:t>结合律  </a:t>
            </a:r>
            <a:r>
              <a:rPr lang="en-US" altLang="zh-CN" sz="2800" dirty="0" smtClean="0">
                <a:ea typeface="宋体" panose="02010600030101010101" pitchFamily="2" charset="-122"/>
              </a:rPr>
              <a:t>A∧(B∧C)=(A∧B)</a:t>
            </a:r>
            <a:r>
              <a:rPr lang="zh-CN" altLang="en-US" sz="2800" dirty="0" smtClean="0">
                <a:ea typeface="宋体" panose="02010600030101010101" pitchFamily="2" charset="-122"/>
              </a:rPr>
              <a:t>∧</a:t>
            </a:r>
            <a:r>
              <a:rPr lang="en-US" altLang="zh-CN" sz="2800" dirty="0" smtClean="0">
                <a:ea typeface="宋体" panose="02010600030101010101" pitchFamily="2" charset="-122"/>
              </a:rPr>
              <a:t>C</a:t>
            </a:r>
            <a:endParaRPr lang="zh-CN" altLang="en-US" sz="2800" dirty="0" smtClean="0">
              <a:ea typeface="宋体" panose="02010600030101010101" pitchFamily="2" charset="-122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宋体" panose="02010600030101010101" pitchFamily="2" charset="-122"/>
              </a:rPr>
              <a:t>                 </a:t>
            </a:r>
            <a:r>
              <a:rPr lang="en-US" altLang="zh-CN" sz="2800" dirty="0" smtClean="0">
                <a:ea typeface="宋体" panose="02010600030101010101" pitchFamily="2" charset="-122"/>
              </a:rPr>
              <a:t>A∨(B∨C)</a:t>
            </a:r>
            <a:r>
              <a:rPr lang="zh-CN" altLang="en-US" sz="2800" dirty="0" smtClean="0">
                <a:ea typeface="宋体" panose="02010600030101010101" pitchFamily="2" charset="-122"/>
              </a:rPr>
              <a:t> </a:t>
            </a:r>
            <a:r>
              <a:rPr lang="en-US" altLang="zh-CN" sz="2800" dirty="0" smtClean="0">
                <a:ea typeface="宋体" panose="02010600030101010101" pitchFamily="2" charset="-122"/>
              </a:rPr>
              <a:t>= (A∨B)</a:t>
            </a:r>
            <a:r>
              <a:rPr lang="zh-CN" altLang="en-US" sz="2800" dirty="0" smtClean="0">
                <a:ea typeface="宋体" panose="02010600030101010101" pitchFamily="2" charset="-122"/>
              </a:rPr>
              <a:t>∨</a:t>
            </a:r>
            <a:r>
              <a:rPr lang="en-US" altLang="zh-CN" sz="2800" dirty="0" smtClean="0">
                <a:ea typeface="宋体" panose="02010600030101010101" pitchFamily="2" charset="-122"/>
              </a:rPr>
              <a:t>C    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ea typeface="宋体" panose="02010600030101010101" pitchFamily="2" charset="-122"/>
              </a:rPr>
              <a:t>分配律  </a:t>
            </a:r>
            <a:r>
              <a:rPr lang="en-US" altLang="zh-CN" sz="2800" dirty="0" smtClean="0">
                <a:ea typeface="宋体" panose="02010600030101010101" pitchFamily="2" charset="-122"/>
              </a:rPr>
              <a:t>A∧(B∨C)=(A∧B)∨(A∧C)</a:t>
            </a:r>
            <a:endParaRPr lang="zh-CN" altLang="en-US" sz="2800" dirty="0" smtClean="0">
              <a:ea typeface="宋体" panose="02010600030101010101" pitchFamily="2" charset="-122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宋体" panose="02010600030101010101" pitchFamily="2" charset="-122"/>
              </a:rPr>
              <a:t>                 </a:t>
            </a:r>
            <a:r>
              <a:rPr lang="en-US" altLang="zh-CN" sz="2800" dirty="0" smtClean="0">
                <a:ea typeface="宋体" panose="02010600030101010101" pitchFamily="2" charset="-122"/>
              </a:rPr>
              <a:t>A∨(B∧C)</a:t>
            </a:r>
            <a:r>
              <a:rPr lang="zh-CN" altLang="en-US" sz="2800" dirty="0" smtClean="0">
                <a:ea typeface="宋体" panose="02010600030101010101" pitchFamily="2" charset="-122"/>
              </a:rPr>
              <a:t> </a:t>
            </a:r>
            <a:r>
              <a:rPr lang="en-US" altLang="zh-CN" sz="2800" dirty="0" smtClean="0">
                <a:ea typeface="宋体" panose="02010600030101010101" pitchFamily="2" charset="-122"/>
              </a:rPr>
              <a:t>= (A∨B)</a:t>
            </a:r>
            <a:r>
              <a:rPr lang="zh-CN" altLang="en-US" sz="2800" dirty="0" smtClean="0">
                <a:ea typeface="宋体" panose="02010600030101010101" pitchFamily="2" charset="-122"/>
              </a:rPr>
              <a:t>∧</a:t>
            </a:r>
            <a:r>
              <a:rPr lang="en-US" altLang="zh-CN" sz="2800" dirty="0" smtClean="0">
                <a:ea typeface="宋体" panose="02010600030101010101" pitchFamily="2" charset="-122"/>
              </a:rPr>
              <a:t>(A∨C)</a:t>
            </a:r>
            <a:endParaRPr lang="zh-CN" altLang="en-US" sz="2800" dirty="0" smtClean="0">
              <a:ea typeface="宋体" panose="02010600030101010101" pitchFamily="2" charset="-122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ea typeface="宋体" panose="02010600030101010101" pitchFamily="2" charset="-122"/>
              </a:rPr>
              <a:t>吸收律  </a:t>
            </a:r>
            <a:r>
              <a:rPr lang="en-US" altLang="zh-CN" sz="2800" dirty="0" smtClean="0">
                <a:ea typeface="宋体" panose="02010600030101010101" pitchFamily="2" charset="-122"/>
              </a:rPr>
              <a:t>A∧(A∨B)=A</a:t>
            </a:r>
            <a:r>
              <a:rPr lang="zh-CN" altLang="en-US" sz="28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dirty="0" smtClean="0">
                <a:ea typeface="宋体" panose="02010600030101010101" pitchFamily="2" charset="-122"/>
              </a:rPr>
              <a:t>A∨(A∧B)=A</a:t>
            </a:r>
            <a:r>
              <a:rPr lang="zh-CN" altLang="en-US" sz="2800" dirty="0" smtClean="0">
                <a:ea typeface="宋体" panose="02010600030101010101" pitchFamily="2" charset="-122"/>
              </a:rPr>
              <a:t>，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宋体" panose="02010600030101010101" pitchFamily="2" charset="-122"/>
              </a:rPr>
              <a:t>若引进否定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zh-CN" altLang="en-US" sz="2800" dirty="0" smtClean="0">
                <a:ea typeface="宋体" panose="02010600030101010101" pitchFamily="2" charset="-122"/>
              </a:rPr>
              <a:t>的概念，有</a:t>
            </a:r>
            <a:r>
              <a:rPr lang="en-US" altLang="zh-CN" sz="2800" dirty="0" smtClean="0">
                <a:ea typeface="宋体" panose="02010600030101010101" pitchFamily="2" charset="-122"/>
              </a:rPr>
              <a:t>De Morgan</a:t>
            </a:r>
            <a:r>
              <a:rPr lang="zh-CN" altLang="en-US" sz="2800" dirty="0" smtClean="0">
                <a:ea typeface="宋体" panose="02010600030101010101" pitchFamily="2" charset="-122"/>
              </a:rPr>
              <a:t>定律</a:t>
            </a:r>
            <a:r>
              <a:rPr lang="en-US" altLang="zh-CN" sz="2800" dirty="0" smtClean="0">
                <a:ea typeface="宋体" panose="02010600030101010101" pitchFamily="2" charset="-122"/>
              </a:rPr>
              <a:t>: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(</a:t>
            </a:r>
            <a:r>
              <a:rPr lang="en-US" altLang="zh-CN" sz="2800" dirty="0" smtClean="0">
                <a:ea typeface="宋体" panose="02010600030101010101" pitchFamily="2" charset="-122"/>
              </a:rPr>
              <a:t>A∧B 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)= </a:t>
            </a:r>
            <a:r>
              <a:rPr lang="en-US" altLang="zh-CN" sz="2800" dirty="0" smtClean="0">
                <a:ea typeface="宋体" panose="02010600030101010101" pitchFamily="2" charset="-122"/>
              </a:rPr>
              <a:t>A∨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800" dirty="0" smtClean="0">
                <a:ea typeface="宋体" panose="02010600030101010101" pitchFamily="2" charset="-122"/>
              </a:rPr>
              <a:t>B, 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(</a:t>
            </a:r>
            <a:r>
              <a:rPr lang="en-US" altLang="zh-CN" sz="2800" dirty="0" smtClean="0">
                <a:ea typeface="宋体" panose="02010600030101010101" pitchFamily="2" charset="-122"/>
              </a:rPr>
              <a:t>A∨B 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)= </a:t>
            </a:r>
            <a:r>
              <a:rPr lang="en-US" altLang="zh-CN" sz="2800" dirty="0" smtClean="0">
                <a:ea typeface="宋体" panose="02010600030101010101" pitchFamily="2" charset="-122"/>
              </a:rPr>
              <a:t>A∧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800" dirty="0" smtClean="0">
                <a:ea typeface="宋体" panose="02010600030101010101" pitchFamily="2" charset="-122"/>
              </a:rPr>
              <a:t>B, </a:t>
            </a:r>
          </a:p>
        </p:txBody>
      </p:sp>
      <p:sp>
        <p:nvSpPr>
          <p:cNvPr id="5018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D77004-0238-4362-85B4-29013CDDFF5F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78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636694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468313" y="1160463"/>
            <a:ext cx="8567737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 algn="just" eaLnBrk="1" latinLnBrk="0" hangingPunct="1">
              <a:spcBef>
                <a:spcPts val="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v"/>
              <a:defRPr/>
            </a:pPr>
            <a:r>
              <a:rPr lang="zh-CN" altLang="en-US" sz="2900" dirty="0" smtClean="0">
                <a:solidFill>
                  <a:srgbClr val="0000FF"/>
                </a:solidFill>
                <a:ea typeface="宋体" panose="02010600030101010101" pitchFamily="2" charset="-122"/>
              </a:rPr>
              <a:t>开关代数 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·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¯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其中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是由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做分量的所有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元向量集合。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对任意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a, 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b∈B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令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a=(a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…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b=(b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…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上的运算如下：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a·b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·b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·b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…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·b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a+b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 =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+b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+b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…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+b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 sz="2900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表示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个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做成的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元向量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(0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…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0)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表示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个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做成的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元向量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(1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…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1) 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  <a:r>
              <a:rPr lang="zh-CN" altLang="en-US" sz="2700" dirty="0" smtClean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</a:p>
        </p:txBody>
      </p:sp>
      <p:graphicFrame>
        <p:nvGraphicFramePr>
          <p:cNvPr id="1116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865202"/>
              </p:ext>
            </p:extLst>
          </p:nvPr>
        </p:nvGraphicFramePr>
        <p:xfrm>
          <a:off x="1259632" y="4869160"/>
          <a:ext cx="24717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77" name="Equation" r:id="rId3" imgW="1104900" imgH="254000" progId="Equation.3">
                  <p:embed/>
                </p:oleObj>
              </mc:Choice>
              <mc:Fallback>
                <p:oleObj name="Equation" r:id="rId3" imgW="11049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869160"/>
                        <a:ext cx="2471738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CD038F0-1161-4F1A-8B2D-9610A5A1C1F7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79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539750" y="549275"/>
            <a:ext cx="7881938" cy="639763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zh-CN" altLang="en-US" kern="0" dirty="0" smtClean="0">
                <a:solidFill>
                  <a:srgbClr val="0000FF"/>
                </a:solidFill>
                <a:latin typeface="Times New Roman"/>
                <a:ea typeface="宋体" pitchFamily="2" charset="-122"/>
              </a:rPr>
              <a:t>布尔代数的</a:t>
            </a:r>
            <a:r>
              <a:rPr lang="zh-CN" altLang="en-US" kern="0" dirty="0">
                <a:solidFill>
                  <a:srgbClr val="0000FF"/>
                </a:solidFill>
                <a:latin typeface="Times New Roman"/>
                <a:ea typeface="宋体" pitchFamily="2" charset="-122"/>
              </a:rPr>
              <a:t>例</a:t>
            </a:r>
          </a:p>
        </p:txBody>
      </p:sp>
    </p:spTree>
    <p:extLst>
      <p:ext uri="{BB962C8B-B14F-4D97-AF65-F5344CB8AC3E}">
        <p14:creationId xmlns:p14="http://schemas.microsoft.com/office/powerpoint/2010/main" val="337108390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1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1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1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1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1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1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1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1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472487" cy="532765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ea typeface="宋体" pitchFamily="2" charset="-122"/>
              </a:rPr>
              <a:t>定义</a:t>
            </a:r>
            <a:r>
              <a:rPr lang="en-US" altLang="zh-CN" sz="3000" b="1" dirty="0" smtClean="0">
                <a:solidFill>
                  <a:srgbClr val="0000FF"/>
                </a:solidFill>
                <a:ea typeface="宋体" pitchFamily="2" charset="-122"/>
              </a:rPr>
              <a:t>7.5.2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：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任给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一个布尔代数 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(B, ·, +, ¯, 0, 1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的一个子集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包含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1, 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且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¯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仍是一个布尔代数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称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子代数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 smtClean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609600" indent="-60960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sz="3000" dirty="0" smtClean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定理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7.5.2 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(B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¯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是布尔代数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于是，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的子集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的子代数的充要条件是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在运算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·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¯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下是封闭的。</a:t>
            </a:r>
            <a:endParaRPr lang="en-US" altLang="zh-CN" sz="3000" dirty="0" smtClean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609600" indent="-60960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zh-CN" altLang="en-US" sz="2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609600" indent="-609600" algn="just">
              <a:buFont typeface="Wingdings" panose="05000000000000000000" pitchFamily="2" charset="2"/>
              <a:buNone/>
              <a:defRPr/>
            </a:pPr>
            <a:endParaRPr lang="zh-CN" altLang="en-US" sz="2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3926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8B88CD3-9703-4F32-94B6-D195D4C41CC5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80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子代数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001647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1268413"/>
            <a:ext cx="8450138" cy="5040312"/>
          </a:xfrm>
        </p:spPr>
        <p:txBody>
          <a:bodyPr/>
          <a:lstStyle/>
          <a:p>
            <a:pPr marL="271463" indent="-271463"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ea typeface="宋体" pitchFamily="2" charset="-122"/>
              </a:rPr>
              <a:t>例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. 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 = {a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，则</a:t>
            </a:r>
          </a:p>
          <a:p>
            <a:pPr marL="609600" indent="-60960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(ρ(S),∩,∪,ˉ,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是一个布尔代数。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(1)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={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{a}, {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b,c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}, {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a,b,c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｝</a:t>
            </a:r>
            <a:b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</a:b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,∩,∪,ˉ,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S)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(ρ(S),∩,∪,ˉ,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的子代数</a:t>
            </a:r>
            <a:r>
              <a:rPr lang="zh-CN" alt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sz="3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(2)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={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{a}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{b 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{a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 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{a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c}}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在∩，∪下是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的子格，但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∪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ˉ，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不是布尔代数，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因此不是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(ρ(S),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∪，ˉ，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的子代数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显然，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{a}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{b 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{a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 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在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中没有余元素。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3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en-US" sz="2800" b="1" dirty="0" smtClean="0"/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en-US" sz="2800" b="1" dirty="0" smtClean="0">
              <a:ea typeface="宋体" pitchFamily="2" charset="-122"/>
            </a:endParaRPr>
          </a:p>
        </p:txBody>
      </p:sp>
      <p:sp>
        <p:nvSpPr>
          <p:cNvPr id="14029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1A9B85B-AD2A-4ECD-A02F-E7D7E6A18C04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81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子代数的例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960707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内容占位符 2"/>
          <p:cNvSpPr>
            <a:spLocks noGrp="1"/>
          </p:cNvSpPr>
          <p:nvPr>
            <p:ph idx="1"/>
          </p:nvPr>
        </p:nvSpPr>
        <p:spPr>
          <a:xfrm>
            <a:off x="395288" y="1476375"/>
            <a:ext cx="8472487" cy="4572000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(3)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{a}}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(S3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，∩，∪，ˉ，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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})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是布尔代数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但不是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(ρ(S)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，∩，∪，ˉ，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的子代数，因为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不含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中的最大元素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14131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5AE9BD-7D00-470A-B3E1-D2408C1FD2A2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82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子代数的例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07544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0_B075">
  <a:themeElements>
    <a:clrScheme name="B075 9">
      <a:dk1>
        <a:srgbClr val="000000"/>
      </a:dk1>
      <a:lt1>
        <a:srgbClr val="FFFFFF"/>
      </a:lt1>
      <a:dk2>
        <a:srgbClr val="800000"/>
      </a:dk2>
      <a:lt2>
        <a:srgbClr val="666633"/>
      </a:lt2>
      <a:accent1>
        <a:srgbClr val="339933"/>
      </a:accent1>
      <a:accent2>
        <a:srgbClr val="800000"/>
      </a:accent2>
      <a:accent3>
        <a:srgbClr val="FFFFFF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8">
        <a:dk1>
          <a:srgbClr val="000000"/>
        </a:dk1>
        <a:lt1>
          <a:srgbClr val="FFFFFF"/>
        </a:lt1>
        <a:dk2>
          <a:srgbClr val="0000CC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9">
        <a:dk1>
          <a:srgbClr val="000000"/>
        </a:dk1>
        <a:lt1>
          <a:srgbClr val="FFFFFF"/>
        </a:lt1>
        <a:dk2>
          <a:srgbClr val="800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C:\coolpt\TempSlide\B075.POT</Template>
  <TotalTime>20002</TotalTime>
  <Words>6956</Words>
  <Application>Microsoft Office PowerPoint</Application>
  <PresentationFormat>全屏显示(4:3)</PresentationFormat>
  <Paragraphs>824</Paragraphs>
  <Slides>82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82</vt:i4>
      </vt:variant>
    </vt:vector>
  </HeadingPairs>
  <TitlesOfParts>
    <vt:vector size="103" baseType="lpstr">
      <vt:lpstr>华文楷体</vt:lpstr>
      <vt:lpstr>楷体_GB2312</vt:lpstr>
      <vt:lpstr>Symbol</vt:lpstr>
      <vt:lpstr>华文中宋</vt:lpstr>
      <vt:lpstr>宋体</vt:lpstr>
      <vt:lpstr>Malgun Gothic</vt:lpstr>
      <vt:lpstr>Arial</vt:lpstr>
      <vt:lpstr>Wingdings</vt:lpstr>
      <vt:lpstr>-윤명조140</vt:lpstr>
      <vt:lpstr>楷体</vt:lpstr>
      <vt:lpstr>微软雅黑</vt:lpstr>
      <vt:lpstr>Calibri</vt:lpstr>
      <vt:lpstr>Times New Roman</vt:lpstr>
      <vt:lpstr>B075</vt:lpstr>
      <vt:lpstr>1_B075</vt:lpstr>
      <vt:lpstr>2_B075</vt:lpstr>
      <vt:lpstr>4_B075</vt:lpstr>
      <vt:lpstr>3_B075</vt:lpstr>
      <vt:lpstr>10_B075</vt:lpstr>
      <vt:lpstr>公式</vt:lpstr>
      <vt:lpstr>Equation</vt:lpstr>
      <vt:lpstr>第七章 格与布尔代数</vt:lpstr>
      <vt:lpstr>相关知识复习：</vt:lpstr>
      <vt:lpstr>相关知识复习：</vt:lpstr>
      <vt:lpstr>相关知识复习：</vt:lpstr>
      <vt:lpstr>相关知识复习：</vt:lpstr>
      <vt:lpstr> 7.2格的定义 </vt:lpstr>
      <vt:lpstr>偏序格的例 </vt:lpstr>
      <vt:lpstr> 偏序格的例  </vt:lpstr>
      <vt:lpstr> 偏序格的例  </vt:lpstr>
      <vt:lpstr>判断下面那些是格？</vt:lpstr>
      <vt:lpstr>PowerPoint 演示文稿</vt:lpstr>
      <vt:lpstr> 偏序子格  </vt:lpstr>
      <vt:lpstr> 代数格 </vt:lpstr>
      <vt:lpstr>note：</vt:lpstr>
      <vt:lpstr>代数格的例</vt:lpstr>
      <vt:lpstr>PowerPoint 演示文稿</vt:lpstr>
      <vt:lpstr>代数格与偏序格的等价性</vt:lpstr>
      <vt:lpstr>代数格与偏序格的等价性</vt:lpstr>
      <vt:lpstr>代数格与偏序格的等价性</vt:lpstr>
      <vt:lpstr>代数格与偏序格的等价性</vt:lpstr>
      <vt:lpstr>代数格与偏序格的等价性</vt:lpstr>
      <vt:lpstr>代数子格</vt:lpstr>
      <vt:lpstr>代数子格与偏序子格的关系</vt:lpstr>
      <vt:lpstr>PowerPoint 演示文稿</vt:lpstr>
      <vt:lpstr>思考：</vt:lpstr>
      <vt:lpstr>§7.3  格的性质</vt:lpstr>
      <vt:lpstr> 7.3.2   格的其他性质  </vt:lpstr>
      <vt:lpstr>PowerPoint 演示文稿</vt:lpstr>
      <vt:lpstr>PowerPoint 演示文稿</vt:lpstr>
      <vt:lpstr>PowerPoint 演示文稿</vt:lpstr>
      <vt:lpstr>PowerPoint 演示文稿</vt:lpstr>
      <vt:lpstr> 7.3.3 格的同态和同构 </vt:lpstr>
      <vt:lpstr> 同态映射的例      </vt:lpstr>
      <vt:lpstr>PowerPoint 演示文稿</vt:lpstr>
      <vt:lpstr>PowerPoint 演示文稿</vt:lpstr>
      <vt:lpstr>同构映射的例</vt:lpstr>
      <vt:lpstr>格的同态映射一定是保序映射</vt:lpstr>
      <vt:lpstr>例(同态映射一定是保序映射,但保序不一定同态)</vt:lpstr>
      <vt:lpstr>PowerPoint 演示文稿</vt:lpstr>
      <vt:lpstr>PowerPoint 演示文稿</vt:lpstr>
      <vt:lpstr>PowerPoint 演示文稿</vt:lpstr>
      <vt:lpstr>n维格 </vt:lpstr>
      <vt:lpstr>PowerPoint 演示文稿</vt:lpstr>
      <vt:lpstr>PowerPoint 演示文稿</vt:lpstr>
      <vt:lpstr>思考：</vt:lpstr>
      <vt:lpstr>§7.4 几种特殊的格</vt:lpstr>
      <vt:lpstr>7.4.1  有 界 格 </vt:lpstr>
      <vt:lpstr>7.4.1  有 界 格 </vt:lpstr>
      <vt:lpstr>7.4.1  有 界 格 </vt:lpstr>
      <vt:lpstr>7.4.1  有 界 格 </vt:lpstr>
      <vt:lpstr>7.4.1  有 界 格 </vt:lpstr>
      <vt:lpstr>7.4.2  有 余 格 </vt:lpstr>
      <vt:lpstr>7.4.2  有 余 格 </vt:lpstr>
      <vt:lpstr>7.4.2  有 余 格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§7.5  布 尔 代 数</vt:lpstr>
      <vt:lpstr>7.5.1  布尔代数的定义及其性质</vt:lpstr>
      <vt:lpstr>布尔代数的性质</vt:lpstr>
      <vt:lpstr>布尔代数的性质</vt:lpstr>
      <vt:lpstr>布尔代数的性质</vt:lpstr>
      <vt:lpstr>布尔代数的性质</vt:lpstr>
      <vt:lpstr>PowerPoint 演示文稿</vt:lpstr>
      <vt:lpstr>Huntington(亨廷顿)公理 </vt:lpstr>
      <vt:lpstr>布尔代数的例</vt:lpstr>
      <vt:lpstr>布尔代数的例</vt:lpstr>
      <vt:lpstr>集合代数：(ρ(S)，∩，∪，ˉ，，S)</vt:lpstr>
      <vt:lpstr>命题代数(S, ∧, ∨, , F, T)</vt:lpstr>
      <vt:lpstr>PowerPoint 演示文稿</vt:lpstr>
      <vt:lpstr>子代数</vt:lpstr>
      <vt:lpstr>子代数的例</vt:lpstr>
      <vt:lpstr>子代数的例</vt:lpstr>
    </vt:vector>
  </TitlesOfParts>
  <Company>정윤주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정윤주</dc:creator>
  <cp:lastModifiedBy>Windows 用户</cp:lastModifiedBy>
  <cp:revision>1514</cp:revision>
  <dcterms:created xsi:type="dcterms:W3CDTF">2001-07-18T23:57:34Z</dcterms:created>
  <dcterms:modified xsi:type="dcterms:W3CDTF">2025-10-31T14:28:12Z</dcterms:modified>
</cp:coreProperties>
</file>