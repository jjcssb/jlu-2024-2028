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5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7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theme/theme8.xml" ContentType="application/vnd.openxmlformats-officedocument.theme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theme/theme9.xml" ContentType="application/vnd.openxmlformats-officedocument.theme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theme/theme10.xml" ContentType="application/vnd.openxmlformats-officedocument.theme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theme/theme11.xml" ContentType="application/vnd.openxmlformats-officedocument.theme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theme/theme12.xml" ContentType="application/vnd.openxmlformats-officedocument.theme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theme/theme13.xml" ContentType="application/vnd.openxmlformats-officedocument.theme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theme/theme14.xml" ContentType="application/vnd.openxmlformats-officedocument.theme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theme/theme15.xml" ContentType="application/vnd.openxmlformats-officedocument.theme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952" r:id="rId1"/>
    <p:sldMasterId id="2147491365" r:id="rId2"/>
    <p:sldMasterId id="2147491441" r:id="rId3"/>
    <p:sldMasterId id="2147491465" r:id="rId4"/>
    <p:sldMasterId id="2147491477" r:id="rId5"/>
    <p:sldMasterId id="2147491491" r:id="rId6"/>
    <p:sldMasterId id="2147491503" r:id="rId7"/>
    <p:sldMasterId id="2147491516" r:id="rId8"/>
    <p:sldMasterId id="2147491528" r:id="rId9"/>
    <p:sldMasterId id="2147491540" r:id="rId10"/>
    <p:sldMasterId id="2147491554" r:id="rId11"/>
    <p:sldMasterId id="2147491566" r:id="rId12"/>
    <p:sldMasterId id="2147491580" r:id="rId13"/>
    <p:sldMasterId id="2147491592" r:id="rId14"/>
    <p:sldMasterId id="2147491604" r:id="rId15"/>
    <p:sldMasterId id="2147491664" r:id="rId16"/>
  </p:sldMasterIdLst>
  <p:notesMasterIdLst>
    <p:notesMasterId r:id="rId99"/>
  </p:notesMasterIdLst>
  <p:handoutMasterIdLst>
    <p:handoutMasterId r:id="rId100"/>
  </p:handoutMasterIdLst>
  <p:sldIdLst>
    <p:sldId id="955" r:id="rId17"/>
    <p:sldId id="956" r:id="rId18"/>
    <p:sldId id="957" r:id="rId19"/>
    <p:sldId id="926" r:id="rId20"/>
    <p:sldId id="931" r:id="rId21"/>
    <p:sldId id="847" r:id="rId22"/>
    <p:sldId id="894" r:id="rId23"/>
    <p:sldId id="896" r:id="rId24"/>
    <p:sldId id="897" r:id="rId25"/>
    <p:sldId id="958" r:id="rId26"/>
    <p:sldId id="898" r:id="rId27"/>
    <p:sldId id="895" r:id="rId28"/>
    <p:sldId id="900" r:id="rId29"/>
    <p:sldId id="901" r:id="rId30"/>
    <p:sldId id="906" r:id="rId31"/>
    <p:sldId id="908" r:id="rId32"/>
    <p:sldId id="913" r:id="rId33"/>
    <p:sldId id="914" r:id="rId34"/>
    <p:sldId id="902" r:id="rId35"/>
    <p:sldId id="903" r:id="rId36"/>
    <p:sldId id="904" r:id="rId37"/>
    <p:sldId id="883" r:id="rId38"/>
    <p:sldId id="884" r:id="rId39"/>
    <p:sldId id="905" r:id="rId40"/>
    <p:sldId id="892" r:id="rId41"/>
    <p:sldId id="893" r:id="rId42"/>
    <p:sldId id="943" r:id="rId43"/>
    <p:sldId id="944" r:id="rId44"/>
    <p:sldId id="945" r:id="rId45"/>
    <p:sldId id="951" r:id="rId46"/>
    <p:sldId id="950" r:id="rId47"/>
    <p:sldId id="953" r:id="rId48"/>
    <p:sldId id="952" r:id="rId49"/>
    <p:sldId id="954" r:id="rId50"/>
    <p:sldId id="946" r:id="rId51"/>
    <p:sldId id="947" r:id="rId52"/>
    <p:sldId id="962" r:id="rId53"/>
    <p:sldId id="963" r:id="rId54"/>
    <p:sldId id="910" r:id="rId55"/>
    <p:sldId id="909" r:id="rId56"/>
    <p:sldId id="964" r:id="rId57"/>
    <p:sldId id="965" r:id="rId58"/>
    <p:sldId id="966" r:id="rId59"/>
    <p:sldId id="967" r:id="rId60"/>
    <p:sldId id="968" r:id="rId61"/>
    <p:sldId id="969" r:id="rId62"/>
    <p:sldId id="970" r:id="rId63"/>
    <p:sldId id="971" r:id="rId64"/>
    <p:sldId id="972" r:id="rId65"/>
    <p:sldId id="973" r:id="rId66"/>
    <p:sldId id="974" r:id="rId67"/>
    <p:sldId id="975" r:id="rId68"/>
    <p:sldId id="976" r:id="rId69"/>
    <p:sldId id="977" r:id="rId70"/>
    <p:sldId id="978" r:id="rId71"/>
    <p:sldId id="979" r:id="rId72"/>
    <p:sldId id="982" r:id="rId73"/>
    <p:sldId id="983" r:id="rId74"/>
    <p:sldId id="984" r:id="rId75"/>
    <p:sldId id="985" r:id="rId76"/>
    <p:sldId id="986" r:id="rId77"/>
    <p:sldId id="987" r:id="rId78"/>
    <p:sldId id="988" r:id="rId79"/>
    <p:sldId id="989" r:id="rId80"/>
    <p:sldId id="990" r:id="rId81"/>
    <p:sldId id="991" r:id="rId82"/>
    <p:sldId id="999" r:id="rId83"/>
    <p:sldId id="1000" r:id="rId84"/>
    <p:sldId id="1001" r:id="rId85"/>
    <p:sldId id="1002" r:id="rId86"/>
    <p:sldId id="1003" r:id="rId87"/>
    <p:sldId id="1004" r:id="rId88"/>
    <p:sldId id="1005" r:id="rId89"/>
    <p:sldId id="1006" r:id="rId90"/>
    <p:sldId id="1007" r:id="rId91"/>
    <p:sldId id="1008" r:id="rId92"/>
    <p:sldId id="1009" r:id="rId93"/>
    <p:sldId id="1012" r:id="rId94"/>
    <p:sldId id="1013" r:id="rId95"/>
    <p:sldId id="1014" r:id="rId96"/>
    <p:sldId id="1015" r:id="rId97"/>
    <p:sldId id="1022" r:id="rId98"/>
  </p:sldIdLst>
  <p:sldSz cx="9144000" cy="6858000" type="screen4x3"/>
  <p:notesSz cx="6858000" cy="9144000"/>
  <p:embeddedFontLst>
    <p:embeddedFont>
      <p:font typeface="等线" panose="02010600030101010101" pitchFamily="2" charset="-122"/>
      <p:regular r:id="rId101"/>
      <p:bold r:id="rId102"/>
    </p:embeddedFont>
    <p:embeddedFont>
      <p:font typeface="楷体_GB2312" panose="02010600030101010101" charset="-122"/>
      <p:regular r:id="rId103"/>
      <p:bold r:id="rId104"/>
      <p:italic r:id="rId105"/>
      <p:boldItalic r:id="rId106"/>
    </p:embeddedFont>
    <p:embeddedFont>
      <p:font typeface="华文中宋" panose="02010600040101010101" pitchFamily="2" charset="-122"/>
      <p:regular r:id="rId107"/>
    </p:embeddedFont>
    <p:embeddedFont>
      <p:font typeface="Malgun Gothic" panose="020B0503020000020004" pitchFamily="34" charset="-127"/>
      <p:regular r:id="rId108"/>
      <p:bold r:id="rId109"/>
    </p:embeddedFont>
    <p:embeddedFont>
      <p:font typeface="-윤명조140" panose="020B0604020202020204" charset="-127"/>
      <p:regular r:id="rId110"/>
    </p:embeddedFont>
    <p:embeddedFont>
      <p:font typeface="KaiTi" panose="02010609060101010101" pitchFamily="49" charset="-122"/>
      <p:regular r:id="rId111"/>
    </p:embeddedFont>
    <p:embeddedFont>
      <p:font typeface="Cambria Math" panose="02040503050406030204" pitchFamily="18" charset="0"/>
      <p:regular r:id="rId112"/>
    </p:embeddedFont>
    <p:embeddedFont>
      <p:font typeface="楷体" panose="02010609060101010101" pitchFamily="49" charset="-122"/>
      <p:regular r:id="rId113"/>
    </p:embeddedFont>
    <p:embeddedFont>
      <p:font typeface="Calibri" panose="020F0502020204030204" pitchFamily="34" charset="0"/>
      <p:regular r:id="rId114"/>
      <p:bold r:id="rId115"/>
      <p:italic r:id="rId116"/>
      <p:boldItalic r:id="rId117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楷体_GB231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楷体_GB231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楷体_GB231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楷体_GB231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楷体_GB231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楷体_GB231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楷体_GB231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楷体_GB231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楷体_GB231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8FDCB"/>
    <a:srgbClr val="000099"/>
    <a:srgbClr val="000000"/>
    <a:srgbClr val="FF9900"/>
    <a:srgbClr val="FFFFFF"/>
    <a:srgbClr val="C9FFF1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4C1A8A3-306A-4EB7-A6B1-4F7E0EB9C5D6}" styleName="中度样式 3 - 强调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3" autoAdjust="0"/>
    <p:restoredTop sz="92931" autoAdjust="0"/>
  </p:normalViewPr>
  <p:slideViewPr>
    <p:cSldViewPr>
      <p:cViewPr varScale="1">
        <p:scale>
          <a:sx n="91" d="100"/>
          <a:sy n="91" d="100"/>
        </p:scale>
        <p:origin x="912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36" y="117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0.xml"/><Relationship Id="rId117" Type="http://schemas.openxmlformats.org/officeDocument/2006/relationships/font" Target="fonts/font17.fntdata"/><Relationship Id="rId21" Type="http://schemas.openxmlformats.org/officeDocument/2006/relationships/slide" Target="slides/slide5.xml"/><Relationship Id="rId42" Type="http://schemas.openxmlformats.org/officeDocument/2006/relationships/slide" Target="slides/slide26.xml"/><Relationship Id="rId47" Type="http://schemas.openxmlformats.org/officeDocument/2006/relationships/slide" Target="slides/slide31.xml"/><Relationship Id="rId63" Type="http://schemas.openxmlformats.org/officeDocument/2006/relationships/slide" Target="slides/slide47.xml"/><Relationship Id="rId68" Type="http://schemas.openxmlformats.org/officeDocument/2006/relationships/slide" Target="slides/slide52.xml"/><Relationship Id="rId84" Type="http://schemas.openxmlformats.org/officeDocument/2006/relationships/slide" Target="slides/slide68.xml"/><Relationship Id="rId89" Type="http://schemas.openxmlformats.org/officeDocument/2006/relationships/slide" Target="slides/slide73.xml"/><Relationship Id="rId112" Type="http://schemas.openxmlformats.org/officeDocument/2006/relationships/font" Target="fonts/font12.fntdata"/><Relationship Id="rId16" Type="http://schemas.openxmlformats.org/officeDocument/2006/relationships/slideMaster" Target="slideMasters/slideMaster16.xml"/><Relationship Id="rId107" Type="http://schemas.openxmlformats.org/officeDocument/2006/relationships/font" Target="fonts/font7.fntdata"/><Relationship Id="rId11" Type="http://schemas.openxmlformats.org/officeDocument/2006/relationships/slideMaster" Target="slideMasters/slideMaster11.xml"/><Relationship Id="rId32" Type="http://schemas.openxmlformats.org/officeDocument/2006/relationships/slide" Target="slides/slide16.xml"/><Relationship Id="rId37" Type="http://schemas.openxmlformats.org/officeDocument/2006/relationships/slide" Target="slides/slide21.xml"/><Relationship Id="rId53" Type="http://schemas.openxmlformats.org/officeDocument/2006/relationships/slide" Target="slides/slide37.xml"/><Relationship Id="rId58" Type="http://schemas.openxmlformats.org/officeDocument/2006/relationships/slide" Target="slides/slide42.xml"/><Relationship Id="rId74" Type="http://schemas.openxmlformats.org/officeDocument/2006/relationships/slide" Target="slides/slide58.xml"/><Relationship Id="rId79" Type="http://schemas.openxmlformats.org/officeDocument/2006/relationships/slide" Target="slides/slide63.xml"/><Relationship Id="rId102" Type="http://schemas.openxmlformats.org/officeDocument/2006/relationships/font" Target="fonts/font2.fntdata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74.xml"/><Relationship Id="rId95" Type="http://schemas.openxmlformats.org/officeDocument/2006/relationships/slide" Target="slides/slide79.xml"/><Relationship Id="rId22" Type="http://schemas.openxmlformats.org/officeDocument/2006/relationships/slide" Target="slides/slide6.xml"/><Relationship Id="rId27" Type="http://schemas.openxmlformats.org/officeDocument/2006/relationships/slide" Target="slides/slide11.xml"/><Relationship Id="rId43" Type="http://schemas.openxmlformats.org/officeDocument/2006/relationships/slide" Target="slides/slide27.xml"/><Relationship Id="rId48" Type="http://schemas.openxmlformats.org/officeDocument/2006/relationships/slide" Target="slides/slide32.xml"/><Relationship Id="rId64" Type="http://schemas.openxmlformats.org/officeDocument/2006/relationships/slide" Target="slides/slide48.xml"/><Relationship Id="rId69" Type="http://schemas.openxmlformats.org/officeDocument/2006/relationships/slide" Target="slides/slide53.xml"/><Relationship Id="rId113" Type="http://schemas.openxmlformats.org/officeDocument/2006/relationships/font" Target="fonts/font13.fntdata"/><Relationship Id="rId118" Type="http://schemas.openxmlformats.org/officeDocument/2006/relationships/presProps" Target="presProps.xml"/><Relationship Id="rId80" Type="http://schemas.openxmlformats.org/officeDocument/2006/relationships/slide" Target="slides/slide64.xml"/><Relationship Id="rId85" Type="http://schemas.openxmlformats.org/officeDocument/2006/relationships/slide" Target="slides/slide69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1.xml"/><Relationship Id="rId33" Type="http://schemas.openxmlformats.org/officeDocument/2006/relationships/slide" Target="slides/slide17.xml"/><Relationship Id="rId38" Type="http://schemas.openxmlformats.org/officeDocument/2006/relationships/slide" Target="slides/slide22.xml"/><Relationship Id="rId59" Type="http://schemas.openxmlformats.org/officeDocument/2006/relationships/slide" Target="slides/slide43.xml"/><Relationship Id="rId103" Type="http://schemas.openxmlformats.org/officeDocument/2006/relationships/font" Target="fonts/font3.fntdata"/><Relationship Id="rId108" Type="http://schemas.openxmlformats.org/officeDocument/2006/relationships/font" Target="fonts/font8.fntdata"/><Relationship Id="rId54" Type="http://schemas.openxmlformats.org/officeDocument/2006/relationships/slide" Target="slides/slide38.xml"/><Relationship Id="rId70" Type="http://schemas.openxmlformats.org/officeDocument/2006/relationships/slide" Target="slides/slide54.xml"/><Relationship Id="rId75" Type="http://schemas.openxmlformats.org/officeDocument/2006/relationships/slide" Target="slides/slide59.xml"/><Relationship Id="rId91" Type="http://schemas.openxmlformats.org/officeDocument/2006/relationships/slide" Target="slides/slide75.xml"/><Relationship Id="rId96" Type="http://schemas.openxmlformats.org/officeDocument/2006/relationships/slide" Target="slides/slide8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23" Type="http://schemas.openxmlformats.org/officeDocument/2006/relationships/slide" Target="slides/slide7.xml"/><Relationship Id="rId28" Type="http://schemas.openxmlformats.org/officeDocument/2006/relationships/slide" Target="slides/slide12.xml"/><Relationship Id="rId49" Type="http://schemas.openxmlformats.org/officeDocument/2006/relationships/slide" Target="slides/slide33.xml"/><Relationship Id="rId114" Type="http://schemas.openxmlformats.org/officeDocument/2006/relationships/font" Target="fonts/font14.fntdata"/><Relationship Id="rId119" Type="http://schemas.openxmlformats.org/officeDocument/2006/relationships/viewProps" Target="viewProps.xml"/><Relationship Id="rId44" Type="http://schemas.openxmlformats.org/officeDocument/2006/relationships/slide" Target="slides/slide28.xml"/><Relationship Id="rId60" Type="http://schemas.openxmlformats.org/officeDocument/2006/relationships/slide" Target="slides/slide44.xml"/><Relationship Id="rId65" Type="http://schemas.openxmlformats.org/officeDocument/2006/relationships/slide" Target="slides/slide49.xml"/><Relationship Id="rId81" Type="http://schemas.openxmlformats.org/officeDocument/2006/relationships/slide" Target="slides/slide65.xml"/><Relationship Id="rId86" Type="http://schemas.openxmlformats.org/officeDocument/2006/relationships/slide" Target="slides/slide7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2.xml"/><Relationship Id="rId39" Type="http://schemas.openxmlformats.org/officeDocument/2006/relationships/slide" Target="slides/slide23.xml"/><Relationship Id="rId109" Type="http://schemas.openxmlformats.org/officeDocument/2006/relationships/font" Target="fonts/font9.fntdata"/><Relationship Id="rId34" Type="http://schemas.openxmlformats.org/officeDocument/2006/relationships/slide" Target="slides/slide18.xml"/><Relationship Id="rId50" Type="http://schemas.openxmlformats.org/officeDocument/2006/relationships/slide" Target="slides/slide34.xml"/><Relationship Id="rId55" Type="http://schemas.openxmlformats.org/officeDocument/2006/relationships/slide" Target="slides/slide39.xml"/><Relationship Id="rId76" Type="http://schemas.openxmlformats.org/officeDocument/2006/relationships/slide" Target="slides/slide60.xml"/><Relationship Id="rId97" Type="http://schemas.openxmlformats.org/officeDocument/2006/relationships/slide" Target="slides/slide81.xml"/><Relationship Id="rId104" Type="http://schemas.openxmlformats.org/officeDocument/2006/relationships/font" Target="fonts/font4.fntdata"/><Relationship Id="rId120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55.xml"/><Relationship Id="rId92" Type="http://schemas.openxmlformats.org/officeDocument/2006/relationships/slide" Target="slides/slide76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13.xml"/><Relationship Id="rId24" Type="http://schemas.openxmlformats.org/officeDocument/2006/relationships/slide" Target="slides/slide8.xml"/><Relationship Id="rId40" Type="http://schemas.openxmlformats.org/officeDocument/2006/relationships/slide" Target="slides/slide24.xml"/><Relationship Id="rId45" Type="http://schemas.openxmlformats.org/officeDocument/2006/relationships/slide" Target="slides/slide29.xml"/><Relationship Id="rId66" Type="http://schemas.openxmlformats.org/officeDocument/2006/relationships/slide" Target="slides/slide50.xml"/><Relationship Id="rId87" Type="http://schemas.openxmlformats.org/officeDocument/2006/relationships/slide" Target="slides/slide71.xml"/><Relationship Id="rId110" Type="http://schemas.openxmlformats.org/officeDocument/2006/relationships/font" Target="fonts/font10.fntdata"/><Relationship Id="rId115" Type="http://schemas.openxmlformats.org/officeDocument/2006/relationships/font" Target="fonts/font15.fntdata"/><Relationship Id="rId61" Type="http://schemas.openxmlformats.org/officeDocument/2006/relationships/slide" Target="slides/slide45.xml"/><Relationship Id="rId82" Type="http://schemas.openxmlformats.org/officeDocument/2006/relationships/slide" Target="slides/slide66.xml"/><Relationship Id="rId19" Type="http://schemas.openxmlformats.org/officeDocument/2006/relationships/slide" Target="slides/slide3.xml"/><Relationship Id="rId14" Type="http://schemas.openxmlformats.org/officeDocument/2006/relationships/slideMaster" Target="slideMasters/slideMaster14.xml"/><Relationship Id="rId30" Type="http://schemas.openxmlformats.org/officeDocument/2006/relationships/slide" Target="slides/slide14.xml"/><Relationship Id="rId35" Type="http://schemas.openxmlformats.org/officeDocument/2006/relationships/slide" Target="slides/slide19.xml"/><Relationship Id="rId56" Type="http://schemas.openxmlformats.org/officeDocument/2006/relationships/slide" Target="slides/slide40.xml"/><Relationship Id="rId77" Type="http://schemas.openxmlformats.org/officeDocument/2006/relationships/slide" Target="slides/slide61.xml"/><Relationship Id="rId100" Type="http://schemas.openxmlformats.org/officeDocument/2006/relationships/handoutMaster" Target="handoutMasters/handoutMaster1.xml"/><Relationship Id="rId105" Type="http://schemas.openxmlformats.org/officeDocument/2006/relationships/font" Target="fonts/font5.fntdata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35.xml"/><Relationship Id="rId72" Type="http://schemas.openxmlformats.org/officeDocument/2006/relationships/slide" Target="slides/slide56.xml"/><Relationship Id="rId93" Type="http://schemas.openxmlformats.org/officeDocument/2006/relationships/slide" Target="slides/slide77.xml"/><Relationship Id="rId98" Type="http://schemas.openxmlformats.org/officeDocument/2006/relationships/slide" Target="slides/slide82.xml"/><Relationship Id="rId12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9.xml"/><Relationship Id="rId46" Type="http://schemas.openxmlformats.org/officeDocument/2006/relationships/slide" Target="slides/slide30.xml"/><Relationship Id="rId67" Type="http://schemas.openxmlformats.org/officeDocument/2006/relationships/slide" Target="slides/slide51.xml"/><Relationship Id="rId116" Type="http://schemas.openxmlformats.org/officeDocument/2006/relationships/font" Target="fonts/font16.fntdata"/><Relationship Id="rId20" Type="http://schemas.openxmlformats.org/officeDocument/2006/relationships/slide" Target="slides/slide4.xml"/><Relationship Id="rId41" Type="http://schemas.openxmlformats.org/officeDocument/2006/relationships/slide" Target="slides/slide25.xml"/><Relationship Id="rId62" Type="http://schemas.openxmlformats.org/officeDocument/2006/relationships/slide" Target="slides/slide46.xml"/><Relationship Id="rId83" Type="http://schemas.openxmlformats.org/officeDocument/2006/relationships/slide" Target="slides/slide67.xml"/><Relationship Id="rId88" Type="http://schemas.openxmlformats.org/officeDocument/2006/relationships/slide" Target="slides/slide72.xml"/><Relationship Id="rId111" Type="http://schemas.openxmlformats.org/officeDocument/2006/relationships/font" Target="fonts/font11.fntdata"/><Relationship Id="rId15" Type="http://schemas.openxmlformats.org/officeDocument/2006/relationships/slideMaster" Target="slideMasters/slideMaster15.xml"/><Relationship Id="rId36" Type="http://schemas.openxmlformats.org/officeDocument/2006/relationships/slide" Target="slides/slide20.xml"/><Relationship Id="rId57" Type="http://schemas.openxmlformats.org/officeDocument/2006/relationships/slide" Target="slides/slide41.xml"/><Relationship Id="rId106" Type="http://schemas.openxmlformats.org/officeDocument/2006/relationships/font" Target="fonts/font6.fntdata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15.xml"/><Relationship Id="rId52" Type="http://schemas.openxmlformats.org/officeDocument/2006/relationships/slide" Target="slides/slide36.xml"/><Relationship Id="rId73" Type="http://schemas.openxmlformats.org/officeDocument/2006/relationships/slide" Target="slides/slide57.xml"/><Relationship Id="rId78" Type="http://schemas.openxmlformats.org/officeDocument/2006/relationships/slide" Target="slides/slide62.xml"/><Relationship Id="rId94" Type="http://schemas.openxmlformats.org/officeDocument/2006/relationships/slide" Target="slides/slide78.xml"/><Relationship Id="rId99" Type="http://schemas.openxmlformats.org/officeDocument/2006/relationships/notesMaster" Target="notesMasters/notesMaster1.xml"/><Relationship Id="rId101" Type="http://schemas.openxmlformats.org/officeDocument/2006/relationships/font" Target="fonts/font1.fntdata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="" xmlns:a16="http://schemas.microsoft.com/office/drawing/2014/main" id="{A2B536E4-6C94-4F44-8F9E-2AB88D2C60C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latinLnBrk="1" hangingPunct="0">
              <a:defRPr sz="1200">
                <a:ea typeface="楷体_GB2312" panose="02010609030101010101" pitchFamily="49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4995" name="Rectangle 3">
            <a:extLst>
              <a:ext uri="{FF2B5EF4-FFF2-40B4-BE49-F238E27FC236}">
                <a16:creationId xmlns="" xmlns:a16="http://schemas.microsoft.com/office/drawing/2014/main" id="{95562E8B-89F8-444E-B2DA-BB0F573C3F4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latinLnBrk="1" hangingPunct="0">
              <a:defRPr sz="1200">
                <a:ea typeface="楷体_GB2312" panose="02010609030101010101" pitchFamily="49" charset="-122"/>
              </a:defRPr>
            </a:lvl1pPr>
          </a:lstStyle>
          <a:p>
            <a:pPr>
              <a:defRPr/>
            </a:pPr>
            <a:fld id="{2256EB0B-F329-46F1-A87C-08A1F9B8AEE6}" type="datetimeFigureOut">
              <a:rPr lang="zh-CN" altLang="en-US"/>
              <a:pPr>
                <a:defRPr/>
              </a:pPr>
              <a:t>2025/10/31</a:t>
            </a:fld>
            <a:endParaRPr lang="en-US" altLang="zh-CN"/>
          </a:p>
        </p:txBody>
      </p:sp>
      <p:sp>
        <p:nvSpPr>
          <p:cNvPr id="84996" name="Rectangle 4">
            <a:extLst>
              <a:ext uri="{FF2B5EF4-FFF2-40B4-BE49-F238E27FC236}">
                <a16:creationId xmlns="" xmlns:a16="http://schemas.microsoft.com/office/drawing/2014/main" id="{63C1B967-2EAF-4C01-A6F4-945C2551E72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latinLnBrk="1" hangingPunct="0">
              <a:defRPr sz="1200">
                <a:ea typeface="楷体_GB2312" panose="0201060903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7" name="Rectangle 5">
            <a:extLst>
              <a:ext uri="{FF2B5EF4-FFF2-40B4-BE49-F238E27FC236}">
                <a16:creationId xmlns="" xmlns:a16="http://schemas.microsoft.com/office/drawing/2014/main" id="{D3025C91-6AB4-408E-A2CD-F961344C6DA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latinLnBrk="1">
              <a:defRPr sz="1200" smtClean="0"/>
            </a:lvl1pPr>
          </a:lstStyle>
          <a:p>
            <a:pPr>
              <a:defRPr/>
            </a:pPr>
            <a:fld id="{8348391B-39D8-49E3-A38C-10C413141BD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26243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="" xmlns:a16="http://schemas.microsoft.com/office/drawing/2014/main" id="{FA2C5F23-84CF-4D6B-AFD9-F2733946B4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>
                <a:latin typeface="Times New Roman" pitchFamily="18" charset="0"/>
                <a:ea typeface="楷体_GB2312" panose="02010609030101010101" pitchFamily="49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="" xmlns:a16="http://schemas.microsoft.com/office/drawing/2014/main" id="{681EAD2C-F682-4E80-AA44-FAB40BF4CDB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>
                <a:latin typeface="Times New Roman" pitchFamily="18" charset="0"/>
                <a:ea typeface="楷体_GB2312" panose="02010609030101010101" pitchFamily="49" charset="-122"/>
              </a:defRPr>
            </a:lvl1pPr>
          </a:lstStyle>
          <a:p>
            <a:pPr>
              <a:defRPr/>
            </a:pPr>
            <a:fld id="{BA9FCE93-C49B-44E1-AFA9-ACA7B939566F}" type="datetimeFigureOut">
              <a:rPr lang="zh-CN" altLang="en-US"/>
              <a:pPr>
                <a:defRPr/>
              </a:pPr>
              <a:t>2025/10/31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="" xmlns:a16="http://schemas.microsoft.com/office/drawing/2014/main" id="{BDE6FDF7-2C92-4982-877A-F84D697501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="" xmlns:a16="http://schemas.microsoft.com/office/drawing/2014/main" id="{BE514968-5BFB-42BC-9691-1BFE2F66DC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4B6F8195-2FCB-4661-8AB1-9A9E16C096A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>
                <a:latin typeface="Times New Roman" pitchFamily="18" charset="0"/>
                <a:ea typeface="楷体_GB2312" panose="02010609030101010101" pitchFamily="49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4691616A-F101-4DEB-9285-8E771B22FB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fld id="{EC5F57C8-B77E-4A42-92CE-C626494F579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90583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algun Gothic" panose="020B0503020000020004" pitchFamily="34" charset="-127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algun Gothic" panose="020B0503020000020004" pitchFamily="34" charset="-127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algun Gothic" panose="020B0503020000020004" pitchFamily="34" charset="-127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algun Gothic" panose="020B0503020000020004" pitchFamily="34" charset="-127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algun Gothic" panose="020B0503020000020004" pitchFamily="34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85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1085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B516A0AE-3530-4A3F-9363-0AAE36ACCC3A}" type="slidenum">
              <a:rPr lang="zh-CN" altLang="en-US" sz="1200" smtClean="0">
                <a:solidFill>
                  <a:prstClr val="black"/>
                </a:solidFill>
              </a:rPr>
              <a:pPr/>
              <a:t>28</a:t>
            </a:fld>
            <a:endParaRPr lang="zh-CN" altLang="en-US" sz="120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0517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4D2433-128D-984E-B31B-A5C5F89DD8A0}" type="slidenum">
              <a:rPr lang="zh-CN" altLang="en-US">
                <a:solidFill>
                  <a:prstClr val="black"/>
                </a:solidFill>
              </a:rPr>
              <a:pPr>
                <a:defRPr/>
              </a:pPr>
              <a:t>39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54811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619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13619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1FB1AAED-0B04-4A5B-80E7-110F6F54A199}" type="slidenum">
              <a:rPr lang="zh-CN" altLang="en-US" sz="1200" smtClean="0">
                <a:solidFill>
                  <a:srgbClr val="000000"/>
                </a:solidFill>
              </a:rPr>
              <a:pPr/>
              <a:t>76</a:t>
            </a:fld>
            <a:endParaRPr lang="zh-CN" altLang="en-US" sz="1200" smtClean="0">
              <a:solidFill>
                <a:srgbClr val="000000"/>
              </a:solidFill>
            </a:endParaRPr>
          </a:p>
        </p:txBody>
      </p:sp>
      <p:sp>
        <p:nvSpPr>
          <p:cNvPr id="136197" name="页脚占位符 1"/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endParaRPr lang="zh-CN" altLang="en-US" sz="120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7979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3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5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6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>
            <a:extLst>
              <a:ext uri="{FF2B5EF4-FFF2-40B4-BE49-F238E27FC236}">
                <a16:creationId xmlns="" xmlns:a16="http://schemas.microsoft.com/office/drawing/2014/main" id="{BAEC09D2-CFF8-475F-93BF-8D33A86D10BE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>
            <a:extLst>
              <a:ext uri="{FF2B5EF4-FFF2-40B4-BE49-F238E27FC236}">
                <a16:creationId xmlns="" xmlns:a16="http://schemas.microsoft.com/office/drawing/2014/main" id="{911E047A-773C-4AD4-AD79-DCCDC63B0C8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9">
            <a:extLst>
              <a:ext uri="{FF2B5EF4-FFF2-40B4-BE49-F238E27FC236}">
                <a16:creationId xmlns="" xmlns:a16="http://schemas.microsoft.com/office/drawing/2014/main" id="{77C6E50C-82B1-4AE4-B4A9-288452CD9B0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="" xmlns:a16="http://schemas.microsoft.com/office/drawing/2014/main" id="{A7C749D0-E48F-4F40-991A-6B1C8E9328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>
            <a:extLst>
              <a:ext uri="{FF2B5EF4-FFF2-40B4-BE49-F238E27FC236}">
                <a16:creationId xmlns="" xmlns:a16="http://schemas.microsoft.com/office/drawing/2014/main" id="{3AB1E9D7-1C99-4F0E-BF98-DA16B22EC7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>
            <a:extLst>
              <a:ext uri="{FF2B5EF4-FFF2-40B4-BE49-F238E27FC236}">
                <a16:creationId xmlns="" xmlns:a16="http://schemas.microsoft.com/office/drawing/2014/main" id="{FC3927E4-AAE0-475C-8524-24A140621D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877DD0F-E600-43C4-A456-DCF1687C2B4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3903546"/>
      </p:ext>
    </p:extLst>
  </p:cSld>
  <p:clrMapOvr>
    <a:masterClrMapping/>
  </p:clrMapOvr>
  <p:transition spd="med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FB4782EB-DA4D-4627-B514-ED18F94E52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9712FEDB-690B-437F-A9F6-3C58E6099D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="" xmlns:a16="http://schemas.microsoft.com/office/drawing/2014/main" id="{11718E0E-967C-4EC9-B3FB-0AF4C4080A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287CF0-E7D3-40B0-A5EB-1663BFE233F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36197703"/>
      </p:ext>
    </p:extLst>
  </p:cSld>
  <p:clrMapOvr>
    <a:masterClrMapping/>
  </p:clrMapOvr>
  <p:transition spd="med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5551C950-101A-418A-BD34-2F818A85EE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A8EF4627-FB1A-416B-8602-2322193CDB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="" xmlns:a16="http://schemas.microsoft.com/office/drawing/2014/main" id="{A78FB6B2-B1B1-41A3-8AA4-1625B8E078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8DD97B-1F49-4856-AFA3-5D8C1160F42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49848731"/>
      </p:ext>
    </p:extLst>
  </p:cSld>
  <p:clrMapOvr>
    <a:masterClrMapping/>
  </p:clrMapOvr>
  <p:transition spd="med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FB7F7686-B5BE-4BF2-8ED5-C6022DD91A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082535BD-D818-470D-B813-DC9BBC850B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A9C398E7-090C-478A-9C9D-1DFDEAC25D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D8DFFD-750D-414B-BD24-FE1C30612C4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38740268"/>
      </p:ext>
    </p:extLst>
  </p:cSld>
  <p:clrMapOvr>
    <a:masterClrMapping/>
  </p:clrMapOvr>
  <p:transition spd="med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="" xmlns:a16="http://schemas.microsoft.com/office/drawing/2014/main" id="{BECBDA60-E39F-491D-A5D4-46E1DC0D2F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>
            <a:extLst>
              <a:ext uri="{FF2B5EF4-FFF2-40B4-BE49-F238E27FC236}">
                <a16:creationId xmlns="" xmlns:a16="http://schemas.microsoft.com/office/drawing/2014/main" id="{D50002D2-2E38-4513-A7C3-2590057F73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>
            <a:extLst>
              <a:ext uri="{FF2B5EF4-FFF2-40B4-BE49-F238E27FC236}">
                <a16:creationId xmlns="" xmlns:a16="http://schemas.microsoft.com/office/drawing/2014/main" id="{0DD49E72-0761-4C30-94AF-AE330C2926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B7A0CF-EB73-44B9-92B9-02D51413AA5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83267132"/>
      </p:ext>
    </p:extLst>
  </p:cSld>
  <p:clrMapOvr>
    <a:masterClrMapping/>
  </p:clrMapOvr>
  <p:transition spd="med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="" xmlns:a16="http://schemas.microsoft.com/office/drawing/2014/main" id="{7D5DC9DF-B76D-4E94-BED0-0F5E71543A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>
            <a:extLst>
              <a:ext uri="{FF2B5EF4-FFF2-40B4-BE49-F238E27FC236}">
                <a16:creationId xmlns="" xmlns:a16="http://schemas.microsoft.com/office/drawing/2014/main" id="{80FD13EE-E9C5-48E2-834C-0CD9579358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>
            <a:extLst>
              <a:ext uri="{FF2B5EF4-FFF2-40B4-BE49-F238E27FC236}">
                <a16:creationId xmlns="" xmlns:a16="http://schemas.microsoft.com/office/drawing/2014/main" id="{447ADD68-2951-4DA8-9671-E9A2F20B21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247678-89FD-41E3-9215-2DAD81BE108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27663183"/>
      </p:ext>
    </p:extLst>
  </p:cSld>
  <p:clrMapOvr>
    <a:masterClrMapping/>
  </p:clrMapOvr>
  <p:transition spd="med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="" xmlns:a16="http://schemas.microsoft.com/office/drawing/2014/main" id="{BA1014A7-4EA3-4EE9-9BC6-930876B773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>
            <a:extLst>
              <a:ext uri="{FF2B5EF4-FFF2-40B4-BE49-F238E27FC236}">
                <a16:creationId xmlns="" xmlns:a16="http://schemas.microsoft.com/office/drawing/2014/main" id="{19683814-14EB-494F-84A9-FAAE394EA4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>
            <a:extLst>
              <a:ext uri="{FF2B5EF4-FFF2-40B4-BE49-F238E27FC236}">
                <a16:creationId xmlns="" xmlns:a16="http://schemas.microsoft.com/office/drawing/2014/main" id="{AB1FF674-57D9-49AC-8FDC-E639BB0FEA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4A2345-C10C-49D8-B838-EDF7B4FC122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85475375"/>
      </p:ext>
    </p:extLst>
  </p:cSld>
  <p:clrMapOvr>
    <a:masterClrMapping/>
  </p:clrMapOvr>
  <p:transition spd="med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C3A83F68-0922-4E28-B150-8DE2709851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0A5258AA-6A8D-4A07-BA59-DAA6E30349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B3B5743B-6FFE-4CEC-8577-F3AAA6CFAA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75A5C3-2D47-4B4C-BFEF-E499899028B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49667002"/>
      </p:ext>
    </p:extLst>
  </p:cSld>
  <p:clrMapOvr>
    <a:masterClrMapping/>
  </p:clrMapOvr>
  <p:transition spd="med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2686E551-8AFB-430C-9091-6A2DBC460A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85E218FE-96FF-4A01-AE69-040B920851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897426B9-F5E6-4D73-BB79-3BBC64B81C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520886-687D-4B2A-97B4-D9F3406DC90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13141322"/>
      </p:ext>
    </p:extLst>
  </p:cSld>
  <p:clrMapOvr>
    <a:masterClrMapping/>
  </p:clrMapOvr>
  <p:transition spd="med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5C266911-9BA4-4F51-8EB8-398B569C9D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8D263136-A39A-467F-9DD1-973644B7B5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="" xmlns:a16="http://schemas.microsoft.com/office/drawing/2014/main" id="{4124929E-7B8F-4746-91A0-DFC059254D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B51E86-5166-4471-89F9-D79FA3BE0AA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34535496"/>
      </p:ext>
    </p:extLst>
  </p:cSld>
  <p:clrMapOvr>
    <a:masterClrMapping/>
  </p:clrMapOvr>
  <p:transition spd="med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98F1A9AD-BD34-4EDB-8C05-C82EFB92F5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876AE4B8-4E08-4123-88E8-1E2724A58D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="" xmlns:a16="http://schemas.microsoft.com/office/drawing/2014/main" id="{C8789AF8-AC7C-4236-B92E-0895AFE21E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38B4CC-B2A8-4D81-A22B-9CA2BE6F121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08016370"/>
      </p:ext>
    </p:extLst>
  </p:cSld>
  <p:clrMapOvr>
    <a:masterClrMapping/>
  </p:clrMapOvr>
  <p:transition spd="med"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3768822E-F57C-445D-B2AE-4F1906C48E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1CB3D795-6E1E-42BA-A550-B235D58305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DEBF8C61-F775-4DDD-A880-D9E19130BF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F35801-E84C-45E7-A480-906FA729E84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7397738"/>
      </p:ext>
    </p:extLst>
  </p:cSld>
  <p:clrMapOvr>
    <a:masterClrMapping/>
  </p:clrMapOvr>
  <p:transition spd="med"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68C50CDE-509C-40BC-ABCD-4D0D107FEB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5383CCB9-0605-4940-AD38-B4581D8687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93D7A989-F79A-4570-A37A-FAE2332AFF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E03BAC-F32D-46D6-BF6E-F25D53C0066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5061275"/>
      </p:ext>
    </p:extLst>
  </p:cSld>
  <p:clrMapOvr>
    <a:masterClrMapping/>
  </p:clrMapOvr>
  <p:transition spd="med"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mtClean="0">
              <a:solidFill>
                <a:srgbClr val="000000"/>
              </a:solidFill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mtClean="0">
              <a:solidFill>
                <a:srgbClr val="000000"/>
              </a:solidFill>
            </a:endParaRPr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733ACB-B7FC-4DCB-8259-8D81FF85DD1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0593072"/>
      </p:ext>
    </p:extLst>
  </p:cSld>
  <p:clrMapOvr>
    <a:masterClrMapping/>
  </p:clrMapOvr>
  <p:transition spd="med">
    <p:rand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58FE3F-1683-41DA-A542-13489F2A23AF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3131311"/>
      </p:ext>
    </p:extLst>
  </p:cSld>
  <p:clrMapOvr>
    <a:masterClrMapping/>
  </p:clrMapOvr>
  <p:transition spd="med">
    <p:rand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E99312-4007-4DA1-8D6D-DF4F8444E9E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6025751"/>
      </p:ext>
    </p:extLst>
  </p:cSld>
  <p:clrMapOvr>
    <a:masterClrMapping/>
  </p:clrMapOvr>
  <p:transition spd="med">
    <p:rand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82B450-769A-4340-AD50-1DB2D8E70D4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9666891"/>
      </p:ext>
    </p:extLst>
  </p:cSld>
  <p:clrMapOvr>
    <a:masterClrMapping/>
  </p:clrMapOvr>
  <p:transition spd="med">
    <p:rand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0989EB-D700-4320-92F3-5F1D2027CE6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5245324"/>
      </p:ext>
    </p:extLst>
  </p:cSld>
  <p:clrMapOvr>
    <a:masterClrMapping/>
  </p:clrMapOvr>
  <p:transition spd="med">
    <p:rand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D2DCA6-EE7B-4D9A-953E-C57B8C33758C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3245789"/>
      </p:ext>
    </p:extLst>
  </p:cSld>
  <p:clrMapOvr>
    <a:masterClrMapping/>
  </p:clrMapOvr>
  <p:transition spd="med">
    <p:rand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0FE806-5A93-46BA-A110-1CF71D7F843F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0130770"/>
      </p:ext>
    </p:extLst>
  </p:cSld>
  <p:clrMapOvr>
    <a:masterClrMapping/>
  </p:clrMapOvr>
  <p:transition spd="med">
    <p:rand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6F0177-C953-457F-AD1D-9578AAE6639D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764834"/>
      </p:ext>
    </p:extLst>
  </p:cSld>
  <p:clrMapOvr>
    <a:masterClrMapping/>
  </p:clrMapOvr>
  <p:transition spd="med">
    <p:rand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305A2D-3E32-4BA9-B028-F9C1DED7B40B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4203860"/>
      </p:ext>
    </p:extLst>
  </p:cSld>
  <p:clrMapOvr>
    <a:masterClrMapping/>
  </p:clrMapOvr>
  <p:transition spd="med">
    <p:random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D70069-4BC3-444B-A9B2-90C58552C88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5554679"/>
      </p:ext>
    </p:extLst>
  </p:cSld>
  <p:clrMapOvr>
    <a:masterClrMapping/>
  </p:clrMapOvr>
  <p:transition spd="med">
    <p:random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9657B8-B6D7-4B3B-91AB-A065E819AEA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25401"/>
      </p:ext>
    </p:extLst>
  </p:cSld>
  <p:clrMapOvr>
    <a:masterClrMapping/>
  </p:clrMapOvr>
  <p:transition spd="med">
    <p:random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36BA6A-20FD-46AF-BA87-778B9793574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8403712"/>
      </p:ext>
    </p:extLst>
  </p:cSld>
  <p:clrMapOvr>
    <a:masterClrMapping/>
  </p:clrMapOvr>
  <p:transition spd="med">
    <p:random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72F47F-2CD8-45A8-B4C6-A07E8D06E66A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9286993"/>
      </p:ext>
    </p:extLst>
  </p:cSld>
  <p:clrMapOvr>
    <a:masterClrMapping/>
  </p:clrMapOvr>
  <p:transition spd="med">
    <p:random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mtClean="0">
              <a:solidFill>
                <a:srgbClr val="000000"/>
              </a:solidFill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mtClean="0">
              <a:solidFill>
                <a:srgbClr val="000000"/>
              </a:solidFill>
            </a:endParaRPr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3E6692-4F64-4324-8E44-1407CD411D1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870209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353C30-BDA2-4AD9-BC55-B613522D476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6551183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02CB99-768C-4A34-9D37-AC38A3A775C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245647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8E5245-BCE5-4D47-B882-A540FFDFA29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76668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228458-7842-468C-9BB5-598963E9BB2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761644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2252D5-F17B-4879-A307-5E0602F47B1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0162830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598F27-BB8E-4D97-BC0B-F93E0C996AC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2212411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751166-6CE2-47E8-B911-D642AF5DD5B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142123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9735A5-F15E-41C1-9F3A-DBB38B88657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405817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3C21C5-8D4F-47DF-9B5F-AED089F8EF5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9796534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FF2F83-6248-42F8-9D58-4A42C8EDAA6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2648126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mtClean="0">
              <a:solidFill>
                <a:srgbClr val="000000"/>
              </a:solidFill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mtClean="0">
              <a:solidFill>
                <a:srgbClr val="000000"/>
              </a:solidFill>
            </a:endParaRPr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3824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6D74A4-55C0-406A-AC7A-65CCEA2272DF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36825642"/>
      </p:ext>
    </p:extLst>
  </p:cSld>
  <p:clrMapOvr>
    <a:masterClrMapping/>
  </p:clrMapOvr>
  <p:transition>
    <p:random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815331-AD77-45F4-9842-8F4AF06682C8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22104390"/>
      </p:ext>
    </p:extLst>
  </p:cSld>
  <p:clrMapOvr>
    <a:masterClrMapping/>
  </p:clrMapOvr>
  <p:transition>
    <p:random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33E62B-CFDC-489C-A139-B38FB29143E9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72699027"/>
      </p:ext>
    </p:extLst>
  </p:cSld>
  <p:clrMapOvr>
    <a:masterClrMapping/>
  </p:clrMapOvr>
  <p:transition>
    <p:random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438139-607A-4CA2-B148-24E8EAA29CF5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23063126"/>
      </p:ext>
    </p:extLst>
  </p:cSld>
  <p:clrMapOvr>
    <a:masterClrMapping/>
  </p:clrMapOvr>
  <p:transition>
    <p:random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3BC0AC-3E80-4FCB-AE0F-24C59C68E0CB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89367389"/>
      </p:ext>
    </p:extLst>
  </p:cSld>
  <p:clrMapOvr>
    <a:masterClrMapping/>
  </p:clrMapOvr>
  <p:transition>
    <p:random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52E9CF-38AD-4337-BB3B-D9C0B66CB58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60230356"/>
      </p:ext>
    </p:extLst>
  </p:cSld>
  <p:clrMapOvr>
    <a:masterClrMapping/>
  </p:clrMapOvr>
  <p:transition>
    <p:random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651D43-739C-4121-8756-EDF8A0112A2F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686855"/>
      </p:ext>
    </p:extLst>
  </p:cSld>
  <p:clrMapOvr>
    <a:masterClrMapping/>
  </p:clrMapOvr>
  <p:transition>
    <p:random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516802-BD5E-4089-B479-23FFCD41EE45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13977090"/>
      </p:ext>
    </p:extLst>
  </p:cSld>
  <p:clrMapOvr>
    <a:masterClrMapping/>
  </p:clrMapOvr>
  <p:transition>
    <p:random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BD932B-6B6E-4246-ADD9-DF7D9CED6D3E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52879437"/>
      </p:ext>
    </p:extLst>
  </p:cSld>
  <p:clrMapOvr>
    <a:masterClrMapping/>
  </p:clrMapOvr>
  <p:transition>
    <p:random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7D7EA0-4232-4FC6-8D1B-D8AC25617285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91836884"/>
      </p:ext>
    </p:extLst>
  </p:cSld>
  <p:clrMapOvr>
    <a:masterClrMapping/>
  </p:clrMapOvr>
  <p:transition>
    <p:random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FDF36A-2C7B-4844-975F-B04CDAF84D4E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04056327"/>
      </p:ext>
    </p:extLst>
  </p:cSld>
  <p:clrMapOvr>
    <a:masterClrMapping/>
  </p:clrMapOvr>
  <p:transition>
    <p:random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mtClean="0">
              <a:solidFill>
                <a:srgbClr val="000000"/>
              </a:solidFill>
              <a:ea typeface="楷体_GB2312" panose="02010609030101010101" pitchFamily="49" charset="-122"/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mtClean="0">
              <a:solidFill>
                <a:srgbClr val="000000"/>
              </a:solidFill>
              <a:ea typeface="楷体_GB2312" panose="02010609030101010101" pitchFamily="49" charset="-122"/>
            </a:endParaRPr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B3D3EC-7EE8-4232-8A33-BE3FBBB732A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65368559"/>
      </p:ext>
    </p:extLst>
  </p:cSld>
  <p:clrMapOvr>
    <a:masterClrMapping/>
  </p:clrMapOvr>
  <p:transition spd="med">
    <p:random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916B05-81F6-43C0-9C95-9C21CB3DE59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60376728"/>
      </p:ext>
    </p:extLst>
  </p:cSld>
  <p:clrMapOvr>
    <a:masterClrMapping/>
  </p:clrMapOvr>
  <p:transition spd="med">
    <p:random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DA9F46-D3E4-464D-8368-C187F032AF2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77304083"/>
      </p:ext>
    </p:extLst>
  </p:cSld>
  <p:clrMapOvr>
    <a:masterClrMapping/>
  </p:clrMapOvr>
  <p:transition spd="med">
    <p:random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34EBE6-2B9F-4F2D-89A8-004E2A759A4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56001095"/>
      </p:ext>
    </p:extLst>
  </p:cSld>
  <p:clrMapOvr>
    <a:masterClrMapping/>
  </p:clrMapOvr>
  <p:transition spd="med">
    <p:random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6256DB-0322-4E83-842C-8AD93AE06DC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01375001"/>
      </p:ext>
    </p:extLst>
  </p:cSld>
  <p:clrMapOvr>
    <a:masterClrMapping/>
  </p:clrMapOvr>
  <p:transition spd="med">
    <p:random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C11F2C-C51F-4CD0-941A-AC9BB51397D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82462860"/>
      </p:ext>
    </p:extLst>
  </p:cSld>
  <p:clrMapOvr>
    <a:masterClrMapping/>
  </p:clrMapOvr>
  <p:transition spd="med">
    <p:random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9DAAAA-CBED-4039-AC8E-50E6F429CDB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51940072"/>
      </p:ext>
    </p:extLst>
  </p:cSld>
  <p:clrMapOvr>
    <a:masterClrMapping/>
  </p:clrMapOvr>
  <p:transition spd="med">
    <p:random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AD6C7D-00AB-46DD-B070-BCCEF05FB20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18429208"/>
      </p:ext>
    </p:extLst>
  </p:cSld>
  <p:clrMapOvr>
    <a:masterClrMapping/>
  </p:clrMapOvr>
  <p:transition spd="med">
    <p:random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B1E136-5C33-4E33-8F65-4A7CF7C1C7D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51760758"/>
      </p:ext>
    </p:extLst>
  </p:cSld>
  <p:clrMapOvr>
    <a:masterClrMapping/>
  </p:clrMapOvr>
  <p:transition spd="med">
    <p:random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504F9A-B9CC-4D33-8C37-D1441E42BF6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34430411"/>
      </p:ext>
    </p:extLst>
  </p:cSld>
  <p:clrMapOvr>
    <a:masterClrMapping/>
  </p:clrMapOvr>
  <p:transition spd="med">
    <p:random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352C81-2BFE-4878-89D3-9AEA63DE563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68239147"/>
      </p:ext>
    </p:extLst>
  </p:cSld>
  <p:clrMapOvr>
    <a:masterClrMapping/>
  </p:clrMapOvr>
  <p:transition spd="med">
    <p:random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F2E221-472F-4F20-91AA-3D3B9433213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23132557"/>
      </p:ext>
    </p:extLst>
  </p:cSld>
  <p:clrMapOvr>
    <a:masterClrMapping/>
  </p:clrMapOvr>
  <p:transition spd="med">
    <p:random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F1C2E2-E198-49B6-A148-18CDC63FAA2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80548253"/>
      </p:ext>
    </p:extLst>
  </p:cSld>
  <p:clrMapOvr>
    <a:masterClrMapping/>
  </p:clrMapOvr>
  <p:transition spd="med">
    <p:random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mtClean="0">
              <a:solidFill>
                <a:srgbClr val="000000"/>
              </a:solidFill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mtClean="0">
              <a:solidFill>
                <a:srgbClr val="000000"/>
              </a:solidFill>
            </a:endParaRPr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7D6A7E-C6BE-449D-8F80-085BDA11BC1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8502350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88A472-F8AC-4D98-952E-8BF61D43F59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7311862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F83394-CD52-47A4-B0C8-B67AC71553F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2567944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B13745-EC2C-4297-8ED1-8D0ED0B9862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3692847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D225EE-3553-4FCE-8282-25FD016462B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4798805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41770A-7B0B-4C03-88F3-88DCB868F98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4754514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4300EB-0B5E-4BF8-B03E-7110BC36D1B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3400444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62E1F4-8B38-4E15-9131-A28A264E8BB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1192958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2518F8-B87F-4F05-A7EC-68FAEAA561B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7730099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255EB7-28AA-43E5-A84A-6707E0842B5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0986573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28FD05-5D2E-4A5F-ADCE-8F1825B260A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2706343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>
            <a:extLst>
              <a:ext uri="{FF2B5EF4-FFF2-40B4-BE49-F238E27FC236}">
                <a16:creationId xmlns:a16="http://schemas.microsoft.com/office/drawing/2014/main" xmlns="" id="{BFF51292-7C24-D344-A4D0-1FE9E07948F5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>
            <a:extLst>
              <a:ext uri="{FF2B5EF4-FFF2-40B4-BE49-F238E27FC236}">
                <a16:creationId xmlns:a16="http://schemas.microsoft.com/office/drawing/2014/main" xmlns="" id="{04AFC66E-7D21-114F-9380-465086641DA7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楷体_GB2312" panose="02010609030101010101" pitchFamily="49" charset="-122"/>
            </a:endParaRPr>
          </a:p>
        </p:txBody>
      </p:sp>
      <p:sp>
        <p:nvSpPr>
          <p:cNvPr id="6" name="Line 9">
            <a:extLst>
              <a:ext uri="{FF2B5EF4-FFF2-40B4-BE49-F238E27FC236}">
                <a16:creationId xmlns:a16="http://schemas.microsoft.com/office/drawing/2014/main" xmlns="" id="{79B67D75-F41B-8F4F-9765-0DFBBAB5F1DF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楷体_GB2312" panose="02010609030101010101" pitchFamily="49" charset="-122"/>
            </a:endParaRPr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xmlns="" id="{F62D7B1F-D4AA-2F49-BF96-694B528ACF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xmlns="" id="{A7E537E3-3412-B64F-B6D7-CE6B277F31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xmlns="" id="{DF0DD2E5-F0F1-C248-9F90-97C592EEF3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C2222B4-71DC-D847-96A7-82CA85A5F19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236207"/>
      </p:ext>
    </p:extLst>
  </p:cSld>
  <p:clrMapOvr>
    <a:masterClrMapping/>
  </p:clrMapOvr>
  <p:transition spd="med">
    <p:random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692AC690-E252-7742-B562-90E181BDC4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1B9F66F4-D328-BD41-9D06-7A591CF9E1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xmlns="" id="{618B16D7-96E1-0D42-AA5F-8650ADF7C0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695C2E-1553-4143-805C-213D9C230BA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0898363"/>
      </p:ext>
    </p:extLst>
  </p:cSld>
  <p:clrMapOvr>
    <a:masterClrMapping/>
  </p:clrMapOvr>
  <p:transition spd="med">
    <p:random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8241E169-6127-DD4E-91C6-0716B6EBA5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599E1C6E-2E00-D44D-AD71-D20F13900E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xmlns="" id="{10B7BB93-7479-DE40-B4B3-01731F1248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D32A54-00EA-0943-832E-E5CEB72C253F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5549186"/>
      </p:ext>
    </p:extLst>
  </p:cSld>
  <p:clrMapOvr>
    <a:masterClrMapping/>
  </p:clrMapOvr>
  <p:transition spd="med">
    <p:random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ECBA4CAB-5601-B648-96E8-2D06B5D485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F5923146-2503-A84C-9A6E-1ECCBF3F54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xmlns="" id="{F02699BA-3DA2-1F46-84D9-71257F5468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3711A7-28EE-D743-9BDD-A3807CD5E52F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1710618"/>
      </p:ext>
    </p:extLst>
  </p:cSld>
  <p:clrMapOvr>
    <a:masterClrMapping/>
  </p:clrMapOvr>
  <p:transition spd="med">
    <p:random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xmlns="" id="{DA187415-FCC2-D448-86C3-3A4EEE9093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xmlns="" id="{00E71A0B-B197-DC4C-A8D0-5E44DE7131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xmlns="" id="{157B795B-B6F5-564B-823F-F686F19336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841253-C171-3047-93EB-BC998BD0D18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0704997"/>
      </p:ext>
    </p:extLst>
  </p:cSld>
  <p:clrMapOvr>
    <a:masterClrMapping/>
  </p:clrMapOvr>
  <p:transition spd="med">
    <p:random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xmlns="" id="{F8BC7412-783A-AA43-A10E-1CFDD28827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xmlns="" id="{0E421AFD-C5A2-664F-B407-A6810F22E5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xmlns="" id="{90202017-D2EB-B245-9BC1-4415FC6283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A60F07-F225-9045-A89D-E61C097800CC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059750"/>
      </p:ext>
    </p:extLst>
  </p:cSld>
  <p:clrMapOvr>
    <a:masterClrMapping/>
  </p:clrMapOvr>
  <p:transition spd="med">
    <p:random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xmlns="" id="{C948E136-7C4F-094A-8063-BE89A8FB2F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xmlns="" id="{602F769C-CB33-3F4C-901C-EDC648B313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xmlns="" id="{F83918C7-E3D8-9744-A7B9-12B8C8B013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DE5839-2295-4940-91FA-EC8B87A1F78D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5858215"/>
      </p:ext>
    </p:extLst>
  </p:cSld>
  <p:clrMapOvr>
    <a:masterClrMapping/>
  </p:clrMapOvr>
  <p:transition spd="med">
    <p:random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80448EB2-F429-C84E-94FB-510572782B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4B5CBA13-C85F-C548-A4AB-33214DA19D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xmlns="" id="{5FB315FB-F853-3044-811F-40063BA44D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5EB9A2-CD53-FF4F-8EBC-FA7290EB06D8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3284373"/>
      </p:ext>
    </p:extLst>
  </p:cSld>
  <p:clrMapOvr>
    <a:masterClrMapping/>
  </p:clrMapOvr>
  <p:transition spd="med">
    <p:random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39E22BE9-D098-6144-B97F-F2921C2F39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5125078D-00EF-3445-8DE7-C4F719D8E7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xmlns="" id="{F1DE6C96-978B-574D-A2C2-D2311BC630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8192D5-30BF-5E46-AFE6-E2804E950F93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9110778"/>
      </p:ext>
    </p:extLst>
  </p:cSld>
  <p:clrMapOvr>
    <a:masterClrMapping/>
  </p:clrMapOvr>
  <p:transition spd="med">
    <p:random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4C0E41E7-3CAB-374F-8EA6-B94F27F525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ACC922BD-2676-9E40-8E27-FAF8DC1CC8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xmlns="" id="{DF44C551-E355-2E42-B925-9B7F132149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F5E67E-F0CE-8445-B07A-DBFC87C6076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980447"/>
      </p:ext>
    </p:extLst>
  </p:cSld>
  <p:clrMapOvr>
    <a:masterClrMapping/>
  </p:clrMapOvr>
  <p:transition spd="med">
    <p:random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41587563-F1E2-DC49-9B68-9CCD164DAC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F5EBEE4A-C95F-D346-BCA2-02D9F72AA1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xmlns="" id="{57DA1A34-AC98-5245-B374-78632FB6DF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385EBE-D0B4-7248-84DC-D6B47DBB0E9A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204466"/>
      </p:ext>
    </p:extLst>
  </p:cSld>
  <p:clrMapOvr>
    <a:masterClrMapping/>
  </p:clrMapOvr>
  <p:transition spd="med">
    <p:random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E71A58E5-7A7C-824E-8A9D-6326C7B769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3C633A28-36D2-6A4D-A7DC-8D18A3B1EF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xmlns="" id="{04C7E778-B760-1F40-9925-E41F6FE76E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336350-9573-204C-99A7-C25B379F71A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171183"/>
      </p:ext>
    </p:extLst>
  </p:cSld>
  <p:clrMapOvr>
    <a:masterClrMapping/>
  </p:clrMapOvr>
  <p:transition spd="med">
    <p:random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mtClean="0">
              <a:solidFill>
                <a:srgbClr val="000000"/>
              </a:solidFill>
              <a:ea typeface="楷体_GB2312" panose="02010609030101010101" pitchFamily="49" charset="-122"/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mtClean="0">
              <a:solidFill>
                <a:srgbClr val="000000"/>
              </a:solidFill>
              <a:ea typeface="楷体_GB2312" panose="02010609030101010101" pitchFamily="49" charset="-122"/>
            </a:endParaRPr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210BEE-2950-441B-9932-9C66900A25F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61999920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1BA873-E572-4244-AFE3-F18298C0EBC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06913262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0C08BE-F6F6-4061-8ECE-C73DFEFC2DF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6581524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5E677D-DDF3-4DBA-8781-C2AA8739843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41924501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FA98F1-7D55-4232-9E41-2DAD5655E81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60199836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2C8BC4-5847-4FD9-920E-361BBDC9615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16292065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D6FA0C-154C-4DAA-B5DE-99ECA4049FE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33661920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52929C-9401-4BA8-A4A8-B6FF8E32368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28819651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89635E-1E16-4D1B-AE4F-AAA1FD1BF69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1802165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E9AE4D-0CAD-4CD2-9BB7-7908CF23C5B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6722204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F95EC6-76DE-43DF-8E5D-FD6E1011776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36985894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>
            <a:extLst>
              <a:ext uri="{FF2B5EF4-FFF2-40B4-BE49-F238E27FC236}">
                <a16:creationId xmlns="" xmlns:a16="http://schemas.microsoft.com/office/drawing/2014/main" id="{39C2FD36-1408-4626-A5B9-0B5F527D86F7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>
            <a:extLst>
              <a:ext uri="{FF2B5EF4-FFF2-40B4-BE49-F238E27FC236}">
                <a16:creationId xmlns="" xmlns:a16="http://schemas.microsoft.com/office/drawing/2014/main" id="{815D33D5-1479-44D4-972A-41AE0850AFF2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6" name="Line 9">
            <a:extLst>
              <a:ext uri="{FF2B5EF4-FFF2-40B4-BE49-F238E27FC236}">
                <a16:creationId xmlns="" xmlns:a16="http://schemas.microsoft.com/office/drawing/2014/main" id="{AF6D48A7-889E-4A75-A40F-F1CB82F1478A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921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="" xmlns:a16="http://schemas.microsoft.com/office/drawing/2014/main" id="{167CA7B7-8C9B-4CE5-B4B3-5A1E5C3EF8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="" xmlns:a16="http://schemas.microsoft.com/office/drawing/2014/main" id="{320CA212-81F9-4FEB-8E7F-2B6E3E503E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="" xmlns:a16="http://schemas.microsoft.com/office/drawing/2014/main" id="{2E4CB9B5-6463-427A-BAF9-D6D8ABBEF9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FA2618E6-A39E-4F34-B80B-3B04B9C54B09}" type="slidenum">
              <a:rPr lang="ko-KR" altLang="en-US">
                <a:solidFill>
                  <a:srgbClr val="000000"/>
                </a:solidFill>
              </a:rPr>
              <a:pPr/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591325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3E0401F1-A4C7-493B-87FD-DF08A65506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B7EEB346-5EF4-4678-8574-B9F9BA8F06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="" xmlns:a16="http://schemas.microsoft.com/office/drawing/2014/main" id="{48F17DD2-5E7B-4B01-B2E9-EE17FF8FA2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71C651-517A-432B-B2F3-542F0489B3E5}" type="slidenum">
              <a:rPr lang="ko-KR" altLang="en-US">
                <a:solidFill>
                  <a:srgbClr val="000000"/>
                </a:solidFill>
              </a:rPr>
              <a:pPr/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9000245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B39D8DB2-414F-48DE-AF6F-D5F002F646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E3356B4E-6949-42D8-99F4-DB06851D0A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="" xmlns:a16="http://schemas.microsoft.com/office/drawing/2014/main" id="{ADE5E8AB-D3F8-4CC2-952D-E5C22E1876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3D8A60-E197-4CCC-9583-378B5AE354AA}" type="slidenum">
              <a:rPr lang="ko-KR" altLang="en-US">
                <a:solidFill>
                  <a:srgbClr val="000000"/>
                </a:solidFill>
              </a:rPr>
              <a:pPr/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2628494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F7822611-4E5C-4705-B9D8-BF990CF688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24BA1476-FBC2-4B3B-B4C2-D3DFD87175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F5B57A02-7995-4C89-B0D5-831326A9FE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ED8802-DA7B-4E7C-B3A9-9B3DC9FEB9D5}" type="slidenum">
              <a:rPr lang="ko-KR" altLang="en-US">
                <a:solidFill>
                  <a:srgbClr val="000000"/>
                </a:solidFill>
              </a:rPr>
              <a:pPr/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5244675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="" xmlns:a16="http://schemas.microsoft.com/office/drawing/2014/main" id="{98CD6FE8-E2A9-4C1F-B216-141D95ACD0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="" xmlns:a16="http://schemas.microsoft.com/office/drawing/2014/main" id="{49D06009-1857-4580-8E52-A1DE5A7A16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="" xmlns:a16="http://schemas.microsoft.com/office/drawing/2014/main" id="{55B98041-7C2E-457C-B8BF-73E5174F94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608B82-4ECF-4CE1-BB7F-B85AA8034390}" type="slidenum">
              <a:rPr lang="ko-KR" altLang="en-US">
                <a:solidFill>
                  <a:srgbClr val="000000"/>
                </a:solidFill>
              </a:rPr>
              <a:pPr/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3677393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="" xmlns:a16="http://schemas.microsoft.com/office/drawing/2014/main" id="{98B2C50E-A311-4989-B61F-0512C1DC3E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="" xmlns:a16="http://schemas.microsoft.com/office/drawing/2014/main" id="{921D8802-59AD-472A-8446-3124AE8BDB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7">
            <a:extLst>
              <a:ext uri="{FF2B5EF4-FFF2-40B4-BE49-F238E27FC236}">
                <a16:creationId xmlns="" xmlns:a16="http://schemas.microsoft.com/office/drawing/2014/main" id="{78BB4D85-07E5-45FC-BA16-B420FA5F56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172754-604E-42EC-9C0E-7F81D9FE375F}" type="slidenum">
              <a:rPr lang="ko-KR" altLang="en-US">
                <a:solidFill>
                  <a:srgbClr val="000000"/>
                </a:solidFill>
              </a:rPr>
              <a:pPr/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9171251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="" xmlns:a16="http://schemas.microsoft.com/office/drawing/2014/main" id="{F4964749-D033-4C42-8827-58A587920F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="" xmlns:a16="http://schemas.microsoft.com/office/drawing/2014/main" id="{1CEA6538-3059-4814-B888-F90F18F3FD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7">
            <a:extLst>
              <a:ext uri="{FF2B5EF4-FFF2-40B4-BE49-F238E27FC236}">
                <a16:creationId xmlns="" xmlns:a16="http://schemas.microsoft.com/office/drawing/2014/main" id="{E9BA2DE8-BD7D-45F9-84C5-7D03D8C423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4718CD-98B4-40C4-8F7E-0F11718593B3}" type="slidenum">
              <a:rPr lang="ko-KR" altLang="en-US">
                <a:solidFill>
                  <a:srgbClr val="000000"/>
                </a:solidFill>
              </a:rPr>
              <a:pPr/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814926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6A729CB4-F40E-4F64-82F1-F0FE5310B5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8B281A3A-3633-4DFE-B90E-3A0FDD8EC4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9E76ECB5-30DC-4825-87AB-622D20A0C0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4C913B-1FF8-4EB3-B2D6-E9DFDE1C5253}" type="slidenum">
              <a:rPr lang="ko-KR" altLang="en-US">
                <a:solidFill>
                  <a:srgbClr val="000000"/>
                </a:solidFill>
              </a:rPr>
              <a:pPr/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8958548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1B1C7C0C-D35C-4032-BBBC-A3C3936F10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7415AAE3-1C89-4CAB-9F90-BB80B6B8B9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99F423A9-D753-411A-A91E-2CB1F5F208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59EAF5-4ACA-46C3-8875-9AD853737E2F}" type="slidenum">
              <a:rPr lang="ko-KR" altLang="en-US">
                <a:solidFill>
                  <a:srgbClr val="000000"/>
                </a:solidFill>
              </a:rPr>
              <a:pPr/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0631865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A13F916E-398E-4BA3-AE92-95CB101D9C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EAFFA650-5AA5-4BD5-A60F-F719865A36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="" xmlns:a16="http://schemas.microsoft.com/office/drawing/2014/main" id="{7E796AA5-FE72-4D2D-B6AF-6BA82C8D4C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30CD04-A9C8-46C5-BAB4-19F7BA5620CC}" type="slidenum">
              <a:rPr lang="ko-KR" altLang="en-US">
                <a:solidFill>
                  <a:srgbClr val="000000"/>
                </a:solidFill>
              </a:rPr>
              <a:pPr/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5090009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D7D64E63-43C9-4F44-B2B7-CA936BC354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1A6DCC6F-DAF1-47B8-AED6-F7191E317F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="" xmlns:a16="http://schemas.microsoft.com/office/drawing/2014/main" id="{145C914D-5F66-4F48-AF68-E2983A9C25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05BA44-89F7-454B-8902-AE9D41942503}" type="slidenum">
              <a:rPr lang="ko-KR" altLang="en-US">
                <a:solidFill>
                  <a:srgbClr val="000000"/>
                </a:solidFill>
              </a:rPr>
              <a:pPr/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0755623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mtClean="0">
              <a:solidFill>
                <a:srgbClr val="000000"/>
              </a:solidFill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mtClean="0">
              <a:solidFill>
                <a:srgbClr val="000000"/>
              </a:solidFill>
            </a:endParaRPr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6F51AD-82D5-4B17-B25B-DDEC044C8180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202429"/>
      </p:ext>
    </p:extLst>
  </p:cSld>
  <p:clrMapOvr>
    <a:masterClrMapping/>
  </p:clrMapOvr>
  <p:transition spd="med">
    <p:random/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523733-04B3-4D88-BDA6-92174169A822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3127676"/>
      </p:ext>
    </p:extLst>
  </p:cSld>
  <p:clrMapOvr>
    <a:masterClrMapping/>
  </p:clrMapOvr>
  <p:transition spd="med">
    <p:random/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EE151D-8E51-4478-9776-2B1FD1F62A7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9274781"/>
      </p:ext>
    </p:extLst>
  </p:cSld>
  <p:clrMapOvr>
    <a:masterClrMapping/>
  </p:clrMapOvr>
  <p:transition spd="med">
    <p:random/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8E7BDD-218C-46B4-8CC0-077F3CD80622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7534418"/>
      </p:ext>
    </p:extLst>
  </p:cSld>
  <p:clrMapOvr>
    <a:masterClrMapping/>
  </p:clrMapOvr>
  <p:transition spd="med">
    <p:random/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4A2C01-09E6-4DF1-B2E0-969873A7F883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8183599"/>
      </p:ext>
    </p:extLst>
  </p:cSld>
  <p:clrMapOvr>
    <a:masterClrMapping/>
  </p:clrMapOvr>
  <p:transition spd="med">
    <p:random/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8F3C91-DDA2-48ED-A284-E8B0C3834E80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3613751"/>
      </p:ext>
    </p:extLst>
  </p:cSld>
  <p:clrMapOvr>
    <a:masterClrMapping/>
  </p:clrMapOvr>
  <p:transition spd="med">
    <p:random/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90DDE-7533-4324-8D4A-72416B3ADECA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4546215"/>
      </p:ext>
    </p:extLst>
  </p:cSld>
  <p:clrMapOvr>
    <a:masterClrMapping/>
  </p:clrMapOvr>
  <p:transition spd="med">
    <p:random/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843D59-3C0A-4DE8-9C12-3D55700F559D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269452"/>
      </p:ext>
    </p:extLst>
  </p:cSld>
  <p:clrMapOvr>
    <a:masterClrMapping/>
  </p:clrMapOvr>
  <p:transition spd="med">
    <p:random/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DC1780-2DDB-4557-A1FC-0DC054CCDE3C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875483"/>
      </p:ext>
    </p:extLst>
  </p:cSld>
  <p:clrMapOvr>
    <a:masterClrMapping/>
  </p:clrMapOvr>
  <p:transition spd="med">
    <p:random/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D3DFB5-DD47-4BE8-8DA2-E9CC4BDC5F5A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3174451"/>
      </p:ext>
    </p:extLst>
  </p:cSld>
  <p:clrMapOvr>
    <a:masterClrMapping/>
  </p:clrMapOvr>
  <p:transition spd="med">
    <p:random/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C125A7-26CB-4703-8849-09FEC00595CB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7379720"/>
      </p:ext>
    </p:extLst>
  </p:cSld>
  <p:clrMapOvr>
    <a:masterClrMapping/>
  </p:clrMapOvr>
  <p:transition spd="med">
    <p:random/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6F0505-B0D8-46B3-8FC5-71E8DED861E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0953226"/>
      </p:ext>
    </p:extLst>
  </p:cSld>
  <p:clrMapOvr>
    <a:masterClrMapping/>
  </p:clrMapOvr>
  <p:transition spd="med">
    <p:random/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C52C8-D8C9-4296-BEDD-4033D4ED94C3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4876086"/>
      </p:ext>
    </p:extLst>
  </p:cSld>
  <p:clrMapOvr>
    <a:masterClrMapping/>
  </p:clrMapOvr>
  <p:transition spd="med">
    <p:random/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mtClean="0">
              <a:solidFill>
                <a:srgbClr val="000000"/>
              </a:solidFill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mtClean="0">
              <a:solidFill>
                <a:srgbClr val="000000"/>
              </a:solidFill>
            </a:endParaRP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921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BD83A6-8E87-4700-9920-C375C590DA67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14555132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4215A5-D48E-40EC-B6BC-4091B9F82850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7912263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784922-1EC9-41BF-8CF4-C6D893EEC0C0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20654628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49FE61-D6A4-41F5-87FE-A4B944CD2F21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2168257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01AB03-2FDD-4FA0-AF57-8FB3D46E93D7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15073357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FB14B0-3A2F-4DEF-B4D0-BC1FD70ADED7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17373681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6580E6-E271-4180-8C39-939D7A24E148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58879430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C0918E-618A-43A5-9FE0-A03F68FA36E2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92025342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99692A-96B5-4035-8575-47ED03AFFF27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15977898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E295E3-71E3-49A8-B3A4-26B1EF1DC26D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94141640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FC72EA-94A3-43DE-A9DC-4E2C95170731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20794818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58CC8A-A7DF-49BD-93C9-9050AE510E1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3702231"/>
      </p:ext>
    </p:extLst>
  </p:cSld>
  <p:clrMapOvr>
    <a:masterClrMapping/>
  </p:clrMapOvr>
  <p:transition spd="med">
    <p:random/>
  </p:transition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99A9F4-1409-40F7-B171-236FB38FD8AF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8248921"/>
      </p:ext>
    </p:extLst>
  </p:cSld>
  <p:clrMapOvr>
    <a:masterClrMapping/>
  </p:clrMapOvr>
  <p:transition spd="med">
    <p:random/>
  </p:transition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62490F-BF59-4ED2-A0EB-D0A55B232852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0631706"/>
      </p:ext>
    </p:extLst>
  </p:cSld>
  <p:clrMapOvr>
    <a:masterClrMapping/>
  </p:clrMapOvr>
  <p:transition spd="med">
    <p:random/>
  </p:transition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4ADF9F-D3D0-4686-9D0E-FC3B188E8C7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9714594"/>
      </p:ext>
    </p:extLst>
  </p:cSld>
  <p:clrMapOvr>
    <a:masterClrMapping/>
  </p:clrMapOvr>
  <p:transition spd="med">
    <p:random/>
  </p:transition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3246DD-5F18-47E2-B0BE-43D319FC2FCC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9941132"/>
      </p:ext>
    </p:extLst>
  </p:cSld>
  <p:clrMapOvr>
    <a:masterClrMapping/>
  </p:clrMapOvr>
  <p:transition spd="med">
    <p:random/>
  </p:transition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F8B26F-42A7-4C1C-9D16-660AA3390BE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5352563"/>
      </p:ext>
    </p:extLst>
  </p:cSld>
  <p:clrMapOvr>
    <a:masterClrMapping/>
  </p:clrMapOvr>
  <p:transition spd="med">
    <p:random/>
  </p:transition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FBF59E-AFA9-406B-BB1A-832FB0796D64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5636194"/>
      </p:ext>
    </p:extLst>
  </p:cSld>
  <p:clrMapOvr>
    <a:masterClrMapping/>
  </p:clrMapOvr>
  <p:transition spd="med">
    <p:random/>
  </p:transition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4B95B1-4632-4771-BF7B-BB1567AB363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8879862"/>
      </p:ext>
    </p:extLst>
  </p:cSld>
  <p:clrMapOvr>
    <a:masterClrMapping/>
  </p:clrMapOvr>
  <p:transition spd="med">
    <p:random/>
  </p:transition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F4C26B-C2EB-4A77-9B12-75EE50293CFB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8439356"/>
      </p:ext>
    </p:extLst>
  </p:cSld>
  <p:clrMapOvr>
    <a:masterClrMapping/>
  </p:clrMapOvr>
  <p:transition spd="med">
    <p:random/>
  </p:transition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9AEFE5-2D06-4613-93AA-F702344F92EA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33513"/>
      </p:ext>
    </p:extLst>
  </p:cSld>
  <p:clrMapOvr>
    <a:masterClrMapping/>
  </p:clrMapOvr>
  <p:transition spd="med">
    <p:random/>
  </p:transition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4784C6-634D-4D7B-BB01-8AAB26C8F4FE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5405637"/>
      </p:ext>
    </p:extLst>
  </p:cSld>
  <p:clrMapOvr>
    <a:masterClrMapping/>
  </p:clrMapOvr>
  <p:transition spd="med">
    <p:random/>
  </p:transition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C07EB1-C514-4CC0-84DF-DD57D89CD282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4731597"/>
      </p:ext>
    </p:extLst>
  </p:cSld>
  <p:clrMapOvr>
    <a:masterClrMapping/>
  </p:clrMapOvr>
  <p:transition spd="med">
    <p:random/>
  </p:transition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06B05A-4514-4806-A75F-B2EAE03B7A1F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297616"/>
      </p:ext>
    </p:extLst>
  </p:cSld>
  <p:clrMapOvr>
    <a:masterClrMapping/>
  </p:clrMapOvr>
  <p:transition spd="med">
    <p:random/>
  </p:transition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F47660-DD65-40BC-8FA2-9E21F041F93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09956338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110E14-0E52-4D7C-BDA4-41E69D4E8E5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32541790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B330BD-ADA1-4FA7-82FB-35CE2359BCE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6667249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B435DE-642D-49DF-A9B0-BBB4EE2DF43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52822377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AF7A7D-4426-4286-84E1-5172539823F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99582810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CB530E-5903-43E4-9B46-549AF7B1CCF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62376492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D831F2-4039-418B-B924-37F95E4FA57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26322518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E0CD4C-86DF-463B-A76F-7A264A71474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36220013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88B9A6-CE05-4391-9C74-8C64E2DFE05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89216719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22A44F-CE29-4AEE-AE37-8D4354A5701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85630223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3995BC-76A9-4B8E-B962-C1DCEEA9FBF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28439705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3824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FB8EDB-61E5-4834-AE31-28198BCA28B2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99820314"/>
      </p:ext>
    </p:extLst>
  </p:cSld>
  <p:clrMapOvr>
    <a:masterClrMapping/>
  </p:clrMapOvr>
  <p:transition>
    <p:random/>
  </p:transition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2FD294-42A8-4AD6-9764-93E928490279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44074764"/>
      </p:ext>
    </p:extLst>
  </p:cSld>
  <p:clrMapOvr>
    <a:masterClrMapping/>
  </p:clrMapOvr>
  <p:transition>
    <p:random/>
  </p:transition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38424B-B440-469C-94F7-E0C8820A055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73607585"/>
      </p:ext>
    </p:extLst>
  </p:cSld>
  <p:clrMapOvr>
    <a:masterClrMapping/>
  </p:clrMapOvr>
  <p:transition>
    <p:random/>
  </p:transition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545A9C-F2EF-4EDE-AF50-2DB754C8A022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89079495"/>
      </p:ext>
    </p:extLst>
  </p:cSld>
  <p:clrMapOvr>
    <a:masterClrMapping/>
  </p:clrMapOvr>
  <p:transition>
    <p:random/>
  </p:transition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E6015A-10C7-43A4-B56D-659989C1B59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20131261"/>
      </p:ext>
    </p:extLst>
  </p:cSld>
  <p:clrMapOvr>
    <a:masterClrMapping/>
  </p:clrMapOvr>
  <p:transition>
    <p:random/>
  </p:transition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D634C7-6ADA-4C47-B67C-618187D6CB1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76207984"/>
      </p:ext>
    </p:extLst>
  </p:cSld>
  <p:clrMapOvr>
    <a:masterClrMapping/>
  </p:clrMapOvr>
  <p:transition>
    <p:random/>
  </p:transition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B05E31-DDAB-458F-BC3D-E3363C0F1728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10927144"/>
      </p:ext>
    </p:extLst>
  </p:cSld>
  <p:clrMapOvr>
    <a:masterClrMapping/>
  </p:clrMapOvr>
  <p:transition>
    <p:random/>
  </p:transition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A484DF-7EC1-417C-884D-EF9F9D66FC48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84253486"/>
      </p:ext>
    </p:extLst>
  </p:cSld>
  <p:clrMapOvr>
    <a:masterClrMapping/>
  </p:clrMapOvr>
  <p:transition>
    <p:random/>
  </p:transition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762CC3-F12D-4F4F-A5B7-2F3740676399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80761381"/>
      </p:ext>
    </p:extLst>
  </p:cSld>
  <p:clrMapOvr>
    <a:masterClrMapping/>
  </p:clrMapOvr>
  <p:transition>
    <p:random/>
  </p:transition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E6A69C-C50B-4C4E-8BF5-772EB89CC400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74698821"/>
      </p:ext>
    </p:extLst>
  </p:cSld>
  <p:clrMapOvr>
    <a:masterClrMapping/>
  </p:clrMapOvr>
  <p:transition>
    <p:random/>
  </p:transition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12417E-EC8B-41D1-861E-4133CBACEE45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28887175"/>
      </p:ext>
    </p:extLst>
  </p:cSld>
  <p:clrMapOvr>
    <a:masterClrMapping/>
  </p:clrMapOvr>
  <p:transition>
    <p:random/>
  </p:transition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921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090983-BD08-4264-BDFE-3C9AC6BCD88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28176859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E0D245-DB22-483B-A1CB-D4DFD1BDE26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82740375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DACE8-6E5F-439B-AB38-236B0495DE7B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14964281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1F1DCB-EA4A-4B3E-A59E-A7D9BFCE31C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04811019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C2A908-494C-448F-B537-7B63642A4C45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94450487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4AA72F-6913-4A6D-B201-335F8E2FA2A2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52181588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0CFF34-58D1-4A30-A6FA-A38CCDE233B6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25739375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74802F-A931-42B6-8E37-6301B8E32E36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42434763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BD1F75-AD03-4862-93F4-065DEC907345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33174786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5C210-41CE-416F-AE44-E30E282A1A51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58050880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2A32F4-AE67-47CC-B232-8C77F257EB2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45427784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zh-CN" altLang="en-US" noProof="1" smtClean="0"/>
              <a:t>单击此处编辑母版标题样式</a:t>
            </a:r>
            <a:endParaRPr lang="ko-KR" altLang="en-US" noProof="1"/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zh-CN" altLang="en-US" noProof="1" smtClean="0"/>
              <a:t>单击此处编辑母版副标题样式</a:t>
            </a:r>
            <a:endParaRPr lang="ko-KR" altLang="en-US" noProof="1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 eaLnBrk="0" hangingPunct="0">
              <a:buFontTx/>
              <a:buNone/>
              <a:defRPr kumimoji="1"/>
            </a:lvl1pPr>
          </a:lstStyle>
          <a:p>
            <a:pPr>
              <a:defRPr/>
            </a:pPr>
            <a:fld id="{3D7D2485-1594-43F3-BE99-7CD2A23F714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26423721"/>
      </p:ext>
    </p:extLst>
  </p:cSld>
  <p:clrMapOvr>
    <a:masterClrMapping/>
  </p:clrMapOvr>
  <p:transition spd="med">
    <p:random/>
  </p:transition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buFontTx/>
              <a:buNone/>
              <a:defRPr kumimoji="1"/>
            </a:lvl1pPr>
          </a:lstStyle>
          <a:p>
            <a:pPr>
              <a:defRPr/>
            </a:pPr>
            <a:fld id="{6D1EC86A-C476-4C37-9395-41F2209A642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15956930"/>
      </p:ext>
    </p:extLst>
  </p:cSld>
  <p:clrMapOvr>
    <a:masterClrMapping/>
  </p:clrMapOvr>
  <p:transition spd="med">
    <p:random/>
  </p:transition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buFontTx/>
              <a:buNone/>
              <a:defRPr kumimoji="1"/>
            </a:lvl1pPr>
          </a:lstStyle>
          <a:p>
            <a:pPr>
              <a:defRPr/>
            </a:pPr>
            <a:fld id="{1D1678DC-CC1E-4C90-8BE4-08DF6DEB019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34407625"/>
      </p:ext>
    </p:extLst>
  </p:cSld>
  <p:clrMapOvr>
    <a:masterClrMapping/>
  </p:clrMapOvr>
  <p:transition spd="med">
    <p:random/>
  </p:transition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buFontTx/>
              <a:buNone/>
              <a:defRPr kumimoji="1"/>
            </a:lvl1pPr>
          </a:lstStyle>
          <a:p>
            <a:pPr>
              <a:defRPr/>
            </a:pPr>
            <a:fld id="{E0908325-E20E-48A9-A51F-8E3D0B7CDD7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16966597"/>
      </p:ext>
    </p:extLst>
  </p:cSld>
  <p:clrMapOvr>
    <a:masterClrMapping/>
  </p:clrMapOvr>
  <p:transition spd="med">
    <p:random/>
  </p:transition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buFontTx/>
              <a:buNone/>
              <a:defRPr kumimoji="1"/>
            </a:lvl1pPr>
          </a:lstStyle>
          <a:p>
            <a:pPr>
              <a:defRPr/>
            </a:pPr>
            <a:fld id="{7D52340B-CC1D-42AD-8EBF-C51496D821D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71148351"/>
      </p:ext>
    </p:extLst>
  </p:cSld>
  <p:clrMapOvr>
    <a:masterClrMapping/>
  </p:clrMapOvr>
  <p:transition spd="med">
    <p:random/>
  </p:transition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buFontTx/>
              <a:buNone/>
              <a:defRPr kumimoji="1"/>
            </a:lvl1pPr>
          </a:lstStyle>
          <a:p>
            <a:pPr>
              <a:defRPr/>
            </a:pPr>
            <a:fld id="{CCF94586-B53F-4EEE-9607-8EBBDEAA646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98727310"/>
      </p:ext>
    </p:extLst>
  </p:cSld>
  <p:clrMapOvr>
    <a:masterClrMapping/>
  </p:clrMapOvr>
  <p:transition spd="med">
    <p:random/>
  </p:transition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buFontTx/>
              <a:buNone/>
              <a:defRPr kumimoji="1"/>
            </a:lvl1pPr>
          </a:lstStyle>
          <a:p>
            <a:pPr>
              <a:defRPr/>
            </a:pPr>
            <a:fld id="{60D03692-8691-4601-BE77-EBF8638B8A4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95015566"/>
      </p:ext>
    </p:extLst>
  </p:cSld>
  <p:clrMapOvr>
    <a:masterClrMapping/>
  </p:clrMapOvr>
  <p:transition spd="med">
    <p:random/>
  </p:transition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buFontTx/>
              <a:buNone/>
              <a:defRPr kumimoji="1"/>
            </a:lvl1pPr>
          </a:lstStyle>
          <a:p>
            <a:pPr>
              <a:defRPr/>
            </a:pPr>
            <a:fld id="{43CBC4CB-83E7-4643-9C30-8181BA72CC7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71140310"/>
      </p:ext>
    </p:extLst>
  </p:cSld>
  <p:clrMapOvr>
    <a:masterClrMapping/>
  </p:clrMapOvr>
  <p:transition spd="med">
    <p:random/>
  </p:transition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buFontTx/>
              <a:buNone/>
              <a:defRPr kumimoji="1"/>
            </a:lvl1pPr>
          </a:lstStyle>
          <a:p>
            <a:pPr>
              <a:defRPr/>
            </a:pPr>
            <a:fld id="{EA58788D-8AB0-4A14-9EED-50BCB5DD3D4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02471544"/>
      </p:ext>
    </p:extLst>
  </p:cSld>
  <p:clrMapOvr>
    <a:masterClrMapping/>
  </p:clrMapOvr>
  <p:transition spd="med">
    <p:random/>
  </p:transition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buFontTx/>
              <a:buNone/>
              <a:defRPr kumimoji="1"/>
            </a:lvl1pPr>
          </a:lstStyle>
          <a:p>
            <a:pPr>
              <a:defRPr/>
            </a:pPr>
            <a:fld id="{F74B0D79-ECE1-4F72-B454-F03E741D56B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82989114"/>
      </p:ext>
    </p:extLst>
  </p:cSld>
  <p:clrMapOvr>
    <a:masterClrMapping/>
  </p:clrMapOvr>
  <p:transition spd="med">
    <p:random/>
  </p:transition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buFontTx/>
              <a:buNone/>
              <a:defRPr kumimoji="1"/>
            </a:lvl1pPr>
          </a:lstStyle>
          <a:p>
            <a:pPr>
              <a:defRPr/>
            </a:pPr>
            <a:fld id="{C5775758-80E5-4E88-B4FB-2B854C22F79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84365596"/>
      </p:ext>
    </p:extLst>
  </p:cSld>
  <p:clrMapOvr>
    <a:masterClrMapping/>
  </p:clrMapOvr>
  <p:transition spd="med">
    <p:random/>
  </p:transition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buFontTx/>
              <a:buNone/>
              <a:defRPr kumimoji="1"/>
            </a:lvl1pPr>
          </a:lstStyle>
          <a:p>
            <a:pPr>
              <a:defRPr/>
            </a:pPr>
            <a:fld id="{1166EA20-0FCF-4DE8-8B60-CD5AD396253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32731060"/>
      </p:ext>
    </p:extLst>
  </p:cSld>
  <p:clrMapOvr>
    <a:masterClrMapping/>
  </p:clrMapOvr>
  <p:transition spd="med">
    <p:random/>
  </p:transition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buFontTx/>
              <a:buNone/>
              <a:defRPr kumimoji="1"/>
            </a:lvl1pPr>
          </a:lstStyle>
          <a:p>
            <a:pPr>
              <a:defRPr/>
            </a:pPr>
            <a:fld id="{499F0CF1-009A-4D7B-8E4D-640A621B799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44172234"/>
      </p:ext>
    </p:extLst>
  </p:cSld>
  <p:clrMapOvr>
    <a:masterClrMapping/>
  </p:clrMapOvr>
  <p:transition spd="med">
    <p:random/>
  </p:transition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9150" y="1825625"/>
            <a:ext cx="3886200" cy="2098675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29150" y="4076700"/>
            <a:ext cx="3886200" cy="21002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buFontTx/>
              <a:buNone/>
              <a:defRPr kumimoji="1"/>
            </a:lvl1pPr>
          </a:lstStyle>
          <a:p>
            <a:pPr>
              <a:defRPr/>
            </a:pPr>
            <a:fld id="{F9C89FEE-FEF6-4F48-8AD7-0C739A1E680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1486721"/>
      </p:ext>
    </p:extLst>
  </p:cSld>
  <p:clrMapOvr>
    <a:masterClrMapping/>
  </p:clrMapOvr>
  <p:transition spd="med"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61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8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71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82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14" Type="http://schemas.openxmlformats.org/officeDocument/2006/relationships/image" Target="../media/image1.jpe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87.xml"/><Relationship Id="rId7" Type="http://schemas.openxmlformats.org/officeDocument/2006/relationships/slideLayout" Target="../slideLayouts/slideLayout91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6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5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94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3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98.xml"/><Relationship Id="rId7" Type="http://schemas.openxmlformats.org/officeDocument/2006/relationships/slideLayout" Target="../slideLayouts/slideLayout102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7.xml"/><Relationship Id="rId1" Type="http://schemas.openxmlformats.org/officeDocument/2006/relationships/slideLayout" Target="../slideLayouts/slideLayout96.xml"/><Relationship Id="rId6" Type="http://schemas.openxmlformats.org/officeDocument/2006/relationships/slideLayout" Target="../slideLayouts/slideLayout101.xml"/><Relationship Id="rId11" Type="http://schemas.openxmlformats.org/officeDocument/2006/relationships/slideLayout" Target="../slideLayouts/slideLayout106.xml"/><Relationship Id="rId5" Type="http://schemas.openxmlformats.org/officeDocument/2006/relationships/slideLayout" Target="../slideLayouts/slideLayout100.xml"/><Relationship Id="rId10" Type="http://schemas.openxmlformats.org/officeDocument/2006/relationships/slideLayout" Target="../slideLayouts/slideLayout105.xml"/><Relationship Id="rId4" Type="http://schemas.openxmlformats.org/officeDocument/2006/relationships/slideLayout" Target="../slideLayouts/slideLayout99.xml"/><Relationship Id="rId9" Type="http://schemas.openxmlformats.org/officeDocument/2006/relationships/slideLayout" Target="../slideLayouts/slideLayout104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4.xml"/><Relationship Id="rId13" Type="http://schemas.openxmlformats.org/officeDocument/2006/relationships/slideLayout" Target="../slideLayouts/slideLayout119.xml"/><Relationship Id="rId3" Type="http://schemas.openxmlformats.org/officeDocument/2006/relationships/slideLayout" Target="../slideLayouts/slideLayout109.xml"/><Relationship Id="rId7" Type="http://schemas.openxmlformats.org/officeDocument/2006/relationships/slideLayout" Target="../slideLayouts/slideLayout113.xml"/><Relationship Id="rId12" Type="http://schemas.openxmlformats.org/officeDocument/2006/relationships/slideLayout" Target="../slideLayouts/slideLayout118.xml"/><Relationship Id="rId2" Type="http://schemas.openxmlformats.org/officeDocument/2006/relationships/slideLayout" Target="../slideLayouts/slideLayout108.xml"/><Relationship Id="rId1" Type="http://schemas.openxmlformats.org/officeDocument/2006/relationships/slideLayout" Target="../slideLayouts/slideLayout107.xml"/><Relationship Id="rId6" Type="http://schemas.openxmlformats.org/officeDocument/2006/relationships/slideLayout" Target="../slideLayouts/slideLayout112.xml"/><Relationship Id="rId11" Type="http://schemas.openxmlformats.org/officeDocument/2006/relationships/slideLayout" Target="../slideLayouts/slideLayout117.xml"/><Relationship Id="rId5" Type="http://schemas.openxmlformats.org/officeDocument/2006/relationships/slideLayout" Target="../slideLayouts/slideLayout111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16.xml"/><Relationship Id="rId4" Type="http://schemas.openxmlformats.org/officeDocument/2006/relationships/slideLayout" Target="../slideLayouts/slideLayout110.xml"/><Relationship Id="rId9" Type="http://schemas.openxmlformats.org/officeDocument/2006/relationships/slideLayout" Target="../slideLayouts/slideLayout115.xml"/><Relationship Id="rId1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7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22.xml"/><Relationship Id="rId7" Type="http://schemas.openxmlformats.org/officeDocument/2006/relationships/slideLayout" Target="../slideLayouts/slideLayout126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21.xml"/><Relationship Id="rId1" Type="http://schemas.openxmlformats.org/officeDocument/2006/relationships/slideLayout" Target="../slideLayouts/slideLayout120.xml"/><Relationship Id="rId6" Type="http://schemas.openxmlformats.org/officeDocument/2006/relationships/slideLayout" Target="../slideLayouts/slideLayout125.xml"/><Relationship Id="rId11" Type="http://schemas.openxmlformats.org/officeDocument/2006/relationships/slideLayout" Target="../slideLayouts/slideLayout130.xml"/><Relationship Id="rId5" Type="http://schemas.openxmlformats.org/officeDocument/2006/relationships/slideLayout" Target="../slideLayouts/slideLayout124.xml"/><Relationship Id="rId10" Type="http://schemas.openxmlformats.org/officeDocument/2006/relationships/slideLayout" Target="../slideLayouts/slideLayout129.xml"/><Relationship Id="rId4" Type="http://schemas.openxmlformats.org/officeDocument/2006/relationships/slideLayout" Target="../slideLayouts/slideLayout123.xml"/><Relationship Id="rId9" Type="http://schemas.openxmlformats.org/officeDocument/2006/relationships/slideLayout" Target="../slideLayouts/slideLayout128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8.xml"/><Relationship Id="rId13" Type="http://schemas.openxmlformats.org/officeDocument/2006/relationships/slideLayout" Target="../slideLayouts/slideLayout143.xml"/><Relationship Id="rId3" Type="http://schemas.openxmlformats.org/officeDocument/2006/relationships/slideLayout" Target="../slideLayouts/slideLayout133.xml"/><Relationship Id="rId7" Type="http://schemas.openxmlformats.org/officeDocument/2006/relationships/slideLayout" Target="../slideLayouts/slideLayout137.xml"/><Relationship Id="rId12" Type="http://schemas.openxmlformats.org/officeDocument/2006/relationships/slideLayout" Target="../slideLayouts/slideLayout142.xml"/><Relationship Id="rId2" Type="http://schemas.openxmlformats.org/officeDocument/2006/relationships/slideLayout" Target="../slideLayouts/slideLayout132.xml"/><Relationship Id="rId1" Type="http://schemas.openxmlformats.org/officeDocument/2006/relationships/slideLayout" Target="../slideLayouts/slideLayout131.xml"/><Relationship Id="rId6" Type="http://schemas.openxmlformats.org/officeDocument/2006/relationships/slideLayout" Target="../slideLayouts/slideLayout136.xml"/><Relationship Id="rId11" Type="http://schemas.openxmlformats.org/officeDocument/2006/relationships/slideLayout" Target="../slideLayouts/slideLayout141.xml"/><Relationship Id="rId5" Type="http://schemas.openxmlformats.org/officeDocument/2006/relationships/slideLayout" Target="../slideLayouts/slideLayout13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40.xml"/><Relationship Id="rId4" Type="http://schemas.openxmlformats.org/officeDocument/2006/relationships/slideLayout" Target="../slideLayouts/slideLayout134.xml"/><Relationship Id="rId9" Type="http://schemas.openxmlformats.org/officeDocument/2006/relationships/slideLayout" Target="../slideLayouts/slideLayout139.xml"/><Relationship Id="rId14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1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50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45.xml"/><Relationship Id="rId1" Type="http://schemas.openxmlformats.org/officeDocument/2006/relationships/slideLayout" Target="../slideLayouts/slideLayout144.xml"/><Relationship Id="rId6" Type="http://schemas.openxmlformats.org/officeDocument/2006/relationships/slideLayout" Target="../slideLayouts/slideLayout149.xml"/><Relationship Id="rId11" Type="http://schemas.openxmlformats.org/officeDocument/2006/relationships/slideLayout" Target="../slideLayouts/slideLayout154.xml"/><Relationship Id="rId5" Type="http://schemas.openxmlformats.org/officeDocument/2006/relationships/slideLayout" Target="../slideLayouts/slideLayout148.xml"/><Relationship Id="rId10" Type="http://schemas.openxmlformats.org/officeDocument/2006/relationships/slideLayout" Target="../slideLayouts/slideLayout153.xml"/><Relationship Id="rId4" Type="http://schemas.openxmlformats.org/officeDocument/2006/relationships/slideLayout" Target="../slideLayouts/slideLayout147.xml"/><Relationship Id="rId9" Type="http://schemas.openxmlformats.org/officeDocument/2006/relationships/slideLayout" Target="../slideLayouts/slideLayout152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2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57.xml"/><Relationship Id="rId7" Type="http://schemas.openxmlformats.org/officeDocument/2006/relationships/slideLayout" Target="../slideLayouts/slideLayout161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56.xml"/><Relationship Id="rId1" Type="http://schemas.openxmlformats.org/officeDocument/2006/relationships/slideLayout" Target="../slideLayouts/slideLayout155.xml"/><Relationship Id="rId6" Type="http://schemas.openxmlformats.org/officeDocument/2006/relationships/slideLayout" Target="../slideLayouts/slideLayout160.xml"/><Relationship Id="rId11" Type="http://schemas.openxmlformats.org/officeDocument/2006/relationships/slideLayout" Target="../slideLayouts/slideLayout165.xml"/><Relationship Id="rId5" Type="http://schemas.openxmlformats.org/officeDocument/2006/relationships/slideLayout" Target="../slideLayouts/slideLayout159.xml"/><Relationship Id="rId10" Type="http://schemas.openxmlformats.org/officeDocument/2006/relationships/slideLayout" Target="../slideLayouts/slideLayout164.xml"/><Relationship Id="rId4" Type="http://schemas.openxmlformats.org/officeDocument/2006/relationships/slideLayout" Target="../slideLayouts/slideLayout158.xml"/><Relationship Id="rId9" Type="http://schemas.openxmlformats.org/officeDocument/2006/relationships/slideLayout" Target="../slideLayouts/slideLayout163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3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68.xml"/><Relationship Id="rId7" Type="http://schemas.openxmlformats.org/officeDocument/2006/relationships/slideLayout" Target="../slideLayouts/slideLayout172.xml"/><Relationship Id="rId12" Type="http://schemas.openxmlformats.org/officeDocument/2006/relationships/theme" Target="../theme/theme15.xml"/><Relationship Id="rId2" Type="http://schemas.openxmlformats.org/officeDocument/2006/relationships/slideLayout" Target="../slideLayouts/slideLayout167.xml"/><Relationship Id="rId1" Type="http://schemas.openxmlformats.org/officeDocument/2006/relationships/slideLayout" Target="../slideLayouts/slideLayout166.xml"/><Relationship Id="rId6" Type="http://schemas.openxmlformats.org/officeDocument/2006/relationships/slideLayout" Target="../slideLayouts/slideLayout171.xml"/><Relationship Id="rId11" Type="http://schemas.openxmlformats.org/officeDocument/2006/relationships/slideLayout" Target="../slideLayouts/slideLayout176.xml"/><Relationship Id="rId5" Type="http://schemas.openxmlformats.org/officeDocument/2006/relationships/slideLayout" Target="../slideLayouts/slideLayout170.xml"/><Relationship Id="rId10" Type="http://schemas.openxmlformats.org/officeDocument/2006/relationships/slideLayout" Target="../slideLayouts/slideLayout175.xml"/><Relationship Id="rId4" Type="http://schemas.openxmlformats.org/officeDocument/2006/relationships/slideLayout" Target="../slideLayouts/slideLayout169.xml"/><Relationship Id="rId9" Type="http://schemas.openxmlformats.org/officeDocument/2006/relationships/slideLayout" Target="../slideLayouts/slideLayout174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4.xml"/><Relationship Id="rId13" Type="http://schemas.openxmlformats.org/officeDocument/2006/relationships/slideLayout" Target="../slideLayouts/slideLayout189.xml"/><Relationship Id="rId3" Type="http://schemas.openxmlformats.org/officeDocument/2006/relationships/slideLayout" Target="../slideLayouts/slideLayout179.xml"/><Relationship Id="rId7" Type="http://schemas.openxmlformats.org/officeDocument/2006/relationships/slideLayout" Target="../slideLayouts/slideLayout183.xml"/><Relationship Id="rId12" Type="http://schemas.openxmlformats.org/officeDocument/2006/relationships/slideLayout" Target="../slideLayouts/slideLayout188.xml"/><Relationship Id="rId2" Type="http://schemas.openxmlformats.org/officeDocument/2006/relationships/slideLayout" Target="../slideLayouts/slideLayout178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77.xml"/><Relationship Id="rId6" Type="http://schemas.openxmlformats.org/officeDocument/2006/relationships/slideLayout" Target="../slideLayouts/slideLayout182.xml"/><Relationship Id="rId11" Type="http://schemas.openxmlformats.org/officeDocument/2006/relationships/slideLayout" Target="../slideLayouts/slideLayout187.xml"/><Relationship Id="rId5" Type="http://schemas.openxmlformats.org/officeDocument/2006/relationships/slideLayout" Target="../slideLayouts/slideLayout181.xml"/><Relationship Id="rId15" Type="http://schemas.openxmlformats.org/officeDocument/2006/relationships/theme" Target="../theme/theme16.xml"/><Relationship Id="rId10" Type="http://schemas.openxmlformats.org/officeDocument/2006/relationships/slideLayout" Target="../slideLayouts/slideLayout186.xml"/><Relationship Id="rId4" Type="http://schemas.openxmlformats.org/officeDocument/2006/relationships/slideLayout" Target="../slideLayouts/slideLayout180.xml"/><Relationship Id="rId9" Type="http://schemas.openxmlformats.org/officeDocument/2006/relationships/slideLayout" Target="../slideLayouts/slideLayout185.xml"/><Relationship Id="rId14" Type="http://schemas.openxmlformats.org/officeDocument/2006/relationships/slideLayout" Target="../slideLayouts/slideLayout1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과학(일러)1-3">
            <a:extLst>
              <a:ext uri="{FF2B5EF4-FFF2-40B4-BE49-F238E27FC236}">
                <a16:creationId xmlns="" xmlns:a16="http://schemas.microsoft.com/office/drawing/2014/main" id="{5F2E1318-717A-41D7-8138-DC8DCA2E4944}"/>
              </a:ext>
            </a:extLst>
          </p:cNvPr>
          <p:cNvPicPr>
            <a:picLocks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="" xmlns:a16="http://schemas.microsoft.com/office/drawing/2014/main" id="{EEF946C2-71AC-4B27-BEC3-8FC01A5ECE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="" xmlns:a16="http://schemas.microsoft.com/office/drawing/2014/main" id="{42653F5C-990E-4EB9-84CD-1227CF6DE6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2085" name="Rectangle 5">
            <a:extLst>
              <a:ext uri="{FF2B5EF4-FFF2-40B4-BE49-F238E27FC236}">
                <a16:creationId xmlns="" xmlns:a16="http://schemas.microsoft.com/office/drawing/2014/main" id="{9054E06D-F16A-4144-B77A-AB14353776F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6" name="Rectangle 6">
            <a:extLst>
              <a:ext uri="{FF2B5EF4-FFF2-40B4-BE49-F238E27FC236}">
                <a16:creationId xmlns="" xmlns:a16="http://schemas.microsoft.com/office/drawing/2014/main" id="{31BBBF48-A33C-443A-B7F3-75778D1B809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7" name="Rectangle 7">
            <a:extLst>
              <a:ext uri="{FF2B5EF4-FFF2-40B4-BE49-F238E27FC236}">
                <a16:creationId xmlns="" xmlns:a16="http://schemas.microsoft.com/office/drawing/2014/main" id="{AC831BE9-B60A-4811-940C-EFB8C4809EF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 smtClean="0">
                <a:latin typeface="-윤명조140" charset="-127"/>
                <a:ea typeface="-윤명조140" charset="-127"/>
              </a:defRPr>
            </a:lvl1pPr>
          </a:lstStyle>
          <a:p>
            <a:pPr>
              <a:defRPr/>
            </a:pPr>
            <a:fld id="{32474D0C-5AA5-4AE1-9DF0-9E57D534072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1326" r:id="rId1"/>
    <p:sldLayoutId id="2147491193" r:id="rId2"/>
    <p:sldLayoutId id="2147491194" r:id="rId3"/>
    <p:sldLayoutId id="2147491195" r:id="rId4"/>
    <p:sldLayoutId id="2147491196" r:id="rId5"/>
    <p:sldLayoutId id="2147491197" r:id="rId6"/>
    <p:sldLayoutId id="2147491198" r:id="rId7"/>
    <p:sldLayoutId id="2147491199" r:id="rId8"/>
    <p:sldLayoutId id="2147491200" r:id="rId9"/>
    <p:sldLayoutId id="2147491201" r:id="rId10"/>
    <p:sldLayoutId id="2147491202" r:id="rId11"/>
    <p:sldLayoutId id="2147491203" r:id="rId12"/>
    <p:sldLayoutId id="2147491204" r:id="rId13"/>
  </p:sldLayoutIdLst>
  <p:transition spd="med">
    <p:rand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과학(일러)1-3"/>
          <p:cNvPicPr>
            <a:picLocks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latin typeface="-윤명조140" panose="02020603050405020304" pitchFamily="18" charset="-127"/>
                <a:ea typeface="-윤명조140" panose="02020603050405020304" pitchFamily="18" charset="-127"/>
              </a:defRPr>
            </a:lvl1pPr>
          </a:lstStyle>
          <a:p>
            <a:pPr>
              <a:defRPr/>
            </a:pPr>
            <a:fld id="{6607AA83-2785-4CFE-A103-0381D4F05402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330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1366" r:id="rId1"/>
    <p:sldLayoutId id="2147491367" r:id="rId2"/>
    <p:sldLayoutId id="2147491368" r:id="rId3"/>
    <p:sldLayoutId id="2147491369" r:id="rId4"/>
    <p:sldLayoutId id="2147491370" r:id="rId5"/>
    <p:sldLayoutId id="2147491371" r:id="rId6"/>
    <p:sldLayoutId id="2147491372" r:id="rId7"/>
    <p:sldLayoutId id="2147491373" r:id="rId8"/>
    <p:sldLayoutId id="2147491374" r:id="rId9"/>
    <p:sldLayoutId id="2147491375" r:id="rId10"/>
    <p:sldLayoutId id="2147491376" r:id="rId11"/>
    <p:sldLayoutId id="2147491377" r:id="rId12"/>
    <p:sldLayoutId id="2147491378" r:id="rId13"/>
  </p:sldLayoutIdLst>
  <p:transition spd="med">
    <p:random/>
  </p:transition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과학(일러)1-3"/>
          <p:cNvPicPr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fld id="{E624B795-CC6D-4061-815F-804F444029A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78802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1442" r:id="rId1"/>
    <p:sldLayoutId id="2147491443" r:id="rId2"/>
    <p:sldLayoutId id="2147491444" r:id="rId3"/>
    <p:sldLayoutId id="2147491445" r:id="rId4"/>
    <p:sldLayoutId id="2147491446" r:id="rId5"/>
    <p:sldLayoutId id="2147491447" r:id="rId6"/>
    <p:sldLayoutId id="2147491448" r:id="rId7"/>
    <p:sldLayoutId id="2147491449" r:id="rId8"/>
    <p:sldLayoutId id="2147491450" r:id="rId9"/>
    <p:sldLayoutId id="2147491451" r:id="rId10"/>
    <p:sldLayoutId id="2147491452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Times New Roman" pitchFamily="18" charset="0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Times New Roman" pitchFamily="18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Times New Roman" pitchFamily="18" charset="0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과학(일러)1-3"/>
          <p:cNvPicPr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3722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722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722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fld id="{A2D4E0CD-9E77-4A67-BF29-DD05D01FC033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99151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1466" r:id="rId1"/>
    <p:sldLayoutId id="2147491467" r:id="rId2"/>
    <p:sldLayoutId id="2147491468" r:id="rId3"/>
    <p:sldLayoutId id="2147491469" r:id="rId4"/>
    <p:sldLayoutId id="2147491470" r:id="rId5"/>
    <p:sldLayoutId id="2147491471" r:id="rId6"/>
    <p:sldLayoutId id="2147491472" r:id="rId7"/>
    <p:sldLayoutId id="2147491473" r:id="rId8"/>
    <p:sldLayoutId id="2147491474" r:id="rId9"/>
    <p:sldLayoutId id="2147491475" r:id="rId10"/>
    <p:sldLayoutId id="2147491476" r:id="rId11"/>
  </p:sldLayoutIdLst>
  <p:transition>
    <p:random/>
  </p:transition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Times New Roman" pitchFamily="18" charset="0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Times New Roman" pitchFamily="18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Times New Roman" pitchFamily="18" charset="0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과학(일러)1-3"/>
          <p:cNvPicPr>
            <a:picLocks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fld id="{E580D28E-EFDB-44A7-B0D7-8B177BB3B99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8592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1478" r:id="rId1"/>
    <p:sldLayoutId id="2147491479" r:id="rId2"/>
    <p:sldLayoutId id="2147491480" r:id="rId3"/>
    <p:sldLayoutId id="2147491481" r:id="rId4"/>
    <p:sldLayoutId id="2147491482" r:id="rId5"/>
    <p:sldLayoutId id="2147491483" r:id="rId6"/>
    <p:sldLayoutId id="2147491484" r:id="rId7"/>
    <p:sldLayoutId id="2147491485" r:id="rId8"/>
    <p:sldLayoutId id="2147491486" r:id="rId9"/>
    <p:sldLayoutId id="2147491487" r:id="rId10"/>
    <p:sldLayoutId id="2147491488" r:id="rId11"/>
    <p:sldLayoutId id="2147491489" r:id="rId12"/>
    <p:sldLayoutId id="2147491490" r:id="rId13"/>
  </p:sldLayoutIdLst>
  <p:transition spd="med">
    <p:random/>
  </p:transition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과학(일러)1-3"/>
          <p:cNvPicPr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fld id="{854FEC78-A33B-4C0C-B91D-6D756D41233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5687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1492" r:id="rId1"/>
    <p:sldLayoutId id="2147491493" r:id="rId2"/>
    <p:sldLayoutId id="2147491494" r:id="rId3"/>
    <p:sldLayoutId id="2147491495" r:id="rId4"/>
    <p:sldLayoutId id="2147491496" r:id="rId5"/>
    <p:sldLayoutId id="2147491497" r:id="rId6"/>
    <p:sldLayoutId id="2147491498" r:id="rId7"/>
    <p:sldLayoutId id="2147491499" r:id="rId8"/>
    <p:sldLayoutId id="2147491500" r:id="rId9"/>
    <p:sldLayoutId id="2147491501" r:id="rId10"/>
    <p:sldLayoutId id="2147491502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Times New Roman" pitchFamily="18" charset="0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Times New Roman" pitchFamily="18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Times New Roman" pitchFamily="18" charset="0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과학(일러)1-3">
            <a:extLst>
              <a:ext uri="{FF2B5EF4-FFF2-40B4-BE49-F238E27FC236}">
                <a16:creationId xmlns:a16="http://schemas.microsoft.com/office/drawing/2014/main" xmlns="" id="{61709F8B-2E42-6540-A600-32A170299C57}"/>
              </a:ext>
            </a:extLst>
          </p:cNvPr>
          <p:cNvPicPr>
            <a:picLocks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xmlns="" id="{37C47529-77B9-5543-AE97-C44822DA40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xmlns="" id="{8E048A4D-61B8-C144-A8B5-ED81CABAD7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2085" name="Rectangle 5">
            <a:extLst>
              <a:ext uri="{FF2B5EF4-FFF2-40B4-BE49-F238E27FC236}">
                <a16:creationId xmlns:a16="http://schemas.microsoft.com/office/drawing/2014/main" xmlns="" id="{380D5494-16C2-0340-A957-990A73EC433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02086" name="Rectangle 6">
            <a:extLst>
              <a:ext uri="{FF2B5EF4-FFF2-40B4-BE49-F238E27FC236}">
                <a16:creationId xmlns:a16="http://schemas.microsoft.com/office/drawing/2014/main" xmlns="" id="{EFCA09BF-D7D2-3541-B364-971561252A2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02087" name="Rectangle 7">
            <a:extLst>
              <a:ext uri="{FF2B5EF4-FFF2-40B4-BE49-F238E27FC236}">
                <a16:creationId xmlns:a16="http://schemas.microsoft.com/office/drawing/2014/main" xmlns="" id="{3C32C923-63F4-224A-9591-8F65DAC4139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 smtClean="0">
                <a:latin typeface="-윤명조140" panose="02030600000101010101" pitchFamily="18" charset="-127"/>
                <a:ea typeface="-윤명조140" panose="02030600000101010101" pitchFamily="18" charset="-127"/>
              </a:defRPr>
            </a:lvl1pPr>
          </a:lstStyle>
          <a:p>
            <a:pPr>
              <a:defRPr/>
            </a:pPr>
            <a:fld id="{B7CDDBFD-D1B6-3E41-AF8F-BB84CA5A9C0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795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1504" r:id="rId1"/>
    <p:sldLayoutId id="2147491505" r:id="rId2"/>
    <p:sldLayoutId id="2147491506" r:id="rId3"/>
    <p:sldLayoutId id="2147491507" r:id="rId4"/>
    <p:sldLayoutId id="2147491508" r:id="rId5"/>
    <p:sldLayoutId id="2147491509" r:id="rId6"/>
    <p:sldLayoutId id="2147491510" r:id="rId7"/>
    <p:sldLayoutId id="2147491511" r:id="rId8"/>
    <p:sldLayoutId id="2147491512" r:id="rId9"/>
    <p:sldLayoutId id="2147491513" r:id="rId10"/>
    <p:sldLayoutId id="2147491514" r:id="rId11"/>
    <p:sldLayoutId id="2147491515" r:id="rId12"/>
  </p:sldLayoutIdLst>
  <p:transition spd="med">
    <p:rand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과학(일러)1-3"/>
          <p:cNvPicPr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fld id="{D29CF9F7-E453-42D6-A23D-DB4D4D36EBC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3359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1517" r:id="rId1"/>
    <p:sldLayoutId id="2147491518" r:id="rId2"/>
    <p:sldLayoutId id="2147491519" r:id="rId3"/>
    <p:sldLayoutId id="2147491520" r:id="rId4"/>
    <p:sldLayoutId id="2147491521" r:id="rId5"/>
    <p:sldLayoutId id="2147491522" r:id="rId6"/>
    <p:sldLayoutId id="2147491523" r:id="rId7"/>
    <p:sldLayoutId id="2147491524" r:id="rId8"/>
    <p:sldLayoutId id="2147491525" r:id="rId9"/>
    <p:sldLayoutId id="2147491526" r:id="rId10"/>
    <p:sldLayoutId id="2147491527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Times New Roman" pitchFamily="18" charset="0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Times New Roman" pitchFamily="18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Times New Roman" pitchFamily="18" charset="0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과학(일러)1-3">
            <a:extLst>
              <a:ext uri="{FF2B5EF4-FFF2-40B4-BE49-F238E27FC236}">
                <a16:creationId xmlns="" xmlns:a16="http://schemas.microsoft.com/office/drawing/2014/main" id="{CAC37742-30ED-4D72-B4BD-15802F71B3A5}"/>
              </a:ext>
            </a:extLst>
          </p:cNvPr>
          <p:cNvPicPr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="" xmlns:a16="http://schemas.microsoft.com/office/drawing/2014/main" id="{A5D290D2-0588-43A8-98E8-404C045032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="" xmlns:a16="http://schemas.microsoft.com/office/drawing/2014/main" id="{730103F6-54BD-4CC9-80E3-03C94F47DA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91141" name="Rectangle 5">
            <a:extLst>
              <a:ext uri="{FF2B5EF4-FFF2-40B4-BE49-F238E27FC236}">
                <a16:creationId xmlns="" xmlns:a16="http://schemas.microsoft.com/office/drawing/2014/main" id="{9E985A31-77D8-4F50-A2AD-28D4CB8A9EC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91142" name="Rectangle 6">
            <a:extLst>
              <a:ext uri="{FF2B5EF4-FFF2-40B4-BE49-F238E27FC236}">
                <a16:creationId xmlns="" xmlns:a16="http://schemas.microsoft.com/office/drawing/2014/main" id="{8B6615BF-CC16-48CC-9D13-0A850E62A69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91143" name="Rectangle 7">
            <a:extLst>
              <a:ext uri="{FF2B5EF4-FFF2-40B4-BE49-F238E27FC236}">
                <a16:creationId xmlns="" xmlns:a16="http://schemas.microsoft.com/office/drawing/2014/main" id="{802BD7F1-E76D-4EBF-93E5-8E7877AEEA6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fld id="{5ACBDAF1-CEEF-42DC-AE0C-1A1C5096E2BC}" type="slidenum">
              <a:rPr lang="ko-KR" altLang="en-US">
                <a:solidFill>
                  <a:srgbClr val="000000"/>
                </a:solidFill>
              </a:rPr>
              <a:pPr/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6856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1529" r:id="rId1"/>
    <p:sldLayoutId id="2147491530" r:id="rId2"/>
    <p:sldLayoutId id="2147491531" r:id="rId3"/>
    <p:sldLayoutId id="2147491532" r:id="rId4"/>
    <p:sldLayoutId id="2147491533" r:id="rId5"/>
    <p:sldLayoutId id="2147491534" r:id="rId6"/>
    <p:sldLayoutId id="2147491535" r:id="rId7"/>
    <p:sldLayoutId id="2147491536" r:id="rId8"/>
    <p:sldLayoutId id="2147491537" r:id="rId9"/>
    <p:sldLayoutId id="2147491538" r:id="rId10"/>
    <p:sldLayoutId id="2147491539" r:id="rId1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Times New Roman" pitchFamily="18" charset="0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Times New Roman" pitchFamily="18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Times New Roman" pitchFamily="18" charset="0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과학(일러)1-3"/>
          <p:cNvPicPr>
            <a:picLocks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latin typeface="-윤명조140" panose="02020603050405020304" pitchFamily="18" charset="-127"/>
                <a:ea typeface="-윤명조140" panose="02020603050405020304" pitchFamily="18" charset="-127"/>
              </a:defRPr>
            </a:lvl1pPr>
          </a:lstStyle>
          <a:p>
            <a:pPr>
              <a:defRPr/>
            </a:pPr>
            <a:fld id="{89AC4CC5-EDD7-41CF-8B57-7902A471DA62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8453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1541" r:id="rId1"/>
    <p:sldLayoutId id="2147491542" r:id="rId2"/>
    <p:sldLayoutId id="2147491543" r:id="rId3"/>
    <p:sldLayoutId id="2147491544" r:id="rId4"/>
    <p:sldLayoutId id="2147491545" r:id="rId5"/>
    <p:sldLayoutId id="2147491546" r:id="rId6"/>
    <p:sldLayoutId id="2147491547" r:id="rId7"/>
    <p:sldLayoutId id="2147491548" r:id="rId8"/>
    <p:sldLayoutId id="2147491549" r:id="rId9"/>
    <p:sldLayoutId id="2147491550" r:id="rId10"/>
    <p:sldLayoutId id="2147491551" r:id="rId11"/>
    <p:sldLayoutId id="2147491552" r:id="rId12"/>
    <p:sldLayoutId id="2147491553" r:id="rId13"/>
  </p:sldLayoutIdLst>
  <p:transition spd="med">
    <p:random/>
  </p:transition>
  <p:timing>
    <p:tnLst>
      <p:par>
        <p:cTn id="1" dur="indefinite" restart="never" nodeType="tmRoot"/>
      </p:par>
    </p:tnLst>
  </p:timing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과학(일러)1-3"/>
          <p:cNvPicPr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911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11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11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fld id="{B3412426-D0F0-4E65-8AE7-19AE39A5449B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4043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1555" r:id="rId1"/>
    <p:sldLayoutId id="2147491556" r:id="rId2"/>
    <p:sldLayoutId id="2147491557" r:id="rId3"/>
    <p:sldLayoutId id="2147491558" r:id="rId4"/>
    <p:sldLayoutId id="2147491559" r:id="rId5"/>
    <p:sldLayoutId id="2147491560" r:id="rId6"/>
    <p:sldLayoutId id="2147491561" r:id="rId7"/>
    <p:sldLayoutId id="2147491562" r:id="rId8"/>
    <p:sldLayoutId id="2147491563" r:id="rId9"/>
    <p:sldLayoutId id="2147491564" r:id="rId10"/>
    <p:sldLayoutId id="2147491565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Times New Roman" pitchFamily="18" charset="0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Times New Roman" pitchFamily="18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Times New Roman" pitchFamily="18" charset="0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과학(일러)1-3"/>
          <p:cNvPicPr>
            <a:picLocks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latin typeface="-윤명조140" panose="02020603050405020304" pitchFamily="18" charset="-127"/>
                <a:ea typeface="-윤명조140" panose="02020603050405020304" pitchFamily="18" charset="-127"/>
              </a:defRPr>
            </a:lvl1pPr>
          </a:lstStyle>
          <a:p>
            <a:pPr>
              <a:defRPr/>
            </a:pPr>
            <a:fld id="{BB3DAC9B-9569-4B10-8D21-43815FFE4468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8873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1567" r:id="rId1"/>
    <p:sldLayoutId id="2147491568" r:id="rId2"/>
    <p:sldLayoutId id="2147491569" r:id="rId3"/>
    <p:sldLayoutId id="2147491570" r:id="rId4"/>
    <p:sldLayoutId id="2147491571" r:id="rId5"/>
    <p:sldLayoutId id="2147491572" r:id="rId6"/>
    <p:sldLayoutId id="2147491573" r:id="rId7"/>
    <p:sldLayoutId id="2147491574" r:id="rId8"/>
    <p:sldLayoutId id="2147491575" r:id="rId9"/>
    <p:sldLayoutId id="2147491576" r:id="rId10"/>
    <p:sldLayoutId id="2147491577" r:id="rId11"/>
    <p:sldLayoutId id="2147491578" r:id="rId12"/>
    <p:sldLayoutId id="2147491579" r:id="rId13"/>
  </p:sldLayoutIdLst>
  <p:transition spd="med">
    <p:random/>
  </p:transition>
  <p:timing>
    <p:tnLst>
      <p:par>
        <p:cTn id="1" dur="indefinite" restart="never" nodeType="tmRoot"/>
      </p:par>
    </p:tnLst>
  </p:timing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과학(일러)1-3"/>
          <p:cNvPicPr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fld id="{2AD5C2DE-32F0-4847-B221-FCC4E67ACB4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40440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1581" r:id="rId1"/>
    <p:sldLayoutId id="2147491582" r:id="rId2"/>
    <p:sldLayoutId id="2147491583" r:id="rId3"/>
    <p:sldLayoutId id="2147491584" r:id="rId4"/>
    <p:sldLayoutId id="2147491585" r:id="rId5"/>
    <p:sldLayoutId id="2147491586" r:id="rId6"/>
    <p:sldLayoutId id="2147491587" r:id="rId7"/>
    <p:sldLayoutId id="2147491588" r:id="rId8"/>
    <p:sldLayoutId id="2147491589" r:id="rId9"/>
    <p:sldLayoutId id="2147491590" r:id="rId10"/>
    <p:sldLayoutId id="2147491591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Times New Roman" pitchFamily="18" charset="0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Times New Roman" pitchFamily="18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Times New Roman" pitchFamily="18" charset="0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과학(일러)1-3"/>
          <p:cNvPicPr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3722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722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722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fld id="{DD5B7034-E00D-4318-8309-668C33A40C2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30502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1593" r:id="rId1"/>
    <p:sldLayoutId id="2147491594" r:id="rId2"/>
    <p:sldLayoutId id="2147491595" r:id="rId3"/>
    <p:sldLayoutId id="2147491596" r:id="rId4"/>
    <p:sldLayoutId id="2147491597" r:id="rId5"/>
    <p:sldLayoutId id="2147491598" r:id="rId6"/>
    <p:sldLayoutId id="2147491599" r:id="rId7"/>
    <p:sldLayoutId id="2147491600" r:id="rId8"/>
    <p:sldLayoutId id="2147491601" r:id="rId9"/>
    <p:sldLayoutId id="2147491602" r:id="rId10"/>
    <p:sldLayoutId id="2147491603" r:id="rId11"/>
  </p:sldLayoutIdLst>
  <p:transition>
    <p:random/>
  </p:transition>
  <p:timing>
    <p:tnLst>
      <p:par>
        <p:cTn id="1" dur="indefinite" restart="never" nodeType="tmRoot"/>
      </p:par>
    </p:tnLst>
  </p:timing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Times New Roman" pitchFamily="18" charset="0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Times New Roman" pitchFamily="18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Times New Roman" pitchFamily="18" charset="0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과학(일러)1-3"/>
          <p:cNvPicPr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911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11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11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fld id="{7CFDAE00-E7F4-48BB-B4EA-B3EACE18C10B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37306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1605" r:id="rId1"/>
    <p:sldLayoutId id="2147491606" r:id="rId2"/>
    <p:sldLayoutId id="2147491607" r:id="rId3"/>
    <p:sldLayoutId id="2147491608" r:id="rId4"/>
    <p:sldLayoutId id="2147491609" r:id="rId5"/>
    <p:sldLayoutId id="2147491610" r:id="rId6"/>
    <p:sldLayoutId id="2147491611" r:id="rId7"/>
    <p:sldLayoutId id="2147491612" r:id="rId8"/>
    <p:sldLayoutId id="2147491613" r:id="rId9"/>
    <p:sldLayoutId id="2147491614" r:id="rId10"/>
    <p:sldLayoutId id="2147491615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Times New Roman" pitchFamily="18" charset="0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Times New Roman" pitchFamily="18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Times New Roman" pitchFamily="18" charset="0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과학(일러)1-3"/>
          <p:cNvPicPr>
            <a:picLocks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Rectangle 3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latinLnBrk="1" hangingPunct="1">
              <a:buFontTx/>
              <a:buNone/>
              <a:defRPr kumimoji="1"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latinLnBrk="1" hangingPunct="1">
              <a:buFontTx/>
              <a:buNone/>
              <a:defRPr kumimoji="1"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latinLnBrk="1" hangingPunct="1">
              <a:buFont typeface="Arial" panose="020B0604020202020204" pitchFamily="34" charset="0"/>
              <a:buNone/>
              <a:defRPr kumimoji="0" sz="1400" noProof="1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fld id="{68FA2B88-A21F-4BAD-AFBC-52CEA287174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68007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1665" r:id="rId1"/>
    <p:sldLayoutId id="2147491666" r:id="rId2"/>
    <p:sldLayoutId id="2147491667" r:id="rId3"/>
    <p:sldLayoutId id="2147491668" r:id="rId4"/>
    <p:sldLayoutId id="2147491669" r:id="rId5"/>
    <p:sldLayoutId id="2147491670" r:id="rId6"/>
    <p:sldLayoutId id="2147491671" r:id="rId7"/>
    <p:sldLayoutId id="2147491672" r:id="rId8"/>
    <p:sldLayoutId id="2147491673" r:id="rId9"/>
    <p:sldLayoutId id="2147491674" r:id="rId10"/>
    <p:sldLayoutId id="2147491675" r:id="rId11"/>
    <p:sldLayoutId id="2147491676" r:id="rId12"/>
    <p:sldLayoutId id="2147491677" r:id="rId13"/>
    <p:sldLayoutId id="2147491678" r:id="rId14"/>
  </p:sldLayoutIdLst>
  <p:transition spd="med">
    <p:random/>
  </p:transition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华文中宋" panose="02010600040101010101" pitchFamily="2" charset="-122"/>
          <a:ea typeface="华文中宋" panose="02010600040101010101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华文中宋" panose="02010600040101010101" pitchFamily="2" charset="-122"/>
          <a:ea typeface="华文中宋" panose="02010600040101010101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华文中宋" panose="02010600040101010101" pitchFamily="2" charset="-122"/>
          <a:ea typeface="华文中宋" panose="02010600040101010101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华文中宋" panose="02010600040101010101" pitchFamily="2" charset="-122"/>
          <a:ea typeface="华文中宋" panose="02010600040101010101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anose="02010600040101010101" pitchFamily="2" charset="-122"/>
          <a:ea typeface="华文中宋" panose="02010600040101010101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anose="02010600040101010101" pitchFamily="2" charset="-122"/>
          <a:ea typeface="华文中宋" panose="02010600040101010101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anose="02010600040101010101" pitchFamily="2" charset="-122"/>
          <a:ea typeface="华文中宋" panose="02010600040101010101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anose="02010600040101010101" pitchFamily="2" charset="-122"/>
          <a:ea typeface="华文中宋" panose="02010600040101010101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13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6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6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56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3.bin"/><Relationship Id="rId4" Type="http://schemas.openxmlformats.org/officeDocument/2006/relationships/image" Target="../media/image5.wmf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3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6.wmf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3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7.wmf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2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13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8.wmf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3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2.wmf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0314" y="1209552"/>
            <a:ext cx="8457461" cy="5040560"/>
          </a:xfrm>
        </p:spPr>
        <p:txBody>
          <a:bodyPr/>
          <a:lstStyle/>
          <a:p>
            <a:pPr marL="0" indent="0" algn="just" eaLnBrk="1" hangingPunct="1">
              <a:lnSpc>
                <a:spcPct val="120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定义：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是环，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a,b∈R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，如果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a≠0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b≠0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，但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ab=0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，则称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零因子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。如果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没有这样的元素，则说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无零因子。无零因子的环称为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消去环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30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 eaLnBrk="1" hangingPunct="1">
              <a:lnSpc>
                <a:spcPct val="120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性质</a:t>
            </a:r>
            <a:r>
              <a:rPr lang="en-US" altLang="zh-CN" sz="3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12 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环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R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是消去环当且仅当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R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中非零元消去律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成立。</a:t>
            </a:r>
            <a:endParaRPr lang="zh-CN" altLang="en-US" sz="30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0" indent="0" algn="just" eaLnBrk="1" hangingPunct="1">
              <a:lnSpc>
                <a:spcPct val="120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性质</a:t>
            </a:r>
            <a:r>
              <a:rPr lang="en-US" altLang="zh-CN" sz="300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13 </a:t>
            </a:r>
            <a:r>
              <a:rPr lang="zh-CN" altLang="en-US" sz="3000" dirty="0" smtClean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在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消去环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R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中，不为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0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的元素在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加法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下的周期相同。</a:t>
            </a:r>
            <a:endParaRPr lang="zh-CN" altLang="en-US" sz="3000" dirty="0">
              <a:solidFill>
                <a:schemeClr val="tx2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0" indent="0" algn="just" eaLnBrk="1" hangingPunct="1">
              <a:lnSpc>
                <a:spcPct val="120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0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性质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 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在消去环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中，不为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的元素在加法下的周期或为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或为质数。</a:t>
            </a:r>
          </a:p>
          <a:p>
            <a:pPr marL="0" indent="0" algn="just" eaLnBrk="1" hangingPunct="1">
              <a:lnSpc>
                <a:spcPct val="120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endParaRPr lang="en-US" altLang="zh-CN" sz="3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20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endParaRPr lang="en-US" altLang="zh-CN" sz="3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916B05-81F6-43C0-9C95-9C21CB3DE593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1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="" xmlns:a16="http://schemas.microsoft.com/office/drawing/2014/main" id="{CA3F53AA-57B9-4F64-9FC6-C8F23CEF44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476250"/>
            <a:ext cx="7772400" cy="735013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+mn-lt"/>
                <a:ea typeface="宋体" pitchFamily="2" charset="-122"/>
              </a:rPr>
              <a:t>消去环：</a:t>
            </a:r>
            <a:endParaRPr lang="zh-CN" altLang="en-US" dirty="0">
              <a:solidFill>
                <a:srgbClr val="0000FF"/>
              </a:solidFill>
              <a:latin typeface="+mn-lt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1137719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288" y="620713"/>
            <a:ext cx="8641208" cy="5976937"/>
          </a:xfrm>
        </p:spPr>
        <p:txBody>
          <a:bodyPr/>
          <a:lstStyle/>
          <a:p>
            <a:pPr>
              <a:defRPr/>
            </a:pP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整区、体及域之间关系：</a:t>
            </a:r>
            <a:endParaRPr lang="en-US" altLang="zh-CN" sz="32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整</a:t>
            </a:r>
            <a:r>
              <a:rPr lang="zh-CN" altLang="en-US" sz="32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区与体</a:t>
            </a:r>
            <a:endParaRPr lang="en-US" altLang="zh-CN" sz="3200" dirty="0" smtClean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整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区未必是体，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如整数环）</a:t>
            </a:r>
            <a:endParaRPr lang="en-US" altLang="zh-CN" sz="32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体未必是整区，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体未必满足交换律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四元数体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 marL="0" indent="0"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体与域</a:t>
            </a:r>
            <a:endParaRPr lang="en-US" altLang="zh-CN" sz="3200" dirty="0" smtClean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体未必是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域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体未必满足交换律，如四元数体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lang="zh-CN" altLang="zh-CN" sz="32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域一定是体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32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256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内容占位符 2"/>
          <p:cNvSpPr>
            <a:spLocks noGrp="1"/>
          </p:cNvSpPr>
          <p:nvPr>
            <p:ph idx="1"/>
          </p:nvPr>
        </p:nvSpPr>
        <p:spPr>
          <a:xfrm>
            <a:off x="395288" y="836613"/>
            <a:ext cx="8301037" cy="5759450"/>
          </a:xfrm>
        </p:spPr>
        <p:txBody>
          <a:bodyPr/>
          <a:lstStyle/>
          <a:p>
            <a:pPr marL="0" indent="0">
              <a:lnSpc>
                <a:spcPct val="110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整区与域</a:t>
            </a:r>
            <a:endParaRPr lang="en-US" altLang="zh-CN" sz="3000" dirty="0" smtClean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整区未必是域（如整数环，非零整数在乘法下不成群）</a:t>
            </a:r>
            <a:endParaRPr lang="en-US" altLang="zh-CN" sz="3000" dirty="0" smtClean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域一定是整区（①交换环；②域是体，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(R</a:t>
            </a:r>
            <a:r>
              <a:rPr lang="en-US" altLang="zh-CN" sz="3000" baseline="30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*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•)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为群，则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为含壹环；③域是体，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(R</a:t>
            </a:r>
            <a:r>
              <a:rPr lang="en-US" altLang="zh-CN" sz="3000" baseline="30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*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•)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为群，即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中任意非零元素有逆，非零元素满足消去律，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为无零因子环）</a:t>
            </a:r>
            <a:endParaRPr lang="en-US" altLang="zh-CN" sz="3000" dirty="0" smtClean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有限整区一定是域。</a:t>
            </a:r>
            <a:endParaRPr lang="en-US" altLang="zh-CN" sz="3000" dirty="0" smtClean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注：若环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是无零因子环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非零元素消去律成立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),R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中任意非零元素</a:t>
            </a:r>
            <a:r>
              <a:rPr lang="zh-CN" altLang="en-US" sz="3000" b="1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未必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有逆，如整数环。</a:t>
            </a:r>
            <a:endParaRPr lang="en-US" altLang="zh-CN" sz="3000" dirty="0" smtClean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None/>
              <a:defRPr/>
            </a:pPr>
            <a:endParaRPr lang="en-US" altLang="zh-CN" sz="3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endParaRPr lang="en-US" altLang="zh-CN" sz="3000" b="1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466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2" y="1476375"/>
            <a:ext cx="8399463" cy="45720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判断对错：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消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去环中，任意非零元素都存在乘法逆元素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(2)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中非零元素都存在乘法逆元素，则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是消去环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(3)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体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恒无零因子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30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解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: (1)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错 ；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(2)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对 ；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(3)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对</a:t>
            </a:r>
            <a:endParaRPr lang="en-US" altLang="zh-CN" sz="30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endParaRPr lang="en-US" altLang="zh-CN" sz="30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1C651-517A-432B-B2F3-542F0489B3E5}" type="slidenum">
              <a:rPr lang="ko-KR" altLang="en-US" smtClean="0">
                <a:solidFill>
                  <a:srgbClr val="000000"/>
                </a:solidFill>
              </a:rPr>
              <a:pPr/>
              <a:t>4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="" xmlns:a16="http://schemas.microsoft.com/office/drawing/2014/main" id="{4BB06AF5-E0AF-4499-A45F-06A128700C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647700"/>
          </a:xfrm>
        </p:spPr>
        <p:txBody>
          <a:bodyPr/>
          <a:lstStyle/>
          <a:p>
            <a:pPr eaLnBrk="1" hangingPunct="1"/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思考：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0616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6EEB9D1B-CC14-4BBA-9ED9-E29709C6A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763" y="1216025"/>
            <a:ext cx="8496300" cy="5381327"/>
          </a:xfr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kern="100" dirty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个元素的格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(L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*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，⊕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必同构于格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(Z</a:t>
            </a:r>
            <a:r>
              <a:rPr lang="en-US" altLang="zh-CN" sz="2800" kern="1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或者格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</a:t>
            </a:r>
            <a:r>
              <a:rPr lang="en-US" altLang="zh-CN" sz="2800" kern="1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6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D)</a:t>
            </a:r>
            <a:r>
              <a:rPr lang="zh-CN" altLang="en-US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，其中</a:t>
            </a:r>
            <a:r>
              <a:rPr lang="en-US" altLang="zh-CN" sz="2800" kern="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Z</a:t>
            </a:r>
            <a:r>
              <a:rPr lang="en-US" altLang="zh-CN" sz="2800" kern="100" baseline="-25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 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={1, 2, 3, 4}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13335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zh-CN" sz="2800" kern="1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en-US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是含有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个元素的格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有限，故必有最大，最小元素，不妨设为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0 ,1,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</a:t>
            </a:r>
            <a:r>
              <a:rPr lang="zh-CN" altLang="en-US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L={0, 1 a</a:t>
            </a:r>
            <a:r>
              <a:rPr lang="en-US" altLang="zh-CN" sz="2800" kern="1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,a</a:t>
            </a:r>
            <a:r>
              <a:rPr lang="en-US" altLang="zh-CN" sz="2800" kern="1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}</a:t>
            </a:r>
            <a:r>
              <a:rPr lang="zh-CN" altLang="zh-CN" sz="2800" kern="1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endParaRPr lang="en-US" altLang="zh-CN" sz="2800" kern="100" baseline="-25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13335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其中，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kern="1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,a</a:t>
            </a:r>
            <a:r>
              <a:rPr lang="en-US" altLang="zh-CN" sz="2800" kern="1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有两种可能：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(1)a</a:t>
            </a:r>
            <a:r>
              <a:rPr lang="en-US" altLang="zh-CN" sz="2800" kern="1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kern="1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 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</a:t>
            </a:r>
            <a:r>
              <a:rPr lang="en-US" altLang="zh-CN" sz="2800" kern="1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,a</a:t>
            </a:r>
            <a:r>
              <a:rPr lang="en-US" altLang="zh-CN" sz="2800" kern="1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有关系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 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，不妨设为如此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则成为链因此与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(Z</a:t>
            </a:r>
            <a:r>
              <a:rPr lang="en-US" altLang="zh-CN" sz="2800" kern="1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同构。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(2)a</a:t>
            </a:r>
            <a:r>
              <a:rPr lang="en-US" altLang="zh-CN" sz="2800" kern="1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,a</a:t>
            </a:r>
            <a:r>
              <a:rPr lang="en-US" altLang="zh-CN" sz="2800" kern="1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没有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关系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不可比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，则此格与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</a:t>
            </a:r>
            <a:r>
              <a:rPr lang="en-US" altLang="zh-CN" sz="2800" kern="1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6</a:t>
            </a:r>
            <a:r>
              <a:rPr lang="zh-CN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D)</a:t>
            </a:r>
            <a:r>
              <a:rPr lang="zh-CN" altLang="zh-CN" sz="2800" kern="1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同构</a:t>
            </a:r>
            <a:endParaRPr lang="en-US" altLang="zh-CN" sz="2800" kern="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kern="1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注</a:t>
            </a:r>
            <a:r>
              <a:rPr lang="zh-CN" altLang="en-US" sz="28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：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从同构的角度，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个元素的</a:t>
            </a:r>
            <a:r>
              <a:rPr lang="zh-CN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格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只</a:t>
            </a:r>
            <a:r>
              <a:rPr lang="zh-CN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两个</a:t>
            </a:r>
            <a:endParaRPr lang="en-US" altLang="zh-CN" sz="2800" kern="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zh-CN" altLang="zh-CN" sz="2800" b="1" kern="100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800" b="1" kern="100" dirty="0">
                <a:ea typeface="宋体" panose="02010600030101010101" pitchFamily="2" charset="-122"/>
              </a:rPr>
              <a:t> </a:t>
            </a:r>
            <a:endParaRPr lang="zh-CN" altLang="zh-CN" sz="2800" b="1" kern="100" dirty="0"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  <a:defRPr/>
            </a:pPr>
            <a:endParaRPr lang="zh-CN" altLang="en-US" dirty="0"/>
          </a:p>
        </p:txBody>
      </p:sp>
      <p:sp>
        <p:nvSpPr>
          <p:cNvPr id="108547" name="灯片编号占位符 1">
            <a:extLst>
              <a:ext uri="{FF2B5EF4-FFF2-40B4-BE49-F238E27FC236}">
                <a16:creationId xmlns="" xmlns:a16="http://schemas.microsoft.com/office/drawing/2014/main" id="{7D007C67-CB8A-4D09-8A5F-B0DE5C92F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56A466C-399C-4F4B-9E0E-5F1313FC8424}" type="slidenum">
              <a:rPr lang="en-US" altLang="ko-KR" sz="1400">
                <a:solidFill>
                  <a:srgbClr val="000000"/>
                </a:solidFill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ko-KR" sz="1400">
              <a:solidFill>
                <a:srgbClr val="000000"/>
              </a:solidFill>
              <a:latin typeface="-윤명조140" charset="-127"/>
              <a:ea typeface="-윤명조140" charset="-127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10052445-ECDD-4A24-845B-75CD589E4427}"/>
              </a:ext>
            </a:extLst>
          </p:cNvPr>
          <p:cNvSpPr txBox="1">
            <a:spLocks noChangeArrowheads="1"/>
          </p:cNvSpPr>
          <p:nvPr/>
        </p:nvSpPr>
        <p:spPr>
          <a:xfrm>
            <a:off x="539750" y="555625"/>
            <a:ext cx="8353425" cy="712788"/>
          </a:xfrm>
          <a:prstGeom prst="rect">
            <a:avLst/>
          </a:prstGeom>
        </p:spPr>
        <p:txBody>
          <a:bodyPr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>
              <a:defRPr/>
            </a:pPr>
            <a:r>
              <a:rPr lang="zh-CN" altLang="en-US" kern="0" dirty="0">
                <a:solidFill>
                  <a:srgbClr val="0000FF"/>
                </a:solidFill>
                <a:latin typeface="Times New Roman"/>
              </a:rPr>
              <a:t>习题</a:t>
            </a:r>
            <a:r>
              <a:rPr lang="en-US" altLang="zh-CN" kern="0" dirty="0">
                <a:solidFill>
                  <a:srgbClr val="0000FF"/>
                </a:solidFill>
                <a:latin typeface="Times New Roman"/>
              </a:rPr>
              <a:t>7.3-7</a:t>
            </a:r>
            <a:r>
              <a:rPr lang="zh-CN" altLang="en-US" kern="0" dirty="0">
                <a:solidFill>
                  <a:srgbClr val="0000FF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11104942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9113" y="1125538"/>
            <a:ext cx="8301037" cy="5335587"/>
          </a:xfrm>
        </p:spPr>
        <p:txBody>
          <a:bodyPr/>
          <a:lstStyle/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1).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格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既是链又是布尔代数，请画出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Hasse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图</a:t>
            </a:r>
            <a:r>
              <a:rPr lang="zh-CN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28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2).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布尔代数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的元素数最小的子布尔代数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的元素数是多少</a:t>
            </a:r>
            <a:r>
              <a:rPr lang="zh-CN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？</a:t>
            </a:r>
            <a:endParaRPr lang="zh-CN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3).</a:t>
            </a:r>
            <a:r>
              <a:rPr lang="zh-CN" altLang="zh-CN" sz="2800" kern="1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下述部分序集中能构成布尔代数的是（</a:t>
            </a:r>
            <a:r>
              <a:rPr lang="en-US" altLang="zh-CN" sz="2800" kern="1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 </a:t>
            </a:r>
            <a:r>
              <a:rPr lang="zh-CN" altLang="zh-CN" sz="2800" kern="1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endParaRPr lang="en-US" altLang="zh-CN" sz="2800" kern="1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kern="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kern="1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kern="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kern="1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800" kern="1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答案：</a:t>
            </a:r>
            <a:r>
              <a:rPr lang="en-US" altLang="zh-CN" sz="2800" kern="1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1)        ; 2) 2</a:t>
            </a:r>
            <a:r>
              <a:rPr lang="zh-CN" altLang="en-US" sz="2800" kern="1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个  ；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C; 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b="1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sz="2800" b="1" dirty="0">
              <a:ea typeface="宋体" panose="02010600030101010101" pitchFamily="2" charset="-122"/>
            </a:endParaRPr>
          </a:p>
        </p:txBody>
      </p:sp>
      <p:sp>
        <p:nvSpPr>
          <p:cNvPr id="14438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52F095E-476E-4426-A585-00B7DD51A78A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ko-KR" sz="1400" smtClean="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549275"/>
            <a:ext cx="7881938" cy="639763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+mn-lt"/>
                <a:ea typeface="宋体" pitchFamily="2" charset="-122"/>
              </a:rPr>
              <a:t>练习</a:t>
            </a:r>
            <a:endParaRPr lang="zh-CN" altLang="en-US" dirty="0">
              <a:solidFill>
                <a:srgbClr val="0000FF"/>
              </a:solidFill>
              <a:latin typeface="+mn-lt"/>
              <a:ea typeface="宋体" pitchFamily="2" charset="-122"/>
            </a:endParaRPr>
          </a:p>
        </p:txBody>
      </p:sp>
      <p:pic>
        <p:nvPicPr>
          <p:cNvPr id="144389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825" y="3023162"/>
            <a:ext cx="6424613" cy="150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4390" name="文本框 6"/>
          <p:cNvSpPr txBox="1">
            <a:spLocks noChangeArrowheads="1"/>
          </p:cNvSpPr>
          <p:nvPr/>
        </p:nvSpPr>
        <p:spPr bwMode="auto">
          <a:xfrm>
            <a:off x="1403648" y="4463268"/>
            <a:ext cx="6337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zh-CN" sz="2400" dirty="0" smtClean="0">
                <a:solidFill>
                  <a:srgbClr val="000000"/>
                </a:solidFill>
              </a:rPr>
              <a:t>A                     B                    C                        D</a:t>
            </a:r>
            <a:endParaRPr lang="zh-CN" altLang="en-US" sz="2400" dirty="0" smtClean="0">
              <a:solidFill>
                <a:srgbClr val="000000"/>
              </a:solidFill>
            </a:endParaRPr>
          </a:p>
        </p:txBody>
      </p:sp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2267744" y="5015375"/>
            <a:ext cx="117475" cy="563562"/>
            <a:chOff x="1403647" y="1641439"/>
            <a:chExt cx="117728" cy="563425"/>
          </a:xfrm>
        </p:grpSpPr>
        <p:sp>
          <p:nvSpPr>
            <p:cNvPr id="144392" name="椭圆 7"/>
            <p:cNvSpPr>
              <a:spLocks noChangeArrowheads="1"/>
            </p:cNvSpPr>
            <p:nvPr/>
          </p:nvSpPr>
          <p:spPr bwMode="auto">
            <a:xfrm>
              <a:off x="1403648" y="2087137"/>
              <a:ext cx="117727" cy="117727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 smtClean="0">
                <a:solidFill>
                  <a:srgbClr val="000000"/>
                </a:solidFill>
              </a:endParaRPr>
            </a:p>
          </p:txBody>
        </p:sp>
        <p:sp>
          <p:nvSpPr>
            <p:cNvPr id="144393" name="椭圆 8"/>
            <p:cNvSpPr>
              <a:spLocks noChangeArrowheads="1"/>
            </p:cNvSpPr>
            <p:nvPr/>
          </p:nvSpPr>
          <p:spPr bwMode="auto">
            <a:xfrm>
              <a:off x="1403647" y="1641439"/>
              <a:ext cx="117727" cy="117727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0030101010101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 smtClean="0">
                <a:solidFill>
                  <a:srgbClr val="000000"/>
                </a:solidFill>
              </a:endParaRPr>
            </a:p>
          </p:txBody>
        </p:sp>
        <p:cxnSp>
          <p:nvCxnSpPr>
            <p:cNvPr id="144394" name="直接连接符 12"/>
            <p:cNvCxnSpPr>
              <a:cxnSpLocks noChangeShapeType="1"/>
              <a:endCxn id="144392" idx="0"/>
            </p:cNvCxnSpPr>
            <p:nvPr/>
          </p:nvCxnSpPr>
          <p:spPr bwMode="auto">
            <a:xfrm>
              <a:off x="1462510" y="1759166"/>
              <a:ext cx="2" cy="327971"/>
            </a:xfrm>
            <a:prstGeom prst="line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27107216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284412"/>
            <a:ext cx="8301038" cy="4572000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 </a:t>
            </a:r>
            <a:r>
              <a:rPr lang="zh-TW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群</a:t>
            </a:r>
            <a:r>
              <a:rPr lang="zh-TW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(G，*)</a:t>
            </a:r>
            <a:r>
              <a:rPr lang="zh-TW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的*</a:t>
            </a:r>
            <a:r>
              <a:rPr lang="zh-TW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的乘法表如下表所示。则该群单位元是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？</a:t>
            </a:r>
            <a:r>
              <a:rPr lang="zh-TW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TW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TW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运算</a:t>
            </a:r>
            <a:r>
              <a:rPr lang="zh-TW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逆元</a:t>
            </a:r>
            <a:r>
              <a:rPr lang="zh-TW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？</a:t>
            </a:r>
            <a:endParaRPr lang="en-US" altLang="zh-CN" sz="28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8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8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8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: (1)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单位元为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因为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8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xG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2*x=x*2=x)</a:t>
            </a:r>
          </a:p>
          <a:p>
            <a:pPr marL="0" indent="0">
              <a:buNone/>
            </a:pP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(2)3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的逆元素为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3. ( 3*3=3*3=2 )</a:t>
            </a:r>
            <a:endParaRPr lang="en-US" altLang="zh-CN" sz="28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en-US" sz="3000" dirty="0"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916B05-81F6-43C0-9C95-9C21CB3DE593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6658112"/>
              </p:ext>
            </p:extLst>
          </p:nvPr>
        </p:nvGraphicFramePr>
        <p:xfrm>
          <a:off x="2915816" y="2454288"/>
          <a:ext cx="2434837" cy="22322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67" r:id="rId3" imgW="28956000" imgH="28651200" progId="">
                  <p:embed/>
                </p:oleObj>
              </mc:Choice>
              <mc:Fallback>
                <p:oleObj r:id="rId3" imgW="28956000" imgH="286512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2454288"/>
                        <a:ext cx="2434837" cy="22322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标题 1">
            <a:extLst>
              <a:ext uri="{FF2B5EF4-FFF2-40B4-BE49-F238E27FC236}">
                <a16:creationId xmlns:a16="http://schemas.microsoft.com/office/drawing/2014/main" xmlns="" id="{88749FC5-E123-B945-9EFC-27734BCD22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1975" y="533400"/>
            <a:ext cx="8020050" cy="519336"/>
          </a:xfrm>
        </p:spPr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</a:rPr>
              <a:t>第一次作业：</a:t>
            </a:r>
          </a:p>
        </p:txBody>
      </p:sp>
    </p:spTree>
    <p:extLst>
      <p:ext uri="{BB962C8B-B14F-4D97-AF65-F5344CB8AC3E}">
        <p14:creationId xmlns:p14="http://schemas.microsoft.com/office/powerpoint/2010/main" val="4068763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内容占位符 2">
            <a:extLst>
              <a:ext uri="{FF2B5EF4-FFF2-40B4-BE49-F238E27FC236}">
                <a16:creationId xmlns:a16="http://schemas.microsoft.com/office/drawing/2014/main" xmlns="" id="{A0E06CC0-2CEB-0D49-A7D9-4CDF224E12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61975" y="1124744"/>
            <a:ext cx="8186489" cy="5183187"/>
          </a:xfrm>
        </p:spPr>
        <p:txBody>
          <a:bodyPr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2. 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Q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为有理数，其上利用数的加、乘、减定义一个运算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*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如下：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a*b=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a+b-ab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1) (Q, *)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是半群吗？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2) 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求单位元。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3) Q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中元素有逆元吗？如果有，请给出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eaLnBrk="1" hangingPunct="1">
              <a:spcBef>
                <a:spcPts val="1200"/>
              </a:spcBef>
              <a:buNone/>
              <a:defRPr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解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：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(1)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 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Wingdings" pitchFamily="2" charset="2"/>
            </a:endParaRPr>
          </a:p>
          <a:p>
            <a:pPr marL="514350" indent="-514350" eaLnBrk="1" hangingPunct="1">
              <a:spcBef>
                <a:spcPts val="1200"/>
              </a:spcBef>
              <a:buFont typeface="+mj-ea"/>
              <a:buAutoNum type="circleNumDbPlain"/>
              <a:defRPr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先验证集合非空，因为</a:t>
            </a:r>
            <a:r>
              <a:rPr lang="en-US" altLang="zh-CN" sz="28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1∈Q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，所以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Q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非空。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Wingdings" pitchFamily="2" charset="2"/>
            </a:endParaRPr>
          </a:p>
          <a:p>
            <a:pPr marL="514350" indent="-514350" eaLnBrk="1" hangingPunct="1">
              <a:spcBef>
                <a:spcPts val="1200"/>
              </a:spcBef>
              <a:buFont typeface="+mj-ea"/>
              <a:buAutoNum type="circleNumDbPlain"/>
              <a:defRPr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再验证封闭性， </a:t>
            </a:r>
            <a:r>
              <a:rPr lang="zh-CN" altLang="en-US" sz="2800" dirty="0" smtClean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任取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a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b ∈Q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a+b-ab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 ∈Q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，所以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运算封闭。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Font typeface="Wingdings" pitchFamily="2" charset="2"/>
              <a:buNone/>
            </a:pP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xmlns="" id="{88749FC5-E123-B945-9EFC-27734BCD22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1975" y="533400"/>
            <a:ext cx="8020050" cy="519336"/>
          </a:xfrm>
        </p:spPr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</a:rPr>
              <a:t>第一次作业：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695C2E-1553-4143-805C-213D9C230BA7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8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4372177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09A885DF-B579-8344-8C99-C88A2DBD2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943" y="1196752"/>
            <a:ext cx="8301038" cy="4572000"/>
          </a:xfrm>
        </p:spPr>
        <p:txBody>
          <a:bodyPr/>
          <a:lstStyle/>
          <a:p>
            <a:pPr>
              <a:buClr>
                <a:srgbClr val="0000FF"/>
              </a:buClr>
              <a:buSzTx/>
              <a:buFont typeface="楷体_GB2312" panose="02010609030101010101" pitchFamily="49" charset="-122"/>
              <a:buAutoNum type="circleNumDbPlain" startAt="3"/>
            </a:pP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最后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验证结合律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ClrTx/>
              <a:buSzTx/>
              <a:buFontTx/>
              <a:buNone/>
            </a:pPr>
            <a:r>
              <a:rPr lang="zh-CN" altLang="en-US" sz="28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任取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z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 ∈Q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，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Wingdings" pitchFamily="2" charset="2"/>
            </a:endParaRPr>
          </a:p>
          <a:p>
            <a:pPr>
              <a:buClrTx/>
              <a:buSzTx/>
              <a:buFontTx/>
              <a:buNone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(x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*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y)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*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z=(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x+y-xy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*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z=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x+y-xy+z-z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(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x+y-xy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)</a:t>
            </a:r>
          </a:p>
          <a:p>
            <a:pPr>
              <a:buClrTx/>
              <a:buSzTx/>
              <a:buFontTx/>
              <a:buNone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=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x+y+z-xy-xz-yz+xyz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Wingdings" pitchFamily="2" charset="2"/>
            </a:endParaRPr>
          </a:p>
          <a:p>
            <a:pPr>
              <a:buClrTx/>
              <a:buSzTx/>
              <a:buFontTx/>
              <a:buNone/>
            </a:pP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Wingdings" pitchFamily="2" charset="2"/>
            </a:endParaRPr>
          </a:p>
          <a:p>
            <a:pPr>
              <a:buClrTx/>
              <a:buSzTx/>
              <a:buFontTx/>
              <a:buNone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x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*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(y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*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z)=x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*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(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y+z-yz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)=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x+y+z-yz-x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(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y+z-yz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)</a:t>
            </a:r>
          </a:p>
          <a:p>
            <a:pPr>
              <a:buClrTx/>
              <a:buSzTx/>
              <a:buFontTx/>
              <a:buNone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= 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x+y+z-xy-xz-yz+xyz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Wingdings" pitchFamily="2" charset="2"/>
            </a:endParaRPr>
          </a:p>
          <a:p>
            <a:pPr>
              <a:buClrTx/>
              <a:buSzTx/>
              <a:buFontTx/>
              <a:buNone/>
            </a:pP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Wingdings" pitchFamily="2" charset="2"/>
            </a:endParaRPr>
          </a:p>
          <a:p>
            <a:pPr>
              <a:buClrTx/>
              <a:buSzTx/>
              <a:buFontTx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综上所述，（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Q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，*）是半群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Wingdings" pitchFamily="2" charset="2"/>
            </a:endParaRPr>
          </a:p>
          <a:p>
            <a:endParaRPr kumimoji="1" lang="zh-CN" altLang="en-US" sz="2800" b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xmlns="" id="{88749FC5-E123-B945-9EFC-27734BCD22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1975" y="533400"/>
            <a:ext cx="8020050" cy="519336"/>
          </a:xfrm>
        </p:spPr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</a:rPr>
              <a:t>第一次作业：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695C2E-1553-4143-805C-213D9C230BA7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9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709591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126120"/>
            <a:ext cx="8301038" cy="5355679"/>
          </a:xfrm>
        </p:spPr>
        <p:txBody>
          <a:bodyPr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2. </a:t>
            </a:r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Q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为有理数，其上利用数的加、乘、减定义一个运算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*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如下：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a*b=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a+b-ab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2) </a:t>
            </a:r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求单位元。</a:t>
            </a:r>
          </a:p>
          <a:p>
            <a:pPr marL="0" indent="0">
              <a:buNone/>
              <a:defRPr/>
            </a:pP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解：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 假设单位元为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e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，则任取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a∈Q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，都有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Wingdings" pitchFamily="2" charset="2"/>
            </a:endParaRPr>
          </a:p>
          <a:p>
            <a:pPr marL="0" indent="0"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   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*</a:t>
            </a:r>
            <a:r>
              <a:rPr lang="en-US" altLang="zh-CN" sz="3000" dirty="0">
                <a:solidFill>
                  <a:srgbClr val="0432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e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=</a:t>
            </a:r>
            <a:r>
              <a:rPr lang="en-US" altLang="zh-CN" sz="3000" dirty="0">
                <a:solidFill>
                  <a:srgbClr val="0432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e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*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a=a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；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Wingdings" pitchFamily="2" charset="2"/>
            </a:endParaRPr>
          </a:p>
          <a:p>
            <a:pPr marL="0" indent="0"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   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∴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a+e-ae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=a</a:t>
            </a:r>
          </a:p>
          <a:p>
            <a:pPr marL="0" indent="0"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     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(1-a)e=0</a:t>
            </a:r>
          </a:p>
          <a:p>
            <a:pPr marL="0" indent="0"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   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∴e=</a:t>
            </a:r>
            <a:r>
              <a:rPr lang="en-US" altLang="zh-CN" sz="3000" dirty="0">
                <a:solidFill>
                  <a:srgbClr val="0432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0  </a:t>
            </a:r>
            <a:r>
              <a:rPr lang="zh-CN" altLang="en-US" sz="3000" dirty="0">
                <a:solidFill>
                  <a:srgbClr val="0432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所以</a:t>
            </a:r>
            <a:r>
              <a:rPr lang="zh-CN" altLang="en-US" sz="3000" dirty="0">
                <a:solidFill>
                  <a:srgbClr val="0432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单位元为</a:t>
            </a:r>
            <a:r>
              <a:rPr lang="en-US" altLang="zh-CN" sz="3000" dirty="0">
                <a:solidFill>
                  <a:srgbClr val="0432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0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695C2E-1553-4143-805C-213D9C230BA7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10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xmlns="" id="{88749FC5-E123-B945-9EFC-27734BCD22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1975" y="533400"/>
            <a:ext cx="8020050" cy="519336"/>
          </a:xfrm>
        </p:spPr>
        <p:txBody>
          <a:bodyPr/>
          <a:lstStyle/>
          <a:p>
            <a:r>
              <a:rPr lang="zh-CN" altLang="en-US" sz="3200" dirty="0">
                <a:solidFill>
                  <a:srgbClr val="0000FF"/>
                </a:solidFill>
              </a:rPr>
              <a:t>第一次作业：</a:t>
            </a:r>
          </a:p>
        </p:txBody>
      </p:sp>
    </p:spTree>
    <p:extLst>
      <p:ext uri="{BB962C8B-B14F-4D97-AF65-F5344CB8AC3E}">
        <p14:creationId xmlns:p14="http://schemas.microsoft.com/office/powerpoint/2010/main" val="1788326272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42244C92-6C4D-0E44-A93E-E9838A9FF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481" y="1081915"/>
            <a:ext cx="8301038" cy="5400600"/>
          </a:xfrm>
        </p:spPr>
        <p:txBody>
          <a:bodyPr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2. 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Q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为有理数，其上利用数的加、乘、减定义一个运算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*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如下：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a*b=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a+b-ab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Q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中元素有逆元吗？如果有，请给出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None/>
              <a:defRPr/>
            </a:pPr>
            <a:r>
              <a:rPr lang="zh-CN" altLang="en-US" sz="3000" b="1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解：</a:t>
            </a:r>
            <a:endParaRPr lang="en-US" altLang="zh-CN" sz="3000" b="1" dirty="0" smtClean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Wingdings" pitchFamily="2" charset="2"/>
            </a:endParaRPr>
          </a:p>
          <a:p>
            <a:pPr marL="0" indent="0">
              <a:buNone/>
              <a:defRPr/>
            </a:pPr>
            <a:r>
              <a:rPr lang="en-US" altLang="zh-CN" sz="3000" b="1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3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任取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a∈Q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，假设其逆元为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b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，则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a*b=b*a=0</a:t>
            </a:r>
          </a:p>
          <a:p>
            <a:pPr marL="0" indent="0"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   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a+b-ab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3000" dirty="0">
                <a:solidFill>
                  <a:srgbClr val="0432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 ；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∴b(a-1)=a</a:t>
            </a:r>
          </a:p>
          <a:p>
            <a:pPr marL="0" indent="0"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    当</a:t>
            </a:r>
            <a:r>
              <a:rPr lang="e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不为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时，逆元为：</a:t>
            </a:r>
            <a:r>
              <a:rPr lang="e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a/(a-1)</a:t>
            </a:r>
            <a:r>
              <a:rPr lang="zh-CN" altLang="e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，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Wingdings" pitchFamily="2" charset="2"/>
            </a:endParaRPr>
          </a:p>
          <a:p>
            <a:pPr marL="0" indent="0"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    当</a:t>
            </a:r>
            <a:r>
              <a:rPr lang="e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等于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itchFamily="2" charset="2"/>
              </a:rPr>
              <a:t>时，没逆元。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endParaRPr kumimoji="1" lang="zh-CN" altLang="en-US" sz="29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xmlns="" id="{88749FC5-E123-B945-9EFC-27734BCD22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1975" y="533400"/>
            <a:ext cx="8020050" cy="519336"/>
          </a:xfrm>
        </p:spPr>
        <p:txBody>
          <a:bodyPr/>
          <a:lstStyle/>
          <a:p>
            <a:r>
              <a:rPr lang="zh-CN" altLang="en-US" sz="3200" dirty="0">
                <a:solidFill>
                  <a:srgbClr val="0000FF"/>
                </a:solidFill>
              </a:rPr>
              <a:t>第一次作业：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695C2E-1553-4143-805C-213D9C230BA7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11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8364014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95536" y="1052736"/>
                <a:ext cx="8467477" cy="4995639"/>
              </a:xfrm>
            </p:spPr>
            <p:txBody>
              <a:bodyPr/>
              <a:lstStyle/>
              <a:p>
                <a:pPr marL="0" indent="0" algn="just">
                  <a:lnSpc>
                    <a:spcPct val="120000"/>
                  </a:lnSpc>
                  <a:spcAft>
                    <a:spcPts val="0"/>
                  </a:spcAft>
                  <a:buNone/>
                </a:pPr>
                <a:r>
                  <a:rPr lang="en-US" altLang="zh-CN" sz="2800" kern="100" dirty="0" smtClean="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3.</a:t>
                </a:r>
                <a:r>
                  <a:rPr lang="zh-CN" altLang="zh-CN" sz="2800" kern="100" dirty="0" smtClean="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设</a:t>
                </a:r>
                <a:r>
                  <a:rPr lang="en-US" altLang="zh-CN" sz="2800" kern="100" dirty="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G={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800" i="1" kern="100">
                            <a:solidFill>
                              <a:srgbClr val="000000"/>
                            </a:solidFill>
                            <a:uFill>
                              <a:solidFill>
                                <a:srgbClr val="000000"/>
                              </a:solidFill>
                            </a:u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 kern="100">
                                <a:solidFill>
                                  <a:srgbClr val="000000"/>
                                </a:solidFill>
                                <a:uFill>
                                  <a:solidFill>
                                    <a:srgbClr val="000000"/>
                                  </a:solidFill>
                                </a:u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800" i="1" kern="100">
                                  <a:solidFill>
                                    <a:srgbClr val="000000"/>
                                  </a:solidFill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altLang="zh-CN" sz="2800" i="1" kern="100">
                                  <a:solidFill>
                                    <a:srgbClr val="000000"/>
                                  </a:solidFill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i="1" kern="100">
                                  <a:solidFill>
                                    <a:srgbClr val="000000"/>
                                  </a:solidFill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altLang="zh-CN" sz="2800" i="1" kern="100">
                                  <a:solidFill>
                                    <a:srgbClr val="000000"/>
                                  </a:solidFill>
                                  <a:uFill>
                                    <a:solidFill>
                                      <a:srgbClr val="000000"/>
                                    </a:solidFill>
                                  </a:u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𝑎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800" kern="100" dirty="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|</a:t>
                </a:r>
                <a:r>
                  <a:rPr lang="en-US" altLang="zh-CN" sz="2800" kern="100" dirty="0" err="1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kern="100" dirty="0" err="1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</a:t>
                </a:r>
                <a:r>
                  <a:rPr lang="en-US" altLang="zh-CN" sz="2800" kern="100" dirty="0" err="1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R</a:t>
                </a:r>
                <a:r>
                  <a:rPr lang="en-US" altLang="zh-CN" sz="2800" kern="100" dirty="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, R</a:t>
                </a:r>
                <a:r>
                  <a:rPr lang="zh-CN" altLang="zh-CN" sz="2800" kern="100" dirty="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是实数集合，</a:t>
                </a:r>
                <a:r>
                  <a:rPr lang="en-US" altLang="zh-CN" sz="2800" kern="100" dirty="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800" i="1" kern="100">
                        <a:solidFill>
                          <a:srgbClr val="000000"/>
                        </a:solidFill>
                        <a:uFill>
                          <a:solidFill>
                            <a:srgbClr val="000000"/>
                          </a:solidFill>
                        </a:u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≠</m:t>
                    </m:r>
                  </m:oMath>
                </a14:m>
                <a:r>
                  <a:rPr lang="en-US" altLang="zh-CN" sz="2800" kern="100" dirty="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0}</a:t>
                </a:r>
                <a:r>
                  <a:rPr lang="zh-CN" altLang="zh-CN" sz="2800" kern="100" dirty="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。证明：</a:t>
                </a:r>
                <a:r>
                  <a:rPr lang="en-US" altLang="zh-CN" sz="2800" kern="100" dirty="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G</a:t>
                </a:r>
                <a:r>
                  <a:rPr lang="zh-CN" altLang="zh-CN" sz="2800" kern="100" dirty="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关于矩阵的乘法构成群</a:t>
                </a:r>
                <a:r>
                  <a:rPr lang="zh-CN" altLang="zh-CN" sz="2800" kern="100" dirty="0" smtClean="0">
                    <a:solidFill>
                      <a:srgbClr val="000000"/>
                    </a:solidFill>
                    <a:uFill>
                      <a:solidFill>
                        <a:srgbClr val="000000"/>
                      </a:solidFill>
                    </a:u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2800" kern="100" dirty="0" smtClean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zh-CN" sz="2800" dirty="0" smtClean="0">
                    <a:latin typeface="宋体" panose="02010600030101010101" pitchFamily="2" charset="-122"/>
                    <a:ea typeface="宋体" panose="02010600030101010101" pitchFamily="2" charset="-122"/>
                  </a:rPr>
                  <a:t>证明</a:t>
                </a:r>
                <a:r>
                  <a:rPr lang="zh-CN" altLang="zh-CN" sz="28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：</a:t>
                </a:r>
              </a:p>
              <a:p>
                <a:pPr marL="0" indent="0">
                  <a:buNone/>
                </a:pPr>
                <a:r>
                  <a:rPr lang="en-US" altLang="zh-CN" sz="2800" dirty="0" smtClean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(1)</a:t>
                </a:r>
                <a:r>
                  <a:rPr lang="zh-CN" altLang="zh-CN" sz="2800" dirty="0" smtClean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如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800" dirty="0" smtClean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</a:t>
                </a:r>
                <a:r>
                  <a:rPr lang="en-US" altLang="zh-CN" sz="2800" dirty="0" smtClean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G</a:t>
                </a:r>
                <a:r>
                  <a:rPr lang="zh-CN" altLang="zh-CN" sz="2800" dirty="0" smtClean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800" dirty="0" smtClean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G</a:t>
                </a:r>
                <a:r>
                  <a:rPr lang="zh-CN" altLang="zh-CN" sz="2800" b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非</a:t>
                </a:r>
                <a:r>
                  <a:rPr lang="zh-CN" altLang="zh-CN" sz="28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空</a:t>
                </a:r>
                <a:r>
                  <a:rPr lang="zh-CN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</a:p>
              <a:p>
                <a:pPr marL="0" indent="0">
                  <a:buNone/>
                </a:pPr>
                <a:r>
                  <a:rPr lang="en-US" altLang="zh-CN" sz="2800" dirty="0" smtClean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(2)</a:t>
                </a:r>
                <a:r>
                  <a:rPr lang="zh-CN" altLang="en-US" sz="28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任取</a:t>
                </a:r>
                <a:r>
                  <a:rPr lang="en-US" altLang="zh-CN" sz="2800" dirty="0" smtClean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B=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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G</a:t>
                </a:r>
                <a:r>
                  <a:rPr lang="zh-CN" altLang="zh-CN" sz="2800" dirty="0" smtClean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endParaRPr lang="en-US" altLang="zh-CN" sz="2800" dirty="0" smtClean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zh-CN" sz="2800" dirty="0" smtClean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则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AB=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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G</a:t>
                </a:r>
                <a:r>
                  <a:rPr lang="zh-CN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，所以矩阵的乘法是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G</a:t>
                </a:r>
                <a:r>
                  <a:rPr lang="zh-CN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的代数运算；</a:t>
                </a:r>
              </a:p>
              <a:p>
                <a:pPr algn="just">
                  <a:lnSpc>
                    <a:spcPct val="120000"/>
                  </a:lnSpc>
                  <a:spcAft>
                    <a:spcPts val="0"/>
                  </a:spcAft>
                </a:pPr>
                <a:endParaRPr lang="zh-CN" altLang="zh-CN" sz="2800" kern="100" dirty="0">
                  <a:solidFill>
                    <a:srgbClr val="000000"/>
                  </a:solidFill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5536" y="1052736"/>
                <a:ext cx="8467477" cy="4995639"/>
              </a:xfrm>
              <a:blipFill rotWithShape="0">
                <a:blip r:embed="rId2"/>
                <a:stretch>
                  <a:fillRect l="-1512" r="-1440" b="-9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88A472-F8AC-4D98-952E-8BF61D43F590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xmlns="" id="{88749FC5-E123-B945-9EFC-27734BCD22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1975" y="533400"/>
            <a:ext cx="8020050" cy="519336"/>
          </a:xfrm>
        </p:spPr>
        <p:txBody>
          <a:bodyPr/>
          <a:lstStyle/>
          <a:p>
            <a:r>
              <a:rPr lang="zh-CN" altLang="en-US" sz="3200" dirty="0">
                <a:solidFill>
                  <a:srgbClr val="0000FF"/>
                </a:solidFill>
              </a:rPr>
              <a:t>第一次作业：</a:t>
            </a:r>
          </a:p>
        </p:txBody>
      </p:sp>
    </p:spTree>
    <p:extLst>
      <p:ext uri="{BB962C8B-B14F-4D97-AF65-F5344CB8AC3E}">
        <p14:creationId xmlns:p14="http://schemas.microsoft.com/office/powerpoint/2010/main" val="1126119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42839" y="620688"/>
                <a:ext cx="8424936" cy="5832648"/>
              </a:xfrm>
            </p:spPr>
            <p:txBody>
              <a:bodyPr/>
              <a:lstStyle/>
              <a:p>
                <a:pPr marL="0" indent="0">
                  <a:spcBef>
                    <a:spcPts val="0"/>
                  </a:spcBef>
                  <a:buNone/>
                </a:pPr>
                <a:r>
                  <a:rPr lang="zh-CN" altLang="en-US" sz="2800" dirty="0" smtClean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证明：</a:t>
                </a:r>
                <a:endParaRPr lang="en-US" altLang="zh-CN" sz="2800" dirty="0" smtClean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sz="2800" dirty="0" smtClean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(3)</a:t>
                </a:r>
                <a:r>
                  <a:rPr lang="zh-CN" altLang="zh-CN" sz="2800" dirty="0" smtClean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因为</a:t>
                </a:r>
                <a:r>
                  <a:rPr lang="zh-CN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矩阵的乘法满足结合律，所以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G</a:t>
                </a:r>
                <a:r>
                  <a:rPr lang="zh-CN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的乘法也满足结合律；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sz="2800" dirty="0" smtClean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(4)</a:t>
                </a:r>
                <a:r>
                  <a:rPr lang="zh-CN" altLang="zh-CN" sz="2800" dirty="0" smtClean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因为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7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zh-CN" altLang="zh-CN" sz="27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7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7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zh-CN" altLang="zh-CN" sz="27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7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7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zh-CN" altLang="zh-CN" sz="27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7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7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zh-CN" altLang="zh-CN" sz="27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7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7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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G</a:t>
                </a:r>
                <a:r>
                  <a:rPr lang="zh-CN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，且对任意的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7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7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altLang="zh-CN" sz="27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7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altLang="zh-CN" sz="27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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G</a:t>
                </a:r>
                <a:r>
                  <a:rPr lang="zh-CN" altLang="zh-CN" sz="2800" dirty="0" smtClean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endParaRPr lang="en-US" altLang="zh-CN" sz="2800" dirty="0" smtClean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7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7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altLang="zh-CN" sz="27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7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altLang="zh-CN" sz="27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zh-CN" altLang="zh-CN" sz="2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7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zh-CN" altLang="zh-CN" sz="27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7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7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zh-CN" altLang="zh-CN" sz="27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7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7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zh-CN" altLang="zh-CN" sz="27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7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7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zh-CN" altLang="zh-CN" sz="27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7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7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7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zh-CN" altLang="zh-CN" sz="27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7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7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zh-CN" altLang="zh-CN" sz="27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7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7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zh-CN" altLang="zh-CN" sz="27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7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7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zh-CN" altLang="zh-CN" sz="27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7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7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zh-CN" altLang="zh-CN" sz="2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7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7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altLang="zh-CN" sz="27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7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altLang="zh-CN" sz="27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7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7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altLang="zh-CN" sz="27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7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altLang="zh-CN" sz="27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zh-CN" sz="27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zh-CN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所以单位元为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2839" y="620688"/>
                <a:ext cx="8424936" cy="5832648"/>
              </a:xfrm>
              <a:blipFill rotWithShape="0">
                <a:blip r:embed="rId2"/>
                <a:stretch>
                  <a:fillRect l="-1520" t="-14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88A472-F8AC-4D98-952E-8BF61D43F590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15818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67544" y="764704"/>
                <a:ext cx="8301038" cy="604867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sz="2800" dirty="0" smtClean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(5)</a:t>
                </a:r>
                <a:r>
                  <a:rPr lang="zh-CN" altLang="zh-CN" sz="2800" dirty="0" smtClean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对</a:t>
                </a:r>
                <a:r>
                  <a:rPr lang="zh-CN" altLang="zh-CN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任意的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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G</a:t>
                </a:r>
                <a:r>
                  <a:rPr lang="zh-CN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，有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B=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</a:t>
                </a:r>
                <a:r>
                  <a:rPr lang="en-US" altLang="zh-CN" sz="28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G</a:t>
                </a:r>
                <a:r>
                  <a:rPr lang="zh-CN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，且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</a:p>
              <a:p>
                <a:pPr marL="0" indent="0">
                  <a:buNone/>
                </a:pPr>
                <a:r>
                  <a:rPr lang="zh-CN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即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B=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的逆元，所以</a:t>
                </a:r>
                <a:r>
                  <a:rPr lang="en-US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G</a:t>
                </a:r>
                <a:r>
                  <a:rPr lang="zh-CN" altLang="zh-CN" sz="28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的每个元素都有</a:t>
                </a:r>
                <a:r>
                  <a:rPr lang="zh-CN" altLang="zh-CN" sz="2800" dirty="0" smtClean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逆</a:t>
                </a:r>
                <a:r>
                  <a:rPr lang="zh-CN" altLang="en-US" sz="2800" dirty="0" smtClean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元素。</a:t>
                </a:r>
                <a:endParaRPr lang="zh-CN" altLang="zh-CN" sz="2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7544" y="764704"/>
                <a:ext cx="8301038" cy="6048672"/>
              </a:xfrm>
              <a:blipFill rotWithShape="0">
                <a:blip r:embed="rId2"/>
                <a:stretch>
                  <a:fillRect l="-15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88A472-F8AC-4D98-952E-8BF61D43F590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18326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求陪集的简单方法</a:t>
            </a:r>
            <a:endParaRPr lang="en-US" altLang="zh-CN" smtClean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341438"/>
            <a:ext cx="8569647" cy="5183187"/>
          </a:xfrm>
        </p:spPr>
        <p:txBody>
          <a:bodyPr/>
          <a:lstStyle/>
          <a:p>
            <a:pPr>
              <a:lnSpc>
                <a:spcPct val="14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若</a:t>
            </a:r>
            <a:r>
              <a:rPr lang="en-US" altLang="zh-CN" sz="3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sz="3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是一个有限群，</a:t>
            </a:r>
            <a:r>
              <a:rPr lang="en-US" altLang="zh-CN" sz="3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zh-CN" altLang="en-US" sz="3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3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sz="3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的子群，求</a:t>
            </a:r>
            <a:r>
              <a:rPr lang="en-US" altLang="zh-CN" sz="3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zh-CN" altLang="en-US" sz="3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的</a:t>
            </a:r>
            <a:r>
              <a:rPr lang="zh-CN" altLang="en-US" sz="33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右陪集</a:t>
            </a:r>
            <a:r>
              <a:rPr lang="en-US" altLang="zh-CN" sz="3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:</a:t>
            </a:r>
            <a:endParaRPr lang="zh-CN" altLang="en-US" sz="30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4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2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首先，</a:t>
            </a:r>
            <a:r>
              <a:rPr lang="en-US" altLang="zh-CN" sz="32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zh-CN" altLang="en-US" sz="32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本身是一个；</a:t>
            </a:r>
          </a:p>
          <a:p>
            <a:pPr>
              <a:lnSpc>
                <a:spcPct val="14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2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任取</a:t>
            </a:r>
            <a:r>
              <a:rPr lang="en-US" altLang="zh-CN" sz="32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3200" dirty="0" err="1" smtClean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∈G</a:t>
            </a:r>
            <a:r>
              <a:rPr lang="en-US" altLang="zh-CN" sz="3200" dirty="0" smtClean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32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aH</a:t>
            </a:r>
            <a:r>
              <a:rPr lang="zh-CN" altLang="en-US" sz="32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而求</a:t>
            </a:r>
            <a:r>
              <a:rPr lang="en-US" altLang="zh-CN" sz="32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aH</a:t>
            </a:r>
            <a:r>
              <a:rPr lang="zh-CN" altLang="en-US" sz="32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又得到一个；</a:t>
            </a:r>
          </a:p>
          <a:p>
            <a:pPr>
              <a:lnSpc>
                <a:spcPct val="14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2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任取</a:t>
            </a:r>
            <a:r>
              <a:rPr lang="en-US" altLang="zh-CN" sz="32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3200" dirty="0" err="1" smtClean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∈G</a:t>
            </a:r>
            <a:r>
              <a:rPr lang="en-US" altLang="zh-CN" sz="3200" dirty="0" smtClean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32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bH∪aH</a:t>
            </a:r>
            <a:r>
              <a:rPr lang="zh-CN" altLang="en-US" sz="32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而求</a:t>
            </a:r>
            <a:r>
              <a:rPr lang="en-US" altLang="zh-CN" sz="32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bH</a:t>
            </a:r>
            <a:r>
              <a:rPr lang="zh-CN" altLang="en-US" sz="32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又得到一个；</a:t>
            </a:r>
          </a:p>
          <a:p>
            <a:pPr>
              <a:lnSpc>
                <a:spcPct val="14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2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如此类推，因</a:t>
            </a:r>
            <a:r>
              <a:rPr lang="en-US" altLang="zh-CN" sz="32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sz="32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有限，最后必被穷尽，而</a:t>
            </a:r>
          </a:p>
          <a:p>
            <a:pPr>
              <a:lnSpc>
                <a:spcPct val="14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2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</a:t>
            </a:r>
            <a:r>
              <a:rPr lang="en-US" altLang="zh-CN" sz="32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G=</a:t>
            </a:r>
            <a:r>
              <a:rPr lang="en-US" altLang="zh-CN" sz="32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H∪aH∪bH</a:t>
            </a:r>
            <a:r>
              <a:rPr lang="en-US" altLang="zh-CN" sz="32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∪…</a:t>
            </a:r>
            <a:r>
              <a:rPr lang="zh-CN" altLang="en-US" sz="32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</a:p>
          <a:p>
            <a:pPr>
              <a:lnSpc>
                <a:spcPct val="14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endParaRPr lang="zh-CN" altLang="en-US" sz="29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34148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anose="02010600030101010101" charset="-122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E68959A-8E26-4286-961F-8C51333AAAD1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ko-KR" sz="1400" smtClean="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81680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0000FF"/>
                </a:solidFill>
              </a:rPr>
              <a:t>循环群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 latinLnBrk="0">
              <a:lnSpc>
                <a:spcPct val="135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3200" kern="1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设</a:t>
            </a:r>
            <a:r>
              <a:rPr lang="en-US" altLang="zh-CN" sz="3200" kern="1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3200" kern="1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是群</a:t>
            </a:r>
            <a:r>
              <a:rPr lang="en-US" altLang="zh-CN" sz="3200" kern="1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sz="3200" kern="1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的一个元素。于是</a:t>
            </a:r>
            <a:r>
              <a:rPr lang="en-US" altLang="zh-CN" sz="3200" kern="1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3200" kern="1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的所有幂的集合</a:t>
            </a:r>
            <a:r>
              <a:rPr lang="en-US" altLang="zh-CN" sz="3200" kern="1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{a</a:t>
            </a:r>
            <a:r>
              <a:rPr lang="en-US" altLang="zh-CN" sz="3200" kern="1200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3200" kern="1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| n=0,±1,±2,… }</a:t>
            </a:r>
            <a:r>
              <a:rPr lang="zh-CN" altLang="en-US" sz="3200" kern="1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，做成</a:t>
            </a:r>
            <a:r>
              <a:rPr lang="en-US" altLang="zh-CN" sz="3200" kern="1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sz="3200" kern="1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的一个子群，记为 </a:t>
            </a:r>
            <a:r>
              <a:rPr lang="en-US" altLang="zh-CN" sz="3200" kern="1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(a)</a:t>
            </a:r>
            <a:r>
              <a:rPr lang="zh-CN" altLang="en-US" sz="3200" kern="1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  <a:r>
              <a:rPr lang="en-US" altLang="zh-CN" sz="3200" kern="1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en-US" sz="3200" kern="1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由</a:t>
            </a:r>
            <a:r>
              <a:rPr lang="en-US" altLang="zh-CN" sz="3200" kern="1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3200" kern="1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生成的</a:t>
            </a:r>
            <a:r>
              <a:rPr lang="en-US" altLang="zh-CN" sz="3200" kern="1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sz="3200" kern="1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的循环子群）</a:t>
            </a:r>
            <a:br>
              <a:rPr lang="zh-CN" altLang="en-US" sz="3200" kern="1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</a:br>
            <a:endParaRPr lang="zh-CN" altLang="en-US" sz="3200" kern="12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88A472-F8AC-4D98-952E-8BF61D43F590}" type="slidenum">
              <a:rPr lang="en-US" altLang="ko-KR" smtClean="0"/>
              <a:pPr>
                <a:defRPr/>
              </a:pPr>
              <a:t>16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82482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标题 1"/>
          <p:cNvSpPr>
            <a:spLocks noGrp="1"/>
          </p:cNvSpPr>
          <p:nvPr>
            <p:ph type="title"/>
          </p:nvPr>
        </p:nvSpPr>
        <p:spPr>
          <a:xfrm>
            <a:off x="457725" y="400413"/>
            <a:ext cx="8020050" cy="542744"/>
          </a:xfrm>
        </p:spPr>
        <p:txBody>
          <a:bodyPr/>
          <a:lstStyle/>
          <a:p>
            <a:r>
              <a:rPr lang="zh-CN" altLang="en-US" sz="2800" dirty="0" smtClean="0">
                <a:solidFill>
                  <a:srgbClr val="0000FF"/>
                </a:solidFill>
              </a:rPr>
              <a:t>第二次作 业：</a:t>
            </a:r>
          </a:p>
        </p:txBody>
      </p:sp>
      <p:sp>
        <p:nvSpPr>
          <p:cNvPr id="130051" name="内容占位符 2"/>
          <p:cNvSpPr>
            <a:spLocks noGrp="1"/>
          </p:cNvSpPr>
          <p:nvPr>
            <p:ph idx="1"/>
          </p:nvPr>
        </p:nvSpPr>
        <p:spPr>
          <a:xfrm>
            <a:off x="323528" y="836700"/>
            <a:ext cx="8630497" cy="5868899"/>
          </a:xfrm>
        </p:spPr>
        <p:txBody>
          <a:bodyPr/>
          <a:lstStyle/>
          <a:p>
            <a:pPr marL="457200" indent="-457200" eaLnBrk="1" hangingPunct="1">
              <a:spcBef>
                <a:spcPts val="0"/>
              </a:spcBef>
              <a:buFont typeface="Wingdings" panose="05000000000000000000" pitchFamily="2" charset="2"/>
              <a:buAutoNum type="arabicPeriod"/>
              <a:defRPr/>
            </a:pPr>
            <a:r>
              <a:rPr lang="zh-CN" altLang="zh-CN" sz="2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zh-CN" altLang="zh-CN" sz="23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群</a:t>
            </a:r>
            <a:r>
              <a:rPr lang="en-US" altLang="zh-CN" sz="23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G={</a:t>
            </a:r>
            <a:r>
              <a:rPr lang="en-US" altLang="zh-CN" sz="23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a,b,c,d,</a:t>
            </a:r>
            <a:r>
              <a:rPr lang="en-US" altLang="zh-CN" sz="230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23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,f</a:t>
            </a:r>
            <a:r>
              <a:rPr lang="en-US" altLang="zh-CN" sz="23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zh-CN" altLang="zh-CN" sz="23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3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23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上的运算</a:t>
            </a:r>
            <a:r>
              <a:rPr lang="en-US" altLang="zh-CN" sz="23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zh-CN" altLang="zh-CN" sz="23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定义如运算表所示</a:t>
            </a:r>
            <a:r>
              <a:rPr lang="zh-CN" altLang="zh-CN" sz="2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</a:p>
          <a:p>
            <a:pPr marL="0" indent="0" eaLnBrk="1" hangingPunct="1">
              <a:spcBef>
                <a:spcPts val="0"/>
              </a:spcBef>
              <a:buNone/>
              <a:defRPr/>
            </a:pPr>
            <a:r>
              <a:rPr lang="en-US" altLang="zh-CN" sz="2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3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sz="23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请写出</a:t>
            </a:r>
            <a:r>
              <a:rPr lang="en-US" altLang="zh-CN" sz="23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(d)</a:t>
            </a:r>
            <a:r>
              <a:rPr lang="zh-CN" altLang="zh-CN" sz="23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的所有右陪集；</a:t>
            </a:r>
          </a:p>
          <a:p>
            <a:pPr marL="427038" indent="-427038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3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sz="2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请写出</a:t>
            </a:r>
            <a:r>
              <a:rPr lang="en-US" altLang="zh-CN" sz="2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(a)</a:t>
            </a:r>
            <a:r>
              <a:rPr lang="zh-CN" altLang="en-US" sz="2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的所有左陪集组成的集合</a:t>
            </a:r>
            <a:r>
              <a:rPr lang="zh-CN" altLang="zh-CN" sz="2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sz="2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sz="2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G/(a))</a:t>
            </a:r>
          </a:p>
          <a:p>
            <a:pPr marL="427038" indent="-427038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altLang="zh-CN" sz="23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27038" indent="-427038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altLang="zh-CN" sz="23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27038" indent="-427038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altLang="zh-CN" sz="23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27038" indent="-427038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altLang="zh-CN" sz="23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27038" indent="-427038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altLang="zh-CN" sz="23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27038" indent="-427038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altLang="zh-CN" sz="23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27038" indent="-427038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altLang="zh-CN" sz="23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27038" indent="-427038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altLang="zh-CN" sz="2300" dirty="0" smtClean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427038" indent="-427038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altLang="zh-CN" sz="2300" dirty="0" smtClean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zh-CN" dirty="0" smtClean="0"/>
              <a:t>(1)</a:t>
            </a:r>
            <a:r>
              <a:rPr lang="zh-CN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因为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=d*d=e 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的周期为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2, </a:t>
            </a:r>
            <a:r>
              <a:rPr lang="zh-CN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生成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元循环群，即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(d)={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e,d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}, (d)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的右陪集</a:t>
            </a:r>
            <a:r>
              <a:rPr lang="zh-CN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如下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(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d)={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e,d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 ; a*(d)={a*e, a*d}={a, f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}; 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b*(d)={b*e, b*d}={b, c} </a:t>
            </a:r>
            <a:r>
              <a:rPr lang="zh-CN" altLang="en-US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                             </a:t>
            </a:r>
            <a:r>
              <a:rPr lang="zh-CN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综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(d)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的所有右陪集为：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e,d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a,f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b,c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b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defRPr/>
            </a:pPr>
            <a:endParaRPr lang="zh-CN" altLang="en-US" sz="2000" dirty="0" smtClean="0">
              <a:solidFill>
                <a:srgbClr val="000000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defRPr/>
            </a:pPr>
            <a:endParaRPr lang="zh-CN" altLang="en-US" sz="3200" b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690726"/>
              </p:ext>
            </p:extLst>
          </p:nvPr>
        </p:nvGraphicFramePr>
        <p:xfrm>
          <a:off x="688588" y="2060663"/>
          <a:ext cx="5688014" cy="2987677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{22838BEF-8BB2-4498-84A7-C5851F593DF1}</a:tableStyleId>
              </a:tblPr>
              <a:tblGrid>
                <a:gridCol w="619936"/>
                <a:gridCol w="681929"/>
                <a:gridCol w="867910"/>
                <a:gridCol w="805916"/>
                <a:gridCol w="867910"/>
                <a:gridCol w="867910"/>
                <a:gridCol w="976503"/>
              </a:tblGrid>
              <a:tr h="42681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CN" sz="23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</a:tr>
              <a:tr h="42681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CN" sz="23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CN" sz="23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</a:tr>
              <a:tr h="42681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CN" sz="23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CN" sz="23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</a:tr>
              <a:tr h="42681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CN" sz="23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CN" sz="23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CN" sz="23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</a:tr>
              <a:tr h="42681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CN" sz="23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CN" sz="23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CN" sz="23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</a:tr>
              <a:tr h="42681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CN" sz="23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CN" sz="23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CN" sz="23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CN" sz="2300" b="1" kern="1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</a:tr>
              <a:tr h="42681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</a:tr>
            </a:tbl>
          </a:graphicData>
        </a:graphic>
      </p:graphicFrame>
      <p:sp>
        <p:nvSpPr>
          <p:cNvPr id="78918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1400" dirty="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t> </a:t>
            </a:r>
            <a:fld id="{431815E8-D8F9-4A05-8A99-C97B18062FCA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ko-KR" sz="1400" dirty="0" smtClean="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47864" y="256540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594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标题 1"/>
          <p:cNvSpPr>
            <a:spLocks noGrp="1"/>
          </p:cNvSpPr>
          <p:nvPr>
            <p:ph type="title"/>
          </p:nvPr>
        </p:nvSpPr>
        <p:spPr>
          <a:xfrm>
            <a:off x="457725" y="400413"/>
            <a:ext cx="8020050" cy="542742"/>
          </a:xfrm>
        </p:spPr>
        <p:txBody>
          <a:bodyPr/>
          <a:lstStyle/>
          <a:p>
            <a:r>
              <a:rPr lang="zh-CN" altLang="en-US" sz="2800" dirty="0" smtClean="0">
                <a:solidFill>
                  <a:srgbClr val="0000FF"/>
                </a:solidFill>
              </a:rPr>
              <a:t>第二次作 业：</a:t>
            </a:r>
          </a:p>
        </p:txBody>
      </p:sp>
      <p:sp>
        <p:nvSpPr>
          <p:cNvPr id="130051" name="内容占位符 2"/>
          <p:cNvSpPr>
            <a:spLocks noGrp="1"/>
          </p:cNvSpPr>
          <p:nvPr>
            <p:ph idx="1"/>
          </p:nvPr>
        </p:nvSpPr>
        <p:spPr>
          <a:xfrm>
            <a:off x="395537" y="836712"/>
            <a:ext cx="8692686" cy="5762443"/>
          </a:xfrm>
        </p:spPr>
        <p:txBody>
          <a:bodyPr/>
          <a:lstStyle/>
          <a:p>
            <a:pPr marL="457200" indent="-457200" eaLnBrk="1" hangingPunct="1">
              <a:spcBef>
                <a:spcPts val="0"/>
              </a:spcBef>
              <a:buFont typeface="Wingdings" panose="05000000000000000000" pitchFamily="2" charset="2"/>
              <a:buAutoNum type="arabicPeriod"/>
              <a:defRPr/>
            </a:pPr>
            <a:r>
              <a:rPr lang="zh-CN" altLang="zh-CN" sz="2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zh-CN" altLang="zh-CN" sz="23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群</a:t>
            </a:r>
            <a:r>
              <a:rPr lang="en-US" altLang="zh-CN" sz="23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G={</a:t>
            </a:r>
            <a:r>
              <a:rPr lang="en-US" altLang="zh-CN" sz="23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a,b,c,d,</a:t>
            </a:r>
            <a:r>
              <a:rPr lang="en-US" altLang="zh-CN" sz="2300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23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,f</a:t>
            </a:r>
            <a:r>
              <a:rPr lang="en-US" altLang="zh-CN" sz="23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zh-CN" altLang="zh-CN" sz="23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3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23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上的运算</a:t>
            </a:r>
            <a:r>
              <a:rPr lang="en-US" altLang="zh-CN" sz="23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zh-CN" altLang="zh-CN" sz="23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定义如运算表所示</a:t>
            </a:r>
            <a:r>
              <a:rPr lang="zh-CN" altLang="zh-CN" sz="2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</a:p>
          <a:p>
            <a:pPr marL="0" indent="0" eaLnBrk="1" hangingPunct="1">
              <a:spcBef>
                <a:spcPts val="0"/>
              </a:spcBef>
              <a:buNone/>
              <a:defRPr/>
            </a:pPr>
            <a:r>
              <a:rPr lang="en-US" altLang="zh-CN" sz="2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3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sz="23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请写出</a:t>
            </a:r>
            <a:r>
              <a:rPr lang="en-US" altLang="zh-CN" sz="23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(d)</a:t>
            </a:r>
            <a:r>
              <a:rPr lang="zh-CN" altLang="zh-CN" sz="23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的所有右陪集；</a:t>
            </a:r>
          </a:p>
          <a:p>
            <a:pPr marL="427038" indent="-427038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3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sz="2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请写出</a:t>
            </a:r>
            <a:r>
              <a:rPr lang="en-US" altLang="zh-CN" sz="2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(a)</a:t>
            </a:r>
            <a:r>
              <a:rPr lang="zh-CN" altLang="en-US" sz="2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的所有左陪集组成的集合</a:t>
            </a:r>
            <a:r>
              <a:rPr lang="zh-CN" altLang="zh-CN" sz="2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sz="2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sz="23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G/(a))</a:t>
            </a:r>
          </a:p>
          <a:p>
            <a:pPr marL="427038" indent="-427038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altLang="zh-CN" sz="23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27038" indent="-427038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altLang="zh-CN" sz="23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27038" indent="-427038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altLang="zh-CN" sz="23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27038" indent="-427038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altLang="zh-CN" sz="23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27038" indent="-427038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altLang="zh-CN" sz="23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27038" indent="-427038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altLang="zh-CN" sz="23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27038" indent="-427038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altLang="zh-CN" sz="23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27038" indent="-427038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altLang="zh-CN" sz="2300" dirty="0" smtClean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427038" indent="-427038"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altLang="zh-CN" sz="2300" dirty="0" smtClean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=a*a=b , a</a:t>
            </a:r>
            <a:r>
              <a:rPr lang="en-US" altLang="zh-CN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(a*a) *a=b*a=e , 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的周期为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3, 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生成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元循环群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(a)={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e,a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,b},(a)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的所有左陪集如下：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(a)={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e,a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,b}, </a:t>
            </a:r>
            <a:r>
              <a:rPr lang="en-US" altLang="zh-CN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a)*c={e*c, a*c ,b*c}={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c,d,f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},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综上，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(a)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的所有左陪集组成的集合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G/(a))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为：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{e, a, b} ,{c,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d,f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defRPr/>
            </a:pPr>
            <a:endParaRPr lang="zh-CN" altLang="en-US" sz="2000" dirty="0" smtClean="0">
              <a:solidFill>
                <a:srgbClr val="000000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defRPr/>
            </a:pPr>
            <a:endParaRPr lang="zh-CN" altLang="en-US" sz="3200" b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164437"/>
              </p:ext>
            </p:extLst>
          </p:nvPr>
        </p:nvGraphicFramePr>
        <p:xfrm>
          <a:off x="688588" y="1988840"/>
          <a:ext cx="5688014" cy="2987677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{22838BEF-8BB2-4498-84A7-C5851F593DF1}</a:tableStyleId>
              </a:tblPr>
              <a:tblGrid>
                <a:gridCol w="619936"/>
                <a:gridCol w="681929"/>
                <a:gridCol w="867910"/>
                <a:gridCol w="805916"/>
                <a:gridCol w="867910"/>
                <a:gridCol w="867910"/>
                <a:gridCol w="976503"/>
              </a:tblGrid>
              <a:tr h="42681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CN" sz="23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</a:tr>
              <a:tr h="42681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CN" sz="23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CN" sz="23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</a:tr>
              <a:tr h="42681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CN" sz="23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CN" sz="23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</a:tr>
              <a:tr h="42681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CN" sz="23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CN" sz="23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CN" sz="23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</a:tr>
              <a:tr h="42681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CN" sz="23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CN" sz="23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CN" sz="23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</a:tr>
              <a:tr h="42681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CN" sz="23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CN" sz="23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CN" sz="23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CN" sz="2300" b="1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</a:tr>
              <a:tr h="42681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3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CN" sz="23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等线"/>
                        <a:cs typeface="Times New Roman" panose="02020603050405020304" pitchFamily="18" charset="0"/>
                      </a:endParaRPr>
                    </a:p>
                  </a:txBody>
                  <a:tcPr marL="68573" marR="68573" marT="0" marB="0"/>
                </a:tc>
              </a:tr>
            </a:tbl>
          </a:graphicData>
        </a:graphic>
      </p:graphicFrame>
      <p:sp>
        <p:nvSpPr>
          <p:cNvPr id="78918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ko-KR" sz="1400" dirty="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t> </a:t>
            </a:r>
            <a:fld id="{431815E8-D8F9-4A05-8A99-C97B18062FCA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ko-KR" sz="1400" dirty="0" smtClean="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47864" y="256540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0376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0538" y="1149350"/>
            <a:ext cx="8473950" cy="5303986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(S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.)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是四次对称群，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中所有偶置换组成的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 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(13)(24)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的逆元素；</a:t>
            </a:r>
          </a:p>
          <a:p>
            <a:pPr marL="0" indent="0"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(2) 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问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.)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是否为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(S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.)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的正规子群？</a:t>
            </a:r>
          </a:p>
          <a:p>
            <a:pPr marL="0" indent="0"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(3) 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中的指数是多少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？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2</a:t>
            </a:r>
          </a:p>
          <a:p>
            <a:pPr marL="0" indent="0"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解：</a:t>
            </a:r>
            <a:endParaRPr lang="en-US" altLang="zh-CN" sz="28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(13)(24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的逆元素为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，则有</a:t>
            </a:r>
            <a:endParaRPr lang="en-US" altLang="zh-CN" sz="28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(13)(24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)= I 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x=(24)(13)</a:t>
            </a:r>
            <a:r>
              <a:rPr lang="en-US" altLang="zh-CN" dirty="0"/>
              <a:t> 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)|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|= 12 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| S</a:t>
            </a:r>
            <a:r>
              <a:rPr lang="en-US" altLang="zh-CN" sz="2800" baseline="-25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|=24,  | 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| = 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，即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=2( A</a:t>
            </a:r>
            <a:r>
              <a:rPr lang="en-US" altLang="zh-CN" sz="2800" baseline="-25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28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28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zh-CN" altLang="zh-CN" sz="28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的指数是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，故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.)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.)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正规子群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0353C30-BDA2-4AD9-BC55-B613522D4763}" type="slidenum">
              <a:rPr lang="en-US" altLang="ko-KR" smtClean="0"/>
              <a:pPr>
                <a:defRPr/>
              </a:pPr>
              <a:t>19</a:t>
            </a:fld>
            <a:endParaRPr lang="en-US" altLang="ko-KR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90538" y="476250"/>
            <a:ext cx="8020050" cy="673100"/>
          </a:xfrm>
        </p:spPr>
        <p:txBody>
          <a:bodyPr/>
          <a:lstStyle/>
          <a:p>
            <a:r>
              <a:rPr lang="zh-CN" altLang="en-US" dirty="0" smtClean="0">
                <a:solidFill>
                  <a:srgbClr val="0000FF"/>
                </a:solidFill>
              </a:rPr>
              <a:t>第二次作 业：</a:t>
            </a:r>
          </a:p>
        </p:txBody>
      </p:sp>
    </p:spTree>
    <p:extLst>
      <p:ext uri="{BB962C8B-B14F-4D97-AF65-F5344CB8AC3E}">
        <p14:creationId xmlns:p14="http://schemas.microsoft.com/office/powerpoint/2010/main" val="999709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0538" y="1149350"/>
            <a:ext cx="8372475" cy="5448002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(G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*)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群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H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的子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群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令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A={</a:t>
            </a:r>
            <a:r>
              <a:rPr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x*H*x</a:t>
            </a:r>
            <a:r>
              <a:rPr lang="en-US" altLang="zh-CN" sz="28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=H}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证明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的子群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8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证明：</a:t>
            </a:r>
            <a:endParaRPr lang="zh-CN" altLang="en-US" sz="2800" dirty="0"/>
          </a:p>
          <a:p>
            <a:pPr marL="0" indent="0"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 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的单位元，则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e*H*e</a:t>
            </a:r>
            <a:r>
              <a:rPr lang="en-US" altLang="zh-CN" sz="28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=H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e∈A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，故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非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空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(2) 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任取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a, </a:t>
            </a:r>
            <a:r>
              <a:rPr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b∈A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a*b</a:t>
            </a:r>
            <a:r>
              <a:rPr lang="en-US" altLang="zh-CN" sz="28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H*(a*b</a:t>
            </a:r>
            <a:r>
              <a:rPr lang="en-US" altLang="zh-CN" sz="28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a*b</a:t>
            </a:r>
            <a:r>
              <a:rPr lang="en-US" altLang="zh-CN" sz="28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H*b*a</a:t>
            </a:r>
            <a:r>
              <a:rPr lang="en-US" altLang="zh-CN" sz="28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∵</a:t>
            </a:r>
            <a:r>
              <a:rPr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b∈A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∴b*H*b</a:t>
            </a:r>
            <a:r>
              <a:rPr lang="en-US" altLang="zh-CN" sz="28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=H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，等式两端左乘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8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，右乘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，得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H=b</a:t>
            </a:r>
            <a:r>
              <a:rPr lang="en-US" altLang="zh-CN" sz="28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H*b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a*b</a:t>
            </a:r>
            <a:r>
              <a:rPr lang="en-US" altLang="zh-CN" sz="28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H*(a*b</a:t>
            </a:r>
            <a:r>
              <a:rPr lang="en-US" altLang="zh-CN" sz="28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a*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800" baseline="300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H*b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*a</a:t>
            </a:r>
            <a:r>
              <a:rPr lang="en-US" altLang="zh-CN" sz="28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a*H*a</a:t>
            </a:r>
            <a:r>
              <a:rPr lang="en-US" altLang="zh-CN" sz="28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=H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，因此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a*b</a:t>
            </a:r>
            <a:r>
              <a:rPr lang="en-US" altLang="zh-CN" sz="28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∈A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0" indent="0"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综上，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的子群。</a:t>
            </a:r>
          </a:p>
          <a:p>
            <a:pPr marL="0" indent="0">
              <a:buNone/>
            </a:pPr>
            <a:endParaRPr lang="en-US" altLang="zh-CN" sz="28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en-US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0353C30-BDA2-4AD9-BC55-B613522D4763}" type="slidenum">
              <a:rPr lang="en-US" altLang="ko-KR" smtClean="0"/>
              <a:pPr>
                <a:defRPr/>
              </a:pPr>
              <a:t>20</a:t>
            </a:fld>
            <a:endParaRPr lang="en-US" altLang="ko-KR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90538" y="476250"/>
            <a:ext cx="8020050" cy="673100"/>
          </a:xfrm>
        </p:spPr>
        <p:txBody>
          <a:bodyPr/>
          <a:lstStyle/>
          <a:p>
            <a:r>
              <a:rPr lang="zh-CN" altLang="en-US" dirty="0" smtClean="0">
                <a:solidFill>
                  <a:srgbClr val="0000FF"/>
                </a:solidFill>
              </a:rPr>
              <a:t>第二次作 业：</a:t>
            </a:r>
          </a:p>
        </p:txBody>
      </p:sp>
    </p:spTree>
    <p:extLst>
      <p:ext uri="{BB962C8B-B14F-4D97-AF65-F5344CB8AC3E}">
        <p14:creationId xmlns:p14="http://schemas.microsoft.com/office/powerpoint/2010/main" val="219631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268760"/>
            <a:ext cx="8712968" cy="477961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是群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G'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上的同态映射，令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H={</a:t>
            </a:r>
            <a:r>
              <a:rPr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x|x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∈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(x)=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(x)}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。证明：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的子群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8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TW" altLang="zh-CN" sz="28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证明</a:t>
            </a:r>
            <a:r>
              <a:rPr lang="zh-CN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</a:p>
          <a:p>
            <a:pPr marL="0" indent="0"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 H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非空，因为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(1)=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(1)=1’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，所以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</a:p>
          <a:p>
            <a:pPr marL="0" indent="0"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(2) 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对于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中任意的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，有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(a)=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(a)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(b)=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(b)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，则：</a:t>
            </a:r>
          </a:p>
          <a:p>
            <a:pPr marL="0" indent="0"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(ab</a:t>
            </a:r>
            <a:r>
              <a:rPr lang="en-US" altLang="zh-CN" sz="28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)=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(a)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(b</a:t>
            </a:r>
            <a:r>
              <a:rPr lang="en-US" altLang="zh-CN" sz="28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)=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(a)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(b)</a:t>
            </a:r>
            <a:r>
              <a:rPr lang="en-US" altLang="zh-CN" sz="28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(a)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(b)</a:t>
            </a:r>
            <a:r>
              <a:rPr lang="en-US" altLang="zh-CN" sz="28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(a)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(b</a:t>
            </a:r>
            <a:r>
              <a:rPr lang="en-US" altLang="zh-CN" sz="28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)=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(ab</a:t>
            </a:r>
            <a:r>
              <a:rPr lang="en-US" altLang="zh-CN" sz="28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sz="28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0" indent="0">
              <a:buNone/>
            </a:pP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因此，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的子群。</a:t>
            </a:r>
          </a:p>
          <a:p>
            <a:pPr marL="0" indent="0">
              <a:buNone/>
            </a:pPr>
            <a:endParaRPr lang="zh-CN" altLang="zh-CN" sz="2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0353C30-BDA2-4AD9-BC55-B613522D4763}" type="slidenum">
              <a:rPr lang="en-US" altLang="ko-KR" smtClean="0"/>
              <a:pPr>
                <a:defRPr/>
              </a:pPr>
              <a:t>21</a:t>
            </a:fld>
            <a:endParaRPr lang="en-US" altLang="ko-KR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561975" y="549275"/>
            <a:ext cx="8020050" cy="647700"/>
          </a:xfrm>
        </p:spPr>
        <p:txBody>
          <a:bodyPr/>
          <a:lstStyle/>
          <a:p>
            <a:r>
              <a:rPr lang="zh-CN" altLang="en-US" dirty="0" smtClean="0">
                <a:solidFill>
                  <a:srgbClr val="0000FF"/>
                </a:solidFill>
              </a:rPr>
              <a:t>第</a:t>
            </a:r>
            <a:r>
              <a:rPr lang="zh-CN" altLang="en-US" dirty="0">
                <a:solidFill>
                  <a:srgbClr val="0000FF"/>
                </a:solidFill>
              </a:rPr>
              <a:t>三</a:t>
            </a:r>
            <a:r>
              <a:rPr lang="zh-CN" altLang="en-US" dirty="0" smtClean="0">
                <a:solidFill>
                  <a:srgbClr val="0000FF"/>
                </a:solidFill>
              </a:rPr>
              <a:t>次作业</a:t>
            </a:r>
          </a:p>
        </p:txBody>
      </p:sp>
    </p:spTree>
    <p:extLst>
      <p:ext uri="{BB962C8B-B14F-4D97-AF65-F5344CB8AC3E}">
        <p14:creationId xmlns:p14="http://schemas.microsoft.com/office/powerpoint/2010/main" val="2088401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标题 1"/>
          <p:cNvSpPr>
            <a:spLocks noGrp="1"/>
          </p:cNvSpPr>
          <p:nvPr>
            <p:ph type="title"/>
          </p:nvPr>
        </p:nvSpPr>
        <p:spPr>
          <a:xfrm>
            <a:off x="561975" y="549275"/>
            <a:ext cx="8020050" cy="647700"/>
          </a:xfrm>
        </p:spPr>
        <p:txBody>
          <a:bodyPr/>
          <a:lstStyle/>
          <a:p>
            <a:r>
              <a:rPr lang="zh-CN" altLang="en-US" dirty="0" smtClean="0">
                <a:solidFill>
                  <a:srgbClr val="0000FF"/>
                </a:solidFill>
              </a:rPr>
              <a:t>第</a:t>
            </a:r>
            <a:r>
              <a:rPr lang="zh-CN" altLang="en-US" dirty="0">
                <a:solidFill>
                  <a:srgbClr val="0000FF"/>
                </a:solidFill>
              </a:rPr>
              <a:t>三</a:t>
            </a:r>
            <a:r>
              <a:rPr lang="zh-CN" altLang="en-US" dirty="0" smtClean="0">
                <a:solidFill>
                  <a:srgbClr val="0000FF"/>
                </a:solidFill>
              </a:rPr>
              <a:t>次作业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988" y="1196975"/>
            <a:ext cx="8556625" cy="5400675"/>
          </a:xfrm>
        </p:spPr>
        <p:txBody>
          <a:bodyPr/>
          <a:lstStyle/>
          <a:p>
            <a:pPr marL="0" indent="0" algn="just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是正有理数乘群，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是整数加群</a:t>
            </a:r>
            <a:endParaRPr lang="en-US" altLang="zh-CN" sz="28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证明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φ: 2</a:t>
            </a:r>
            <a:r>
              <a:rPr lang="en-US" altLang="zh-CN" sz="2800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(b/a)→ n  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是群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的一个满同态，</a:t>
            </a:r>
            <a:endParaRPr lang="en-US" altLang="zh-CN" sz="28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其中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a, b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是整数，而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(ab, 2) = 1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8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8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证明：</a:t>
            </a:r>
            <a:endParaRPr lang="en-US" altLang="zh-CN" sz="2800" dirty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映射：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任取</a:t>
            </a:r>
            <a:r>
              <a:rPr lang="en-US" altLang="zh-CN" sz="28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8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G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均可表示为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800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(b/a)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形式，其中   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(ab, 2) = 1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，因此都存在唯一一个确定的</a:t>
            </a:r>
            <a:r>
              <a:rPr lang="en-US" altLang="zh-CN" sz="28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8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G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，满足    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φ(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800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(b/a))= n, 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因此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φ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的映射。</a:t>
            </a:r>
            <a:endParaRPr lang="en-US" altLang="zh-CN" sz="2800" dirty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(2) </a:t>
            </a:r>
            <a:r>
              <a:rPr lang="zh-CN" altLang="en-US" sz="28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满射：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对于任意整数</a:t>
            </a:r>
            <a:r>
              <a:rPr lang="en-US" altLang="zh-CN" sz="28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8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，存在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800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G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是它在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φ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下的原象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，满足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φ(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8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)=1,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因此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φ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的满射。</a:t>
            </a:r>
            <a:endParaRPr lang="zh-CN" altLang="zh-CN" sz="28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8068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E78FE82-04BC-4B61-BD5B-B24C9DF0C581}" type="slidenum">
              <a:rPr lang="ko-KR" altLang="en-US" sz="1400" smtClean="0">
                <a:solidFill>
                  <a:srgbClr val="000000"/>
                </a:solidFill>
                <a:latin typeface="-윤명조140" panose="02020603050405020304" charset="-127"/>
                <a:ea typeface="-윤명조140" panose="020206030504050203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ko-KR" sz="1400" smtClean="0">
              <a:solidFill>
                <a:srgbClr val="000000"/>
              </a:solidFill>
              <a:latin typeface="-윤명조140" panose="02020603050405020304" charset="-127"/>
              <a:ea typeface="-윤명조140" panose="0202060305040502030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8611013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标题 1"/>
          <p:cNvSpPr>
            <a:spLocks noGrp="1"/>
          </p:cNvSpPr>
          <p:nvPr>
            <p:ph type="title"/>
          </p:nvPr>
        </p:nvSpPr>
        <p:spPr>
          <a:xfrm>
            <a:off x="561975" y="549275"/>
            <a:ext cx="8020050" cy="647700"/>
          </a:xfrm>
        </p:spPr>
        <p:txBody>
          <a:bodyPr/>
          <a:lstStyle/>
          <a:p>
            <a:r>
              <a:rPr lang="zh-CN" altLang="en-US" dirty="0" smtClean="0">
                <a:solidFill>
                  <a:srgbClr val="0000FF"/>
                </a:solidFill>
              </a:rPr>
              <a:t>第三次作业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988" y="1196975"/>
            <a:ext cx="8556625" cy="5400675"/>
          </a:xfrm>
        </p:spPr>
        <p:txBody>
          <a:bodyPr/>
          <a:lstStyle/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是正有理数乘群，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是整数加群</a:t>
            </a:r>
            <a:endParaRPr lang="en-US" altLang="zh-CN" sz="28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证明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φ: 2</a:t>
            </a:r>
            <a:r>
              <a:rPr lang="en-US" altLang="zh-CN" sz="2800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(b/a)→ n  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是群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的一个满同态，</a:t>
            </a:r>
            <a:endParaRPr lang="en-US" altLang="zh-CN" sz="28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其中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a, b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是整数，而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(ab, 2) = 1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8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zh-CN" altLang="en-US" sz="28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证明：</a:t>
            </a:r>
            <a:endParaRPr lang="en-US" altLang="zh-CN" sz="2800" dirty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8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sz="28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同态映射</a:t>
            </a:r>
            <a:r>
              <a:rPr lang="en-US" altLang="zh-CN" sz="28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任取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800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(b/a)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2</a:t>
            </a:r>
            <a:r>
              <a:rPr lang="en-US" altLang="zh-CN" sz="2800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(d/c)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由于</a:t>
            </a:r>
            <a:r>
              <a:rPr lang="zh-CN" altLang="zh-CN" sz="28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sz="28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(ab, 2) = 1</a:t>
            </a:r>
            <a:r>
              <a:rPr lang="zh-CN" altLang="zh-CN" sz="28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(cd, 2) = 1</a:t>
            </a:r>
            <a:r>
              <a:rPr lang="zh-CN" altLang="zh-CN" sz="28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时有</a:t>
            </a:r>
            <a:r>
              <a:rPr lang="en-US" altLang="zh-CN" sz="28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800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sz="28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2) = 1,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φ(2</a:t>
            </a:r>
            <a:r>
              <a:rPr lang="en-US" altLang="zh-CN" sz="2800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(b/a) 2</a:t>
            </a:r>
            <a:r>
              <a:rPr lang="en-US" altLang="zh-CN" sz="2800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(d/c)) = φ(2</a:t>
            </a:r>
            <a:r>
              <a:rPr lang="en-US" altLang="zh-CN" sz="2800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n+m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8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/ac)) = </a:t>
            </a:r>
            <a:r>
              <a:rPr lang="en-US" altLang="zh-CN" sz="28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n+m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φ(2</a:t>
            </a:r>
            <a:r>
              <a:rPr lang="en-US" altLang="zh-CN" sz="2800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(b/a))+ φ(2</a:t>
            </a:r>
            <a:r>
              <a:rPr lang="en-US" altLang="zh-CN" sz="2800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(d/c))</a:t>
            </a:r>
            <a:endParaRPr lang="zh-CN" altLang="zh-CN" sz="28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故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φ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是群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的一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满同态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映射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0" indent="0" algn="just">
              <a:buFont typeface="Wingdings" panose="05000000000000000000" pitchFamily="2" charset="2"/>
              <a:buNone/>
            </a:pPr>
            <a:endParaRPr lang="en-US" altLang="zh-CN" sz="28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909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AB3E4FE-3EB7-443D-ABA0-6143F204F67A}" type="slidenum">
              <a:rPr lang="ko-KR" altLang="en-US" sz="1400" smtClean="0">
                <a:solidFill>
                  <a:srgbClr val="000000"/>
                </a:solidFill>
                <a:latin typeface="-윤명조140" panose="02020603050405020304" charset="-127"/>
                <a:ea typeface="-윤명조140" panose="020206030504050203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ko-KR" sz="1400" smtClean="0">
              <a:solidFill>
                <a:srgbClr val="000000"/>
              </a:solidFill>
              <a:latin typeface="-윤명조140" panose="02020603050405020304" charset="-127"/>
              <a:ea typeface="-윤명조140" panose="0202060305040502030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3441170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340768"/>
            <a:ext cx="8568952" cy="5364832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(R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·)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是含壹环，对于任意的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b∈R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a⊕b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=a+b+1,</a:t>
            </a:r>
            <a:endParaRPr lang="zh-CN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a⊙b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a·b+a+b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0" indent="0">
              <a:buNone/>
            </a:pP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证明：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(R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⊕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⊙)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也是含壹环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8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注：</a:t>
            </a:r>
            <a:endParaRPr lang="en-US" altLang="zh-CN" sz="28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非空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加法、乘法的封闭性</a:t>
            </a:r>
            <a:endParaRPr lang="en-US" altLang="zh-CN" sz="28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加法满足交换律</a:t>
            </a:r>
            <a:endParaRPr lang="en-US" altLang="zh-CN" sz="28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加法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、乘法满足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结合律</a:t>
            </a:r>
            <a:endParaRPr lang="en-US" altLang="zh-CN" sz="28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8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都需要证明，不可以写显然成立。</a:t>
            </a:r>
            <a:endParaRPr lang="zh-CN" altLang="zh-CN" sz="2800" b="1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800" dirty="0"/>
              <a:t> </a:t>
            </a:r>
            <a:endParaRPr lang="zh-CN" altLang="zh-CN" sz="2800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815331-AD77-45F4-9842-8F4AF06682C8}" type="slidenum">
              <a:rPr lang="ko-KR" altLang="en-US" smtClean="0"/>
              <a:pPr>
                <a:defRPr/>
              </a:pPr>
              <a:t>24</a:t>
            </a:fld>
            <a:endParaRPr lang="en-US" altLang="ko-KR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561975" y="549275"/>
            <a:ext cx="8020050" cy="647700"/>
          </a:xfrm>
        </p:spPr>
        <p:txBody>
          <a:bodyPr/>
          <a:lstStyle/>
          <a:p>
            <a:r>
              <a:rPr lang="zh-CN" altLang="en-US" dirty="0" smtClean="0">
                <a:solidFill>
                  <a:srgbClr val="0000FF"/>
                </a:solidFill>
              </a:rPr>
              <a:t>第四次作业</a:t>
            </a:r>
          </a:p>
        </p:txBody>
      </p:sp>
    </p:spTree>
    <p:extLst>
      <p:ext uri="{BB962C8B-B14F-4D97-AF65-F5344CB8AC3E}">
        <p14:creationId xmlns:p14="http://schemas.microsoft.com/office/powerpoint/2010/main" val="2051993967"/>
      </p:ext>
    </p:ext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6814" y="764704"/>
            <a:ext cx="8712200" cy="4572000"/>
          </a:xfrm>
        </p:spPr>
        <p:txBody>
          <a:bodyPr/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3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练习：</a:t>
            </a:r>
            <a:r>
              <a:rPr lang="zh-CN" altLang="zh-CN" sz="3000" kern="1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30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G=(a)</a:t>
            </a:r>
            <a:r>
              <a:rPr lang="zh-CN" altLang="zh-CN" sz="30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3000" kern="1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16</a:t>
            </a:r>
            <a:r>
              <a:rPr lang="zh-CN" altLang="zh-CN" sz="3000" kern="1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元</a:t>
            </a:r>
            <a:r>
              <a:rPr lang="zh-CN" altLang="zh-CN" sz="30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循环群，</a:t>
            </a:r>
            <a:endParaRPr lang="zh-CN" altLang="zh-CN" sz="3000" kern="1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30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sz="30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请求出</a:t>
            </a:r>
            <a:r>
              <a:rPr lang="en-US" altLang="zh-CN" sz="30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3000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的所有生成元；</a:t>
            </a:r>
            <a:endParaRPr lang="zh-CN" altLang="zh-CN" sz="3000" kern="1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3000" kern="1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zh-CN" altLang="zh-CN" sz="3000" kern="1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请求出</a:t>
            </a:r>
            <a:r>
              <a:rPr lang="en-US" altLang="zh-CN" sz="3000" kern="1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3000" kern="1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的所有子群。</a:t>
            </a:r>
            <a:endParaRPr lang="en-US" altLang="zh-CN" sz="3000" kern="10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3000" kern="1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解：</a:t>
            </a:r>
            <a:endParaRPr lang="en-US" altLang="zh-CN" sz="3000" kern="100" dirty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3000" kern="10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G</a:t>
            </a:r>
            <a:r>
              <a:rPr lang="zh-CN" altLang="en-US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16</a:t>
            </a:r>
            <a:r>
              <a:rPr lang="zh-CN" altLang="en-US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元循环群， </a:t>
            </a:r>
            <a:r>
              <a:rPr lang="en-US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n=16</a:t>
            </a:r>
            <a:r>
              <a:rPr lang="zh-CN" altLang="en-US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是有限群，根据定理</a:t>
            </a:r>
            <a:r>
              <a:rPr lang="en-US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6.3.6</a:t>
            </a:r>
            <a:r>
              <a:rPr lang="zh-CN" altLang="en-US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000" baseline="30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en-US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(a)</a:t>
            </a:r>
            <a:r>
              <a:rPr lang="zh-CN" altLang="en-US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的生成元当且仅当</a:t>
            </a:r>
            <a:r>
              <a:rPr lang="en-US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en-US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互质，</a:t>
            </a:r>
            <a:r>
              <a:rPr lang="en-US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的所有生成元为</a:t>
            </a:r>
            <a:r>
              <a:rPr lang="en-US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0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0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0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0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0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11</a:t>
            </a:r>
            <a:r>
              <a:rPr lang="zh-CN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0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13</a:t>
            </a:r>
            <a:r>
              <a:rPr lang="zh-CN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0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15</a:t>
            </a:r>
            <a:r>
              <a:rPr lang="zh-CN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zh-CN" altLang="zh-CN" sz="3000" kern="1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defRPr/>
            </a:pPr>
            <a:endParaRPr lang="zh-CN" altLang="en-US" sz="3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9875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AC57D08-CD3F-4188-8C27-60BA442ABA44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ko-KR" sz="1400" smtClean="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7566082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776288"/>
            <a:ext cx="8497887" cy="5472112"/>
          </a:xfrm>
        </p:spPr>
        <p:txBody>
          <a:bodyPr/>
          <a:lstStyle/>
          <a:p>
            <a:pPr marL="0" indent="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8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练习：</a:t>
            </a:r>
            <a:r>
              <a:rPr lang="zh-CN" altLang="zh-CN" sz="2800" kern="1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2800" kern="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G=(a)</a:t>
            </a:r>
            <a:r>
              <a:rPr lang="zh-CN" altLang="zh-CN" sz="2800" kern="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</a:t>
            </a:r>
            <a:r>
              <a:rPr lang="en-US" altLang="zh-CN" sz="2800" kern="1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16</a:t>
            </a:r>
            <a:r>
              <a:rPr lang="zh-CN" altLang="zh-CN" sz="2800" kern="1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元</a:t>
            </a:r>
            <a:r>
              <a:rPr lang="zh-CN" altLang="zh-CN" sz="2800" kern="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循环群，</a:t>
            </a:r>
            <a:endParaRPr lang="zh-CN" altLang="zh-CN" sz="2800" kern="1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800" kern="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1)</a:t>
            </a:r>
            <a:r>
              <a:rPr lang="zh-CN" altLang="zh-CN" sz="2800" kern="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请求出</a:t>
            </a:r>
            <a:r>
              <a:rPr lang="en-US" altLang="zh-CN" sz="2800" kern="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zh-CN" sz="2800" kern="1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的所有生成元；</a:t>
            </a:r>
            <a:endParaRPr lang="zh-CN" altLang="zh-CN" sz="2800" kern="1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800" kern="1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2)</a:t>
            </a:r>
            <a:r>
              <a:rPr lang="zh-CN" altLang="zh-CN" sz="2800" kern="1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请求出</a:t>
            </a:r>
            <a:r>
              <a:rPr lang="en-US" altLang="zh-CN" sz="2800" kern="1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zh-CN" sz="2800" kern="1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的所有子群。</a:t>
            </a:r>
            <a:endParaRPr lang="en-US" altLang="zh-CN" sz="2800" kern="100" dirty="0" smtClean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800" kern="1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解：</a:t>
            </a:r>
            <a:endParaRPr lang="en-US" altLang="zh-CN" sz="2800" kern="100" dirty="0" smtClean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800" kern="1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2) 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只需考虑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16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的正因数次幂生成的子群。</a:t>
            </a:r>
            <a:endParaRPr lang="en-US" altLang="zh-CN" sz="28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16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的因数有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1, 2, 4, 8, 16, 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从而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的子群为：</a:t>
            </a:r>
            <a:endParaRPr lang="en-US" altLang="zh-CN" sz="2800" baseline="300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(a)=G;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</a:t>
            </a:r>
            <a:endParaRPr lang="en-US" altLang="zh-CN" sz="28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</a:t>
            </a:r>
            <a:r>
              <a:rPr lang="en-US" altLang="zh-CN" sz="28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)={1,a</a:t>
            </a:r>
            <a:r>
              <a:rPr lang="en-US" altLang="zh-CN" sz="28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,a</a:t>
            </a:r>
            <a:r>
              <a:rPr lang="en-US" altLang="zh-CN" sz="28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,a</a:t>
            </a:r>
            <a:r>
              <a:rPr lang="en-US" altLang="zh-CN" sz="28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6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,a</a:t>
            </a:r>
            <a:r>
              <a:rPr lang="en-US" altLang="zh-CN" sz="28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8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,a</a:t>
            </a:r>
            <a:r>
              <a:rPr lang="en-US" altLang="zh-CN" sz="28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10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,a</a:t>
            </a:r>
            <a:r>
              <a:rPr lang="en-US" altLang="zh-CN" sz="28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12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,a</a:t>
            </a:r>
            <a:r>
              <a:rPr lang="en-US" altLang="zh-CN" sz="28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14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}</a:t>
            </a:r>
            <a:r>
              <a:rPr lang="zh-CN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;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</a:t>
            </a:r>
            <a:r>
              <a:rPr lang="en-US" altLang="zh-CN" sz="28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)={1,a</a:t>
            </a:r>
            <a:r>
              <a:rPr lang="en-US" altLang="zh-CN" sz="28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,a</a:t>
            </a:r>
            <a:r>
              <a:rPr lang="en-US" altLang="zh-CN" sz="28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8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,a</a:t>
            </a:r>
            <a:r>
              <a:rPr lang="en-US" altLang="zh-CN" sz="28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12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};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</a:t>
            </a:r>
            <a:r>
              <a:rPr lang="en-US" altLang="zh-CN" sz="28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8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)={1,a</a:t>
            </a:r>
            <a:r>
              <a:rPr lang="en-US" altLang="zh-CN" sz="28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8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};</a:t>
            </a:r>
          </a:p>
          <a:p>
            <a:pPr marL="0" indent="0" eaLnBrk="1" hangingPunct="1">
              <a:buNone/>
              <a:defRPr/>
            </a:pP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</a:t>
            </a:r>
            <a:r>
              <a:rPr lang="en-US" altLang="zh-CN" sz="28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16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(1)={1};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zh-CN" altLang="zh-CN" sz="3000" b="1" kern="1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sz="3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089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4A98CE6-0221-44BE-BBF4-4C02D71B3E41}" type="slidenum">
              <a:rPr lang="en-US" altLang="ko-KR" sz="1400" smtClean="0">
                <a:solidFill>
                  <a:srgbClr val="000000"/>
                </a:solidFill>
                <a:latin typeface="-윤명조140" panose="020B0604020202020204" charset="-127"/>
                <a:ea typeface="-윤명조140" panose="020B0604020202020204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ko-KR" sz="1400" smtClean="0">
              <a:solidFill>
                <a:srgbClr val="000000"/>
              </a:solidFill>
              <a:latin typeface="-윤명조140" panose="020B0604020202020204" charset="-127"/>
              <a:ea typeface="-윤명조140" panose="020B060402020202020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5620019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0298" y="572344"/>
            <a:ext cx="8467477" cy="5904656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zh-CN" altLang="en-US" sz="3000" b="1" kern="100" dirty="0" smtClean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随堂练习：</a:t>
            </a:r>
            <a:r>
              <a:rPr lang="zh-CN" altLang="en-US" sz="3000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证明</a:t>
            </a:r>
            <a:r>
              <a:rPr lang="zh-CN" altLang="zh-CN" sz="3000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元</a:t>
            </a:r>
            <a:r>
              <a:rPr lang="zh-CN" altLang="zh-CN" sz="30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数为</a:t>
            </a:r>
            <a:r>
              <a:rPr lang="en-US" altLang="zh-CN" sz="3000" kern="100" dirty="0">
                <a:ea typeface="宋体" panose="02010600030101010101" pitchFamily="2" charset="-122"/>
              </a:rPr>
              <a:t>6</a:t>
            </a:r>
            <a:r>
              <a:rPr lang="zh-CN" altLang="zh-CN" sz="30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的群中一定存在周期是</a:t>
            </a:r>
            <a:r>
              <a:rPr lang="en-US" altLang="zh-CN" sz="3000" kern="100" dirty="0">
                <a:ea typeface="宋体" panose="02010600030101010101" pitchFamily="2" charset="-122"/>
              </a:rPr>
              <a:t>3</a:t>
            </a:r>
            <a:r>
              <a:rPr lang="zh-CN" altLang="zh-CN" sz="30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的元素</a:t>
            </a:r>
            <a:r>
              <a:rPr lang="zh-CN" altLang="zh-CN" sz="3000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3000" kern="100" dirty="0" smtClean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800" kern="100" dirty="0" smtClean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证明：</a:t>
            </a:r>
            <a:r>
              <a:rPr lang="zh-CN" altLang="zh-CN" sz="2800" dirty="0" smtClean="0">
                <a:ea typeface="宋体" panose="02010600030101010101" pitchFamily="2" charset="-122"/>
              </a:rPr>
              <a:t>根据</a:t>
            </a:r>
            <a:r>
              <a:rPr lang="zh-CN" altLang="zh-CN" sz="2800" dirty="0">
                <a:ea typeface="宋体" panose="02010600030101010101" pitchFamily="2" charset="-122"/>
              </a:rPr>
              <a:t>定理</a:t>
            </a:r>
            <a:r>
              <a:rPr lang="en-US" altLang="zh-CN" sz="2800" dirty="0">
                <a:ea typeface="宋体" panose="02010600030101010101" pitchFamily="2" charset="-122"/>
              </a:rPr>
              <a:t>6.3.8</a:t>
            </a:r>
            <a:r>
              <a:rPr lang="zh-CN" altLang="zh-CN" sz="2800" dirty="0">
                <a:ea typeface="宋体" panose="02010600030101010101" pitchFamily="2" charset="-122"/>
              </a:rPr>
              <a:t>，</a:t>
            </a:r>
            <a:r>
              <a:rPr lang="en-US" altLang="zh-CN" sz="2800" dirty="0">
                <a:ea typeface="宋体" panose="02010600030101010101" pitchFamily="2" charset="-122"/>
              </a:rPr>
              <a:t>G</a:t>
            </a:r>
            <a:r>
              <a:rPr lang="zh-CN" altLang="zh-CN" sz="2800" dirty="0">
                <a:ea typeface="宋体" panose="02010600030101010101" pitchFamily="2" charset="-122"/>
              </a:rPr>
              <a:t>中元素的周期是</a:t>
            </a:r>
            <a:r>
              <a:rPr lang="en-US" altLang="zh-CN" sz="2800" dirty="0">
                <a:ea typeface="宋体" panose="02010600030101010101" pitchFamily="2" charset="-122"/>
              </a:rPr>
              <a:t>6</a:t>
            </a:r>
            <a:r>
              <a:rPr lang="zh-CN" altLang="zh-CN" sz="2800" dirty="0">
                <a:ea typeface="宋体" panose="02010600030101010101" pitchFamily="2" charset="-122"/>
              </a:rPr>
              <a:t>的因子，所以</a:t>
            </a:r>
            <a:r>
              <a:rPr lang="en-US" altLang="zh-CN" sz="2800" dirty="0">
                <a:ea typeface="宋体" panose="02010600030101010101" pitchFamily="2" charset="-122"/>
              </a:rPr>
              <a:t>G</a:t>
            </a:r>
            <a:r>
              <a:rPr lang="zh-CN" altLang="zh-CN" sz="2800" dirty="0">
                <a:ea typeface="宋体" panose="02010600030101010101" pitchFamily="2" charset="-122"/>
              </a:rPr>
              <a:t>中只能有周期为</a:t>
            </a:r>
            <a:r>
              <a:rPr lang="en-US" altLang="zh-CN" sz="2800" dirty="0">
                <a:ea typeface="宋体" panose="02010600030101010101" pitchFamily="2" charset="-122"/>
              </a:rPr>
              <a:t>1</a:t>
            </a:r>
            <a:r>
              <a:rPr lang="zh-CN" altLang="zh-CN" sz="2800" dirty="0">
                <a:ea typeface="宋体" panose="02010600030101010101" pitchFamily="2" charset="-122"/>
              </a:rPr>
              <a:t>、</a:t>
            </a:r>
            <a:r>
              <a:rPr lang="en-US" altLang="zh-CN" sz="2800" dirty="0">
                <a:ea typeface="宋体" panose="02010600030101010101" pitchFamily="2" charset="-122"/>
              </a:rPr>
              <a:t>2</a:t>
            </a:r>
            <a:r>
              <a:rPr lang="zh-CN" altLang="zh-CN" sz="2800" dirty="0">
                <a:ea typeface="宋体" panose="02010600030101010101" pitchFamily="2" charset="-122"/>
              </a:rPr>
              <a:t>、</a:t>
            </a:r>
            <a:r>
              <a:rPr lang="en-US" altLang="zh-CN" sz="2800" dirty="0">
                <a:ea typeface="宋体" panose="02010600030101010101" pitchFamily="2" charset="-122"/>
              </a:rPr>
              <a:t>3</a:t>
            </a:r>
            <a:r>
              <a:rPr lang="zh-CN" altLang="zh-CN" sz="2800" dirty="0">
                <a:ea typeface="宋体" panose="02010600030101010101" pitchFamily="2" charset="-122"/>
              </a:rPr>
              <a:t>和</a:t>
            </a:r>
            <a:r>
              <a:rPr lang="en-US" altLang="zh-CN" sz="2800" dirty="0">
                <a:ea typeface="宋体" panose="02010600030101010101" pitchFamily="2" charset="-122"/>
              </a:rPr>
              <a:t>6</a:t>
            </a:r>
            <a:r>
              <a:rPr lang="zh-CN" altLang="zh-CN" sz="2800" dirty="0">
                <a:ea typeface="宋体" panose="02010600030101010101" pitchFamily="2" charset="-122"/>
              </a:rPr>
              <a:t>的元素。</a:t>
            </a:r>
          </a:p>
          <a:p>
            <a:pPr marL="0" indent="0">
              <a:buNone/>
            </a:pPr>
            <a:r>
              <a:rPr lang="zh-CN" altLang="zh-CN" sz="2800" dirty="0">
                <a:ea typeface="宋体" panose="02010600030101010101" pitchFamily="2" charset="-122"/>
              </a:rPr>
              <a:t>但</a:t>
            </a:r>
            <a:r>
              <a:rPr lang="en-US" altLang="zh-CN" sz="2800" dirty="0">
                <a:ea typeface="宋体" panose="02010600030101010101" pitchFamily="2" charset="-122"/>
              </a:rPr>
              <a:t>G</a:t>
            </a:r>
            <a:r>
              <a:rPr lang="zh-CN" altLang="zh-CN" sz="2800" dirty="0">
                <a:ea typeface="宋体" panose="02010600030101010101" pitchFamily="2" charset="-122"/>
              </a:rPr>
              <a:t>中有周期为</a:t>
            </a:r>
            <a:r>
              <a:rPr lang="en-US" altLang="zh-CN" sz="2800" dirty="0">
                <a:ea typeface="宋体" panose="02010600030101010101" pitchFamily="2" charset="-122"/>
              </a:rPr>
              <a:t>6</a:t>
            </a:r>
            <a:r>
              <a:rPr lang="zh-CN" altLang="zh-CN" sz="2800" dirty="0">
                <a:ea typeface="宋体" panose="02010600030101010101" pitchFamily="2" charset="-122"/>
              </a:rPr>
              <a:t>的元素</a:t>
            </a:r>
            <a:r>
              <a:rPr lang="en-US" altLang="zh-CN" sz="2800" dirty="0">
                <a:ea typeface="宋体" panose="02010600030101010101" pitchFamily="2" charset="-122"/>
              </a:rPr>
              <a:t>a</a:t>
            </a:r>
            <a:r>
              <a:rPr lang="zh-CN" altLang="zh-CN" sz="2800" dirty="0">
                <a:ea typeface="宋体" panose="02010600030101010101" pitchFamily="2" charset="-122"/>
              </a:rPr>
              <a:t>时，</a:t>
            </a:r>
            <a:r>
              <a:rPr lang="en-US" altLang="zh-CN" sz="2800" dirty="0">
                <a:ea typeface="宋体" panose="02010600030101010101" pitchFamily="2" charset="-122"/>
              </a:rPr>
              <a:t>a</a:t>
            </a:r>
            <a:r>
              <a:rPr lang="en-US" altLang="zh-CN" sz="2800" baseline="30000" dirty="0">
                <a:ea typeface="宋体" panose="02010600030101010101" pitchFamily="2" charset="-122"/>
              </a:rPr>
              <a:t>2</a:t>
            </a:r>
            <a:r>
              <a:rPr lang="zh-CN" altLang="zh-CN" sz="2800" dirty="0">
                <a:ea typeface="宋体" panose="02010600030101010101" pitchFamily="2" charset="-122"/>
              </a:rPr>
              <a:t>的周期就是</a:t>
            </a:r>
            <a:r>
              <a:rPr lang="en-US" altLang="zh-CN" sz="2800" dirty="0">
                <a:ea typeface="宋体" panose="02010600030101010101" pitchFamily="2" charset="-122"/>
              </a:rPr>
              <a:t>3</a:t>
            </a:r>
            <a:r>
              <a:rPr lang="zh-CN" altLang="zh-CN" sz="2800" dirty="0">
                <a:ea typeface="宋体" panose="02010600030101010101" pitchFamily="2" charset="-122"/>
              </a:rPr>
              <a:t>，得证</a:t>
            </a:r>
            <a:r>
              <a:rPr lang="en-US" altLang="zh-CN" sz="2800" dirty="0">
                <a:ea typeface="宋体" panose="02010600030101010101" pitchFamily="2" charset="-122"/>
              </a:rPr>
              <a:t>.</a:t>
            </a:r>
            <a:endParaRPr lang="zh-CN" altLang="zh-CN" sz="2800" dirty="0">
              <a:ea typeface="宋体" panose="02010600030101010101" pitchFamily="2" charset="-122"/>
            </a:endParaRPr>
          </a:p>
          <a:p>
            <a:pPr marL="0" lvl="0" indent="0">
              <a:buNone/>
            </a:pPr>
            <a:r>
              <a:rPr lang="zh-CN" altLang="zh-CN" sz="2800" dirty="0">
                <a:ea typeface="宋体" panose="02010600030101010101" pitchFamily="2" charset="-122"/>
              </a:rPr>
              <a:t>若</a:t>
            </a:r>
            <a:r>
              <a:rPr lang="en-US" altLang="zh-CN" sz="2800" dirty="0">
                <a:ea typeface="宋体" panose="02010600030101010101" pitchFamily="2" charset="-122"/>
              </a:rPr>
              <a:t>G</a:t>
            </a:r>
            <a:r>
              <a:rPr lang="zh-CN" altLang="zh-CN" sz="2800" dirty="0">
                <a:ea typeface="宋体" panose="02010600030101010101" pitchFamily="2" charset="-122"/>
              </a:rPr>
              <a:t>中不含有周期为</a:t>
            </a:r>
            <a:r>
              <a:rPr lang="en-US" altLang="zh-CN" sz="2800" dirty="0">
                <a:ea typeface="宋体" panose="02010600030101010101" pitchFamily="2" charset="-122"/>
              </a:rPr>
              <a:t>6</a:t>
            </a:r>
            <a:r>
              <a:rPr lang="zh-CN" altLang="zh-CN" sz="2800" dirty="0">
                <a:ea typeface="宋体" panose="02010600030101010101" pitchFamily="2" charset="-122"/>
              </a:rPr>
              <a:t>的元素，则</a:t>
            </a:r>
            <a:r>
              <a:rPr lang="en-US" altLang="zh-CN" sz="2800" dirty="0">
                <a:ea typeface="宋体" panose="02010600030101010101" pitchFamily="2" charset="-122"/>
              </a:rPr>
              <a:t>G</a:t>
            </a:r>
            <a:r>
              <a:rPr lang="zh-CN" altLang="zh-CN" sz="2800" dirty="0">
                <a:ea typeface="宋体" panose="02010600030101010101" pitchFamily="2" charset="-122"/>
              </a:rPr>
              <a:t>中除</a:t>
            </a:r>
            <a:r>
              <a:rPr lang="en-US" altLang="zh-CN" sz="2800" dirty="0">
                <a:ea typeface="宋体" panose="02010600030101010101" pitchFamily="2" charset="-122"/>
              </a:rPr>
              <a:t>1</a:t>
            </a:r>
            <a:r>
              <a:rPr lang="zh-CN" altLang="zh-CN" sz="2800" dirty="0">
                <a:ea typeface="宋体" panose="02010600030101010101" pitchFamily="2" charset="-122"/>
              </a:rPr>
              <a:t>外，元素周期只能为</a:t>
            </a:r>
            <a:r>
              <a:rPr lang="en-US" altLang="zh-CN" sz="2800" dirty="0">
                <a:ea typeface="宋体" panose="02010600030101010101" pitchFamily="2" charset="-122"/>
              </a:rPr>
              <a:t>2</a:t>
            </a:r>
            <a:r>
              <a:rPr lang="zh-CN" altLang="zh-CN" sz="2800" dirty="0">
                <a:ea typeface="宋体" panose="02010600030101010101" pitchFamily="2" charset="-122"/>
              </a:rPr>
              <a:t>或</a:t>
            </a:r>
            <a:r>
              <a:rPr lang="en-US" altLang="zh-CN" sz="2800" dirty="0">
                <a:ea typeface="宋体" panose="02010600030101010101" pitchFamily="2" charset="-122"/>
              </a:rPr>
              <a:t>3</a:t>
            </a:r>
            <a:r>
              <a:rPr lang="zh-CN" altLang="zh-CN" sz="2800" dirty="0">
                <a:ea typeface="宋体" panose="02010600030101010101" pitchFamily="2" charset="-122"/>
              </a:rPr>
              <a:t>。下面用反证法证明</a:t>
            </a:r>
            <a:r>
              <a:rPr lang="en-US" altLang="zh-CN" sz="2800" dirty="0">
                <a:ea typeface="宋体" panose="02010600030101010101" pitchFamily="2" charset="-122"/>
              </a:rPr>
              <a:t>G</a:t>
            </a:r>
            <a:r>
              <a:rPr lang="zh-CN" altLang="zh-CN" sz="2800" dirty="0">
                <a:ea typeface="宋体" panose="02010600030101010101" pitchFamily="2" charset="-122"/>
              </a:rPr>
              <a:t>中必含周期为</a:t>
            </a:r>
            <a:r>
              <a:rPr lang="en-US" altLang="zh-CN" sz="2800" dirty="0">
                <a:ea typeface="宋体" panose="02010600030101010101" pitchFamily="2" charset="-122"/>
              </a:rPr>
              <a:t>3</a:t>
            </a:r>
            <a:r>
              <a:rPr lang="zh-CN" altLang="zh-CN" sz="2800" dirty="0">
                <a:ea typeface="宋体" panose="02010600030101010101" pitchFamily="2" charset="-122"/>
              </a:rPr>
              <a:t>的元素。</a:t>
            </a:r>
          </a:p>
          <a:p>
            <a:pPr marL="0" lvl="0" indent="0">
              <a:buNone/>
            </a:pPr>
            <a:r>
              <a:rPr lang="zh-CN" altLang="zh-CN" sz="2800" dirty="0">
                <a:ea typeface="宋体" panose="02010600030101010101" pitchFamily="2" charset="-122"/>
              </a:rPr>
              <a:t>若不然</a:t>
            </a:r>
            <a:r>
              <a:rPr lang="en-US" altLang="zh-CN" sz="2800" dirty="0">
                <a:ea typeface="宋体" panose="02010600030101010101" pitchFamily="2" charset="-122"/>
              </a:rPr>
              <a:t>G</a:t>
            </a:r>
            <a:r>
              <a:rPr lang="zh-CN" altLang="zh-CN" sz="2800" dirty="0">
                <a:ea typeface="宋体" panose="02010600030101010101" pitchFamily="2" charset="-122"/>
              </a:rPr>
              <a:t>中所有元素</a:t>
            </a:r>
            <a:r>
              <a:rPr lang="en-US" altLang="zh-CN" sz="2800" dirty="0">
                <a:ea typeface="宋体" panose="02010600030101010101" pitchFamily="2" charset="-122"/>
              </a:rPr>
              <a:t>a</a:t>
            </a:r>
            <a:r>
              <a:rPr lang="zh-CN" altLang="zh-CN" sz="2800" dirty="0">
                <a:ea typeface="宋体" panose="02010600030101010101" pitchFamily="2" charset="-122"/>
              </a:rPr>
              <a:t>，满足</a:t>
            </a:r>
            <a:r>
              <a:rPr lang="en-US" altLang="zh-CN" sz="2800" dirty="0">
                <a:ea typeface="宋体" panose="02010600030101010101" pitchFamily="2" charset="-122"/>
              </a:rPr>
              <a:t>a</a:t>
            </a:r>
            <a:r>
              <a:rPr lang="en-US" altLang="zh-CN" sz="2800" baseline="30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=1</a:t>
            </a:r>
            <a:r>
              <a:rPr lang="zh-CN" altLang="zh-CN" sz="2800" dirty="0">
                <a:ea typeface="宋体" panose="02010600030101010101" pitchFamily="2" charset="-122"/>
              </a:rPr>
              <a:t>，即</a:t>
            </a:r>
            <a:r>
              <a:rPr lang="en-US" altLang="zh-CN" sz="2800" dirty="0">
                <a:ea typeface="宋体" panose="02010600030101010101" pitchFamily="2" charset="-122"/>
              </a:rPr>
              <a:t>a=a</a:t>
            </a:r>
            <a:r>
              <a:rPr lang="en-US" altLang="zh-CN" sz="2800" baseline="30000" dirty="0">
                <a:ea typeface="宋体" panose="02010600030101010101" pitchFamily="2" charset="-122"/>
              </a:rPr>
              <a:t>-1</a:t>
            </a:r>
            <a:r>
              <a:rPr lang="zh-CN" altLang="zh-CN" sz="2800" dirty="0">
                <a:ea typeface="宋体" panose="02010600030101010101" pitchFamily="2" charset="-122"/>
              </a:rPr>
              <a:t>。任取</a:t>
            </a:r>
            <a:r>
              <a:rPr lang="en-US" altLang="zh-CN" sz="2800" dirty="0">
                <a:ea typeface="宋体" panose="02010600030101010101" pitchFamily="2" charset="-122"/>
              </a:rPr>
              <a:t>G</a:t>
            </a:r>
            <a:r>
              <a:rPr lang="zh-CN" altLang="zh-CN" sz="2800" dirty="0">
                <a:ea typeface="宋体" panose="02010600030101010101" pitchFamily="2" charset="-122"/>
              </a:rPr>
              <a:t>中</a:t>
            </a:r>
            <a:r>
              <a:rPr lang="en-US" altLang="zh-CN" sz="2800" dirty="0">
                <a:ea typeface="宋体" panose="02010600030101010101" pitchFamily="2" charset="-122"/>
              </a:rPr>
              <a:t>a, b</a:t>
            </a:r>
            <a:r>
              <a:rPr lang="zh-CN" altLang="zh-CN" sz="2800" dirty="0">
                <a:ea typeface="宋体" panose="02010600030101010101" pitchFamily="2" charset="-122"/>
              </a:rPr>
              <a:t>有</a:t>
            </a:r>
            <a:r>
              <a:rPr lang="en-US" altLang="zh-CN" sz="2800" dirty="0">
                <a:ea typeface="宋体" panose="02010600030101010101" pitchFamily="2" charset="-122"/>
              </a:rPr>
              <a:t>ab=(ab)</a:t>
            </a:r>
            <a:r>
              <a:rPr lang="en-US" altLang="zh-CN" sz="2800" baseline="30000" dirty="0">
                <a:ea typeface="宋体" panose="02010600030101010101" pitchFamily="2" charset="-122"/>
              </a:rPr>
              <a:t>-1</a:t>
            </a:r>
            <a:r>
              <a:rPr lang="en-US" altLang="zh-CN" sz="2800" dirty="0">
                <a:ea typeface="宋体" panose="02010600030101010101" pitchFamily="2" charset="-122"/>
              </a:rPr>
              <a:t>=b</a:t>
            </a:r>
            <a:r>
              <a:rPr lang="en-US" altLang="zh-CN" sz="2800" baseline="30000" dirty="0">
                <a:ea typeface="宋体" panose="02010600030101010101" pitchFamily="2" charset="-122"/>
              </a:rPr>
              <a:t>-1</a:t>
            </a:r>
            <a:r>
              <a:rPr lang="en-US" altLang="zh-CN" sz="2800" dirty="0">
                <a:ea typeface="宋体" panose="02010600030101010101" pitchFamily="2" charset="-122"/>
              </a:rPr>
              <a:t>a</a:t>
            </a:r>
            <a:r>
              <a:rPr lang="en-US" altLang="zh-CN" sz="2800" baseline="30000" dirty="0">
                <a:ea typeface="宋体" panose="02010600030101010101" pitchFamily="2" charset="-122"/>
              </a:rPr>
              <a:t>-1</a:t>
            </a:r>
            <a:r>
              <a:rPr lang="en-US" altLang="zh-CN" sz="2800" dirty="0">
                <a:ea typeface="宋体" panose="02010600030101010101" pitchFamily="2" charset="-122"/>
              </a:rPr>
              <a:t>=</a:t>
            </a:r>
            <a:r>
              <a:rPr lang="en-US" altLang="zh-CN" sz="2800" dirty="0" err="1">
                <a:ea typeface="宋体" panose="02010600030101010101" pitchFamily="2" charset="-122"/>
              </a:rPr>
              <a:t>ba</a:t>
            </a:r>
            <a:r>
              <a:rPr lang="zh-CN" altLang="zh-CN" sz="2800" dirty="0">
                <a:ea typeface="宋体" panose="02010600030101010101" pitchFamily="2" charset="-122"/>
              </a:rPr>
              <a:t>，</a:t>
            </a:r>
            <a:r>
              <a:rPr lang="en-US" altLang="zh-CN" sz="2800" dirty="0">
                <a:ea typeface="宋体" panose="02010600030101010101" pitchFamily="2" charset="-122"/>
              </a:rPr>
              <a:t>G</a:t>
            </a:r>
            <a:r>
              <a:rPr lang="zh-CN" altLang="zh-CN" sz="2800" dirty="0">
                <a:ea typeface="宋体" panose="02010600030101010101" pitchFamily="2" charset="-122"/>
              </a:rPr>
              <a:t>是</a:t>
            </a:r>
            <a:r>
              <a:rPr lang="en-US" altLang="zh-CN" sz="2800" dirty="0">
                <a:ea typeface="宋体" panose="02010600030101010101" pitchFamily="2" charset="-122"/>
              </a:rPr>
              <a:t>Abel</a:t>
            </a:r>
            <a:r>
              <a:rPr lang="zh-CN" altLang="zh-CN" sz="2800" dirty="0">
                <a:ea typeface="宋体" panose="02010600030101010101" pitchFamily="2" charset="-122"/>
              </a:rPr>
              <a:t>群。</a:t>
            </a:r>
          </a:p>
          <a:p>
            <a:pPr marL="0" lvl="0" indent="0">
              <a:buNone/>
            </a:pPr>
            <a:r>
              <a:rPr lang="zh-CN" altLang="zh-CN" sz="2800" dirty="0">
                <a:ea typeface="宋体" panose="02010600030101010101" pitchFamily="2" charset="-122"/>
              </a:rPr>
              <a:t>取</a:t>
            </a:r>
            <a:r>
              <a:rPr lang="en-US" altLang="zh-CN" sz="2800" dirty="0">
                <a:ea typeface="宋体" panose="02010600030101010101" pitchFamily="2" charset="-122"/>
              </a:rPr>
              <a:t>G</a:t>
            </a:r>
            <a:r>
              <a:rPr lang="zh-CN" altLang="zh-CN" sz="2800" dirty="0">
                <a:ea typeface="宋体" panose="02010600030101010101" pitchFamily="2" charset="-122"/>
              </a:rPr>
              <a:t>中非</a:t>
            </a:r>
            <a:r>
              <a:rPr lang="en-US" altLang="zh-CN" sz="2800" dirty="0">
                <a:ea typeface="宋体" panose="02010600030101010101" pitchFamily="2" charset="-122"/>
              </a:rPr>
              <a:t>1</a:t>
            </a:r>
            <a:r>
              <a:rPr lang="zh-CN" altLang="zh-CN" sz="2800" dirty="0">
                <a:ea typeface="宋体" panose="02010600030101010101" pitchFamily="2" charset="-122"/>
              </a:rPr>
              <a:t>的</a:t>
            </a:r>
            <a:r>
              <a:rPr lang="en-US" altLang="zh-CN" sz="2800" dirty="0">
                <a:ea typeface="宋体" panose="02010600030101010101" pitchFamily="2" charset="-122"/>
              </a:rPr>
              <a:t>a</a:t>
            </a:r>
            <a:r>
              <a:rPr lang="zh-CN" altLang="zh-CN" sz="2800" dirty="0">
                <a:ea typeface="宋体" panose="02010600030101010101" pitchFamily="2" charset="-122"/>
              </a:rPr>
              <a:t>和</a:t>
            </a:r>
            <a:r>
              <a:rPr lang="en-US" altLang="zh-CN" sz="2800" dirty="0">
                <a:ea typeface="宋体" panose="02010600030101010101" pitchFamily="2" charset="-122"/>
              </a:rPr>
              <a:t>b</a:t>
            </a:r>
            <a:r>
              <a:rPr lang="zh-CN" altLang="zh-CN" sz="2800" dirty="0">
                <a:ea typeface="宋体" panose="02010600030101010101" pitchFamily="2" charset="-122"/>
              </a:rPr>
              <a:t>，令</a:t>
            </a:r>
            <a:r>
              <a:rPr lang="en-US" altLang="zh-CN" sz="2800" dirty="0">
                <a:ea typeface="宋体" panose="02010600030101010101" pitchFamily="2" charset="-122"/>
              </a:rPr>
              <a:t>H={1,a,b,ab}</a:t>
            </a:r>
            <a:r>
              <a:rPr lang="zh-CN" altLang="zh-CN" sz="2800" dirty="0">
                <a:ea typeface="宋体" panose="02010600030101010101" pitchFamily="2" charset="-122"/>
              </a:rPr>
              <a:t>，使用子群判定定理，易证</a:t>
            </a:r>
            <a:r>
              <a:rPr lang="en-US" altLang="zh-CN" sz="2800" dirty="0">
                <a:ea typeface="宋体" panose="02010600030101010101" pitchFamily="2" charset="-122"/>
              </a:rPr>
              <a:t>H</a:t>
            </a:r>
            <a:r>
              <a:rPr lang="zh-CN" altLang="zh-CN" sz="2800" dirty="0">
                <a:ea typeface="宋体" panose="02010600030101010101" pitchFamily="2" charset="-122"/>
              </a:rPr>
              <a:t>是</a:t>
            </a:r>
            <a:r>
              <a:rPr lang="en-US" altLang="zh-CN" sz="2800" dirty="0">
                <a:ea typeface="宋体" panose="02010600030101010101" pitchFamily="2" charset="-122"/>
              </a:rPr>
              <a:t>G</a:t>
            </a:r>
            <a:r>
              <a:rPr lang="zh-CN" altLang="zh-CN" sz="2800" dirty="0">
                <a:ea typeface="宋体" panose="02010600030101010101" pitchFamily="2" charset="-122"/>
              </a:rPr>
              <a:t>的子群且有</a:t>
            </a:r>
            <a:r>
              <a:rPr lang="en-US" altLang="zh-CN" sz="2800" dirty="0">
                <a:ea typeface="宋体" panose="02010600030101010101" pitchFamily="2" charset="-122"/>
              </a:rPr>
              <a:t>4</a:t>
            </a:r>
            <a:r>
              <a:rPr lang="zh-CN" altLang="zh-CN" sz="2800" dirty="0">
                <a:ea typeface="宋体" panose="02010600030101010101" pitchFamily="2" charset="-122"/>
              </a:rPr>
              <a:t>个元素，与</a:t>
            </a:r>
            <a:r>
              <a:rPr lang="en-US" altLang="zh-CN" sz="2800" dirty="0">
                <a:ea typeface="宋体" panose="02010600030101010101" pitchFamily="2" charset="-122"/>
              </a:rPr>
              <a:t>Lagrange</a:t>
            </a:r>
            <a:r>
              <a:rPr lang="zh-CN" altLang="zh-CN" sz="2800" dirty="0">
                <a:ea typeface="宋体" panose="02010600030101010101" pitchFamily="2" charset="-122"/>
              </a:rPr>
              <a:t>定理矛盾，则得证。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058FE3F-1683-41DA-A542-13489F2A23AF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27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191791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88" y="620688"/>
            <a:ext cx="8301037" cy="5689178"/>
          </a:xfrm>
        </p:spPr>
        <p:txBody>
          <a:bodyPr/>
          <a:lstStyle/>
          <a:p>
            <a:pPr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228600" algn="l"/>
              </a:tabLst>
              <a:defRPr/>
            </a:pPr>
            <a:r>
              <a:rPr lang="zh-CN" altLang="en-US" sz="3000" b="1" kern="100" dirty="0" smtClean="0">
                <a:solidFill>
                  <a:srgbClr val="0000FF"/>
                </a:solidFill>
                <a:ea typeface="宋体" panose="02010600030101010101" pitchFamily="2" charset="-122"/>
              </a:rPr>
              <a:t>随堂练习：</a:t>
            </a:r>
            <a:r>
              <a:rPr lang="zh-CN" altLang="zh-CN" sz="3000" kern="100" dirty="0" smtClean="0">
                <a:ea typeface="宋体" panose="02010600030101010101" pitchFamily="2" charset="-122"/>
              </a:rPr>
              <a:t>证明对于</a:t>
            </a:r>
            <a:r>
              <a:rPr lang="zh-CN" altLang="zh-CN" sz="3000" kern="100" dirty="0">
                <a:ea typeface="宋体" panose="02010600030101010101" pitchFamily="2" charset="-122"/>
              </a:rPr>
              <a:t>群</a:t>
            </a:r>
            <a:r>
              <a:rPr lang="en-US" altLang="zh-CN" sz="3000" kern="100" dirty="0">
                <a:ea typeface="宋体" panose="02010600030101010101" pitchFamily="2" charset="-122"/>
              </a:rPr>
              <a:t>(G,*)</a:t>
            </a:r>
            <a:r>
              <a:rPr lang="zh-CN" altLang="zh-CN" sz="3000" kern="100" dirty="0">
                <a:ea typeface="宋体" panose="02010600030101010101" pitchFamily="2" charset="-122"/>
              </a:rPr>
              <a:t>中任意元素</a:t>
            </a:r>
            <a:r>
              <a:rPr lang="en-US" altLang="zh-CN" sz="3000" kern="100" dirty="0">
                <a:ea typeface="宋体" panose="02010600030101010101" pitchFamily="2" charset="-122"/>
              </a:rPr>
              <a:t>a</a:t>
            </a:r>
            <a:r>
              <a:rPr lang="en-US" altLang="zh-CN" sz="3000" kern="100" dirty="0" smtClean="0">
                <a:ea typeface="宋体" panose="02010600030101010101" pitchFamily="2" charset="-122"/>
              </a:rPr>
              <a:t>, b</a:t>
            </a:r>
            <a:r>
              <a:rPr lang="en-US" altLang="zh-CN" sz="3000" kern="100" dirty="0">
                <a:ea typeface="宋体" panose="02010600030101010101" pitchFamily="2" charset="-122"/>
              </a:rPr>
              <a:t>, </a:t>
            </a:r>
            <a:r>
              <a:rPr lang="zh-CN" altLang="zh-CN" sz="3000" kern="100" dirty="0">
                <a:ea typeface="宋体" panose="02010600030101010101" pitchFamily="2" charset="-122"/>
              </a:rPr>
              <a:t>元素</a:t>
            </a:r>
            <a:r>
              <a:rPr lang="en-US" altLang="zh-CN" sz="3000" kern="100" dirty="0">
                <a:ea typeface="宋体" panose="02010600030101010101" pitchFamily="2" charset="-122"/>
              </a:rPr>
              <a:t>ab</a:t>
            </a:r>
            <a:r>
              <a:rPr lang="zh-CN" altLang="zh-CN" sz="3000" kern="100" dirty="0">
                <a:ea typeface="宋体" panose="02010600030101010101" pitchFamily="2" charset="-122"/>
              </a:rPr>
              <a:t>和元素</a:t>
            </a:r>
            <a:r>
              <a:rPr lang="en-US" altLang="zh-CN" sz="3000" kern="100" dirty="0" err="1">
                <a:ea typeface="宋体" panose="02010600030101010101" pitchFamily="2" charset="-122"/>
              </a:rPr>
              <a:t>ba</a:t>
            </a:r>
            <a:r>
              <a:rPr lang="zh-CN" altLang="zh-CN" sz="3000" kern="100" dirty="0">
                <a:ea typeface="宋体" panose="02010600030101010101" pitchFamily="2" charset="-122"/>
              </a:rPr>
              <a:t>的周期都相同。</a:t>
            </a:r>
            <a:endParaRPr lang="zh-CN" altLang="zh-CN" sz="3000" kern="100" dirty="0" smtClean="0">
              <a:ea typeface="宋体" panose="02010600030101010101" pitchFamily="2" charset="-122"/>
            </a:endParaRPr>
          </a:p>
          <a:p>
            <a:pPr marL="0" indent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tabLst>
                <a:tab pos="228600" algn="l"/>
              </a:tabLst>
              <a:defRPr/>
            </a:pPr>
            <a:r>
              <a:rPr lang="zh-CN" altLang="zh-CN" sz="3000" kern="100" dirty="0" smtClean="0">
                <a:solidFill>
                  <a:srgbClr val="0000FF"/>
                </a:solidFill>
                <a:ea typeface="宋体" panose="02010600030101010101" pitchFamily="2" charset="-122"/>
              </a:rPr>
              <a:t>证明</a:t>
            </a:r>
            <a:r>
              <a:rPr lang="zh-CN" altLang="zh-CN" sz="3000" kern="100" dirty="0">
                <a:solidFill>
                  <a:srgbClr val="0000FF"/>
                </a:solidFill>
                <a:ea typeface="宋体" panose="02010600030101010101" pitchFamily="2" charset="-122"/>
              </a:rPr>
              <a:t>：</a:t>
            </a:r>
            <a:r>
              <a:rPr lang="en-US" altLang="zh-CN" sz="3000" kern="100" dirty="0">
                <a:ea typeface="宋体" panose="02010600030101010101" pitchFamily="2" charset="-122"/>
              </a:rPr>
              <a:t>1)</a:t>
            </a:r>
            <a:r>
              <a:rPr lang="zh-CN" altLang="zh-CN" sz="3000" kern="100" dirty="0">
                <a:ea typeface="宋体" panose="02010600030101010101" pitchFamily="2" charset="-122"/>
              </a:rPr>
              <a:t>如果元素</a:t>
            </a:r>
            <a:r>
              <a:rPr lang="en-US" altLang="zh-CN" sz="3000" kern="100" dirty="0">
                <a:ea typeface="宋体" panose="02010600030101010101" pitchFamily="2" charset="-122"/>
              </a:rPr>
              <a:t>ab</a:t>
            </a:r>
            <a:r>
              <a:rPr lang="zh-CN" altLang="zh-CN" sz="3000" kern="100" dirty="0">
                <a:ea typeface="宋体" panose="02010600030101010101" pitchFamily="2" charset="-122"/>
              </a:rPr>
              <a:t>和元素</a:t>
            </a:r>
            <a:r>
              <a:rPr lang="en-US" altLang="zh-CN" sz="3000" kern="100" dirty="0" err="1">
                <a:ea typeface="宋体" panose="02010600030101010101" pitchFamily="2" charset="-122"/>
              </a:rPr>
              <a:t>ba</a:t>
            </a:r>
            <a:r>
              <a:rPr lang="zh-CN" altLang="zh-CN" sz="3000" kern="100" dirty="0">
                <a:ea typeface="宋体" panose="02010600030101010101" pitchFamily="2" charset="-122"/>
              </a:rPr>
              <a:t>的周期均为</a:t>
            </a:r>
            <a:r>
              <a:rPr lang="en-US" altLang="zh-CN" sz="3000" kern="100" dirty="0">
                <a:ea typeface="宋体" panose="02010600030101010101" pitchFamily="2" charset="-122"/>
              </a:rPr>
              <a:t>0</a:t>
            </a:r>
            <a:r>
              <a:rPr lang="zh-CN" altLang="zh-CN" sz="3000" kern="100" dirty="0">
                <a:ea typeface="宋体" panose="02010600030101010101" pitchFamily="2" charset="-122"/>
              </a:rPr>
              <a:t>，则他们的周期相同。</a:t>
            </a:r>
            <a:endParaRPr lang="zh-CN" altLang="zh-CN" sz="3000" kern="100" dirty="0" smtClean="0">
              <a:ea typeface="宋体" panose="02010600030101010101" pitchFamily="2" charset="-122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kern="100" dirty="0" smtClean="0">
                <a:ea typeface="宋体" panose="02010600030101010101" pitchFamily="2" charset="-122"/>
              </a:rPr>
              <a:t>2</a:t>
            </a:r>
            <a:r>
              <a:rPr lang="en-US" altLang="zh-CN" sz="3000" kern="100" dirty="0">
                <a:ea typeface="宋体" panose="02010600030101010101" pitchFamily="2" charset="-122"/>
              </a:rPr>
              <a:t>)</a:t>
            </a:r>
            <a:r>
              <a:rPr lang="zh-CN" altLang="zh-CN" sz="30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如果元素</a:t>
            </a:r>
            <a:r>
              <a:rPr lang="en-US" altLang="zh-CN" sz="3000" kern="100" dirty="0">
                <a:ea typeface="宋体" panose="02010600030101010101" pitchFamily="2" charset="-122"/>
              </a:rPr>
              <a:t>ab</a:t>
            </a:r>
            <a:r>
              <a:rPr lang="zh-CN" altLang="zh-CN" sz="30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的周期为整数</a:t>
            </a:r>
            <a:r>
              <a:rPr lang="en-US" altLang="zh-CN" sz="3000" kern="100" dirty="0">
                <a:ea typeface="宋体" panose="02010600030101010101" pitchFamily="2" charset="-122"/>
              </a:rPr>
              <a:t>m</a:t>
            </a:r>
            <a:r>
              <a:rPr lang="zh-CN" altLang="zh-CN" sz="30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，即</a:t>
            </a:r>
            <a:r>
              <a:rPr lang="en-US" altLang="zh-CN" sz="3000" kern="100" dirty="0">
                <a:ea typeface="宋体" panose="02010600030101010101" pitchFamily="2" charset="-122"/>
              </a:rPr>
              <a:t>(</a:t>
            </a:r>
            <a:r>
              <a:rPr lang="en-US" altLang="zh-CN" sz="3000" kern="100" dirty="0" smtClean="0">
                <a:ea typeface="宋体" panose="02010600030101010101" pitchFamily="2" charset="-122"/>
              </a:rPr>
              <a:t>ab)</a:t>
            </a:r>
            <a:r>
              <a:rPr lang="en-US" altLang="zh-CN" sz="3000" kern="100" baseline="30000" dirty="0" smtClean="0">
                <a:ea typeface="宋体" panose="02010600030101010101" pitchFamily="2" charset="-122"/>
              </a:rPr>
              <a:t>m</a:t>
            </a:r>
            <a:r>
              <a:rPr lang="en-US" altLang="zh-CN" sz="3000" kern="100" dirty="0" smtClean="0">
                <a:ea typeface="宋体" panose="02010600030101010101" pitchFamily="2" charset="-122"/>
              </a:rPr>
              <a:t>=1</a:t>
            </a:r>
            <a:r>
              <a:rPr lang="zh-CN" altLang="en-US" sz="3000" kern="100" dirty="0" smtClean="0">
                <a:ea typeface="宋体" panose="02010600030101010101" pitchFamily="2" charset="-122"/>
              </a:rPr>
              <a:t>。        </a:t>
            </a:r>
            <a:r>
              <a:rPr lang="it-IT" altLang="zh-CN" sz="3000" kern="100" dirty="0" smtClean="0">
                <a:ea typeface="宋体" panose="02010600030101010101" pitchFamily="2" charset="-122"/>
              </a:rPr>
              <a:t> </a:t>
            </a:r>
            <a:r>
              <a:rPr lang="it-IT" altLang="zh-CN" sz="3000" kern="100" dirty="0">
                <a:ea typeface="宋体" panose="02010600030101010101" pitchFamily="2" charset="-122"/>
              </a:rPr>
              <a:t>(ba)</a:t>
            </a:r>
            <a:r>
              <a:rPr lang="it-IT" altLang="zh-CN" sz="3000" kern="100" baseline="30000" dirty="0">
                <a:ea typeface="宋体" panose="02010600030101010101" pitchFamily="2" charset="-122"/>
              </a:rPr>
              <a:t>m+1</a:t>
            </a:r>
            <a:r>
              <a:rPr lang="it-IT" altLang="zh-CN" sz="3000" kern="100" dirty="0">
                <a:ea typeface="宋体" panose="02010600030101010101" pitchFamily="2" charset="-122"/>
              </a:rPr>
              <a:t>=b(ab)</a:t>
            </a:r>
            <a:r>
              <a:rPr lang="it-IT" altLang="zh-CN" sz="3000" kern="100" baseline="30000" dirty="0">
                <a:ea typeface="宋体" panose="02010600030101010101" pitchFamily="2" charset="-122"/>
              </a:rPr>
              <a:t>m</a:t>
            </a:r>
            <a:r>
              <a:rPr lang="it-IT" altLang="zh-CN" sz="3000" kern="100" dirty="0">
                <a:ea typeface="宋体" panose="02010600030101010101" pitchFamily="2" charset="-122"/>
              </a:rPr>
              <a:t>a=ba</a:t>
            </a:r>
            <a:r>
              <a:rPr lang="zh-CN" altLang="zh-CN" sz="30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，即</a:t>
            </a:r>
            <a:r>
              <a:rPr lang="it-IT" altLang="zh-CN" sz="3000" kern="100" dirty="0">
                <a:ea typeface="宋体" panose="02010600030101010101" pitchFamily="2" charset="-122"/>
              </a:rPr>
              <a:t>(ba)</a:t>
            </a:r>
            <a:r>
              <a:rPr lang="it-IT" altLang="zh-CN" sz="3000" kern="100" baseline="30000" dirty="0">
                <a:ea typeface="宋体" panose="02010600030101010101" pitchFamily="2" charset="-122"/>
              </a:rPr>
              <a:t>m</a:t>
            </a:r>
            <a:r>
              <a:rPr lang="it-IT" altLang="zh-CN" sz="3000" kern="100" dirty="0">
                <a:ea typeface="宋体" panose="02010600030101010101" pitchFamily="2" charset="-122"/>
              </a:rPr>
              <a:t>=1</a:t>
            </a:r>
            <a:r>
              <a:rPr lang="zh-CN" altLang="zh-CN" sz="30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。设</a:t>
            </a:r>
            <a:r>
              <a:rPr lang="it-IT" altLang="zh-CN" sz="3000" kern="100" dirty="0">
                <a:ea typeface="宋体" panose="02010600030101010101" pitchFamily="2" charset="-122"/>
              </a:rPr>
              <a:t>ba</a:t>
            </a:r>
            <a:r>
              <a:rPr lang="zh-CN" altLang="zh-CN" sz="30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的周期为整数</a:t>
            </a:r>
            <a:r>
              <a:rPr lang="it-IT" altLang="zh-CN" sz="3000" kern="100" dirty="0">
                <a:ea typeface="宋体" panose="02010600030101010101" pitchFamily="2" charset="-122"/>
              </a:rPr>
              <a:t>n</a:t>
            </a:r>
            <a:r>
              <a:rPr lang="zh-CN" altLang="zh-CN" sz="30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，则</a:t>
            </a:r>
            <a:r>
              <a:rPr lang="it-IT" altLang="zh-CN" sz="3000" kern="100" dirty="0">
                <a:ea typeface="宋体" panose="02010600030101010101" pitchFamily="2" charset="-122"/>
              </a:rPr>
              <a:t>n|m</a:t>
            </a:r>
            <a:r>
              <a:rPr lang="zh-CN" altLang="zh-CN" sz="3000" kern="100" dirty="0">
                <a:ea typeface="宋体" panose="02010600030101010101" pitchFamily="2" charset="-122"/>
                <a:cs typeface="Times New Roman" panose="02020603050405020304" pitchFamily="18" charset="0"/>
              </a:rPr>
              <a:t>。又因为</a:t>
            </a:r>
            <a:r>
              <a:rPr lang="it-IT" altLang="zh-CN" sz="3000" kern="100" dirty="0">
                <a:ea typeface="宋体" panose="02010600030101010101" pitchFamily="2" charset="-122"/>
              </a:rPr>
              <a:t>(ba)</a:t>
            </a:r>
            <a:r>
              <a:rPr lang="it-IT" altLang="zh-CN" sz="3000" kern="100" baseline="30000" dirty="0">
                <a:ea typeface="宋体" panose="02010600030101010101" pitchFamily="2" charset="-122"/>
              </a:rPr>
              <a:t>n</a:t>
            </a:r>
            <a:r>
              <a:rPr lang="it-IT" altLang="zh-CN" sz="3000" kern="100" dirty="0">
                <a:ea typeface="宋体" panose="02010600030101010101" pitchFamily="2" charset="-122"/>
              </a:rPr>
              <a:t>=1</a:t>
            </a:r>
            <a:r>
              <a:rPr lang="zh-CN" altLang="zh-CN" sz="3000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it-IT" sz="3000" dirty="0"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r>
              <a:rPr lang="it-IT" altLang="zh-CN" sz="3000" dirty="0" smtClean="0">
                <a:ea typeface="宋体" panose="02010600030101010101" pitchFamily="2" charset="-122"/>
              </a:rPr>
              <a:t>b(ab)</a:t>
            </a:r>
            <a:r>
              <a:rPr lang="it-IT" altLang="zh-CN" sz="3000" baseline="30000" dirty="0" smtClean="0">
                <a:ea typeface="宋体" panose="02010600030101010101" pitchFamily="2" charset="-122"/>
              </a:rPr>
              <a:t>n-1</a:t>
            </a:r>
            <a:r>
              <a:rPr lang="it-IT" altLang="zh-CN" sz="3000" dirty="0" smtClean="0">
                <a:ea typeface="宋体" panose="02010600030101010101" pitchFamily="2" charset="-122"/>
              </a:rPr>
              <a:t>a=1</a:t>
            </a:r>
            <a:r>
              <a:rPr lang="zh-CN" altLang="en-US" sz="3000" dirty="0" smtClean="0">
                <a:ea typeface="宋体" panose="02010600030101010101" pitchFamily="2" charset="-122"/>
              </a:rPr>
              <a:t>，</a:t>
            </a:r>
            <a:endParaRPr lang="en-US" altLang="zh-CN" sz="3000" dirty="0" smtClean="0">
              <a:ea typeface="宋体" panose="02010600030101010101" pitchFamily="2" charset="-122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it-IT" altLang="zh-CN" sz="3000" dirty="0" smtClean="0">
                <a:ea typeface="宋体" panose="02010600030101010101" pitchFamily="2" charset="-122"/>
              </a:rPr>
              <a:t>(ab)</a:t>
            </a:r>
            <a:r>
              <a:rPr lang="it-IT" altLang="zh-CN" sz="3000" baseline="30000" dirty="0" smtClean="0">
                <a:ea typeface="宋体" panose="02010600030101010101" pitchFamily="2" charset="-122"/>
              </a:rPr>
              <a:t>n-1</a:t>
            </a:r>
            <a:r>
              <a:rPr lang="it-IT" altLang="zh-CN" sz="3000" dirty="0" smtClean="0">
                <a:ea typeface="宋体" panose="02010600030101010101" pitchFamily="2" charset="-122"/>
              </a:rPr>
              <a:t>=b</a:t>
            </a:r>
            <a:r>
              <a:rPr lang="it-IT" altLang="zh-CN" sz="3000" baseline="30000" dirty="0" smtClean="0">
                <a:ea typeface="宋体" panose="02010600030101010101" pitchFamily="2" charset="-122"/>
              </a:rPr>
              <a:t>-1</a:t>
            </a:r>
            <a:r>
              <a:rPr lang="it-IT" altLang="zh-CN" sz="3000" dirty="0" smtClean="0">
                <a:ea typeface="宋体" panose="02010600030101010101" pitchFamily="2" charset="-122"/>
              </a:rPr>
              <a:t>a</a:t>
            </a:r>
            <a:r>
              <a:rPr lang="it-IT" altLang="zh-CN" sz="3000" baseline="30000" dirty="0" smtClean="0">
                <a:ea typeface="宋体" panose="02010600030101010101" pitchFamily="2" charset="-122"/>
              </a:rPr>
              <a:t>-1</a:t>
            </a:r>
            <a:r>
              <a:rPr lang="zh-CN" altLang="it-IT" sz="3000" dirty="0">
                <a:ea typeface="宋体" panose="02010600030101010101" pitchFamily="2" charset="-122"/>
                <a:cs typeface="Times New Roman" panose="02020603050405020304" pitchFamily="18" charset="0"/>
              </a:rPr>
              <a:t>＝</a:t>
            </a:r>
            <a:r>
              <a:rPr lang="it-IT" altLang="zh-CN" sz="3000" dirty="0">
                <a:ea typeface="宋体" panose="02010600030101010101" pitchFamily="2" charset="-122"/>
              </a:rPr>
              <a:t>(ab)</a:t>
            </a:r>
            <a:r>
              <a:rPr lang="it-IT" altLang="zh-CN" sz="3000" baseline="30000" dirty="0">
                <a:ea typeface="宋体" panose="02010600030101010101" pitchFamily="2" charset="-122"/>
              </a:rPr>
              <a:t> -</a:t>
            </a:r>
            <a:r>
              <a:rPr lang="it-IT" altLang="zh-CN" sz="3000" baseline="30000" dirty="0" smtClean="0">
                <a:ea typeface="宋体" panose="02010600030101010101" pitchFamily="2" charset="-122"/>
              </a:rPr>
              <a:t>1</a:t>
            </a:r>
            <a:r>
              <a:rPr lang="en-US" altLang="zh-CN" sz="30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it-IT" altLang="zh-CN" sz="3000" dirty="0" smtClean="0">
                <a:ea typeface="宋体" panose="02010600030101010101" pitchFamily="2" charset="-122"/>
              </a:rPr>
              <a:t>(ab)</a:t>
            </a:r>
            <a:r>
              <a:rPr lang="it-IT" altLang="zh-CN" sz="3000" baseline="30000" dirty="0" smtClean="0">
                <a:ea typeface="宋体" panose="02010600030101010101" pitchFamily="2" charset="-122"/>
              </a:rPr>
              <a:t>n</a:t>
            </a:r>
            <a:r>
              <a:rPr lang="it-IT" altLang="zh-CN" sz="3000" dirty="0" smtClean="0">
                <a:ea typeface="宋体" panose="02010600030101010101" pitchFamily="2" charset="-122"/>
              </a:rPr>
              <a:t>=1</a:t>
            </a:r>
            <a:r>
              <a:rPr lang="en-US" altLang="zh-CN" sz="30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it-IT" sz="30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it-IT" altLang="zh-CN" sz="3000" dirty="0">
                <a:ea typeface="宋体" panose="02010600030101010101" pitchFamily="2" charset="-122"/>
              </a:rPr>
              <a:t>m|n</a:t>
            </a:r>
            <a:r>
              <a:rPr lang="zh-CN" altLang="it-IT" sz="3000" dirty="0">
                <a:ea typeface="宋体" panose="02010600030101010101" pitchFamily="2" charset="-122"/>
                <a:cs typeface="Times New Roman" panose="02020603050405020304" pitchFamily="18" charset="0"/>
              </a:rPr>
              <a:t>。所以</a:t>
            </a:r>
            <a:r>
              <a:rPr lang="it-IT" altLang="zh-CN" sz="3000" dirty="0">
                <a:ea typeface="宋体" panose="02010600030101010101" pitchFamily="2" charset="-122"/>
              </a:rPr>
              <a:t>n=m </a:t>
            </a:r>
            <a:r>
              <a:rPr lang="en-US" altLang="zh-CN" sz="3000" dirty="0">
                <a:ea typeface="宋体" panose="02010600030101010101" pitchFamily="2" charset="-122"/>
              </a:rPr>
              <a:t>.</a:t>
            </a:r>
            <a:endParaRPr lang="en-US" altLang="zh-CN" sz="3000" dirty="0" smtClean="0">
              <a:ea typeface="宋体" panose="02010600030101010101" pitchFamily="2" charset="-122"/>
            </a:endParaRP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None/>
              <a:tabLst>
                <a:tab pos="228600" algn="l"/>
              </a:tabLst>
              <a:defRPr/>
            </a:pPr>
            <a:r>
              <a:rPr lang="it-IT" altLang="zh-CN" sz="3000" kern="100" dirty="0">
                <a:ea typeface="宋体" panose="02010600030101010101" pitchFamily="2" charset="-122"/>
              </a:rPr>
              <a:t>3) </a:t>
            </a:r>
            <a:r>
              <a:rPr lang="zh-CN" altLang="zh-CN" sz="3000" kern="100" dirty="0">
                <a:ea typeface="宋体" panose="02010600030101010101" pitchFamily="2" charset="-122"/>
              </a:rPr>
              <a:t>同理，如果元素</a:t>
            </a:r>
            <a:r>
              <a:rPr lang="en-US" altLang="zh-CN" sz="3000" kern="100" dirty="0" err="1">
                <a:ea typeface="宋体" panose="02010600030101010101" pitchFamily="2" charset="-122"/>
              </a:rPr>
              <a:t>ba</a:t>
            </a:r>
            <a:r>
              <a:rPr lang="zh-CN" altLang="zh-CN" sz="3000" kern="100" dirty="0">
                <a:ea typeface="宋体" panose="02010600030101010101" pitchFamily="2" charset="-122"/>
              </a:rPr>
              <a:t>的周期为整数</a:t>
            </a:r>
            <a:r>
              <a:rPr lang="en-US" altLang="zh-CN" sz="3000" kern="100" dirty="0">
                <a:ea typeface="宋体" panose="02010600030101010101" pitchFamily="2" charset="-122"/>
              </a:rPr>
              <a:t>n</a:t>
            </a:r>
            <a:r>
              <a:rPr lang="zh-CN" altLang="zh-CN" sz="3000" kern="100" dirty="0">
                <a:ea typeface="宋体" panose="02010600030101010101" pitchFamily="2" charset="-122"/>
              </a:rPr>
              <a:t>，则</a:t>
            </a:r>
            <a:r>
              <a:rPr lang="en-US" altLang="zh-CN" sz="3000" kern="100" dirty="0">
                <a:ea typeface="宋体" panose="02010600030101010101" pitchFamily="2" charset="-122"/>
              </a:rPr>
              <a:t>ab</a:t>
            </a:r>
            <a:r>
              <a:rPr lang="zh-CN" altLang="zh-CN" sz="3000" kern="100" dirty="0">
                <a:ea typeface="宋体" panose="02010600030101010101" pitchFamily="2" charset="-122"/>
              </a:rPr>
              <a:t>的周期也一定为</a:t>
            </a:r>
            <a:r>
              <a:rPr lang="en-US" altLang="zh-CN" sz="3000" kern="100" dirty="0">
                <a:ea typeface="宋体" panose="02010600030101010101" pitchFamily="2" charset="-122"/>
              </a:rPr>
              <a:t>n</a:t>
            </a:r>
            <a:r>
              <a:rPr lang="zh-CN" altLang="zh-CN" sz="3000" kern="100" dirty="0">
                <a:ea typeface="宋体" panose="02010600030101010101" pitchFamily="2" charset="-122"/>
              </a:rPr>
              <a:t>。证毕。</a:t>
            </a:r>
            <a:endParaRPr lang="zh-CN" altLang="zh-CN" sz="3000" kern="100" dirty="0" smtClean="0">
              <a:ea typeface="宋体" panose="02010600030101010101" pitchFamily="2" charset="-122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it-IT" altLang="zh-CN" sz="28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zh-CN" altLang="en-US" sz="2800" dirty="0"/>
          </a:p>
        </p:txBody>
      </p:sp>
      <p:sp>
        <p:nvSpPr>
          <p:cNvPr id="107523" name="Rectangle 4"/>
          <p:cNvSpPr>
            <a:spLocks noChangeArrowheads="1"/>
          </p:cNvSpPr>
          <p:nvPr/>
        </p:nvSpPr>
        <p:spPr bwMode="auto">
          <a:xfrm>
            <a:off x="0" y="90488"/>
            <a:ext cx="357188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zh-CN" altLang="it-IT" sz="1200" b="1" smtClean="0">
                <a:solidFill>
                  <a:srgbClr val="000000"/>
                </a:solidFill>
                <a:cs typeface="Times New Roman" panose="02020603050405020304" pitchFamily="18" charset="0"/>
              </a:rPr>
              <a:t>，</a:t>
            </a:r>
            <a:r>
              <a:rPr lang="zh-CN" altLang="it-IT" sz="600" smtClean="0">
                <a:solidFill>
                  <a:srgbClr val="000000"/>
                </a:solidFill>
              </a:rPr>
              <a:t> </a:t>
            </a:r>
            <a:endParaRPr lang="zh-CN" altLang="it-IT" sz="2400" smtClean="0">
              <a:solidFill>
                <a:srgbClr val="000000"/>
              </a:solidFill>
            </a:endParaRPr>
          </a:p>
        </p:txBody>
      </p:sp>
      <p:sp>
        <p:nvSpPr>
          <p:cNvPr id="107524" name="Rectangle 5"/>
          <p:cNvSpPr>
            <a:spLocks noChangeArrowheads="1"/>
          </p:cNvSpPr>
          <p:nvPr/>
        </p:nvSpPr>
        <p:spPr bwMode="auto">
          <a:xfrm>
            <a:off x="0" y="-1588"/>
            <a:ext cx="184150" cy="460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endParaRPr lang="it-IT" altLang="zh-CN" sz="2400" smtClean="0">
              <a:solidFill>
                <a:srgbClr val="000000"/>
              </a:solidFill>
            </a:endParaRPr>
          </a:p>
        </p:txBody>
      </p:sp>
      <p:sp>
        <p:nvSpPr>
          <p:cNvPr id="107525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B1D513E-D164-4A67-A4A3-C944ACD9C44B}" type="slidenum">
              <a:rPr lang="en-US" altLang="ko-KR" sz="1400" smtClean="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ko-KR" sz="1400" smtClean="0">
              <a:solidFill>
                <a:srgbClr val="000000"/>
              </a:solidFill>
              <a:latin typeface="-윤명조140" pitchFamily="18" charset="-127"/>
              <a:ea typeface="-윤명조14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263956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1974" y="692696"/>
            <a:ext cx="8402513" cy="5355679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800" b="1" kern="100" dirty="0">
                <a:solidFill>
                  <a:srgbClr val="0000FF"/>
                </a:solidFill>
                <a:ea typeface="宋体" panose="02010600030101010101" pitchFamily="2" charset="-122"/>
              </a:rPr>
              <a:t>随堂练习：</a:t>
            </a:r>
            <a:r>
              <a:rPr lang="zh-CN" altLang="zh-CN" sz="2800" dirty="0" smtClean="0">
                <a:ea typeface="宋体" panose="02010600030101010101" pitchFamily="2" charset="-122"/>
                <a:cs typeface="Arial" panose="020B0604020202020204" pitchFamily="34" charset="0"/>
              </a:rPr>
              <a:t>写出</a:t>
            </a:r>
            <a:r>
              <a:rPr lang="en-US" altLang="zh-CN" sz="2800" dirty="0"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zh-CN" sz="2800" dirty="0">
                <a:ea typeface="宋体" panose="02010600030101010101" pitchFamily="2" charset="-122"/>
                <a:cs typeface="Arial" panose="020B0604020202020204" pitchFamily="34" charset="0"/>
              </a:rPr>
              <a:t>次交代群</a:t>
            </a:r>
            <a:r>
              <a:rPr lang="en-US" altLang="zh-CN" sz="2800" dirty="0"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baseline="-25000" dirty="0"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zh-CN" sz="2800" dirty="0">
                <a:ea typeface="宋体" panose="02010600030101010101" pitchFamily="2" charset="-122"/>
                <a:cs typeface="Arial" panose="020B0604020202020204" pitchFamily="34" charset="0"/>
              </a:rPr>
              <a:t>有</a:t>
            </a:r>
            <a:r>
              <a:rPr lang="en-US" altLang="zh-CN" sz="2800" u="sng" dirty="0">
                <a:ea typeface="宋体" panose="02010600030101010101" pitchFamily="2" charset="-122"/>
                <a:cs typeface="Arial" panose="020B0604020202020204" pitchFamily="34" charset="0"/>
              </a:rPr>
              <a:t>10</a:t>
            </a:r>
            <a:r>
              <a:rPr lang="zh-CN" altLang="zh-CN" sz="2800" dirty="0">
                <a:ea typeface="宋体" panose="02010600030101010101" pitchFamily="2" charset="-122"/>
                <a:cs typeface="Arial" panose="020B0604020202020204" pitchFamily="34" charset="0"/>
              </a:rPr>
              <a:t>个子群</a:t>
            </a:r>
            <a:r>
              <a:rPr lang="zh-CN" altLang="zh-CN" sz="2800" dirty="0" smtClean="0"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2800" dirty="0" smtClean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zh-CN" altLang="en-US" sz="2800" dirty="0" smtClean="0">
                <a:solidFill>
                  <a:srgbClr val="0000FF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分析：</a:t>
            </a:r>
            <a:r>
              <a:rPr lang="en-US" altLang="zh-CN" sz="2800" dirty="0" smtClean="0">
                <a:ea typeface="宋体" panose="02010600030101010101" pitchFamily="2" charset="-122"/>
              </a:rPr>
              <a:t>A</a:t>
            </a:r>
            <a:r>
              <a:rPr lang="en-US" altLang="zh-CN" sz="2800" baseline="-25000" dirty="0" smtClean="0">
                <a:ea typeface="宋体" panose="02010600030101010101" pitchFamily="2" charset="-122"/>
              </a:rPr>
              <a:t>4</a:t>
            </a:r>
            <a:r>
              <a:rPr lang="en-US" altLang="zh-CN" sz="2800" dirty="0" smtClean="0">
                <a:ea typeface="宋体" panose="02010600030101010101" pitchFamily="2" charset="-122"/>
              </a:rPr>
              <a:t>={I,  </a:t>
            </a:r>
            <a:r>
              <a:rPr lang="en-US" altLang="zh-CN" sz="2800" dirty="0">
                <a:ea typeface="宋体" panose="02010600030101010101" pitchFamily="2" charset="-122"/>
              </a:rPr>
              <a:t>(123</a:t>
            </a:r>
            <a:r>
              <a:rPr lang="en-US" altLang="zh-CN" sz="2800" dirty="0" smtClean="0">
                <a:ea typeface="宋体" panose="02010600030101010101" pitchFamily="2" charset="-122"/>
              </a:rPr>
              <a:t>), (</a:t>
            </a:r>
            <a:r>
              <a:rPr lang="en-US" altLang="zh-CN" sz="2800" dirty="0">
                <a:ea typeface="宋体" panose="02010600030101010101" pitchFamily="2" charset="-122"/>
              </a:rPr>
              <a:t>132</a:t>
            </a:r>
            <a:r>
              <a:rPr lang="en-US" altLang="zh-CN" sz="2800" dirty="0" smtClean="0">
                <a:ea typeface="宋体" panose="02010600030101010101" pitchFamily="2" charset="-122"/>
              </a:rPr>
              <a:t>), (</a:t>
            </a:r>
            <a:r>
              <a:rPr lang="en-US" altLang="zh-CN" sz="2800" dirty="0">
                <a:ea typeface="宋体" panose="02010600030101010101" pitchFamily="2" charset="-122"/>
              </a:rPr>
              <a:t>124</a:t>
            </a:r>
            <a:r>
              <a:rPr lang="en-US" altLang="zh-CN" sz="2800" dirty="0" smtClean="0">
                <a:ea typeface="宋体" panose="02010600030101010101" pitchFamily="2" charset="-122"/>
              </a:rPr>
              <a:t>), (</a:t>
            </a:r>
            <a:r>
              <a:rPr lang="en-US" altLang="zh-CN" sz="2800" dirty="0">
                <a:ea typeface="宋体" panose="02010600030101010101" pitchFamily="2" charset="-122"/>
              </a:rPr>
              <a:t>142</a:t>
            </a:r>
            <a:r>
              <a:rPr lang="en-US" altLang="zh-CN" sz="2800" dirty="0" smtClean="0">
                <a:ea typeface="宋体" panose="02010600030101010101" pitchFamily="2" charset="-122"/>
              </a:rPr>
              <a:t>), (</a:t>
            </a:r>
            <a:r>
              <a:rPr lang="en-US" altLang="zh-CN" sz="2800" dirty="0">
                <a:ea typeface="宋体" panose="02010600030101010101" pitchFamily="2" charset="-122"/>
              </a:rPr>
              <a:t>134</a:t>
            </a:r>
            <a:r>
              <a:rPr lang="en-US" altLang="zh-CN" sz="2800" dirty="0" smtClean="0">
                <a:ea typeface="宋体" panose="02010600030101010101" pitchFamily="2" charset="-122"/>
              </a:rPr>
              <a:t>),   (</a:t>
            </a:r>
            <a:r>
              <a:rPr lang="en-US" altLang="zh-CN" sz="2800" dirty="0">
                <a:ea typeface="宋体" panose="02010600030101010101" pitchFamily="2" charset="-122"/>
              </a:rPr>
              <a:t>143</a:t>
            </a:r>
            <a:r>
              <a:rPr lang="en-US" altLang="zh-CN" sz="2800" dirty="0" smtClean="0">
                <a:ea typeface="宋体" panose="02010600030101010101" pitchFamily="2" charset="-122"/>
              </a:rPr>
              <a:t>),      (</a:t>
            </a:r>
            <a:r>
              <a:rPr lang="en-US" altLang="zh-CN" sz="2800" dirty="0">
                <a:ea typeface="宋体" panose="02010600030101010101" pitchFamily="2" charset="-122"/>
              </a:rPr>
              <a:t>234</a:t>
            </a:r>
            <a:r>
              <a:rPr lang="en-US" altLang="zh-CN" sz="2800" dirty="0" smtClean="0">
                <a:ea typeface="宋体" panose="02010600030101010101" pitchFamily="2" charset="-122"/>
              </a:rPr>
              <a:t>), (</a:t>
            </a:r>
            <a:r>
              <a:rPr lang="en-US" altLang="zh-CN" sz="2800" dirty="0">
                <a:ea typeface="宋体" panose="02010600030101010101" pitchFamily="2" charset="-122"/>
              </a:rPr>
              <a:t>243</a:t>
            </a:r>
            <a:r>
              <a:rPr lang="en-US" altLang="zh-CN" sz="2800" dirty="0" smtClean="0">
                <a:ea typeface="宋体" panose="02010600030101010101" pitchFamily="2" charset="-122"/>
              </a:rPr>
              <a:t>),</a:t>
            </a:r>
            <a:r>
              <a:rPr lang="en-US" altLang="zh-CN" sz="2800" dirty="0">
                <a:ea typeface="宋体" panose="02010600030101010101" pitchFamily="2" charset="-122"/>
              </a:rPr>
              <a:t> (12)(34</a:t>
            </a:r>
            <a:r>
              <a:rPr lang="en-US" altLang="zh-CN" sz="2800" dirty="0" smtClean="0">
                <a:ea typeface="宋体" panose="02010600030101010101" pitchFamily="2" charset="-122"/>
              </a:rPr>
              <a:t>), (</a:t>
            </a:r>
            <a:r>
              <a:rPr lang="en-US" altLang="zh-CN" sz="2800" dirty="0">
                <a:ea typeface="宋体" panose="02010600030101010101" pitchFamily="2" charset="-122"/>
              </a:rPr>
              <a:t>13)(24</a:t>
            </a:r>
            <a:r>
              <a:rPr lang="en-US" altLang="zh-CN" sz="2800" dirty="0" smtClean="0">
                <a:ea typeface="宋体" panose="02010600030101010101" pitchFamily="2" charset="-122"/>
              </a:rPr>
              <a:t>),</a:t>
            </a:r>
            <a:r>
              <a:rPr lang="en-US" altLang="zh-CN" sz="2800" dirty="0">
                <a:ea typeface="宋体" panose="02010600030101010101" pitchFamily="2" charset="-122"/>
              </a:rPr>
              <a:t> </a:t>
            </a:r>
            <a:r>
              <a:rPr lang="en-US" altLang="zh-CN" sz="2800" dirty="0" smtClean="0">
                <a:ea typeface="宋体" panose="02010600030101010101" pitchFamily="2" charset="-122"/>
              </a:rPr>
              <a:t>(</a:t>
            </a:r>
            <a:r>
              <a:rPr lang="en-US" altLang="zh-CN" sz="2800" dirty="0">
                <a:ea typeface="宋体" panose="02010600030101010101" pitchFamily="2" charset="-122"/>
              </a:rPr>
              <a:t>14)(23</a:t>
            </a:r>
            <a:r>
              <a:rPr lang="en-US" altLang="zh-CN" sz="2800" dirty="0" smtClean="0">
                <a:ea typeface="宋体" panose="02010600030101010101" pitchFamily="2" charset="-122"/>
              </a:rPr>
              <a:t>) }</a:t>
            </a:r>
            <a:endParaRPr lang="zh-CN" altLang="zh-CN" sz="2800" dirty="0"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zh-CN" altLang="en-US" sz="2800" dirty="0" smtClean="0">
                <a:ea typeface="宋体" panose="02010600030101010101" pitchFamily="2" charset="-122"/>
              </a:rPr>
              <a:t>子群的元素个数可能是</a:t>
            </a:r>
            <a:r>
              <a:rPr lang="en-US" altLang="zh-CN" sz="2800" dirty="0" smtClean="0">
                <a:ea typeface="宋体" panose="02010600030101010101" pitchFamily="2" charset="-122"/>
              </a:rPr>
              <a:t>1,2,3,4,6,12</a:t>
            </a:r>
            <a:r>
              <a:rPr lang="zh-CN" altLang="en-US" sz="2800" dirty="0" smtClean="0">
                <a:ea typeface="宋体" panose="02010600030101010101" pitchFamily="2" charset="-122"/>
              </a:rPr>
              <a:t>。因</a:t>
            </a:r>
            <a:r>
              <a:rPr lang="en-US" altLang="zh-CN" sz="2800" dirty="0" smtClean="0">
                <a:ea typeface="宋体" panose="02010600030101010101" pitchFamily="2" charset="-122"/>
              </a:rPr>
              <a:t>A</a:t>
            </a:r>
            <a:r>
              <a:rPr lang="en-US" altLang="zh-CN" sz="2800" baseline="-25000" dirty="0" smtClean="0">
                <a:ea typeface="宋体" panose="02010600030101010101" pitchFamily="2" charset="-122"/>
              </a:rPr>
              <a:t>4</a:t>
            </a:r>
            <a:r>
              <a:rPr lang="zh-CN" altLang="en-US" sz="2800" dirty="0" smtClean="0">
                <a:ea typeface="宋体" panose="02010600030101010101" pitchFamily="2" charset="-122"/>
              </a:rPr>
              <a:t>无</a:t>
            </a:r>
            <a:r>
              <a:rPr lang="en-US" altLang="zh-CN" sz="2800" dirty="0" smtClean="0">
                <a:ea typeface="宋体" panose="02010600030101010101" pitchFamily="2" charset="-122"/>
              </a:rPr>
              <a:t>6</a:t>
            </a:r>
            <a:r>
              <a:rPr lang="zh-CN" altLang="en-US" sz="2800" dirty="0" smtClean="0">
                <a:ea typeface="宋体" panose="02010600030101010101" pitchFamily="2" charset="-122"/>
              </a:rPr>
              <a:t>元子群；</a:t>
            </a:r>
            <a:r>
              <a:rPr lang="en-US" altLang="zh-CN" sz="2800" dirty="0" smtClean="0">
                <a:ea typeface="宋体" panose="02010600030101010101" pitchFamily="2" charset="-122"/>
              </a:rPr>
              <a:t>2</a:t>
            </a:r>
            <a:r>
              <a:rPr lang="zh-CN" altLang="en-US" sz="2800" dirty="0" smtClean="0">
                <a:ea typeface="宋体" panose="02010600030101010101" pitchFamily="2" charset="-122"/>
              </a:rPr>
              <a:t>、</a:t>
            </a:r>
            <a:r>
              <a:rPr lang="en-US" altLang="zh-CN" sz="2800" dirty="0" smtClean="0">
                <a:ea typeface="宋体" panose="02010600030101010101" pitchFamily="2" charset="-122"/>
              </a:rPr>
              <a:t>3</a:t>
            </a:r>
            <a:r>
              <a:rPr lang="zh-CN" altLang="en-US" sz="2800" dirty="0" smtClean="0">
                <a:ea typeface="宋体" panose="02010600030101010101" pitchFamily="2" charset="-122"/>
              </a:rPr>
              <a:t>是质数，由</a:t>
            </a:r>
            <a:r>
              <a:rPr lang="en-US" altLang="zh-CN" sz="2800" dirty="0" smtClean="0">
                <a:ea typeface="宋体" panose="02010600030101010101" pitchFamily="2" charset="-122"/>
              </a:rPr>
              <a:t>A</a:t>
            </a:r>
            <a:r>
              <a:rPr lang="en-US" altLang="zh-CN" sz="2800" baseline="-25000" dirty="0" smtClean="0">
                <a:ea typeface="宋体" panose="02010600030101010101" pitchFamily="2" charset="-122"/>
              </a:rPr>
              <a:t>4</a:t>
            </a:r>
            <a:r>
              <a:rPr lang="zh-CN" altLang="en-US" sz="2800" dirty="0" smtClean="0">
                <a:ea typeface="宋体" panose="02010600030101010101" pitchFamily="2" charset="-122"/>
              </a:rPr>
              <a:t>中周期为</a:t>
            </a:r>
            <a:r>
              <a:rPr lang="en-US" altLang="zh-CN" sz="2800" dirty="0" smtClean="0">
                <a:ea typeface="宋体" panose="02010600030101010101" pitchFamily="2" charset="-122"/>
              </a:rPr>
              <a:t>2</a:t>
            </a:r>
            <a:r>
              <a:rPr lang="zh-CN" altLang="en-US" sz="2800" dirty="0" smtClean="0">
                <a:ea typeface="宋体" panose="02010600030101010101" pitchFamily="2" charset="-122"/>
              </a:rPr>
              <a:t>和</a:t>
            </a:r>
            <a:r>
              <a:rPr lang="en-US" altLang="zh-CN" sz="2800" dirty="0" smtClean="0">
                <a:ea typeface="宋体" panose="02010600030101010101" pitchFamily="2" charset="-122"/>
              </a:rPr>
              <a:t>3</a:t>
            </a:r>
            <a:r>
              <a:rPr lang="zh-CN" altLang="en-US" sz="2800" dirty="0" smtClean="0">
                <a:ea typeface="宋体" panose="02010600030101010101" pitchFamily="2" charset="-122"/>
              </a:rPr>
              <a:t>的元素生成的循环子群；</a:t>
            </a:r>
            <a:r>
              <a:rPr lang="en-US" altLang="zh-CN" sz="2800" dirty="0" smtClean="0">
                <a:ea typeface="宋体" panose="02010600030101010101" pitchFamily="2" charset="-122"/>
              </a:rPr>
              <a:t>4</a:t>
            </a:r>
            <a:r>
              <a:rPr lang="zh-CN" altLang="en-US" sz="2800" dirty="0" smtClean="0">
                <a:ea typeface="宋体" panose="02010600030101010101" pitchFamily="2" charset="-122"/>
              </a:rPr>
              <a:t>元群只有</a:t>
            </a:r>
            <a:r>
              <a:rPr lang="en-US" altLang="zh-CN" sz="2800" dirty="0" smtClean="0">
                <a:ea typeface="宋体" panose="02010600030101010101" pitchFamily="2" charset="-122"/>
              </a:rPr>
              <a:t>1</a:t>
            </a:r>
            <a:r>
              <a:rPr lang="zh-CN" altLang="en-US" sz="2800" dirty="0" smtClean="0">
                <a:ea typeface="宋体" panose="02010600030101010101" pitchFamily="2" charset="-122"/>
              </a:rPr>
              <a:t>个</a:t>
            </a:r>
            <a:r>
              <a:rPr lang="en-US" altLang="zh-CN" sz="280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klein</a:t>
            </a:r>
            <a:r>
              <a:rPr lang="zh-CN" altLang="en-US" sz="280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四元群；单位元群及</a:t>
            </a:r>
            <a:r>
              <a:rPr lang="en-US" altLang="zh-CN" sz="280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baseline="-2500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en-US" sz="280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zh-CN" altLang="zh-CN" sz="2800" dirty="0"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800" dirty="0" smtClean="0">
                <a:solidFill>
                  <a:srgbClr val="0000FF"/>
                </a:solidFill>
                <a:ea typeface="宋体" panose="02010600030101010101" pitchFamily="2" charset="-122"/>
              </a:rPr>
              <a:t>解：</a:t>
            </a:r>
            <a:r>
              <a:rPr lang="en-US" altLang="zh-CN" sz="2800" dirty="0" smtClean="0">
                <a:ea typeface="宋体" panose="02010600030101010101" pitchFamily="2" charset="-122"/>
              </a:rPr>
              <a:t>{ </a:t>
            </a:r>
            <a:r>
              <a:rPr lang="en-US" altLang="zh-CN" sz="2800" dirty="0">
                <a:ea typeface="宋体" panose="02010600030101010101" pitchFamily="2" charset="-122"/>
              </a:rPr>
              <a:t>I }</a:t>
            </a:r>
            <a:r>
              <a:rPr lang="zh-CN" altLang="zh-CN" sz="2800" dirty="0">
                <a:ea typeface="宋体" panose="02010600030101010101" pitchFamily="2" charset="-122"/>
              </a:rPr>
              <a:t>，</a:t>
            </a:r>
            <a:r>
              <a:rPr lang="en-US" altLang="zh-CN" sz="2800" dirty="0">
                <a:ea typeface="宋体" panose="02010600030101010101" pitchFamily="2" charset="-122"/>
              </a:rPr>
              <a:t>A</a:t>
            </a:r>
            <a:r>
              <a:rPr lang="en-US" altLang="zh-CN" sz="2800" baseline="-25000" dirty="0">
                <a:ea typeface="宋体" panose="02010600030101010101" pitchFamily="2" charset="-122"/>
              </a:rPr>
              <a:t>4</a:t>
            </a:r>
            <a:r>
              <a:rPr lang="zh-CN" altLang="zh-CN" sz="2800" dirty="0">
                <a:ea typeface="宋体" panose="02010600030101010101" pitchFamily="2" charset="-122"/>
              </a:rPr>
              <a:t>，</a:t>
            </a:r>
          </a:p>
          <a:p>
            <a:pPr marL="0" indent="0"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{I, (123),(132)}, {I,(124),(142)}, </a:t>
            </a:r>
            <a:endParaRPr lang="en-US" altLang="zh-CN" sz="2800" dirty="0" smtClean="0"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800" dirty="0" smtClean="0">
                <a:ea typeface="宋体" panose="02010600030101010101" pitchFamily="2" charset="-122"/>
              </a:rPr>
              <a:t>{</a:t>
            </a:r>
            <a:r>
              <a:rPr lang="en-US" altLang="zh-CN" sz="2800" dirty="0">
                <a:ea typeface="宋体" panose="02010600030101010101" pitchFamily="2" charset="-122"/>
              </a:rPr>
              <a:t>I,(134),(143)}, {I,(234),(243)}</a:t>
            </a:r>
            <a:endParaRPr lang="zh-CN" altLang="zh-CN" sz="2800" dirty="0"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{I, (12)(34)}, {I,(13)(24)}, {I,(14)(23)}</a:t>
            </a:r>
            <a:endParaRPr lang="zh-CN" altLang="zh-CN" sz="2800" dirty="0"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{I, (12)(34), (13)(24),(14)(23)}</a:t>
            </a:r>
            <a:endParaRPr lang="zh-CN" altLang="zh-CN" sz="2800" dirty="0">
              <a:ea typeface="宋体" panose="02010600030101010101" pitchFamily="2" charset="-122"/>
            </a:endParaRPr>
          </a:p>
          <a:p>
            <a:endParaRPr lang="zh-CN" altLang="en-US" sz="3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916B05-81F6-43C0-9C95-9C21CB3DE593}" type="slidenum">
              <a:rPr lang="en-US" altLang="ko-KR" smtClean="0"/>
              <a:pPr>
                <a:defRPr/>
              </a:pPr>
              <a:t>29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1021142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620688"/>
            <a:ext cx="8301038" cy="6048672"/>
          </a:xfrm>
        </p:spPr>
        <p:txBody>
          <a:bodyPr/>
          <a:lstStyle/>
          <a:p>
            <a:pPr lvl="0" algn="just" eaLnBrk="1" latinLnBrk="0" hangingPunct="1">
              <a:lnSpc>
                <a:spcPct val="90000"/>
              </a:lnSpc>
              <a:buClr>
                <a:srgbClr val="3366FF"/>
              </a:buClr>
              <a:buSzPct val="80000"/>
              <a:buNone/>
            </a:pPr>
            <a:r>
              <a:rPr lang="zh-CN" altLang="en-US" sz="3000" kern="1200" dirty="0" smtClean="0">
                <a:solidFill>
                  <a:srgbClr val="0000FF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练习</a:t>
            </a:r>
            <a:r>
              <a:rPr lang="en-US" altLang="zh-CN" sz="3000" kern="1200" dirty="0" smtClean="0">
                <a:solidFill>
                  <a:srgbClr val="0000FF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:</a:t>
            </a:r>
            <a:r>
              <a:rPr lang="zh-CN" altLang="en-US" sz="3000" kern="1200" dirty="0" smtClean="0">
                <a:solidFill>
                  <a:srgbClr val="0000FF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等</a:t>
            </a:r>
            <a:r>
              <a:rPr lang="zh-CN" altLang="en-US" sz="3000" kern="1200" dirty="0">
                <a:solidFill>
                  <a:srgbClr val="0000FF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幂环必是交换环</a:t>
            </a:r>
            <a:r>
              <a:rPr lang="en-US" altLang="zh-CN" sz="3000" kern="1200" dirty="0">
                <a:solidFill>
                  <a:srgbClr val="0000FF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(</a:t>
            </a:r>
            <a:r>
              <a:rPr lang="zh-CN" altLang="en-US" sz="3000" kern="1200" dirty="0">
                <a:solidFill>
                  <a:srgbClr val="0000FF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乘法适合交换律的环</a:t>
            </a:r>
            <a:r>
              <a:rPr lang="en-US" altLang="zh-CN" sz="3000" kern="1200" dirty="0">
                <a:solidFill>
                  <a:srgbClr val="0000FF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)</a:t>
            </a:r>
            <a:r>
              <a:rPr lang="zh-CN" altLang="en-US" sz="3000" kern="1200" dirty="0">
                <a:solidFill>
                  <a:srgbClr val="0000FF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。</a:t>
            </a:r>
          </a:p>
          <a:p>
            <a:pPr lvl="0" algn="just" eaLnBrk="1" latinLnBrk="0" hangingPunct="1">
              <a:lnSpc>
                <a:spcPct val="90000"/>
              </a:lnSpc>
              <a:buClr>
                <a:srgbClr val="3366FF"/>
              </a:buClr>
              <a:buSzPct val="80000"/>
              <a:buNone/>
            </a:pP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若环（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R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， 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+ 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， 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× 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）对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×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运算满足等幂律，即</a:t>
            </a:r>
          </a:p>
          <a:p>
            <a:pPr lvl="0" algn="just" eaLnBrk="1" latinLnBrk="0" hangingPunct="1">
              <a:lnSpc>
                <a:spcPct val="90000"/>
              </a:lnSpc>
              <a:buClr>
                <a:srgbClr val="3366FF"/>
              </a:buClr>
              <a:buSzPct val="80000"/>
              <a:buNone/>
            </a:pP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对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R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中任意元素</a:t>
            </a:r>
            <a:r>
              <a:rPr lang="en-US" altLang="zh-CN" sz="30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a,</a:t>
            </a:r>
            <a:r>
              <a:rPr lang="zh-CN" altLang="en-US" sz="30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都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有</a:t>
            </a:r>
            <a:r>
              <a:rPr lang="en-US" altLang="zh-CN" sz="3000" kern="1200" dirty="0" err="1" smtClean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a×a</a:t>
            </a:r>
            <a:r>
              <a:rPr lang="en-US" altLang="zh-CN" sz="30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=a,</a:t>
            </a:r>
            <a:r>
              <a:rPr lang="zh-CN" altLang="en-US" sz="30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证明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：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R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是</a:t>
            </a:r>
            <a:r>
              <a:rPr lang="zh-CN" altLang="en-US" sz="30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交换环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。</a:t>
            </a:r>
          </a:p>
          <a:p>
            <a:pPr lvl="0" algn="just" eaLnBrk="1" latinLnBrk="0" hangingPunct="1">
              <a:lnSpc>
                <a:spcPct val="90000"/>
              </a:lnSpc>
              <a:buClr>
                <a:srgbClr val="3366FF"/>
              </a:buClr>
              <a:buSzPct val="80000"/>
              <a:buNone/>
            </a:pPr>
            <a:r>
              <a:rPr lang="zh-CN" altLang="en-US" sz="3000" kern="1200" dirty="0">
                <a:solidFill>
                  <a:srgbClr val="0000FF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证明：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一方面，由乘对于加的分配律知，</a:t>
            </a:r>
          </a:p>
          <a:p>
            <a:pPr lvl="0" algn="just" eaLnBrk="1" latinLnBrk="0" hangingPunct="1">
              <a:lnSpc>
                <a:spcPct val="90000"/>
              </a:lnSpc>
              <a:buClr>
                <a:srgbClr val="3366FF"/>
              </a:buClr>
              <a:buSzPct val="80000"/>
              <a:buNone/>
            </a:pP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（</a:t>
            </a:r>
            <a:r>
              <a:rPr lang="en-US" altLang="zh-CN" sz="3000" kern="1200" dirty="0" err="1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a+b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）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×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（</a:t>
            </a:r>
            <a:r>
              <a:rPr lang="en-US" altLang="zh-CN" sz="3000" kern="1200" dirty="0" err="1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a+b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）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=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（</a:t>
            </a:r>
            <a:r>
              <a:rPr lang="en-US" altLang="zh-CN" sz="3000" kern="1200" dirty="0" err="1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a+b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）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×a+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（</a:t>
            </a:r>
            <a:r>
              <a:rPr lang="en-US" altLang="zh-CN" sz="3000" kern="1200" dirty="0" err="1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a+b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）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×b </a:t>
            </a:r>
          </a:p>
          <a:p>
            <a:pPr lvl="0" algn="just" eaLnBrk="1" latinLnBrk="0" hangingPunct="1">
              <a:lnSpc>
                <a:spcPct val="90000"/>
              </a:lnSpc>
              <a:buClr>
                <a:srgbClr val="3366FF"/>
              </a:buClr>
              <a:buSzPct val="80000"/>
              <a:buNone/>
            </a:pP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   =(</a:t>
            </a:r>
            <a:r>
              <a:rPr lang="en-US" altLang="zh-CN" sz="3000" kern="1200" dirty="0" err="1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a×a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)+ (</a:t>
            </a:r>
            <a:r>
              <a:rPr lang="en-US" altLang="zh-CN" sz="3000" kern="1200" dirty="0" err="1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b×a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) + (</a:t>
            </a:r>
            <a:r>
              <a:rPr lang="en-US" altLang="zh-CN" sz="3000" kern="1200" dirty="0" err="1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a×b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) +(</a:t>
            </a:r>
            <a:r>
              <a:rPr lang="en-US" altLang="zh-CN" sz="3000" kern="1200" dirty="0" err="1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b×b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)</a:t>
            </a:r>
          </a:p>
          <a:p>
            <a:pPr lvl="0" algn="just" eaLnBrk="1" latinLnBrk="0" hangingPunct="1">
              <a:lnSpc>
                <a:spcPct val="90000"/>
              </a:lnSpc>
              <a:buClr>
                <a:srgbClr val="3366FF"/>
              </a:buClr>
              <a:buSzPct val="80000"/>
              <a:buNone/>
            </a:pP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   =a+(</a:t>
            </a:r>
            <a:r>
              <a:rPr lang="en-US" altLang="zh-CN" sz="3000" kern="1200" dirty="0" err="1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a×b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)+(</a:t>
            </a:r>
            <a:r>
              <a:rPr lang="en-US" altLang="zh-CN" sz="3000" kern="1200" dirty="0" err="1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b×a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)+b</a:t>
            </a:r>
          </a:p>
          <a:p>
            <a:pPr lvl="0" algn="just" eaLnBrk="1" latinLnBrk="0" hangingPunct="1">
              <a:lnSpc>
                <a:spcPct val="90000"/>
              </a:lnSpc>
              <a:buClr>
                <a:srgbClr val="3366FF"/>
              </a:buClr>
              <a:buSzPct val="80000"/>
              <a:buNone/>
            </a:pP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  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另一方面，由题设知，</a:t>
            </a:r>
          </a:p>
          <a:p>
            <a:pPr lvl="0" algn="just" eaLnBrk="1" latinLnBrk="0" hangingPunct="1">
              <a:lnSpc>
                <a:spcPct val="90000"/>
              </a:lnSpc>
              <a:buClr>
                <a:srgbClr val="3366FF"/>
              </a:buClr>
              <a:buSzPct val="80000"/>
              <a:buNone/>
            </a:pP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（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a + b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）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×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（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a + b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）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= </a:t>
            </a:r>
            <a:r>
              <a:rPr lang="en-US" altLang="zh-CN" sz="3000" kern="1200" dirty="0" err="1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a+b</a:t>
            </a:r>
            <a:endParaRPr lang="en-US" altLang="zh-CN" sz="3000" kern="1200" dirty="0">
              <a:solidFill>
                <a:srgbClr val="000000"/>
              </a:solidFill>
              <a:latin typeface="Arial" panose="020B0604020202020204" pitchFamily="34" charset="0"/>
              <a:ea typeface="宋体"/>
              <a:cs typeface="Arial" panose="020B0604020202020204" pitchFamily="34" charset="0"/>
            </a:endParaRPr>
          </a:p>
          <a:p>
            <a:pPr lvl="0" algn="just" eaLnBrk="1" latinLnBrk="0" hangingPunct="1">
              <a:lnSpc>
                <a:spcPct val="90000"/>
              </a:lnSpc>
              <a:buClr>
                <a:srgbClr val="3366FF"/>
              </a:buClr>
              <a:buSzPct val="80000"/>
              <a:buNone/>
            </a:pP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所以，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a+(</a:t>
            </a:r>
            <a:r>
              <a:rPr lang="en-US" altLang="zh-CN" sz="3000" kern="1200" dirty="0" err="1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a×b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)+(</a:t>
            </a:r>
            <a:r>
              <a:rPr lang="en-US" altLang="zh-CN" sz="3000" kern="1200" dirty="0" err="1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b×a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)+b=</a:t>
            </a:r>
            <a:r>
              <a:rPr lang="en-US" altLang="zh-CN" sz="3000" kern="1200" dirty="0" err="1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a+b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，即，</a:t>
            </a:r>
          </a:p>
          <a:p>
            <a:pPr lvl="0" algn="ctr" eaLnBrk="1" latinLnBrk="0" hangingPunct="1">
              <a:lnSpc>
                <a:spcPct val="90000"/>
              </a:lnSpc>
              <a:buClr>
                <a:srgbClr val="3366FF"/>
              </a:buClr>
              <a:buSzPct val="80000"/>
              <a:buNone/>
            </a:pP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(</a:t>
            </a:r>
            <a:r>
              <a:rPr lang="en-US" altLang="zh-CN" sz="3000" kern="1200" dirty="0" err="1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a×b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)+(</a:t>
            </a:r>
            <a:r>
              <a:rPr lang="en-US" altLang="zh-CN" sz="3000" kern="1200" dirty="0" err="1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b×a</a:t>
            </a:r>
            <a:r>
              <a:rPr lang="en-US" altLang="zh-CN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) = 0 ……(*)</a:t>
            </a:r>
            <a:r>
              <a:rPr lang="zh-CN" altLang="en-US" sz="3000" kern="1200" dirty="0">
                <a:solidFill>
                  <a:srgbClr val="000000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。</a:t>
            </a:r>
          </a:p>
          <a:p>
            <a:endParaRPr lang="zh-CN" altLang="en-US" sz="3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916B05-81F6-43C0-9C95-9C21CB3DE593}" type="slidenum">
              <a:rPr lang="en-US" altLang="ko-KR" smtClean="0"/>
              <a:pPr>
                <a:defRPr/>
              </a:pPr>
              <a:t>30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7489119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60" y="765386"/>
            <a:ext cx="8301038" cy="5499695"/>
          </a:xfrm>
        </p:spPr>
        <p:txBody>
          <a:bodyPr/>
          <a:lstStyle/>
          <a:p>
            <a:pPr algn="just">
              <a:lnSpc>
                <a:spcPct val="120000"/>
              </a:lnSpc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在（*）式中取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a=b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)+(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)=0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algn="just">
              <a:lnSpc>
                <a:spcPct val="120000"/>
              </a:lnSpc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a+a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=0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，因此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)+(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)=0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algn="just">
              <a:lnSpc>
                <a:spcPct val="120000"/>
              </a:lnSpc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而由（*）式又知，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)+(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b×a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= 0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，因此，</a:t>
            </a:r>
          </a:p>
          <a:p>
            <a:pPr algn="ctr">
              <a:lnSpc>
                <a:spcPct val="120000"/>
              </a:lnSpc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)+(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)+(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b×a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>
              <a:lnSpc>
                <a:spcPct val="120000"/>
              </a:lnSpc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a×b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b×a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，故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是交换环。 </a:t>
            </a:r>
          </a:p>
          <a:p>
            <a:pPr>
              <a:lnSpc>
                <a:spcPct val="120000"/>
              </a:lnSpc>
              <a:buNone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注意：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如果只用乘法，则等幂半群未必是交换</a:t>
            </a:r>
          </a:p>
          <a:p>
            <a:pPr>
              <a:lnSpc>
                <a:spcPct val="120000"/>
              </a:lnSpc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半群。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916B05-81F6-43C0-9C95-9C21CB3DE593}" type="slidenum">
              <a:rPr lang="en-US" altLang="ko-KR" smtClean="0"/>
              <a:pPr>
                <a:defRPr/>
              </a:pPr>
              <a:t>31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99579906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内容占位符 2"/>
          <p:cNvSpPr>
            <a:spLocks noGrp="1"/>
          </p:cNvSpPr>
          <p:nvPr>
            <p:ph idx="1"/>
          </p:nvPr>
        </p:nvSpPr>
        <p:spPr>
          <a:xfrm>
            <a:off x="539552" y="692696"/>
            <a:ext cx="8280920" cy="5140325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练习：</a:t>
            </a:r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(R</a:t>
            </a:r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，＋，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·)</a:t>
            </a:r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是一个环，如果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(R</a:t>
            </a:r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，＋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是一个循环群，证明：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是一个交换环。</a:t>
            </a:r>
            <a:endParaRPr lang="en-US" altLang="zh-CN" sz="30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解：</a:t>
            </a:r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因为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(R</a:t>
            </a:r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，＋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是循环群，则必存在生成元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中任意元素可表示为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na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 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Z</a:t>
            </a:r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中任意两个元素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x=ma</a:t>
            </a:r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y=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na</a:t>
            </a:r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x·y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=mana=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mnaa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nama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y·x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endParaRPr lang="zh-CN" altLang="zh-CN" sz="30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因此，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中乘法满足交换律，故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是交换环 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zh-CN" altLang="zh-CN" sz="3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800" b="1" dirty="0" smtClean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1027694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7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27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764704"/>
            <a:ext cx="8301038" cy="5211663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练习：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是环，对所有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R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，有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=a, 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证明：如果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|R|&gt;2 , 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则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不是整区。</a:t>
            </a:r>
            <a:endParaRPr lang="en-US" altLang="zh-CN" sz="30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证明：方法一</a:t>
            </a:r>
            <a:endParaRPr lang="en-US" altLang="zh-CN" sz="3000" dirty="0" smtClean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若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不含单位元，则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不是整区。</a:t>
            </a:r>
            <a:endParaRPr lang="en-US" altLang="zh-CN" sz="30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若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含单位元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，因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|R|&gt;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2 , 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故存在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R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a0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且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1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。于是，</a:t>
            </a:r>
            <a:endParaRPr lang="en-US" altLang="zh-CN" sz="30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由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=a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知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-a=a(a-1)=0 ,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a0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且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a-10 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，故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a-1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为零因子，则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不是整区。</a:t>
            </a: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916B05-81F6-43C0-9C95-9C21CB3DE593}" type="slidenum">
              <a:rPr lang="en-US" altLang="ko-KR" smtClean="0"/>
              <a:pPr>
                <a:defRPr/>
              </a:pPr>
              <a:t>33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19241620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764704"/>
            <a:ext cx="8712967" cy="5211663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练习：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是环，对所有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R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，有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=a, 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证明：如果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|R|&gt;2,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则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不是整区。</a:t>
            </a:r>
            <a:endParaRPr lang="en-US" altLang="zh-CN" sz="30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证明：方法二，反证法</a:t>
            </a:r>
            <a:endParaRPr lang="en-US" altLang="zh-CN" sz="3000" dirty="0" smtClean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假设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是整区，因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|R|&gt;2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故存在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R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a0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且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a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。</a:t>
            </a:r>
            <a:endParaRPr lang="en-US" altLang="zh-CN" sz="30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因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=a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，知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a(a-1)=0 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，因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是无零因子环，</a:t>
            </a:r>
            <a:endParaRPr lang="en-US" altLang="zh-CN" sz="30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则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a=0 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或者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a=1,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与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a0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且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1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矛盾。</a:t>
            </a:r>
            <a:endParaRPr lang="en-US" altLang="zh-CN" sz="30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故假设不成立。</a:t>
            </a:r>
            <a:endParaRPr lang="en-US" altLang="zh-CN" sz="30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综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上，若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|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R|&gt;2,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则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不是整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区。</a:t>
            </a: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916B05-81F6-43C0-9C95-9C21CB3DE593}" type="slidenum">
              <a:rPr lang="en-US" altLang="ko-KR" smtClean="0"/>
              <a:pPr>
                <a:defRPr/>
              </a:pPr>
              <a:t>34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41660313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1975" y="692696"/>
            <a:ext cx="8301038" cy="5355679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3000" b="1" kern="1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随堂练习</a:t>
            </a:r>
            <a:r>
              <a:rPr lang="zh-CN" altLang="en-US" sz="3000" b="1" kern="1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：</a:t>
            </a:r>
            <a:r>
              <a:rPr lang="zh-CN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置换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(123)(342)</a:t>
            </a:r>
            <a:r>
              <a:rPr lang="zh-CN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的周期是</a:t>
            </a:r>
            <a:r>
              <a:rPr lang="en-US" altLang="zh-CN" sz="3200" u="sng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zh-CN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解：</a:t>
            </a:r>
            <a:endParaRPr lang="en-US" altLang="zh-CN" sz="3000" dirty="0" smtClean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(123)(342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(123)(342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)=(1)(2)(3)(4)=</a:t>
            </a:r>
            <a:r>
              <a:rPr lang="en-US" altLang="zh-CN" sz="2800" dirty="0" smtClean="0">
                <a:ea typeface="宋体" panose="02010600030101010101" pitchFamily="2" charset="-122"/>
                <a:cs typeface="Arial" panose="020B0604020202020204" pitchFamily="34" charset="0"/>
              </a:rPr>
              <a:t>I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916B05-81F6-43C0-9C95-9C21CB3DE593}" type="slidenum">
              <a:rPr lang="en-US" altLang="ko-KR" smtClean="0"/>
              <a:pPr>
                <a:defRPr/>
              </a:pPr>
              <a:t>35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0803032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476672"/>
            <a:ext cx="8640960" cy="5904656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zh-CN" altLang="en-US" sz="3000" b="1" kern="1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随堂练习</a:t>
            </a:r>
            <a:r>
              <a:rPr lang="zh-CN" altLang="en-US" sz="3000" b="1" kern="1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：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设集合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A={1,2,3,...,10}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，问下述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a)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e)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中共有</a:t>
            </a:r>
            <a:r>
              <a:rPr lang="en-US" altLang="zh-CN" sz="2800" u="sng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3 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个代数系统</a:t>
            </a:r>
            <a:r>
              <a:rPr lang="zh-CN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zh-CN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lvl="0" indent="0">
              <a:buNone/>
            </a:pP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a) (A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*)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，其中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 * y = max(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x,y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lang="zh-CN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lvl="0" indent="0">
              <a:buNone/>
            </a:pP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b) (A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*)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，其中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 * y = min(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x,y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lang="zh-CN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lvl="0" indent="0">
              <a:buNone/>
            </a:pP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c) (A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*)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，其中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 * y = (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x,y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), (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x,y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表示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的最高公因正整数</a:t>
            </a:r>
          </a:p>
          <a:p>
            <a:pPr marL="0" lvl="0" indent="0">
              <a:buNone/>
            </a:pP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d)(A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*)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，其中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 * y = [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x,y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], [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x,y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]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表示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的最小公倍正整数</a:t>
            </a:r>
          </a:p>
          <a:p>
            <a:pPr marL="0" lvl="0" indent="0">
              <a:buNone/>
            </a:pP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e)(A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*)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，其中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 * y = 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质数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的个数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使得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x-1 &lt; p &lt; y+1</a:t>
            </a:r>
            <a:endParaRPr lang="zh-CN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zh-CN" altLang="zh-CN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解：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a) ,b), c) 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是代数系统</a:t>
            </a:r>
          </a:p>
          <a:p>
            <a:pPr marL="0" indent="0">
              <a:buNone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d)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不是 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 *10 = [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x,y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]= 30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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endParaRPr lang="zh-CN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e)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不是 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1*1=0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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endParaRPr lang="zh-CN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zh-CN" dirty="0" smtClean="0"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916B05-81F6-43C0-9C95-9C21CB3DE593}" type="slidenum">
              <a:rPr lang="en-US" altLang="ko-KR" smtClean="0"/>
              <a:pPr>
                <a:defRPr/>
              </a:pPr>
              <a:t>36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20370113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692696"/>
            <a:ext cx="8395469" cy="5355679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3000" b="1" kern="1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随堂练习</a:t>
            </a:r>
            <a:r>
              <a:rPr lang="zh-CN" altLang="en-US" sz="3000" b="1" kern="1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：</a:t>
            </a:r>
            <a:endParaRPr lang="en-US" altLang="zh-CN" sz="3000" b="1" kern="100" dirty="0" smtClean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次对称群中周期是奇数的置换是</a:t>
            </a:r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奇置换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(× )</a:t>
            </a:r>
            <a:endParaRPr lang="zh-CN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解析：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次对称群中</a:t>
            </a:r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(123)</a:t>
            </a:r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周期为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，但为</a:t>
            </a:r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偶置换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30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G={1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5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7}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*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为模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9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的乘法，则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(G , * )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为群</a:t>
            </a:r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(×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lang="en-US" altLang="zh-CN" sz="30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有限群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|G|=24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中一定存在周期为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12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的元素</a:t>
            </a:r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(×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916B05-81F6-43C0-9C95-9C21CB3DE593}" type="slidenum">
              <a:rPr lang="en-US" altLang="ko-KR" smtClean="0"/>
              <a:pPr>
                <a:defRPr/>
              </a:pPr>
              <a:t>37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17991920"/>
      </p:ext>
    </p:extLst>
  </p:cSld>
  <p:clrMapOvr>
    <a:masterClrMapping/>
  </p:clrMapOvr>
  <p:transition spd="med">
    <p:rand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620688"/>
            <a:ext cx="8467477" cy="5427687"/>
          </a:xfrm>
        </p:spPr>
        <p:txBody>
          <a:bodyPr/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zh-CN" altLang="en-US" sz="3000" b="1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随堂练习：</a:t>
            </a:r>
            <a:endParaRPr lang="en-US" altLang="zh-CN" sz="3000" b="1" dirty="0" smtClean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是实数集</a:t>
            </a:r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kern="1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3000" kern="1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*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是非零实数集，则下列映射是代数运算的是（</a:t>
            </a: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B </a:t>
            </a:r>
            <a:r>
              <a:rPr lang="zh-CN" altLang="zh-CN" sz="3000" kern="1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endParaRPr lang="en-US" altLang="zh-CN" sz="3000" kern="1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1)*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上的映射，其中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*(a)=-a,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aR</a:t>
            </a:r>
          </a:p>
          <a:p>
            <a:pPr marL="0" lvl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2)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kern="1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en-US" altLang="zh-CN" sz="3000" kern="100" baseline="-25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(R)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是全体实数矩阵的</a:t>
            </a:r>
            <a:r>
              <a:rPr lang="zh-CN" altLang="zh-CN" sz="3000" kern="1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集合</a:t>
            </a:r>
            <a:r>
              <a:rPr lang="en-US" altLang="zh-CN" sz="3000" kern="1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*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kern="1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en-US" altLang="zh-CN" sz="3000" kern="100" baseline="-25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(R)</a:t>
            </a: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</a:t>
            </a: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kern="1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en-US" altLang="zh-CN" sz="3000" kern="100" baseline="-25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(R)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到</a:t>
            </a:r>
            <a:r>
              <a:rPr lang="en-US" altLang="zh-CN" sz="3000" kern="1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en-US" altLang="zh-CN" sz="3000" kern="100" baseline="-25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(R)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上的映射</a:t>
            </a:r>
            <a:r>
              <a:rPr lang="en-US" altLang="zh-CN" sz="3000" kern="1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;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00" kern="1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3)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定义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*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是如下映射：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*(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x,y,z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)=z,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x,y,z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;</a:t>
            </a:r>
            <a:endParaRPr lang="zh-CN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4)R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*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上的加法和乘法运算；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(A)1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), 2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);  (B)1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), 2), 3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);  (C)3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), 4)</a:t>
            </a:r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；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(D)1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), 3), 4)</a:t>
            </a:r>
            <a:r>
              <a:rPr lang="zh-CN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；</a:t>
            </a:r>
            <a:endParaRPr lang="zh-CN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zh-CN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解</a:t>
            </a:r>
            <a:r>
              <a:rPr lang="zh-CN" altLang="zh-CN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：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看成一元运算</a:t>
            </a:r>
            <a:endParaRPr lang="zh-CN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lvl="0" indent="0" algn="just">
              <a:lnSpc>
                <a:spcPct val="120000"/>
              </a:lnSpc>
              <a:spcAft>
                <a:spcPts val="0"/>
              </a:spcAft>
              <a:buNone/>
            </a:pPr>
            <a:endParaRPr lang="zh-CN" altLang="zh-CN" sz="28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20000"/>
              </a:lnSpc>
              <a:spcAft>
                <a:spcPts val="0"/>
              </a:spcAft>
              <a:buNone/>
            </a:pPr>
            <a:endParaRPr lang="zh-CN" altLang="zh-CN" sz="28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916B05-81F6-43C0-9C95-9C21CB3DE593}" type="slidenum">
              <a:rPr lang="en-US" altLang="ko-KR" smtClean="0"/>
              <a:pPr>
                <a:defRPr/>
              </a:pPr>
              <a:t>38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052793"/>
      </p:ext>
    </p:extLst>
  </p:cSld>
  <p:clrMapOvr>
    <a:masterClrMapping/>
  </p:clrMapOvr>
  <p:transition spd="med">
    <p:rand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9"/>
          <p:cNvSpPr>
            <a:spLocks noGrp="1"/>
          </p:cNvSpPr>
          <p:nvPr>
            <p:ph idx="1"/>
          </p:nvPr>
        </p:nvSpPr>
        <p:spPr>
          <a:xfrm>
            <a:off x="506569" y="1149350"/>
            <a:ext cx="8301038" cy="5355654"/>
          </a:xfrm>
        </p:spPr>
        <p:txBody>
          <a:bodyPr/>
          <a:lstStyle/>
          <a:p>
            <a:pPr marL="0" indent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元循环群，</a:t>
            </a:r>
            <a:r>
              <a:rPr lang="en-US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是生成元。设</a:t>
            </a:r>
            <a:r>
              <a:rPr lang="en-US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的最高公因为</a:t>
            </a:r>
            <a:r>
              <a:rPr lang="en-US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，试证明：</a:t>
            </a:r>
            <a:r>
              <a:rPr lang="en-US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</a:t>
            </a:r>
            <a:r>
              <a:rPr lang="en-US" altLang="zh-CN" sz="2800" kern="100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)=(a</a:t>
            </a:r>
            <a:r>
              <a:rPr lang="en-US" altLang="zh-CN" sz="2800" kern="100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8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证明：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d|m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，所以，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∈(a</a:t>
            </a:r>
            <a:r>
              <a:rPr lang="en-US" altLang="zh-CN" sz="2800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，故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</a:t>
            </a:r>
            <a:r>
              <a:rPr lang="en-US" altLang="zh-CN" sz="2800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</a:t>
            </a:r>
            <a:r>
              <a:rPr lang="en-US" altLang="zh-CN" sz="2800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0" indent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的最高公因，所以存在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，使得</a:t>
            </a:r>
          </a:p>
          <a:p>
            <a:pPr marL="0" indent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d=</a:t>
            </a:r>
            <a:r>
              <a:rPr lang="en-US" altLang="zh-CN" sz="28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km+ln</a:t>
            </a:r>
            <a:r>
              <a:rPr lang="zh-CN" altLang="en-US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。于是，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sz="28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aseline="300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km+ln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28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aseline="300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km</a:t>
            </a:r>
            <a:r>
              <a:rPr lang="en-US" altLang="zh-CN" sz="28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aseline="300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ln</a:t>
            </a:r>
            <a:endParaRPr lang="en-US" altLang="zh-CN" sz="2800" baseline="300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4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G=(a)</a:t>
            </a:r>
            <a:r>
              <a:rPr lang="zh-CN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元循环群，</a:t>
            </a:r>
            <a:r>
              <a:rPr lang="en-US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是生成元知，</a:t>
            </a:r>
            <a:r>
              <a:rPr lang="en-US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kern="100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=1</a:t>
            </a:r>
            <a:r>
              <a:rPr lang="zh-CN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</a:t>
            </a:r>
            <a:r>
              <a:rPr lang="zh-CN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故</a:t>
            </a:r>
            <a:r>
              <a:rPr lang="en-US" altLang="zh-CN" sz="2800" kern="1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kern="100" baseline="300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ln</a:t>
            </a:r>
            <a:r>
              <a:rPr lang="en-US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=1</a:t>
            </a:r>
            <a:r>
              <a:rPr lang="zh-CN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，代入上式得：</a:t>
            </a:r>
            <a:r>
              <a:rPr lang="en-US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kern="100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800" kern="1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kern="100" baseline="300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km</a:t>
            </a:r>
            <a:r>
              <a:rPr lang="zh-CN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800" kern="1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4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而</a:t>
            </a:r>
            <a:r>
              <a:rPr lang="en-US" altLang="zh-CN" sz="2800" kern="1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kern="100" baseline="300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km</a:t>
            </a:r>
            <a:r>
              <a:rPr lang="zh-CN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∈</a:t>
            </a:r>
            <a:r>
              <a:rPr lang="en-US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</a:t>
            </a:r>
            <a:r>
              <a:rPr lang="en-US" altLang="zh-CN" sz="2800" kern="100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，从而</a:t>
            </a:r>
            <a:r>
              <a:rPr lang="en-US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kern="100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∈</a:t>
            </a:r>
            <a:r>
              <a:rPr lang="en-US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</a:t>
            </a:r>
            <a:r>
              <a:rPr lang="en-US" altLang="zh-CN" sz="2800" kern="100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en-US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故</a:t>
            </a:r>
          </a:p>
          <a:p>
            <a:pPr marL="0" indent="0" algn="just">
              <a:lnSpc>
                <a:spcPct val="114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</a:t>
            </a:r>
            <a:r>
              <a:rPr lang="en-US" altLang="zh-CN" sz="2800" kern="100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 </a:t>
            </a:r>
            <a:r>
              <a:rPr lang="en-US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</a:t>
            </a:r>
            <a:r>
              <a:rPr lang="en-US" altLang="zh-CN" sz="2800" kern="100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800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lnSpc>
                <a:spcPct val="114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因此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</a:t>
            </a:r>
            <a:r>
              <a:rPr lang="en-US" altLang="zh-CN" sz="2800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)=(a</a:t>
            </a:r>
            <a:r>
              <a:rPr lang="en-US" altLang="zh-CN" sz="2800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zh-CN" altLang="en-US" sz="2800" kern="1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zh-CN" altLang="zh-CN" sz="2800" kern="100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altLang="zh-CN" sz="2800" baseline="30000" dirty="0" smtClean="0"/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/>
              <a:t> 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zh-CN" altLang="en-US" sz="28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1BA873-E572-4244-AFE3-F18298C0EBCE}" type="slidenum">
              <a:rPr lang="en-US" altLang="ko-KR" smtClean="0"/>
              <a:pPr>
                <a:defRPr/>
              </a:pPr>
              <a:t>39</a:t>
            </a:fld>
            <a:endParaRPr lang="en-US" altLang="ko-KR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90538" y="476250"/>
            <a:ext cx="8020050" cy="673100"/>
          </a:xfrm>
        </p:spPr>
        <p:txBody>
          <a:bodyPr/>
          <a:lstStyle/>
          <a:p>
            <a:r>
              <a:rPr lang="zh-CN" altLang="en-US" dirty="0" smtClean="0">
                <a:solidFill>
                  <a:srgbClr val="0000FF"/>
                </a:solidFill>
              </a:rPr>
              <a:t>练习：</a:t>
            </a:r>
          </a:p>
        </p:txBody>
      </p:sp>
    </p:spTree>
    <p:extLst>
      <p:ext uri="{BB962C8B-B14F-4D97-AF65-F5344CB8AC3E}">
        <p14:creationId xmlns:p14="http://schemas.microsoft.com/office/powerpoint/2010/main" val="2677007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170240"/>
            <a:ext cx="8640960" cy="4899025"/>
          </a:xfrm>
        </p:spPr>
        <p:txBody>
          <a:bodyPr/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ea typeface="宋体" panose="02010600030101010101" pitchFamily="2" charset="-122"/>
              </a:rPr>
              <a:t>设</a:t>
            </a:r>
            <a:r>
              <a:rPr lang="en-US" altLang="zh-CN" sz="2800" dirty="0" smtClean="0">
                <a:ea typeface="宋体" panose="02010600030101010101" pitchFamily="2" charset="-122"/>
              </a:rPr>
              <a:t>G=(a)</a:t>
            </a:r>
            <a:r>
              <a:rPr lang="zh-CN" altLang="en-US" sz="2800" dirty="0" smtClean="0">
                <a:ea typeface="宋体" panose="02010600030101010101" pitchFamily="2" charset="-122"/>
              </a:rPr>
              <a:t>为循环群，且</a:t>
            </a:r>
            <a:r>
              <a:rPr lang="en-US" altLang="zh-CN" sz="2800" dirty="0" smtClean="0">
                <a:ea typeface="宋体" panose="02010600030101010101" pitchFamily="2" charset="-122"/>
              </a:rPr>
              <a:t>|G|=n , </a:t>
            </a:r>
            <a:r>
              <a:rPr lang="zh-CN" altLang="en-US" sz="2800" dirty="0" smtClean="0">
                <a:ea typeface="宋体" panose="02010600030101010101" pitchFamily="2" charset="-122"/>
              </a:rPr>
              <a:t>则</a:t>
            </a:r>
            <a:r>
              <a:rPr lang="en-US" altLang="zh-CN" sz="2800" dirty="0" smtClean="0">
                <a:ea typeface="宋体" panose="02010600030101010101" pitchFamily="2" charset="-122"/>
              </a:rPr>
              <a:t>G</a:t>
            </a:r>
            <a:r>
              <a:rPr lang="zh-CN" altLang="en-US" sz="2800" dirty="0" smtClean="0">
                <a:ea typeface="宋体" panose="02010600030101010101" pitchFamily="2" charset="-122"/>
              </a:rPr>
              <a:t>的全部子群为</a:t>
            </a:r>
            <a:endParaRPr lang="en-US" altLang="zh-CN" sz="2800" dirty="0" smtClean="0">
              <a:ea typeface="宋体" panose="02010600030101010101" pitchFamily="2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{ (a</a:t>
            </a:r>
            <a:r>
              <a:rPr lang="en-US" altLang="zh-CN" sz="2800" baseline="300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8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)| d</a:t>
            </a:r>
            <a:r>
              <a:rPr lang="zh-CN" altLang="en-US" sz="28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8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8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的正因数</a:t>
            </a:r>
            <a:r>
              <a:rPr lang="en-US" altLang="zh-CN" sz="28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zh-CN" altLang="en-US" sz="28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800" dirty="0" smtClean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 smtClean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证明：</a:t>
            </a:r>
            <a:r>
              <a:rPr lang="zh-CN" altLang="en-US" sz="28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sz="2800" dirty="0">
                <a:ea typeface="宋体" panose="02010600030101010101" pitchFamily="2" charset="-122"/>
              </a:rPr>
              <a:t>|G|=n , </a:t>
            </a:r>
            <a:r>
              <a:rPr lang="zh-CN" altLang="en-US" sz="2800" dirty="0" smtClean="0">
                <a:ea typeface="宋体" panose="02010600030101010101" pitchFamily="2" charset="-122"/>
              </a:rPr>
              <a:t>对任意正整数</a:t>
            </a:r>
            <a:r>
              <a:rPr lang="en-US" altLang="zh-CN" sz="2800" dirty="0" smtClean="0">
                <a:ea typeface="宋体" panose="02010600030101010101" pitchFamily="2" charset="-122"/>
              </a:rPr>
              <a:t>m</a:t>
            </a:r>
            <a:r>
              <a:rPr lang="zh-CN" altLang="en-US" sz="2800" dirty="0" smtClean="0">
                <a:ea typeface="宋体" panose="02010600030101010101" pitchFamily="2" charset="-122"/>
              </a:rPr>
              <a:t>，设</a:t>
            </a:r>
            <a:r>
              <a:rPr lang="en-US" altLang="zh-CN" sz="2800" dirty="0" err="1" smtClean="0">
                <a:ea typeface="宋体" panose="02010600030101010101" pitchFamily="2" charset="-122"/>
              </a:rPr>
              <a:t>n,m</a:t>
            </a:r>
            <a:r>
              <a:rPr lang="zh-CN" altLang="en-US" sz="2800" dirty="0" smtClean="0">
                <a:ea typeface="宋体" panose="02010600030101010101" pitchFamily="2" charset="-122"/>
              </a:rPr>
              <a:t>的最高公因数为</a:t>
            </a:r>
            <a:r>
              <a:rPr lang="en-US" altLang="zh-CN" sz="2800" dirty="0" smtClean="0">
                <a:ea typeface="宋体" panose="02010600030101010101" pitchFamily="2" charset="-122"/>
              </a:rPr>
              <a:t>d</a:t>
            </a:r>
            <a:r>
              <a:rPr lang="zh-CN" altLang="en-US" sz="2800" dirty="0" smtClean="0">
                <a:ea typeface="宋体" panose="02010600030101010101" pitchFamily="2" charset="-122"/>
              </a:rPr>
              <a:t>，即</a:t>
            </a:r>
            <a:r>
              <a:rPr lang="en-US" altLang="zh-CN" sz="2800" dirty="0" smtClean="0">
                <a:ea typeface="宋体" panose="02010600030101010101" pitchFamily="2" charset="-122"/>
              </a:rPr>
              <a:t>d=(</a:t>
            </a:r>
            <a:r>
              <a:rPr lang="en-US" altLang="zh-CN" sz="2800" dirty="0" err="1" smtClean="0">
                <a:ea typeface="宋体" panose="02010600030101010101" pitchFamily="2" charset="-122"/>
              </a:rPr>
              <a:t>n,m</a:t>
            </a:r>
            <a:r>
              <a:rPr lang="en-US" altLang="zh-CN" sz="2800" dirty="0" smtClean="0">
                <a:ea typeface="宋体" panose="02010600030101010101" pitchFamily="2" charset="-122"/>
              </a:rPr>
              <a:t>)</a:t>
            </a:r>
            <a:r>
              <a:rPr lang="zh-CN" altLang="en-US" sz="2800" dirty="0" smtClean="0">
                <a:ea typeface="宋体" panose="02010600030101010101" pitchFamily="2" charset="-122"/>
              </a:rPr>
              <a:t>，则</a:t>
            </a:r>
            <a:r>
              <a:rPr lang="en-US" altLang="zh-CN" sz="2800" dirty="0" smtClean="0">
                <a:ea typeface="宋体" panose="02010600030101010101" pitchFamily="2" charset="-122"/>
              </a:rPr>
              <a:t>(a</a:t>
            </a:r>
            <a:r>
              <a:rPr lang="en-US" altLang="zh-CN" sz="2800" baseline="30000" dirty="0" smtClean="0">
                <a:ea typeface="宋体" panose="02010600030101010101" pitchFamily="2" charset="-122"/>
              </a:rPr>
              <a:t>m</a:t>
            </a:r>
            <a:r>
              <a:rPr lang="en-US" altLang="zh-CN" sz="2800" dirty="0" smtClean="0">
                <a:ea typeface="宋体" panose="02010600030101010101" pitchFamily="2" charset="-122"/>
              </a:rPr>
              <a:t>)=(a</a:t>
            </a:r>
            <a:r>
              <a:rPr lang="en-US" altLang="zh-CN" sz="2800" baseline="30000" dirty="0" smtClean="0">
                <a:ea typeface="宋体" panose="02010600030101010101" pitchFamily="2" charset="-122"/>
              </a:rPr>
              <a:t>d</a:t>
            </a:r>
            <a:r>
              <a:rPr lang="en-US" altLang="zh-CN" sz="2800" dirty="0" smtClean="0">
                <a:ea typeface="宋体" panose="02010600030101010101" pitchFamily="2" charset="-122"/>
              </a:rPr>
              <a:t>)</a:t>
            </a:r>
            <a:r>
              <a:rPr lang="zh-CN" altLang="en-US" sz="2800" dirty="0" smtClean="0">
                <a:ea typeface="宋体" panose="02010600030101010101" pitchFamily="2" charset="-122"/>
              </a:rPr>
              <a:t>。设</a:t>
            </a:r>
            <a:r>
              <a:rPr lang="en-US" altLang="zh-CN" sz="2800" dirty="0" smtClean="0">
                <a:ea typeface="宋体" panose="02010600030101010101" pitchFamily="2" charset="-122"/>
              </a:rPr>
              <a:t>d</a:t>
            </a:r>
            <a:r>
              <a:rPr lang="en-US" altLang="zh-CN" sz="2800" baseline="-25000" dirty="0" smtClean="0">
                <a:ea typeface="宋体" panose="02010600030101010101" pitchFamily="2" charset="-122"/>
              </a:rPr>
              <a:t>1</a:t>
            </a:r>
            <a:r>
              <a:rPr lang="en-US" altLang="zh-CN" sz="2800" dirty="0" smtClean="0">
                <a:ea typeface="宋体" panose="02010600030101010101" pitchFamily="2" charset="-122"/>
              </a:rPr>
              <a:t>&gt;d</a:t>
            </a:r>
            <a:r>
              <a:rPr lang="en-US" altLang="zh-CN" sz="2800" baseline="-25000" dirty="0" smtClean="0">
                <a:ea typeface="宋体" panose="02010600030101010101" pitchFamily="2" charset="-122"/>
              </a:rPr>
              <a:t>2</a:t>
            </a:r>
            <a:r>
              <a:rPr lang="zh-CN" altLang="en-US" sz="2800" dirty="0" smtClean="0">
                <a:ea typeface="宋体" panose="02010600030101010101" pitchFamily="2" charset="-122"/>
              </a:rPr>
              <a:t>为</a:t>
            </a:r>
            <a:r>
              <a:rPr lang="en-US" altLang="zh-CN" sz="2800" dirty="0" smtClean="0">
                <a:ea typeface="宋体" panose="02010600030101010101" pitchFamily="2" charset="-122"/>
              </a:rPr>
              <a:t>n</a:t>
            </a:r>
            <a:r>
              <a:rPr lang="zh-CN" altLang="en-US" sz="2800" dirty="0" smtClean="0">
                <a:ea typeface="宋体" panose="02010600030101010101" pitchFamily="2" charset="-122"/>
              </a:rPr>
              <a:t>的两个不同的正因数，则</a:t>
            </a:r>
            <a:r>
              <a:rPr lang="en-US" altLang="zh-CN" sz="2800" dirty="0" smtClean="0">
                <a:ea typeface="宋体" panose="02010600030101010101" pitchFamily="2" charset="-122"/>
              </a:rPr>
              <a:t>d</a:t>
            </a:r>
            <a:r>
              <a:rPr lang="en-US" altLang="zh-CN" sz="2800" baseline="-25000" dirty="0" smtClean="0">
                <a:ea typeface="宋体" panose="02010600030101010101" pitchFamily="2" charset="-122"/>
              </a:rPr>
              <a:t>1</a:t>
            </a:r>
            <a:r>
              <a:rPr lang="zh-CN" altLang="en-US" sz="2800" dirty="0">
                <a:ea typeface="宋体" panose="02010600030101010101" pitchFamily="2" charset="-122"/>
              </a:rPr>
              <a:t> </a:t>
            </a:r>
            <a:r>
              <a:rPr lang="zh-CN" altLang="en-US" sz="2800" dirty="0" smtClean="0">
                <a:ea typeface="宋体" panose="02010600030101010101" pitchFamily="2" charset="-122"/>
              </a:rPr>
              <a:t>‌∤</a:t>
            </a:r>
            <a:r>
              <a:rPr lang="en-US" altLang="zh-CN" sz="2800" dirty="0" smtClean="0">
                <a:ea typeface="宋体" panose="02010600030101010101" pitchFamily="2" charset="-122"/>
              </a:rPr>
              <a:t>d</a:t>
            </a:r>
            <a:r>
              <a:rPr lang="en-US" altLang="zh-CN" sz="2800" baseline="-25000" dirty="0" smtClean="0">
                <a:ea typeface="宋体" panose="02010600030101010101" pitchFamily="2" charset="-122"/>
              </a:rPr>
              <a:t>2</a:t>
            </a:r>
            <a:r>
              <a:rPr lang="en-US" altLang="zh-CN" sz="2800" dirty="0" smtClean="0">
                <a:ea typeface="宋体" panose="02010600030101010101" pitchFamily="2" charset="-122"/>
              </a:rPr>
              <a:t> ,</a:t>
            </a:r>
            <a:r>
              <a:rPr lang="zh-CN" altLang="en-US" sz="2800" dirty="0" smtClean="0">
                <a:ea typeface="宋体" panose="02010600030101010101" pitchFamily="2" charset="-122"/>
              </a:rPr>
              <a:t>故</a:t>
            </a:r>
            <a:r>
              <a:rPr lang="en-US" altLang="zh-CN" sz="2800" dirty="0" smtClean="0">
                <a:ea typeface="宋体" panose="02010600030101010101" pitchFamily="2" charset="-122"/>
              </a:rPr>
              <a:t>a</a:t>
            </a:r>
            <a:r>
              <a:rPr lang="en-US" altLang="zh-CN" sz="2800" baseline="30000" dirty="0" smtClean="0">
                <a:ea typeface="宋体" panose="02010600030101010101" pitchFamily="2" charset="-122"/>
              </a:rPr>
              <a:t>d2</a:t>
            </a:r>
            <a:r>
              <a:rPr lang="en-US" altLang="zh-CN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(a</a:t>
            </a:r>
            <a:r>
              <a:rPr lang="en-US" altLang="zh-CN" sz="2800" baseline="30000" dirty="0" smtClean="0">
                <a:ea typeface="宋体" panose="02010600030101010101" pitchFamily="2" charset="-122"/>
                <a:sym typeface="Symbol" panose="05050102010706020507" pitchFamily="18" charset="2"/>
              </a:rPr>
              <a:t>d1</a:t>
            </a:r>
            <a:r>
              <a:rPr lang="en-US" altLang="zh-CN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，故</a:t>
            </a:r>
            <a:r>
              <a:rPr lang="en-US" altLang="zh-CN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dirty="0" smtClean="0">
                <a:ea typeface="宋体" panose="02010600030101010101" pitchFamily="2" charset="-122"/>
              </a:rPr>
              <a:t>a</a:t>
            </a:r>
            <a:r>
              <a:rPr lang="en-US" altLang="zh-CN" sz="2800" baseline="30000" dirty="0" smtClean="0">
                <a:ea typeface="宋体" panose="02010600030101010101" pitchFamily="2" charset="-122"/>
              </a:rPr>
              <a:t>d2</a:t>
            </a:r>
            <a:r>
              <a:rPr lang="en-US" altLang="zh-CN" sz="2800" dirty="0" smtClean="0">
                <a:ea typeface="宋体" panose="02010600030101010101" pitchFamily="2" charset="-122"/>
              </a:rPr>
              <a:t>)</a:t>
            </a:r>
            <a:r>
              <a:rPr lang="en-US" altLang="zh-CN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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(a</a:t>
            </a:r>
            <a:r>
              <a:rPr lang="en-US" altLang="zh-CN" sz="2800" baseline="30000" dirty="0">
                <a:ea typeface="宋体" panose="02010600030101010101" pitchFamily="2" charset="-122"/>
                <a:sym typeface="Symbol" panose="05050102010706020507" pitchFamily="18" charset="2"/>
              </a:rPr>
              <a:t>d1</a:t>
            </a:r>
            <a:r>
              <a:rPr lang="en-US" altLang="zh-CN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另一方面，对</a:t>
            </a:r>
            <a:r>
              <a:rPr lang="en-US" altLang="zh-CN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的任一正因子</a:t>
            </a:r>
            <a:r>
              <a:rPr lang="en-US" altLang="zh-CN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d&lt;n , a</a:t>
            </a:r>
            <a:r>
              <a:rPr lang="en-US" altLang="zh-CN" sz="2800" baseline="30000" dirty="0" smtClean="0">
                <a:ea typeface="宋体" panose="02010600030101010101" pitchFamily="2" charset="-122"/>
                <a:sym typeface="Symbol" panose="05050102010706020507" pitchFamily="18" charset="2"/>
              </a:rPr>
              <a:t>d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 e </a:t>
            </a:r>
            <a:r>
              <a:rPr lang="zh-CN" altLang="en-US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，故</a:t>
            </a:r>
            <a:r>
              <a:rPr lang="en-US" altLang="zh-CN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(a</a:t>
            </a:r>
            <a:r>
              <a:rPr lang="en-US" altLang="zh-CN" sz="2800" baseline="30000" dirty="0" smtClean="0">
                <a:ea typeface="宋体" panose="02010600030101010101" pitchFamily="2" charset="-122"/>
                <a:sym typeface="Symbol" panose="05050102010706020507" pitchFamily="18" charset="2"/>
              </a:rPr>
              <a:t>d</a:t>
            </a:r>
            <a:r>
              <a:rPr lang="en-US" altLang="zh-CN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 (e),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而</a:t>
            </a:r>
            <a:r>
              <a:rPr lang="en-US" altLang="zh-CN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(a</a:t>
            </a:r>
            <a:r>
              <a:rPr lang="en-US" altLang="zh-CN" sz="2800" baseline="30000" dirty="0" smtClean="0"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)= ( e )={e}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综</a:t>
            </a:r>
            <a:r>
              <a:rPr lang="zh-CN" altLang="en-US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上，</a:t>
            </a:r>
            <a:r>
              <a:rPr lang="en-US" altLang="zh-CN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zh-CN" altLang="en-US" sz="2800" dirty="0" smtClean="0">
                <a:ea typeface="宋体" panose="02010600030101010101" pitchFamily="2" charset="-122"/>
                <a:sym typeface="Symbol" panose="05050102010706020507" pitchFamily="18" charset="2"/>
              </a:rPr>
              <a:t>的全部子群为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{ (a</a:t>
            </a:r>
            <a:r>
              <a:rPr lang="en-US" altLang="zh-CN" sz="2800" baseline="30000" dirty="0"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)| d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ea typeface="宋体" panose="02010600030101010101" pitchFamily="2" charset="-122"/>
                <a:cs typeface="Times New Roman" panose="02020603050405020304" pitchFamily="18" charset="0"/>
              </a:rPr>
              <a:t>的正因数</a:t>
            </a:r>
            <a:r>
              <a:rPr lang="en-US" altLang="zh-CN" sz="28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zh-CN" altLang="en-US" sz="28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800" dirty="0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en-US" altLang="zh-CN" sz="2800" dirty="0" smtClean="0"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2916B05-81F6-43C0-9C95-9C21CB3DE593}" type="slidenum">
              <a:rPr lang="en-US" altLang="ko-KR" smtClean="0"/>
              <a:pPr>
                <a:defRPr/>
              </a:pPr>
              <a:t>40</a:t>
            </a:fld>
            <a:endParaRPr lang="en-US" altLang="ko-KR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90538" y="476250"/>
            <a:ext cx="8020050" cy="673100"/>
          </a:xfrm>
        </p:spPr>
        <p:txBody>
          <a:bodyPr/>
          <a:lstStyle/>
          <a:p>
            <a:r>
              <a:rPr lang="zh-CN" altLang="en-US" dirty="0" smtClean="0">
                <a:solidFill>
                  <a:srgbClr val="0000FF"/>
                </a:solidFill>
              </a:rPr>
              <a:t>练习：</a:t>
            </a:r>
          </a:p>
        </p:txBody>
      </p:sp>
    </p:spTree>
    <p:extLst>
      <p:ext uri="{BB962C8B-B14F-4D97-AF65-F5344CB8AC3E}">
        <p14:creationId xmlns:p14="http://schemas.microsoft.com/office/powerpoint/2010/main" val="3859035740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内容占位符 2"/>
          <p:cNvSpPr>
            <a:spLocks noGrp="1"/>
          </p:cNvSpPr>
          <p:nvPr>
            <p:ph idx="1"/>
          </p:nvPr>
        </p:nvSpPr>
        <p:spPr>
          <a:xfrm>
            <a:off x="561975" y="765175"/>
            <a:ext cx="8186738" cy="5283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>
                <a:solidFill>
                  <a:srgbClr val="0000FF"/>
                </a:solidFill>
                <a:ea typeface="宋体" pitchFamily="2" charset="-122"/>
              </a:rPr>
              <a:t>Note</a:t>
            </a:r>
            <a:r>
              <a:rPr lang="zh-CN" altLang="en-US" sz="2800" b="1" dirty="0" smtClean="0">
                <a:solidFill>
                  <a:srgbClr val="0000FF"/>
                </a:solidFill>
                <a:ea typeface="宋体" pitchFamily="2" charset="-122"/>
              </a:rPr>
              <a:t>：如何证明（</a:t>
            </a:r>
            <a:r>
              <a:rPr lang="en-US" altLang="zh-CN" sz="2800" b="1" dirty="0" smtClean="0">
                <a:solidFill>
                  <a:srgbClr val="0000FF"/>
                </a:solidFill>
                <a:ea typeface="宋体" pitchFamily="2" charset="-122"/>
              </a:rPr>
              <a:t>G, . )</a:t>
            </a:r>
            <a:r>
              <a:rPr lang="zh-CN" altLang="en-US" sz="2800" b="1" dirty="0" smtClean="0">
                <a:solidFill>
                  <a:srgbClr val="0000FF"/>
                </a:solidFill>
                <a:ea typeface="宋体" pitchFamily="2" charset="-122"/>
              </a:rPr>
              <a:t>是群</a:t>
            </a:r>
            <a:endParaRPr lang="en-US" altLang="zh-CN" sz="2800" b="1" dirty="0" smtClean="0">
              <a:solidFill>
                <a:srgbClr val="0000FF"/>
              </a:solidFill>
              <a:ea typeface="宋体" pitchFamily="2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>
                <a:ea typeface="宋体" pitchFamily="2" charset="-122"/>
              </a:rPr>
              <a:t>(1)</a:t>
            </a:r>
            <a:r>
              <a:rPr lang="zh-CN" altLang="en-US" sz="2800" b="1" dirty="0" smtClean="0">
                <a:ea typeface="宋体" pitchFamily="2" charset="-122"/>
              </a:rPr>
              <a:t>定义法 ，共</a:t>
            </a:r>
            <a:r>
              <a:rPr lang="en-US" altLang="zh-CN" sz="2800" b="1" dirty="0" smtClean="0">
                <a:ea typeface="宋体" pitchFamily="2" charset="-122"/>
              </a:rPr>
              <a:t>5</a:t>
            </a:r>
            <a:r>
              <a:rPr lang="zh-CN" altLang="en-US" sz="2800" b="1" dirty="0" smtClean="0">
                <a:ea typeface="宋体" pitchFamily="2" charset="-122"/>
              </a:rPr>
              <a:t>条 </a:t>
            </a:r>
            <a:endParaRPr lang="en-US" altLang="zh-CN" sz="2800" b="1" dirty="0" smtClean="0">
              <a:ea typeface="宋体" pitchFamily="2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>
                <a:ea typeface="宋体" pitchFamily="2" charset="-122"/>
              </a:rPr>
              <a:t>(2) </a:t>
            </a:r>
            <a:r>
              <a:rPr lang="zh-CN" altLang="en-US" sz="2800" b="1" dirty="0" smtClean="0">
                <a:ea typeface="宋体" pitchFamily="2" charset="-122"/>
              </a:rPr>
              <a:t>半群＋可除条件为群。</a:t>
            </a:r>
            <a:r>
              <a:rPr lang="en-US" altLang="zh-CN" sz="2800" b="1" dirty="0" smtClean="0">
                <a:ea typeface="宋体" pitchFamily="2" charset="-122"/>
              </a:rPr>
              <a:t>(</a:t>
            </a:r>
            <a:r>
              <a:rPr lang="zh-CN" altLang="en-US" sz="2800" b="1" dirty="0" smtClean="0">
                <a:ea typeface="宋体" pitchFamily="2" charset="-122"/>
              </a:rPr>
              <a:t>群中可除条件成立</a:t>
            </a:r>
            <a:r>
              <a:rPr lang="en-US" altLang="zh-CN" sz="2800" b="1" dirty="0" smtClean="0">
                <a:ea typeface="宋体" pitchFamily="2" charset="-122"/>
              </a:rPr>
              <a:t>)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>
                <a:ea typeface="宋体" pitchFamily="2" charset="-122"/>
              </a:rPr>
              <a:t>(3)</a:t>
            </a:r>
            <a:r>
              <a:rPr lang="zh-CN" altLang="en-US" sz="2800" b="1" dirty="0" smtClean="0">
                <a:ea typeface="宋体" pitchFamily="2" charset="-122"/>
              </a:rPr>
              <a:t>有限＋半群＋消去律为群。</a:t>
            </a:r>
            <a:r>
              <a:rPr lang="en-US" altLang="zh-CN" sz="2800" b="1" dirty="0" smtClean="0">
                <a:ea typeface="宋体" pitchFamily="2" charset="-122"/>
              </a:rPr>
              <a:t>(</a:t>
            </a:r>
            <a:r>
              <a:rPr lang="zh-CN" altLang="en-US" sz="2800" b="1" dirty="0" smtClean="0">
                <a:ea typeface="宋体" pitchFamily="2" charset="-122"/>
              </a:rPr>
              <a:t>群中消去律成立</a:t>
            </a:r>
            <a:r>
              <a:rPr lang="en-US" altLang="zh-CN" sz="2800" b="1" dirty="0" smtClean="0">
                <a:ea typeface="宋体" pitchFamily="2" charset="-122"/>
              </a:rPr>
              <a:t>)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>
                <a:solidFill>
                  <a:srgbClr val="0000FF"/>
                </a:solidFill>
                <a:ea typeface="宋体" pitchFamily="2" charset="-122"/>
              </a:rPr>
              <a:t>Note:</a:t>
            </a: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sz="2800" b="1" dirty="0" smtClean="0">
                <a:solidFill>
                  <a:srgbClr val="0000FF"/>
                </a:solidFill>
                <a:ea typeface="宋体" pitchFamily="2" charset="-122"/>
                <a:sym typeface="Symbol" pitchFamily="18" charset="2"/>
              </a:rPr>
              <a:t>可除条件：</a:t>
            </a: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b="1" dirty="0" smtClean="0">
                <a:ea typeface="宋体" pitchFamily="2" charset="-122"/>
                <a:sym typeface="Symbol" pitchFamily="18" charset="2"/>
              </a:rPr>
              <a:t>对于任意</a:t>
            </a:r>
            <a:r>
              <a:rPr lang="en-US" altLang="zh-CN" sz="2800" b="1" dirty="0" smtClean="0">
                <a:ea typeface="宋体" pitchFamily="2" charset="-122"/>
                <a:sym typeface="Symbol" pitchFamily="18" charset="2"/>
              </a:rPr>
              <a:t>a</a:t>
            </a:r>
            <a:r>
              <a:rPr lang="zh-CN" altLang="en-US" sz="2800" b="1" dirty="0" smtClean="0">
                <a:ea typeface="宋体" pitchFamily="2" charset="-122"/>
                <a:sym typeface="Symbol" pitchFamily="18" charset="2"/>
              </a:rPr>
              <a:t>，</a:t>
            </a:r>
            <a:r>
              <a:rPr lang="en-US" altLang="zh-CN" sz="2800" b="1" dirty="0" smtClean="0">
                <a:ea typeface="宋体" pitchFamily="2" charset="-122"/>
                <a:sym typeface="Symbol" pitchFamily="18" charset="2"/>
              </a:rPr>
              <a:t>b</a:t>
            </a:r>
            <a:r>
              <a:rPr lang="zh-CN" altLang="en-US" sz="2800" b="1" dirty="0" smtClean="0">
                <a:ea typeface="宋体" pitchFamily="2" charset="-122"/>
                <a:sym typeface="Symbol" pitchFamily="18" charset="2"/>
              </a:rPr>
              <a:t> ∈</a:t>
            </a:r>
            <a:r>
              <a:rPr lang="en-US" altLang="zh-CN" sz="2800" b="1" dirty="0" smtClean="0">
                <a:ea typeface="宋体" pitchFamily="2" charset="-122"/>
                <a:sym typeface="Symbol" pitchFamily="18" charset="2"/>
              </a:rPr>
              <a:t>G</a:t>
            </a:r>
            <a:r>
              <a:rPr lang="zh-CN" altLang="en-US" sz="2800" b="1" dirty="0" smtClean="0">
                <a:ea typeface="宋体" pitchFamily="2" charset="-122"/>
                <a:sym typeface="Symbol" pitchFamily="18" charset="2"/>
              </a:rPr>
              <a:t>，有</a:t>
            </a:r>
            <a:r>
              <a:rPr lang="en-US" altLang="zh-CN" sz="2800" b="1" i="1" dirty="0" smtClean="0">
                <a:ea typeface="宋体" pitchFamily="2" charset="-122"/>
                <a:sym typeface="Symbol" pitchFamily="18" charset="2"/>
              </a:rPr>
              <a:t>x</a:t>
            </a:r>
            <a:r>
              <a:rPr lang="zh-CN" altLang="en-US" sz="2800" b="1" dirty="0" smtClean="0">
                <a:ea typeface="宋体" pitchFamily="2" charset="-122"/>
                <a:sym typeface="Symbol" pitchFamily="18" charset="2"/>
              </a:rPr>
              <a:t>使</a:t>
            </a:r>
            <a:r>
              <a:rPr lang="en-US" altLang="zh-CN" sz="2800" b="1" i="1" dirty="0" smtClean="0">
                <a:ea typeface="宋体" pitchFamily="2" charset="-122"/>
                <a:sym typeface="Symbol" pitchFamily="18" charset="2"/>
              </a:rPr>
              <a:t>x</a:t>
            </a:r>
            <a:r>
              <a:rPr lang="zh-CN" altLang="en-US" sz="2800" b="1" dirty="0" smtClean="0">
                <a:ea typeface="宋体" pitchFamily="2" charset="-122"/>
                <a:sym typeface="Symbol" pitchFamily="18" charset="2"/>
              </a:rPr>
              <a:t> </a:t>
            </a:r>
            <a:r>
              <a:rPr lang="en-US" altLang="zh-CN" sz="2800" b="1" dirty="0" smtClean="0">
                <a:ea typeface="宋体" pitchFamily="2" charset="-122"/>
                <a:sym typeface="Symbol" pitchFamily="18" charset="2"/>
              </a:rPr>
              <a:t>· a=b</a:t>
            </a:r>
            <a:r>
              <a:rPr lang="zh-CN" altLang="en-US" sz="2800" b="1" dirty="0" smtClean="0">
                <a:ea typeface="宋体" pitchFamily="2" charset="-122"/>
                <a:sym typeface="Symbol" pitchFamily="18" charset="2"/>
              </a:rPr>
              <a:t>，又有 </a:t>
            </a:r>
            <a:r>
              <a:rPr lang="en-US" altLang="zh-CN" sz="2800" b="1" dirty="0" smtClean="0">
                <a:ea typeface="宋体" pitchFamily="2" charset="-122"/>
                <a:sym typeface="Symbol" pitchFamily="18" charset="2"/>
              </a:rPr>
              <a:t>y</a:t>
            </a:r>
            <a:r>
              <a:rPr lang="zh-CN" altLang="en-US" sz="2800" b="1" dirty="0" smtClean="0">
                <a:ea typeface="宋体" pitchFamily="2" charset="-122"/>
                <a:sym typeface="Symbol" pitchFamily="18" charset="2"/>
              </a:rPr>
              <a:t>使 </a:t>
            </a:r>
            <a:r>
              <a:rPr lang="en-US" altLang="zh-CN" sz="2800" b="1" dirty="0" err="1" smtClean="0">
                <a:ea typeface="宋体" pitchFamily="2" charset="-122"/>
                <a:sym typeface="Symbol" pitchFamily="18" charset="2"/>
              </a:rPr>
              <a:t>a·y</a:t>
            </a:r>
            <a:r>
              <a:rPr lang="en-US" altLang="zh-CN" sz="2800" b="1" dirty="0" smtClean="0">
                <a:ea typeface="宋体" pitchFamily="2" charset="-122"/>
                <a:sym typeface="Symbol" pitchFamily="18" charset="2"/>
              </a:rPr>
              <a:t>=b</a:t>
            </a:r>
            <a:r>
              <a:rPr lang="zh-CN" altLang="en-US" sz="2800" b="1" dirty="0" smtClean="0">
                <a:ea typeface="宋体" pitchFamily="2" charset="-122"/>
                <a:sym typeface="Symbol" pitchFamily="18" charset="2"/>
              </a:rPr>
              <a:t>。</a:t>
            </a:r>
            <a:endParaRPr lang="en-US" altLang="zh-CN" sz="2800" b="1" dirty="0" smtClean="0">
              <a:ea typeface="宋体" pitchFamily="2" charset="-122"/>
              <a:sym typeface="Symbol" pitchFamily="18" charset="2"/>
            </a:endParaRP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sz="2800" b="1" dirty="0" smtClean="0">
                <a:solidFill>
                  <a:srgbClr val="0000FF"/>
                </a:solidFill>
                <a:ea typeface="宋体" pitchFamily="2" charset="-122"/>
                <a:sym typeface="Symbol" pitchFamily="18" charset="2"/>
              </a:rPr>
              <a:t>消去律：</a:t>
            </a:r>
            <a:r>
              <a:rPr lang="zh-CN" altLang="en-US" sz="2800" b="1" dirty="0" smtClean="0">
                <a:ea typeface="宋体" pitchFamily="2" charset="-122"/>
                <a:sym typeface="Symbol" pitchFamily="18" charset="2"/>
              </a:rPr>
              <a:t>对于</a:t>
            </a:r>
            <a:r>
              <a:rPr lang="en-US" altLang="zh-CN" sz="2800" b="1" dirty="0" smtClean="0">
                <a:ea typeface="宋体" pitchFamily="2" charset="-122"/>
                <a:sym typeface="Symbol" pitchFamily="18" charset="2"/>
              </a:rPr>
              <a:t>G</a:t>
            </a:r>
            <a:r>
              <a:rPr lang="zh-CN" altLang="en-US" sz="2800" b="1" dirty="0" smtClean="0">
                <a:ea typeface="宋体" pitchFamily="2" charset="-122"/>
                <a:sym typeface="Symbol" pitchFamily="18" charset="2"/>
              </a:rPr>
              <a:t>中任意</a:t>
            </a:r>
            <a:r>
              <a:rPr lang="en-US" altLang="zh-CN" sz="2800" b="1" dirty="0" smtClean="0">
                <a:ea typeface="宋体" pitchFamily="2" charset="-122"/>
                <a:sym typeface="Symbol" pitchFamily="18" charset="2"/>
              </a:rPr>
              <a:t>3</a:t>
            </a:r>
            <a:r>
              <a:rPr lang="zh-CN" altLang="en-US" sz="2800" b="1" dirty="0" smtClean="0">
                <a:ea typeface="宋体" pitchFamily="2" charset="-122"/>
                <a:sym typeface="Symbol" pitchFamily="18" charset="2"/>
              </a:rPr>
              <a:t>个元素</a:t>
            </a:r>
            <a:r>
              <a:rPr lang="en-US" altLang="zh-CN" sz="2800" b="1" dirty="0" err="1" smtClean="0">
                <a:ea typeface="宋体" pitchFamily="2" charset="-122"/>
                <a:sym typeface="Symbol" pitchFamily="18" charset="2"/>
              </a:rPr>
              <a:t>a,b,c</a:t>
            </a:r>
            <a:r>
              <a:rPr lang="zh-CN" altLang="en-US" sz="2800" b="1" dirty="0" smtClean="0">
                <a:ea typeface="宋体" pitchFamily="2" charset="-122"/>
                <a:sym typeface="Symbol" pitchFamily="18" charset="2"/>
              </a:rPr>
              <a:t>，满足</a:t>
            </a:r>
            <a:endParaRPr lang="en-US" altLang="zh-CN" sz="2800" b="1" dirty="0" smtClean="0">
              <a:ea typeface="宋体" pitchFamily="2" charset="-122"/>
              <a:sym typeface="Symbol" pitchFamily="18" charset="2"/>
            </a:endParaRP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>
                <a:ea typeface="宋体" pitchFamily="2" charset="-122"/>
                <a:sym typeface="Symbol" pitchFamily="18" charset="2"/>
              </a:rPr>
              <a:t>(1)</a:t>
            </a:r>
            <a:r>
              <a:rPr lang="zh-CN" altLang="en-US" sz="2800" b="1" dirty="0" smtClean="0">
                <a:ea typeface="宋体" pitchFamily="2" charset="-122"/>
                <a:sym typeface="Symbol" pitchFamily="18" charset="2"/>
              </a:rPr>
              <a:t>若</a:t>
            </a:r>
            <a:r>
              <a:rPr lang="en-US" altLang="zh-CN" sz="2800" b="1" dirty="0" smtClean="0">
                <a:ea typeface="宋体" pitchFamily="2" charset="-122"/>
                <a:sym typeface="Symbol" pitchFamily="18" charset="2"/>
              </a:rPr>
              <a:t>a*b=a*c , </a:t>
            </a:r>
            <a:r>
              <a:rPr lang="zh-CN" altLang="en-US" sz="2800" b="1" dirty="0" smtClean="0">
                <a:ea typeface="宋体" pitchFamily="2" charset="-122"/>
                <a:sym typeface="Symbol" pitchFamily="18" charset="2"/>
              </a:rPr>
              <a:t>则</a:t>
            </a:r>
            <a:r>
              <a:rPr lang="en-US" altLang="zh-CN" sz="2800" b="1" dirty="0" smtClean="0">
                <a:ea typeface="宋体" pitchFamily="2" charset="-122"/>
                <a:sym typeface="Symbol" pitchFamily="18" charset="2"/>
              </a:rPr>
              <a:t>b=c</a:t>
            </a: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>
                <a:ea typeface="宋体" pitchFamily="2" charset="-122"/>
                <a:sym typeface="Symbol" pitchFamily="18" charset="2"/>
              </a:rPr>
              <a:t>(2)b*a=c*a, </a:t>
            </a:r>
            <a:r>
              <a:rPr lang="zh-CN" altLang="en-US" sz="2800" b="1" dirty="0" smtClean="0">
                <a:ea typeface="宋体" pitchFamily="2" charset="-122"/>
                <a:sym typeface="Symbol" pitchFamily="18" charset="2"/>
              </a:rPr>
              <a:t>则</a:t>
            </a:r>
            <a:r>
              <a:rPr lang="en-US" altLang="zh-CN" sz="2800" b="1" dirty="0" smtClean="0">
                <a:ea typeface="宋体" pitchFamily="2" charset="-122"/>
                <a:sym typeface="Symbol" pitchFamily="18" charset="2"/>
              </a:rPr>
              <a:t>b=c</a:t>
            </a:r>
            <a:endParaRPr lang="zh-CN" altLang="en-US" sz="2800" b="1" dirty="0" smtClean="0">
              <a:ea typeface="宋体" pitchFamily="2" charset="-122"/>
              <a:sym typeface="Symbol" pitchFamily="18" charset="2"/>
            </a:endParaRPr>
          </a:p>
          <a:p>
            <a:pPr>
              <a:buFont typeface="Wingdings" panose="05000000000000000000" pitchFamily="2" charset="2"/>
              <a:buNone/>
              <a:defRPr/>
            </a:pPr>
            <a:endParaRPr lang="zh-CN" altLang="en-US" sz="3000" b="1" dirty="0" smtClean="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036633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750" y="609600"/>
            <a:ext cx="7772400" cy="641350"/>
          </a:xfrm>
        </p:spPr>
        <p:txBody>
          <a:bodyPr>
            <a:spAutoFit/>
          </a:bodyPr>
          <a:lstStyle/>
          <a:p>
            <a:pPr eaLnBrk="1" hangingPunct="1"/>
            <a:r>
              <a:rPr lang="zh-CN" altLang="en-US" b="0" smtClean="0">
                <a:sym typeface="Symbol" panose="05050102010706020507" pitchFamily="18" charset="2"/>
              </a:rPr>
              <a:t>群的一些结论：</a:t>
            </a:r>
            <a:endParaRPr lang="zh-CN" altLang="zh-CN" b="0" smtClean="0">
              <a:sym typeface="Symbol" panose="05050102010706020507" pitchFamily="18" charset="2"/>
            </a:endParaRPr>
          </a:p>
        </p:txBody>
      </p:sp>
      <p:sp>
        <p:nvSpPr>
          <p:cNvPr id="64515" name="Rectangle 3"/>
          <p:cNvSpPr>
            <a:spLocks noChangeArrowheads="1"/>
          </p:cNvSpPr>
          <p:nvPr/>
        </p:nvSpPr>
        <p:spPr bwMode="auto">
          <a:xfrm>
            <a:off x="250825" y="1341438"/>
            <a:ext cx="8893175" cy="518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indent="185738" eaLnBrk="1" latinLnBrk="1" hangingPunct="1">
              <a:lnSpc>
                <a:spcPct val="125000"/>
              </a:lnSpc>
              <a:spcBef>
                <a:spcPts val="0"/>
              </a:spcBef>
              <a:buClr>
                <a:srgbClr val="3333CC"/>
              </a:buClr>
              <a:defRPr/>
            </a:pPr>
            <a:r>
              <a:rPr lang="en-US" altLang="zh-CN" sz="3200" b="1" dirty="0">
                <a:solidFill>
                  <a:srgbClr val="0000FF"/>
                </a:solidFill>
                <a:ea typeface="楷体_GB2312" pitchFamily="49" charset="-122"/>
                <a:sym typeface="Symbol" pitchFamily="18" charset="2"/>
              </a:rPr>
              <a:t>◆</a:t>
            </a:r>
            <a:r>
              <a:rPr lang="zh-CN" altLang="en-US" sz="3200" b="1" dirty="0">
                <a:solidFill>
                  <a:srgbClr val="000000"/>
                </a:solidFill>
                <a:latin typeface="Times New Roman"/>
                <a:ea typeface="宋体" pitchFamily="2" charset="-122"/>
                <a:sym typeface="Symbol" pitchFamily="18" charset="2"/>
              </a:rPr>
              <a:t>消去律成立</a:t>
            </a:r>
          </a:p>
          <a:p>
            <a:pPr indent="185738" eaLnBrk="1" latinLnBrk="1" hangingPunct="1">
              <a:lnSpc>
                <a:spcPct val="125000"/>
              </a:lnSpc>
              <a:spcBef>
                <a:spcPts val="0"/>
              </a:spcBef>
              <a:buClr>
                <a:srgbClr val="3333CC"/>
              </a:buClr>
              <a:defRPr/>
            </a:pPr>
            <a:r>
              <a:rPr lang="en-US" altLang="zh-CN" sz="3200" b="1" dirty="0">
                <a:solidFill>
                  <a:srgbClr val="0000FF"/>
                </a:solidFill>
                <a:latin typeface="Times New Roman"/>
                <a:ea typeface="宋体" pitchFamily="2" charset="-122"/>
                <a:sym typeface="Symbol" pitchFamily="18" charset="2"/>
              </a:rPr>
              <a:t>◆</a:t>
            </a:r>
            <a:r>
              <a:rPr lang="zh-CN" altLang="en-US" sz="3200" b="1" dirty="0">
                <a:solidFill>
                  <a:srgbClr val="000000"/>
                </a:solidFill>
                <a:latin typeface="Times New Roman"/>
                <a:ea typeface="宋体" pitchFamily="2" charset="-122"/>
                <a:sym typeface="Symbol" pitchFamily="18" charset="2"/>
              </a:rPr>
              <a:t>其运算表中每一行或每一列中元素互不相同。</a:t>
            </a:r>
          </a:p>
          <a:p>
            <a:pPr indent="185738" eaLnBrk="1" latinLnBrk="1" hangingPunct="1">
              <a:lnSpc>
                <a:spcPct val="125000"/>
              </a:lnSpc>
              <a:spcBef>
                <a:spcPts val="0"/>
              </a:spcBef>
              <a:buClr>
                <a:srgbClr val="3333CC"/>
              </a:buClr>
              <a:defRPr/>
            </a:pPr>
            <a:r>
              <a:rPr lang="en-US" altLang="zh-CN" sz="3200" b="1" dirty="0">
                <a:solidFill>
                  <a:srgbClr val="0000FF"/>
                </a:solidFill>
                <a:latin typeface="Times New Roman"/>
                <a:ea typeface="宋体" pitchFamily="2" charset="-122"/>
                <a:sym typeface="Symbol" pitchFamily="18" charset="2"/>
              </a:rPr>
              <a:t>◆</a:t>
            </a:r>
            <a:r>
              <a:rPr lang="zh-CN" altLang="en-US" sz="3200" b="1" dirty="0">
                <a:solidFill>
                  <a:srgbClr val="000000"/>
                </a:solidFill>
                <a:latin typeface="Times New Roman"/>
                <a:ea typeface="宋体" pitchFamily="2" charset="-122"/>
                <a:sym typeface="Symbol" pitchFamily="18" charset="2"/>
              </a:rPr>
              <a:t>存在唯一的幂等元</a:t>
            </a:r>
            <a:r>
              <a:rPr lang="en-US" altLang="zh-CN" sz="3200" b="1" dirty="0">
                <a:solidFill>
                  <a:srgbClr val="000000"/>
                </a:solidFill>
                <a:latin typeface="Times New Roman"/>
                <a:ea typeface="宋体" pitchFamily="2" charset="-122"/>
                <a:sym typeface="Symbol" pitchFamily="18" charset="2"/>
              </a:rPr>
              <a:t>1</a:t>
            </a:r>
            <a:r>
              <a:rPr lang="zh-CN" altLang="en-US" sz="3200" b="1" dirty="0">
                <a:solidFill>
                  <a:srgbClr val="000000"/>
                </a:solidFill>
                <a:latin typeface="Times New Roman"/>
                <a:ea typeface="宋体" pitchFamily="2" charset="-122"/>
                <a:sym typeface="Symbol" pitchFamily="18" charset="2"/>
              </a:rPr>
              <a:t>（单位元）。</a:t>
            </a:r>
          </a:p>
          <a:p>
            <a:pPr marL="542925" indent="-357188" eaLnBrk="1" latinLnBrk="1" hangingPunct="1">
              <a:lnSpc>
                <a:spcPct val="125000"/>
              </a:lnSpc>
              <a:spcBef>
                <a:spcPts val="0"/>
              </a:spcBef>
              <a:buClr>
                <a:srgbClr val="3333CC"/>
              </a:buClr>
              <a:defRPr/>
            </a:pPr>
            <a:r>
              <a:rPr lang="en-US" altLang="zh-CN" sz="3200" b="1" dirty="0">
                <a:solidFill>
                  <a:srgbClr val="0000FF"/>
                </a:solidFill>
                <a:latin typeface="Times New Roman"/>
                <a:ea typeface="宋体" pitchFamily="2" charset="-122"/>
                <a:sym typeface="Symbol" pitchFamily="18" charset="2"/>
              </a:rPr>
              <a:t>◆</a:t>
            </a:r>
            <a:r>
              <a:rPr lang="zh-CN" altLang="en-US" sz="3200" b="1" dirty="0">
                <a:solidFill>
                  <a:srgbClr val="000000"/>
                </a:solidFill>
                <a:latin typeface="Times New Roman"/>
                <a:ea typeface="宋体" pitchFamily="2" charset="-122"/>
                <a:sym typeface="Symbol" pitchFamily="18" charset="2"/>
              </a:rPr>
              <a:t>一元群、二元群、三元群是唯一的，且都是      </a:t>
            </a:r>
            <a:r>
              <a:rPr lang="zh-CN" altLang="en-US" sz="3200" b="1" dirty="0">
                <a:solidFill>
                  <a:srgbClr val="C00000"/>
                </a:solidFill>
                <a:latin typeface="Times New Roman"/>
                <a:ea typeface="宋体" pitchFamily="2" charset="-122"/>
                <a:sym typeface="Symbol" pitchFamily="18" charset="2"/>
              </a:rPr>
              <a:t>交换群</a:t>
            </a:r>
          </a:p>
          <a:p>
            <a:pPr indent="185738" eaLnBrk="1" latinLnBrk="1" hangingPunct="1">
              <a:lnSpc>
                <a:spcPct val="125000"/>
              </a:lnSpc>
              <a:spcBef>
                <a:spcPts val="0"/>
              </a:spcBef>
              <a:buClr>
                <a:srgbClr val="3333CC"/>
              </a:buClr>
              <a:defRPr/>
            </a:pPr>
            <a:r>
              <a:rPr lang="en-US" altLang="zh-CN" sz="3200" b="1" dirty="0">
                <a:solidFill>
                  <a:srgbClr val="0000FF"/>
                </a:solidFill>
                <a:latin typeface="Times New Roman"/>
                <a:ea typeface="宋体" pitchFamily="2" charset="-122"/>
                <a:sym typeface="Symbol" pitchFamily="18" charset="2"/>
              </a:rPr>
              <a:t>◆</a:t>
            </a:r>
            <a:r>
              <a:rPr lang="zh-CN" altLang="en-US" sz="3200" b="1" dirty="0">
                <a:solidFill>
                  <a:srgbClr val="000000"/>
                </a:solidFill>
                <a:latin typeface="Times New Roman"/>
                <a:ea typeface="宋体" pitchFamily="2" charset="-122"/>
                <a:sym typeface="Symbol" pitchFamily="18" charset="2"/>
              </a:rPr>
              <a:t>含有单位元的半群成为独异点</a:t>
            </a:r>
            <a:r>
              <a:rPr lang="zh-CN" altLang="en-US" sz="3200" dirty="0">
                <a:solidFill>
                  <a:srgbClr val="000000"/>
                </a:solidFill>
                <a:latin typeface="Times New Roman"/>
                <a:ea typeface="宋体" pitchFamily="2" charset="-122"/>
                <a:sym typeface="Symbol" pitchFamily="18" charset="2"/>
              </a:rPr>
              <a:t>。</a:t>
            </a:r>
            <a:endParaRPr lang="en-US" altLang="zh-CN" sz="3200" dirty="0">
              <a:solidFill>
                <a:srgbClr val="000000"/>
              </a:solidFill>
              <a:latin typeface="Times New Roman"/>
              <a:ea typeface="宋体" pitchFamily="2" charset="-122"/>
              <a:sym typeface="Symbol" pitchFamily="18" charset="2"/>
            </a:endParaRPr>
          </a:p>
          <a:p>
            <a:pPr marL="185738" eaLnBrk="1" latinLnBrk="1" hangingPunct="1">
              <a:lnSpc>
                <a:spcPct val="125000"/>
              </a:lnSpc>
              <a:spcBef>
                <a:spcPts val="0"/>
              </a:spcBef>
              <a:buClr>
                <a:srgbClr val="3333CC"/>
              </a:buClr>
              <a:buFont typeface="Wingdings" pitchFamily="2" charset="2"/>
              <a:buChar char="u"/>
              <a:defRPr/>
            </a:pPr>
            <a:r>
              <a:rPr lang="zh-CN" altLang="en-US" sz="3200" b="1" dirty="0">
                <a:solidFill>
                  <a:srgbClr val="000000"/>
                </a:solidFill>
                <a:latin typeface="Times New Roman"/>
                <a:ea typeface="宋体" pitchFamily="2" charset="-122"/>
                <a:sym typeface="Symbol" pitchFamily="18" charset="2"/>
              </a:rPr>
              <a:t>有限半群，一定含有幂等元</a:t>
            </a:r>
            <a:endParaRPr lang="zh-CN" altLang="en-US" sz="3200" dirty="0">
              <a:solidFill>
                <a:srgbClr val="000000"/>
              </a:solidFill>
              <a:latin typeface="Times New Roman"/>
              <a:ea typeface="宋体" pitchFamily="2" charset="-122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988589657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0" y="549275"/>
            <a:ext cx="8042275" cy="5283200"/>
          </a:xfrm>
        </p:spPr>
        <p:txBody>
          <a:bodyPr/>
          <a:lstStyle/>
          <a:p>
            <a:pPr>
              <a:spcBef>
                <a:spcPct val="0"/>
              </a:spcBef>
              <a:buClr>
                <a:srgbClr val="0000FF"/>
              </a:buClr>
              <a:defRPr/>
            </a:pPr>
            <a:r>
              <a:rPr lang="zh-CN" altLang="en-US" sz="2600" b="1" dirty="0" smtClean="0">
                <a:solidFill>
                  <a:srgbClr val="0000FF"/>
                </a:solidFill>
                <a:ea typeface="宋体" pitchFamily="2" charset="-122"/>
                <a:cs typeface="Times New Roman" pitchFamily="18" charset="0"/>
                <a:sym typeface="Symbol" pitchFamily="18" charset="2"/>
              </a:rPr>
              <a:t>定理</a:t>
            </a:r>
            <a:r>
              <a:rPr lang="en-US" altLang="zh-CN" sz="2600" b="1" dirty="0" smtClean="0">
                <a:solidFill>
                  <a:srgbClr val="0000FF"/>
                </a:solidFill>
                <a:ea typeface="宋体" pitchFamily="2" charset="-122"/>
                <a:cs typeface="Times New Roman" pitchFamily="18" charset="0"/>
                <a:sym typeface="Symbol" pitchFamily="18" charset="2"/>
              </a:rPr>
              <a:t>6.3.1 </a:t>
            </a:r>
            <a:r>
              <a:rPr lang="zh-CN" altLang="en-US" sz="2600" b="1" dirty="0" smtClean="0">
                <a:solidFill>
                  <a:srgbClr val="0000FF"/>
                </a:solidFill>
                <a:ea typeface="宋体" pitchFamily="2" charset="-122"/>
                <a:cs typeface="Times New Roman" pitchFamily="18" charset="0"/>
                <a:sym typeface="Symbol" pitchFamily="18" charset="2"/>
              </a:rPr>
              <a:t>（判别条件一）   </a:t>
            </a:r>
          </a:p>
          <a:p>
            <a:pPr marL="0" indent="0"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zh-CN" altLang="en-US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群</a:t>
            </a:r>
            <a:r>
              <a:rPr lang="en-US" altLang="zh-CN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G</a:t>
            </a:r>
            <a:r>
              <a:rPr lang="zh-CN" altLang="en-US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的一个子集</a:t>
            </a:r>
            <a:r>
              <a:rPr lang="en-US" altLang="zh-CN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H</a:t>
            </a:r>
            <a:r>
              <a:rPr lang="zh-CN" altLang="en-US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是</a:t>
            </a:r>
            <a:r>
              <a:rPr lang="en-US" altLang="zh-CN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G</a:t>
            </a:r>
            <a:r>
              <a:rPr lang="zh-CN" altLang="en-US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的一个子群的充分必要条件是</a:t>
            </a:r>
          </a:p>
          <a:p>
            <a:pPr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 altLang="zh-CN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(1)    </a:t>
            </a:r>
            <a:r>
              <a:rPr lang="zh-CN" altLang="en-US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若</a:t>
            </a:r>
            <a:r>
              <a:rPr lang="en-US" altLang="zh-CN" sz="2600" b="1" dirty="0" err="1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a∈H</a:t>
            </a:r>
            <a:r>
              <a:rPr lang="zh-CN" altLang="en-US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，</a:t>
            </a:r>
            <a:r>
              <a:rPr lang="en-US" altLang="zh-CN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b ∈ H</a:t>
            </a:r>
            <a:r>
              <a:rPr lang="zh-CN" altLang="en-US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，则</a:t>
            </a:r>
            <a:r>
              <a:rPr lang="en-US" altLang="zh-CN" sz="2600" b="1" dirty="0" err="1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a·b</a:t>
            </a:r>
            <a:r>
              <a:rPr lang="en-US" altLang="zh-CN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 ∈ H</a:t>
            </a:r>
            <a:r>
              <a:rPr lang="zh-CN" altLang="en-US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；</a:t>
            </a:r>
          </a:p>
          <a:p>
            <a:pPr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 altLang="zh-CN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(2)    </a:t>
            </a:r>
            <a:r>
              <a:rPr lang="zh-CN" altLang="en-US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若</a:t>
            </a:r>
            <a:r>
              <a:rPr lang="en-US" altLang="zh-CN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a ∈ H</a:t>
            </a:r>
            <a:r>
              <a:rPr lang="zh-CN" altLang="en-US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，则</a:t>
            </a:r>
            <a:r>
              <a:rPr lang="en-US" altLang="zh-CN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a</a:t>
            </a:r>
            <a:r>
              <a:rPr lang="en-US" altLang="zh-CN" sz="2600" b="1" baseline="30000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-1 </a:t>
            </a:r>
            <a:r>
              <a:rPr lang="en-US" altLang="zh-CN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∈ H</a:t>
            </a:r>
            <a:r>
              <a:rPr lang="zh-CN" altLang="en-US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；</a:t>
            </a:r>
          </a:p>
          <a:p>
            <a:pPr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 altLang="zh-CN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(3)    H</a:t>
            </a:r>
            <a:r>
              <a:rPr lang="zh-CN" altLang="en-US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非空</a:t>
            </a:r>
            <a:endParaRPr lang="en-US" altLang="zh-CN" sz="2600" b="1" dirty="0" smtClean="0">
              <a:ea typeface="宋体" pitchFamily="2" charset="-122"/>
              <a:cs typeface="Times New Roman" pitchFamily="18" charset="0"/>
              <a:sym typeface="Symbol" pitchFamily="18" charset="2"/>
            </a:endParaRPr>
          </a:p>
          <a:p>
            <a:pPr>
              <a:spcBef>
                <a:spcPct val="0"/>
              </a:spcBef>
              <a:buClr>
                <a:srgbClr val="0000FF"/>
              </a:buClr>
              <a:defRPr/>
            </a:pPr>
            <a:r>
              <a:rPr lang="zh-CN" altLang="en-US" sz="2600" b="1" dirty="0" smtClean="0">
                <a:solidFill>
                  <a:srgbClr val="0000FF"/>
                </a:solidFill>
                <a:ea typeface="宋体" pitchFamily="2" charset="-122"/>
                <a:sym typeface="Symbol" pitchFamily="18" charset="2"/>
              </a:rPr>
              <a:t>定理</a:t>
            </a:r>
            <a:r>
              <a:rPr lang="en-US" altLang="zh-CN" sz="2600" b="1" dirty="0" smtClean="0">
                <a:solidFill>
                  <a:srgbClr val="0000FF"/>
                </a:solidFill>
                <a:ea typeface="宋体" pitchFamily="2" charset="-122"/>
                <a:sym typeface="Symbol" pitchFamily="18" charset="2"/>
              </a:rPr>
              <a:t>6.3.2</a:t>
            </a:r>
            <a:r>
              <a:rPr lang="zh-CN" altLang="en-US" sz="2600" b="1" dirty="0" smtClean="0">
                <a:solidFill>
                  <a:srgbClr val="0000FF"/>
                </a:solidFill>
                <a:ea typeface="宋体" pitchFamily="2" charset="-122"/>
                <a:sym typeface="Symbol" pitchFamily="18" charset="2"/>
              </a:rPr>
              <a:t>（判别条件二）</a:t>
            </a:r>
            <a:endParaRPr lang="en-US" altLang="zh-CN" sz="2600" b="1" dirty="0" smtClean="0">
              <a:solidFill>
                <a:srgbClr val="0000FF"/>
              </a:solidFill>
              <a:ea typeface="宋体" pitchFamily="2" charset="-122"/>
              <a:sym typeface="Symbol" pitchFamily="18" charset="2"/>
            </a:endParaRPr>
          </a:p>
          <a:p>
            <a:pPr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 altLang="zh-CN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 (1) H</a:t>
            </a:r>
            <a:r>
              <a:rPr lang="zh-CN" altLang="en-US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非空</a:t>
            </a:r>
            <a:endParaRPr lang="en-US" altLang="zh-CN" sz="2600" b="1" dirty="0" smtClean="0">
              <a:ea typeface="宋体" pitchFamily="2" charset="-122"/>
              <a:cs typeface="Times New Roman" pitchFamily="18" charset="0"/>
              <a:sym typeface="Symbol" pitchFamily="18" charset="2"/>
            </a:endParaRPr>
          </a:p>
          <a:p>
            <a:pPr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 altLang="zh-CN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 (2)</a:t>
            </a:r>
            <a:r>
              <a:rPr lang="zh-CN" altLang="en-US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若</a:t>
            </a:r>
            <a:r>
              <a:rPr lang="en-US" altLang="zh-CN" sz="2600" b="1" dirty="0" err="1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a</a:t>
            </a:r>
            <a:r>
              <a:rPr lang="en-US" altLang="zh-CN" sz="2600" b="1" dirty="0" err="1" smtClean="0">
                <a:ea typeface="宋体" pitchFamily="2" charset="-122"/>
                <a:sym typeface="Symbol" pitchFamily="18" charset="2"/>
              </a:rPr>
              <a:t>∈</a:t>
            </a:r>
            <a:r>
              <a:rPr lang="en-US" altLang="zh-CN" sz="2600" b="1" dirty="0" err="1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H,b</a:t>
            </a:r>
            <a:r>
              <a:rPr lang="en-US" altLang="zh-CN" sz="2600" b="1" dirty="0" err="1" smtClean="0">
                <a:ea typeface="宋体" pitchFamily="2" charset="-122"/>
                <a:sym typeface="Symbol" pitchFamily="18" charset="2"/>
              </a:rPr>
              <a:t>∈</a:t>
            </a:r>
            <a:r>
              <a:rPr lang="en-US" altLang="zh-CN" sz="2600" b="1" dirty="0" err="1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H</a:t>
            </a:r>
            <a:r>
              <a:rPr lang="zh-CN" altLang="en-US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，则</a:t>
            </a:r>
            <a:r>
              <a:rPr lang="en-US" altLang="zh-CN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a·b</a:t>
            </a:r>
            <a:r>
              <a:rPr lang="en-US" altLang="zh-CN" sz="2600" b="1" baseline="30000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-1</a:t>
            </a:r>
            <a:r>
              <a:rPr lang="en-US" altLang="zh-CN" sz="2600" b="1" dirty="0" smtClean="0">
                <a:ea typeface="宋体" pitchFamily="2" charset="-122"/>
                <a:sym typeface="Symbol" pitchFamily="18" charset="2"/>
              </a:rPr>
              <a:t>∈</a:t>
            </a:r>
            <a:r>
              <a:rPr lang="en-US" altLang="zh-CN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H</a:t>
            </a:r>
            <a:r>
              <a:rPr lang="zh-CN" altLang="en-US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。</a:t>
            </a:r>
            <a:endParaRPr lang="en-US" altLang="zh-CN" sz="2600" b="1" dirty="0" smtClean="0">
              <a:ea typeface="宋体" pitchFamily="2" charset="-122"/>
              <a:cs typeface="Times New Roman" pitchFamily="18" charset="0"/>
              <a:sym typeface="Symbol" pitchFamily="18" charset="2"/>
            </a:endParaRPr>
          </a:p>
          <a:p>
            <a:pPr>
              <a:spcBef>
                <a:spcPct val="0"/>
              </a:spcBef>
              <a:buClr>
                <a:srgbClr val="0000FF"/>
              </a:buClr>
              <a:defRPr/>
            </a:pPr>
            <a:r>
              <a:rPr lang="zh-CN" altLang="en-US" sz="2600" b="1" dirty="0" smtClean="0">
                <a:solidFill>
                  <a:srgbClr val="0000FF"/>
                </a:solidFill>
                <a:ea typeface="宋体" pitchFamily="2" charset="-122"/>
                <a:cs typeface="Times New Roman" pitchFamily="18" charset="0"/>
                <a:sym typeface="Symbol" pitchFamily="18" charset="2"/>
              </a:rPr>
              <a:t>定理</a:t>
            </a:r>
            <a:r>
              <a:rPr lang="en-US" altLang="zh-CN" sz="2600" b="1" dirty="0" smtClean="0">
                <a:solidFill>
                  <a:srgbClr val="0000FF"/>
                </a:solidFill>
                <a:ea typeface="宋体" pitchFamily="2" charset="-122"/>
                <a:cs typeface="Times New Roman" pitchFamily="18" charset="0"/>
                <a:sym typeface="Symbol" pitchFamily="18" charset="2"/>
              </a:rPr>
              <a:t>6.3.3</a:t>
            </a:r>
            <a:r>
              <a:rPr lang="zh-CN" altLang="en-US" sz="2600" b="1" dirty="0" smtClean="0">
                <a:solidFill>
                  <a:srgbClr val="0000FF"/>
                </a:solidFill>
                <a:ea typeface="宋体" pitchFamily="2" charset="-122"/>
                <a:cs typeface="Times New Roman" pitchFamily="18" charset="0"/>
                <a:sym typeface="Symbol" pitchFamily="18" charset="2"/>
              </a:rPr>
              <a:t>（判别条件三）   </a:t>
            </a:r>
            <a:endParaRPr lang="en-US" altLang="zh-CN" sz="2600" b="1" dirty="0" smtClean="0">
              <a:solidFill>
                <a:srgbClr val="0000FF"/>
              </a:solidFill>
              <a:ea typeface="宋体" pitchFamily="2" charset="-122"/>
              <a:cs typeface="Times New Roman" pitchFamily="18" charset="0"/>
              <a:sym typeface="Symbol" pitchFamily="18" charset="2"/>
            </a:endParaRPr>
          </a:p>
          <a:p>
            <a:pPr>
              <a:spcBef>
                <a:spcPct val="0"/>
              </a:spcBef>
              <a:buClr>
                <a:schemeClr val="bg1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群</a:t>
            </a:r>
            <a:r>
              <a:rPr lang="en-US" altLang="zh-CN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G</a:t>
            </a:r>
            <a:r>
              <a:rPr lang="zh-CN" altLang="en-US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的一个</a:t>
            </a:r>
            <a:r>
              <a:rPr lang="zh-CN" altLang="en-US" sz="2600" b="1" dirty="0" smtClean="0">
                <a:solidFill>
                  <a:srgbClr val="C00000"/>
                </a:solidFill>
                <a:ea typeface="宋体" pitchFamily="2" charset="-122"/>
                <a:cs typeface="Times New Roman" pitchFamily="18" charset="0"/>
                <a:sym typeface="Symbol" pitchFamily="18" charset="2"/>
              </a:rPr>
              <a:t>有限非空</a:t>
            </a:r>
            <a:r>
              <a:rPr lang="zh-CN" altLang="en-US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子集</a:t>
            </a:r>
            <a:r>
              <a:rPr lang="en-US" altLang="zh-CN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H</a:t>
            </a:r>
            <a:r>
              <a:rPr lang="zh-CN" altLang="en-US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是</a:t>
            </a:r>
            <a:r>
              <a:rPr lang="en-US" altLang="zh-CN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G</a:t>
            </a:r>
            <a:r>
              <a:rPr lang="zh-CN" altLang="en-US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的一个子群的充分必要条件是</a:t>
            </a:r>
            <a:r>
              <a:rPr lang="en-US" altLang="zh-CN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H</a:t>
            </a:r>
            <a:r>
              <a:rPr lang="zh-CN" altLang="en-US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对</a:t>
            </a:r>
            <a:r>
              <a:rPr lang="en-US" altLang="zh-CN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G</a:t>
            </a:r>
            <a:r>
              <a:rPr lang="zh-CN" altLang="en-US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的运算是封闭的，即若</a:t>
            </a:r>
            <a:r>
              <a:rPr lang="en-US" altLang="zh-CN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a </a:t>
            </a:r>
            <a:r>
              <a:rPr lang="en-US" altLang="zh-CN" sz="2600" b="1" dirty="0" smtClean="0">
                <a:ea typeface="宋体" pitchFamily="2" charset="-122"/>
                <a:sym typeface="Symbol" pitchFamily="18" charset="2"/>
              </a:rPr>
              <a:t>∈</a:t>
            </a:r>
            <a:r>
              <a:rPr lang="en-US" altLang="zh-CN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H</a:t>
            </a:r>
            <a:r>
              <a:rPr lang="zh-CN" altLang="en-US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，</a:t>
            </a:r>
            <a:r>
              <a:rPr lang="en-US" altLang="zh-CN" sz="2600" b="1" dirty="0" err="1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b</a:t>
            </a:r>
            <a:r>
              <a:rPr lang="en-US" altLang="zh-CN" sz="2600" b="1" dirty="0" err="1" smtClean="0">
                <a:ea typeface="宋体" pitchFamily="2" charset="-122"/>
                <a:sym typeface="Symbol" pitchFamily="18" charset="2"/>
              </a:rPr>
              <a:t>∈</a:t>
            </a:r>
            <a:r>
              <a:rPr lang="en-US" altLang="zh-CN" sz="2600" b="1" dirty="0" err="1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H</a:t>
            </a:r>
            <a:r>
              <a:rPr lang="zh-CN" altLang="en-US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，则</a:t>
            </a:r>
            <a:r>
              <a:rPr lang="en-US" altLang="zh-CN" sz="2600" b="1" dirty="0" err="1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ab</a:t>
            </a:r>
            <a:r>
              <a:rPr lang="en-US" altLang="zh-CN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sz="2600" b="1" dirty="0" smtClean="0">
                <a:ea typeface="宋体" pitchFamily="2" charset="-122"/>
                <a:sym typeface="Symbol" pitchFamily="18" charset="2"/>
              </a:rPr>
              <a:t>∈</a:t>
            </a:r>
            <a:r>
              <a:rPr lang="en-US" altLang="zh-CN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 H</a:t>
            </a:r>
            <a:r>
              <a:rPr lang="zh-CN" altLang="en-US" sz="26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。</a:t>
            </a:r>
          </a:p>
          <a:p>
            <a:pPr>
              <a:spcBef>
                <a:spcPct val="0"/>
              </a:spcBef>
              <a:buClr>
                <a:schemeClr val="bg1"/>
              </a:buClr>
              <a:buFont typeface="Wingdings" panose="05000000000000000000" pitchFamily="2" charset="2"/>
              <a:buNone/>
              <a:defRPr/>
            </a:pPr>
            <a:endParaRPr lang="zh-CN" altLang="en-US" b="1" dirty="0" smtClean="0">
              <a:cs typeface="Times New Roman" pitchFamily="18" charset="0"/>
              <a:sym typeface="Symbol" pitchFamily="18" charset="2"/>
            </a:endParaRPr>
          </a:p>
          <a:p>
            <a:pPr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endParaRPr lang="en-US" altLang="zh-CN" b="1" dirty="0" smtClean="0">
              <a:cs typeface="Times New Roman" pitchFamily="18" charset="0"/>
              <a:sym typeface="Symbol" pitchFamily="18" charset="2"/>
            </a:endParaRPr>
          </a:p>
          <a:p>
            <a:pPr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endParaRPr lang="en-US" altLang="zh-CN" b="1" dirty="0" smtClean="0">
              <a:cs typeface="Times New Roman" pitchFamily="18" charset="0"/>
              <a:sym typeface="Symbol" pitchFamily="18" charset="2"/>
            </a:endParaRPr>
          </a:p>
          <a:p>
            <a:pPr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endParaRPr lang="en-US" altLang="zh-CN" dirty="0" smtClean="0"/>
          </a:p>
          <a:p>
            <a:pPr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2214749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0" y="692150"/>
            <a:ext cx="8042275" cy="52832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800" b="1" dirty="0" smtClean="0">
                <a:solidFill>
                  <a:srgbClr val="0000FF"/>
                </a:solidFill>
                <a:ea typeface="宋体" pitchFamily="2" charset="-122"/>
              </a:rPr>
              <a:t>练习：</a:t>
            </a:r>
            <a:r>
              <a:rPr lang="zh-CN" altLang="zh-CN" sz="2800" b="1" dirty="0" smtClean="0">
                <a:ea typeface="宋体" pitchFamily="2" charset="-122"/>
              </a:rPr>
              <a:t>设</a:t>
            </a:r>
            <a:r>
              <a:rPr lang="en-US" altLang="zh-CN" sz="2800" b="1" dirty="0" smtClean="0">
                <a:ea typeface="宋体" pitchFamily="2" charset="-122"/>
              </a:rPr>
              <a:t>G=R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</a:t>
            </a:r>
            <a:r>
              <a:rPr lang="en-US" altLang="zh-CN" sz="2800" b="1" dirty="0" smtClean="0">
                <a:ea typeface="宋体" pitchFamily="2" charset="-122"/>
              </a:rPr>
              <a:t>R</a:t>
            </a:r>
            <a:r>
              <a:rPr lang="zh-CN" altLang="zh-CN" sz="2800" b="1" dirty="0" smtClean="0">
                <a:ea typeface="宋体" pitchFamily="2" charset="-122"/>
              </a:rPr>
              <a:t>，其中</a:t>
            </a:r>
            <a:r>
              <a:rPr lang="en-US" altLang="zh-CN" sz="2800" b="1" dirty="0" smtClean="0">
                <a:ea typeface="宋体" pitchFamily="2" charset="-122"/>
              </a:rPr>
              <a:t>R</a:t>
            </a:r>
            <a:r>
              <a:rPr lang="zh-CN" altLang="zh-CN" sz="2800" b="1" dirty="0" smtClean="0">
                <a:ea typeface="宋体" pitchFamily="2" charset="-122"/>
              </a:rPr>
              <a:t>为实数集，</a:t>
            </a:r>
            <a:r>
              <a:rPr lang="en-US" altLang="zh-CN" sz="2800" b="1" dirty="0" smtClean="0">
                <a:ea typeface="宋体" pitchFamily="2" charset="-122"/>
              </a:rPr>
              <a:t>G</a:t>
            </a:r>
            <a:r>
              <a:rPr lang="zh-CN" altLang="zh-CN" sz="2800" b="1" dirty="0" smtClean="0">
                <a:ea typeface="宋体" pitchFamily="2" charset="-122"/>
              </a:rPr>
              <a:t>上的一个二元运算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</a:t>
            </a:r>
            <a:r>
              <a:rPr lang="zh-CN" altLang="zh-CN" sz="2800" b="1" dirty="0" smtClean="0">
                <a:ea typeface="宋体" pitchFamily="2" charset="-122"/>
              </a:rPr>
              <a:t>定义为：</a:t>
            </a:r>
            <a:r>
              <a:rPr lang="en-US" altLang="zh-CN" sz="2800" b="1" dirty="0" smtClean="0">
                <a:ea typeface="宋体" pitchFamily="2" charset="-122"/>
              </a:rPr>
              <a:t>&lt;x</a:t>
            </a:r>
            <a:r>
              <a:rPr lang="en-US" altLang="zh-CN" sz="2800" b="1" baseline="-25000" dirty="0" smtClean="0">
                <a:ea typeface="宋体" pitchFamily="2" charset="-122"/>
              </a:rPr>
              <a:t>1</a:t>
            </a:r>
            <a:r>
              <a:rPr lang="en-US" altLang="zh-CN" sz="2800" b="1" dirty="0" smtClean="0">
                <a:ea typeface="宋体" pitchFamily="2" charset="-122"/>
              </a:rPr>
              <a:t>,y</a:t>
            </a:r>
            <a:r>
              <a:rPr lang="en-US" altLang="zh-CN" sz="2800" b="1" baseline="-25000" dirty="0" smtClean="0">
                <a:ea typeface="宋体" pitchFamily="2" charset="-122"/>
              </a:rPr>
              <a:t>1</a:t>
            </a:r>
            <a:r>
              <a:rPr lang="en-US" altLang="zh-CN" sz="2800" b="1" dirty="0" smtClean="0">
                <a:ea typeface="宋体" pitchFamily="2" charset="-122"/>
              </a:rPr>
              <a:t>&gt; 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</a:t>
            </a:r>
            <a:r>
              <a:rPr lang="en-US" altLang="zh-CN" sz="2800" b="1" dirty="0" smtClean="0">
                <a:ea typeface="宋体" pitchFamily="2" charset="-122"/>
              </a:rPr>
              <a:t> &lt;x</a:t>
            </a:r>
            <a:r>
              <a:rPr lang="en-US" altLang="zh-CN" sz="2800" b="1" baseline="-25000" dirty="0" smtClean="0">
                <a:ea typeface="宋体" pitchFamily="2" charset="-122"/>
              </a:rPr>
              <a:t>2</a:t>
            </a:r>
            <a:r>
              <a:rPr lang="en-US" altLang="zh-CN" sz="2800" b="1" dirty="0" smtClean="0">
                <a:ea typeface="宋体" pitchFamily="2" charset="-122"/>
              </a:rPr>
              <a:t>,y</a:t>
            </a:r>
            <a:r>
              <a:rPr lang="en-US" altLang="zh-CN" sz="2800" b="1" baseline="-25000" dirty="0" smtClean="0">
                <a:ea typeface="宋体" pitchFamily="2" charset="-122"/>
              </a:rPr>
              <a:t>2</a:t>
            </a:r>
            <a:r>
              <a:rPr lang="en-US" altLang="zh-CN" sz="2800" b="1" dirty="0" smtClean="0">
                <a:ea typeface="宋体" pitchFamily="2" charset="-122"/>
              </a:rPr>
              <a:t>&gt;=&lt;x</a:t>
            </a:r>
            <a:r>
              <a:rPr lang="en-US" altLang="zh-CN" sz="2800" b="1" baseline="-25000" dirty="0" smtClean="0">
                <a:ea typeface="宋体" pitchFamily="2" charset="-122"/>
              </a:rPr>
              <a:t>1</a:t>
            </a:r>
            <a:r>
              <a:rPr lang="en-US" altLang="zh-CN" sz="2800" b="1" dirty="0" smtClean="0">
                <a:ea typeface="宋体" pitchFamily="2" charset="-122"/>
              </a:rPr>
              <a:t>+x</a:t>
            </a:r>
            <a:r>
              <a:rPr lang="en-US" altLang="zh-CN" sz="2800" b="1" baseline="-25000" dirty="0" smtClean="0">
                <a:ea typeface="宋体" pitchFamily="2" charset="-122"/>
              </a:rPr>
              <a:t>2</a:t>
            </a:r>
            <a:r>
              <a:rPr lang="en-US" altLang="zh-CN" sz="2800" b="1" dirty="0" smtClean="0">
                <a:ea typeface="宋体" pitchFamily="2" charset="-122"/>
              </a:rPr>
              <a:t>,</a:t>
            </a:r>
            <a:r>
              <a:rPr lang="en-US" altLang="zh-CN" sz="2800" b="1" baseline="-25000" dirty="0" smtClean="0">
                <a:ea typeface="宋体" pitchFamily="2" charset="-122"/>
              </a:rPr>
              <a:t> </a:t>
            </a:r>
            <a:r>
              <a:rPr lang="en-US" altLang="zh-CN" sz="2800" b="1" dirty="0" smtClean="0">
                <a:ea typeface="宋体" pitchFamily="2" charset="-122"/>
              </a:rPr>
              <a:t>y</a:t>
            </a:r>
            <a:r>
              <a:rPr lang="en-US" altLang="zh-CN" sz="2800" b="1" baseline="-25000" dirty="0" smtClean="0">
                <a:ea typeface="宋体" pitchFamily="2" charset="-122"/>
              </a:rPr>
              <a:t>1</a:t>
            </a:r>
            <a:r>
              <a:rPr lang="en-US" altLang="zh-CN" sz="2800" b="1" dirty="0" smtClean="0">
                <a:ea typeface="宋体" pitchFamily="2" charset="-122"/>
              </a:rPr>
              <a:t>+y</a:t>
            </a:r>
            <a:r>
              <a:rPr lang="en-US" altLang="zh-CN" sz="2800" b="1" baseline="-25000" dirty="0" smtClean="0">
                <a:ea typeface="宋体" pitchFamily="2" charset="-122"/>
              </a:rPr>
              <a:t>2</a:t>
            </a:r>
            <a:r>
              <a:rPr lang="en-US" altLang="zh-CN" sz="2800" b="1" dirty="0" smtClean="0">
                <a:ea typeface="宋体" pitchFamily="2" charset="-122"/>
              </a:rPr>
              <a:t>&gt;</a:t>
            </a:r>
            <a:r>
              <a:rPr lang="zh-CN" altLang="zh-CN" sz="2800" b="1" dirty="0" smtClean="0">
                <a:ea typeface="宋体" pitchFamily="2" charset="-122"/>
              </a:rPr>
              <a:t>，</a:t>
            </a:r>
            <a:r>
              <a:rPr lang="en-US" altLang="zh-CN" sz="2800" b="1" dirty="0" smtClean="0">
                <a:ea typeface="宋体" pitchFamily="2" charset="-122"/>
              </a:rPr>
              <a:t>+</a:t>
            </a:r>
            <a:r>
              <a:rPr lang="zh-CN" altLang="zh-CN" sz="2800" b="1" dirty="0" smtClean="0">
                <a:ea typeface="宋体" pitchFamily="2" charset="-122"/>
              </a:rPr>
              <a:t>是</a:t>
            </a:r>
            <a:r>
              <a:rPr lang="en-US" altLang="zh-CN" sz="2800" b="1" dirty="0" smtClean="0">
                <a:ea typeface="宋体" pitchFamily="2" charset="-122"/>
              </a:rPr>
              <a:t>R</a:t>
            </a:r>
            <a:r>
              <a:rPr lang="zh-CN" altLang="zh-CN" sz="2800" b="1" dirty="0" smtClean="0">
                <a:ea typeface="宋体" pitchFamily="2" charset="-122"/>
              </a:rPr>
              <a:t>上的加运算。又设</a:t>
            </a:r>
            <a:r>
              <a:rPr lang="en-US" altLang="zh-CN" sz="2800" b="1" dirty="0" smtClean="0">
                <a:ea typeface="宋体" pitchFamily="2" charset="-122"/>
              </a:rPr>
              <a:t>H={&lt;</a:t>
            </a:r>
            <a:r>
              <a:rPr lang="en-US" altLang="zh-CN" sz="2800" b="1" dirty="0" err="1" smtClean="0">
                <a:ea typeface="宋体" pitchFamily="2" charset="-122"/>
              </a:rPr>
              <a:t>x,y</a:t>
            </a:r>
            <a:r>
              <a:rPr lang="en-US" altLang="zh-CN" sz="2800" b="1" dirty="0" smtClean="0">
                <a:ea typeface="宋体" pitchFamily="2" charset="-122"/>
              </a:rPr>
              <a:t>&gt;|y=2x, x</a:t>
            </a:r>
            <a:r>
              <a:rPr lang="zh-CN" altLang="zh-CN" sz="2800" b="1" dirty="0" smtClean="0">
                <a:ea typeface="宋体" pitchFamily="2" charset="-122"/>
              </a:rPr>
              <a:t>，</a:t>
            </a:r>
            <a:r>
              <a:rPr lang="en-US" altLang="zh-CN" sz="2800" b="1" dirty="0" err="1" smtClean="0">
                <a:ea typeface="宋体" pitchFamily="2" charset="-122"/>
              </a:rPr>
              <a:t>y</a:t>
            </a:r>
            <a:r>
              <a:rPr lang="en-US" altLang="zh-CN" sz="2800" b="1" dirty="0" err="1" smtClean="0">
                <a:ea typeface="宋体" pitchFamily="2" charset="-122"/>
                <a:sym typeface="Symbol"/>
              </a:rPr>
              <a:t></a:t>
            </a:r>
            <a:r>
              <a:rPr lang="en-US" altLang="zh-CN" sz="2800" b="1" dirty="0" err="1" smtClean="0">
                <a:ea typeface="宋体" pitchFamily="2" charset="-122"/>
              </a:rPr>
              <a:t>R</a:t>
            </a:r>
            <a:r>
              <a:rPr lang="en-US" altLang="zh-CN" sz="2800" b="1" dirty="0" smtClean="0">
                <a:ea typeface="宋体" pitchFamily="2" charset="-122"/>
              </a:rPr>
              <a:t>}</a:t>
            </a:r>
            <a:r>
              <a:rPr lang="zh-CN" altLang="zh-CN" sz="2800" b="1" dirty="0" smtClean="0">
                <a:ea typeface="宋体" pitchFamily="2" charset="-122"/>
              </a:rPr>
              <a:t> 证明：（</a:t>
            </a:r>
            <a:r>
              <a:rPr lang="en-US" altLang="zh-CN" sz="2800" b="1" dirty="0" smtClean="0">
                <a:ea typeface="宋体" pitchFamily="2" charset="-122"/>
              </a:rPr>
              <a:t>H</a:t>
            </a:r>
            <a:r>
              <a:rPr lang="zh-CN" altLang="zh-CN" sz="2800" b="1" dirty="0" smtClean="0">
                <a:ea typeface="宋体" pitchFamily="2" charset="-122"/>
              </a:rPr>
              <a:t>，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</a:t>
            </a:r>
            <a:r>
              <a:rPr lang="zh-CN" altLang="zh-CN" sz="2800" b="1" dirty="0" smtClean="0">
                <a:ea typeface="宋体" pitchFamily="2" charset="-122"/>
              </a:rPr>
              <a:t>）为（</a:t>
            </a:r>
            <a:r>
              <a:rPr lang="en-US" altLang="zh-CN" sz="2800" b="1" dirty="0" smtClean="0">
                <a:ea typeface="宋体" pitchFamily="2" charset="-122"/>
              </a:rPr>
              <a:t>G</a:t>
            </a:r>
            <a:r>
              <a:rPr lang="zh-CN" altLang="zh-CN" sz="2800" b="1" dirty="0" smtClean="0">
                <a:ea typeface="宋体" pitchFamily="2" charset="-122"/>
              </a:rPr>
              <a:t>，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</a:t>
            </a:r>
            <a:r>
              <a:rPr lang="zh-CN" altLang="zh-CN" sz="2800" b="1" dirty="0" smtClean="0">
                <a:ea typeface="宋体" pitchFamily="2" charset="-122"/>
              </a:rPr>
              <a:t>）的子群。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zh-CN" sz="2800" b="1" dirty="0" smtClean="0">
                <a:solidFill>
                  <a:srgbClr val="0000FF"/>
                </a:solidFill>
                <a:ea typeface="宋体" pitchFamily="2" charset="-122"/>
              </a:rPr>
              <a:t>证：</a:t>
            </a:r>
            <a:r>
              <a:rPr lang="en-US" altLang="zh-CN" sz="2800" b="1" dirty="0" smtClean="0">
                <a:ea typeface="宋体" pitchFamily="2" charset="-122"/>
              </a:rPr>
              <a:t>G</a:t>
            </a:r>
            <a:r>
              <a:rPr lang="zh-CN" altLang="en-US" sz="2800" b="1" dirty="0" smtClean="0">
                <a:ea typeface="宋体" pitchFamily="2" charset="-122"/>
              </a:rPr>
              <a:t>非空</a:t>
            </a:r>
            <a:r>
              <a:rPr lang="zh-CN" altLang="zh-CN" sz="2800" b="1" dirty="0" smtClean="0">
                <a:ea typeface="宋体" pitchFamily="2" charset="-122"/>
              </a:rPr>
              <a:t>，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 </a:t>
            </a:r>
            <a:r>
              <a:rPr lang="zh-CN" altLang="zh-CN" sz="2800" b="1" dirty="0" smtClean="0">
                <a:ea typeface="宋体" pitchFamily="2" charset="-122"/>
              </a:rPr>
              <a:t>是</a:t>
            </a:r>
            <a:r>
              <a:rPr lang="en-US" altLang="zh-CN" sz="2800" b="1" dirty="0" smtClean="0">
                <a:ea typeface="宋体" pitchFamily="2" charset="-122"/>
              </a:rPr>
              <a:t>G</a:t>
            </a:r>
            <a:r>
              <a:rPr lang="zh-CN" altLang="zh-CN" sz="2800" b="1" dirty="0" smtClean="0">
                <a:ea typeface="宋体" pitchFamily="2" charset="-122"/>
              </a:rPr>
              <a:t>上的二元代数运算，且满足结合律，单位元是</a:t>
            </a:r>
            <a:r>
              <a:rPr lang="en-US" altLang="zh-CN" sz="2800" b="1" dirty="0" smtClean="0">
                <a:ea typeface="宋体" pitchFamily="2" charset="-122"/>
              </a:rPr>
              <a:t>&lt;0,0&gt; </a:t>
            </a:r>
            <a:r>
              <a:rPr lang="zh-CN" altLang="zh-CN" sz="2800" b="1" dirty="0" smtClean="0">
                <a:ea typeface="宋体" pitchFamily="2" charset="-122"/>
              </a:rPr>
              <a:t>，任意元素</a:t>
            </a:r>
            <a:r>
              <a:rPr lang="en-US" altLang="zh-CN" sz="2800" b="1" dirty="0" smtClean="0">
                <a:ea typeface="宋体" pitchFamily="2" charset="-122"/>
              </a:rPr>
              <a:t>&lt;</a:t>
            </a:r>
            <a:r>
              <a:rPr lang="en-US" altLang="zh-CN" sz="2800" b="1" dirty="0" err="1" smtClean="0">
                <a:ea typeface="宋体" pitchFamily="2" charset="-122"/>
              </a:rPr>
              <a:t>x,y</a:t>
            </a:r>
            <a:r>
              <a:rPr lang="en-US" altLang="zh-CN" sz="2800" b="1" dirty="0" smtClean="0">
                <a:ea typeface="宋体" pitchFamily="2" charset="-122"/>
              </a:rPr>
              <a:t>&gt;</a:t>
            </a:r>
            <a:r>
              <a:rPr lang="zh-CN" altLang="zh-CN" sz="2800" b="1" dirty="0" smtClean="0">
                <a:ea typeface="宋体" pitchFamily="2" charset="-122"/>
              </a:rPr>
              <a:t>的逆元为</a:t>
            </a:r>
            <a:endParaRPr lang="en-US" altLang="zh-CN" sz="2800" b="1" dirty="0" smtClean="0">
              <a:ea typeface="宋体" pitchFamily="2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>
                <a:ea typeface="宋体" pitchFamily="2" charset="-122"/>
              </a:rPr>
              <a:t>&lt;-x,-y&gt;.</a:t>
            </a:r>
            <a:r>
              <a:rPr lang="zh-CN" altLang="zh-CN" sz="2800" b="1" dirty="0" smtClean="0">
                <a:ea typeface="宋体" pitchFamily="2" charset="-122"/>
              </a:rPr>
              <a:t>故（</a:t>
            </a:r>
            <a:r>
              <a:rPr lang="en-US" altLang="zh-CN" sz="2800" b="1" dirty="0" smtClean="0">
                <a:ea typeface="宋体" pitchFamily="2" charset="-122"/>
              </a:rPr>
              <a:t>G</a:t>
            </a:r>
            <a:r>
              <a:rPr lang="zh-CN" altLang="zh-CN" sz="2800" b="1" dirty="0" smtClean="0">
                <a:ea typeface="宋体" pitchFamily="2" charset="-122"/>
              </a:rPr>
              <a:t>，</a:t>
            </a:r>
            <a:r>
              <a:rPr lang="en-US" altLang="zh-CN" sz="2800" b="1" dirty="0" smtClean="0">
                <a:ea typeface="宋体" pitchFamily="2" charset="-122"/>
              </a:rPr>
              <a:t>+</a:t>
            </a:r>
            <a:r>
              <a:rPr lang="zh-CN" altLang="zh-CN" sz="2800" b="1" dirty="0" smtClean="0">
                <a:ea typeface="宋体" pitchFamily="2" charset="-122"/>
              </a:rPr>
              <a:t>）为群。</a:t>
            </a:r>
            <a:r>
              <a:rPr lang="en-US" altLang="zh-CN" sz="2800" b="1" dirty="0" smtClean="0">
                <a:ea typeface="宋体" pitchFamily="2" charset="-122"/>
              </a:rPr>
              <a:t>                                     </a:t>
            </a:r>
            <a:endParaRPr lang="zh-CN" altLang="zh-CN" sz="2800" b="1" dirty="0" smtClean="0">
              <a:ea typeface="宋体" pitchFamily="2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zh-CN" sz="2800" b="1" dirty="0" smtClean="0">
                <a:ea typeface="宋体" pitchFamily="2" charset="-122"/>
              </a:rPr>
              <a:t>显然，</a:t>
            </a:r>
            <a:r>
              <a:rPr lang="en-US" altLang="zh-CN" sz="2800" b="1" dirty="0" smtClean="0">
                <a:ea typeface="宋体" pitchFamily="2" charset="-122"/>
              </a:rPr>
              <a:t>H</a:t>
            </a:r>
            <a:r>
              <a:rPr lang="zh-CN" altLang="zh-CN" sz="2800" b="1" dirty="0" smtClean="0">
                <a:ea typeface="宋体" pitchFamily="2" charset="-122"/>
              </a:rPr>
              <a:t>非空。任取</a:t>
            </a:r>
            <a:r>
              <a:rPr lang="en-US" altLang="zh-CN" sz="2800" b="1" dirty="0" smtClean="0">
                <a:ea typeface="宋体" pitchFamily="2" charset="-122"/>
              </a:rPr>
              <a:t>H</a:t>
            </a:r>
            <a:r>
              <a:rPr lang="zh-CN" altLang="zh-CN" sz="2800" b="1" dirty="0" smtClean="0">
                <a:ea typeface="宋体" pitchFamily="2" charset="-122"/>
              </a:rPr>
              <a:t>中元素</a:t>
            </a:r>
            <a:r>
              <a:rPr lang="en-US" altLang="zh-CN" sz="2800" b="1" dirty="0" smtClean="0">
                <a:ea typeface="宋体" pitchFamily="2" charset="-122"/>
              </a:rPr>
              <a:t>&lt;x</a:t>
            </a:r>
            <a:r>
              <a:rPr lang="en-US" altLang="zh-CN" sz="2800" b="1" baseline="-25000" dirty="0" smtClean="0">
                <a:ea typeface="宋体" pitchFamily="2" charset="-122"/>
              </a:rPr>
              <a:t>1</a:t>
            </a:r>
            <a:r>
              <a:rPr lang="en-US" altLang="zh-CN" sz="2800" b="1" dirty="0" smtClean="0">
                <a:ea typeface="宋体" pitchFamily="2" charset="-122"/>
              </a:rPr>
              <a:t>,y</a:t>
            </a:r>
            <a:r>
              <a:rPr lang="en-US" altLang="zh-CN" sz="2800" b="1" baseline="-25000" dirty="0" smtClean="0">
                <a:ea typeface="宋体" pitchFamily="2" charset="-122"/>
              </a:rPr>
              <a:t>1</a:t>
            </a:r>
            <a:r>
              <a:rPr lang="en-US" altLang="zh-CN" sz="2800" b="1" dirty="0" smtClean="0">
                <a:ea typeface="宋体" pitchFamily="2" charset="-122"/>
              </a:rPr>
              <a:t>&gt;</a:t>
            </a:r>
            <a:r>
              <a:rPr lang="zh-CN" altLang="zh-CN" sz="2800" b="1" dirty="0" smtClean="0">
                <a:ea typeface="宋体" pitchFamily="2" charset="-122"/>
              </a:rPr>
              <a:t>，</a:t>
            </a:r>
            <a:r>
              <a:rPr lang="en-US" altLang="zh-CN" sz="2800" b="1" dirty="0" smtClean="0">
                <a:ea typeface="宋体" pitchFamily="2" charset="-122"/>
              </a:rPr>
              <a:t>&lt;x</a:t>
            </a:r>
            <a:r>
              <a:rPr lang="en-US" altLang="zh-CN" sz="2800" b="1" baseline="-25000" dirty="0" smtClean="0">
                <a:ea typeface="宋体" pitchFamily="2" charset="-122"/>
              </a:rPr>
              <a:t>2</a:t>
            </a:r>
            <a:r>
              <a:rPr lang="en-US" altLang="zh-CN" sz="2800" b="1" dirty="0" smtClean="0">
                <a:ea typeface="宋体" pitchFamily="2" charset="-122"/>
              </a:rPr>
              <a:t>,y</a:t>
            </a:r>
            <a:r>
              <a:rPr lang="en-US" altLang="zh-CN" sz="2800" b="1" baseline="-25000" dirty="0" smtClean="0">
                <a:ea typeface="宋体" pitchFamily="2" charset="-122"/>
              </a:rPr>
              <a:t>2</a:t>
            </a:r>
            <a:r>
              <a:rPr lang="en-US" altLang="zh-CN" sz="2800" b="1" dirty="0" smtClean="0">
                <a:ea typeface="宋体" pitchFamily="2" charset="-122"/>
              </a:rPr>
              <a:t>&gt;</a:t>
            </a:r>
            <a:r>
              <a:rPr lang="zh-CN" altLang="zh-CN" sz="2800" b="1" dirty="0" smtClean="0">
                <a:ea typeface="宋体" pitchFamily="2" charset="-122"/>
              </a:rPr>
              <a:t>，有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>
                <a:ea typeface="宋体" pitchFamily="2" charset="-122"/>
              </a:rPr>
              <a:t>&lt;x</a:t>
            </a:r>
            <a:r>
              <a:rPr lang="en-US" altLang="zh-CN" sz="2800" b="1" baseline="-25000" dirty="0" smtClean="0">
                <a:ea typeface="宋体" pitchFamily="2" charset="-122"/>
              </a:rPr>
              <a:t>1</a:t>
            </a:r>
            <a:r>
              <a:rPr lang="en-US" altLang="zh-CN" sz="2800" b="1" dirty="0" smtClean="0">
                <a:ea typeface="宋体" pitchFamily="2" charset="-122"/>
              </a:rPr>
              <a:t>,y</a:t>
            </a:r>
            <a:r>
              <a:rPr lang="en-US" altLang="zh-CN" sz="2800" b="1" baseline="-25000" dirty="0" smtClean="0">
                <a:ea typeface="宋体" pitchFamily="2" charset="-122"/>
              </a:rPr>
              <a:t>1</a:t>
            </a:r>
            <a:r>
              <a:rPr lang="en-US" altLang="zh-CN" sz="2800" b="1" dirty="0" smtClean="0">
                <a:ea typeface="宋体" pitchFamily="2" charset="-122"/>
              </a:rPr>
              <a:t>&gt;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</a:t>
            </a:r>
            <a:r>
              <a:rPr lang="en-US" altLang="zh-CN" sz="2800" b="1" dirty="0" smtClean="0">
                <a:ea typeface="宋体" pitchFamily="2" charset="-122"/>
              </a:rPr>
              <a:t>&lt;x</a:t>
            </a:r>
            <a:r>
              <a:rPr lang="en-US" altLang="zh-CN" sz="2800" b="1" baseline="-25000" dirty="0" smtClean="0">
                <a:ea typeface="宋体" pitchFamily="2" charset="-122"/>
              </a:rPr>
              <a:t>2</a:t>
            </a:r>
            <a:r>
              <a:rPr lang="en-US" altLang="zh-CN" sz="2800" b="1" dirty="0" smtClean="0">
                <a:ea typeface="宋体" pitchFamily="2" charset="-122"/>
              </a:rPr>
              <a:t>,y</a:t>
            </a:r>
            <a:r>
              <a:rPr lang="en-US" altLang="zh-CN" sz="2800" b="1" baseline="-25000" dirty="0" smtClean="0">
                <a:ea typeface="宋体" pitchFamily="2" charset="-122"/>
              </a:rPr>
              <a:t>2</a:t>
            </a:r>
            <a:r>
              <a:rPr lang="en-US" altLang="zh-CN" sz="2800" b="1" dirty="0" smtClean="0">
                <a:ea typeface="宋体" pitchFamily="2" charset="-122"/>
              </a:rPr>
              <a:t>&gt;</a:t>
            </a:r>
            <a:r>
              <a:rPr lang="en-US" altLang="zh-CN" sz="2800" b="1" baseline="30000" dirty="0" smtClean="0">
                <a:ea typeface="宋体" pitchFamily="2" charset="-122"/>
              </a:rPr>
              <a:t>-1</a:t>
            </a:r>
            <a:r>
              <a:rPr lang="en-US" altLang="zh-CN" sz="2800" b="1" dirty="0" smtClean="0">
                <a:ea typeface="宋体" pitchFamily="2" charset="-122"/>
              </a:rPr>
              <a:t>=&lt;x</a:t>
            </a:r>
            <a:r>
              <a:rPr lang="en-US" altLang="zh-CN" sz="2800" b="1" baseline="-25000" dirty="0" smtClean="0">
                <a:ea typeface="宋体" pitchFamily="2" charset="-122"/>
              </a:rPr>
              <a:t>1</a:t>
            </a:r>
            <a:r>
              <a:rPr lang="en-US" altLang="zh-CN" sz="2800" b="1" dirty="0" smtClean="0">
                <a:ea typeface="宋体" pitchFamily="2" charset="-122"/>
              </a:rPr>
              <a:t>,y</a:t>
            </a:r>
            <a:r>
              <a:rPr lang="en-US" altLang="zh-CN" sz="2800" b="1" baseline="-25000" dirty="0" smtClean="0">
                <a:ea typeface="宋体" pitchFamily="2" charset="-122"/>
              </a:rPr>
              <a:t>1</a:t>
            </a:r>
            <a:r>
              <a:rPr lang="en-US" altLang="zh-CN" sz="2800" b="1" dirty="0" smtClean="0">
                <a:ea typeface="宋体" pitchFamily="2" charset="-122"/>
              </a:rPr>
              <a:t>&gt;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</a:t>
            </a:r>
            <a:r>
              <a:rPr lang="en-US" altLang="zh-CN" sz="2800" b="1" dirty="0" smtClean="0">
                <a:ea typeface="宋体" pitchFamily="2" charset="-122"/>
              </a:rPr>
              <a:t>&lt;-x</a:t>
            </a:r>
            <a:r>
              <a:rPr lang="en-US" altLang="zh-CN" sz="2800" b="1" baseline="-25000" dirty="0" smtClean="0">
                <a:ea typeface="宋体" pitchFamily="2" charset="-122"/>
              </a:rPr>
              <a:t>2</a:t>
            </a:r>
            <a:r>
              <a:rPr lang="en-US" altLang="zh-CN" sz="2800" b="1" dirty="0" smtClean="0">
                <a:ea typeface="宋体" pitchFamily="2" charset="-122"/>
              </a:rPr>
              <a:t>,-y</a:t>
            </a:r>
            <a:r>
              <a:rPr lang="en-US" altLang="zh-CN" sz="2800" b="1" baseline="-25000" dirty="0" smtClean="0">
                <a:ea typeface="宋体" pitchFamily="2" charset="-122"/>
              </a:rPr>
              <a:t>2</a:t>
            </a:r>
            <a:r>
              <a:rPr lang="en-US" altLang="zh-CN" sz="2800" b="1" dirty="0" smtClean="0">
                <a:ea typeface="宋体" pitchFamily="2" charset="-122"/>
              </a:rPr>
              <a:t>&gt;=&lt; x</a:t>
            </a:r>
            <a:r>
              <a:rPr lang="en-US" altLang="zh-CN" sz="2800" b="1" baseline="-25000" dirty="0" smtClean="0">
                <a:ea typeface="宋体" pitchFamily="2" charset="-122"/>
              </a:rPr>
              <a:t>1</a:t>
            </a:r>
            <a:r>
              <a:rPr lang="en-US" altLang="zh-CN" sz="2800" b="1" dirty="0" smtClean="0">
                <a:ea typeface="宋体" pitchFamily="2" charset="-122"/>
              </a:rPr>
              <a:t>- x</a:t>
            </a:r>
            <a:r>
              <a:rPr lang="en-US" altLang="zh-CN" sz="2800" b="1" baseline="-25000" dirty="0" smtClean="0">
                <a:ea typeface="宋体" pitchFamily="2" charset="-122"/>
              </a:rPr>
              <a:t>2</a:t>
            </a:r>
            <a:r>
              <a:rPr lang="en-US" altLang="zh-CN" sz="2800" b="1" dirty="0" smtClean="0">
                <a:ea typeface="宋体" pitchFamily="2" charset="-122"/>
              </a:rPr>
              <a:t>,y</a:t>
            </a:r>
            <a:r>
              <a:rPr lang="en-US" altLang="zh-CN" sz="2800" b="1" baseline="-25000" dirty="0" smtClean="0">
                <a:ea typeface="宋体" pitchFamily="2" charset="-122"/>
              </a:rPr>
              <a:t>1</a:t>
            </a:r>
            <a:r>
              <a:rPr lang="en-US" altLang="zh-CN" sz="2800" b="1" dirty="0" smtClean="0">
                <a:ea typeface="宋体" pitchFamily="2" charset="-122"/>
              </a:rPr>
              <a:t>-y</a:t>
            </a:r>
            <a:r>
              <a:rPr lang="en-US" altLang="zh-CN" sz="2800" b="1" baseline="-25000" dirty="0" smtClean="0">
                <a:ea typeface="宋体" pitchFamily="2" charset="-122"/>
              </a:rPr>
              <a:t>2</a:t>
            </a:r>
            <a:r>
              <a:rPr lang="en-US" altLang="zh-CN" sz="2800" b="1" dirty="0" smtClean="0">
                <a:ea typeface="宋体" pitchFamily="2" charset="-122"/>
              </a:rPr>
              <a:t>&gt;=&lt;x</a:t>
            </a:r>
            <a:r>
              <a:rPr lang="en-US" altLang="zh-CN" sz="2800" b="1" baseline="-25000" dirty="0" smtClean="0">
                <a:ea typeface="宋体" pitchFamily="2" charset="-122"/>
              </a:rPr>
              <a:t>1</a:t>
            </a:r>
            <a:r>
              <a:rPr lang="en-US" altLang="zh-CN" sz="2800" b="1" dirty="0" smtClean="0">
                <a:ea typeface="宋体" pitchFamily="2" charset="-122"/>
              </a:rPr>
              <a:t>- x</a:t>
            </a:r>
            <a:r>
              <a:rPr lang="en-US" altLang="zh-CN" sz="2800" b="1" baseline="-25000" dirty="0" smtClean="0">
                <a:ea typeface="宋体" pitchFamily="2" charset="-122"/>
              </a:rPr>
              <a:t>2</a:t>
            </a:r>
            <a:r>
              <a:rPr lang="en-US" altLang="zh-CN" sz="2800" b="1" dirty="0" smtClean="0">
                <a:ea typeface="宋体" pitchFamily="2" charset="-122"/>
              </a:rPr>
              <a:t>, 2x</a:t>
            </a:r>
            <a:r>
              <a:rPr lang="en-US" altLang="zh-CN" sz="2800" b="1" baseline="-25000" dirty="0" smtClean="0">
                <a:ea typeface="宋体" pitchFamily="2" charset="-122"/>
              </a:rPr>
              <a:t>1</a:t>
            </a:r>
            <a:r>
              <a:rPr lang="en-US" altLang="zh-CN" sz="2800" b="1" dirty="0" smtClean="0">
                <a:ea typeface="宋体" pitchFamily="2" charset="-122"/>
              </a:rPr>
              <a:t>- 2x</a:t>
            </a:r>
            <a:r>
              <a:rPr lang="en-US" altLang="zh-CN" sz="2800" b="1" baseline="-25000" dirty="0" smtClean="0">
                <a:ea typeface="宋体" pitchFamily="2" charset="-122"/>
              </a:rPr>
              <a:t>2</a:t>
            </a:r>
            <a:r>
              <a:rPr lang="en-US" altLang="zh-CN" sz="2800" b="1" dirty="0" smtClean="0">
                <a:ea typeface="宋体" pitchFamily="2" charset="-122"/>
              </a:rPr>
              <a:t>&gt;=&lt; x</a:t>
            </a:r>
            <a:r>
              <a:rPr lang="en-US" altLang="zh-CN" sz="2800" b="1" baseline="-25000" dirty="0" smtClean="0">
                <a:ea typeface="宋体" pitchFamily="2" charset="-122"/>
              </a:rPr>
              <a:t>1</a:t>
            </a:r>
            <a:r>
              <a:rPr lang="en-US" altLang="zh-CN" sz="2800" b="1" dirty="0" smtClean="0">
                <a:ea typeface="宋体" pitchFamily="2" charset="-122"/>
              </a:rPr>
              <a:t>- x</a:t>
            </a:r>
            <a:r>
              <a:rPr lang="en-US" altLang="zh-CN" sz="2800" b="1" baseline="-25000" dirty="0" smtClean="0">
                <a:ea typeface="宋体" pitchFamily="2" charset="-122"/>
              </a:rPr>
              <a:t>2</a:t>
            </a:r>
            <a:r>
              <a:rPr lang="en-US" altLang="zh-CN" sz="2800" b="1" dirty="0" smtClean="0">
                <a:ea typeface="宋体" pitchFamily="2" charset="-122"/>
              </a:rPr>
              <a:t>, 2(x</a:t>
            </a:r>
            <a:r>
              <a:rPr lang="en-US" altLang="zh-CN" sz="2800" b="1" baseline="-25000" dirty="0" smtClean="0">
                <a:ea typeface="宋体" pitchFamily="2" charset="-122"/>
              </a:rPr>
              <a:t>1</a:t>
            </a:r>
            <a:r>
              <a:rPr lang="en-US" altLang="zh-CN" sz="2800" b="1" dirty="0" smtClean="0">
                <a:ea typeface="宋体" pitchFamily="2" charset="-122"/>
              </a:rPr>
              <a:t>- x</a:t>
            </a:r>
            <a:r>
              <a:rPr lang="en-US" altLang="zh-CN" sz="2800" b="1" baseline="-25000" dirty="0" smtClean="0">
                <a:ea typeface="宋体" pitchFamily="2" charset="-122"/>
              </a:rPr>
              <a:t>2</a:t>
            </a:r>
            <a:r>
              <a:rPr lang="en-US" altLang="zh-CN" sz="2800" b="1" dirty="0" smtClean="0">
                <a:ea typeface="宋体" pitchFamily="2" charset="-122"/>
              </a:rPr>
              <a:t>)&gt; 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</a:t>
            </a:r>
            <a:r>
              <a:rPr lang="en-US" altLang="zh-CN" sz="2800" b="1" dirty="0" smtClean="0">
                <a:ea typeface="宋体" pitchFamily="2" charset="-122"/>
              </a:rPr>
              <a:t>H</a:t>
            </a:r>
            <a:endParaRPr lang="zh-CN" altLang="zh-CN" sz="2800" b="1" dirty="0" smtClean="0">
              <a:ea typeface="宋体" pitchFamily="2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zh-CN" sz="2800" b="1" dirty="0" smtClean="0">
                <a:ea typeface="宋体" pitchFamily="2" charset="-122"/>
              </a:rPr>
              <a:t>所以，（</a:t>
            </a:r>
            <a:r>
              <a:rPr lang="en-US" altLang="zh-CN" sz="2800" b="1" dirty="0" smtClean="0">
                <a:ea typeface="宋体" pitchFamily="2" charset="-122"/>
              </a:rPr>
              <a:t>H</a:t>
            </a:r>
            <a:r>
              <a:rPr lang="zh-CN" altLang="zh-CN" sz="2800" b="1" dirty="0" smtClean="0">
                <a:ea typeface="宋体" pitchFamily="2" charset="-122"/>
              </a:rPr>
              <a:t>，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</a:t>
            </a:r>
            <a:r>
              <a:rPr lang="zh-CN" altLang="zh-CN" sz="2800" b="1" dirty="0" smtClean="0">
                <a:ea typeface="宋体" pitchFamily="2" charset="-122"/>
              </a:rPr>
              <a:t>）为（</a:t>
            </a:r>
            <a:r>
              <a:rPr lang="en-US" altLang="zh-CN" sz="2800" b="1" dirty="0" smtClean="0">
                <a:ea typeface="宋体" pitchFamily="2" charset="-122"/>
              </a:rPr>
              <a:t>G</a:t>
            </a:r>
            <a:r>
              <a:rPr lang="zh-CN" altLang="zh-CN" sz="2800" b="1" dirty="0" smtClean="0">
                <a:ea typeface="宋体" pitchFamily="2" charset="-122"/>
              </a:rPr>
              <a:t>，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</a:t>
            </a:r>
            <a:r>
              <a:rPr lang="zh-CN" altLang="zh-CN" sz="2800" b="1" dirty="0" smtClean="0">
                <a:ea typeface="宋体" pitchFamily="2" charset="-122"/>
              </a:rPr>
              <a:t>）的子群。</a:t>
            </a:r>
          </a:p>
          <a:p>
            <a:pPr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356152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内容占位符 2"/>
          <p:cNvSpPr>
            <a:spLocks noGrp="1"/>
          </p:cNvSpPr>
          <p:nvPr>
            <p:ph idx="1"/>
          </p:nvPr>
        </p:nvSpPr>
        <p:spPr>
          <a:xfrm>
            <a:off x="611188" y="765175"/>
            <a:ext cx="8064500" cy="5283200"/>
          </a:xfrm>
        </p:spPr>
        <p:txBody>
          <a:bodyPr/>
          <a:lstStyle/>
          <a:p>
            <a:r>
              <a:rPr lang="zh-CN" altLang="en-US" sz="2800" b="1" smtClean="0">
                <a:solidFill>
                  <a:srgbClr val="0000FF"/>
                </a:solidFill>
                <a:ea typeface="宋体" panose="02010600030101010101" pitchFamily="2" charset="-122"/>
              </a:rPr>
              <a:t>练习：</a:t>
            </a:r>
            <a:r>
              <a:rPr lang="zh-CN" altLang="zh-CN" sz="2800" b="1" smtClean="0">
                <a:ea typeface="宋体" panose="02010600030101010101" pitchFamily="2" charset="-122"/>
              </a:rPr>
              <a:t>设</a:t>
            </a:r>
            <a:r>
              <a:rPr lang="en-US" altLang="zh-CN" sz="2800" b="1" smtClean="0">
                <a:ea typeface="宋体" panose="02010600030101010101" pitchFamily="2" charset="-122"/>
              </a:rPr>
              <a:t>G={1,a,b}</a:t>
            </a:r>
            <a:r>
              <a:rPr lang="zh-CN" altLang="zh-CN" sz="2800" b="1" smtClean="0">
                <a:ea typeface="宋体" panose="02010600030101010101" pitchFamily="2" charset="-122"/>
              </a:rPr>
              <a:t>，</a:t>
            </a:r>
            <a:r>
              <a:rPr lang="en-US" altLang="zh-CN" sz="2800" b="1" smtClean="0">
                <a:ea typeface="宋体" panose="02010600030101010101" pitchFamily="2" charset="-122"/>
              </a:rPr>
              <a:t>(G, *)</a:t>
            </a:r>
            <a:r>
              <a:rPr lang="zh-CN" altLang="zh-CN" sz="2800" b="1" smtClean="0">
                <a:ea typeface="宋体" panose="02010600030101010101" pitchFamily="2" charset="-122"/>
              </a:rPr>
              <a:t>是群，</a:t>
            </a:r>
            <a:r>
              <a:rPr lang="en-US" altLang="zh-CN" sz="2800" b="1" smtClean="0">
                <a:ea typeface="宋体" panose="02010600030101010101" pitchFamily="2" charset="-122"/>
              </a:rPr>
              <a:t>1</a:t>
            </a:r>
            <a:r>
              <a:rPr lang="zh-CN" altLang="zh-CN" sz="2800" b="1" smtClean="0">
                <a:ea typeface="宋体" panose="02010600030101010101" pitchFamily="2" charset="-122"/>
              </a:rPr>
              <a:t>是单位元，则</a:t>
            </a:r>
            <a:endParaRPr lang="en-US" altLang="zh-CN" sz="2800" b="1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 smtClean="0">
                <a:ea typeface="宋体" panose="02010600030101010101" pitchFamily="2" charset="-122"/>
              </a:rPr>
              <a:t>    </a:t>
            </a:r>
            <a:r>
              <a:rPr lang="zh-CN" altLang="zh-CN" sz="2800" b="1" smtClean="0">
                <a:ea typeface="宋体" panose="02010600030101010101" pitchFamily="2" charset="-122"/>
              </a:rPr>
              <a:t>（</a:t>
            </a:r>
            <a:r>
              <a:rPr lang="en-US" altLang="zh-CN" sz="2800" b="1" smtClean="0">
                <a:ea typeface="宋体" panose="02010600030101010101" pitchFamily="2" charset="-122"/>
              </a:rPr>
              <a:t>1</a:t>
            </a:r>
            <a:r>
              <a:rPr lang="zh-CN" altLang="zh-CN" sz="2800" b="1" smtClean="0">
                <a:ea typeface="宋体" panose="02010600030101010101" pitchFamily="2" charset="-122"/>
              </a:rPr>
              <a:t>）</a:t>
            </a:r>
            <a:r>
              <a:rPr lang="zh-CN" altLang="en-US" sz="2800" b="1" smtClean="0">
                <a:ea typeface="宋体" panose="02010600030101010101" pitchFamily="2" charset="-122"/>
              </a:rPr>
              <a:t>给出运算表</a:t>
            </a:r>
            <a:r>
              <a:rPr lang="zh-CN" altLang="zh-CN" sz="2800" b="1" smtClean="0">
                <a:ea typeface="宋体" panose="02010600030101010101" pitchFamily="2" charset="-122"/>
              </a:rPr>
              <a:t> </a:t>
            </a:r>
            <a:r>
              <a:rPr lang="en-US" altLang="zh-CN" sz="2800" b="1" smtClean="0">
                <a:ea typeface="宋体" panose="02010600030101010101" pitchFamily="2" charset="-122"/>
              </a:rPr>
              <a:t/>
            </a:r>
            <a:br>
              <a:rPr lang="en-US" altLang="zh-CN" sz="2800" b="1" smtClean="0">
                <a:ea typeface="宋体" panose="02010600030101010101" pitchFamily="2" charset="-122"/>
              </a:rPr>
            </a:br>
            <a:r>
              <a:rPr lang="zh-CN" altLang="zh-CN" sz="2800" b="1" smtClean="0">
                <a:ea typeface="宋体" panose="02010600030101010101" pitchFamily="2" charset="-122"/>
              </a:rPr>
              <a:t>（</a:t>
            </a:r>
            <a:r>
              <a:rPr lang="en-US" altLang="zh-CN" sz="2800" b="1" smtClean="0">
                <a:ea typeface="宋体" panose="02010600030101010101" pitchFamily="2" charset="-122"/>
              </a:rPr>
              <a:t>2</a:t>
            </a:r>
            <a:r>
              <a:rPr lang="zh-CN" altLang="zh-CN" sz="2800" b="1" smtClean="0">
                <a:ea typeface="宋体" panose="02010600030101010101" pitchFamily="2" charset="-122"/>
              </a:rPr>
              <a:t>）</a:t>
            </a:r>
            <a:r>
              <a:rPr lang="en-US" altLang="zh-CN" sz="2800" b="1" smtClean="0">
                <a:ea typeface="宋体" panose="02010600030101010101" pitchFamily="2" charset="-122"/>
              </a:rPr>
              <a:t>a</a:t>
            </a:r>
            <a:r>
              <a:rPr lang="en-US" altLang="zh-CN" sz="2800" b="1" baseline="30000" smtClean="0">
                <a:ea typeface="宋体" panose="02010600030101010101" pitchFamily="2" charset="-122"/>
              </a:rPr>
              <a:t>2</a:t>
            </a:r>
            <a:r>
              <a:rPr lang="en-US" altLang="zh-CN" sz="2800" b="1" smtClean="0">
                <a:ea typeface="宋体" panose="02010600030101010101" pitchFamily="2" charset="-122"/>
              </a:rPr>
              <a:t>=</a:t>
            </a:r>
            <a:r>
              <a:rPr lang="zh-CN" altLang="zh-CN" sz="2800" b="1" smtClean="0">
                <a:ea typeface="宋体" panose="02010600030101010101" pitchFamily="2" charset="-122"/>
              </a:rPr>
              <a:t>？</a:t>
            </a:r>
            <a:r>
              <a:rPr lang="en-US" altLang="zh-CN" sz="2800" b="1" smtClean="0">
                <a:ea typeface="宋体" panose="02010600030101010101" pitchFamily="2" charset="-122"/>
              </a:rPr>
              <a:t/>
            </a:r>
            <a:br>
              <a:rPr lang="en-US" altLang="zh-CN" sz="2800" b="1" smtClean="0">
                <a:ea typeface="宋体" panose="02010600030101010101" pitchFamily="2" charset="-122"/>
              </a:rPr>
            </a:br>
            <a:r>
              <a:rPr lang="zh-CN" altLang="zh-CN" sz="2800" b="1" smtClean="0">
                <a:ea typeface="宋体" panose="02010600030101010101" pitchFamily="2" charset="-122"/>
              </a:rPr>
              <a:t>（</a:t>
            </a:r>
            <a:r>
              <a:rPr lang="en-US" altLang="zh-CN" sz="2800" b="1" smtClean="0">
                <a:ea typeface="宋体" panose="02010600030101010101" pitchFamily="2" charset="-122"/>
              </a:rPr>
              <a:t>3</a:t>
            </a:r>
            <a:r>
              <a:rPr lang="zh-CN" altLang="zh-CN" sz="2800" b="1" smtClean="0">
                <a:ea typeface="宋体" panose="02010600030101010101" pitchFamily="2" charset="-122"/>
              </a:rPr>
              <a:t>）</a:t>
            </a:r>
            <a:r>
              <a:rPr lang="en-US" altLang="zh-CN" sz="2800" b="1" smtClean="0">
                <a:ea typeface="宋体" panose="02010600030101010101" pitchFamily="2" charset="-122"/>
              </a:rPr>
              <a:t>a,  b</a:t>
            </a:r>
            <a:r>
              <a:rPr lang="zh-CN" altLang="zh-CN" sz="2800" b="1" smtClean="0">
                <a:ea typeface="宋体" panose="02010600030101010101" pitchFamily="2" charset="-122"/>
              </a:rPr>
              <a:t>的周期是多少？</a:t>
            </a:r>
            <a:r>
              <a:rPr lang="en-US" altLang="zh-CN" sz="2800" b="1" smtClean="0">
                <a:ea typeface="宋体" panose="02010600030101010101" pitchFamily="2" charset="-122"/>
              </a:rPr>
              <a:t/>
            </a:r>
            <a:br>
              <a:rPr lang="en-US" altLang="zh-CN" sz="2800" b="1" smtClean="0">
                <a:ea typeface="宋体" panose="02010600030101010101" pitchFamily="2" charset="-122"/>
              </a:rPr>
            </a:br>
            <a:r>
              <a:rPr lang="zh-CN" altLang="zh-CN" sz="2800" b="1" smtClean="0">
                <a:ea typeface="宋体" panose="02010600030101010101" pitchFamily="2" charset="-122"/>
              </a:rPr>
              <a:t>（</a:t>
            </a:r>
            <a:r>
              <a:rPr lang="en-US" altLang="zh-CN" sz="2800" b="1" smtClean="0">
                <a:ea typeface="宋体" panose="02010600030101010101" pitchFamily="2" charset="-122"/>
              </a:rPr>
              <a:t>4</a:t>
            </a:r>
            <a:r>
              <a:rPr lang="zh-CN" altLang="zh-CN" sz="2800" b="1" smtClean="0">
                <a:ea typeface="宋体" panose="02010600030101010101" pitchFamily="2" charset="-122"/>
              </a:rPr>
              <a:t>）</a:t>
            </a:r>
            <a:r>
              <a:rPr lang="en-US" altLang="zh-CN" sz="2800" b="1" smtClean="0">
                <a:ea typeface="宋体" panose="02010600030101010101" pitchFamily="2" charset="-122"/>
              </a:rPr>
              <a:t>(G, *)</a:t>
            </a:r>
            <a:r>
              <a:rPr lang="zh-CN" altLang="zh-CN" sz="2800" b="1" smtClean="0">
                <a:ea typeface="宋体" panose="02010600030101010101" pitchFamily="2" charset="-122"/>
              </a:rPr>
              <a:t>是交换群吗？</a:t>
            </a:r>
            <a:endParaRPr lang="en-US" altLang="zh-CN" sz="2800" b="1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 smtClean="0">
                <a:solidFill>
                  <a:srgbClr val="0000FF"/>
                </a:solidFill>
                <a:ea typeface="宋体" panose="02010600030101010101" pitchFamily="2" charset="-122"/>
              </a:rPr>
              <a:t>解</a:t>
            </a:r>
            <a:r>
              <a:rPr lang="en-US" altLang="zh-CN" sz="2800" b="1" smtClean="0">
                <a:solidFill>
                  <a:srgbClr val="0000FF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:</a:t>
            </a:r>
            <a:r>
              <a:rPr lang="zh-CN" altLang="en-US" sz="2800" b="1" smtClean="0">
                <a:solidFill>
                  <a:srgbClr val="0000FF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  </a:t>
            </a:r>
            <a:r>
              <a:rPr lang="en-US" altLang="zh-CN" sz="2800" b="1" smtClean="0">
                <a:solidFill>
                  <a:srgbClr val="0000FF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(1)</a:t>
            </a:r>
            <a:endParaRPr lang="zh-CN" altLang="zh-CN" sz="2800" smtClean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endParaRPr lang="zh-CN" altLang="en-US" smtClean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3132138" y="3716338"/>
          <a:ext cx="2808288" cy="2073276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702071"/>
                <a:gridCol w="666068"/>
                <a:gridCol w="648067"/>
                <a:gridCol w="792082"/>
              </a:tblGrid>
              <a:tr h="518319">
                <a:tc>
                  <a:txBody>
                    <a:bodyPr/>
                    <a:lstStyle/>
                    <a:p>
                      <a:r>
                        <a:rPr lang="en-US" altLang="zh-CN" sz="2800" b="1" dirty="0" smtClean="0">
                          <a:ea typeface="宋体" pitchFamily="2" charset="-122"/>
                        </a:rPr>
                        <a:t>* </a:t>
                      </a:r>
                      <a:endParaRPr lang="zh-CN" altLang="en-US" sz="2800" b="1" dirty="0"/>
                    </a:p>
                  </a:txBody>
                  <a:tcPr marL="91439" marR="91439" marT="45734" marB="45734"/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 smtClean="0"/>
                        <a:t>1</a:t>
                      </a:r>
                      <a:endParaRPr lang="zh-CN" altLang="en-US" sz="2800" b="1" dirty="0"/>
                    </a:p>
                  </a:txBody>
                  <a:tcPr marL="91439" marR="91439" marT="45734" marB="45734"/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 smtClean="0"/>
                        <a:t>a</a:t>
                      </a:r>
                      <a:endParaRPr lang="zh-CN" altLang="en-US" sz="2800" b="1" dirty="0"/>
                    </a:p>
                  </a:txBody>
                  <a:tcPr marL="91439" marR="91439" marT="45734" marB="45734"/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 smtClean="0"/>
                        <a:t>b</a:t>
                      </a:r>
                      <a:endParaRPr lang="zh-CN" altLang="en-US" sz="2800" b="1" dirty="0"/>
                    </a:p>
                  </a:txBody>
                  <a:tcPr marL="91439" marR="91439" marT="45734" marB="45734"/>
                </a:tc>
              </a:tr>
              <a:tr h="518319">
                <a:tc>
                  <a:txBody>
                    <a:bodyPr/>
                    <a:lstStyle/>
                    <a:p>
                      <a:r>
                        <a:rPr lang="en-US" altLang="zh-CN" sz="2800" b="1" dirty="0" smtClean="0"/>
                        <a:t>1</a:t>
                      </a:r>
                      <a:endParaRPr lang="zh-CN" altLang="en-US" sz="2800" b="1" dirty="0"/>
                    </a:p>
                  </a:txBody>
                  <a:tcPr marL="91439" marR="91439" marT="45734" marB="45734"/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 smtClean="0"/>
                        <a:t>1</a:t>
                      </a:r>
                      <a:endParaRPr lang="zh-CN" altLang="en-US" sz="2800" b="1" dirty="0"/>
                    </a:p>
                  </a:txBody>
                  <a:tcPr marL="91439" marR="91439" marT="45734" marB="45734"/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 smtClean="0"/>
                        <a:t>a</a:t>
                      </a:r>
                      <a:endParaRPr lang="zh-CN" altLang="en-US" sz="2800" b="1" dirty="0"/>
                    </a:p>
                  </a:txBody>
                  <a:tcPr marL="91439" marR="91439" marT="45734" marB="45734"/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 smtClean="0"/>
                        <a:t>b</a:t>
                      </a:r>
                      <a:endParaRPr lang="zh-CN" altLang="en-US" sz="2800" b="1" dirty="0"/>
                    </a:p>
                  </a:txBody>
                  <a:tcPr marL="91439" marR="91439" marT="45734" marB="45734"/>
                </a:tc>
              </a:tr>
              <a:tr h="518319">
                <a:tc>
                  <a:txBody>
                    <a:bodyPr/>
                    <a:lstStyle/>
                    <a:p>
                      <a:r>
                        <a:rPr lang="en-US" altLang="zh-CN" sz="2800" b="1" dirty="0" smtClean="0"/>
                        <a:t>a</a:t>
                      </a:r>
                      <a:endParaRPr lang="zh-CN" altLang="en-US" sz="2800" b="1" dirty="0"/>
                    </a:p>
                  </a:txBody>
                  <a:tcPr marL="91439" marR="91439" marT="45734" marB="45734"/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 smtClean="0"/>
                        <a:t>a</a:t>
                      </a:r>
                      <a:endParaRPr lang="zh-CN" altLang="en-US" sz="2800" b="1" dirty="0"/>
                    </a:p>
                  </a:txBody>
                  <a:tcPr marL="91439" marR="91439" marT="45734" marB="45734"/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 smtClean="0"/>
                        <a:t>b</a:t>
                      </a:r>
                      <a:endParaRPr lang="zh-CN" altLang="en-US" sz="2800" b="1" dirty="0"/>
                    </a:p>
                  </a:txBody>
                  <a:tcPr marL="91439" marR="91439" marT="45734" marB="45734"/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 smtClean="0"/>
                        <a:t>1</a:t>
                      </a:r>
                      <a:endParaRPr lang="zh-CN" altLang="en-US" sz="2800" b="1" dirty="0"/>
                    </a:p>
                  </a:txBody>
                  <a:tcPr marL="91439" marR="91439" marT="45734" marB="45734"/>
                </a:tc>
              </a:tr>
              <a:tr h="518319">
                <a:tc>
                  <a:txBody>
                    <a:bodyPr/>
                    <a:lstStyle/>
                    <a:p>
                      <a:r>
                        <a:rPr lang="en-US" altLang="zh-CN" sz="2800" b="1" dirty="0" smtClean="0"/>
                        <a:t>b</a:t>
                      </a:r>
                      <a:endParaRPr lang="zh-CN" altLang="en-US" sz="2800" b="1" dirty="0"/>
                    </a:p>
                  </a:txBody>
                  <a:tcPr marL="91439" marR="91439" marT="45734" marB="45734"/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 smtClean="0"/>
                        <a:t>b</a:t>
                      </a:r>
                      <a:endParaRPr lang="zh-CN" altLang="en-US" sz="2800" b="1" dirty="0"/>
                    </a:p>
                  </a:txBody>
                  <a:tcPr marL="91439" marR="91439" marT="45734" marB="45734"/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 smtClean="0"/>
                        <a:t>1</a:t>
                      </a:r>
                      <a:endParaRPr lang="zh-CN" altLang="en-US" sz="2800" b="1" dirty="0"/>
                    </a:p>
                  </a:txBody>
                  <a:tcPr marL="91439" marR="91439" marT="45734" marB="45734"/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 smtClean="0"/>
                        <a:t>a</a:t>
                      </a:r>
                      <a:endParaRPr lang="zh-CN" altLang="en-US" sz="2800" b="1" dirty="0"/>
                    </a:p>
                  </a:txBody>
                  <a:tcPr marL="91439" marR="91439" marT="45734" marB="45734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5908744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内容占位符 2"/>
          <p:cNvSpPr>
            <a:spLocks noGrp="1"/>
          </p:cNvSpPr>
          <p:nvPr>
            <p:ph idx="1"/>
          </p:nvPr>
        </p:nvSpPr>
        <p:spPr>
          <a:xfrm>
            <a:off x="561975" y="765175"/>
            <a:ext cx="8042275" cy="5283200"/>
          </a:xfrm>
        </p:spPr>
        <p:txBody>
          <a:bodyPr/>
          <a:lstStyle/>
          <a:p>
            <a:pPr marL="342900" lvl="1" indent="-342900"/>
            <a:r>
              <a:rPr lang="zh-CN" altLang="en-US" sz="3000" b="1" smtClean="0">
                <a:solidFill>
                  <a:srgbClr val="0000FF"/>
                </a:solidFill>
                <a:ea typeface="宋体" panose="02010600030101010101" pitchFamily="2" charset="-122"/>
              </a:rPr>
              <a:t>解：</a:t>
            </a:r>
            <a:endParaRPr lang="en-US" altLang="zh-CN" sz="3000" b="1" smtClean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marL="342900" lvl="1" indent="-342900">
              <a:buFont typeface="Wingdings" panose="05000000000000000000" pitchFamily="2" charset="2"/>
              <a:buNone/>
            </a:pPr>
            <a:r>
              <a:rPr lang="en-US" altLang="zh-CN" sz="3000" b="1" smtClean="0">
                <a:solidFill>
                  <a:srgbClr val="0000FF"/>
                </a:solidFill>
                <a:ea typeface="宋体" panose="02010600030101010101" pitchFamily="2" charset="-122"/>
              </a:rPr>
              <a:t>(2) </a:t>
            </a:r>
            <a:r>
              <a:rPr lang="en-US" altLang="zh-CN" sz="3000" b="1" smtClean="0">
                <a:ea typeface="宋体" panose="02010600030101010101" pitchFamily="2" charset="-122"/>
              </a:rPr>
              <a:t>a</a:t>
            </a:r>
            <a:r>
              <a:rPr lang="en-US" altLang="zh-CN" sz="3000" b="1" baseline="30000" smtClean="0">
                <a:ea typeface="宋体" panose="02010600030101010101" pitchFamily="2" charset="-122"/>
              </a:rPr>
              <a:t>2</a:t>
            </a:r>
            <a:r>
              <a:rPr lang="en-US" altLang="zh-CN" sz="3000" b="1" smtClean="0">
                <a:ea typeface="宋体" panose="02010600030101010101" pitchFamily="2" charset="-122"/>
              </a:rPr>
              <a:t>=b</a:t>
            </a:r>
            <a:r>
              <a:rPr lang="zh-CN" altLang="zh-CN" sz="3000" b="1" smtClean="0">
                <a:ea typeface="宋体" panose="02010600030101010101" pitchFamily="2" charset="-122"/>
              </a:rPr>
              <a:t>，</a:t>
            </a:r>
            <a:endParaRPr lang="en-US" altLang="zh-CN" sz="3000" b="1" smtClean="0">
              <a:ea typeface="宋体" panose="02010600030101010101" pitchFamily="2" charset="-122"/>
            </a:endParaRPr>
          </a:p>
          <a:p>
            <a:pPr marL="342900" lvl="1" indent="-342900">
              <a:buFont typeface="Wingdings" panose="05000000000000000000" pitchFamily="2" charset="2"/>
              <a:buNone/>
            </a:pPr>
            <a:r>
              <a:rPr lang="en-US" altLang="zh-CN" sz="3000" b="1" smtClean="0">
                <a:solidFill>
                  <a:srgbClr val="0000FF"/>
                </a:solidFill>
                <a:ea typeface="宋体" panose="02010600030101010101" pitchFamily="2" charset="-122"/>
              </a:rPr>
              <a:t>(3)  </a:t>
            </a:r>
            <a:r>
              <a:rPr lang="en-US" altLang="zh-CN" sz="3000" b="1" smtClean="0">
                <a:ea typeface="宋体" panose="02010600030101010101" pitchFamily="2" charset="-122"/>
              </a:rPr>
              <a:t>a</a:t>
            </a:r>
            <a:r>
              <a:rPr lang="zh-CN" altLang="en-US" sz="3000" b="1" smtClean="0">
                <a:ea typeface="宋体" panose="02010600030101010101" pitchFamily="2" charset="-122"/>
              </a:rPr>
              <a:t>的周期是</a:t>
            </a:r>
            <a:r>
              <a:rPr lang="en-US" altLang="zh-CN" sz="3000" b="1" smtClean="0">
                <a:ea typeface="宋体" panose="02010600030101010101" pitchFamily="2" charset="-122"/>
              </a:rPr>
              <a:t>3,   b</a:t>
            </a:r>
            <a:r>
              <a:rPr lang="zh-CN" altLang="zh-CN" sz="3000" b="1" smtClean="0">
                <a:ea typeface="宋体" panose="02010600030101010101" pitchFamily="2" charset="-122"/>
              </a:rPr>
              <a:t>的周期是</a:t>
            </a:r>
            <a:r>
              <a:rPr lang="en-US" altLang="zh-CN" sz="3000" b="1" smtClean="0">
                <a:ea typeface="宋体" panose="02010600030101010101" pitchFamily="2" charset="-122"/>
              </a:rPr>
              <a:t>3</a:t>
            </a:r>
            <a:r>
              <a:rPr lang="zh-CN" altLang="zh-CN" sz="3000" b="1" smtClean="0">
                <a:ea typeface="宋体" panose="02010600030101010101" pitchFamily="2" charset="-122"/>
              </a:rPr>
              <a:t>，</a:t>
            </a:r>
            <a:endParaRPr lang="en-US" altLang="zh-CN" sz="3000" b="1" smtClean="0">
              <a:ea typeface="宋体" panose="02010600030101010101" pitchFamily="2" charset="-122"/>
            </a:endParaRPr>
          </a:p>
          <a:p>
            <a:pPr marL="342900" lvl="1" indent="-342900">
              <a:buFont typeface="Wingdings" panose="05000000000000000000" pitchFamily="2" charset="2"/>
              <a:buNone/>
            </a:pPr>
            <a:r>
              <a:rPr lang="en-US" altLang="zh-CN" sz="3000" b="1" smtClean="0">
                <a:solidFill>
                  <a:srgbClr val="0000FF"/>
                </a:solidFill>
                <a:ea typeface="宋体" panose="02010600030101010101" pitchFamily="2" charset="-122"/>
              </a:rPr>
              <a:t>(4) </a:t>
            </a:r>
            <a:r>
              <a:rPr lang="zh-CN" altLang="zh-CN" sz="3000" b="1" smtClean="0">
                <a:ea typeface="宋体" panose="02010600030101010101" pitchFamily="2" charset="-122"/>
              </a:rPr>
              <a:t>是交换群；</a:t>
            </a:r>
            <a:endParaRPr lang="zh-CN" altLang="zh-CN" sz="3000" smtClean="0">
              <a:ea typeface="宋体" panose="02010600030101010101" pitchFamily="2" charset="-122"/>
            </a:endParaRPr>
          </a:p>
          <a:p>
            <a:endParaRPr lang="zh-CN" altLang="en-US" sz="3000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50829086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1975" y="836613"/>
            <a:ext cx="8301038" cy="5211762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3000" b="1" dirty="0" smtClean="0">
                <a:solidFill>
                  <a:srgbClr val="0000FF"/>
                </a:solidFill>
                <a:latin typeface="宋体" pitchFamily="2" charset="-122"/>
                <a:ea typeface="宋体" pitchFamily="2" charset="-122"/>
              </a:rPr>
              <a:t>练习：</a:t>
            </a:r>
            <a:r>
              <a:rPr lang="zh-CN" altLang="zh-CN" sz="3000" b="1" dirty="0" smtClean="0">
                <a:ea typeface="宋体" pitchFamily="2" charset="-122"/>
              </a:rPr>
              <a:t>设</a:t>
            </a:r>
            <a:r>
              <a:rPr lang="en-US" altLang="zh-CN" sz="3000" b="1" dirty="0" smtClean="0">
                <a:ea typeface="宋体" pitchFamily="2" charset="-122"/>
              </a:rPr>
              <a:t>G={1</a:t>
            </a:r>
            <a:r>
              <a:rPr lang="zh-CN" altLang="zh-CN" sz="3000" b="1" dirty="0" smtClean="0">
                <a:ea typeface="宋体" pitchFamily="2" charset="-122"/>
              </a:rPr>
              <a:t>，</a:t>
            </a:r>
            <a:r>
              <a:rPr lang="en-US" altLang="zh-CN" sz="3000" b="1" dirty="0" smtClean="0">
                <a:ea typeface="宋体" pitchFamily="2" charset="-122"/>
              </a:rPr>
              <a:t>5</a:t>
            </a:r>
            <a:r>
              <a:rPr lang="zh-CN" altLang="zh-CN" sz="3000" b="1" dirty="0" smtClean="0">
                <a:ea typeface="宋体" pitchFamily="2" charset="-122"/>
              </a:rPr>
              <a:t>，</a:t>
            </a:r>
            <a:r>
              <a:rPr lang="en-US" altLang="zh-CN" sz="3000" b="1" dirty="0" smtClean="0">
                <a:ea typeface="宋体" pitchFamily="2" charset="-122"/>
              </a:rPr>
              <a:t>7</a:t>
            </a:r>
            <a:r>
              <a:rPr lang="zh-CN" altLang="zh-CN" sz="3000" b="1" dirty="0" smtClean="0">
                <a:ea typeface="宋体" pitchFamily="2" charset="-122"/>
              </a:rPr>
              <a:t>，</a:t>
            </a:r>
            <a:r>
              <a:rPr lang="en-US" altLang="zh-CN" sz="3000" b="1" dirty="0" smtClean="0">
                <a:ea typeface="宋体" pitchFamily="2" charset="-122"/>
              </a:rPr>
              <a:t>11}</a:t>
            </a:r>
            <a:r>
              <a:rPr lang="zh-CN" altLang="zh-CN" sz="3000" b="1" dirty="0" smtClean="0">
                <a:ea typeface="宋体" pitchFamily="2" charset="-122"/>
              </a:rPr>
              <a:t>，</a:t>
            </a:r>
            <a:r>
              <a:rPr lang="en-US" altLang="zh-CN" sz="3000" b="1" dirty="0" smtClean="0">
                <a:ea typeface="宋体" pitchFamily="2" charset="-122"/>
              </a:rPr>
              <a:t>(G , </a:t>
            </a:r>
            <a:r>
              <a:rPr lang="en-US" altLang="zh-CN" sz="3000" b="1" dirty="0" smtClean="0">
                <a:ea typeface="宋体" pitchFamily="2" charset="-122"/>
                <a:sym typeface="Symbol"/>
              </a:rPr>
              <a:t></a:t>
            </a:r>
            <a:r>
              <a:rPr lang="en-US" altLang="zh-CN" sz="3000" b="1" baseline="-25000" dirty="0" smtClean="0">
                <a:ea typeface="宋体" pitchFamily="2" charset="-122"/>
              </a:rPr>
              <a:t>12</a:t>
            </a:r>
            <a:r>
              <a:rPr lang="en-US" altLang="zh-CN" sz="3000" b="1" dirty="0" smtClean="0">
                <a:ea typeface="宋体" pitchFamily="2" charset="-122"/>
              </a:rPr>
              <a:t>)</a:t>
            </a:r>
            <a:r>
              <a:rPr lang="zh-CN" altLang="zh-CN" sz="3000" b="1" dirty="0" smtClean="0">
                <a:ea typeface="宋体" pitchFamily="2" charset="-122"/>
              </a:rPr>
              <a:t>为群，其中</a:t>
            </a:r>
            <a:r>
              <a:rPr lang="en-US" altLang="zh-CN" sz="3000" b="1" dirty="0" smtClean="0">
                <a:ea typeface="宋体" pitchFamily="2" charset="-122"/>
                <a:sym typeface="Symbol"/>
              </a:rPr>
              <a:t></a:t>
            </a:r>
            <a:r>
              <a:rPr lang="en-US" altLang="zh-CN" sz="3000" b="1" baseline="-25000" dirty="0" smtClean="0">
                <a:ea typeface="宋体" pitchFamily="2" charset="-122"/>
              </a:rPr>
              <a:t>12</a:t>
            </a:r>
            <a:r>
              <a:rPr lang="zh-CN" altLang="zh-CN" sz="3000" b="1" dirty="0" smtClean="0">
                <a:ea typeface="宋体" pitchFamily="2" charset="-122"/>
              </a:rPr>
              <a:t>为模</a:t>
            </a:r>
            <a:r>
              <a:rPr lang="en-US" altLang="zh-CN" sz="3000" b="1" dirty="0" smtClean="0">
                <a:ea typeface="宋体" pitchFamily="2" charset="-122"/>
              </a:rPr>
              <a:t>12</a:t>
            </a:r>
            <a:r>
              <a:rPr lang="zh-CN" altLang="zh-CN" sz="3000" b="1" dirty="0" smtClean="0">
                <a:ea typeface="宋体" pitchFamily="2" charset="-122"/>
              </a:rPr>
              <a:t>的乘法，请给出所有元素的周期和逆元</a:t>
            </a:r>
            <a:r>
              <a:rPr lang="zh-CN" altLang="en-US" sz="3000" b="1" dirty="0" smtClean="0">
                <a:ea typeface="宋体" pitchFamily="2" charset="-122"/>
              </a:rPr>
              <a:t>。</a:t>
            </a:r>
            <a:endParaRPr lang="en-US" altLang="zh-CN" sz="3000" b="1" dirty="0" smtClean="0">
              <a:ea typeface="宋体" pitchFamily="2" charset="-12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3000" dirty="0" smtClean="0">
              <a:ea typeface="+mj-ea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3000" b="1" dirty="0" smtClean="0">
                <a:solidFill>
                  <a:srgbClr val="0000FF"/>
                </a:solidFill>
                <a:latin typeface="宋体" pitchFamily="2" charset="-122"/>
                <a:ea typeface="宋体" pitchFamily="2" charset="-122"/>
              </a:rPr>
              <a:t>解：</a:t>
            </a:r>
            <a:r>
              <a:rPr lang="en-US" altLang="zh-CN" sz="3000" b="1" dirty="0" smtClean="0">
                <a:ea typeface="宋体" pitchFamily="2" charset="-122"/>
              </a:rPr>
              <a:t>1</a:t>
            </a:r>
            <a:r>
              <a:rPr lang="zh-CN" altLang="zh-CN" sz="3000" b="1" dirty="0" smtClean="0">
                <a:ea typeface="宋体" pitchFamily="2" charset="-122"/>
              </a:rPr>
              <a:t>的周期是</a:t>
            </a:r>
            <a:r>
              <a:rPr lang="en-US" altLang="zh-CN" sz="3000" b="1" dirty="0" smtClean="0">
                <a:ea typeface="宋体" pitchFamily="2" charset="-122"/>
              </a:rPr>
              <a:t>1</a:t>
            </a:r>
            <a:r>
              <a:rPr lang="zh-CN" altLang="zh-CN" sz="3000" b="1" dirty="0" smtClean="0">
                <a:ea typeface="宋体" pitchFamily="2" charset="-122"/>
              </a:rPr>
              <a:t>，逆元是</a:t>
            </a:r>
            <a:r>
              <a:rPr lang="en-US" altLang="zh-CN" sz="3000" b="1" dirty="0" smtClean="0">
                <a:ea typeface="宋体" pitchFamily="2" charset="-122"/>
              </a:rPr>
              <a:t>1</a:t>
            </a:r>
            <a:r>
              <a:rPr lang="zh-CN" altLang="zh-CN" sz="3000" b="1" dirty="0" smtClean="0">
                <a:ea typeface="宋体" pitchFamily="2" charset="-122"/>
              </a:rPr>
              <a:t>；</a:t>
            </a:r>
            <a:r>
              <a:rPr lang="en-US" altLang="zh-CN" sz="3000" b="1" dirty="0" smtClean="0">
                <a:ea typeface="宋体" pitchFamily="2" charset="-122"/>
              </a:rPr>
              <a:t>5</a:t>
            </a:r>
            <a:r>
              <a:rPr lang="zh-CN" altLang="zh-CN" sz="3000" b="1" dirty="0" smtClean="0">
                <a:ea typeface="宋体" pitchFamily="2" charset="-122"/>
              </a:rPr>
              <a:t>的周期是</a:t>
            </a:r>
            <a:r>
              <a:rPr lang="en-US" altLang="zh-CN" sz="3000" b="1" dirty="0" smtClean="0">
                <a:ea typeface="宋体" pitchFamily="2" charset="-122"/>
              </a:rPr>
              <a:t>2</a:t>
            </a:r>
            <a:r>
              <a:rPr lang="zh-CN" altLang="zh-CN" sz="3000" b="1" dirty="0" smtClean="0">
                <a:ea typeface="宋体" pitchFamily="2" charset="-122"/>
              </a:rPr>
              <a:t>，逆元是</a:t>
            </a:r>
            <a:r>
              <a:rPr lang="en-US" altLang="zh-CN" sz="3000" b="1" dirty="0" smtClean="0">
                <a:ea typeface="宋体" pitchFamily="2" charset="-122"/>
              </a:rPr>
              <a:t>5</a:t>
            </a:r>
            <a:r>
              <a:rPr lang="zh-CN" altLang="zh-CN" sz="3000" b="1" dirty="0" smtClean="0">
                <a:ea typeface="宋体" pitchFamily="2" charset="-122"/>
              </a:rPr>
              <a:t>；</a:t>
            </a:r>
            <a:r>
              <a:rPr lang="en-US" altLang="zh-CN" sz="3000" b="1" dirty="0" smtClean="0">
                <a:ea typeface="宋体" pitchFamily="2" charset="-122"/>
              </a:rPr>
              <a:t>7</a:t>
            </a:r>
            <a:r>
              <a:rPr lang="zh-CN" altLang="zh-CN" sz="3000" b="1" dirty="0" smtClean="0">
                <a:ea typeface="宋体" pitchFamily="2" charset="-122"/>
              </a:rPr>
              <a:t>的周期是</a:t>
            </a:r>
            <a:r>
              <a:rPr lang="en-US" altLang="zh-CN" sz="3000" b="1" dirty="0" smtClean="0">
                <a:ea typeface="宋体" pitchFamily="2" charset="-122"/>
              </a:rPr>
              <a:t>2</a:t>
            </a:r>
            <a:r>
              <a:rPr lang="zh-CN" altLang="zh-CN" sz="3000" b="1" dirty="0" smtClean="0">
                <a:ea typeface="宋体" pitchFamily="2" charset="-122"/>
              </a:rPr>
              <a:t>，逆元是</a:t>
            </a:r>
            <a:r>
              <a:rPr lang="en-US" altLang="zh-CN" sz="3000" b="1" dirty="0" smtClean="0">
                <a:ea typeface="宋体" pitchFamily="2" charset="-122"/>
              </a:rPr>
              <a:t>7</a:t>
            </a:r>
            <a:r>
              <a:rPr lang="zh-CN" altLang="zh-CN" sz="3000" b="1" dirty="0" smtClean="0">
                <a:ea typeface="宋体" pitchFamily="2" charset="-122"/>
              </a:rPr>
              <a:t>；</a:t>
            </a:r>
            <a:r>
              <a:rPr lang="en-US" altLang="zh-CN" sz="3000" b="1" dirty="0" smtClean="0">
                <a:ea typeface="宋体" pitchFamily="2" charset="-122"/>
              </a:rPr>
              <a:t>11</a:t>
            </a:r>
            <a:r>
              <a:rPr lang="zh-CN" altLang="zh-CN" sz="3000" b="1" dirty="0" smtClean="0">
                <a:ea typeface="宋体" pitchFamily="2" charset="-122"/>
              </a:rPr>
              <a:t>的周期是</a:t>
            </a:r>
            <a:r>
              <a:rPr lang="en-US" altLang="zh-CN" sz="3000" b="1" dirty="0" smtClean="0">
                <a:ea typeface="宋体" pitchFamily="2" charset="-122"/>
              </a:rPr>
              <a:t>2</a:t>
            </a:r>
            <a:r>
              <a:rPr lang="zh-CN" altLang="zh-CN" sz="3000" b="1" dirty="0" smtClean="0">
                <a:ea typeface="宋体" pitchFamily="2" charset="-122"/>
              </a:rPr>
              <a:t>，逆元是</a:t>
            </a:r>
            <a:r>
              <a:rPr lang="en-US" altLang="zh-CN" sz="3000" b="1" dirty="0" smtClean="0">
                <a:ea typeface="宋体" pitchFamily="2" charset="-122"/>
              </a:rPr>
              <a:t>11</a:t>
            </a:r>
            <a:endParaRPr lang="zh-CN" altLang="en-US" sz="3000" b="1" dirty="0">
              <a:solidFill>
                <a:srgbClr val="0000FF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207592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内容占位符 2"/>
          <p:cNvSpPr>
            <a:spLocks noGrp="1"/>
          </p:cNvSpPr>
          <p:nvPr>
            <p:ph idx="1"/>
          </p:nvPr>
        </p:nvSpPr>
        <p:spPr>
          <a:xfrm>
            <a:off x="420688" y="765175"/>
            <a:ext cx="8615362" cy="5211763"/>
          </a:xfrm>
        </p:spPr>
        <p:txBody>
          <a:bodyPr/>
          <a:lstStyle/>
          <a:p>
            <a:pPr marL="85725" indent="-85725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000" b="1" dirty="0" smtClean="0">
                <a:solidFill>
                  <a:srgbClr val="0000FF"/>
                </a:solidFill>
                <a:ea typeface="宋体" pitchFamily="2" charset="-122"/>
              </a:rPr>
              <a:t>练习：</a:t>
            </a:r>
            <a:r>
              <a:rPr lang="zh-CN" altLang="zh-CN" sz="3000" b="1" dirty="0" smtClean="0">
                <a:ea typeface="宋体" pitchFamily="2" charset="-122"/>
              </a:rPr>
              <a:t>模</a:t>
            </a:r>
            <a:r>
              <a:rPr lang="en-US" altLang="zh-CN" sz="3000" b="1" dirty="0" smtClean="0">
                <a:ea typeface="宋体" pitchFamily="2" charset="-122"/>
              </a:rPr>
              <a:t>10</a:t>
            </a:r>
            <a:r>
              <a:rPr lang="zh-CN" altLang="zh-CN" sz="3000" b="1" dirty="0" smtClean="0">
                <a:ea typeface="宋体" pitchFamily="2" charset="-122"/>
              </a:rPr>
              <a:t>的整数加法群</a:t>
            </a:r>
            <a:r>
              <a:rPr lang="en-US" altLang="zh-CN" sz="3000" b="1" dirty="0" smtClean="0">
                <a:ea typeface="宋体" pitchFamily="2" charset="-122"/>
              </a:rPr>
              <a:t>(Z</a:t>
            </a:r>
            <a:r>
              <a:rPr lang="en-US" altLang="zh-CN" sz="3000" b="1" baseline="-25000" dirty="0" smtClean="0">
                <a:ea typeface="宋体" pitchFamily="2" charset="-122"/>
              </a:rPr>
              <a:t>10</a:t>
            </a:r>
            <a:r>
              <a:rPr lang="en-US" altLang="zh-CN" sz="3000" b="1" dirty="0" smtClean="0">
                <a:ea typeface="宋体" pitchFamily="2" charset="-122"/>
              </a:rPr>
              <a:t>, </a:t>
            </a:r>
            <a:r>
              <a:rPr lang="en-US" altLang="zh-CN" sz="3000" dirty="0" smtClean="0">
                <a:sym typeface="Symbol" pitchFamily="18" charset="2"/>
              </a:rPr>
              <a:t></a:t>
            </a:r>
            <a:r>
              <a:rPr lang="en-US" altLang="zh-CN" sz="3000" baseline="-25000" dirty="0" smtClean="0"/>
              <a:t>10</a:t>
            </a:r>
            <a:r>
              <a:rPr lang="en-US" altLang="zh-CN" sz="3000" b="1" dirty="0" smtClean="0">
                <a:ea typeface="宋体" pitchFamily="2" charset="-122"/>
              </a:rPr>
              <a:t>)</a:t>
            </a:r>
            <a:r>
              <a:rPr lang="zh-CN" altLang="zh-CN" sz="3000" b="1" dirty="0" smtClean="0">
                <a:ea typeface="宋体" pitchFamily="2" charset="-122"/>
              </a:rPr>
              <a:t>是一个循环群</a:t>
            </a:r>
            <a:r>
              <a:rPr lang="en-US" altLang="zh-CN" sz="3000" b="1" dirty="0" smtClean="0">
                <a:ea typeface="宋体" pitchFamily="2" charset="-122"/>
              </a:rPr>
              <a:t>,</a:t>
            </a:r>
            <a:r>
              <a:rPr lang="zh-CN" altLang="zh-CN" sz="3000" b="1" dirty="0" smtClean="0">
                <a:ea typeface="宋体" pitchFamily="2" charset="-122"/>
              </a:rPr>
              <a:t>请写出群中所有的生成元。</a:t>
            </a:r>
            <a:endParaRPr lang="en-US" altLang="zh-CN" sz="3000" b="1" dirty="0" smtClean="0">
              <a:ea typeface="宋体" pitchFamily="2" charset="-122"/>
            </a:endParaRP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000" b="1" dirty="0" smtClean="0">
                <a:ea typeface="宋体" pitchFamily="2" charset="-122"/>
              </a:rPr>
              <a:t>解：</a:t>
            </a:r>
            <a:r>
              <a:rPr lang="en-US" altLang="zh-CN" sz="3000" dirty="0" smtClean="0"/>
              <a:t> </a:t>
            </a:r>
            <a:r>
              <a:rPr lang="en-US" altLang="zh-CN" sz="3000" b="1" dirty="0" smtClean="0"/>
              <a:t>1, 3,  7, 9</a:t>
            </a: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endParaRPr lang="zh-CN" altLang="zh-CN" sz="3000" dirty="0" smtClean="0"/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0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注：</a:t>
            </a:r>
            <a:r>
              <a:rPr lang="zh-CN" altLang="zh-CN" sz="3000" b="1" dirty="0" smtClean="0">
                <a:ea typeface="宋体" panose="02010600030101010101" pitchFamily="2" charset="-122"/>
              </a:rPr>
              <a:t>设</a:t>
            </a:r>
            <a:r>
              <a:rPr lang="en-US" altLang="zh-CN" sz="3000" b="1" dirty="0" smtClean="0">
                <a:ea typeface="宋体" panose="02010600030101010101" pitchFamily="2" charset="-122"/>
              </a:rPr>
              <a:t>Z</a:t>
            </a:r>
            <a:r>
              <a:rPr lang="en-US" altLang="zh-CN" sz="3000" b="1" baseline="-25000" dirty="0" smtClean="0">
                <a:ea typeface="宋体" panose="02010600030101010101" pitchFamily="2" charset="-122"/>
              </a:rPr>
              <a:t>n</a:t>
            </a:r>
            <a:r>
              <a:rPr lang="en-US" altLang="zh-CN" sz="3000" b="1" dirty="0" smtClean="0">
                <a:ea typeface="宋体" panose="02010600030101010101" pitchFamily="2" charset="-122"/>
              </a:rPr>
              <a:t>={0, 1, 2, …, n-1}</a:t>
            </a:r>
            <a:r>
              <a:rPr lang="zh-CN" altLang="zh-CN" sz="3000" b="1" dirty="0" smtClean="0">
                <a:ea typeface="宋体" panose="02010600030101010101" pitchFamily="2" charset="-122"/>
              </a:rPr>
              <a:t>，</a:t>
            </a:r>
            <a:r>
              <a:rPr lang="en-US" altLang="zh-CN" sz="3000" b="1" dirty="0" smtClean="0">
                <a:ea typeface="宋体" panose="02010600030101010101" pitchFamily="2" charset="-122"/>
              </a:rPr>
              <a:t>(Z</a:t>
            </a:r>
            <a:r>
              <a:rPr lang="en-US" altLang="zh-CN" sz="3000" b="1" baseline="-25000" dirty="0" smtClean="0">
                <a:ea typeface="宋体" panose="02010600030101010101" pitchFamily="2" charset="-122"/>
              </a:rPr>
              <a:t>n </a:t>
            </a:r>
            <a:r>
              <a:rPr lang="en-US" altLang="zh-CN" sz="3000" b="1" dirty="0" smtClean="0">
                <a:ea typeface="宋体" panose="02010600030101010101" pitchFamily="2" charset="-122"/>
              </a:rPr>
              <a:t>,</a:t>
            </a:r>
            <a:r>
              <a:rPr lang="en-US" altLang="zh-CN" sz="3000" b="1" dirty="0" smtClean="0">
                <a:ea typeface="宋体" panose="02010600030101010101" pitchFamily="2" charset="-122"/>
                <a:sym typeface="Symbol" pitchFamily="18" charset="2"/>
              </a:rPr>
              <a:t></a:t>
            </a:r>
            <a:r>
              <a:rPr lang="en-US" altLang="zh-CN" sz="3000" b="1" baseline="-25000" dirty="0" smtClean="0">
                <a:ea typeface="宋体" panose="02010600030101010101" pitchFamily="2" charset="-122"/>
              </a:rPr>
              <a:t>n</a:t>
            </a:r>
            <a:r>
              <a:rPr lang="en-US" altLang="zh-CN" sz="3000" b="1" dirty="0" smtClean="0">
                <a:ea typeface="宋体" panose="02010600030101010101" pitchFamily="2" charset="-122"/>
              </a:rPr>
              <a:t>)</a:t>
            </a:r>
            <a:r>
              <a:rPr lang="zh-CN" altLang="zh-CN" sz="3000" b="1" dirty="0" smtClean="0">
                <a:ea typeface="宋体" panose="02010600030101010101" pitchFamily="2" charset="-122"/>
              </a:rPr>
              <a:t>为模</a:t>
            </a:r>
            <a:r>
              <a:rPr lang="en-US" altLang="zh-CN" sz="3000" b="1" dirty="0" smtClean="0">
                <a:ea typeface="宋体" panose="02010600030101010101" pitchFamily="2" charset="-122"/>
              </a:rPr>
              <a:t>n</a:t>
            </a:r>
            <a:r>
              <a:rPr lang="zh-CN" altLang="zh-CN" sz="3000" b="1" dirty="0" smtClean="0">
                <a:ea typeface="宋体" panose="02010600030101010101" pitchFamily="2" charset="-122"/>
              </a:rPr>
              <a:t>加法群</a:t>
            </a:r>
            <a:r>
              <a:rPr lang="en-US" altLang="zh-CN" sz="3000" b="1" dirty="0" smtClean="0">
                <a:ea typeface="宋体" panose="02010600030101010101" pitchFamily="2" charset="-122"/>
              </a:rPr>
              <a:t>,</a:t>
            </a:r>
            <a:r>
              <a:rPr lang="zh-CN" altLang="en-US" sz="3000" b="1" dirty="0" smtClean="0">
                <a:ea typeface="宋体" panose="02010600030101010101" pitchFamily="2" charset="-122"/>
              </a:rPr>
              <a:t>并且为一个循环群，共有</a:t>
            </a:r>
            <a:r>
              <a:rPr lang="zh-CN" altLang="en-US" sz="3000" b="1" dirty="0" smtClean="0">
                <a:ea typeface="宋体" panose="02010600030101010101" pitchFamily="2" charset="-122"/>
                <a:sym typeface="Symbol" pitchFamily="18" charset="2"/>
              </a:rPr>
              <a:t></a:t>
            </a:r>
            <a:r>
              <a:rPr lang="en-US" altLang="zh-CN" sz="3000" b="1" dirty="0" smtClean="0">
                <a:ea typeface="宋体" panose="02010600030101010101" pitchFamily="2" charset="-122"/>
              </a:rPr>
              <a:t>(n)</a:t>
            </a:r>
            <a:r>
              <a:rPr lang="zh-CN" altLang="en-US" sz="3000" b="1" dirty="0" smtClean="0">
                <a:ea typeface="宋体" panose="02010600030101010101" pitchFamily="2" charset="-122"/>
              </a:rPr>
              <a:t>个生成元素。</a:t>
            </a:r>
            <a:endParaRPr lang="en-US" altLang="zh-CN" sz="3000" b="1" dirty="0" smtClean="0"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endParaRPr lang="en-US" altLang="zh-CN" sz="3000" b="1" dirty="0" smtClean="0">
              <a:ea typeface="宋体" panose="02010600030101010101" pitchFamily="2" charset="-122"/>
            </a:endParaRPr>
          </a:p>
        </p:txBody>
      </p:sp>
      <p:sp>
        <p:nvSpPr>
          <p:cNvPr id="82947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solidFill>
                <a:srgbClr val="000000"/>
              </a:solidFill>
            </a:endParaRPr>
          </a:p>
        </p:txBody>
      </p:sp>
      <p:sp>
        <p:nvSpPr>
          <p:cNvPr id="82948" name="Rectangle 3"/>
          <p:cNvSpPr>
            <a:spLocks noChangeArrowheads="1"/>
          </p:cNvSpPr>
          <p:nvPr/>
        </p:nvSpPr>
        <p:spPr bwMode="auto">
          <a:xfrm>
            <a:off x="0" y="657225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zh-CN" sz="2400">
              <a:solidFill>
                <a:srgbClr val="000000"/>
              </a:solidFill>
            </a:endParaRPr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solidFill>
                <a:srgbClr val="000000"/>
              </a:solidFill>
            </a:endParaRPr>
          </a:p>
        </p:txBody>
      </p:sp>
      <p:sp>
        <p:nvSpPr>
          <p:cNvPr id="82950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55827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1975" y="765175"/>
            <a:ext cx="8301038" cy="5283200"/>
          </a:xfrm>
        </p:spPr>
        <p:txBody>
          <a:bodyPr/>
          <a:lstStyle/>
          <a:p>
            <a:pPr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000" b="1" dirty="0" smtClean="0">
                <a:solidFill>
                  <a:srgbClr val="0000FF"/>
                </a:solidFill>
                <a:ea typeface="宋体" pitchFamily="2" charset="-122"/>
              </a:rPr>
              <a:t>练习：</a:t>
            </a:r>
            <a:r>
              <a:rPr lang="zh-CN" altLang="zh-CN" sz="3000" b="1" dirty="0" smtClean="0">
                <a:ea typeface="宋体" pitchFamily="2" charset="-122"/>
              </a:rPr>
              <a:t>设集合</a:t>
            </a:r>
            <a:r>
              <a:rPr lang="en-US" altLang="zh-CN" sz="3000" b="1" dirty="0" err="1" smtClean="0">
                <a:ea typeface="宋体" pitchFamily="2" charset="-122"/>
              </a:rPr>
              <a:t>S</a:t>
            </a:r>
            <a:r>
              <a:rPr lang="en-US" altLang="zh-CN" sz="3000" b="1" baseline="-25000" dirty="0" err="1" smtClean="0">
                <a:ea typeface="宋体" pitchFamily="2" charset="-122"/>
              </a:rPr>
              <a:t>n</a:t>
            </a:r>
            <a:r>
              <a:rPr lang="en-US" altLang="zh-CN" sz="3000" b="1" dirty="0" smtClean="0">
                <a:ea typeface="宋体" pitchFamily="2" charset="-122"/>
              </a:rPr>
              <a:t>={1,2,…,n-1}</a:t>
            </a:r>
            <a:r>
              <a:rPr lang="zh-CN" altLang="zh-CN" sz="3000" b="1" dirty="0" smtClean="0">
                <a:ea typeface="宋体" pitchFamily="2" charset="-122"/>
              </a:rPr>
              <a:t>，</a:t>
            </a:r>
            <a:r>
              <a:rPr lang="en-US" altLang="zh-CN" sz="3000" b="1" dirty="0" smtClean="0">
                <a:ea typeface="宋体" pitchFamily="2" charset="-122"/>
                <a:sym typeface="Symbol"/>
              </a:rPr>
              <a:t></a:t>
            </a:r>
            <a:r>
              <a:rPr lang="en-US" altLang="zh-CN" sz="3000" b="1" baseline="-25000" dirty="0" smtClean="0">
                <a:ea typeface="宋体" pitchFamily="2" charset="-122"/>
              </a:rPr>
              <a:t>n</a:t>
            </a:r>
            <a:r>
              <a:rPr lang="zh-CN" altLang="zh-CN" sz="3000" b="1" dirty="0" smtClean="0">
                <a:ea typeface="宋体" pitchFamily="2" charset="-122"/>
              </a:rPr>
              <a:t>是模</a:t>
            </a:r>
            <a:r>
              <a:rPr lang="en-US" altLang="zh-CN" sz="3000" b="1" dirty="0" smtClean="0">
                <a:ea typeface="宋体" pitchFamily="2" charset="-122"/>
              </a:rPr>
              <a:t>n</a:t>
            </a:r>
            <a:r>
              <a:rPr lang="zh-CN" altLang="zh-CN" sz="3000" b="1" dirty="0" smtClean="0">
                <a:ea typeface="宋体" pitchFamily="2" charset="-122"/>
              </a:rPr>
              <a:t>乘法，则</a:t>
            </a:r>
            <a:r>
              <a:rPr lang="en-US" altLang="zh-CN" sz="3000" b="1" dirty="0" smtClean="0">
                <a:ea typeface="宋体" pitchFamily="2" charset="-122"/>
              </a:rPr>
              <a:t/>
            </a:r>
            <a:br>
              <a:rPr lang="en-US" altLang="zh-CN" sz="3000" b="1" dirty="0" smtClean="0">
                <a:ea typeface="宋体" pitchFamily="2" charset="-122"/>
              </a:rPr>
            </a:br>
            <a:r>
              <a:rPr lang="zh-CN" altLang="zh-CN" sz="3000" b="1" dirty="0" smtClean="0">
                <a:ea typeface="宋体" pitchFamily="2" charset="-122"/>
              </a:rPr>
              <a:t>（</a:t>
            </a:r>
            <a:r>
              <a:rPr lang="en-US" altLang="zh-CN" sz="3000" b="1" dirty="0" smtClean="0">
                <a:ea typeface="宋体" pitchFamily="2" charset="-122"/>
              </a:rPr>
              <a:t>1</a:t>
            </a:r>
            <a:r>
              <a:rPr lang="zh-CN" altLang="zh-CN" sz="3000" b="1" dirty="0" smtClean="0">
                <a:ea typeface="宋体" pitchFamily="2" charset="-122"/>
              </a:rPr>
              <a:t>）当</a:t>
            </a:r>
            <a:r>
              <a:rPr lang="en-US" altLang="zh-CN" sz="3000" b="1" dirty="0" smtClean="0">
                <a:ea typeface="宋体" pitchFamily="2" charset="-122"/>
              </a:rPr>
              <a:t>n=6</a:t>
            </a:r>
            <a:r>
              <a:rPr lang="zh-CN" altLang="zh-CN" sz="3000" b="1" dirty="0" smtClean="0">
                <a:ea typeface="宋体" pitchFamily="2" charset="-122"/>
              </a:rPr>
              <a:t>时，</a:t>
            </a:r>
            <a:r>
              <a:rPr lang="en-US" altLang="zh-CN" sz="3000" b="1" dirty="0" smtClean="0">
                <a:ea typeface="宋体" pitchFamily="2" charset="-122"/>
              </a:rPr>
              <a:t>(</a:t>
            </a:r>
            <a:r>
              <a:rPr lang="en-US" altLang="zh-CN" sz="3000" b="1" dirty="0" err="1" smtClean="0">
                <a:ea typeface="宋体" pitchFamily="2" charset="-122"/>
              </a:rPr>
              <a:t>S</a:t>
            </a:r>
            <a:r>
              <a:rPr lang="en-US" altLang="zh-CN" sz="3000" b="1" baseline="-25000" dirty="0" err="1" smtClean="0">
                <a:ea typeface="宋体" pitchFamily="2" charset="-122"/>
              </a:rPr>
              <a:t>n</a:t>
            </a:r>
            <a:r>
              <a:rPr lang="en-US" altLang="zh-CN" sz="3000" b="1" dirty="0" smtClean="0">
                <a:ea typeface="宋体" pitchFamily="2" charset="-122"/>
              </a:rPr>
              <a:t>, </a:t>
            </a:r>
            <a:r>
              <a:rPr lang="en-US" altLang="zh-CN" sz="3000" b="1" dirty="0" smtClean="0">
                <a:ea typeface="宋体" pitchFamily="2" charset="-122"/>
                <a:sym typeface="Symbol"/>
              </a:rPr>
              <a:t></a:t>
            </a:r>
            <a:r>
              <a:rPr lang="en-US" altLang="zh-CN" sz="3000" b="1" baseline="-25000" dirty="0" smtClean="0">
                <a:ea typeface="宋体" pitchFamily="2" charset="-122"/>
              </a:rPr>
              <a:t>n</a:t>
            </a:r>
            <a:r>
              <a:rPr lang="en-US" altLang="zh-CN" sz="3000" b="1" dirty="0" smtClean="0">
                <a:ea typeface="宋体" pitchFamily="2" charset="-122"/>
              </a:rPr>
              <a:t>)</a:t>
            </a:r>
            <a:r>
              <a:rPr lang="zh-CN" altLang="zh-CN" sz="3000" b="1" dirty="0" smtClean="0">
                <a:ea typeface="宋体" pitchFamily="2" charset="-122"/>
              </a:rPr>
              <a:t>是群吗？</a:t>
            </a:r>
            <a:r>
              <a:rPr lang="en-US" altLang="zh-CN" sz="3000" b="1" dirty="0" smtClean="0">
                <a:ea typeface="宋体" pitchFamily="2" charset="-122"/>
              </a:rPr>
              <a:t/>
            </a:r>
            <a:br>
              <a:rPr lang="en-US" altLang="zh-CN" sz="3000" b="1" dirty="0" smtClean="0">
                <a:ea typeface="宋体" pitchFamily="2" charset="-122"/>
              </a:rPr>
            </a:br>
            <a:r>
              <a:rPr lang="zh-CN" altLang="zh-CN" sz="3000" b="1" dirty="0" smtClean="0">
                <a:ea typeface="宋体" pitchFamily="2" charset="-122"/>
              </a:rPr>
              <a:t>（</a:t>
            </a:r>
            <a:r>
              <a:rPr lang="en-US" altLang="zh-CN" sz="3000" b="1" dirty="0" smtClean="0">
                <a:ea typeface="宋体" pitchFamily="2" charset="-122"/>
              </a:rPr>
              <a:t>2</a:t>
            </a:r>
            <a:r>
              <a:rPr lang="zh-CN" altLang="zh-CN" sz="3000" b="1" dirty="0" smtClean="0">
                <a:ea typeface="宋体" pitchFamily="2" charset="-122"/>
              </a:rPr>
              <a:t>）当</a:t>
            </a:r>
            <a:r>
              <a:rPr lang="en-US" altLang="zh-CN" sz="3000" b="1" dirty="0" smtClean="0">
                <a:ea typeface="宋体" pitchFamily="2" charset="-122"/>
              </a:rPr>
              <a:t>n=5</a:t>
            </a:r>
            <a:r>
              <a:rPr lang="zh-CN" altLang="zh-CN" sz="3000" b="1" dirty="0" smtClean="0">
                <a:ea typeface="宋体" pitchFamily="2" charset="-122"/>
              </a:rPr>
              <a:t>时，</a:t>
            </a:r>
            <a:r>
              <a:rPr lang="en-US" altLang="zh-CN" sz="3000" b="1" dirty="0" smtClean="0">
                <a:ea typeface="宋体" pitchFamily="2" charset="-122"/>
              </a:rPr>
              <a:t>(</a:t>
            </a:r>
            <a:r>
              <a:rPr lang="en-US" altLang="zh-CN" sz="3000" b="1" dirty="0" err="1" smtClean="0">
                <a:ea typeface="宋体" pitchFamily="2" charset="-122"/>
              </a:rPr>
              <a:t>S</a:t>
            </a:r>
            <a:r>
              <a:rPr lang="en-US" altLang="zh-CN" sz="3000" b="1" baseline="-25000" dirty="0" err="1" smtClean="0">
                <a:ea typeface="宋体" pitchFamily="2" charset="-122"/>
              </a:rPr>
              <a:t>n</a:t>
            </a:r>
            <a:r>
              <a:rPr lang="en-US" altLang="zh-CN" sz="3000" b="1" dirty="0" smtClean="0">
                <a:ea typeface="宋体" pitchFamily="2" charset="-122"/>
              </a:rPr>
              <a:t>, </a:t>
            </a:r>
            <a:r>
              <a:rPr lang="en-US" altLang="zh-CN" sz="3000" b="1" dirty="0" smtClean="0">
                <a:ea typeface="宋体" pitchFamily="2" charset="-122"/>
                <a:sym typeface="Symbol"/>
              </a:rPr>
              <a:t></a:t>
            </a:r>
            <a:r>
              <a:rPr lang="en-US" altLang="zh-CN" sz="3000" b="1" baseline="-25000" dirty="0" smtClean="0">
                <a:ea typeface="宋体" pitchFamily="2" charset="-122"/>
              </a:rPr>
              <a:t>n</a:t>
            </a:r>
            <a:r>
              <a:rPr lang="en-US" altLang="zh-CN" sz="3000" b="1" dirty="0" smtClean="0">
                <a:ea typeface="宋体" pitchFamily="2" charset="-122"/>
              </a:rPr>
              <a:t>)</a:t>
            </a:r>
            <a:r>
              <a:rPr lang="zh-CN" altLang="zh-CN" sz="3000" b="1" dirty="0" smtClean="0">
                <a:ea typeface="宋体" pitchFamily="2" charset="-122"/>
              </a:rPr>
              <a:t>是群吗？</a:t>
            </a:r>
            <a:endParaRPr lang="en-US" altLang="zh-CN" sz="3000" b="1" dirty="0" smtClean="0">
              <a:ea typeface="宋体" pitchFamily="2" charset="-122"/>
            </a:endParaRP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000" b="1" dirty="0" smtClean="0">
                <a:solidFill>
                  <a:srgbClr val="0000FF"/>
                </a:solidFill>
                <a:ea typeface="宋体" pitchFamily="2" charset="-122"/>
              </a:rPr>
              <a:t>解：</a:t>
            </a:r>
            <a:r>
              <a:rPr lang="zh-CN" altLang="zh-CN" sz="3000" b="1" dirty="0" smtClean="0">
                <a:ea typeface="宋体" pitchFamily="2" charset="-122"/>
              </a:rPr>
              <a:t>（</a:t>
            </a:r>
            <a:r>
              <a:rPr lang="en-US" altLang="zh-CN" sz="3000" b="1" dirty="0" smtClean="0">
                <a:ea typeface="宋体" pitchFamily="2" charset="-122"/>
              </a:rPr>
              <a:t>1</a:t>
            </a:r>
            <a:r>
              <a:rPr lang="zh-CN" altLang="zh-CN" sz="3000" b="1" dirty="0" smtClean="0">
                <a:ea typeface="宋体" pitchFamily="2" charset="-122"/>
              </a:rPr>
              <a:t>）</a:t>
            </a:r>
            <a:r>
              <a:rPr lang="zh-CN" altLang="en-US" sz="3000" b="1" dirty="0" smtClean="0">
                <a:ea typeface="宋体" pitchFamily="2" charset="-122"/>
              </a:rPr>
              <a:t>不是</a:t>
            </a:r>
            <a:endParaRPr lang="en-US" altLang="zh-CN" sz="3000" b="1" dirty="0" smtClean="0">
              <a:ea typeface="宋体" pitchFamily="2" charset="-122"/>
            </a:endParaRP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000" b="1" dirty="0" smtClean="0">
                <a:ea typeface="宋体" pitchFamily="2" charset="-122"/>
              </a:rPr>
              <a:t>        </a:t>
            </a:r>
            <a:r>
              <a:rPr lang="zh-CN" altLang="zh-CN" sz="3000" b="1" dirty="0" smtClean="0">
                <a:ea typeface="宋体" pitchFamily="2" charset="-122"/>
              </a:rPr>
              <a:t>（</a:t>
            </a:r>
            <a:r>
              <a:rPr lang="en-US" altLang="zh-CN" sz="3000" b="1" dirty="0" smtClean="0">
                <a:ea typeface="宋体" pitchFamily="2" charset="-122"/>
              </a:rPr>
              <a:t>2</a:t>
            </a:r>
            <a:r>
              <a:rPr lang="zh-CN" altLang="zh-CN" sz="3000" b="1" dirty="0" smtClean="0">
                <a:ea typeface="宋体" pitchFamily="2" charset="-122"/>
              </a:rPr>
              <a:t>）</a:t>
            </a:r>
            <a:r>
              <a:rPr lang="zh-CN" altLang="en-US" sz="3000" b="1" dirty="0" smtClean="0">
                <a:ea typeface="宋体" pitchFamily="2" charset="-122"/>
              </a:rPr>
              <a:t>是 （因为</a:t>
            </a:r>
            <a:r>
              <a:rPr lang="en-US" altLang="zh-CN" sz="3000" b="1" dirty="0" smtClean="0">
                <a:ea typeface="宋体" pitchFamily="2" charset="-122"/>
              </a:rPr>
              <a:t>5</a:t>
            </a:r>
            <a:r>
              <a:rPr lang="zh-CN" altLang="en-US" sz="3000" b="1" dirty="0" smtClean="0">
                <a:ea typeface="宋体" pitchFamily="2" charset="-122"/>
              </a:rPr>
              <a:t>是质数）</a:t>
            </a:r>
            <a:endParaRPr lang="en-US" altLang="zh-CN" sz="3000" b="1" dirty="0" smtClean="0">
              <a:ea typeface="宋体" pitchFamily="2" charset="-122"/>
            </a:endParaRP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endParaRPr lang="en-US" altLang="zh-CN" sz="3000" b="1" dirty="0" smtClean="0">
              <a:solidFill>
                <a:srgbClr val="0000FF"/>
              </a:solidFill>
              <a:ea typeface="宋体" pitchFamily="2" charset="-122"/>
            </a:endParaRP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000" b="1" dirty="0" smtClean="0">
                <a:solidFill>
                  <a:srgbClr val="C00000"/>
                </a:solidFill>
                <a:latin typeface="+mn-ea"/>
              </a:rPr>
              <a:t>注：</a:t>
            </a:r>
            <a:r>
              <a:rPr lang="zh-CN" altLang="en-US" sz="3000" b="1" dirty="0" smtClean="0"/>
              <a:t>当</a:t>
            </a:r>
            <a:r>
              <a:rPr lang="en-US" altLang="zh-CN" sz="3000" b="1" dirty="0" smtClean="0"/>
              <a:t>n</a:t>
            </a:r>
            <a:r>
              <a:rPr lang="zh-CN" altLang="en-US" sz="3000" b="1" dirty="0" smtClean="0"/>
              <a:t>为质数时，</a:t>
            </a:r>
            <a:r>
              <a:rPr lang="en-US" altLang="zh-CN" sz="3000" b="1" dirty="0" smtClean="0">
                <a:ea typeface="宋体" pitchFamily="2" charset="-122"/>
              </a:rPr>
              <a:t>(</a:t>
            </a:r>
            <a:r>
              <a:rPr lang="en-US" altLang="zh-CN" sz="3000" b="1" dirty="0" err="1" smtClean="0">
                <a:ea typeface="宋体" pitchFamily="2" charset="-122"/>
              </a:rPr>
              <a:t>S</a:t>
            </a:r>
            <a:r>
              <a:rPr lang="en-US" altLang="zh-CN" sz="3000" b="1" baseline="-25000" dirty="0" err="1" smtClean="0">
                <a:ea typeface="宋体" pitchFamily="2" charset="-122"/>
              </a:rPr>
              <a:t>n</a:t>
            </a:r>
            <a:r>
              <a:rPr lang="en-US" altLang="zh-CN" sz="3000" b="1" dirty="0" smtClean="0">
                <a:ea typeface="宋体" pitchFamily="2" charset="-122"/>
              </a:rPr>
              <a:t>, </a:t>
            </a:r>
            <a:r>
              <a:rPr lang="en-US" altLang="zh-CN" sz="3000" b="1" dirty="0" smtClean="0">
                <a:ea typeface="宋体" pitchFamily="2" charset="-122"/>
                <a:sym typeface="Symbol"/>
              </a:rPr>
              <a:t></a:t>
            </a:r>
            <a:r>
              <a:rPr lang="en-US" altLang="zh-CN" sz="3000" b="1" baseline="-25000" dirty="0" smtClean="0">
                <a:ea typeface="宋体" pitchFamily="2" charset="-122"/>
              </a:rPr>
              <a:t>n</a:t>
            </a:r>
            <a:r>
              <a:rPr lang="en-US" altLang="zh-CN" sz="3000" b="1" dirty="0" smtClean="0">
                <a:ea typeface="宋体" pitchFamily="2" charset="-122"/>
              </a:rPr>
              <a:t>) </a:t>
            </a:r>
            <a:r>
              <a:rPr lang="zh-CN" altLang="zh-CN" sz="3000" b="1" dirty="0" smtClean="0"/>
              <a:t>是群</a:t>
            </a:r>
            <a:endParaRPr lang="en-US" altLang="zh-CN" sz="3000" b="1" dirty="0" smtClean="0"/>
          </a:p>
          <a:p>
            <a:pPr>
              <a:buFont typeface="Wingdings" panose="05000000000000000000" pitchFamily="2" charset="2"/>
              <a:buNone/>
              <a:defRPr/>
            </a:pPr>
            <a:endParaRPr lang="zh-CN" altLang="zh-CN" sz="2800" b="1" dirty="0" smtClean="0">
              <a:ea typeface="宋体" pitchFamily="2" charset="-122"/>
            </a:endParaRPr>
          </a:p>
          <a:p>
            <a:pPr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715029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692150"/>
            <a:ext cx="8394700" cy="5761038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8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练习：</a:t>
            </a:r>
            <a:r>
              <a:rPr lang="zh-CN" altLang="zh-CN" sz="2800" b="1" dirty="0" smtClean="0">
                <a:ea typeface="宋体" panose="02010600030101010101" pitchFamily="2" charset="-122"/>
              </a:rPr>
              <a:t>设</a:t>
            </a:r>
            <a:r>
              <a:rPr lang="en-US" altLang="zh-CN" sz="2800" b="1" dirty="0">
                <a:ea typeface="宋体" panose="02010600030101010101" pitchFamily="2" charset="-122"/>
              </a:rPr>
              <a:t>p</a:t>
            </a:r>
            <a:r>
              <a:rPr lang="en-US" altLang="zh-CN" sz="2800" b="1" dirty="0" smtClean="0">
                <a:ea typeface="宋体" panose="02010600030101010101" pitchFamily="2" charset="-122"/>
              </a:rPr>
              <a:t>, q</a:t>
            </a:r>
            <a:r>
              <a:rPr lang="zh-CN" altLang="zh-CN" sz="2800" b="1" dirty="0">
                <a:ea typeface="宋体" panose="02010600030101010101" pitchFamily="2" charset="-122"/>
              </a:rPr>
              <a:t>是两个不同的质数，</a:t>
            </a:r>
            <a:r>
              <a:rPr lang="en-US" altLang="zh-CN" sz="2800" b="1" dirty="0">
                <a:ea typeface="宋体" panose="02010600030101010101" pitchFamily="2" charset="-122"/>
              </a:rPr>
              <a:t>G</a:t>
            </a:r>
            <a:r>
              <a:rPr lang="zh-CN" altLang="zh-CN" sz="2800" b="1" dirty="0">
                <a:ea typeface="宋体" panose="02010600030101010101" pitchFamily="2" charset="-122"/>
              </a:rPr>
              <a:t>是一个交换群</a:t>
            </a:r>
            <a:r>
              <a:rPr lang="zh-CN" altLang="zh-CN" sz="2800" b="1" dirty="0" smtClean="0">
                <a:ea typeface="宋体" panose="02010600030101010101" pitchFamily="2" charset="-122"/>
              </a:rPr>
              <a:t>且</a:t>
            </a:r>
            <a:r>
              <a:rPr lang="en-US" altLang="zh-CN" sz="2800" b="1" dirty="0" smtClean="0">
                <a:ea typeface="宋体" panose="02010600030101010101" pitchFamily="2" charset="-122"/>
              </a:rPr>
              <a:t>   |</a:t>
            </a:r>
            <a:r>
              <a:rPr lang="en-US" altLang="zh-CN" sz="2800" b="1" dirty="0">
                <a:ea typeface="宋体" panose="02010600030101010101" pitchFamily="2" charset="-122"/>
              </a:rPr>
              <a:t>G|=</a:t>
            </a:r>
            <a:r>
              <a:rPr lang="en-US" altLang="zh-CN" sz="2800" b="1" dirty="0" err="1">
                <a:ea typeface="宋体" panose="02010600030101010101" pitchFamily="2" charset="-122"/>
              </a:rPr>
              <a:t>pq</a:t>
            </a:r>
            <a:r>
              <a:rPr lang="zh-CN" altLang="zh-CN" sz="2800" b="1" dirty="0">
                <a:ea typeface="宋体" panose="02010600030101010101" pitchFamily="2" charset="-122"/>
              </a:rPr>
              <a:t>，任取</a:t>
            </a:r>
            <a:r>
              <a:rPr lang="en-US" altLang="zh-CN" sz="2800" b="1" dirty="0">
                <a:ea typeface="宋体" panose="02010600030101010101" pitchFamily="2" charset="-122"/>
              </a:rPr>
              <a:t>G</a:t>
            </a:r>
            <a:r>
              <a:rPr lang="zh-CN" altLang="zh-CN" sz="2800" b="1" dirty="0">
                <a:ea typeface="宋体" panose="02010600030101010101" pitchFamily="2" charset="-122"/>
              </a:rPr>
              <a:t>中非单位元素</a:t>
            </a:r>
            <a:r>
              <a:rPr lang="en-US" altLang="zh-CN" sz="2800" b="1" dirty="0">
                <a:ea typeface="宋体" panose="02010600030101010101" pitchFamily="2" charset="-122"/>
              </a:rPr>
              <a:t>a</a:t>
            </a:r>
            <a:r>
              <a:rPr lang="zh-CN" altLang="zh-CN" sz="2800" b="1" dirty="0">
                <a:ea typeface="宋体" panose="02010600030101010101" pitchFamily="2" charset="-122"/>
              </a:rPr>
              <a:t>：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zh-CN" sz="2800" b="1" dirty="0">
                <a:ea typeface="宋体" panose="02010600030101010101" pitchFamily="2" charset="-122"/>
              </a:rPr>
              <a:t>（</a:t>
            </a:r>
            <a:r>
              <a:rPr lang="en-US" altLang="zh-CN" sz="2800" b="1" dirty="0">
                <a:ea typeface="宋体" panose="02010600030101010101" pitchFamily="2" charset="-122"/>
              </a:rPr>
              <a:t>1</a:t>
            </a:r>
            <a:r>
              <a:rPr lang="zh-CN" altLang="zh-CN" sz="2800" b="1" dirty="0">
                <a:ea typeface="宋体" panose="02010600030101010101" pitchFamily="2" charset="-122"/>
              </a:rPr>
              <a:t>）若</a:t>
            </a:r>
            <a:r>
              <a:rPr lang="en-US" altLang="zh-CN" sz="2800" b="1" dirty="0">
                <a:ea typeface="宋体" panose="02010600030101010101" pitchFamily="2" charset="-122"/>
              </a:rPr>
              <a:t>a</a:t>
            </a:r>
            <a:r>
              <a:rPr lang="zh-CN" altLang="zh-CN" sz="2800" b="1" dirty="0">
                <a:ea typeface="宋体" panose="02010600030101010101" pitchFamily="2" charset="-122"/>
              </a:rPr>
              <a:t>的周期为</a:t>
            </a:r>
            <a:r>
              <a:rPr lang="en-US" altLang="zh-CN" sz="2800" b="1" dirty="0">
                <a:ea typeface="宋体" panose="02010600030101010101" pitchFamily="2" charset="-122"/>
              </a:rPr>
              <a:t>p</a:t>
            </a:r>
            <a:r>
              <a:rPr lang="zh-CN" altLang="zh-CN" sz="2800" b="1" dirty="0">
                <a:ea typeface="宋体" panose="02010600030101010101" pitchFamily="2" charset="-122"/>
              </a:rPr>
              <a:t>，则</a:t>
            </a:r>
            <a:r>
              <a:rPr lang="en-US" altLang="zh-CN" sz="2800" b="1" dirty="0">
                <a:ea typeface="宋体" panose="02010600030101010101" pitchFamily="2" charset="-122"/>
              </a:rPr>
              <a:t>H=(a)</a:t>
            </a:r>
            <a:r>
              <a:rPr lang="zh-CN" altLang="zh-CN" sz="2800" b="1" dirty="0">
                <a:ea typeface="宋体" panose="02010600030101010101" pitchFamily="2" charset="-122"/>
              </a:rPr>
              <a:t>是</a:t>
            </a:r>
            <a:r>
              <a:rPr lang="en-US" altLang="zh-CN" sz="2800" b="1" dirty="0">
                <a:ea typeface="宋体" panose="02010600030101010101" pitchFamily="2" charset="-122"/>
              </a:rPr>
              <a:t>G</a:t>
            </a:r>
            <a:r>
              <a:rPr lang="zh-CN" altLang="zh-CN" sz="2800" b="1" dirty="0">
                <a:ea typeface="宋体" panose="02010600030101010101" pitchFamily="2" charset="-122"/>
              </a:rPr>
              <a:t>的子群，请问</a:t>
            </a:r>
            <a:r>
              <a:rPr lang="en-US" altLang="zh-CN" sz="2800" b="1" dirty="0">
                <a:ea typeface="宋体" panose="02010600030101010101" pitchFamily="2" charset="-122"/>
              </a:rPr>
              <a:t>G/H</a:t>
            </a:r>
            <a:r>
              <a:rPr lang="zh-CN" altLang="zh-CN" sz="2800" b="1" dirty="0">
                <a:ea typeface="宋体" panose="02010600030101010101" pitchFamily="2" charset="-122"/>
              </a:rPr>
              <a:t>是几元群？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zh-CN" sz="2800" b="1" dirty="0">
                <a:ea typeface="宋体" panose="02010600030101010101" pitchFamily="2" charset="-122"/>
              </a:rPr>
              <a:t>（</a:t>
            </a:r>
            <a:r>
              <a:rPr lang="en-US" altLang="zh-CN" sz="2800" b="1" dirty="0">
                <a:ea typeface="宋体" panose="02010600030101010101" pitchFamily="2" charset="-122"/>
              </a:rPr>
              <a:t>2</a:t>
            </a:r>
            <a:r>
              <a:rPr lang="zh-CN" altLang="zh-CN" sz="2800" b="1" dirty="0">
                <a:ea typeface="宋体" panose="02010600030101010101" pitchFamily="2" charset="-122"/>
              </a:rPr>
              <a:t>）任取</a:t>
            </a:r>
            <a:r>
              <a:rPr lang="en-US" altLang="zh-CN" sz="2800" b="1" dirty="0">
                <a:ea typeface="宋体" panose="02010600030101010101" pitchFamily="2" charset="-122"/>
              </a:rPr>
              <a:t>G</a:t>
            </a:r>
            <a:r>
              <a:rPr lang="zh-CN" altLang="zh-CN" sz="2800" b="1" dirty="0">
                <a:ea typeface="宋体" panose="02010600030101010101" pitchFamily="2" charset="-122"/>
              </a:rPr>
              <a:t>中元素</a:t>
            </a:r>
            <a:r>
              <a:rPr lang="en-US" altLang="zh-CN" sz="2800" b="1" dirty="0">
                <a:ea typeface="宋体" panose="02010600030101010101" pitchFamily="2" charset="-122"/>
              </a:rPr>
              <a:t>b</a:t>
            </a:r>
            <a:r>
              <a:rPr lang="zh-CN" altLang="zh-CN" sz="2800" b="1" dirty="0">
                <a:ea typeface="宋体" panose="02010600030101010101" pitchFamily="2" charset="-122"/>
              </a:rPr>
              <a:t>，且</a:t>
            </a:r>
            <a:r>
              <a:rPr lang="en-US" altLang="zh-CN" sz="2800" b="1" dirty="0">
                <a:ea typeface="宋体" panose="02010600030101010101" pitchFamily="2" charset="-122"/>
              </a:rPr>
              <a:t>b</a:t>
            </a:r>
            <a:r>
              <a:rPr lang="zh-CN" altLang="zh-CN" sz="2800" b="1" dirty="0">
                <a:ea typeface="宋体" panose="02010600030101010101" pitchFamily="2" charset="-122"/>
              </a:rPr>
              <a:t>不在</a:t>
            </a:r>
            <a:r>
              <a:rPr lang="en-US" altLang="zh-CN" sz="2800" b="1" dirty="0">
                <a:ea typeface="宋体" panose="02010600030101010101" pitchFamily="2" charset="-122"/>
              </a:rPr>
              <a:t>H</a:t>
            </a:r>
            <a:r>
              <a:rPr lang="zh-CN" altLang="zh-CN" sz="2800" b="1" dirty="0">
                <a:ea typeface="宋体" panose="02010600030101010101" pitchFamily="2" charset="-122"/>
              </a:rPr>
              <a:t>中，请问</a:t>
            </a:r>
            <a:r>
              <a:rPr lang="en-US" altLang="zh-CN" sz="2800" b="1" dirty="0" err="1">
                <a:ea typeface="宋体" panose="02010600030101010101" pitchFamily="2" charset="-122"/>
              </a:rPr>
              <a:t>bH</a:t>
            </a:r>
            <a:r>
              <a:rPr lang="zh-CN" altLang="zh-CN" sz="2800" b="1" dirty="0">
                <a:ea typeface="宋体" panose="02010600030101010101" pitchFamily="2" charset="-122"/>
              </a:rPr>
              <a:t>在</a:t>
            </a:r>
            <a:r>
              <a:rPr lang="en-US" altLang="zh-CN" sz="2800" b="1" dirty="0">
                <a:ea typeface="宋体" panose="02010600030101010101" pitchFamily="2" charset="-122"/>
              </a:rPr>
              <a:t>G/H</a:t>
            </a:r>
            <a:r>
              <a:rPr lang="zh-CN" altLang="zh-CN" sz="2800" b="1" dirty="0">
                <a:ea typeface="宋体" panose="02010600030101010101" pitchFamily="2" charset="-122"/>
              </a:rPr>
              <a:t>中的周期是多少？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8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解：</a:t>
            </a:r>
            <a:r>
              <a:rPr lang="zh-CN" altLang="zh-CN" sz="2800" b="1" dirty="0" smtClean="0">
                <a:ea typeface="宋体" panose="02010600030101010101" pitchFamily="2" charset="-122"/>
              </a:rPr>
              <a:t>（</a:t>
            </a:r>
            <a:r>
              <a:rPr lang="en-US" altLang="zh-CN" sz="2800" b="1" dirty="0">
                <a:ea typeface="宋体" panose="02010600030101010101" pitchFamily="2" charset="-122"/>
              </a:rPr>
              <a:t>1</a:t>
            </a:r>
            <a:r>
              <a:rPr lang="zh-CN" altLang="zh-CN" sz="2800" b="1" dirty="0">
                <a:ea typeface="宋体" panose="02010600030101010101" pitchFamily="2" charset="-122"/>
              </a:rPr>
              <a:t>）</a:t>
            </a:r>
            <a:r>
              <a:rPr lang="en-US" altLang="zh-CN" sz="2800" b="1" dirty="0">
                <a:ea typeface="宋体" panose="02010600030101010101" pitchFamily="2" charset="-122"/>
              </a:rPr>
              <a:t>G/H</a:t>
            </a:r>
            <a:r>
              <a:rPr lang="zh-CN" altLang="zh-CN" sz="2800" b="1" dirty="0">
                <a:ea typeface="宋体" panose="02010600030101010101" pitchFamily="2" charset="-122"/>
              </a:rPr>
              <a:t>是</a:t>
            </a:r>
            <a:r>
              <a:rPr lang="en-US" altLang="zh-CN" sz="2800" b="1" dirty="0">
                <a:ea typeface="宋体" panose="02010600030101010101" pitchFamily="2" charset="-122"/>
              </a:rPr>
              <a:t>q</a:t>
            </a:r>
            <a:r>
              <a:rPr lang="zh-CN" altLang="zh-CN" sz="2800" b="1" dirty="0">
                <a:ea typeface="宋体" panose="02010600030101010101" pitchFamily="2" charset="-122"/>
              </a:rPr>
              <a:t>元群。因为</a:t>
            </a:r>
            <a:r>
              <a:rPr lang="en-US" altLang="zh-CN" sz="2800" b="1" dirty="0">
                <a:ea typeface="宋体" panose="02010600030101010101" pitchFamily="2" charset="-122"/>
              </a:rPr>
              <a:t>H</a:t>
            </a:r>
            <a:r>
              <a:rPr lang="zh-CN" altLang="zh-CN" sz="2800" b="1" dirty="0">
                <a:ea typeface="宋体" panose="02010600030101010101" pitchFamily="2" charset="-122"/>
              </a:rPr>
              <a:t>是</a:t>
            </a:r>
            <a:r>
              <a:rPr lang="en-US" altLang="zh-CN" sz="2800" b="1" dirty="0">
                <a:ea typeface="宋体" panose="02010600030101010101" pitchFamily="2" charset="-122"/>
              </a:rPr>
              <a:t>p</a:t>
            </a:r>
            <a:r>
              <a:rPr lang="zh-CN" altLang="zh-CN" sz="2800" b="1" dirty="0">
                <a:ea typeface="宋体" panose="02010600030101010101" pitchFamily="2" charset="-122"/>
              </a:rPr>
              <a:t>元群，则</a:t>
            </a:r>
            <a:r>
              <a:rPr lang="en-US" altLang="zh-CN" sz="2800" b="1" dirty="0">
                <a:ea typeface="宋体" panose="02010600030101010101" pitchFamily="2" charset="-122"/>
              </a:rPr>
              <a:t>G/H</a:t>
            </a:r>
            <a:r>
              <a:rPr lang="zh-CN" altLang="zh-CN" sz="2800" b="1" dirty="0">
                <a:ea typeface="宋体" panose="02010600030101010101" pitchFamily="2" charset="-122"/>
              </a:rPr>
              <a:t>的元数为</a:t>
            </a:r>
            <a:r>
              <a:rPr lang="en-US" altLang="zh-CN" sz="2800" b="1" dirty="0" err="1" smtClean="0">
                <a:ea typeface="宋体" panose="02010600030101010101" pitchFamily="2" charset="-122"/>
              </a:rPr>
              <a:t>pq</a:t>
            </a:r>
            <a:r>
              <a:rPr lang="en-US" altLang="zh-CN" sz="2800" b="1" dirty="0" smtClean="0">
                <a:ea typeface="宋体" panose="02010600030101010101" pitchFamily="2" charset="-122"/>
              </a:rPr>
              <a:t>/p = q</a:t>
            </a:r>
            <a:endParaRPr lang="zh-CN" altLang="zh-CN" sz="2800" b="1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zh-CN" sz="2800" b="1" dirty="0">
                <a:ea typeface="宋体" panose="02010600030101010101" pitchFamily="2" charset="-122"/>
              </a:rPr>
              <a:t>（</a:t>
            </a:r>
            <a:r>
              <a:rPr lang="en-US" altLang="zh-CN" sz="2800" b="1" dirty="0">
                <a:ea typeface="宋体" panose="02010600030101010101" pitchFamily="2" charset="-122"/>
              </a:rPr>
              <a:t>2</a:t>
            </a:r>
            <a:r>
              <a:rPr lang="zh-CN" altLang="zh-CN" sz="2800" b="1" dirty="0">
                <a:ea typeface="宋体" panose="02010600030101010101" pitchFamily="2" charset="-122"/>
              </a:rPr>
              <a:t>）</a:t>
            </a:r>
            <a:r>
              <a:rPr lang="en-US" altLang="zh-CN" sz="2800" b="1" dirty="0" err="1">
                <a:ea typeface="宋体" panose="02010600030101010101" pitchFamily="2" charset="-122"/>
              </a:rPr>
              <a:t>bH</a:t>
            </a:r>
            <a:r>
              <a:rPr lang="zh-CN" altLang="zh-CN" sz="2800" b="1" dirty="0">
                <a:ea typeface="宋体" panose="02010600030101010101" pitchFamily="2" charset="-122"/>
              </a:rPr>
              <a:t>的周期为</a:t>
            </a:r>
            <a:r>
              <a:rPr lang="en-US" altLang="zh-CN" sz="2800" b="1" dirty="0">
                <a:ea typeface="宋体" panose="02010600030101010101" pitchFamily="2" charset="-122"/>
              </a:rPr>
              <a:t>q</a:t>
            </a:r>
            <a:r>
              <a:rPr lang="zh-CN" altLang="zh-CN" sz="2800" b="1" dirty="0">
                <a:ea typeface="宋体" panose="02010600030101010101" pitchFamily="2" charset="-122"/>
              </a:rPr>
              <a:t>：因为</a:t>
            </a:r>
            <a:r>
              <a:rPr lang="en-US" altLang="zh-CN" sz="2800" b="1" dirty="0" err="1">
                <a:ea typeface="宋体" panose="02010600030101010101" pitchFamily="2" charset="-122"/>
              </a:rPr>
              <a:t>bH</a:t>
            </a:r>
            <a:r>
              <a:rPr lang="zh-CN" altLang="zh-CN" sz="2800" b="1" dirty="0">
                <a:ea typeface="宋体" panose="02010600030101010101" pitchFamily="2" charset="-122"/>
              </a:rPr>
              <a:t>是</a:t>
            </a:r>
            <a:r>
              <a:rPr lang="en-US" altLang="zh-CN" sz="2800" b="1" dirty="0">
                <a:ea typeface="宋体" panose="02010600030101010101" pitchFamily="2" charset="-122"/>
              </a:rPr>
              <a:t>G/H</a:t>
            </a:r>
            <a:r>
              <a:rPr lang="zh-CN" altLang="zh-CN" sz="2800" b="1" dirty="0">
                <a:ea typeface="宋体" panose="02010600030101010101" pitchFamily="2" charset="-122"/>
              </a:rPr>
              <a:t>中的元素，而</a:t>
            </a:r>
            <a:r>
              <a:rPr lang="en-US" altLang="zh-CN" sz="2800" b="1" dirty="0">
                <a:ea typeface="宋体" panose="02010600030101010101" pitchFamily="2" charset="-122"/>
              </a:rPr>
              <a:t>G/H</a:t>
            </a:r>
            <a:r>
              <a:rPr lang="zh-CN" altLang="zh-CN" sz="2800" b="1" dirty="0">
                <a:ea typeface="宋体" panose="02010600030101010101" pitchFamily="2" charset="-122"/>
              </a:rPr>
              <a:t>是</a:t>
            </a:r>
            <a:r>
              <a:rPr lang="en-US" altLang="zh-CN" sz="2800" b="1" dirty="0">
                <a:ea typeface="宋体" panose="02010600030101010101" pitchFamily="2" charset="-122"/>
              </a:rPr>
              <a:t>q</a:t>
            </a:r>
            <a:r>
              <a:rPr lang="zh-CN" altLang="zh-CN" sz="2800" b="1" dirty="0">
                <a:ea typeface="宋体" panose="02010600030101010101" pitchFamily="2" charset="-122"/>
              </a:rPr>
              <a:t>元群，所以元素的周期只能为</a:t>
            </a:r>
            <a:r>
              <a:rPr lang="en-US" altLang="zh-CN" sz="2800" b="1" dirty="0">
                <a:ea typeface="宋体" panose="02010600030101010101" pitchFamily="2" charset="-122"/>
              </a:rPr>
              <a:t>1</a:t>
            </a:r>
            <a:r>
              <a:rPr lang="zh-CN" altLang="zh-CN" sz="2800" b="1" dirty="0">
                <a:ea typeface="宋体" panose="02010600030101010101" pitchFamily="2" charset="-122"/>
              </a:rPr>
              <a:t>或</a:t>
            </a:r>
            <a:r>
              <a:rPr lang="en-US" altLang="zh-CN" sz="2800" b="1" dirty="0">
                <a:ea typeface="宋体" panose="02010600030101010101" pitchFamily="2" charset="-122"/>
              </a:rPr>
              <a:t>q</a:t>
            </a:r>
            <a:r>
              <a:rPr lang="zh-CN" altLang="zh-CN" sz="2800" b="1" dirty="0">
                <a:ea typeface="宋体" panose="02010600030101010101" pitchFamily="2" charset="-122"/>
              </a:rPr>
              <a:t>。而</a:t>
            </a:r>
            <a:r>
              <a:rPr lang="en-US" altLang="zh-CN" sz="2800" b="1" dirty="0">
                <a:ea typeface="宋体" panose="02010600030101010101" pitchFamily="2" charset="-122"/>
              </a:rPr>
              <a:t>b</a:t>
            </a:r>
            <a:r>
              <a:rPr lang="zh-CN" altLang="zh-CN" sz="2800" b="1" dirty="0">
                <a:ea typeface="宋体" panose="02010600030101010101" pitchFamily="2" charset="-122"/>
              </a:rPr>
              <a:t>不在</a:t>
            </a:r>
            <a:r>
              <a:rPr lang="en-US" altLang="zh-CN" sz="2800" b="1" dirty="0">
                <a:ea typeface="宋体" panose="02010600030101010101" pitchFamily="2" charset="-122"/>
              </a:rPr>
              <a:t>H</a:t>
            </a:r>
            <a:r>
              <a:rPr lang="zh-CN" altLang="zh-CN" sz="2800" b="1" dirty="0">
                <a:ea typeface="宋体" panose="02010600030101010101" pitchFamily="2" charset="-122"/>
              </a:rPr>
              <a:t>中，所以一定是</a:t>
            </a:r>
            <a:r>
              <a:rPr lang="en-US" altLang="zh-CN" sz="2800" b="1" dirty="0">
                <a:ea typeface="宋体" panose="02010600030101010101" pitchFamily="2" charset="-122"/>
              </a:rPr>
              <a:t>H</a:t>
            </a:r>
            <a:r>
              <a:rPr lang="zh-CN" altLang="zh-CN" sz="2800" b="1" dirty="0">
                <a:ea typeface="宋体" panose="02010600030101010101" pitchFamily="2" charset="-122"/>
              </a:rPr>
              <a:t>不等于</a:t>
            </a:r>
            <a:r>
              <a:rPr lang="en-US" altLang="zh-CN" sz="2800" b="1" dirty="0" err="1">
                <a:ea typeface="宋体" panose="02010600030101010101" pitchFamily="2" charset="-122"/>
              </a:rPr>
              <a:t>bH</a:t>
            </a:r>
            <a:r>
              <a:rPr lang="zh-CN" altLang="zh-CN" sz="2800" b="1" dirty="0">
                <a:ea typeface="宋体" panose="02010600030101010101" pitchFamily="2" charset="-122"/>
              </a:rPr>
              <a:t>，</a:t>
            </a:r>
            <a:r>
              <a:rPr lang="en-US" altLang="zh-CN" sz="2800" b="1" dirty="0" err="1">
                <a:ea typeface="宋体" panose="02010600030101010101" pitchFamily="2" charset="-122"/>
              </a:rPr>
              <a:t>bH</a:t>
            </a:r>
            <a:r>
              <a:rPr lang="zh-CN" altLang="zh-CN" sz="2800" b="1" dirty="0">
                <a:ea typeface="宋体" panose="02010600030101010101" pitchFamily="2" charset="-122"/>
              </a:rPr>
              <a:t>一定不是单位元，所以周期只能是</a:t>
            </a:r>
            <a:r>
              <a:rPr lang="en-US" altLang="zh-CN" sz="2800" b="1" dirty="0">
                <a:ea typeface="宋体" panose="02010600030101010101" pitchFamily="2" charset="-122"/>
              </a:rPr>
              <a:t>q</a:t>
            </a:r>
            <a:r>
              <a:rPr lang="zh-CN" altLang="zh-CN" sz="2800" b="1" dirty="0">
                <a:ea typeface="宋体" panose="02010600030101010101" pitchFamily="2" charset="-122"/>
              </a:rPr>
              <a:t>。</a:t>
            </a:r>
          </a:p>
          <a:p>
            <a:pPr>
              <a:defRPr/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113224096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1975" y="836613"/>
            <a:ext cx="8301038" cy="5211762"/>
          </a:xfrm>
        </p:spPr>
        <p:txBody>
          <a:bodyPr/>
          <a:lstStyle/>
          <a:p>
            <a:pPr>
              <a:defRPr/>
            </a:pPr>
            <a:r>
              <a:rPr lang="zh-CN" altLang="en-US" sz="3000" b="1" dirty="0" smtClean="0">
                <a:ea typeface="宋体" panose="02010600030101010101" pitchFamily="2" charset="-122"/>
              </a:rPr>
              <a:t>判断对错：</a:t>
            </a:r>
            <a:endParaRPr lang="en-US" altLang="zh-CN" sz="3000" b="1" dirty="0" smtClean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zh-CN" sz="3000" b="1" dirty="0" smtClean="0">
                <a:ea typeface="宋体" panose="02010600030101010101" pitchFamily="2" charset="-122"/>
              </a:rPr>
              <a:t>设</a:t>
            </a:r>
            <a:r>
              <a:rPr lang="en-US" altLang="zh-CN" sz="3000" b="1" dirty="0" smtClean="0">
                <a:ea typeface="宋体" panose="02010600030101010101" pitchFamily="2" charset="-122"/>
              </a:rPr>
              <a:t>Z</a:t>
            </a:r>
            <a:r>
              <a:rPr lang="zh-CN" altLang="zh-CN" sz="3000" b="1" dirty="0" smtClean="0">
                <a:ea typeface="宋体" panose="02010600030101010101" pitchFamily="2" charset="-122"/>
              </a:rPr>
              <a:t>为整数集合，×是整数乘法运算；则代数系统</a:t>
            </a:r>
            <a:r>
              <a:rPr lang="en-US" altLang="zh-CN" sz="3000" b="1" dirty="0" smtClean="0">
                <a:ea typeface="宋体" panose="02010600030101010101" pitchFamily="2" charset="-122"/>
              </a:rPr>
              <a:t>(Z, </a:t>
            </a:r>
            <a:r>
              <a:rPr lang="zh-CN" altLang="zh-CN" sz="3000" b="1" dirty="0" smtClean="0">
                <a:ea typeface="宋体" panose="02010600030101010101" pitchFamily="2" charset="-122"/>
              </a:rPr>
              <a:t>×</a:t>
            </a:r>
            <a:r>
              <a:rPr lang="en-US" altLang="zh-CN" sz="3000" b="1" dirty="0" smtClean="0">
                <a:ea typeface="宋体" panose="02010600030101010101" pitchFamily="2" charset="-122"/>
              </a:rPr>
              <a:t>)</a:t>
            </a:r>
            <a:r>
              <a:rPr lang="zh-CN" altLang="zh-CN" sz="3000" b="1" dirty="0" smtClean="0">
                <a:ea typeface="宋体" panose="02010600030101010101" pitchFamily="2" charset="-122"/>
              </a:rPr>
              <a:t>中，</a:t>
            </a:r>
            <a:r>
              <a:rPr lang="en-US" altLang="zh-CN" sz="3000" b="1" dirty="0" smtClean="0">
                <a:ea typeface="宋体" panose="02010600030101010101" pitchFamily="2" charset="-122"/>
              </a:rPr>
              <a:t>1</a:t>
            </a:r>
            <a:r>
              <a:rPr lang="zh-CN" altLang="zh-CN" sz="3000" b="1" dirty="0" smtClean="0">
                <a:ea typeface="宋体" panose="02010600030101010101" pitchFamily="2" charset="-122"/>
              </a:rPr>
              <a:t>是单位元，且只有</a:t>
            </a:r>
            <a:r>
              <a:rPr lang="en-US" altLang="zh-CN" sz="3000" b="1" dirty="0" smtClean="0">
                <a:ea typeface="宋体" panose="02010600030101010101" pitchFamily="2" charset="-122"/>
              </a:rPr>
              <a:t>1</a:t>
            </a:r>
            <a:r>
              <a:rPr lang="zh-CN" altLang="zh-CN" sz="3000" b="1" dirty="0" smtClean="0">
                <a:ea typeface="宋体" panose="02010600030101010101" pitchFamily="2" charset="-122"/>
              </a:rPr>
              <a:t>存在逆元素。</a:t>
            </a:r>
            <a:endParaRPr lang="en-US" altLang="zh-CN" sz="3000" b="1" dirty="0" smtClean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30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错的</a:t>
            </a:r>
            <a:endParaRPr lang="en-US" altLang="zh-CN" sz="3000" b="1" dirty="0" smtClean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defRPr/>
            </a:pPr>
            <a:r>
              <a:rPr lang="zh-CN" altLang="zh-CN" sz="3000" b="1" dirty="0">
                <a:ea typeface="宋体" panose="02010600030101010101" pitchFamily="2" charset="-122"/>
              </a:rPr>
              <a:t>任意具有多个幂等元的半群能构成交换群。</a:t>
            </a:r>
            <a:endParaRPr lang="en-US" altLang="zh-CN" sz="3000" b="1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</a:rPr>
              <a:t>错的</a:t>
            </a:r>
            <a:r>
              <a:rPr lang="zh-CN" altLang="en-US" sz="3000" b="1" dirty="0">
                <a:ea typeface="宋体" panose="02010600030101010101" pitchFamily="2" charset="-122"/>
              </a:rPr>
              <a:t>（</a:t>
            </a: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</a:rPr>
              <a:t>群中只存在唯一幂等元，单位元）</a:t>
            </a:r>
            <a:endParaRPr lang="zh-CN" altLang="zh-CN" sz="3000" b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marL="0" indent="0">
              <a:defRPr/>
            </a:pPr>
            <a:r>
              <a:rPr lang="zh-CN" altLang="zh-CN" sz="3000" b="1" dirty="0">
                <a:ea typeface="宋体" panose="02010600030101010101" pitchFamily="2" charset="-122"/>
              </a:rPr>
              <a:t>设</a:t>
            </a:r>
            <a:r>
              <a:rPr lang="en-US" altLang="zh-CN" sz="3000" b="1" dirty="0">
                <a:ea typeface="宋体" panose="02010600030101010101" pitchFamily="2" charset="-122"/>
              </a:rPr>
              <a:t>S3</a:t>
            </a:r>
            <a:r>
              <a:rPr lang="zh-CN" altLang="zh-CN" sz="3000" b="1" dirty="0">
                <a:ea typeface="宋体" panose="02010600030101010101" pitchFamily="2" charset="-122"/>
              </a:rPr>
              <a:t>是三次对称群，则</a:t>
            </a:r>
            <a:r>
              <a:rPr lang="en-US" altLang="zh-CN" sz="3000" b="1" dirty="0">
                <a:ea typeface="宋体" panose="02010600030101010101" pitchFamily="2" charset="-122"/>
              </a:rPr>
              <a:t>H</a:t>
            </a:r>
            <a:r>
              <a:rPr lang="en-US" altLang="zh-CN" sz="3000" b="1" baseline="-25000" dirty="0">
                <a:ea typeface="宋体" panose="02010600030101010101" pitchFamily="2" charset="-122"/>
              </a:rPr>
              <a:t>1</a:t>
            </a:r>
            <a:r>
              <a:rPr lang="en-US" altLang="zh-CN" sz="3000" b="1" dirty="0">
                <a:ea typeface="宋体" panose="02010600030101010101" pitchFamily="2" charset="-122"/>
              </a:rPr>
              <a:t>={I, (1 2)}</a:t>
            </a:r>
            <a:r>
              <a:rPr lang="zh-CN" altLang="zh-CN" sz="3000" b="1" dirty="0">
                <a:ea typeface="宋体" panose="02010600030101010101" pitchFamily="2" charset="-122"/>
              </a:rPr>
              <a:t>不是正规子群</a:t>
            </a:r>
            <a:r>
              <a:rPr lang="en-US" altLang="zh-CN" sz="3000" b="1" dirty="0">
                <a:ea typeface="宋体" panose="02010600030101010101" pitchFamily="2" charset="-122"/>
              </a:rPr>
              <a:t>H</a:t>
            </a:r>
            <a:r>
              <a:rPr lang="en-US" altLang="zh-CN" sz="3000" b="1" baseline="-25000" dirty="0">
                <a:ea typeface="宋体" panose="02010600030101010101" pitchFamily="2" charset="-122"/>
              </a:rPr>
              <a:t>2</a:t>
            </a:r>
            <a:r>
              <a:rPr lang="en-US" altLang="zh-CN" sz="3000" b="1" dirty="0">
                <a:ea typeface="宋体" panose="02010600030101010101" pitchFamily="2" charset="-122"/>
              </a:rPr>
              <a:t>={I, (1 2 3), (1 3 2)}</a:t>
            </a:r>
            <a:r>
              <a:rPr lang="zh-CN" altLang="zh-CN" sz="3000" b="1" dirty="0">
                <a:ea typeface="宋体" panose="02010600030101010101" pitchFamily="2" charset="-122"/>
              </a:rPr>
              <a:t>是正规子群。</a:t>
            </a:r>
            <a:endParaRPr lang="en-US" altLang="zh-CN" sz="3000" b="1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</a:rPr>
              <a:t>对的</a:t>
            </a:r>
            <a:r>
              <a:rPr lang="en-US" altLang="zh-CN" sz="3000" b="1" dirty="0">
                <a:solidFill>
                  <a:srgbClr val="0000FF"/>
                </a:solidFill>
                <a:ea typeface="宋体" panose="02010600030101010101" pitchFamily="2" charset="-122"/>
              </a:rPr>
              <a:t>( {I},  S3,  {I, (1 2 3), (1 3 2)} </a:t>
            </a: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</a:rPr>
              <a:t>为</a:t>
            </a:r>
            <a:r>
              <a:rPr lang="en-US" altLang="zh-CN" sz="3000" b="1" dirty="0">
                <a:solidFill>
                  <a:srgbClr val="0000FF"/>
                </a:solidFill>
                <a:ea typeface="宋体" panose="02010600030101010101" pitchFamily="2" charset="-122"/>
              </a:rPr>
              <a:t>S3</a:t>
            </a: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</a:rPr>
              <a:t>正规子群</a:t>
            </a:r>
            <a:r>
              <a:rPr lang="en-US" altLang="zh-CN" sz="3000" b="1" dirty="0">
                <a:solidFill>
                  <a:srgbClr val="0000FF"/>
                </a:solidFill>
                <a:ea typeface="宋体" panose="02010600030101010101" pitchFamily="2" charset="-122"/>
              </a:rPr>
              <a:t> 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3000" b="1" dirty="0" smtClean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3000" b="1" dirty="0" smtClean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defRPr/>
            </a:pPr>
            <a:endParaRPr lang="en-US" altLang="zh-CN" sz="2800" b="1" dirty="0" smtClean="0">
              <a:ea typeface="宋体" panose="02010600030101010101" pitchFamily="2" charset="-122"/>
            </a:endParaRPr>
          </a:p>
          <a:p>
            <a:pPr>
              <a:defRPr/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132460042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内容占位符 2"/>
          <p:cNvSpPr>
            <a:spLocks noGrp="1"/>
          </p:cNvSpPr>
          <p:nvPr>
            <p:ph idx="1"/>
          </p:nvPr>
        </p:nvSpPr>
        <p:spPr>
          <a:xfrm>
            <a:off x="539750" y="692150"/>
            <a:ext cx="8331200" cy="5140325"/>
          </a:xfrm>
        </p:spPr>
        <p:txBody>
          <a:bodyPr/>
          <a:lstStyle/>
          <a:p>
            <a:r>
              <a:rPr lang="zh-CN" altLang="zh-CN" sz="2800" b="1" smtClean="0">
                <a:ea typeface="宋体" panose="02010600030101010101" pitchFamily="2" charset="-122"/>
              </a:rPr>
              <a:t>设（</a:t>
            </a:r>
            <a:r>
              <a:rPr lang="en-US" altLang="zh-CN" sz="2800" b="1" smtClean="0">
                <a:ea typeface="宋体" panose="02010600030101010101" pitchFamily="2" charset="-122"/>
              </a:rPr>
              <a:t>G</a:t>
            </a:r>
            <a:r>
              <a:rPr lang="zh-CN" altLang="zh-CN" sz="2800" b="1" smtClean="0">
                <a:ea typeface="宋体" panose="02010600030101010101" pitchFamily="2" charset="-122"/>
              </a:rPr>
              <a:t>，·）是群，请给出满足方程</a:t>
            </a:r>
            <a:r>
              <a:rPr lang="en-US" altLang="zh-CN" sz="2800" b="1" smtClean="0">
                <a:ea typeface="宋体" panose="02010600030101010101" pitchFamily="2" charset="-122"/>
              </a:rPr>
              <a:t>a</a:t>
            </a:r>
            <a:r>
              <a:rPr lang="zh-CN" altLang="zh-CN" sz="2800" b="1" smtClean="0">
                <a:ea typeface="宋体" panose="02010600030101010101" pitchFamily="2" charset="-122"/>
              </a:rPr>
              <a:t>·</a:t>
            </a:r>
            <a:r>
              <a:rPr lang="en-US" altLang="zh-CN" sz="2800" b="1" smtClean="0">
                <a:ea typeface="宋体" panose="02010600030101010101" pitchFamily="2" charset="-122"/>
              </a:rPr>
              <a:t>b</a:t>
            </a:r>
            <a:r>
              <a:rPr lang="zh-CN" altLang="zh-CN" sz="2800" b="1" smtClean="0">
                <a:ea typeface="宋体" panose="02010600030101010101" pitchFamily="2" charset="-122"/>
              </a:rPr>
              <a:t>·</a:t>
            </a:r>
            <a:r>
              <a:rPr lang="en-US" altLang="zh-CN" sz="2800" b="1" smtClean="0">
                <a:ea typeface="宋体" panose="02010600030101010101" pitchFamily="2" charset="-122"/>
              </a:rPr>
              <a:t>x</a:t>
            </a:r>
            <a:r>
              <a:rPr lang="zh-CN" altLang="zh-CN" sz="2800" b="1" smtClean="0">
                <a:ea typeface="宋体" panose="02010600030101010101" pitchFamily="2" charset="-122"/>
              </a:rPr>
              <a:t>·</a:t>
            </a:r>
            <a:r>
              <a:rPr lang="en-US" altLang="zh-CN" sz="2800" b="1" smtClean="0">
                <a:ea typeface="宋体" panose="02010600030101010101" pitchFamily="2" charset="-122"/>
              </a:rPr>
              <a:t>c =1</a:t>
            </a:r>
            <a:r>
              <a:rPr lang="zh-CN" altLang="zh-CN" sz="2800" b="1" smtClean="0">
                <a:ea typeface="宋体" panose="02010600030101010101" pitchFamily="2" charset="-122"/>
              </a:rPr>
              <a:t>的解</a:t>
            </a:r>
            <a:r>
              <a:rPr lang="en-US" altLang="zh-CN" sz="2800" b="1" smtClean="0">
                <a:ea typeface="宋体" panose="02010600030101010101" pitchFamily="2" charset="-122"/>
              </a:rPr>
              <a:t>x</a:t>
            </a:r>
            <a:r>
              <a:rPr lang="zh-CN" altLang="zh-CN" sz="2800" b="1" smtClean="0">
                <a:ea typeface="宋体" panose="02010600030101010101" pitchFamily="2" charset="-122"/>
              </a:rPr>
              <a:t>，其中：</a:t>
            </a:r>
            <a:r>
              <a:rPr lang="en-US" altLang="zh-CN" sz="2800" b="1" smtClean="0">
                <a:ea typeface="宋体" panose="02010600030101010101" pitchFamily="2" charset="-122"/>
              </a:rPr>
              <a:t>1</a:t>
            </a:r>
            <a:r>
              <a:rPr lang="zh-CN" altLang="zh-CN" sz="2800" b="1" smtClean="0">
                <a:ea typeface="宋体" panose="02010600030101010101" pitchFamily="2" charset="-122"/>
              </a:rPr>
              <a:t>是</a:t>
            </a:r>
            <a:r>
              <a:rPr lang="en-US" altLang="zh-CN" sz="2800" b="1" smtClean="0">
                <a:ea typeface="宋体" panose="02010600030101010101" pitchFamily="2" charset="-122"/>
              </a:rPr>
              <a:t>G</a:t>
            </a:r>
            <a:r>
              <a:rPr lang="zh-CN" altLang="zh-CN" sz="2800" b="1" smtClean="0">
                <a:ea typeface="宋体" panose="02010600030101010101" pitchFamily="2" charset="-122"/>
              </a:rPr>
              <a:t>的单位元，</a:t>
            </a:r>
            <a:r>
              <a:rPr lang="en-US" altLang="zh-CN" sz="2800" b="1" smtClean="0">
                <a:ea typeface="宋体" panose="02010600030101010101" pitchFamily="2" charset="-122"/>
              </a:rPr>
              <a:t>a</a:t>
            </a:r>
            <a:r>
              <a:rPr lang="zh-CN" altLang="zh-CN" sz="2800" b="1" smtClean="0">
                <a:ea typeface="宋体" panose="02010600030101010101" pitchFamily="2" charset="-122"/>
              </a:rPr>
              <a:t>、</a:t>
            </a:r>
            <a:r>
              <a:rPr lang="en-US" altLang="zh-CN" sz="2800" b="1" smtClean="0">
                <a:ea typeface="宋体" panose="02010600030101010101" pitchFamily="2" charset="-122"/>
              </a:rPr>
              <a:t>b</a:t>
            </a:r>
            <a:r>
              <a:rPr lang="zh-CN" altLang="zh-CN" sz="2800" b="1" smtClean="0">
                <a:ea typeface="宋体" panose="02010600030101010101" pitchFamily="2" charset="-122"/>
              </a:rPr>
              <a:t>、</a:t>
            </a:r>
            <a:r>
              <a:rPr lang="en-US" altLang="zh-CN" sz="2800" b="1" smtClean="0">
                <a:ea typeface="宋体" panose="02010600030101010101" pitchFamily="2" charset="-122"/>
              </a:rPr>
              <a:t>c</a:t>
            </a:r>
            <a:r>
              <a:rPr lang="en-US" altLang="zh-CN" sz="2800" b="1" smtClean="0"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800" b="1" smtClean="0">
                <a:ea typeface="宋体" panose="02010600030101010101" pitchFamily="2" charset="-122"/>
              </a:rPr>
              <a:t>G</a:t>
            </a:r>
            <a:r>
              <a:rPr lang="zh-CN" altLang="zh-CN" sz="2800" b="1" smtClean="0">
                <a:ea typeface="宋体" panose="02010600030101010101" pitchFamily="2" charset="-122"/>
              </a:rPr>
              <a:t>。</a:t>
            </a:r>
            <a:endParaRPr lang="en-US" altLang="zh-CN" sz="2800" b="1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 smtClean="0">
                <a:solidFill>
                  <a:srgbClr val="0000FF"/>
                </a:solidFill>
                <a:ea typeface="宋体" panose="02010600030101010101" pitchFamily="2" charset="-122"/>
              </a:rPr>
              <a:t>解：</a:t>
            </a:r>
            <a:r>
              <a:rPr lang="en-US" altLang="zh-CN" sz="2800" b="1" smtClean="0">
                <a:solidFill>
                  <a:srgbClr val="0000FF"/>
                </a:solidFill>
                <a:ea typeface="宋体" panose="02010600030101010101" pitchFamily="2" charset="-122"/>
              </a:rPr>
              <a:t>x=b</a:t>
            </a:r>
            <a:r>
              <a:rPr lang="en-US" altLang="zh-CN" sz="2800" b="1" baseline="30000" smtClean="0">
                <a:solidFill>
                  <a:srgbClr val="0000FF"/>
                </a:solidFill>
                <a:ea typeface="宋体" panose="02010600030101010101" pitchFamily="2" charset="-122"/>
              </a:rPr>
              <a:t>-1</a:t>
            </a:r>
            <a:r>
              <a:rPr lang="en-US" altLang="zh-CN" sz="2800" b="1" smtClean="0">
                <a:solidFill>
                  <a:srgbClr val="0000FF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800" b="1" baseline="30000" smtClean="0">
                <a:solidFill>
                  <a:srgbClr val="0000FF"/>
                </a:solidFill>
                <a:ea typeface="宋体" panose="02010600030101010101" pitchFamily="2" charset="-122"/>
              </a:rPr>
              <a:t>-1</a:t>
            </a:r>
            <a:r>
              <a:rPr lang="en-US" altLang="zh-CN" sz="2800" b="1" smtClean="0">
                <a:solidFill>
                  <a:srgbClr val="0000FF"/>
                </a:solidFill>
                <a:ea typeface="宋体" panose="02010600030101010101" pitchFamily="2" charset="-122"/>
              </a:rPr>
              <a:t>c</a:t>
            </a:r>
            <a:r>
              <a:rPr lang="en-US" altLang="zh-CN" sz="2800" b="1" baseline="30000" smtClean="0">
                <a:solidFill>
                  <a:srgbClr val="0000FF"/>
                </a:solidFill>
                <a:ea typeface="宋体" panose="02010600030101010101" pitchFamily="2" charset="-122"/>
              </a:rPr>
              <a:t>-1</a:t>
            </a:r>
            <a:endParaRPr lang="zh-CN" altLang="zh-CN" sz="2800" b="1" smtClean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r>
              <a:rPr lang="zh-CN" altLang="zh-CN" sz="2800" b="1" smtClean="0">
                <a:ea typeface="宋体" panose="02010600030101010101" pitchFamily="2" charset="-122"/>
              </a:rPr>
              <a:t>设</a:t>
            </a:r>
            <a:r>
              <a:rPr lang="en-US" altLang="zh-CN" sz="2800" b="1" smtClean="0">
                <a:ea typeface="宋体" panose="02010600030101010101" pitchFamily="2" charset="-122"/>
              </a:rPr>
              <a:t>G={e,a,b,c,d,f,g},</a:t>
            </a:r>
            <a:r>
              <a:rPr lang="zh-CN" altLang="zh-CN" sz="2800" b="1" smtClean="0">
                <a:ea typeface="宋体" panose="02010600030101010101" pitchFamily="2" charset="-122"/>
              </a:rPr>
              <a:t>（</a:t>
            </a:r>
            <a:r>
              <a:rPr lang="en-US" altLang="zh-CN" sz="2800" b="1" smtClean="0">
                <a:ea typeface="宋体" panose="02010600030101010101" pitchFamily="2" charset="-122"/>
              </a:rPr>
              <a:t>G</a:t>
            </a:r>
            <a:r>
              <a:rPr lang="zh-CN" altLang="zh-CN" sz="2800" b="1" smtClean="0">
                <a:ea typeface="宋体" panose="02010600030101010101" pitchFamily="2" charset="-122"/>
              </a:rPr>
              <a:t>，·）是群，</a:t>
            </a:r>
            <a:r>
              <a:rPr lang="en-US" altLang="zh-CN" sz="2800" b="1" smtClean="0">
                <a:ea typeface="宋体" panose="02010600030101010101" pitchFamily="2" charset="-122"/>
              </a:rPr>
              <a:t>e</a:t>
            </a:r>
            <a:r>
              <a:rPr lang="zh-CN" altLang="zh-CN" sz="2800" b="1" smtClean="0">
                <a:ea typeface="宋体" panose="02010600030101010101" pitchFamily="2" charset="-122"/>
              </a:rPr>
              <a:t>是</a:t>
            </a:r>
            <a:r>
              <a:rPr lang="en-US" altLang="zh-CN" sz="2800" b="1" smtClean="0">
                <a:ea typeface="宋体" panose="02010600030101010101" pitchFamily="2" charset="-122"/>
              </a:rPr>
              <a:t>G</a:t>
            </a:r>
            <a:r>
              <a:rPr lang="zh-CN" altLang="zh-CN" sz="2800" b="1" smtClean="0">
                <a:ea typeface="宋体" panose="02010600030101010101" pitchFamily="2" charset="-122"/>
              </a:rPr>
              <a:t>的单位元，计算</a:t>
            </a:r>
            <a:r>
              <a:rPr lang="en-US" altLang="zh-CN" sz="2800" b="1" smtClean="0">
                <a:ea typeface="宋体" panose="02010600030101010101" pitchFamily="2" charset="-122"/>
              </a:rPr>
              <a:t>a</a:t>
            </a:r>
            <a:r>
              <a:rPr lang="zh-CN" altLang="zh-CN" sz="2800" b="1" smtClean="0">
                <a:ea typeface="宋体" panose="02010600030101010101" pitchFamily="2" charset="-122"/>
              </a:rPr>
              <a:t>·</a:t>
            </a:r>
            <a:r>
              <a:rPr lang="en-US" altLang="zh-CN" sz="2800" b="1" smtClean="0">
                <a:ea typeface="宋体" panose="02010600030101010101" pitchFamily="2" charset="-122"/>
              </a:rPr>
              <a:t>b</a:t>
            </a:r>
            <a:r>
              <a:rPr lang="zh-CN" altLang="zh-CN" sz="2800" b="1" smtClean="0">
                <a:ea typeface="宋体" panose="02010600030101010101" pitchFamily="2" charset="-122"/>
              </a:rPr>
              <a:t>·</a:t>
            </a:r>
            <a:r>
              <a:rPr lang="en-US" altLang="zh-CN" sz="2800" b="1" smtClean="0">
                <a:ea typeface="宋体" panose="02010600030101010101" pitchFamily="2" charset="-122"/>
              </a:rPr>
              <a:t>c</a:t>
            </a:r>
            <a:r>
              <a:rPr lang="zh-CN" altLang="zh-CN" sz="2800" b="1" smtClean="0">
                <a:ea typeface="宋体" panose="02010600030101010101" pitchFamily="2" charset="-122"/>
              </a:rPr>
              <a:t>·</a:t>
            </a:r>
            <a:r>
              <a:rPr lang="en-US" altLang="zh-CN" sz="2800" b="1" smtClean="0">
                <a:ea typeface="宋体" panose="02010600030101010101" pitchFamily="2" charset="-122"/>
              </a:rPr>
              <a:t>d</a:t>
            </a:r>
            <a:r>
              <a:rPr lang="zh-CN" altLang="zh-CN" sz="2800" b="1" smtClean="0">
                <a:ea typeface="宋体" panose="02010600030101010101" pitchFamily="2" charset="-122"/>
              </a:rPr>
              <a:t>·</a:t>
            </a:r>
            <a:r>
              <a:rPr lang="en-US" altLang="zh-CN" sz="2800" b="1" smtClean="0">
                <a:ea typeface="宋体" panose="02010600030101010101" pitchFamily="2" charset="-122"/>
              </a:rPr>
              <a:t>f</a:t>
            </a:r>
            <a:r>
              <a:rPr lang="zh-CN" altLang="zh-CN" sz="2800" b="1" smtClean="0">
                <a:ea typeface="宋体" panose="02010600030101010101" pitchFamily="2" charset="-122"/>
              </a:rPr>
              <a:t>·</a:t>
            </a:r>
            <a:r>
              <a:rPr lang="en-US" altLang="zh-CN" sz="2800" b="1" smtClean="0">
                <a:ea typeface="宋体" panose="02010600030101010101" pitchFamily="2" charset="-122"/>
              </a:rPr>
              <a:t>g</a:t>
            </a:r>
            <a:r>
              <a:rPr lang="zh-CN" altLang="zh-CN" sz="2800" b="1" smtClean="0">
                <a:ea typeface="宋体" panose="02010600030101010101" pitchFamily="2" charset="-122"/>
              </a:rPr>
              <a:t>等于多少？</a:t>
            </a:r>
            <a:endParaRPr lang="en-US" altLang="zh-CN" sz="2800" b="1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 smtClean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800" b="1" smtClean="0">
                <a:solidFill>
                  <a:srgbClr val="0000FF"/>
                </a:solidFill>
                <a:ea typeface="宋体" panose="02010600030101010101" pitchFamily="2" charset="-122"/>
              </a:rPr>
              <a:t>解：</a:t>
            </a:r>
            <a:r>
              <a:rPr lang="en-US" altLang="zh-CN" sz="2800" b="1" smtClean="0">
                <a:solidFill>
                  <a:srgbClr val="0000FF"/>
                </a:solidFill>
                <a:ea typeface="宋体" panose="02010600030101010101" pitchFamily="2" charset="-122"/>
              </a:rPr>
              <a:t> e</a:t>
            </a:r>
          </a:p>
          <a:p>
            <a:r>
              <a:rPr lang="zh-CN" altLang="zh-CN" sz="2800" b="1" smtClean="0">
                <a:ea typeface="宋体" panose="02010600030101010101" pitchFamily="2" charset="-122"/>
              </a:rPr>
              <a:t>设循环群</a:t>
            </a:r>
            <a:r>
              <a:rPr lang="en-US" altLang="zh-CN" sz="2800" b="1" smtClean="0">
                <a:ea typeface="宋体" panose="02010600030101010101" pitchFamily="2" charset="-122"/>
              </a:rPr>
              <a:t>G=(a)</a:t>
            </a:r>
            <a:r>
              <a:rPr lang="zh-CN" altLang="zh-CN" sz="2800" b="1" smtClean="0">
                <a:ea typeface="宋体" panose="02010600030101010101" pitchFamily="2" charset="-122"/>
              </a:rPr>
              <a:t>，</a:t>
            </a:r>
            <a:r>
              <a:rPr lang="en-US" altLang="zh-CN" sz="2800" b="1" smtClean="0">
                <a:ea typeface="宋体" panose="02010600030101010101" pitchFamily="2" charset="-122"/>
              </a:rPr>
              <a:t>H</a:t>
            </a:r>
            <a:r>
              <a:rPr lang="zh-CN" altLang="zh-CN" sz="2800" b="1" smtClean="0">
                <a:ea typeface="宋体" panose="02010600030101010101" pitchFamily="2" charset="-122"/>
              </a:rPr>
              <a:t>是</a:t>
            </a:r>
            <a:r>
              <a:rPr lang="en-US" altLang="zh-CN" sz="2800" b="1" smtClean="0">
                <a:ea typeface="宋体" panose="02010600030101010101" pitchFamily="2" charset="-122"/>
              </a:rPr>
              <a:t>G</a:t>
            </a:r>
            <a:r>
              <a:rPr lang="zh-CN" altLang="zh-CN" sz="2800" b="1" smtClean="0">
                <a:ea typeface="宋体" panose="02010600030101010101" pitchFamily="2" charset="-122"/>
              </a:rPr>
              <a:t>子群，则</a:t>
            </a:r>
            <a:r>
              <a:rPr lang="en-US" altLang="zh-CN" sz="2800" b="1" smtClean="0">
                <a:ea typeface="宋体" panose="02010600030101010101" pitchFamily="2" charset="-122"/>
              </a:rPr>
              <a:t>H</a:t>
            </a:r>
            <a:r>
              <a:rPr lang="zh-CN" altLang="zh-CN" sz="2800" b="1" smtClean="0">
                <a:ea typeface="宋体" panose="02010600030101010101" pitchFamily="2" charset="-122"/>
              </a:rPr>
              <a:t>是正规子群吗</a:t>
            </a:r>
            <a:r>
              <a:rPr lang="en-US" altLang="zh-CN" sz="2800" b="1" smtClean="0">
                <a:ea typeface="宋体" panose="02010600030101010101" pitchFamily="2" charset="-122"/>
              </a:rPr>
              <a:t>?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b="1" smtClean="0">
                <a:solidFill>
                  <a:srgbClr val="0000FF"/>
                </a:solidFill>
                <a:ea typeface="宋体" panose="02010600030101010101" pitchFamily="2" charset="-122"/>
              </a:rPr>
              <a:t>解：是</a:t>
            </a:r>
            <a:endParaRPr lang="en-US" altLang="zh-CN" sz="2800" b="1" smtClean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endParaRPr lang="en-US" altLang="zh-CN" sz="2800" b="1" smtClean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endParaRPr lang="zh-CN" altLang="zh-CN" sz="2400" smtClean="0"/>
          </a:p>
          <a:p>
            <a:endParaRPr lang="zh-CN" altLang="zh-CN" smtClean="0"/>
          </a:p>
          <a:p>
            <a:endParaRPr lang="zh-CN" altLang="zh-CN" smtClean="0"/>
          </a:p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543537572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5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52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52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0" y="620713"/>
            <a:ext cx="8258175" cy="5976937"/>
          </a:xfrm>
        </p:spPr>
        <p:txBody>
          <a:bodyPr/>
          <a:lstStyle/>
          <a:p>
            <a:pPr>
              <a:lnSpc>
                <a:spcPct val="120000"/>
              </a:lnSpc>
              <a:defRPr/>
            </a:pPr>
            <a:r>
              <a:rPr lang="zh-CN" altLang="zh-CN" sz="2800" b="1" dirty="0" smtClean="0">
                <a:ea typeface="宋体" pitchFamily="2" charset="-122"/>
              </a:rPr>
              <a:t>设循环群</a:t>
            </a:r>
            <a:r>
              <a:rPr lang="en-US" altLang="zh-CN" sz="2800" b="1" dirty="0" smtClean="0">
                <a:ea typeface="宋体" pitchFamily="2" charset="-122"/>
              </a:rPr>
              <a:t>G=(a)</a:t>
            </a:r>
            <a:r>
              <a:rPr lang="zh-CN" altLang="zh-CN" sz="2800" b="1" dirty="0" smtClean="0">
                <a:ea typeface="宋体" pitchFamily="2" charset="-122"/>
              </a:rPr>
              <a:t>，</a:t>
            </a:r>
            <a:r>
              <a:rPr lang="en-US" altLang="zh-CN" sz="2800" b="1" dirty="0" smtClean="0">
                <a:ea typeface="宋体" pitchFamily="2" charset="-122"/>
              </a:rPr>
              <a:t>|G|=24</a:t>
            </a:r>
            <a:r>
              <a:rPr lang="zh-CN" altLang="zh-CN" sz="2800" b="1" dirty="0" smtClean="0">
                <a:ea typeface="宋体" pitchFamily="2" charset="-122"/>
              </a:rPr>
              <a:t>，则</a:t>
            </a:r>
            <a:r>
              <a:rPr lang="en-US" altLang="zh-CN" sz="2800" b="1" dirty="0" smtClean="0">
                <a:ea typeface="宋体" pitchFamily="2" charset="-122"/>
              </a:rPr>
              <a:t>G</a:t>
            </a:r>
            <a:r>
              <a:rPr lang="zh-CN" altLang="zh-CN" sz="2800" b="1" dirty="0" smtClean="0">
                <a:ea typeface="宋体" pitchFamily="2" charset="-122"/>
              </a:rPr>
              <a:t>中是否存在周期为</a:t>
            </a:r>
            <a:r>
              <a:rPr lang="en-US" altLang="zh-CN" sz="2800" b="1" dirty="0" smtClean="0">
                <a:ea typeface="宋体" pitchFamily="2" charset="-122"/>
              </a:rPr>
              <a:t>5</a:t>
            </a:r>
            <a:r>
              <a:rPr lang="zh-CN" altLang="zh-CN" sz="2800" b="1" dirty="0" smtClean="0">
                <a:ea typeface="宋体" pitchFamily="2" charset="-122"/>
              </a:rPr>
              <a:t>的元素？是否存在</a:t>
            </a:r>
            <a:r>
              <a:rPr lang="en-US" altLang="zh-CN" sz="2800" b="1" dirty="0" smtClean="0">
                <a:ea typeface="宋体" pitchFamily="2" charset="-122"/>
              </a:rPr>
              <a:t>8</a:t>
            </a:r>
            <a:r>
              <a:rPr lang="zh-CN" altLang="zh-CN" sz="2800" b="1" dirty="0" smtClean="0">
                <a:ea typeface="宋体" pitchFamily="2" charset="-122"/>
              </a:rPr>
              <a:t>元子群？</a:t>
            </a:r>
            <a:endParaRPr lang="en-US" altLang="zh-CN" sz="2800" b="1" dirty="0" smtClean="0">
              <a:ea typeface="宋体" pitchFamily="2" charset="-12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b="1" dirty="0" smtClean="0">
                <a:solidFill>
                  <a:srgbClr val="0000FF"/>
                </a:solidFill>
                <a:ea typeface="宋体" pitchFamily="2" charset="-122"/>
              </a:rPr>
              <a:t>解：不存在，存在</a:t>
            </a:r>
            <a:endParaRPr lang="en-US" altLang="zh-CN" sz="2800" b="1" dirty="0" smtClean="0">
              <a:solidFill>
                <a:srgbClr val="0000FF"/>
              </a:solidFill>
              <a:ea typeface="宋体" pitchFamily="2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zh-CN" sz="2800" b="1" dirty="0" smtClean="0">
                <a:ea typeface="宋体" pitchFamily="2" charset="-122"/>
              </a:rPr>
              <a:t>所有的</a:t>
            </a:r>
            <a:r>
              <a:rPr lang="en-US" altLang="zh-CN" sz="2800" b="1" dirty="0" smtClean="0">
                <a:ea typeface="宋体" pitchFamily="2" charset="-122"/>
              </a:rPr>
              <a:t>4</a:t>
            </a:r>
            <a:r>
              <a:rPr lang="zh-CN" altLang="zh-CN" sz="2800" b="1" dirty="0" smtClean="0">
                <a:ea typeface="宋体" pitchFamily="2" charset="-122"/>
              </a:rPr>
              <a:t>元群都同构吗？所有的</a:t>
            </a:r>
            <a:r>
              <a:rPr lang="en-US" altLang="zh-CN" sz="2800" b="1" dirty="0" smtClean="0">
                <a:ea typeface="宋体" pitchFamily="2" charset="-122"/>
              </a:rPr>
              <a:t>7</a:t>
            </a:r>
            <a:r>
              <a:rPr lang="zh-CN" altLang="zh-CN" sz="2800" b="1" dirty="0" smtClean="0">
                <a:ea typeface="宋体" pitchFamily="2" charset="-122"/>
              </a:rPr>
              <a:t>元群都同构吗？</a:t>
            </a:r>
            <a:endParaRPr lang="en-US" altLang="zh-CN" sz="2800" b="1" dirty="0" smtClean="0">
              <a:ea typeface="宋体" pitchFamily="2" charset="-12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b="1" dirty="0" smtClean="0">
                <a:solidFill>
                  <a:srgbClr val="0000FF"/>
                </a:solidFill>
                <a:ea typeface="宋体" pitchFamily="2" charset="-122"/>
              </a:rPr>
              <a:t>解：不同构，同构</a:t>
            </a:r>
            <a:endParaRPr lang="en-US" altLang="zh-CN" sz="2800" b="1" dirty="0" smtClean="0">
              <a:solidFill>
                <a:srgbClr val="0000FF"/>
              </a:solidFill>
              <a:ea typeface="宋体" pitchFamily="2" charset="-122"/>
            </a:endParaRP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>
                <a:solidFill>
                  <a:srgbClr val="0000FF"/>
                </a:solidFill>
                <a:ea typeface="宋体" pitchFamily="2" charset="-122"/>
              </a:rPr>
              <a:t>(</a:t>
            </a:r>
            <a:r>
              <a:rPr lang="en-US" altLang="zh-CN" sz="2800" b="1" dirty="0" smtClean="0">
                <a:ea typeface="宋体" pitchFamily="2" charset="-122"/>
              </a:rPr>
              <a:t> 4</a:t>
            </a:r>
            <a:r>
              <a:rPr lang="zh-CN" altLang="en-US" sz="2800" b="1" dirty="0" smtClean="0">
                <a:ea typeface="宋体" pitchFamily="2" charset="-122"/>
              </a:rPr>
              <a:t>元群在同构意义下，有</a:t>
            </a:r>
            <a:r>
              <a:rPr lang="en-US" altLang="zh-CN" sz="2800" b="1" dirty="0" smtClean="0">
                <a:ea typeface="宋体" pitchFamily="2" charset="-122"/>
              </a:rPr>
              <a:t>2</a:t>
            </a:r>
            <a:r>
              <a:rPr lang="zh-CN" altLang="en-US" sz="2800" b="1" dirty="0" smtClean="0">
                <a:ea typeface="宋体" pitchFamily="2" charset="-122"/>
              </a:rPr>
              <a:t>种，一个是</a:t>
            </a:r>
            <a:r>
              <a:rPr lang="en-US" altLang="zh-CN" sz="2800" b="1" dirty="0" smtClean="0">
                <a:ea typeface="宋体" pitchFamily="2" charset="-122"/>
              </a:rPr>
              <a:t>4</a:t>
            </a:r>
            <a:r>
              <a:rPr lang="zh-CN" altLang="en-US" sz="2800" b="1" dirty="0" smtClean="0">
                <a:ea typeface="宋体" pitchFamily="2" charset="-122"/>
              </a:rPr>
              <a:t>元循环群；一个是</a:t>
            </a:r>
            <a:r>
              <a:rPr lang="en-US" altLang="zh-CN" sz="2800" b="1" dirty="0" smtClean="0">
                <a:ea typeface="宋体" pitchFamily="2" charset="-122"/>
              </a:rPr>
              <a:t>Klein4</a:t>
            </a:r>
            <a:r>
              <a:rPr lang="zh-CN" altLang="en-US" sz="2800" b="1" dirty="0" smtClean="0">
                <a:ea typeface="宋体" pitchFamily="2" charset="-122"/>
              </a:rPr>
              <a:t>元群</a:t>
            </a:r>
            <a:r>
              <a:rPr lang="en-US" altLang="zh-CN" sz="2800" b="1" dirty="0" smtClean="0">
                <a:ea typeface="宋体" pitchFamily="2" charset="-122"/>
              </a:rPr>
              <a:t>—</a:t>
            </a:r>
            <a:r>
              <a:rPr lang="zh-CN" altLang="en-US" sz="2800" b="1" dirty="0" smtClean="0">
                <a:ea typeface="宋体" pitchFamily="2" charset="-122"/>
              </a:rPr>
              <a:t>即除单位元外，其余</a:t>
            </a:r>
            <a:r>
              <a:rPr lang="en-US" altLang="zh-CN" sz="2800" b="1" dirty="0" smtClean="0">
                <a:ea typeface="宋体" pitchFamily="2" charset="-122"/>
              </a:rPr>
              <a:t>3</a:t>
            </a:r>
            <a:r>
              <a:rPr lang="zh-CN" altLang="en-US" sz="2800" b="1" dirty="0" smtClean="0">
                <a:ea typeface="宋体" pitchFamily="2" charset="-122"/>
              </a:rPr>
              <a:t>个元素周期都为</a:t>
            </a:r>
            <a:r>
              <a:rPr lang="en-US" altLang="zh-CN" sz="2800" b="1" dirty="0" smtClean="0">
                <a:ea typeface="宋体" pitchFamily="2" charset="-122"/>
              </a:rPr>
              <a:t>2.</a:t>
            </a:r>
            <a:r>
              <a:rPr lang="zh-CN" altLang="en-US" sz="2800" b="1" dirty="0" smtClean="0">
                <a:ea typeface="宋体" pitchFamily="2" charset="-122"/>
              </a:rPr>
              <a:t> 如</a:t>
            </a:r>
            <a:r>
              <a:rPr lang="en-US" altLang="zh-CN" sz="2800" b="1" dirty="0" smtClean="0">
                <a:ea typeface="宋体" pitchFamily="2" charset="-122"/>
              </a:rPr>
              <a:t>:S4</a:t>
            </a:r>
            <a:r>
              <a:rPr lang="zh-CN" altLang="en-US" sz="2800" b="1" dirty="0" smtClean="0">
                <a:ea typeface="宋体" pitchFamily="2" charset="-122"/>
              </a:rPr>
              <a:t>中的</a:t>
            </a:r>
            <a:r>
              <a:rPr lang="en-US" altLang="zh-CN" sz="2800" b="1" dirty="0" smtClean="0">
                <a:ea typeface="宋体" pitchFamily="2" charset="-122"/>
              </a:rPr>
              <a:t>{(1),(12)(34),(13)(24),(14)(23)}</a:t>
            </a:r>
            <a:r>
              <a:rPr lang="en-US" altLang="zh-CN" sz="2800" b="1" dirty="0" smtClean="0">
                <a:solidFill>
                  <a:srgbClr val="0000FF"/>
                </a:solidFill>
                <a:ea typeface="宋体" pitchFamily="2" charset="-122"/>
              </a:rPr>
              <a:t>)</a:t>
            </a:r>
          </a:p>
          <a:p>
            <a:pPr>
              <a:lnSpc>
                <a:spcPct val="120000"/>
              </a:lnSpc>
              <a:buClr>
                <a:srgbClr val="3333CC"/>
              </a:buClr>
              <a:defRPr/>
            </a:pPr>
            <a:r>
              <a:rPr lang="zh-CN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设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=(1 3 2 4),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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=(1 3 4),</a:t>
            </a:r>
            <a:r>
              <a:rPr lang="zh-CN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请把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</a:t>
            </a:r>
            <a:r>
              <a:rPr lang="zh-CN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写成若干对换乘积</a:t>
            </a:r>
            <a:endParaRPr lang="en-US" altLang="zh-CN" sz="2800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marL="342900" lvl="1" indent="-342900">
              <a:lnSpc>
                <a:spcPct val="120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solidFill>
                  <a:srgbClr val="0000FF"/>
                </a:solidFill>
                <a:ea typeface="宋体" panose="02010600030101010101" pitchFamily="2" charset="-122"/>
              </a:rPr>
              <a:t>解：</a:t>
            </a:r>
            <a:r>
              <a:rPr lang="en-US" altLang="zh-CN" sz="2800" b="1" dirty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 </a:t>
            </a:r>
            <a:r>
              <a:rPr lang="en-US" altLang="zh-CN" sz="2800" b="1" dirty="0">
                <a:solidFill>
                  <a:srgbClr val="0000FF"/>
                </a:solidFill>
                <a:ea typeface="宋体" panose="02010600030101010101" pitchFamily="2" charset="-122"/>
              </a:rPr>
              <a:t>= (1432)</a:t>
            </a:r>
            <a:r>
              <a:rPr lang="zh-CN" altLang="en-US" sz="2800" b="1" dirty="0">
                <a:solidFill>
                  <a:srgbClr val="0000FF"/>
                </a:solidFill>
                <a:ea typeface="宋体" panose="02010600030101010101" pitchFamily="2" charset="-122"/>
              </a:rPr>
              <a:t>＝</a:t>
            </a:r>
            <a:r>
              <a:rPr lang="en-US" altLang="zh-CN" sz="2800" b="1" dirty="0">
                <a:solidFill>
                  <a:srgbClr val="0000FF"/>
                </a:solidFill>
                <a:ea typeface="宋体" panose="02010600030101010101" pitchFamily="2" charset="-122"/>
              </a:rPr>
              <a:t>(1 2)(1 3)(1 4)</a:t>
            </a:r>
            <a:endParaRPr lang="zh-CN" altLang="zh-CN" sz="2800" b="1" dirty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defRPr/>
            </a:pPr>
            <a:endParaRPr lang="en-US" altLang="zh-CN" sz="2800" b="1" dirty="0" smtClean="0">
              <a:solidFill>
                <a:srgbClr val="0000FF"/>
              </a:solidFill>
              <a:ea typeface="宋体" pitchFamily="2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endParaRPr lang="zh-CN" altLang="en-US" sz="2800" dirty="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2794720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求陪集的简单方法</a:t>
            </a:r>
            <a:endParaRPr lang="en-US" altLang="zh-CN" smtClean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424862" cy="5183187"/>
          </a:xfrm>
        </p:spPr>
        <p:txBody>
          <a:bodyPr/>
          <a:lstStyle/>
          <a:p>
            <a:pPr>
              <a:lnSpc>
                <a:spcPct val="14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2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若</a:t>
            </a:r>
            <a:r>
              <a:rPr lang="en-US" altLang="zh-CN" sz="32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sz="32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是一个有限群，求</a:t>
            </a:r>
            <a:r>
              <a:rPr lang="en-US" altLang="zh-CN" sz="32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zh-CN" altLang="en-US" sz="32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的右陪集：</a:t>
            </a:r>
          </a:p>
          <a:p>
            <a:pPr>
              <a:lnSpc>
                <a:spcPct val="14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2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首先，</a:t>
            </a:r>
            <a:r>
              <a:rPr lang="en-US" altLang="zh-CN" sz="32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zh-CN" altLang="en-US" sz="32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本身是一个；</a:t>
            </a:r>
          </a:p>
          <a:p>
            <a:pPr>
              <a:lnSpc>
                <a:spcPct val="14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2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任取</a:t>
            </a:r>
            <a:r>
              <a:rPr lang="en-US" altLang="zh-CN" sz="32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3200" b="1" smtClean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∈G, </a:t>
            </a:r>
            <a:r>
              <a:rPr lang="en-US" altLang="zh-CN" sz="32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aH</a:t>
            </a:r>
            <a:r>
              <a:rPr lang="zh-CN" altLang="en-US" sz="32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而求</a:t>
            </a:r>
            <a:r>
              <a:rPr lang="en-US" altLang="zh-CN" sz="32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aH</a:t>
            </a:r>
            <a:r>
              <a:rPr lang="zh-CN" altLang="en-US" sz="32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又得到一个；</a:t>
            </a:r>
          </a:p>
          <a:p>
            <a:pPr>
              <a:lnSpc>
                <a:spcPct val="14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2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任取</a:t>
            </a:r>
            <a:r>
              <a:rPr lang="en-US" altLang="zh-CN" sz="32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3200" b="1" smtClean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∈G, </a:t>
            </a:r>
            <a:r>
              <a:rPr lang="en-US" altLang="zh-CN" sz="32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bH∪aH</a:t>
            </a:r>
            <a:r>
              <a:rPr lang="zh-CN" altLang="en-US" sz="32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而求</a:t>
            </a:r>
            <a:r>
              <a:rPr lang="en-US" altLang="zh-CN" sz="32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bH</a:t>
            </a:r>
            <a:r>
              <a:rPr lang="zh-CN" altLang="en-US" sz="32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又得到一个；</a:t>
            </a:r>
          </a:p>
          <a:p>
            <a:pPr>
              <a:lnSpc>
                <a:spcPct val="14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2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如此类推，因</a:t>
            </a:r>
            <a:r>
              <a:rPr lang="en-US" altLang="zh-CN" sz="32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sz="32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有限，最后必被穷尽，而</a:t>
            </a:r>
          </a:p>
          <a:p>
            <a:pPr>
              <a:lnSpc>
                <a:spcPct val="14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2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</a:t>
            </a:r>
            <a:r>
              <a:rPr lang="en-US" altLang="zh-CN" sz="32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G=H∪aH∪bH∪…</a:t>
            </a:r>
            <a:r>
              <a:rPr lang="zh-CN" altLang="en-US" sz="32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</a:p>
          <a:p>
            <a:pPr>
              <a:lnSpc>
                <a:spcPct val="14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endParaRPr lang="zh-CN" altLang="en-US" sz="2900" b="1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7865112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765175"/>
            <a:ext cx="8523287" cy="5360988"/>
          </a:xfrm>
        </p:spPr>
        <p:txBody>
          <a:bodyPr/>
          <a:lstStyle/>
          <a:p>
            <a:pPr marL="0" indent="0" algn="just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2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定理6.</a:t>
            </a:r>
            <a:r>
              <a:rPr lang="en-US" altLang="zh-CN" sz="32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4.3  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是群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32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正规子群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，于是按照陪集的乘法，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的所有陪集作成一个群     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en-US" sz="32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0" indent="0" eaLnBrk="1" hangingPunct="1">
              <a:lnSpc>
                <a:spcPct val="12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称为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对于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的商群，记为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 ∕ N。</a:t>
            </a: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是有限群，则商群中元素个数等于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中的指数，即等于陪集的个数。 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sz="32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0115" name="Object 7"/>
          <p:cNvGraphicFramePr>
            <a:graphicFrameLocks noChangeAspect="1"/>
          </p:cNvGraphicFramePr>
          <p:nvPr/>
        </p:nvGraphicFramePr>
        <p:xfrm>
          <a:off x="1096963" y="2781300"/>
          <a:ext cx="404812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48" name="Equation" r:id="rId3" imgW="177569" imgH="202936" progId="Equation.3">
                  <p:embed/>
                </p:oleObj>
              </mc:Choice>
              <mc:Fallback>
                <p:oleObj name="Equation" r:id="rId3" imgW="177569" imgH="2029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6963" y="2781300"/>
                        <a:ext cx="404812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6" name="Object 8"/>
          <p:cNvGraphicFramePr>
            <a:graphicFrameLocks noChangeAspect="1"/>
          </p:cNvGraphicFramePr>
          <p:nvPr/>
        </p:nvGraphicFramePr>
        <p:xfrm>
          <a:off x="6948488" y="1412875"/>
          <a:ext cx="404812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49" name="Equation" r:id="rId5" imgW="177569" imgH="202936" progId="Equation.3">
                  <p:embed/>
                </p:oleObj>
              </mc:Choice>
              <mc:Fallback>
                <p:oleObj name="Equation" r:id="rId5" imgW="177569" imgH="2029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488" y="1412875"/>
                        <a:ext cx="404812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27256753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0" y="549275"/>
            <a:ext cx="8113713" cy="5688013"/>
          </a:xfrm>
        </p:spPr>
        <p:txBody>
          <a:bodyPr/>
          <a:lstStyle/>
          <a:p>
            <a:r>
              <a:rPr lang="zh-CN" altLang="zh-CN" sz="2800" b="1" smtClean="0">
                <a:ea typeface="宋体" panose="02010600030101010101" pitchFamily="2" charset="-122"/>
              </a:rPr>
              <a:t>设群</a:t>
            </a:r>
            <a:r>
              <a:rPr lang="en-US" altLang="zh-CN" sz="2800" b="1" smtClean="0">
                <a:ea typeface="宋体" panose="02010600030101010101" pitchFamily="2" charset="-122"/>
              </a:rPr>
              <a:t>G={a,b,c,d,e,f}</a:t>
            </a:r>
            <a:r>
              <a:rPr lang="zh-CN" altLang="zh-CN" sz="2800" b="1" smtClean="0">
                <a:ea typeface="宋体" panose="02010600030101010101" pitchFamily="2" charset="-122"/>
              </a:rPr>
              <a:t>，</a:t>
            </a:r>
            <a:r>
              <a:rPr lang="en-US" altLang="zh-CN" sz="2800" b="1" smtClean="0">
                <a:ea typeface="宋体" panose="02010600030101010101" pitchFamily="2" charset="-122"/>
              </a:rPr>
              <a:t>G</a:t>
            </a:r>
            <a:r>
              <a:rPr lang="zh-CN" altLang="zh-CN" sz="2800" b="1" smtClean="0">
                <a:ea typeface="宋体" panose="02010600030101010101" pitchFamily="2" charset="-122"/>
              </a:rPr>
              <a:t>上的运算</a:t>
            </a:r>
            <a:r>
              <a:rPr lang="en-US" altLang="zh-CN" sz="2800" b="1" smtClean="0">
                <a:ea typeface="宋体" panose="02010600030101010101" pitchFamily="2" charset="-122"/>
              </a:rPr>
              <a:t>*</a:t>
            </a:r>
            <a:r>
              <a:rPr lang="zh-CN" altLang="zh-CN" sz="2800" b="1" smtClean="0">
                <a:ea typeface="宋体" panose="02010600030101010101" pitchFamily="2" charset="-122"/>
              </a:rPr>
              <a:t>定义如运算表所示。请写出</a:t>
            </a:r>
            <a:r>
              <a:rPr lang="en-US" altLang="zh-CN" sz="2800" b="1" smtClean="0">
                <a:ea typeface="宋体" panose="02010600030101010101" pitchFamily="2" charset="-122"/>
              </a:rPr>
              <a:t>(d)</a:t>
            </a:r>
            <a:r>
              <a:rPr lang="zh-CN" altLang="zh-CN" sz="2800" b="1" smtClean="0">
                <a:ea typeface="宋体" panose="02010600030101010101" pitchFamily="2" charset="-122"/>
              </a:rPr>
              <a:t>的所有</a:t>
            </a:r>
            <a:r>
              <a:rPr lang="zh-CN" altLang="zh-CN" sz="2800" b="1" smtClean="0">
                <a:solidFill>
                  <a:srgbClr val="0000FF"/>
                </a:solidFill>
                <a:ea typeface="宋体" panose="02010600030101010101" pitchFamily="2" charset="-122"/>
              </a:rPr>
              <a:t>左</a:t>
            </a:r>
            <a:r>
              <a:rPr lang="zh-CN" altLang="zh-CN" sz="2800" b="1" smtClean="0">
                <a:ea typeface="宋体" panose="02010600030101010101" pitchFamily="2" charset="-122"/>
              </a:rPr>
              <a:t>陪集</a:t>
            </a:r>
            <a:r>
              <a:rPr lang="zh-CN" altLang="en-US" sz="2800" b="1" smtClean="0">
                <a:ea typeface="宋体" panose="02010600030101010101" pitchFamily="2" charset="-122"/>
              </a:rPr>
              <a:t>，及</a:t>
            </a:r>
            <a:r>
              <a:rPr lang="en-US" altLang="zh-CN" sz="2800" b="1" smtClean="0"/>
              <a:t>G/(a)</a:t>
            </a:r>
            <a:r>
              <a:rPr lang="zh-CN" altLang="zh-CN" sz="2800" b="1" smtClean="0">
                <a:ea typeface="宋体" panose="02010600030101010101" pitchFamily="2" charset="-122"/>
              </a:rPr>
              <a:t>。</a:t>
            </a:r>
            <a:endParaRPr lang="en-US" altLang="zh-CN" sz="2800" b="1" smtClean="0">
              <a:ea typeface="宋体" panose="02010600030101010101" pitchFamily="2" charset="-122"/>
            </a:endParaRPr>
          </a:p>
          <a:p>
            <a:endParaRPr lang="en-US" altLang="zh-CN" sz="2800" b="1" smtClean="0">
              <a:ea typeface="宋体" panose="02010600030101010101" pitchFamily="2" charset="-122"/>
            </a:endParaRPr>
          </a:p>
          <a:p>
            <a:endParaRPr lang="en-US" altLang="zh-CN" sz="2800" b="1" smtClean="0">
              <a:ea typeface="宋体" panose="02010600030101010101" pitchFamily="2" charset="-122"/>
            </a:endParaRPr>
          </a:p>
          <a:p>
            <a:endParaRPr lang="en-US" altLang="zh-CN" sz="2800" b="1" smtClean="0">
              <a:ea typeface="宋体" panose="02010600030101010101" pitchFamily="2" charset="-122"/>
            </a:endParaRPr>
          </a:p>
          <a:p>
            <a:endParaRPr lang="en-US" altLang="zh-CN" sz="2800" b="1" smtClean="0">
              <a:ea typeface="宋体" panose="02010600030101010101" pitchFamily="2" charset="-122"/>
            </a:endParaRPr>
          </a:p>
          <a:p>
            <a:endParaRPr lang="en-US" altLang="zh-CN" sz="2800" b="1" smtClean="0">
              <a:ea typeface="宋体" panose="02010600030101010101" pitchFamily="2" charset="-122"/>
            </a:endParaRPr>
          </a:p>
          <a:p>
            <a:endParaRPr lang="en-US" altLang="zh-CN" sz="2800" b="1" smtClean="0">
              <a:ea typeface="宋体" panose="02010600030101010101" pitchFamily="2" charset="-122"/>
            </a:endParaRPr>
          </a:p>
          <a:p>
            <a:endParaRPr lang="en-US" altLang="zh-CN" sz="2800" b="1" smtClean="0">
              <a:ea typeface="宋体" panose="02010600030101010101" pitchFamily="2" charset="-122"/>
            </a:endParaRPr>
          </a:p>
          <a:p>
            <a:r>
              <a:rPr lang="zh-CN" altLang="en-US" sz="2800" b="1" smtClean="0">
                <a:ea typeface="宋体" panose="02010600030101010101" pitchFamily="2" charset="-122"/>
              </a:rPr>
              <a:t>解：其所有左陪集</a:t>
            </a:r>
            <a:r>
              <a:rPr lang="en-US" altLang="zh-CN" sz="2800" b="1" smtClean="0"/>
              <a:t>{e,d}</a:t>
            </a:r>
            <a:r>
              <a:rPr lang="zh-CN" altLang="zh-CN" sz="2800" b="1" smtClean="0"/>
              <a:t>、</a:t>
            </a:r>
            <a:r>
              <a:rPr lang="en-US" altLang="zh-CN" sz="2800" b="1" smtClean="0"/>
              <a:t>{a,c}</a:t>
            </a:r>
            <a:r>
              <a:rPr lang="zh-CN" altLang="zh-CN" sz="2800" b="1" smtClean="0"/>
              <a:t>、</a:t>
            </a:r>
            <a:r>
              <a:rPr lang="en-US" altLang="zh-CN" sz="2800" b="1" smtClean="0"/>
              <a:t>{b,f}</a:t>
            </a:r>
          </a:p>
          <a:p>
            <a:r>
              <a:rPr lang="en-US" altLang="zh-CN" sz="2800" b="1" smtClean="0"/>
              <a:t>        G/(a)</a:t>
            </a:r>
            <a:r>
              <a:rPr lang="en-US" altLang="zh-CN" sz="2800" b="1" smtClean="0">
                <a:ea typeface="宋体" panose="02010600030101010101" pitchFamily="2" charset="-122"/>
              </a:rPr>
              <a:t> =</a:t>
            </a:r>
            <a:r>
              <a:rPr lang="en-US" altLang="zh-CN" sz="2800" b="1" smtClean="0"/>
              <a:t>{  {e,a,b},{c,d,f }  }</a:t>
            </a:r>
          </a:p>
          <a:p>
            <a:endParaRPr lang="zh-CN" altLang="zh-CN" sz="2800" b="1" smtClean="0"/>
          </a:p>
          <a:p>
            <a:endParaRPr lang="en-US" altLang="zh-CN" sz="2800" b="1" smtClean="0">
              <a:ea typeface="宋体" panose="02010600030101010101" pitchFamily="2" charset="-122"/>
            </a:endParaRPr>
          </a:p>
          <a:p>
            <a:endParaRPr lang="en-US" altLang="zh-CN" sz="2800" b="1" smtClean="0">
              <a:ea typeface="宋体" panose="02010600030101010101" pitchFamily="2" charset="-122"/>
            </a:endParaRPr>
          </a:p>
          <a:p>
            <a:endParaRPr lang="en-US" altLang="zh-CN" smtClean="0"/>
          </a:p>
          <a:p>
            <a:endParaRPr lang="en-US" altLang="zh-CN" smtClean="0"/>
          </a:p>
          <a:p>
            <a:endParaRPr lang="en-US" altLang="zh-CN" smtClean="0"/>
          </a:p>
          <a:p>
            <a:endParaRPr lang="en-US" altLang="zh-CN" smtClean="0"/>
          </a:p>
          <a:p>
            <a:endParaRPr lang="en-US" altLang="zh-CN" smtClean="0"/>
          </a:p>
          <a:p>
            <a:endParaRPr lang="en-US" altLang="zh-CN" smtClean="0"/>
          </a:p>
          <a:p>
            <a:endParaRPr lang="en-US" altLang="zh-CN" smtClean="0"/>
          </a:p>
          <a:p>
            <a:endParaRPr lang="en-US" altLang="zh-CN" smtClean="0"/>
          </a:p>
          <a:p>
            <a:endParaRPr lang="en-US" altLang="zh-CN" smtClean="0"/>
          </a:p>
          <a:p>
            <a:endParaRPr lang="en-US" altLang="zh-CN" smtClean="0"/>
          </a:p>
          <a:p>
            <a:endParaRPr lang="en-US" altLang="zh-CN" smtClean="0"/>
          </a:p>
          <a:p>
            <a:endParaRPr lang="en-US" altLang="zh-CN" smtClean="0"/>
          </a:p>
          <a:p>
            <a:endParaRPr lang="zh-CN" altLang="zh-CN" smtClean="0"/>
          </a:p>
          <a:p>
            <a:endParaRPr lang="zh-CN" altLang="en-US" smtClean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1619250" y="1700213"/>
          <a:ext cx="6095999" cy="2987677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870857"/>
                <a:gridCol w="870857"/>
                <a:gridCol w="870857"/>
                <a:gridCol w="870857"/>
                <a:gridCol w="870857"/>
                <a:gridCol w="870857"/>
                <a:gridCol w="870857"/>
              </a:tblGrid>
              <a:tr h="42681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latin typeface="Times New Roman"/>
                          <a:ea typeface="宋体"/>
                        </a:rPr>
                        <a:t>*</a:t>
                      </a:r>
                      <a:endParaRPr lang="zh-CN" sz="2800" kern="100" dirty="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solidFill>
                            <a:srgbClr val="000099"/>
                          </a:solidFill>
                          <a:latin typeface="Times New Roman"/>
                          <a:ea typeface="宋体"/>
                        </a:rPr>
                        <a:t>e</a:t>
                      </a:r>
                      <a:endParaRPr lang="zh-CN" sz="2800" kern="100" dirty="0">
                        <a:solidFill>
                          <a:srgbClr val="000099"/>
                        </a:solidFill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solidFill>
                            <a:srgbClr val="000099"/>
                          </a:solidFill>
                          <a:latin typeface="Times New Roman"/>
                          <a:ea typeface="宋体"/>
                        </a:rPr>
                        <a:t>a</a:t>
                      </a:r>
                      <a:endParaRPr lang="zh-CN" sz="2800" kern="100" dirty="0">
                        <a:solidFill>
                          <a:srgbClr val="000099"/>
                        </a:solidFill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solidFill>
                            <a:srgbClr val="000099"/>
                          </a:solidFill>
                          <a:latin typeface="Times New Roman"/>
                          <a:ea typeface="宋体"/>
                        </a:rPr>
                        <a:t>b</a:t>
                      </a:r>
                      <a:endParaRPr lang="zh-CN" sz="2800" kern="100" dirty="0">
                        <a:solidFill>
                          <a:srgbClr val="000099"/>
                        </a:solidFill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solidFill>
                            <a:srgbClr val="000099"/>
                          </a:solidFill>
                          <a:latin typeface="Times New Roman"/>
                          <a:ea typeface="宋体"/>
                        </a:rPr>
                        <a:t>c</a:t>
                      </a:r>
                      <a:endParaRPr lang="zh-CN" sz="2800" kern="100" dirty="0">
                        <a:solidFill>
                          <a:srgbClr val="000099"/>
                        </a:solidFill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solidFill>
                            <a:srgbClr val="000099"/>
                          </a:solidFill>
                          <a:latin typeface="Times New Roman"/>
                          <a:ea typeface="宋体"/>
                        </a:rPr>
                        <a:t>d</a:t>
                      </a:r>
                      <a:endParaRPr lang="zh-CN" sz="2800" kern="100" dirty="0">
                        <a:solidFill>
                          <a:srgbClr val="000099"/>
                        </a:solidFill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solidFill>
                            <a:srgbClr val="000099"/>
                          </a:solidFill>
                          <a:latin typeface="Times New Roman"/>
                          <a:ea typeface="宋体"/>
                        </a:rPr>
                        <a:t>f</a:t>
                      </a:r>
                      <a:endParaRPr lang="zh-CN" sz="2800" kern="100" dirty="0">
                        <a:solidFill>
                          <a:srgbClr val="000099"/>
                        </a:solidFill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</a:tr>
              <a:tr h="42681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solidFill>
                            <a:srgbClr val="000099"/>
                          </a:solidFill>
                          <a:latin typeface="Times New Roman"/>
                          <a:ea typeface="宋体"/>
                        </a:rPr>
                        <a:t>e</a:t>
                      </a:r>
                      <a:endParaRPr lang="zh-CN" sz="2800" kern="100" dirty="0">
                        <a:solidFill>
                          <a:srgbClr val="000099"/>
                        </a:solidFill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latin typeface="Times New Roman"/>
                          <a:ea typeface="宋体"/>
                        </a:rPr>
                        <a:t>e</a:t>
                      </a:r>
                      <a:endParaRPr lang="zh-CN" sz="2800" kern="100" dirty="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Times New Roman"/>
                          <a:ea typeface="宋体"/>
                        </a:rPr>
                        <a:t>a</a:t>
                      </a:r>
                      <a:endParaRPr lang="zh-CN" sz="2800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Times New Roman"/>
                          <a:ea typeface="宋体"/>
                        </a:rPr>
                        <a:t>b</a:t>
                      </a:r>
                      <a:endParaRPr lang="zh-CN" sz="2800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Times New Roman"/>
                          <a:ea typeface="宋体"/>
                        </a:rPr>
                        <a:t>c</a:t>
                      </a:r>
                      <a:endParaRPr lang="zh-CN" sz="2800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Times New Roman"/>
                          <a:ea typeface="宋体"/>
                        </a:rPr>
                        <a:t>d</a:t>
                      </a:r>
                      <a:endParaRPr lang="zh-CN" sz="2800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latin typeface="Times New Roman"/>
                          <a:ea typeface="宋体"/>
                        </a:rPr>
                        <a:t>f</a:t>
                      </a:r>
                      <a:endParaRPr lang="zh-CN" sz="2800" kern="100" dirty="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</a:tr>
              <a:tr h="42681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solidFill>
                            <a:srgbClr val="000099"/>
                          </a:solidFill>
                          <a:latin typeface="Times New Roman"/>
                          <a:ea typeface="宋体"/>
                        </a:rPr>
                        <a:t>a</a:t>
                      </a:r>
                      <a:endParaRPr lang="zh-CN" sz="2800" kern="100" dirty="0">
                        <a:solidFill>
                          <a:srgbClr val="000099"/>
                        </a:solidFill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latin typeface="Times New Roman"/>
                          <a:ea typeface="宋体"/>
                        </a:rPr>
                        <a:t>a</a:t>
                      </a:r>
                      <a:endParaRPr lang="zh-CN" sz="2800" kern="100" dirty="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latin typeface="Times New Roman"/>
                          <a:ea typeface="宋体"/>
                        </a:rPr>
                        <a:t>b</a:t>
                      </a:r>
                      <a:endParaRPr lang="zh-CN" sz="2800" kern="100" dirty="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Times New Roman"/>
                          <a:ea typeface="宋体"/>
                        </a:rPr>
                        <a:t>e</a:t>
                      </a:r>
                      <a:endParaRPr lang="zh-CN" sz="2800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Times New Roman"/>
                          <a:ea typeface="宋体"/>
                        </a:rPr>
                        <a:t>d</a:t>
                      </a:r>
                      <a:endParaRPr lang="zh-CN" sz="2800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Times New Roman"/>
                          <a:ea typeface="宋体"/>
                        </a:rPr>
                        <a:t>f</a:t>
                      </a:r>
                      <a:endParaRPr lang="zh-CN" sz="2800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Times New Roman"/>
                          <a:ea typeface="宋体"/>
                        </a:rPr>
                        <a:t>c</a:t>
                      </a:r>
                      <a:endParaRPr lang="zh-CN" sz="2800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</a:tr>
              <a:tr h="42681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solidFill>
                            <a:srgbClr val="000099"/>
                          </a:solidFill>
                          <a:latin typeface="Times New Roman"/>
                          <a:ea typeface="宋体"/>
                        </a:rPr>
                        <a:t>b</a:t>
                      </a:r>
                      <a:endParaRPr lang="zh-CN" sz="2800" kern="100" dirty="0">
                        <a:solidFill>
                          <a:srgbClr val="000099"/>
                        </a:solidFill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Times New Roman"/>
                          <a:ea typeface="宋体"/>
                        </a:rPr>
                        <a:t>b</a:t>
                      </a:r>
                      <a:endParaRPr lang="zh-CN" sz="2800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latin typeface="Times New Roman"/>
                          <a:ea typeface="宋体"/>
                        </a:rPr>
                        <a:t>e</a:t>
                      </a:r>
                      <a:endParaRPr lang="zh-CN" sz="2800" kern="100" dirty="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latin typeface="Times New Roman"/>
                          <a:ea typeface="宋体"/>
                        </a:rPr>
                        <a:t>a</a:t>
                      </a:r>
                      <a:endParaRPr lang="zh-CN" sz="2800" kern="100" dirty="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Times New Roman"/>
                          <a:ea typeface="宋体"/>
                        </a:rPr>
                        <a:t>f</a:t>
                      </a:r>
                      <a:endParaRPr lang="zh-CN" sz="2800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Times New Roman"/>
                          <a:ea typeface="宋体"/>
                        </a:rPr>
                        <a:t>c</a:t>
                      </a:r>
                      <a:endParaRPr lang="zh-CN" sz="2800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latin typeface="Times New Roman"/>
                          <a:ea typeface="宋体"/>
                        </a:rPr>
                        <a:t>d</a:t>
                      </a:r>
                      <a:endParaRPr lang="zh-CN" sz="2800" kern="100" dirty="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</a:tr>
              <a:tr h="42681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solidFill>
                            <a:srgbClr val="000099"/>
                          </a:solidFill>
                          <a:latin typeface="Times New Roman"/>
                          <a:ea typeface="宋体"/>
                        </a:rPr>
                        <a:t>c</a:t>
                      </a:r>
                      <a:endParaRPr lang="zh-CN" sz="2800" kern="100" dirty="0">
                        <a:solidFill>
                          <a:srgbClr val="000099"/>
                        </a:solidFill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Times New Roman"/>
                          <a:ea typeface="宋体"/>
                        </a:rPr>
                        <a:t>c</a:t>
                      </a:r>
                      <a:endParaRPr lang="zh-CN" sz="2800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Times New Roman"/>
                          <a:ea typeface="宋体"/>
                        </a:rPr>
                        <a:t>f</a:t>
                      </a:r>
                      <a:endParaRPr lang="zh-CN" sz="2800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latin typeface="Times New Roman"/>
                          <a:ea typeface="宋体"/>
                        </a:rPr>
                        <a:t>d</a:t>
                      </a:r>
                      <a:endParaRPr lang="zh-CN" sz="2800" kern="100" dirty="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latin typeface="Times New Roman"/>
                          <a:ea typeface="宋体"/>
                        </a:rPr>
                        <a:t>e</a:t>
                      </a:r>
                      <a:endParaRPr lang="zh-CN" sz="2800" kern="100" dirty="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Times New Roman"/>
                          <a:ea typeface="宋体"/>
                        </a:rPr>
                        <a:t>b</a:t>
                      </a:r>
                      <a:endParaRPr lang="zh-CN" sz="2800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Times New Roman"/>
                          <a:ea typeface="宋体"/>
                        </a:rPr>
                        <a:t>a</a:t>
                      </a:r>
                      <a:endParaRPr lang="zh-CN" sz="2800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</a:tr>
              <a:tr h="42681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solidFill>
                            <a:srgbClr val="000099"/>
                          </a:solidFill>
                          <a:latin typeface="Times New Roman"/>
                          <a:ea typeface="宋体"/>
                        </a:rPr>
                        <a:t>d</a:t>
                      </a:r>
                      <a:endParaRPr lang="zh-CN" sz="2800" kern="100" dirty="0">
                        <a:solidFill>
                          <a:srgbClr val="000099"/>
                        </a:solidFill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latin typeface="Times New Roman"/>
                          <a:ea typeface="宋体"/>
                        </a:rPr>
                        <a:t>d</a:t>
                      </a:r>
                      <a:endParaRPr lang="zh-CN" sz="2800" kern="100" dirty="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latin typeface="Times New Roman"/>
                          <a:ea typeface="宋体"/>
                        </a:rPr>
                        <a:t>c</a:t>
                      </a:r>
                      <a:endParaRPr lang="zh-CN" sz="2800" kern="100" dirty="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latin typeface="Times New Roman"/>
                          <a:ea typeface="宋体"/>
                        </a:rPr>
                        <a:t>f</a:t>
                      </a:r>
                      <a:endParaRPr lang="zh-CN" sz="2800" kern="100" dirty="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latin typeface="Times New Roman"/>
                          <a:ea typeface="宋体"/>
                        </a:rPr>
                        <a:t>a</a:t>
                      </a:r>
                      <a:endParaRPr lang="zh-CN" sz="2800" kern="100" dirty="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solidFill>
                            <a:srgbClr val="C00000"/>
                          </a:solidFill>
                          <a:latin typeface="Times New Roman"/>
                          <a:ea typeface="宋体"/>
                        </a:rPr>
                        <a:t>e</a:t>
                      </a:r>
                      <a:endParaRPr lang="zh-CN" sz="2800" kern="100" dirty="0">
                        <a:solidFill>
                          <a:srgbClr val="C00000"/>
                        </a:solidFill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latin typeface="Times New Roman"/>
                          <a:ea typeface="宋体"/>
                        </a:rPr>
                        <a:t>b</a:t>
                      </a:r>
                      <a:endParaRPr lang="zh-CN" sz="2800" kern="100" dirty="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</a:tr>
              <a:tr h="42681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solidFill>
                            <a:srgbClr val="000099"/>
                          </a:solidFill>
                          <a:latin typeface="Times New Roman"/>
                          <a:ea typeface="宋体"/>
                        </a:rPr>
                        <a:t>f</a:t>
                      </a:r>
                      <a:endParaRPr lang="zh-CN" sz="2800" kern="100" dirty="0">
                        <a:solidFill>
                          <a:srgbClr val="000099"/>
                        </a:solidFill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Times New Roman"/>
                          <a:ea typeface="宋体"/>
                        </a:rPr>
                        <a:t>f</a:t>
                      </a:r>
                      <a:endParaRPr lang="zh-CN" sz="2800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Times New Roman"/>
                          <a:ea typeface="宋体"/>
                        </a:rPr>
                        <a:t>d</a:t>
                      </a:r>
                      <a:endParaRPr lang="zh-CN" sz="2800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Times New Roman"/>
                          <a:ea typeface="宋体"/>
                        </a:rPr>
                        <a:t>c</a:t>
                      </a:r>
                      <a:endParaRPr lang="zh-CN" sz="2800" kern="10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latin typeface="Times New Roman"/>
                          <a:ea typeface="宋体"/>
                        </a:rPr>
                        <a:t>b</a:t>
                      </a:r>
                      <a:endParaRPr lang="zh-CN" sz="2800" kern="100" dirty="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latin typeface="Times New Roman"/>
                          <a:ea typeface="宋体"/>
                        </a:rPr>
                        <a:t>a</a:t>
                      </a:r>
                      <a:endParaRPr lang="zh-CN" sz="2800" kern="100" dirty="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latin typeface="Times New Roman"/>
                          <a:ea typeface="宋体"/>
                        </a:rPr>
                        <a:t>e</a:t>
                      </a:r>
                      <a:endParaRPr lang="zh-CN" sz="2800" kern="100" dirty="0">
                        <a:latin typeface="Times New Roman"/>
                        <a:ea typeface="宋体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514234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内容占位符 2"/>
          <p:cNvSpPr>
            <a:spLocks noGrp="1"/>
          </p:cNvSpPr>
          <p:nvPr>
            <p:ph idx="1"/>
          </p:nvPr>
        </p:nvSpPr>
        <p:spPr>
          <a:xfrm>
            <a:off x="395288" y="620713"/>
            <a:ext cx="8301037" cy="61214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800" b="1" smtClean="0">
                <a:solidFill>
                  <a:srgbClr val="0000FF"/>
                </a:solidFill>
                <a:ea typeface="宋体" panose="02010600030101010101" pitchFamily="2" charset="-122"/>
              </a:rPr>
              <a:t>练习：</a:t>
            </a:r>
            <a:r>
              <a:rPr lang="zh-CN" altLang="en-US" sz="2800" b="1" smtClean="0">
                <a:ea typeface="宋体" panose="02010600030101010101" pitchFamily="2" charset="-122"/>
              </a:rPr>
              <a:t>设</a:t>
            </a:r>
            <a:r>
              <a:rPr lang="en-US" altLang="zh-CN" sz="2800" b="1" smtClean="0">
                <a:ea typeface="宋体" panose="02010600030101010101" pitchFamily="2" charset="-122"/>
              </a:rPr>
              <a:t>R</a:t>
            </a:r>
            <a:r>
              <a:rPr lang="zh-CN" altLang="en-US" sz="2800" b="1" smtClean="0">
                <a:ea typeface="宋体" panose="02010600030101010101" pitchFamily="2" charset="-122"/>
              </a:rPr>
              <a:t>是实数集合，群</a:t>
            </a:r>
            <a:r>
              <a:rPr lang="en-US" altLang="zh-CN" sz="2800" b="1" smtClean="0">
                <a:ea typeface="宋体" panose="02010600030101010101" pitchFamily="2" charset="-122"/>
              </a:rPr>
              <a:t>G={(a,b)| a , b</a:t>
            </a:r>
            <a:r>
              <a:rPr lang="en-US" altLang="zh-CN" sz="2800" b="1" smtClean="0">
                <a:solidFill>
                  <a:srgbClr val="C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 smtClean="0">
                <a:ea typeface="宋体" panose="02010600030101010101" pitchFamily="2" charset="-122"/>
                <a:sym typeface="Symbol" panose="05050102010706020507" pitchFamily="18" charset="2"/>
              </a:rPr>
              <a:t>R,  a</a:t>
            </a:r>
            <a:r>
              <a:rPr lang="zh-CN" altLang="zh-CN" sz="2800" b="1" smtClean="0">
                <a:ea typeface="宋体" panose="02010600030101010101" pitchFamily="2" charset="-122"/>
              </a:rPr>
              <a:t> </a:t>
            </a:r>
            <a:r>
              <a:rPr lang="zh-CN" altLang="zh-CN" sz="2800" b="1" smtClean="0">
                <a:solidFill>
                  <a:srgbClr val="000000"/>
                </a:solidFill>
                <a:ea typeface="宋体" panose="02010600030101010101" pitchFamily="2" charset="-122"/>
              </a:rPr>
              <a:t>≠</a:t>
            </a:r>
            <a:r>
              <a:rPr lang="en-US" altLang="zh-CN" sz="2800" b="1" smtClean="0">
                <a:solidFill>
                  <a:srgbClr val="000000"/>
                </a:solidFill>
                <a:ea typeface="宋体" panose="02010600030101010101" pitchFamily="2" charset="-122"/>
              </a:rPr>
              <a:t>0},</a:t>
            </a:r>
            <a:r>
              <a:rPr lang="zh-CN" altLang="en-US" sz="2800" b="1" smtClean="0">
                <a:solidFill>
                  <a:srgbClr val="000000"/>
                </a:solidFill>
                <a:ea typeface="宋体" panose="02010600030101010101" pitchFamily="2" charset="-122"/>
              </a:rPr>
              <a:t>群</a:t>
            </a:r>
            <a:r>
              <a:rPr lang="en-US" altLang="zh-CN" sz="2800" b="1" smtClean="0">
                <a:solidFill>
                  <a:srgbClr val="000000"/>
                </a:solidFill>
                <a:ea typeface="宋体" panose="02010600030101010101" pitchFamily="2" charset="-122"/>
              </a:rPr>
              <a:t>G</a:t>
            </a:r>
            <a:r>
              <a:rPr lang="zh-CN" altLang="en-US" sz="2800" b="1" smtClean="0">
                <a:solidFill>
                  <a:srgbClr val="000000"/>
                </a:solidFill>
                <a:ea typeface="宋体" panose="02010600030101010101" pitchFamily="2" charset="-122"/>
              </a:rPr>
              <a:t>中的乘法是</a:t>
            </a:r>
            <a:r>
              <a:rPr lang="en-US" altLang="zh-CN" sz="2800" b="1" smtClean="0">
                <a:solidFill>
                  <a:srgbClr val="000000"/>
                </a:solidFill>
                <a:ea typeface="宋体" panose="02010600030101010101" pitchFamily="2" charset="-122"/>
              </a:rPr>
              <a:t>(a, b)(c, d)=(ac , ad+b)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800" b="1" smtClean="0">
                <a:solidFill>
                  <a:srgbClr val="000000"/>
                </a:solidFill>
                <a:ea typeface="宋体" panose="02010600030101010101" pitchFamily="2" charset="-122"/>
              </a:rPr>
              <a:t>(1)</a:t>
            </a:r>
            <a:r>
              <a:rPr lang="zh-CN" altLang="en-US" sz="2800" b="1" smtClean="0">
                <a:solidFill>
                  <a:srgbClr val="000000"/>
                </a:solidFill>
                <a:ea typeface="宋体" panose="02010600030101010101" pitchFamily="2" charset="-122"/>
              </a:rPr>
              <a:t>试证</a:t>
            </a:r>
            <a:r>
              <a:rPr lang="en-US" altLang="zh-CN" sz="2800" b="1" smtClean="0">
                <a:solidFill>
                  <a:srgbClr val="000000"/>
                </a:solidFill>
                <a:ea typeface="宋体" panose="02010600030101010101" pitchFamily="2" charset="-122"/>
              </a:rPr>
              <a:t>K={(1,b)| b</a:t>
            </a:r>
            <a:r>
              <a:rPr lang="en-US" altLang="zh-CN" sz="2800" b="1" smtClean="0">
                <a:ea typeface="宋体" panose="02010600030101010101" pitchFamily="2" charset="-122"/>
                <a:sym typeface="Symbol" panose="05050102010706020507" pitchFamily="18" charset="2"/>
              </a:rPr>
              <a:t>R} </a:t>
            </a:r>
            <a:r>
              <a:rPr lang="zh-CN" altLang="en-US" sz="2800" b="1" smtClean="0">
                <a:ea typeface="宋体" panose="02010600030101010101" pitchFamily="2" charset="-122"/>
                <a:sym typeface="Symbol" panose="05050102010706020507" pitchFamily="18" charset="2"/>
              </a:rPr>
              <a:t>是</a:t>
            </a:r>
            <a:r>
              <a:rPr lang="en-US" altLang="zh-CN" sz="2800" b="1" smtClean="0"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zh-CN" altLang="en-US" sz="2800" b="1" smtClean="0">
                <a:ea typeface="宋体" panose="02010600030101010101" pitchFamily="2" charset="-122"/>
                <a:sym typeface="Symbol" panose="05050102010706020507" pitchFamily="18" charset="2"/>
              </a:rPr>
              <a:t>的正规子群</a:t>
            </a:r>
            <a:endParaRPr lang="en-US" altLang="zh-CN" sz="2800" b="1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800" b="1" smtClean="0">
                <a:ea typeface="宋体" panose="02010600030101010101" pitchFamily="2" charset="-122"/>
                <a:sym typeface="Symbol" panose="05050102010706020507" pitchFamily="18" charset="2"/>
              </a:rPr>
              <a:t>(2)</a:t>
            </a:r>
            <a:r>
              <a:rPr lang="zh-CN" altLang="en-US" sz="2800" b="1" smtClean="0">
                <a:ea typeface="宋体" panose="02010600030101010101" pitchFamily="2" charset="-122"/>
                <a:sym typeface="Symbol" panose="05050102010706020507" pitchFamily="18" charset="2"/>
              </a:rPr>
              <a:t>证明 </a:t>
            </a:r>
            <a:r>
              <a:rPr lang="en-US" altLang="zh-CN" sz="2800" b="1" smtClean="0">
                <a:ea typeface="宋体" panose="02010600030101010101" pitchFamily="2" charset="-122"/>
                <a:sym typeface="Symbol" panose="05050102010706020507" pitchFamily="18" charset="2"/>
              </a:rPr>
              <a:t>G/K </a:t>
            </a:r>
            <a:r>
              <a:rPr lang="zh-CN" altLang="en-US" sz="2800" b="1" smtClean="0">
                <a:ea typeface="宋体" panose="02010600030101010101" pitchFamily="2" charset="-122"/>
                <a:sym typeface="Symbol" panose="05050102010706020507" pitchFamily="18" charset="2"/>
              </a:rPr>
              <a:t>同构于</a:t>
            </a:r>
            <a:r>
              <a:rPr lang="en-US" altLang="zh-CN" sz="2800" b="1" smtClean="0">
                <a:ea typeface="宋体" panose="02010600030101010101" pitchFamily="2" charset="-122"/>
                <a:sym typeface="Symbol" panose="05050102010706020507" pitchFamily="18" charset="2"/>
              </a:rPr>
              <a:t>R*</a:t>
            </a:r>
            <a:r>
              <a:rPr lang="zh-CN" altLang="en-US" sz="2800" b="1" smtClean="0">
                <a:ea typeface="宋体" panose="02010600030101010101" pitchFamily="2" charset="-122"/>
                <a:sym typeface="Symbol" panose="05050102010706020507" pitchFamily="18" charset="2"/>
              </a:rPr>
              <a:t>。其中</a:t>
            </a:r>
            <a:r>
              <a:rPr lang="en-US" altLang="zh-CN" sz="2800" b="1" smtClean="0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zh-CN" altLang="en-US" sz="2800" b="1" smtClean="0">
                <a:ea typeface="宋体" panose="02010600030101010101" pitchFamily="2" charset="-122"/>
                <a:sym typeface="Symbol" panose="05050102010706020507" pitchFamily="18" charset="2"/>
              </a:rPr>
              <a:t>*是非零实数的乘法群。</a:t>
            </a:r>
            <a:endParaRPr lang="en-US" altLang="zh-CN" sz="2800" b="1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800" b="1" smtClean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证明</a:t>
            </a:r>
            <a:r>
              <a:rPr lang="en-US" altLang="zh-CN" sz="2800" b="1" smtClean="0">
                <a:solidFill>
                  <a:srgbClr val="0000FF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:</a:t>
            </a:r>
            <a:r>
              <a:rPr lang="en-US" altLang="zh-CN" sz="2800" b="1" smtClean="0">
                <a:ea typeface="宋体" panose="02010600030101010101" pitchFamily="2" charset="-122"/>
                <a:sym typeface="Wingdings" panose="05000000000000000000" pitchFamily="2" charset="2"/>
              </a:rPr>
              <a:t>(1) </a:t>
            </a:r>
            <a:r>
              <a:rPr lang="zh-CN" altLang="en-US" sz="2800" b="1" smtClean="0">
                <a:ea typeface="宋体" panose="02010600030101010101" pitchFamily="2" charset="-122"/>
                <a:sym typeface="Wingdings" panose="05000000000000000000" pitchFamily="2" charset="2"/>
              </a:rPr>
              <a:t>先证</a:t>
            </a:r>
            <a:r>
              <a:rPr lang="en-US" altLang="zh-CN" sz="2800" b="1" smtClean="0">
                <a:ea typeface="宋体" panose="02010600030101010101" pitchFamily="2" charset="-122"/>
                <a:sym typeface="Wingdings" panose="05000000000000000000" pitchFamily="2" charset="2"/>
              </a:rPr>
              <a:t>K</a:t>
            </a:r>
            <a:r>
              <a:rPr lang="zh-CN" altLang="en-US" sz="2800" b="1" smtClean="0">
                <a:ea typeface="宋体" panose="02010600030101010101" pitchFamily="2" charset="-122"/>
                <a:sym typeface="Wingdings" panose="05000000000000000000" pitchFamily="2" charset="2"/>
              </a:rPr>
              <a:t>为</a:t>
            </a:r>
            <a:r>
              <a:rPr lang="en-US" altLang="zh-CN" sz="2800" b="1" smtClean="0">
                <a:ea typeface="宋体" panose="02010600030101010101" pitchFamily="2" charset="-122"/>
                <a:sym typeface="Wingdings" panose="05000000000000000000" pitchFamily="2" charset="2"/>
              </a:rPr>
              <a:t>G</a:t>
            </a:r>
            <a:r>
              <a:rPr lang="zh-CN" altLang="en-US" sz="2800" b="1" smtClean="0">
                <a:ea typeface="宋体" panose="02010600030101010101" pitchFamily="2" charset="-122"/>
                <a:sym typeface="Wingdings" panose="05000000000000000000" pitchFamily="2" charset="2"/>
              </a:rPr>
              <a:t>的子群</a:t>
            </a:r>
            <a:endParaRPr lang="en-US" altLang="zh-CN" sz="2800" b="1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800" b="1" smtClean="0">
                <a:ea typeface="宋体" panose="02010600030101010101" pitchFamily="2" charset="-122"/>
                <a:sym typeface="Symbol" panose="05050102010706020507" pitchFamily="18" charset="2"/>
              </a:rPr>
              <a:t>因</a:t>
            </a:r>
            <a:r>
              <a:rPr lang="en-US" altLang="zh-CN" sz="2800" b="1" smtClean="0"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zh-CN" altLang="en-US" sz="2800" b="1" smtClean="0">
                <a:ea typeface="宋体" panose="02010600030101010101" pitchFamily="2" charset="-122"/>
                <a:sym typeface="Symbol" panose="05050102010706020507" pitchFamily="18" charset="2"/>
              </a:rPr>
              <a:t>中单位元为</a:t>
            </a:r>
            <a:r>
              <a:rPr lang="en-US" altLang="zh-CN" sz="2800" b="1" smtClean="0">
                <a:ea typeface="宋体" panose="02010600030101010101" pitchFamily="2" charset="-122"/>
                <a:sym typeface="Symbol" panose="05050102010706020507" pitchFamily="18" charset="2"/>
              </a:rPr>
              <a:t>(1,0)</a:t>
            </a:r>
            <a:r>
              <a:rPr lang="en-US" altLang="zh-CN" sz="2800" b="1" smtClean="0">
                <a:ea typeface="宋体" panose="02010600030101010101" pitchFamily="2" charset="-122"/>
              </a:rPr>
              <a:t> ∈K,  K</a:t>
            </a:r>
            <a:r>
              <a:rPr lang="zh-CN" altLang="en-US" sz="2800" b="1" smtClean="0">
                <a:ea typeface="宋体" panose="02010600030101010101" pitchFamily="2" charset="-122"/>
              </a:rPr>
              <a:t>非空。</a:t>
            </a:r>
            <a:endParaRPr lang="en-US" altLang="zh-CN" sz="2800" b="1" smtClean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800" b="1" smtClean="0">
                <a:ea typeface="宋体" panose="02010600030101010101" pitchFamily="2" charset="-122"/>
              </a:rPr>
              <a:t>任取</a:t>
            </a:r>
            <a:r>
              <a:rPr lang="en-US" altLang="zh-CN" sz="2800" b="1" smtClean="0">
                <a:ea typeface="宋体" panose="02010600030101010101" pitchFamily="2" charset="-122"/>
              </a:rPr>
              <a:t>(1, a) ,(1,b) ∈K </a:t>
            </a:r>
            <a:r>
              <a:rPr lang="zh-CN" altLang="en-US" sz="2800" b="1" smtClean="0">
                <a:ea typeface="宋体" panose="02010600030101010101" pitchFamily="2" charset="-122"/>
              </a:rPr>
              <a:t>，</a:t>
            </a:r>
            <a:r>
              <a:rPr lang="en-US" altLang="zh-CN" sz="2800" b="1" smtClean="0">
                <a:ea typeface="宋体" panose="02010600030101010101" pitchFamily="2" charset="-122"/>
              </a:rPr>
              <a:t> (</a:t>
            </a:r>
            <a:r>
              <a:rPr lang="en-US" altLang="zh-CN" sz="2800" smtClean="0"/>
              <a:t> 1,b)</a:t>
            </a:r>
            <a:r>
              <a:rPr lang="en-US" altLang="zh-CN" sz="2800" baseline="30000" smtClean="0"/>
              <a:t>-1</a:t>
            </a:r>
            <a:r>
              <a:rPr lang="en-US" altLang="zh-CN" sz="2800" b="1" smtClean="0">
                <a:ea typeface="宋体" panose="02010600030101010101" pitchFamily="2" charset="-122"/>
              </a:rPr>
              <a:t>=(1, -b) </a:t>
            </a:r>
            <a:r>
              <a:rPr lang="zh-CN" altLang="en-US" sz="2800" b="1" smtClean="0">
                <a:ea typeface="宋体" panose="02010600030101010101" pitchFamily="2" charset="-122"/>
              </a:rPr>
              <a:t>，</a:t>
            </a:r>
            <a:r>
              <a:rPr lang="en-US" altLang="zh-CN" sz="2800" b="1" smtClean="0">
                <a:ea typeface="宋体" panose="02010600030101010101" pitchFamily="2" charset="-122"/>
              </a:rPr>
              <a:t>(1,a) (</a:t>
            </a:r>
            <a:r>
              <a:rPr lang="en-US" altLang="zh-CN" sz="2800" smtClean="0"/>
              <a:t> 1,b)</a:t>
            </a:r>
            <a:r>
              <a:rPr lang="en-US" altLang="zh-CN" sz="2800" baseline="30000" smtClean="0"/>
              <a:t>-1</a:t>
            </a:r>
            <a:r>
              <a:rPr lang="en-US" altLang="zh-CN" sz="2800" b="1" smtClean="0">
                <a:ea typeface="宋体" panose="02010600030101010101" pitchFamily="2" charset="-122"/>
              </a:rPr>
              <a:t>=(1, a)(1, -b) =(1, a-b)∈K , K </a:t>
            </a:r>
            <a:r>
              <a:rPr lang="zh-CN" altLang="en-US" sz="2800" b="1" smtClean="0">
                <a:ea typeface="宋体" panose="02010600030101010101" pitchFamily="2" charset="-122"/>
              </a:rPr>
              <a:t>为子群。</a:t>
            </a:r>
            <a:endParaRPr lang="en-US" altLang="zh-CN" sz="2800" b="1" smtClean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800" b="1" smtClean="0">
                <a:ea typeface="宋体" panose="02010600030101010101" pitchFamily="2" charset="-122"/>
              </a:rPr>
              <a:t>再证</a:t>
            </a:r>
            <a:r>
              <a:rPr lang="en-US" altLang="zh-CN" sz="2800" b="1" smtClean="0">
                <a:ea typeface="宋体" panose="02010600030101010101" pitchFamily="2" charset="-122"/>
              </a:rPr>
              <a:t>K</a:t>
            </a:r>
            <a:r>
              <a:rPr lang="zh-CN" altLang="en-US" sz="2800" b="1" smtClean="0">
                <a:ea typeface="宋体" panose="02010600030101010101" pitchFamily="2" charset="-122"/>
              </a:rPr>
              <a:t>为正规子群，即任意</a:t>
            </a:r>
            <a:r>
              <a:rPr lang="en-US" altLang="zh-CN" sz="2800" b="1" smtClean="0">
                <a:ea typeface="宋体" panose="02010600030101010101" pitchFamily="2" charset="-122"/>
              </a:rPr>
              <a:t>g∈G</a:t>
            </a:r>
            <a:r>
              <a:rPr lang="zh-CN" altLang="en-US" sz="2800" b="1" smtClean="0">
                <a:ea typeface="宋体" panose="02010600030101010101" pitchFamily="2" charset="-122"/>
              </a:rPr>
              <a:t>，</a:t>
            </a:r>
            <a:r>
              <a:rPr lang="en-US" altLang="zh-CN" sz="2800" b="1" smtClean="0">
                <a:ea typeface="宋体" panose="02010600030101010101" pitchFamily="2" charset="-122"/>
              </a:rPr>
              <a:t>gK</a:t>
            </a:r>
            <a:r>
              <a:rPr lang="en-US" altLang="zh-CN" sz="2800" smtClean="0"/>
              <a:t>g</a:t>
            </a:r>
            <a:r>
              <a:rPr lang="en-US" altLang="zh-CN" sz="2800" baseline="30000" smtClean="0"/>
              <a:t>-1</a:t>
            </a:r>
            <a:r>
              <a:rPr lang="zh-CN" altLang="en-US" sz="2800" b="1" smtClean="0">
                <a:ea typeface="宋体" panose="02010600030101010101" pitchFamily="2" charset="-122"/>
                <a:sym typeface="Symbol" panose="05050102010706020507" pitchFamily="18" charset="2"/>
              </a:rPr>
              <a:t> </a:t>
            </a:r>
            <a:r>
              <a:rPr lang="en-US" altLang="zh-CN" sz="2800" b="1" smtClean="0"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800" b="1" smtClean="0">
                <a:ea typeface="宋体" panose="02010600030101010101" pitchFamily="2" charset="-122"/>
              </a:rPr>
              <a:t>任取</a:t>
            </a:r>
            <a:r>
              <a:rPr lang="en-US" altLang="zh-CN" sz="2800" b="1" smtClean="0">
                <a:ea typeface="宋体" panose="02010600030101010101" pitchFamily="2" charset="-122"/>
              </a:rPr>
              <a:t>g=(a , b) ∈G,  (1, x)</a:t>
            </a:r>
            <a:r>
              <a:rPr lang="zh-CN" altLang="en-US" sz="2800" b="1" smtClean="0">
                <a:ea typeface="宋体" panose="02010600030101010101" pitchFamily="2" charset="-122"/>
              </a:rPr>
              <a:t> </a:t>
            </a:r>
            <a:r>
              <a:rPr lang="en-US" altLang="zh-CN" sz="2800" b="1" smtClean="0">
                <a:ea typeface="宋体" panose="02010600030101010101" pitchFamily="2" charset="-122"/>
              </a:rPr>
              <a:t>∈K, </a:t>
            </a:r>
            <a:r>
              <a:rPr lang="en-US" altLang="zh-CN" sz="2800" smtClean="0"/>
              <a:t>g</a:t>
            </a:r>
            <a:r>
              <a:rPr lang="en-US" altLang="zh-CN" sz="2800" baseline="30000" smtClean="0"/>
              <a:t>-1</a:t>
            </a:r>
            <a:r>
              <a:rPr lang="en-US" altLang="zh-CN" sz="2800" b="1" smtClean="0">
                <a:ea typeface="宋体" panose="02010600030101010101" pitchFamily="2" charset="-122"/>
              </a:rPr>
              <a:t>= (</a:t>
            </a:r>
            <a:r>
              <a:rPr lang="en-US" altLang="zh-CN" sz="2800" smtClean="0"/>
              <a:t> a,b)</a:t>
            </a:r>
            <a:r>
              <a:rPr lang="en-US" altLang="zh-CN" sz="2800" baseline="30000" smtClean="0"/>
              <a:t>-1</a:t>
            </a:r>
            <a:r>
              <a:rPr lang="en-US" altLang="zh-CN" sz="2800" b="1" smtClean="0">
                <a:ea typeface="宋体" panose="02010600030101010101" pitchFamily="2" charset="-122"/>
              </a:rPr>
              <a:t>=(1/a , -</a:t>
            </a:r>
            <a:r>
              <a:rPr lang="en-US" altLang="zh-CN" sz="2800" b="1" smtClean="0">
                <a:solidFill>
                  <a:srgbClr val="000000"/>
                </a:solidFill>
                <a:ea typeface="宋体" panose="02010600030101010101" pitchFamily="2" charset="-122"/>
              </a:rPr>
              <a:t>b/a) </a:t>
            </a:r>
            <a:r>
              <a:rPr lang="en-US" altLang="zh-CN" sz="2800" b="1" smtClean="0">
                <a:ea typeface="宋体" panose="02010600030101010101" pitchFamily="2" charset="-122"/>
              </a:rPr>
              <a:t>(a , b) (1, x)</a:t>
            </a:r>
            <a:r>
              <a:rPr lang="zh-CN" altLang="en-US" sz="2800" b="1" smtClean="0">
                <a:ea typeface="宋体" panose="02010600030101010101" pitchFamily="2" charset="-122"/>
              </a:rPr>
              <a:t> </a:t>
            </a:r>
            <a:r>
              <a:rPr lang="en-US" altLang="zh-CN" sz="2800" b="1" smtClean="0">
                <a:solidFill>
                  <a:srgbClr val="000000"/>
                </a:solidFill>
                <a:ea typeface="宋体" panose="02010600030101010101" pitchFamily="2" charset="-122"/>
              </a:rPr>
              <a:t>(1/a , -b/a)=(1, ax ) ∈K.  </a:t>
            </a:r>
            <a:endParaRPr lang="zh-CN" altLang="en-US" sz="2800" b="1" smtClean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8564571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7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6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6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内容占位符 2"/>
          <p:cNvSpPr>
            <a:spLocks noGrp="1"/>
          </p:cNvSpPr>
          <p:nvPr>
            <p:ph idx="1"/>
          </p:nvPr>
        </p:nvSpPr>
        <p:spPr>
          <a:xfrm>
            <a:off x="468313" y="620713"/>
            <a:ext cx="8394700" cy="5356225"/>
          </a:xfrm>
        </p:spPr>
        <p:txBody>
          <a:bodyPr/>
          <a:lstStyle/>
          <a:p>
            <a:pPr>
              <a:defRPr/>
            </a:pPr>
            <a:r>
              <a:rPr lang="en-US" altLang="zh-CN" sz="2800" b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en-US" sz="2800" b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证明：</a:t>
            </a:r>
            <a:endParaRPr lang="en-US" altLang="zh-CN" sz="2800" b="1" dirty="0" smtClean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zh-CN" sz="2800" b="1" dirty="0" smtClean="0">
                <a:ea typeface="宋体" pitchFamily="2" charset="-122"/>
              </a:rPr>
              <a:t>令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</a:t>
            </a:r>
            <a:r>
              <a:rPr lang="zh-CN" altLang="zh-CN" sz="2800" b="1" dirty="0" smtClean="0">
                <a:ea typeface="宋体" pitchFamily="2" charset="-122"/>
              </a:rPr>
              <a:t>是</a:t>
            </a:r>
            <a:r>
              <a:rPr lang="en-US" altLang="zh-CN" sz="2800" b="1" dirty="0" smtClean="0">
                <a:ea typeface="宋体" pitchFamily="2" charset="-122"/>
              </a:rPr>
              <a:t>G</a:t>
            </a:r>
            <a:r>
              <a:rPr lang="zh-CN" altLang="zh-CN" sz="2800" b="1" dirty="0" smtClean="0">
                <a:ea typeface="宋体" pitchFamily="2" charset="-122"/>
              </a:rPr>
              <a:t>到</a:t>
            </a:r>
            <a:r>
              <a:rPr lang="en-US" altLang="zh-CN" sz="2800" b="1" dirty="0"/>
              <a:t>R</a:t>
            </a:r>
            <a:r>
              <a:rPr lang="en-US" altLang="zh-CN" sz="2800" b="1" baseline="30000" dirty="0" smtClean="0"/>
              <a:t>*</a:t>
            </a:r>
            <a:r>
              <a:rPr lang="zh-CN" altLang="zh-CN" sz="2800" b="1" dirty="0" smtClean="0">
                <a:ea typeface="宋体" pitchFamily="2" charset="-122"/>
              </a:rPr>
              <a:t>内映射</a:t>
            </a:r>
            <a:r>
              <a:rPr lang="en-US" altLang="zh-CN" sz="2800" b="1" dirty="0" smtClean="0">
                <a:ea typeface="宋体" pitchFamily="2" charset="-122"/>
              </a:rPr>
              <a:t> </a:t>
            </a:r>
            <a:r>
              <a:rPr lang="zh-CN" altLang="en-US" sz="2800" b="1" dirty="0" smtClean="0">
                <a:ea typeface="宋体" pitchFamily="2" charset="-122"/>
              </a:rPr>
              <a:t>，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 ((</a:t>
            </a:r>
            <a:r>
              <a:rPr lang="en-US" altLang="zh-CN" sz="2800" b="1" dirty="0" err="1" smtClean="0">
                <a:ea typeface="宋体" pitchFamily="2" charset="-122"/>
                <a:sym typeface="Symbol"/>
              </a:rPr>
              <a:t>a,b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))=a ,</a:t>
            </a:r>
            <a:r>
              <a:rPr lang="zh-CN" altLang="en-US" sz="2800" b="1" dirty="0" smtClean="0">
                <a:ea typeface="宋体" pitchFamily="2" charset="-122"/>
                <a:sym typeface="Symbol"/>
              </a:rPr>
              <a:t>显然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</a:t>
            </a:r>
            <a:r>
              <a:rPr lang="zh-CN" altLang="en-US" sz="2800" b="1" dirty="0" smtClean="0">
                <a:ea typeface="宋体" pitchFamily="2" charset="-122"/>
                <a:sym typeface="Symbol"/>
              </a:rPr>
              <a:t>是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G</a:t>
            </a:r>
            <a:r>
              <a:rPr lang="zh-CN" altLang="en-US" sz="2800" b="1" dirty="0" smtClean="0">
                <a:ea typeface="宋体" pitchFamily="2" charset="-122"/>
                <a:sym typeface="Symbol"/>
              </a:rPr>
              <a:t>到</a:t>
            </a:r>
            <a:r>
              <a:rPr lang="en-US" altLang="zh-CN" sz="2800" b="1" dirty="0" smtClean="0">
                <a:solidFill>
                  <a:srgbClr val="000000"/>
                </a:solidFill>
              </a:rPr>
              <a:t>R</a:t>
            </a:r>
            <a:r>
              <a:rPr lang="en-US" altLang="zh-CN" sz="2800" b="1" baseline="30000" dirty="0" smtClean="0">
                <a:solidFill>
                  <a:srgbClr val="000000"/>
                </a:solidFill>
              </a:rPr>
              <a:t>*</a:t>
            </a:r>
            <a:r>
              <a:rPr lang="zh-CN" altLang="en-US" sz="2800" b="1" dirty="0" smtClean="0">
                <a:ea typeface="宋体" pitchFamily="2" charset="-122"/>
                <a:sym typeface="Symbol"/>
              </a:rPr>
              <a:t>上的映射。下面往证</a:t>
            </a:r>
            <a:r>
              <a:rPr lang="en-US" altLang="zh-CN" sz="2800" b="1" dirty="0" smtClean="0">
                <a:solidFill>
                  <a:srgbClr val="000000"/>
                </a:solidFill>
                <a:ea typeface="宋体" pitchFamily="2" charset="-122"/>
                <a:sym typeface="Symbol"/>
              </a:rPr>
              <a:t></a:t>
            </a:r>
            <a:r>
              <a:rPr lang="zh-CN" altLang="en-US" sz="2800" b="1" dirty="0" smtClean="0">
                <a:solidFill>
                  <a:srgbClr val="000000"/>
                </a:solidFill>
                <a:ea typeface="宋体" pitchFamily="2" charset="-122"/>
                <a:sym typeface="Symbol"/>
              </a:rPr>
              <a:t>是同态映射。</a:t>
            </a:r>
            <a:endParaRPr lang="en-US" altLang="zh-CN" sz="2800" b="1" dirty="0" smtClean="0">
              <a:solidFill>
                <a:srgbClr val="000000"/>
              </a:solidFill>
              <a:ea typeface="宋体" pitchFamily="2" charset="-122"/>
              <a:sym typeface="Symbol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>
                <a:solidFill>
                  <a:srgbClr val="000000"/>
                </a:solidFill>
                <a:ea typeface="宋体" pitchFamily="2" charset="-122"/>
                <a:sym typeface="Symbol"/>
              </a:rPr>
              <a:t>((</a:t>
            </a:r>
            <a:r>
              <a:rPr lang="en-US" altLang="zh-CN" sz="2800" b="1" dirty="0" err="1" smtClean="0">
                <a:solidFill>
                  <a:srgbClr val="000000"/>
                </a:solidFill>
                <a:ea typeface="宋体" pitchFamily="2" charset="-122"/>
                <a:sym typeface="Symbol"/>
              </a:rPr>
              <a:t>a,b</a:t>
            </a:r>
            <a:r>
              <a:rPr lang="en-US" altLang="zh-CN" sz="2800" b="1" dirty="0" smtClean="0">
                <a:solidFill>
                  <a:srgbClr val="000000"/>
                </a:solidFill>
                <a:ea typeface="宋体" pitchFamily="2" charset="-122"/>
                <a:sym typeface="Symbol"/>
              </a:rPr>
              <a:t>)(</a:t>
            </a:r>
            <a:r>
              <a:rPr lang="en-US" altLang="zh-CN" sz="2800" b="1" dirty="0" err="1" smtClean="0">
                <a:solidFill>
                  <a:srgbClr val="000000"/>
                </a:solidFill>
                <a:ea typeface="宋体" pitchFamily="2" charset="-122"/>
                <a:sym typeface="Symbol"/>
              </a:rPr>
              <a:t>c,d</a:t>
            </a:r>
            <a:r>
              <a:rPr lang="en-US" altLang="zh-CN" sz="2800" b="1" dirty="0" smtClean="0">
                <a:solidFill>
                  <a:srgbClr val="000000"/>
                </a:solidFill>
                <a:ea typeface="宋体" pitchFamily="2" charset="-122"/>
                <a:sym typeface="Symbol"/>
              </a:rPr>
              <a:t>))=(ac, </a:t>
            </a:r>
            <a:r>
              <a:rPr lang="en-US" altLang="zh-CN" sz="2800" b="1" dirty="0" err="1" smtClean="0">
                <a:solidFill>
                  <a:srgbClr val="000000"/>
                </a:solidFill>
                <a:ea typeface="宋体" pitchFamily="2" charset="-122"/>
                <a:sym typeface="Symbol"/>
              </a:rPr>
              <a:t>ad+b</a:t>
            </a:r>
            <a:r>
              <a:rPr lang="en-US" altLang="zh-CN" sz="2800" b="1" dirty="0" smtClean="0">
                <a:solidFill>
                  <a:srgbClr val="000000"/>
                </a:solidFill>
                <a:ea typeface="宋体" pitchFamily="2" charset="-122"/>
                <a:sym typeface="Symbol"/>
              </a:rPr>
              <a:t>))=ac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>
                <a:solidFill>
                  <a:srgbClr val="000000"/>
                </a:solidFill>
                <a:ea typeface="宋体" pitchFamily="2" charset="-122"/>
                <a:sym typeface="Symbol"/>
              </a:rPr>
              <a:t>(</a:t>
            </a:r>
            <a:r>
              <a:rPr lang="en-US" altLang="zh-CN" sz="2800" b="1" dirty="0" err="1" smtClean="0">
                <a:solidFill>
                  <a:srgbClr val="000000"/>
                </a:solidFill>
                <a:ea typeface="宋体" pitchFamily="2" charset="-122"/>
                <a:sym typeface="Symbol"/>
              </a:rPr>
              <a:t>a,b</a:t>
            </a:r>
            <a:r>
              <a:rPr lang="en-US" altLang="zh-CN" sz="2800" b="1" dirty="0" smtClean="0">
                <a:solidFill>
                  <a:srgbClr val="000000"/>
                </a:solidFill>
                <a:ea typeface="宋体" pitchFamily="2" charset="-122"/>
                <a:sym typeface="Symbol"/>
              </a:rPr>
              <a:t>)=a , </a:t>
            </a:r>
            <a:r>
              <a:rPr lang="en-US" altLang="zh-CN" sz="2800" b="1" dirty="0">
                <a:solidFill>
                  <a:srgbClr val="000000"/>
                </a:solidFill>
                <a:ea typeface="宋体" pitchFamily="2" charset="-122"/>
                <a:sym typeface="Symbol"/>
              </a:rPr>
              <a:t></a:t>
            </a:r>
            <a:r>
              <a:rPr lang="en-US" altLang="zh-CN" sz="2800" b="1" dirty="0" smtClean="0">
                <a:solidFill>
                  <a:srgbClr val="000000"/>
                </a:solidFill>
                <a:ea typeface="宋体" pitchFamily="2" charset="-122"/>
                <a:sym typeface="Symbol"/>
              </a:rPr>
              <a:t>(c, d)=c , </a:t>
            </a:r>
            <a:r>
              <a:rPr lang="zh-CN" altLang="en-US" sz="2800" b="1" dirty="0" smtClean="0">
                <a:solidFill>
                  <a:srgbClr val="000000"/>
                </a:solidFill>
                <a:ea typeface="宋体" pitchFamily="2" charset="-122"/>
                <a:sym typeface="Symbol"/>
              </a:rPr>
              <a:t>因此有</a:t>
            </a:r>
            <a:endParaRPr lang="en-US" altLang="zh-CN" sz="2800" b="1" dirty="0" smtClean="0">
              <a:solidFill>
                <a:srgbClr val="000000"/>
              </a:solidFill>
              <a:ea typeface="宋体" pitchFamily="2" charset="-122"/>
              <a:sym typeface="Symbol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000000"/>
                </a:solidFill>
                <a:ea typeface="宋体" pitchFamily="2" charset="-122"/>
                <a:sym typeface="Symbol"/>
              </a:rPr>
              <a:t>((</a:t>
            </a:r>
            <a:r>
              <a:rPr lang="en-US" altLang="zh-CN" sz="2800" b="1" dirty="0" err="1">
                <a:solidFill>
                  <a:srgbClr val="000000"/>
                </a:solidFill>
                <a:ea typeface="宋体" pitchFamily="2" charset="-122"/>
                <a:sym typeface="Symbol"/>
              </a:rPr>
              <a:t>a,b</a:t>
            </a:r>
            <a:r>
              <a:rPr lang="en-US" altLang="zh-CN" sz="2800" b="1" dirty="0">
                <a:solidFill>
                  <a:srgbClr val="000000"/>
                </a:solidFill>
                <a:ea typeface="宋体" pitchFamily="2" charset="-122"/>
                <a:sym typeface="Symbol"/>
              </a:rPr>
              <a:t>)(</a:t>
            </a:r>
            <a:r>
              <a:rPr lang="en-US" altLang="zh-CN" sz="2800" b="1" dirty="0" err="1">
                <a:solidFill>
                  <a:srgbClr val="000000"/>
                </a:solidFill>
                <a:ea typeface="宋体" pitchFamily="2" charset="-122"/>
                <a:sym typeface="Symbol"/>
              </a:rPr>
              <a:t>c,d</a:t>
            </a:r>
            <a:r>
              <a:rPr lang="en-US" altLang="zh-CN" sz="2800" b="1" dirty="0" smtClean="0">
                <a:solidFill>
                  <a:srgbClr val="000000"/>
                </a:solidFill>
                <a:ea typeface="宋体" pitchFamily="2" charset="-122"/>
                <a:sym typeface="Symbol"/>
              </a:rPr>
              <a:t>))=</a:t>
            </a:r>
            <a:r>
              <a:rPr lang="en-US" altLang="zh-CN" sz="2800" b="1" dirty="0">
                <a:solidFill>
                  <a:srgbClr val="000000"/>
                </a:solidFill>
                <a:ea typeface="宋体" pitchFamily="2" charset="-122"/>
                <a:sym typeface="Symbol"/>
              </a:rPr>
              <a:t>(</a:t>
            </a:r>
            <a:r>
              <a:rPr lang="en-US" altLang="zh-CN" sz="2800" b="1" dirty="0" err="1" smtClean="0">
                <a:solidFill>
                  <a:srgbClr val="000000"/>
                </a:solidFill>
                <a:ea typeface="宋体" pitchFamily="2" charset="-122"/>
                <a:sym typeface="Symbol"/>
              </a:rPr>
              <a:t>a,b</a:t>
            </a:r>
            <a:r>
              <a:rPr lang="en-US" altLang="zh-CN" sz="2800" b="1" dirty="0" smtClean="0">
                <a:solidFill>
                  <a:srgbClr val="000000"/>
                </a:solidFill>
                <a:ea typeface="宋体" pitchFamily="2" charset="-122"/>
                <a:sym typeface="Symbol"/>
              </a:rPr>
              <a:t>)</a:t>
            </a:r>
            <a:r>
              <a:rPr lang="en-US" altLang="zh-CN" sz="2800" b="1" dirty="0">
                <a:solidFill>
                  <a:srgbClr val="000000"/>
                </a:solidFill>
                <a:ea typeface="宋体" pitchFamily="2" charset="-122"/>
                <a:sym typeface="Symbol"/>
              </a:rPr>
              <a:t> .</a:t>
            </a:r>
            <a:r>
              <a:rPr lang="en-US" altLang="zh-CN" sz="2800" b="1" dirty="0" smtClean="0">
                <a:solidFill>
                  <a:srgbClr val="000000"/>
                </a:solidFill>
                <a:ea typeface="宋体" pitchFamily="2" charset="-122"/>
                <a:sym typeface="Symbol"/>
              </a:rPr>
              <a:t></a:t>
            </a:r>
            <a:r>
              <a:rPr lang="en-US" altLang="zh-CN" sz="2800" b="1" dirty="0">
                <a:solidFill>
                  <a:srgbClr val="000000"/>
                </a:solidFill>
                <a:ea typeface="宋体" pitchFamily="2" charset="-122"/>
                <a:sym typeface="Symbol"/>
              </a:rPr>
              <a:t>(c, d</a:t>
            </a:r>
            <a:r>
              <a:rPr lang="en-US" altLang="zh-CN" sz="2800" b="1" dirty="0" smtClean="0">
                <a:solidFill>
                  <a:srgbClr val="000000"/>
                </a:solidFill>
                <a:ea typeface="宋体" pitchFamily="2" charset="-122"/>
                <a:sym typeface="Symbol"/>
              </a:rPr>
              <a:t>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800" b="1" dirty="0" smtClean="0">
                <a:solidFill>
                  <a:srgbClr val="000000"/>
                </a:solidFill>
                <a:ea typeface="宋体" pitchFamily="2" charset="-122"/>
                <a:sym typeface="Symbol"/>
              </a:rPr>
              <a:t>即</a:t>
            </a:r>
            <a:r>
              <a:rPr lang="en-US" altLang="zh-CN" sz="2800" b="1" dirty="0" smtClean="0">
                <a:solidFill>
                  <a:srgbClr val="000000"/>
                </a:solidFill>
                <a:ea typeface="宋体" pitchFamily="2" charset="-122"/>
                <a:sym typeface="Symbol"/>
              </a:rPr>
              <a:t></a:t>
            </a:r>
            <a:r>
              <a:rPr lang="zh-CN" altLang="en-US" sz="2800" b="1" dirty="0" smtClean="0">
                <a:solidFill>
                  <a:srgbClr val="000000"/>
                </a:solidFill>
                <a:ea typeface="宋体" pitchFamily="2" charset="-122"/>
                <a:sym typeface="Symbol"/>
              </a:rPr>
              <a:t>为</a:t>
            </a:r>
            <a:r>
              <a:rPr lang="en-US" altLang="zh-CN" sz="2800" b="1" dirty="0" smtClean="0">
                <a:ea typeface="宋体" pitchFamily="2" charset="-122"/>
              </a:rPr>
              <a:t>G</a:t>
            </a:r>
            <a:r>
              <a:rPr lang="zh-CN" altLang="zh-CN" sz="2800" b="1" dirty="0" smtClean="0">
                <a:ea typeface="宋体" pitchFamily="2" charset="-122"/>
              </a:rPr>
              <a:t>到</a:t>
            </a:r>
            <a:r>
              <a:rPr lang="en-US" altLang="zh-CN" sz="2800" b="1" dirty="0" smtClean="0"/>
              <a:t>R</a:t>
            </a:r>
            <a:r>
              <a:rPr lang="en-US" altLang="zh-CN" sz="2800" b="1" baseline="30000" dirty="0" smtClean="0"/>
              <a:t>*</a:t>
            </a:r>
            <a:r>
              <a:rPr lang="zh-CN" altLang="en-US" sz="2800" b="1" dirty="0" smtClean="0">
                <a:ea typeface="宋体" pitchFamily="2" charset="-122"/>
                <a:sym typeface="Symbol"/>
              </a:rPr>
              <a:t>上的同态映射，</a:t>
            </a:r>
            <a:endParaRPr lang="en-US" altLang="zh-CN" sz="2800" b="1" dirty="0" smtClean="0">
              <a:ea typeface="宋体" pitchFamily="2" charset="-122"/>
              <a:sym typeface="Symbol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800" b="1" dirty="0" smtClean="0">
                <a:ea typeface="宋体" pitchFamily="2" charset="-122"/>
                <a:sym typeface="Symbol"/>
              </a:rPr>
              <a:t>核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N</a:t>
            </a:r>
            <a:r>
              <a:rPr lang="zh-CN" altLang="en-US" sz="2800" b="1" dirty="0" smtClean="0">
                <a:ea typeface="宋体" pitchFamily="2" charset="-122"/>
                <a:sym typeface="Symbol"/>
              </a:rPr>
              <a:t>为</a:t>
            </a:r>
            <a:r>
              <a:rPr lang="en-US" altLang="zh-CN" sz="2800" b="1" dirty="0">
                <a:sym typeface="Symbol" panose="05050102010706020507" pitchFamily="18" charset="2"/>
              </a:rPr>
              <a:t></a:t>
            </a:r>
            <a:r>
              <a:rPr lang="en-US" altLang="zh-CN" sz="2800" b="1" baseline="30000" dirty="0"/>
              <a:t>-</a:t>
            </a:r>
            <a:r>
              <a:rPr lang="en-US" altLang="zh-CN" sz="2800" b="1" baseline="30000" dirty="0" smtClean="0"/>
              <a:t>1</a:t>
            </a:r>
            <a:r>
              <a:rPr lang="en-US" altLang="zh-CN" sz="2800" b="1" dirty="0" smtClean="0">
                <a:solidFill>
                  <a:srgbClr val="000000"/>
                </a:solidFill>
                <a:ea typeface="宋体" pitchFamily="2" charset="-122"/>
                <a:sym typeface="Symbol"/>
              </a:rPr>
              <a:t> (1)</a:t>
            </a:r>
            <a:r>
              <a:rPr lang="en-US" altLang="zh-CN" sz="2800" b="1" dirty="0">
                <a:solidFill>
                  <a:srgbClr val="000000"/>
                </a:solidFill>
                <a:ea typeface="宋体" pitchFamily="2" charset="-122"/>
                <a:sym typeface="Symbol"/>
              </a:rPr>
              <a:t> </a:t>
            </a:r>
            <a:r>
              <a:rPr lang="en-US" altLang="zh-CN" sz="2800" b="1" dirty="0" smtClean="0">
                <a:solidFill>
                  <a:srgbClr val="000000"/>
                </a:solidFill>
                <a:ea typeface="宋体" pitchFamily="2" charset="-122"/>
                <a:sym typeface="Symbol"/>
              </a:rPr>
              <a:t>={(1, b)|b</a:t>
            </a:r>
            <a:r>
              <a:rPr lang="en-US" altLang="zh-CN" sz="2800" b="1" dirty="0" smtClean="0">
                <a:ea typeface="宋体" panose="02010600030101010101" pitchFamily="2" charset="-122"/>
              </a:rPr>
              <a:t> ∈R}=K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800" b="1" dirty="0" smtClean="0">
                <a:solidFill>
                  <a:srgbClr val="000000"/>
                </a:solidFill>
                <a:ea typeface="宋体" pitchFamily="2" charset="-122"/>
                <a:sym typeface="Symbol"/>
              </a:rPr>
              <a:t>因此，</a:t>
            </a:r>
            <a:r>
              <a:rPr lang="en-US" altLang="zh-CN" sz="2800" b="1" dirty="0" smtClean="0">
                <a:ea typeface="宋体" panose="02010600030101010101" pitchFamily="2" charset="-122"/>
                <a:sym typeface="Symbol" panose="05050102010706020507" pitchFamily="18" charset="2"/>
              </a:rPr>
              <a:t> G/K </a:t>
            </a:r>
            <a:r>
              <a:rPr lang="zh-CN" altLang="en-US" sz="2800" b="1" dirty="0" smtClean="0">
                <a:ea typeface="宋体" panose="02010600030101010101" pitchFamily="2" charset="-122"/>
                <a:sym typeface="Symbol" panose="05050102010706020507" pitchFamily="18" charset="2"/>
              </a:rPr>
              <a:t>同构于</a:t>
            </a:r>
            <a:r>
              <a:rPr lang="en-US" altLang="zh-CN" sz="2800" b="1" dirty="0" smtClean="0">
                <a:ea typeface="宋体" panose="02010600030101010101" pitchFamily="2" charset="-122"/>
                <a:sym typeface="Symbol" panose="05050102010706020507" pitchFamily="18" charset="2"/>
              </a:rPr>
              <a:t>R*</a:t>
            </a:r>
            <a:endParaRPr lang="en-US" altLang="zh-CN" sz="2800" b="1" dirty="0" smtClean="0">
              <a:solidFill>
                <a:srgbClr val="000000"/>
              </a:solidFill>
              <a:ea typeface="宋体" pitchFamily="2" charset="-122"/>
              <a:sym typeface="Symbol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>
                <a:ea typeface="宋体" pitchFamily="2" charset="-122"/>
              </a:rPr>
              <a:t/>
            </a:r>
            <a:br>
              <a:rPr lang="en-US" altLang="zh-CN" sz="2800" b="1" dirty="0" smtClean="0">
                <a:ea typeface="宋体" pitchFamily="2" charset="-122"/>
              </a:rPr>
            </a:br>
            <a:endParaRPr lang="zh-CN" altLang="en-US" sz="2800" b="1" dirty="0" smtClean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16711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1975" y="692150"/>
            <a:ext cx="8301038" cy="6049963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8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练习：</a:t>
            </a:r>
            <a:endParaRPr lang="en-US" altLang="zh-CN" sz="2800" b="1" dirty="0" smtClean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>
                <a:ea typeface="宋体" panose="02010600030101010101" pitchFamily="2" charset="-122"/>
              </a:rPr>
              <a:t>(1)</a:t>
            </a:r>
            <a:r>
              <a:rPr lang="zh-CN" altLang="en-US" sz="2800" b="1" dirty="0" smtClean="0">
                <a:ea typeface="宋体" panose="02010600030101010101" pitchFamily="2" charset="-122"/>
              </a:rPr>
              <a:t>计算</a:t>
            </a:r>
            <a:r>
              <a:rPr lang="en-US" altLang="zh-CN" sz="2800" b="1" dirty="0" smtClean="0">
                <a:solidFill>
                  <a:srgbClr val="000000"/>
                </a:solidFill>
                <a:ea typeface="宋体" panose="02010600030101010101" pitchFamily="2" charset="-122"/>
                <a:sym typeface="Symbol" pitchFamily="18" charset="2"/>
              </a:rPr>
              <a:t>σ=(132) (234)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>
                <a:solidFill>
                  <a:srgbClr val="000000"/>
                </a:solidFill>
                <a:ea typeface="宋体" panose="02010600030101010101" pitchFamily="2" charset="-122"/>
                <a:sym typeface="Symbol" pitchFamily="18" charset="2"/>
              </a:rPr>
              <a:t>(2)</a:t>
            </a:r>
            <a:r>
              <a:rPr lang="zh-CN" altLang="en-US" sz="2800" b="1" dirty="0" smtClean="0">
                <a:solidFill>
                  <a:srgbClr val="000000"/>
                </a:solidFill>
                <a:ea typeface="宋体" panose="02010600030101010101" pitchFamily="2" charset="-122"/>
                <a:sym typeface="Symbol" pitchFamily="18" charset="2"/>
              </a:rPr>
              <a:t>写出有</a:t>
            </a:r>
            <a:r>
              <a:rPr lang="en-US" altLang="zh-CN" sz="2800" b="1" dirty="0" smtClean="0">
                <a:ea typeface="宋体" panose="02010600030101010101" pitchFamily="2" charset="-122"/>
                <a:sym typeface="Symbol" pitchFamily="18" charset="2"/>
              </a:rPr>
              <a:t>σ</a:t>
            </a:r>
            <a:r>
              <a:rPr lang="zh-CN" altLang="en-US" sz="2800" b="1" dirty="0" smtClean="0">
                <a:ea typeface="宋体" panose="02010600030101010101" pitchFamily="2" charset="-122"/>
                <a:sym typeface="Symbol" pitchFamily="18" charset="2"/>
              </a:rPr>
              <a:t>生成的循环群</a:t>
            </a:r>
            <a:r>
              <a:rPr lang="en-US" altLang="zh-CN" sz="2800" b="1" dirty="0" smtClean="0">
                <a:ea typeface="宋体" panose="02010600030101010101" pitchFamily="2" charset="-122"/>
                <a:sym typeface="Symbol" pitchFamily="18" charset="2"/>
              </a:rPr>
              <a:t>H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>
                <a:ea typeface="宋体" panose="02010600030101010101" pitchFamily="2" charset="-122"/>
                <a:sym typeface="Symbol" pitchFamily="18" charset="2"/>
              </a:rPr>
              <a:t>(3)H</a:t>
            </a:r>
            <a:r>
              <a:rPr lang="zh-CN" altLang="en-US" sz="2800" b="1" dirty="0" smtClean="0">
                <a:ea typeface="宋体" panose="02010600030101010101" pitchFamily="2" charset="-122"/>
                <a:sym typeface="Symbol" pitchFamily="18" charset="2"/>
              </a:rPr>
              <a:t>是</a:t>
            </a:r>
            <a:r>
              <a:rPr lang="en-US" altLang="zh-CN" sz="2800" b="1" dirty="0" smtClean="0">
                <a:ea typeface="宋体" panose="02010600030101010101" pitchFamily="2" charset="-122"/>
                <a:sym typeface="Symbol" pitchFamily="18" charset="2"/>
              </a:rPr>
              <a:t>S4</a:t>
            </a:r>
            <a:r>
              <a:rPr lang="zh-CN" altLang="en-US" sz="2800" b="1" dirty="0" smtClean="0">
                <a:ea typeface="宋体" panose="02010600030101010101" pitchFamily="2" charset="-122"/>
                <a:sym typeface="Symbol" pitchFamily="18" charset="2"/>
              </a:rPr>
              <a:t>的子群，写出</a:t>
            </a:r>
            <a:r>
              <a:rPr lang="en-US" altLang="zh-CN" sz="2800" b="1" dirty="0" smtClean="0">
                <a:ea typeface="宋体" panose="02010600030101010101" pitchFamily="2" charset="-122"/>
                <a:sym typeface="Symbol" pitchFamily="18" charset="2"/>
              </a:rPr>
              <a:t>H</a:t>
            </a:r>
            <a:r>
              <a:rPr lang="zh-CN" altLang="en-US" sz="2800" b="1" dirty="0" smtClean="0">
                <a:ea typeface="宋体" panose="02010600030101010101" pitchFamily="2" charset="-122"/>
                <a:sym typeface="Symbol" pitchFamily="18" charset="2"/>
              </a:rPr>
              <a:t>在</a:t>
            </a:r>
            <a:r>
              <a:rPr lang="en-US" altLang="zh-CN" sz="2800" b="1" dirty="0" smtClean="0">
                <a:ea typeface="宋体" panose="02010600030101010101" pitchFamily="2" charset="-122"/>
                <a:sym typeface="Symbol" pitchFamily="18" charset="2"/>
              </a:rPr>
              <a:t>S4</a:t>
            </a:r>
            <a:r>
              <a:rPr lang="zh-CN" altLang="en-US" sz="2800" b="1" dirty="0" smtClean="0">
                <a:ea typeface="宋体" panose="02010600030101010101" pitchFamily="2" charset="-122"/>
                <a:sym typeface="Symbol" pitchFamily="18" charset="2"/>
              </a:rPr>
              <a:t>中的指数。</a:t>
            </a:r>
            <a:endParaRPr lang="en-US" altLang="zh-CN" sz="2800" b="1" dirty="0" smtClean="0">
              <a:ea typeface="宋体" panose="02010600030101010101" pitchFamily="2" charset="-122"/>
              <a:sym typeface="Symbol" pitchFamily="18" charset="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800" b="1" dirty="0" smtClean="0">
                <a:ea typeface="宋体" panose="02010600030101010101" pitchFamily="2" charset="-122"/>
                <a:sym typeface="Symbol" pitchFamily="18" charset="2"/>
              </a:rPr>
              <a:t>解：</a:t>
            </a:r>
            <a:endParaRPr lang="en-US" altLang="zh-CN" sz="2800" b="1" dirty="0" smtClean="0">
              <a:ea typeface="宋体" panose="02010600030101010101" pitchFamily="2" charset="-122"/>
              <a:sym typeface="Symbol" pitchFamily="18" charset="2"/>
            </a:endParaRPr>
          </a:p>
          <a:p>
            <a:pPr marL="514350" indent="-514350">
              <a:buFont typeface="Wingdings" panose="05000000000000000000" pitchFamily="2" charset="2"/>
              <a:buAutoNum type="arabicParenBoth"/>
              <a:defRPr/>
            </a:pPr>
            <a:r>
              <a:rPr lang="en-US" altLang="zh-CN" sz="2800" b="1" dirty="0" smtClean="0">
                <a:solidFill>
                  <a:srgbClr val="000000"/>
                </a:solidFill>
                <a:ea typeface="宋体" panose="02010600030101010101" pitchFamily="2" charset="-122"/>
                <a:sym typeface="Symbol" pitchFamily="18" charset="2"/>
              </a:rPr>
              <a:t>σ= (134)</a:t>
            </a:r>
          </a:p>
          <a:p>
            <a:pPr marL="514350" indent="-514350">
              <a:buFont typeface="Wingdings" panose="05000000000000000000" pitchFamily="2" charset="2"/>
              <a:buAutoNum type="arabicParenBoth"/>
              <a:defRPr/>
            </a:pPr>
            <a:r>
              <a:rPr lang="en-US" altLang="zh-CN" sz="2800" b="1" dirty="0" smtClean="0">
                <a:solidFill>
                  <a:srgbClr val="000000"/>
                </a:solidFill>
                <a:ea typeface="宋体" panose="02010600030101010101" pitchFamily="2" charset="-122"/>
                <a:sym typeface="Symbol" pitchFamily="18" charset="2"/>
              </a:rPr>
              <a:t>H={I , (134), (143)}</a:t>
            </a:r>
          </a:p>
          <a:p>
            <a:pPr marL="514350" indent="-514350">
              <a:buFont typeface="Wingdings" panose="05000000000000000000" pitchFamily="2" charset="2"/>
              <a:buAutoNum type="arabicParenBoth"/>
              <a:defRPr/>
            </a:pPr>
            <a:r>
              <a:rPr lang="en-US" altLang="zh-CN" sz="2800" b="1" dirty="0" smtClean="0">
                <a:solidFill>
                  <a:srgbClr val="000000"/>
                </a:solidFill>
                <a:ea typeface="宋体" panose="02010600030101010101" pitchFamily="2" charset="-122"/>
                <a:sym typeface="Symbol" pitchFamily="18" charset="2"/>
              </a:rPr>
              <a:t>H</a:t>
            </a:r>
            <a:r>
              <a:rPr lang="zh-CN" altLang="en-US" sz="2800" b="1" dirty="0" smtClean="0">
                <a:solidFill>
                  <a:srgbClr val="000000"/>
                </a:solidFill>
                <a:ea typeface="宋体" panose="02010600030101010101" pitchFamily="2" charset="-122"/>
                <a:sym typeface="Symbol" pitchFamily="18" charset="2"/>
              </a:rPr>
              <a:t>在</a:t>
            </a:r>
            <a:r>
              <a:rPr lang="en-US" altLang="zh-CN" sz="2800" b="1" dirty="0" smtClean="0">
                <a:solidFill>
                  <a:srgbClr val="000000"/>
                </a:solidFill>
                <a:ea typeface="宋体" panose="02010600030101010101" pitchFamily="2" charset="-122"/>
                <a:sym typeface="Symbol" pitchFamily="18" charset="2"/>
              </a:rPr>
              <a:t>S4</a:t>
            </a:r>
            <a:r>
              <a:rPr lang="zh-CN" altLang="en-US" sz="2800" b="1" dirty="0" smtClean="0">
                <a:solidFill>
                  <a:srgbClr val="000000"/>
                </a:solidFill>
                <a:ea typeface="宋体" panose="02010600030101010101" pitchFamily="2" charset="-122"/>
                <a:sym typeface="Symbol" pitchFamily="18" charset="2"/>
              </a:rPr>
              <a:t>中的指数为</a:t>
            </a:r>
            <a:r>
              <a:rPr lang="en-US" altLang="zh-CN" sz="2800" b="1" dirty="0" smtClean="0">
                <a:solidFill>
                  <a:srgbClr val="000000"/>
                </a:solidFill>
                <a:ea typeface="宋体" panose="02010600030101010101" pitchFamily="2" charset="-122"/>
                <a:sym typeface="Symbol" pitchFamily="18" charset="2"/>
              </a:rPr>
              <a:t>8.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b="1" i="1" u="sng" dirty="0" smtClean="0">
                <a:solidFill>
                  <a:srgbClr val="0000FF"/>
                </a:solidFill>
                <a:cs typeface="Times New Roman" pitchFamily="18" charset="0"/>
              </a:rPr>
              <a:t>H</a:t>
            </a:r>
            <a:r>
              <a:rPr lang="zh-CN" altLang="en-US" sz="2800" b="1" i="1" u="sng" dirty="0" smtClean="0">
                <a:solidFill>
                  <a:srgbClr val="0000FF"/>
                </a:solidFill>
                <a:cs typeface="Times New Roman" pitchFamily="18" charset="0"/>
              </a:rPr>
              <a:t>在</a:t>
            </a:r>
            <a:r>
              <a:rPr lang="en-US" altLang="zh-CN" sz="2800" b="1" i="1" u="sng" dirty="0" smtClean="0">
                <a:solidFill>
                  <a:srgbClr val="0000FF"/>
                </a:solidFill>
                <a:cs typeface="Times New Roman" pitchFamily="18" charset="0"/>
              </a:rPr>
              <a:t>G</a:t>
            </a:r>
            <a:r>
              <a:rPr lang="zh-CN" altLang="en-US" sz="2800" b="1" i="1" u="sng" dirty="0" smtClean="0">
                <a:solidFill>
                  <a:srgbClr val="0000FF"/>
                </a:solidFill>
                <a:cs typeface="Times New Roman" pitchFamily="18" charset="0"/>
              </a:rPr>
              <a:t>中</a:t>
            </a:r>
            <a:r>
              <a:rPr lang="zh-CN" altLang="en-US" sz="2800" b="1" i="1" u="sng" dirty="0" smtClean="0">
                <a:solidFill>
                  <a:srgbClr val="0000FF"/>
                </a:solidFill>
                <a:ea typeface="宋体" pitchFamily="2" charset="-122"/>
              </a:rPr>
              <a:t>指数</a:t>
            </a:r>
            <a:r>
              <a:rPr lang="en-US" altLang="zh-CN" sz="2800" b="1" dirty="0" smtClean="0">
                <a:solidFill>
                  <a:srgbClr val="0000FF"/>
                </a:solidFill>
                <a:ea typeface="宋体" pitchFamily="2" charset="-122"/>
              </a:rPr>
              <a:t>:</a:t>
            </a:r>
            <a:r>
              <a:rPr lang="zh-CN" altLang="en-US" sz="2800" b="1" dirty="0" smtClean="0">
                <a:ea typeface="宋体" pitchFamily="2" charset="-122"/>
                <a:cs typeface="Times New Roman" pitchFamily="18" charset="0"/>
              </a:rPr>
              <a:t>有限群</a:t>
            </a:r>
            <a:r>
              <a:rPr lang="en-US" altLang="zh-CN" sz="2800" b="1" dirty="0" smtClean="0">
                <a:ea typeface="宋体" pitchFamily="2" charset="-122"/>
                <a:cs typeface="Times New Roman" pitchFamily="18" charset="0"/>
              </a:rPr>
              <a:t>G</a:t>
            </a:r>
            <a:r>
              <a:rPr lang="zh-CN" altLang="en-US" sz="2800" b="1" dirty="0" smtClean="0">
                <a:ea typeface="宋体" pitchFamily="2" charset="-122"/>
                <a:cs typeface="Times New Roman" pitchFamily="18" charset="0"/>
              </a:rPr>
              <a:t>的元数除以</a:t>
            </a:r>
            <a:r>
              <a:rPr lang="en-US" altLang="zh-CN" sz="2800" b="1" dirty="0" smtClean="0">
                <a:ea typeface="宋体" pitchFamily="2" charset="-122"/>
                <a:cs typeface="Times New Roman" pitchFamily="18" charset="0"/>
              </a:rPr>
              <a:t>H</a:t>
            </a:r>
            <a:r>
              <a:rPr lang="zh-CN" altLang="en-US" sz="2800" b="1" dirty="0" smtClean="0">
                <a:ea typeface="宋体" pitchFamily="2" charset="-122"/>
                <a:cs typeface="Times New Roman" pitchFamily="18" charset="0"/>
              </a:rPr>
              <a:t>的元数 所得的商记为（</a:t>
            </a:r>
            <a:r>
              <a:rPr lang="en-US" altLang="zh-CN" sz="2800" b="1" dirty="0" smtClean="0">
                <a:ea typeface="宋体" pitchFamily="2" charset="-122"/>
                <a:cs typeface="Times New Roman" pitchFamily="18" charset="0"/>
              </a:rPr>
              <a:t>G：H），</a:t>
            </a:r>
            <a:r>
              <a:rPr lang="zh-CN" altLang="en-US" sz="2800" b="1" dirty="0" smtClean="0">
                <a:ea typeface="宋体" pitchFamily="2" charset="-122"/>
                <a:cs typeface="Times New Roman" pitchFamily="18" charset="0"/>
              </a:rPr>
              <a:t>称作</a:t>
            </a:r>
            <a:r>
              <a:rPr lang="en-US" altLang="zh-CN" sz="2800" b="1" dirty="0" smtClean="0">
                <a:ea typeface="宋体" pitchFamily="2" charset="-122"/>
                <a:cs typeface="Times New Roman" pitchFamily="18" charset="0"/>
              </a:rPr>
              <a:t>H</a:t>
            </a:r>
            <a:r>
              <a:rPr lang="zh-CN" altLang="en-US" sz="2800" b="1" dirty="0" smtClean="0">
                <a:ea typeface="宋体" pitchFamily="2" charset="-122"/>
                <a:cs typeface="Times New Roman" pitchFamily="18" charset="0"/>
              </a:rPr>
              <a:t>在</a:t>
            </a:r>
            <a:r>
              <a:rPr lang="en-US" altLang="zh-CN" sz="2800" b="1" dirty="0" smtClean="0">
                <a:ea typeface="宋体" pitchFamily="2" charset="-122"/>
                <a:cs typeface="Times New Roman" pitchFamily="18" charset="0"/>
              </a:rPr>
              <a:t>G</a:t>
            </a:r>
            <a:r>
              <a:rPr lang="zh-CN" altLang="en-US" sz="2800" b="1" dirty="0" smtClean="0">
                <a:ea typeface="宋体" pitchFamily="2" charset="-122"/>
                <a:cs typeface="Times New Roman" pitchFamily="18" charset="0"/>
              </a:rPr>
              <a:t>中的指数。</a:t>
            </a:r>
            <a:r>
              <a:rPr lang="en-US" altLang="zh-CN" sz="2800" b="1" dirty="0" smtClean="0">
                <a:ea typeface="宋体" pitchFamily="2" charset="-122"/>
                <a:cs typeface="Times New Roman" pitchFamily="18" charset="0"/>
              </a:rPr>
              <a:t> H</a:t>
            </a:r>
            <a:r>
              <a:rPr lang="zh-CN" altLang="en-US" sz="2800" b="1" dirty="0" smtClean="0">
                <a:ea typeface="宋体" pitchFamily="2" charset="-122"/>
                <a:cs typeface="Times New Roman" pitchFamily="18" charset="0"/>
              </a:rPr>
              <a:t>的指数也就是</a:t>
            </a:r>
            <a:r>
              <a:rPr lang="en-US" altLang="zh-CN" sz="2800" b="1" dirty="0" smtClean="0">
                <a:ea typeface="宋体" pitchFamily="2" charset="-122"/>
                <a:cs typeface="Times New Roman" pitchFamily="18" charset="0"/>
              </a:rPr>
              <a:t>H</a:t>
            </a:r>
            <a:r>
              <a:rPr lang="zh-CN" altLang="en-US" sz="2800" b="1" dirty="0" smtClean="0">
                <a:ea typeface="宋体" pitchFamily="2" charset="-122"/>
                <a:cs typeface="Times New Roman" pitchFamily="18" charset="0"/>
              </a:rPr>
              <a:t>的右(左)陪集的个数</a:t>
            </a:r>
            <a:r>
              <a:rPr lang="en-US" altLang="zh-CN" sz="2800" b="1" dirty="0" smtClean="0">
                <a:ea typeface="宋体" pitchFamily="2" charset="-122"/>
                <a:cs typeface="Times New Roman" pitchFamily="18" charset="0"/>
              </a:rPr>
              <a:t>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sz="2800" b="1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0535667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1975" y="836613"/>
            <a:ext cx="8113713" cy="5211762"/>
          </a:xfrm>
        </p:spPr>
        <p:txBody>
          <a:bodyPr/>
          <a:lstStyle/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b="1" dirty="0" smtClean="0">
                <a:solidFill>
                  <a:srgbClr val="0000FF"/>
                </a:solidFill>
                <a:ea typeface="宋体" pitchFamily="2" charset="-122"/>
              </a:rPr>
              <a:t>练习：</a:t>
            </a:r>
            <a:r>
              <a:rPr lang="zh-CN" altLang="zh-CN" sz="2800" b="1" dirty="0" smtClean="0">
                <a:ea typeface="宋体" pitchFamily="2" charset="-122"/>
              </a:rPr>
              <a:t>设</a:t>
            </a:r>
            <a:r>
              <a:rPr lang="en-US" altLang="zh-CN" sz="2800" b="1" dirty="0" smtClean="0">
                <a:ea typeface="宋体" pitchFamily="2" charset="-122"/>
              </a:rPr>
              <a:t>G</a:t>
            </a:r>
            <a:r>
              <a:rPr lang="zh-CN" altLang="zh-CN" sz="2800" b="1" dirty="0" smtClean="0">
                <a:ea typeface="宋体" pitchFamily="2" charset="-122"/>
              </a:rPr>
              <a:t>是群，</a:t>
            </a:r>
            <a:r>
              <a:rPr lang="en-US" altLang="zh-CN" sz="2800" b="1" dirty="0" smtClean="0">
                <a:ea typeface="宋体" pitchFamily="2" charset="-122"/>
              </a:rPr>
              <a:t>G</a:t>
            </a:r>
            <a:r>
              <a:rPr lang="zh-CN" altLang="zh-CN" sz="2800" b="1" dirty="0" smtClean="0">
                <a:ea typeface="宋体" pitchFamily="2" charset="-122"/>
              </a:rPr>
              <a:t>存在非平凡子群，设</a:t>
            </a:r>
            <a:r>
              <a:rPr lang="en-US" altLang="zh-CN" sz="2800" b="1" dirty="0" smtClean="0">
                <a:ea typeface="宋体" pitchFamily="2" charset="-122"/>
              </a:rPr>
              <a:t>H</a:t>
            </a:r>
            <a:r>
              <a:rPr lang="zh-CN" altLang="zh-CN" sz="2800" b="1" dirty="0" smtClean="0">
                <a:ea typeface="宋体" pitchFamily="2" charset="-122"/>
              </a:rPr>
              <a:t>是</a:t>
            </a:r>
            <a:r>
              <a:rPr lang="en-US" altLang="zh-CN" sz="2800" b="1" dirty="0" smtClean="0">
                <a:ea typeface="宋体" pitchFamily="2" charset="-122"/>
              </a:rPr>
              <a:t>G</a:t>
            </a:r>
            <a:r>
              <a:rPr lang="zh-CN" altLang="zh-CN" sz="2800" b="1" dirty="0" smtClean="0">
                <a:ea typeface="宋体" pitchFamily="2" charset="-122"/>
              </a:rPr>
              <a:t>中所有非平凡子群的</a:t>
            </a:r>
            <a:r>
              <a:rPr lang="zh-CN" altLang="zh-CN" sz="2800" b="1" dirty="0" smtClean="0">
                <a:solidFill>
                  <a:srgbClr val="0000FF"/>
                </a:solidFill>
                <a:ea typeface="宋体" pitchFamily="2" charset="-122"/>
              </a:rPr>
              <a:t>交集</a:t>
            </a:r>
            <a:r>
              <a:rPr lang="zh-CN" altLang="zh-CN" sz="2800" b="1" dirty="0" smtClean="0">
                <a:ea typeface="宋体" pitchFamily="2" charset="-122"/>
              </a:rPr>
              <a:t>且</a:t>
            </a:r>
            <a:r>
              <a:rPr lang="en-US" altLang="zh-CN" sz="2800" b="1" dirty="0" smtClean="0">
                <a:ea typeface="宋体" pitchFamily="2" charset="-122"/>
              </a:rPr>
              <a:t>H</a:t>
            </a:r>
            <a:r>
              <a:rPr lang="zh-CN" altLang="zh-CN" sz="2800" b="1" dirty="0" smtClean="0">
                <a:ea typeface="宋体" pitchFamily="2" charset="-122"/>
              </a:rPr>
              <a:t>≠</a:t>
            </a:r>
            <a:r>
              <a:rPr lang="en-US" altLang="zh-CN" sz="2800" b="1" dirty="0" smtClean="0">
                <a:ea typeface="宋体" pitchFamily="2" charset="-122"/>
              </a:rPr>
              <a:t>{1}</a:t>
            </a:r>
            <a:r>
              <a:rPr lang="zh-CN" altLang="zh-CN" sz="2800" b="1" dirty="0" smtClean="0">
                <a:ea typeface="宋体" pitchFamily="2" charset="-122"/>
              </a:rPr>
              <a:t>，</a:t>
            </a:r>
            <a:r>
              <a:rPr lang="en-US" altLang="zh-CN" sz="2800" b="1" dirty="0" smtClean="0">
                <a:ea typeface="宋体" pitchFamily="2" charset="-122"/>
              </a:rPr>
              <a:t>1</a:t>
            </a:r>
            <a:r>
              <a:rPr lang="zh-CN" altLang="zh-CN" sz="2800" b="1" dirty="0" smtClean="0">
                <a:ea typeface="宋体" pitchFamily="2" charset="-122"/>
              </a:rPr>
              <a:t>是群</a:t>
            </a:r>
            <a:r>
              <a:rPr lang="en-US" altLang="zh-CN" sz="2800" b="1" dirty="0" smtClean="0">
                <a:ea typeface="宋体" pitchFamily="2" charset="-122"/>
              </a:rPr>
              <a:t>G</a:t>
            </a:r>
            <a:r>
              <a:rPr lang="zh-CN" altLang="zh-CN" sz="2800" b="1" dirty="0" smtClean="0">
                <a:ea typeface="宋体" pitchFamily="2" charset="-122"/>
              </a:rPr>
              <a:t>的单位元，证明：</a:t>
            </a:r>
            <a:endParaRPr lang="zh-CN" altLang="zh-CN" sz="2800" dirty="0" smtClean="0">
              <a:ea typeface="宋体" pitchFamily="2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>
                <a:ea typeface="宋体" pitchFamily="2" charset="-122"/>
              </a:rPr>
              <a:t>	</a:t>
            </a:r>
            <a:r>
              <a:rPr lang="zh-CN" altLang="zh-CN" sz="2800" b="1" dirty="0" smtClean="0">
                <a:ea typeface="宋体" pitchFamily="2" charset="-122"/>
              </a:rPr>
              <a:t>（</a:t>
            </a:r>
            <a:r>
              <a:rPr lang="en-US" altLang="zh-CN" sz="2800" b="1" dirty="0" smtClean="0">
                <a:ea typeface="宋体" pitchFamily="2" charset="-122"/>
              </a:rPr>
              <a:t>1</a:t>
            </a:r>
            <a:r>
              <a:rPr lang="zh-CN" altLang="zh-CN" sz="2800" b="1" dirty="0" smtClean="0">
                <a:ea typeface="宋体" pitchFamily="2" charset="-122"/>
              </a:rPr>
              <a:t>）</a:t>
            </a:r>
            <a:r>
              <a:rPr lang="en-US" altLang="zh-CN" sz="2800" b="1" dirty="0" smtClean="0">
                <a:ea typeface="宋体" pitchFamily="2" charset="-122"/>
              </a:rPr>
              <a:t>H</a:t>
            </a:r>
            <a:r>
              <a:rPr lang="zh-CN" altLang="zh-CN" sz="2800" b="1" dirty="0" smtClean="0">
                <a:ea typeface="宋体" pitchFamily="2" charset="-122"/>
              </a:rPr>
              <a:t>是</a:t>
            </a:r>
            <a:r>
              <a:rPr lang="en-US" altLang="zh-CN" sz="2800" b="1" dirty="0" smtClean="0">
                <a:ea typeface="宋体" pitchFamily="2" charset="-122"/>
              </a:rPr>
              <a:t>G</a:t>
            </a:r>
            <a:r>
              <a:rPr lang="zh-CN" altLang="zh-CN" sz="2800" b="1" dirty="0" smtClean="0">
                <a:ea typeface="宋体" pitchFamily="2" charset="-122"/>
              </a:rPr>
              <a:t>的子群；</a:t>
            </a:r>
            <a:endParaRPr lang="zh-CN" altLang="zh-CN" sz="2800" dirty="0" smtClean="0">
              <a:ea typeface="宋体" pitchFamily="2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>
                <a:ea typeface="宋体" pitchFamily="2" charset="-122"/>
              </a:rPr>
              <a:t>	</a:t>
            </a:r>
            <a:r>
              <a:rPr lang="zh-CN" altLang="zh-CN" sz="2800" b="1" dirty="0" smtClean="0">
                <a:ea typeface="宋体" pitchFamily="2" charset="-122"/>
              </a:rPr>
              <a:t>（</a:t>
            </a:r>
            <a:r>
              <a:rPr lang="en-US" altLang="zh-CN" sz="2800" b="1" dirty="0" smtClean="0">
                <a:ea typeface="宋体" pitchFamily="2" charset="-122"/>
              </a:rPr>
              <a:t>2</a:t>
            </a:r>
            <a:r>
              <a:rPr lang="zh-CN" altLang="zh-CN" sz="2800" b="1" dirty="0" smtClean="0">
                <a:ea typeface="宋体" pitchFamily="2" charset="-122"/>
              </a:rPr>
              <a:t>）</a:t>
            </a:r>
            <a:r>
              <a:rPr lang="en-US" altLang="zh-CN" sz="2800" b="1" dirty="0" smtClean="0">
                <a:ea typeface="宋体" pitchFamily="2" charset="-122"/>
              </a:rPr>
              <a:t>H</a:t>
            </a:r>
            <a:r>
              <a:rPr lang="zh-CN" altLang="zh-CN" sz="2800" b="1" dirty="0" smtClean="0">
                <a:ea typeface="宋体" pitchFamily="2" charset="-122"/>
              </a:rPr>
              <a:t>中每个元素的周期都有限；</a:t>
            </a:r>
            <a:endParaRPr lang="zh-CN" altLang="zh-CN" sz="2800" dirty="0" smtClean="0">
              <a:ea typeface="宋体" pitchFamily="2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>
                <a:ea typeface="宋体" pitchFamily="2" charset="-122"/>
              </a:rPr>
              <a:t>	</a:t>
            </a:r>
            <a:r>
              <a:rPr lang="zh-CN" altLang="zh-CN" sz="2800" b="1" dirty="0" smtClean="0">
                <a:ea typeface="宋体" pitchFamily="2" charset="-122"/>
              </a:rPr>
              <a:t>（</a:t>
            </a:r>
            <a:r>
              <a:rPr lang="en-US" altLang="zh-CN" sz="2800" b="1" dirty="0" smtClean="0">
                <a:ea typeface="宋体" pitchFamily="2" charset="-122"/>
              </a:rPr>
              <a:t>3</a:t>
            </a:r>
            <a:r>
              <a:rPr lang="zh-CN" altLang="zh-CN" sz="2800" b="1" dirty="0" smtClean="0">
                <a:ea typeface="宋体" pitchFamily="2" charset="-122"/>
              </a:rPr>
              <a:t>）</a:t>
            </a:r>
            <a:r>
              <a:rPr lang="en-US" altLang="zh-CN" sz="2800" b="1" dirty="0" smtClean="0">
                <a:ea typeface="宋体" pitchFamily="2" charset="-122"/>
              </a:rPr>
              <a:t>H</a:t>
            </a:r>
            <a:r>
              <a:rPr lang="zh-CN" altLang="zh-CN" sz="2800" b="1" dirty="0" smtClean="0">
                <a:ea typeface="宋体" pitchFamily="2" charset="-122"/>
              </a:rPr>
              <a:t>是一个循环群，且</a:t>
            </a:r>
            <a:r>
              <a:rPr lang="en-US" altLang="zh-CN" sz="2800" b="1" dirty="0" smtClean="0">
                <a:ea typeface="宋体" pitchFamily="2" charset="-122"/>
              </a:rPr>
              <a:t>|H|</a:t>
            </a:r>
            <a:r>
              <a:rPr lang="zh-CN" altLang="zh-CN" sz="2800" b="1" dirty="0" smtClean="0">
                <a:ea typeface="宋体" pitchFamily="2" charset="-122"/>
              </a:rPr>
              <a:t>为质数。</a:t>
            </a:r>
            <a:endParaRPr lang="en-US" altLang="zh-CN" sz="2800" b="1" dirty="0" smtClean="0">
              <a:ea typeface="宋体" pitchFamily="2" charset="-122"/>
            </a:endParaRPr>
          </a:p>
          <a:p>
            <a:pPr marL="0" indent="0">
              <a:defRPr/>
            </a:pPr>
            <a:r>
              <a:rPr lang="en-US" altLang="zh-CN" sz="2800" dirty="0" smtClean="0">
                <a:solidFill>
                  <a:srgbClr val="0000FF"/>
                </a:solidFill>
              </a:rPr>
              <a:t>(1)</a:t>
            </a:r>
            <a:r>
              <a:rPr lang="zh-CN" altLang="en-US" sz="2800" b="1" dirty="0" smtClean="0">
                <a:solidFill>
                  <a:srgbClr val="0000FF"/>
                </a:solidFill>
                <a:ea typeface="宋体" pitchFamily="2" charset="-122"/>
              </a:rPr>
              <a:t>证明：</a:t>
            </a:r>
            <a:r>
              <a:rPr lang="en-US" altLang="zh-CN" sz="2800" dirty="0" smtClean="0"/>
              <a:t/>
            </a:r>
            <a:br>
              <a:rPr lang="en-US" altLang="zh-CN" sz="2800" dirty="0" smtClean="0"/>
            </a:br>
            <a:r>
              <a:rPr lang="zh-CN" altLang="zh-CN" sz="2800" b="1" dirty="0" smtClean="0"/>
              <a:t>①</a:t>
            </a:r>
            <a:r>
              <a:rPr lang="zh-CN" altLang="zh-CN" sz="2800" b="1" dirty="0" smtClean="0">
                <a:ea typeface="宋体" pitchFamily="2" charset="-122"/>
              </a:rPr>
              <a:t>由于所有子群都包含</a:t>
            </a:r>
            <a:r>
              <a:rPr lang="en-US" altLang="zh-CN" sz="2800" b="1" dirty="0" smtClean="0">
                <a:ea typeface="宋体" pitchFamily="2" charset="-122"/>
              </a:rPr>
              <a:t>1</a:t>
            </a:r>
            <a:r>
              <a:rPr lang="zh-CN" altLang="zh-CN" sz="2800" b="1" dirty="0" smtClean="0">
                <a:ea typeface="宋体" pitchFamily="2" charset="-122"/>
              </a:rPr>
              <a:t>，所以</a:t>
            </a:r>
            <a:r>
              <a:rPr lang="en-US" altLang="zh-CN" sz="2800" b="1" dirty="0" smtClean="0">
                <a:ea typeface="宋体" pitchFamily="2" charset="-122"/>
              </a:rPr>
              <a:t>1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</a:t>
            </a:r>
            <a:r>
              <a:rPr lang="en-US" altLang="zh-CN" sz="2800" b="1" dirty="0" smtClean="0">
                <a:ea typeface="宋体" pitchFamily="2" charset="-122"/>
              </a:rPr>
              <a:t>H</a:t>
            </a:r>
            <a:r>
              <a:rPr lang="zh-CN" altLang="zh-CN" sz="2800" b="1" dirty="0" smtClean="0">
                <a:ea typeface="宋体" pitchFamily="2" charset="-122"/>
              </a:rPr>
              <a:t>，故</a:t>
            </a:r>
            <a:r>
              <a:rPr lang="en-US" altLang="zh-CN" sz="2800" b="1" dirty="0" smtClean="0">
                <a:ea typeface="宋体" pitchFamily="2" charset="-122"/>
              </a:rPr>
              <a:t>H</a:t>
            </a:r>
            <a:r>
              <a:rPr lang="zh-CN" altLang="zh-CN" sz="2800" b="1" dirty="0" smtClean="0">
                <a:ea typeface="宋体" pitchFamily="2" charset="-122"/>
              </a:rPr>
              <a:t>非空；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zh-CN" sz="2800" b="1" dirty="0" smtClean="0">
                <a:ea typeface="宋体" pitchFamily="2" charset="-122"/>
              </a:rPr>
              <a:t>②对于任意</a:t>
            </a:r>
            <a:r>
              <a:rPr lang="en-US" altLang="zh-CN" sz="2800" b="1" dirty="0" smtClean="0">
                <a:ea typeface="宋体" pitchFamily="2" charset="-122"/>
              </a:rPr>
              <a:t>a</a:t>
            </a:r>
            <a:r>
              <a:rPr lang="zh-CN" altLang="zh-CN" sz="2800" b="1" dirty="0" smtClean="0">
                <a:ea typeface="宋体" pitchFamily="2" charset="-122"/>
              </a:rPr>
              <a:t>、</a:t>
            </a:r>
            <a:r>
              <a:rPr lang="en-US" altLang="zh-CN" sz="2800" b="1" dirty="0" err="1" smtClean="0">
                <a:ea typeface="宋体" pitchFamily="2" charset="-122"/>
              </a:rPr>
              <a:t>b</a:t>
            </a:r>
            <a:r>
              <a:rPr lang="en-US" altLang="zh-CN" sz="2800" b="1" dirty="0" err="1" smtClean="0">
                <a:ea typeface="宋体" pitchFamily="2" charset="-122"/>
                <a:sym typeface="Symbol"/>
              </a:rPr>
              <a:t></a:t>
            </a:r>
            <a:r>
              <a:rPr lang="en-US" altLang="zh-CN" sz="2800" b="1" dirty="0" err="1" smtClean="0">
                <a:ea typeface="宋体" pitchFamily="2" charset="-122"/>
              </a:rPr>
              <a:t>H</a:t>
            </a:r>
            <a:r>
              <a:rPr lang="zh-CN" altLang="zh-CN" sz="2800" b="1" dirty="0" smtClean="0">
                <a:ea typeface="宋体" pitchFamily="2" charset="-122"/>
              </a:rPr>
              <a:t>，则有</a:t>
            </a:r>
            <a:r>
              <a:rPr lang="en-US" altLang="zh-CN" sz="2800" b="1" dirty="0" smtClean="0">
                <a:ea typeface="宋体" pitchFamily="2" charset="-122"/>
              </a:rPr>
              <a:t>a</a:t>
            </a:r>
            <a:r>
              <a:rPr lang="zh-CN" altLang="zh-CN" sz="2800" b="1" dirty="0" smtClean="0">
                <a:ea typeface="宋体" pitchFamily="2" charset="-122"/>
              </a:rPr>
              <a:t>、</a:t>
            </a:r>
            <a:r>
              <a:rPr lang="en-US" altLang="zh-CN" sz="2800" b="1" dirty="0" smtClean="0">
                <a:ea typeface="宋体" pitchFamily="2" charset="-122"/>
              </a:rPr>
              <a:t>b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</a:t>
            </a:r>
            <a:r>
              <a:rPr lang="zh-CN" altLang="zh-CN" sz="2800" b="1" dirty="0" smtClean="0">
                <a:ea typeface="宋体" pitchFamily="2" charset="-122"/>
              </a:rPr>
              <a:t>每一个子群，故每一个子群中都有</a:t>
            </a:r>
            <a:r>
              <a:rPr lang="en-US" altLang="zh-CN" sz="2800" b="1" dirty="0" smtClean="0">
                <a:ea typeface="宋体" pitchFamily="2" charset="-122"/>
              </a:rPr>
              <a:t>b</a:t>
            </a:r>
            <a:r>
              <a:rPr lang="en-US" altLang="zh-CN" sz="2800" b="1" baseline="30000" dirty="0" smtClean="0">
                <a:ea typeface="宋体" pitchFamily="2" charset="-122"/>
              </a:rPr>
              <a:t>-1</a:t>
            </a:r>
            <a:r>
              <a:rPr lang="zh-CN" altLang="zh-CN" sz="2800" b="1" dirty="0" smtClean="0">
                <a:ea typeface="宋体" pitchFamily="2" charset="-122"/>
              </a:rPr>
              <a:t>，所以每一个子群中都有</a:t>
            </a:r>
            <a:r>
              <a:rPr lang="en-US" altLang="zh-CN" sz="2800" b="1" dirty="0" smtClean="0">
                <a:ea typeface="宋体" pitchFamily="2" charset="-122"/>
              </a:rPr>
              <a:t>   ab</a:t>
            </a:r>
            <a:r>
              <a:rPr lang="en-US" altLang="zh-CN" sz="2800" b="1" baseline="30000" dirty="0" smtClean="0">
                <a:ea typeface="宋体" pitchFamily="2" charset="-122"/>
              </a:rPr>
              <a:t>-1</a:t>
            </a:r>
            <a:r>
              <a:rPr lang="zh-CN" altLang="zh-CN" sz="2800" b="1" dirty="0" smtClean="0">
                <a:ea typeface="宋体" pitchFamily="2" charset="-122"/>
              </a:rPr>
              <a:t>，所以</a:t>
            </a:r>
            <a:r>
              <a:rPr lang="en-US" altLang="zh-CN" sz="2800" b="1" dirty="0" smtClean="0">
                <a:ea typeface="宋体" pitchFamily="2" charset="-122"/>
              </a:rPr>
              <a:t>ab</a:t>
            </a:r>
            <a:r>
              <a:rPr lang="en-US" altLang="zh-CN" sz="2800" b="1" baseline="30000" dirty="0" smtClean="0">
                <a:ea typeface="宋体" pitchFamily="2" charset="-122"/>
              </a:rPr>
              <a:t>-1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</a:t>
            </a:r>
            <a:r>
              <a:rPr lang="en-US" altLang="zh-CN" sz="2800" b="1" dirty="0" smtClean="0">
                <a:ea typeface="宋体" pitchFamily="2" charset="-122"/>
              </a:rPr>
              <a:t>H</a:t>
            </a:r>
            <a:r>
              <a:rPr lang="zh-CN" altLang="zh-CN" sz="2800" b="1" dirty="0" smtClean="0">
                <a:ea typeface="宋体" pitchFamily="2" charset="-122"/>
              </a:rPr>
              <a:t>。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zh-CN" sz="2800" b="1" dirty="0" smtClean="0">
              <a:solidFill>
                <a:srgbClr val="0000FF"/>
              </a:solidFill>
              <a:ea typeface="宋体" pitchFamily="2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endParaRPr lang="zh-CN" altLang="zh-CN" sz="2800" dirty="0" smtClean="0">
              <a:ea typeface="宋体" pitchFamily="2" charset="-122"/>
            </a:endParaRPr>
          </a:p>
          <a:p>
            <a:pPr>
              <a:defRPr/>
            </a:pPr>
            <a:endParaRPr lang="zh-CN" altLang="en-US" dirty="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4608497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0" y="692150"/>
            <a:ext cx="8113713" cy="5140325"/>
          </a:xfrm>
        </p:spPr>
        <p:txBody>
          <a:bodyPr/>
          <a:lstStyle/>
          <a:p>
            <a:pPr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zh-CN" sz="2800" b="1" dirty="0" smtClean="0">
                <a:solidFill>
                  <a:srgbClr val="0000FF"/>
                </a:solidFill>
                <a:ea typeface="宋体" pitchFamily="2" charset="-122"/>
              </a:rPr>
              <a:t>（</a:t>
            </a:r>
            <a:r>
              <a:rPr lang="en-US" altLang="zh-CN" sz="2800" b="1" dirty="0" smtClean="0">
                <a:solidFill>
                  <a:srgbClr val="0000FF"/>
                </a:solidFill>
                <a:ea typeface="宋体" pitchFamily="2" charset="-122"/>
              </a:rPr>
              <a:t>2</a:t>
            </a:r>
            <a:r>
              <a:rPr lang="zh-CN" altLang="zh-CN" sz="2800" b="1" dirty="0" smtClean="0">
                <a:solidFill>
                  <a:srgbClr val="0000FF"/>
                </a:solidFill>
                <a:ea typeface="宋体" pitchFamily="2" charset="-122"/>
              </a:rPr>
              <a:t>）</a:t>
            </a:r>
            <a:r>
              <a:rPr lang="en-US" altLang="zh-CN" sz="2800" b="1" dirty="0" smtClean="0">
                <a:solidFill>
                  <a:srgbClr val="0000FF"/>
                </a:solidFill>
                <a:ea typeface="宋体" pitchFamily="2" charset="-122"/>
              </a:rPr>
              <a:t>H</a:t>
            </a:r>
            <a:r>
              <a:rPr lang="zh-CN" altLang="zh-CN" sz="2800" b="1" dirty="0" smtClean="0">
                <a:solidFill>
                  <a:srgbClr val="0000FF"/>
                </a:solidFill>
                <a:ea typeface="宋体" pitchFamily="2" charset="-122"/>
              </a:rPr>
              <a:t>中每个元素的周期都有限；</a:t>
            </a:r>
            <a:endParaRPr lang="en-US" altLang="zh-CN" sz="2800" b="1" dirty="0" smtClean="0">
              <a:solidFill>
                <a:srgbClr val="0000FF"/>
              </a:solidFill>
            </a:endParaRP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zh-CN" sz="2800" b="1" dirty="0" smtClean="0">
                <a:solidFill>
                  <a:srgbClr val="0000FF"/>
                </a:solidFill>
                <a:ea typeface="宋体" pitchFamily="2" charset="-122"/>
              </a:rPr>
              <a:t>证明：</a:t>
            </a:r>
            <a:r>
              <a:rPr lang="zh-CN" altLang="zh-CN" sz="2800" b="1" dirty="0" smtClean="0">
                <a:ea typeface="宋体" pitchFamily="2" charset="-122"/>
              </a:rPr>
              <a:t>反证法，假设存在</a:t>
            </a:r>
            <a:r>
              <a:rPr lang="en-US" altLang="zh-CN" sz="2800" b="1" dirty="0" smtClean="0">
                <a:ea typeface="宋体" pitchFamily="2" charset="-122"/>
              </a:rPr>
              <a:t>a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</a:t>
            </a:r>
            <a:r>
              <a:rPr lang="en-US" altLang="zh-CN" sz="2800" b="1" dirty="0" smtClean="0">
                <a:ea typeface="宋体" pitchFamily="2" charset="-122"/>
              </a:rPr>
              <a:t>H</a:t>
            </a:r>
            <a:r>
              <a:rPr lang="zh-CN" altLang="zh-CN" sz="2800" b="1" dirty="0" smtClean="0">
                <a:ea typeface="宋体" pitchFamily="2" charset="-122"/>
              </a:rPr>
              <a:t>，</a:t>
            </a:r>
            <a:r>
              <a:rPr lang="en-US" altLang="zh-CN" sz="2800" b="1" dirty="0" smtClean="0">
                <a:ea typeface="宋体" pitchFamily="2" charset="-122"/>
              </a:rPr>
              <a:t>a</a:t>
            </a:r>
            <a:r>
              <a:rPr lang="zh-CN" altLang="zh-CN" sz="2800" b="1" dirty="0" smtClean="0">
                <a:ea typeface="宋体" pitchFamily="2" charset="-122"/>
              </a:rPr>
              <a:t>的周期为</a:t>
            </a:r>
            <a:r>
              <a:rPr lang="en-US" altLang="zh-CN" sz="2800" b="1" dirty="0" smtClean="0">
                <a:ea typeface="宋体" pitchFamily="2" charset="-122"/>
              </a:rPr>
              <a:t>0</a:t>
            </a:r>
            <a:r>
              <a:rPr lang="zh-CN" altLang="zh-CN" sz="2800" b="1" dirty="0" smtClean="0">
                <a:ea typeface="宋体" pitchFamily="2" charset="-122"/>
              </a:rPr>
              <a:t>，</a:t>
            </a:r>
            <a:endParaRPr lang="en-US" altLang="zh-CN" sz="2800" b="1" dirty="0" smtClean="0">
              <a:ea typeface="宋体" pitchFamily="2" charset="-122"/>
            </a:endParaRP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zh-CN" sz="2800" b="1" dirty="0" smtClean="0">
                <a:ea typeface="宋体" pitchFamily="2" charset="-122"/>
              </a:rPr>
              <a:t>则</a:t>
            </a:r>
            <a:r>
              <a:rPr lang="en-US" altLang="zh-CN" sz="2800" b="1" dirty="0" smtClean="0">
                <a:ea typeface="宋体" pitchFamily="2" charset="-122"/>
              </a:rPr>
              <a:t>H={</a:t>
            </a:r>
            <a:r>
              <a:rPr lang="zh-CN" altLang="zh-CN" sz="2800" b="1" dirty="0" smtClean="0">
                <a:ea typeface="宋体" pitchFamily="2" charset="-122"/>
              </a:rPr>
              <a:t>…</a:t>
            </a:r>
            <a:r>
              <a:rPr lang="en-US" altLang="zh-CN" sz="2800" b="1" dirty="0" smtClean="0">
                <a:ea typeface="宋体" pitchFamily="2" charset="-122"/>
              </a:rPr>
              <a:t>a</a:t>
            </a:r>
            <a:r>
              <a:rPr lang="en-US" altLang="zh-CN" sz="2800" b="1" baseline="30000" dirty="0" smtClean="0">
                <a:ea typeface="宋体" pitchFamily="2" charset="-122"/>
              </a:rPr>
              <a:t>-4</a:t>
            </a:r>
            <a:r>
              <a:rPr lang="en-US" altLang="zh-CN" sz="2800" b="1" dirty="0" smtClean="0">
                <a:ea typeface="宋体" pitchFamily="2" charset="-122"/>
              </a:rPr>
              <a:t>, a</a:t>
            </a:r>
            <a:r>
              <a:rPr lang="en-US" altLang="zh-CN" sz="2800" b="1" baseline="30000" dirty="0" smtClean="0">
                <a:ea typeface="宋体" pitchFamily="2" charset="-122"/>
              </a:rPr>
              <a:t>-3</a:t>
            </a:r>
            <a:r>
              <a:rPr lang="en-US" altLang="zh-CN" sz="2800" b="1" dirty="0" smtClean="0">
                <a:ea typeface="宋体" pitchFamily="2" charset="-122"/>
              </a:rPr>
              <a:t> , a</a:t>
            </a:r>
            <a:r>
              <a:rPr lang="en-US" altLang="zh-CN" sz="2800" b="1" baseline="30000" dirty="0" smtClean="0">
                <a:ea typeface="宋体" pitchFamily="2" charset="-122"/>
              </a:rPr>
              <a:t>-1</a:t>
            </a:r>
            <a:r>
              <a:rPr lang="zh-CN" altLang="zh-CN" sz="2800" b="1" dirty="0" smtClean="0">
                <a:ea typeface="宋体" pitchFamily="2" charset="-122"/>
              </a:rPr>
              <a:t>，</a:t>
            </a:r>
            <a:r>
              <a:rPr lang="en-US" altLang="zh-CN" sz="2800" b="1" dirty="0" smtClean="0">
                <a:ea typeface="宋体" pitchFamily="2" charset="-122"/>
              </a:rPr>
              <a:t>a</a:t>
            </a:r>
            <a:r>
              <a:rPr lang="en-US" altLang="zh-CN" sz="2800" b="1" baseline="30000" dirty="0" smtClean="0">
                <a:ea typeface="宋体" pitchFamily="2" charset="-122"/>
              </a:rPr>
              <a:t>0</a:t>
            </a:r>
            <a:r>
              <a:rPr lang="zh-CN" altLang="zh-CN" sz="2800" b="1" dirty="0" smtClean="0">
                <a:ea typeface="宋体" pitchFamily="2" charset="-122"/>
              </a:rPr>
              <a:t>，</a:t>
            </a:r>
            <a:r>
              <a:rPr lang="en-US" altLang="zh-CN" sz="2800" b="1" dirty="0" smtClean="0">
                <a:ea typeface="宋体" pitchFamily="2" charset="-122"/>
              </a:rPr>
              <a:t> a</a:t>
            </a:r>
            <a:r>
              <a:rPr lang="en-US" altLang="zh-CN" sz="2800" b="1" baseline="30000" dirty="0" smtClean="0">
                <a:ea typeface="宋体" pitchFamily="2" charset="-122"/>
              </a:rPr>
              <a:t>1</a:t>
            </a:r>
            <a:r>
              <a:rPr lang="en-US" altLang="zh-CN" sz="2800" b="1" dirty="0" smtClean="0">
                <a:ea typeface="宋体" pitchFamily="2" charset="-122"/>
              </a:rPr>
              <a:t> ,</a:t>
            </a:r>
            <a:r>
              <a:rPr lang="en-US" altLang="zh-CN" sz="2800" b="1" baseline="30000" dirty="0" smtClean="0">
                <a:ea typeface="宋体" pitchFamily="2" charset="-122"/>
              </a:rPr>
              <a:t> </a:t>
            </a:r>
            <a:r>
              <a:rPr lang="en-US" altLang="zh-CN" sz="2800" b="1" dirty="0" smtClean="0">
                <a:ea typeface="宋体" pitchFamily="2" charset="-122"/>
              </a:rPr>
              <a:t>a</a:t>
            </a:r>
            <a:r>
              <a:rPr lang="en-US" altLang="zh-CN" sz="2800" b="1" baseline="30000" dirty="0" smtClean="0">
                <a:ea typeface="宋体" pitchFamily="2" charset="-122"/>
              </a:rPr>
              <a:t>2</a:t>
            </a:r>
            <a:r>
              <a:rPr lang="zh-CN" altLang="zh-CN" sz="2800" b="1" dirty="0" smtClean="0">
                <a:ea typeface="宋体" pitchFamily="2" charset="-122"/>
              </a:rPr>
              <a:t>，</a:t>
            </a:r>
            <a:r>
              <a:rPr lang="en-US" altLang="zh-CN" sz="2800" b="1" dirty="0" smtClean="0">
                <a:ea typeface="宋体" pitchFamily="2" charset="-122"/>
              </a:rPr>
              <a:t> a</a:t>
            </a:r>
            <a:r>
              <a:rPr lang="en-US" altLang="zh-CN" sz="2800" b="1" baseline="30000" dirty="0" smtClean="0">
                <a:ea typeface="宋体" pitchFamily="2" charset="-122"/>
              </a:rPr>
              <a:t>3 </a:t>
            </a:r>
            <a:r>
              <a:rPr lang="en-US" altLang="zh-CN" sz="2800" b="1" dirty="0" smtClean="0">
                <a:ea typeface="宋体" pitchFamily="2" charset="-122"/>
              </a:rPr>
              <a:t>,</a:t>
            </a:r>
            <a:r>
              <a:rPr lang="en-US" altLang="zh-CN" sz="2800" b="1" baseline="30000" dirty="0" smtClean="0">
                <a:ea typeface="宋体" pitchFamily="2" charset="-122"/>
              </a:rPr>
              <a:t> </a:t>
            </a:r>
            <a:r>
              <a:rPr lang="en-US" altLang="zh-CN" sz="2800" b="1" dirty="0" smtClean="0">
                <a:ea typeface="宋体" pitchFamily="2" charset="-122"/>
              </a:rPr>
              <a:t>a</a:t>
            </a:r>
            <a:r>
              <a:rPr lang="en-US" altLang="zh-CN" sz="2800" b="1" baseline="30000" dirty="0" smtClean="0">
                <a:ea typeface="宋体" pitchFamily="2" charset="-122"/>
              </a:rPr>
              <a:t>4</a:t>
            </a:r>
            <a:r>
              <a:rPr lang="zh-CN" altLang="zh-CN" sz="2800" b="1" dirty="0" smtClean="0">
                <a:ea typeface="宋体" pitchFamily="2" charset="-122"/>
              </a:rPr>
              <a:t>，…</a:t>
            </a:r>
            <a:r>
              <a:rPr lang="en-US" altLang="zh-CN" sz="2800" b="1" dirty="0" smtClean="0">
                <a:ea typeface="宋体" pitchFamily="2" charset="-122"/>
              </a:rPr>
              <a:t>},</a:t>
            </a:r>
            <a:r>
              <a:rPr lang="zh-CN" altLang="en-US" sz="2800" b="1" dirty="0" smtClean="0">
                <a:ea typeface="宋体" pitchFamily="2" charset="-122"/>
              </a:rPr>
              <a:t>从而</a:t>
            </a:r>
            <a:endParaRPr lang="en-US" altLang="zh-CN" sz="2800" b="1" dirty="0" smtClean="0">
              <a:ea typeface="宋体" pitchFamily="2" charset="-122"/>
            </a:endParaRP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zh-CN" sz="2800" b="1" dirty="0" smtClean="0">
                <a:ea typeface="宋体" pitchFamily="2" charset="-122"/>
              </a:rPr>
              <a:t>得到</a:t>
            </a:r>
            <a:r>
              <a:rPr lang="en-US" altLang="zh-CN" sz="2800" b="1" dirty="0" smtClean="0">
                <a:ea typeface="宋体" pitchFamily="2" charset="-122"/>
              </a:rPr>
              <a:t>H’={</a:t>
            </a:r>
            <a:r>
              <a:rPr lang="zh-CN" altLang="zh-CN" sz="2800" b="1" dirty="0" smtClean="0">
                <a:ea typeface="宋体" pitchFamily="2" charset="-122"/>
              </a:rPr>
              <a:t>…</a:t>
            </a:r>
            <a:r>
              <a:rPr lang="en-US" altLang="zh-CN" sz="2800" b="1" dirty="0" smtClean="0">
                <a:ea typeface="宋体" pitchFamily="2" charset="-122"/>
              </a:rPr>
              <a:t>a</a:t>
            </a:r>
            <a:r>
              <a:rPr lang="en-US" altLang="zh-CN" sz="2800" b="1" baseline="30000" dirty="0" smtClean="0">
                <a:ea typeface="宋体" pitchFamily="2" charset="-122"/>
              </a:rPr>
              <a:t>-4</a:t>
            </a:r>
            <a:r>
              <a:rPr lang="zh-CN" altLang="zh-CN" sz="2800" b="1" dirty="0" smtClean="0">
                <a:ea typeface="宋体" pitchFamily="2" charset="-122"/>
              </a:rPr>
              <a:t>，</a:t>
            </a:r>
            <a:r>
              <a:rPr lang="en-US" altLang="zh-CN" sz="2800" b="1" dirty="0" smtClean="0">
                <a:ea typeface="宋体" pitchFamily="2" charset="-122"/>
              </a:rPr>
              <a:t>a-</a:t>
            </a:r>
            <a:r>
              <a:rPr lang="en-US" altLang="zh-CN" sz="2800" b="1" baseline="30000" dirty="0" smtClean="0">
                <a:ea typeface="宋体" pitchFamily="2" charset="-122"/>
              </a:rPr>
              <a:t>2</a:t>
            </a:r>
            <a:r>
              <a:rPr lang="zh-CN" altLang="zh-CN" sz="2800" b="1" dirty="0" smtClean="0">
                <a:ea typeface="宋体" pitchFamily="2" charset="-122"/>
              </a:rPr>
              <a:t>，</a:t>
            </a:r>
            <a:r>
              <a:rPr lang="en-US" altLang="zh-CN" sz="2800" b="1" dirty="0">
                <a:ea typeface="宋体" pitchFamily="2" charset="-122"/>
              </a:rPr>
              <a:t> </a:t>
            </a:r>
            <a:r>
              <a:rPr lang="en-US" altLang="zh-CN" sz="2800" b="1" dirty="0"/>
              <a:t>(</a:t>
            </a:r>
            <a:r>
              <a:rPr lang="en-US" altLang="zh-CN" sz="2800" b="1" dirty="0" smtClean="0"/>
              <a:t>a</a:t>
            </a:r>
            <a:r>
              <a:rPr lang="en-US" altLang="zh-CN" sz="2800" b="1" baseline="30000" dirty="0" smtClean="0"/>
              <a:t>2</a:t>
            </a:r>
            <a:r>
              <a:rPr lang="en-US" altLang="zh-CN" sz="2800" b="1" dirty="0" smtClean="0"/>
              <a:t>)</a:t>
            </a:r>
            <a:r>
              <a:rPr lang="en-US" altLang="zh-CN" sz="2800" b="1" baseline="30000" dirty="0" smtClean="0"/>
              <a:t>0</a:t>
            </a:r>
            <a:r>
              <a:rPr lang="en-US" altLang="zh-CN" sz="2800" b="1" baseline="30000" dirty="0" smtClean="0">
                <a:ea typeface="宋体" pitchFamily="2" charset="-122"/>
              </a:rPr>
              <a:t> </a:t>
            </a:r>
            <a:r>
              <a:rPr lang="zh-CN" altLang="zh-CN" sz="2800" b="1" dirty="0" smtClean="0">
                <a:ea typeface="宋体" pitchFamily="2" charset="-122"/>
              </a:rPr>
              <a:t>，</a:t>
            </a:r>
            <a:r>
              <a:rPr lang="en-US" altLang="zh-CN" sz="2800" b="1" dirty="0" smtClean="0">
                <a:ea typeface="宋体" pitchFamily="2" charset="-122"/>
              </a:rPr>
              <a:t>a</a:t>
            </a:r>
            <a:r>
              <a:rPr lang="en-US" altLang="zh-CN" sz="2800" b="1" baseline="30000" dirty="0" smtClean="0">
                <a:ea typeface="宋体" pitchFamily="2" charset="-122"/>
              </a:rPr>
              <a:t>2</a:t>
            </a:r>
            <a:r>
              <a:rPr lang="zh-CN" altLang="zh-CN" sz="2800" b="1" dirty="0" smtClean="0">
                <a:ea typeface="宋体" pitchFamily="2" charset="-122"/>
              </a:rPr>
              <a:t>，</a:t>
            </a:r>
            <a:r>
              <a:rPr lang="en-US" altLang="zh-CN" sz="2800" b="1" dirty="0" smtClean="0">
                <a:ea typeface="宋体" pitchFamily="2" charset="-122"/>
              </a:rPr>
              <a:t>a</a:t>
            </a:r>
            <a:r>
              <a:rPr lang="en-US" altLang="zh-CN" sz="2800" b="1" baseline="30000" dirty="0" smtClean="0">
                <a:ea typeface="宋体" pitchFamily="2" charset="-122"/>
              </a:rPr>
              <a:t>4</a:t>
            </a:r>
            <a:r>
              <a:rPr lang="zh-CN" altLang="zh-CN" sz="2800" b="1" dirty="0" smtClean="0">
                <a:ea typeface="宋体" pitchFamily="2" charset="-122"/>
              </a:rPr>
              <a:t>，</a:t>
            </a:r>
            <a:r>
              <a:rPr lang="en-US" altLang="zh-CN" sz="2800" b="1" dirty="0">
                <a:solidFill>
                  <a:srgbClr val="000000"/>
                </a:solidFill>
                <a:ea typeface="宋体" pitchFamily="2" charset="-122"/>
              </a:rPr>
              <a:t> </a:t>
            </a:r>
            <a:r>
              <a:rPr lang="en-US" altLang="zh-CN" sz="2800" b="1" dirty="0" smtClean="0">
                <a:solidFill>
                  <a:srgbClr val="000000"/>
                </a:solidFill>
                <a:ea typeface="宋体" pitchFamily="2" charset="-122"/>
              </a:rPr>
              <a:t>,</a:t>
            </a:r>
            <a:r>
              <a:rPr lang="en-US" altLang="zh-CN" sz="2800" b="1" baseline="30000" dirty="0" smtClean="0">
                <a:solidFill>
                  <a:srgbClr val="000000"/>
                </a:solidFill>
                <a:ea typeface="宋体" pitchFamily="2" charset="-122"/>
              </a:rPr>
              <a:t> </a:t>
            </a:r>
            <a:r>
              <a:rPr lang="en-US" altLang="zh-CN" sz="2800" b="1" dirty="0" smtClean="0">
                <a:ea typeface="宋体" pitchFamily="2" charset="-122"/>
              </a:rPr>
              <a:t>a</a:t>
            </a:r>
            <a:r>
              <a:rPr lang="en-US" altLang="zh-CN" sz="2800" b="1" baseline="30000" dirty="0" smtClean="0">
                <a:ea typeface="宋体" pitchFamily="2" charset="-122"/>
              </a:rPr>
              <a:t>6</a:t>
            </a:r>
            <a:r>
              <a:rPr lang="zh-CN" altLang="zh-CN" sz="2800" b="1" dirty="0" smtClean="0">
                <a:ea typeface="宋体" pitchFamily="2" charset="-122"/>
              </a:rPr>
              <a:t>…</a:t>
            </a:r>
            <a:r>
              <a:rPr lang="en-US" altLang="zh-CN" sz="2800" b="1" dirty="0" smtClean="0">
                <a:ea typeface="宋体" pitchFamily="2" charset="-122"/>
              </a:rPr>
              <a:t>}</a:t>
            </a:r>
            <a:r>
              <a:rPr lang="zh-CN" altLang="zh-CN" sz="2800" b="1" dirty="0" smtClean="0">
                <a:ea typeface="宋体" pitchFamily="2" charset="-122"/>
              </a:rPr>
              <a:t>，则</a:t>
            </a:r>
            <a:r>
              <a:rPr lang="en-US" altLang="zh-CN" sz="2800" b="1" dirty="0" smtClean="0">
                <a:ea typeface="宋体" pitchFamily="2" charset="-122"/>
              </a:rPr>
              <a:t>H’</a:t>
            </a:r>
            <a:r>
              <a:rPr lang="zh-CN" altLang="zh-CN" sz="2800" b="1" dirty="0" smtClean="0">
                <a:ea typeface="宋体" pitchFamily="2" charset="-122"/>
              </a:rPr>
              <a:t>也是</a:t>
            </a:r>
            <a:r>
              <a:rPr lang="en-US" altLang="zh-CN" sz="2800" b="1" dirty="0" smtClean="0">
                <a:ea typeface="宋体" pitchFamily="2" charset="-122"/>
              </a:rPr>
              <a:t>G</a:t>
            </a:r>
            <a:r>
              <a:rPr lang="zh-CN" altLang="zh-CN" sz="2800" b="1" dirty="0" smtClean="0">
                <a:ea typeface="宋体" pitchFamily="2" charset="-122"/>
              </a:rPr>
              <a:t>的子群，但</a:t>
            </a:r>
            <a:r>
              <a:rPr lang="en-US" altLang="zh-CN" sz="2800" b="1" dirty="0" err="1" smtClean="0">
                <a:ea typeface="宋体" pitchFamily="2" charset="-122"/>
              </a:rPr>
              <a:t>a</a:t>
            </a:r>
            <a:r>
              <a:rPr lang="en-US" altLang="zh-CN" sz="2800" b="1" dirty="0" err="1" smtClean="0">
                <a:ea typeface="宋体" pitchFamily="2" charset="-122"/>
                <a:sym typeface="Symbol"/>
              </a:rPr>
              <a:t></a:t>
            </a:r>
            <a:r>
              <a:rPr lang="en-US" altLang="zh-CN" sz="2800" b="1" dirty="0" err="1" smtClean="0">
                <a:ea typeface="宋体" pitchFamily="2" charset="-122"/>
              </a:rPr>
              <a:t>H</a:t>
            </a:r>
            <a:r>
              <a:rPr lang="en-US" altLang="zh-CN" sz="2800" b="1" dirty="0" smtClean="0">
                <a:ea typeface="宋体" pitchFamily="2" charset="-122"/>
              </a:rPr>
              <a:t>’</a:t>
            </a:r>
            <a:r>
              <a:rPr lang="zh-CN" altLang="zh-CN" sz="2800" b="1" dirty="0" smtClean="0">
                <a:ea typeface="宋体" pitchFamily="2" charset="-122"/>
              </a:rPr>
              <a:t>，已知</a:t>
            </a:r>
            <a:r>
              <a:rPr lang="en-US" altLang="zh-CN" sz="2800" b="1" dirty="0" smtClean="0">
                <a:ea typeface="宋体" pitchFamily="2" charset="-122"/>
              </a:rPr>
              <a:t>H</a:t>
            </a:r>
            <a:r>
              <a:rPr lang="zh-CN" altLang="zh-CN" sz="2800" b="1" dirty="0" smtClean="0">
                <a:ea typeface="宋体" pitchFamily="2" charset="-122"/>
              </a:rPr>
              <a:t>是</a:t>
            </a:r>
            <a:r>
              <a:rPr lang="en-US" altLang="zh-CN" sz="2800" b="1" dirty="0" smtClean="0">
                <a:ea typeface="宋体" pitchFamily="2" charset="-122"/>
              </a:rPr>
              <a:t>G</a:t>
            </a:r>
            <a:r>
              <a:rPr lang="zh-CN" altLang="zh-CN" sz="2800" b="1" dirty="0" smtClean="0">
                <a:ea typeface="宋体" pitchFamily="2" charset="-122"/>
              </a:rPr>
              <a:t>的所有子群的交集，故</a:t>
            </a:r>
            <a:r>
              <a:rPr lang="en-US" altLang="zh-CN" sz="2800" b="1" dirty="0" err="1" smtClean="0">
                <a:ea typeface="宋体" pitchFamily="2" charset="-122"/>
              </a:rPr>
              <a:t>a</a:t>
            </a:r>
            <a:r>
              <a:rPr lang="en-US" altLang="zh-CN" sz="2800" b="1" dirty="0" err="1" smtClean="0">
                <a:ea typeface="宋体" pitchFamily="2" charset="-122"/>
                <a:sym typeface="Symbol"/>
              </a:rPr>
              <a:t></a:t>
            </a:r>
            <a:r>
              <a:rPr lang="en-US" altLang="zh-CN" sz="2800" b="1" dirty="0" err="1" smtClean="0">
                <a:ea typeface="宋体" pitchFamily="2" charset="-122"/>
              </a:rPr>
              <a:t>H</a:t>
            </a:r>
            <a:r>
              <a:rPr lang="zh-CN" altLang="zh-CN" sz="2800" b="1" dirty="0" smtClean="0">
                <a:ea typeface="宋体" pitchFamily="2" charset="-122"/>
              </a:rPr>
              <a:t>，矛盾。所以假设不成立，原结论成立。</a:t>
            </a:r>
            <a:endParaRPr lang="en-US" altLang="zh-CN" sz="2800" b="1" dirty="0" smtClean="0">
              <a:ea typeface="宋体" pitchFamily="2" charset="-122"/>
            </a:endParaRP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endParaRPr lang="zh-CN" altLang="zh-CN" sz="2800" b="1" dirty="0" smtClean="0">
              <a:ea typeface="宋体" pitchFamily="2" charset="-122"/>
            </a:endParaRP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92006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288" y="692150"/>
            <a:ext cx="8113712" cy="5832475"/>
          </a:xfrm>
        </p:spPr>
        <p:txBody>
          <a:bodyPr/>
          <a:lstStyle/>
          <a:p>
            <a:pPr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zh-CN" sz="2800" b="1" dirty="0" smtClean="0">
                <a:solidFill>
                  <a:srgbClr val="0000FF"/>
                </a:solidFill>
                <a:ea typeface="宋体" pitchFamily="2" charset="-122"/>
              </a:rPr>
              <a:t>（</a:t>
            </a:r>
            <a:r>
              <a:rPr lang="en-US" altLang="zh-CN" sz="2800" b="1" dirty="0" smtClean="0">
                <a:solidFill>
                  <a:srgbClr val="0000FF"/>
                </a:solidFill>
                <a:ea typeface="宋体" pitchFamily="2" charset="-122"/>
              </a:rPr>
              <a:t>3</a:t>
            </a:r>
            <a:r>
              <a:rPr lang="zh-CN" altLang="zh-CN" sz="2800" b="1" dirty="0" smtClean="0">
                <a:solidFill>
                  <a:srgbClr val="0000FF"/>
                </a:solidFill>
                <a:ea typeface="宋体" pitchFamily="2" charset="-122"/>
              </a:rPr>
              <a:t>）</a:t>
            </a:r>
            <a:r>
              <a:rPr lang="en-US" altLang="zh-CN" sz="2800" b="1" dirty="0" smtClean="0">
                <a:solidFill>
                  <a:srgbClr val="0000FF"/>
                </a:solidFill>
                <a:ea typeface="宋体" pitchFamily="2" charset="-122"/>
              </a:rPr>
              <a:t>H</a:t>
            </a:r>
            <a:r>
              <a:rPr lang="zh-CN" altLang="zh-CN" sz="2800" b="1" dirty="0" smtClean="0">
                <a:solidFill>
                  <a:srgbClr val="0000FF"/>
                </a:solidFill>
                <a:ea typeface="宋体" pitchFamily="2" charset="-122"/>
              </a:rPr>
              <a:t>是一个循环群，且</a:t>
            </a:r>
            <a:r>
              <a:rPr lang="en-US" altLang="zh-CN" sz="2800" b="1" dirty="0" smtClean="0">
                <a:solidFill>
                  <a:srgbClr val="0000FF"/>
                </a:solidFill>
                <a:ea typeface="宋体" pitchFamily="2" charset="-122"/>
              </a:rPr>
              <a:t>|H|</a:t>
            </a:r>
            <a:r>
              <a:rPr lang="zh-CN" altLang="zh-CN" sz="2800" b="1" dirty="0" smtClean="0">
                <a:solidFill>
                  <a:srgbClr val="0000FF"/>
                </a:solidFill>
                <a:ea typeface="宋体" pitchFamily="2" charset="-122"/>
              </a:rPr>
              <a:t>为质数。</a:t>
            </a:r>
            <a:endParaRPr lang="en-US" altLang="zh-CN" sz="2800" b="1" dirty="0" smtClean="0">
              <a:solidFill>
                <a:srgbClr val="0000FF"/>
              </a:solidFill>
              <a:ea typeface="宋体" pitchFamily="2" charset="-122"/>
            </a:endParaRPr>
          </a:p>
          <a:p>
            <a:pPr marL="0" indent="0">
              <a:lnSpc>
                <a:spcPct val="110000"/>
              </a:lnSpc>
              <a:buFont typeface="Arial" pitchFamily="34" charset="0"/>
              <a:buChar char="•"/>
              <a:defRPr/>
            </a:pPr>
            <a:r>
              <a:rPr lang="zh-CN" altLang="zh-CN" sz="2800" b="1" dirty="0" smtClean="0">
                <a:ea typeface="宋体" pitchFamily="2" charset="-122"/>
              </a:rPr>
              <a:t>如果</a:t>
            </a:r>
            <a:r>
              <a:rPr lang="en-US" altLang="zh-CN" sz="2800" b="1" dirty="0" smtClean="0">
                <a:ea typeface="宋体" pitchFamily="2" charset="-122"/>
              </a:rPr>
              <a:t>H</a:t>
            </a:r>
            <a:r>
              <a:rPr lang="zh-CN" altLang="zh-CN" sz="2800" b="1" dirty="0" smtClean="0">
                <a:ea typeface="宋体" pitchFamily="2" charset="-122"/>
              </a:rPr>
              <a:t>为无限群，则</a:t>
            </a:r>
            <a:r>
              <a:rPr lang="en-US" altLang="zh-CN" sz="2800" b="1" dirty="0" smtClean="0">
                <a:ea typeface="宋体" pitchFamily="2" charset="-122"/>
              </a:rPr>
              <a:t>G</a:t>
            </a:r>
            <a:r>
              <a:rPr lang="zh-CN" altLang="zh-CN" sz="2800" b="1" dirty="0" smtClean="0">
                <a:ea typeface="宋体" pitchFamily="2" charset="-122"/>
              </a:rPr>
              <a:t>的每一个子群必无限；由</a:t>
            </a:r>
            <a:r>
              <a:rPr lang="en-US" altLang="zh-CN" sz="2800" b="1" dirty="0" smtClean="0">
                <a:ea typeface="宋体" pitchFamily="2" charset="-122"/>
              </a:rPr>
              <a:t>(2)</a:t>
            </a:r>
            <a:r>
              <a:rPr lang="zh-CN" altLang="zh-CN" sz="2800" b="1" dirty="0" smtClean="0">
                <a:ea typeface="宋体" pitchFamily="2" charset="-122"/>
              </a:rPr>
              <a:t>知，任意元素</a:t>
            </a:r>
            <a:r>
              <a:rPr lang="en-US" altLang="zh-CN" sz="2800" b="1" dirty="0" err="1" smtClean="0">
                <a:ea typeface="宋体" pitchFamily="2" charset="-122"/>
              </a:rPr>
              <a:t>a</a:t>
            </a:r>
            <a:r>
              <a:rPr lang="en-US" altLang="zh-CN" sz="2800" b="1" dirty="0" err="1" smtClean="0">
                <a:ea typeface="宋体" pitchFamily="2" charset="-122"/>
                <a:sym typeface="Symbol"/>
              </a:rPr>
              <a:t></a:t>
            </a:r>
            <a:r>
              <a:rPr lang="en-US" altLang="zh-CN" sz="2800" b="1" dirty="0" err="1" smtClean="0">
                <a:ea typeface="宋体" pitchFamily="2" charset="-122"/>
              </a:rPr>
              <a:t>H</a:t>
            </a:r>
            <a:r>
              <a:rPr lang="zh-CN" altLang="zh-CN" sz="2800" b="1" dirty="0" smtClean="0">
                <a:ea typeface="宋体" pitchFamily="2" charset="-122"/>
              </a:rPr>
              <a:t>的周期</a:t>
            </a:r>
            <a:r>
              <a:rPr lang="en-US" altLang="zh-CN" sz="2800" b="1" dirty="0" smtClean="0">
                <a:ea typeface="宋体" pitchFamily="2" charset="-122"/>
              </a:rPr>
              <a:t>n</a:t>
            </a:r>
            <a:r>
              <a:rPr lang="zh-CN" altLang="zh-CN" sz="2800" b="1" dirty="0" smtClean="0">
                <a:ea typeface="宋体" pitchFamily="2" charset="-122"/>
              </a:rPr>
              <a:t>均有限，则（</a:t>
            </a:r>
            <a:r>
              <a:rPr lang="en-US" altLang="zh-CN" sz="2800" b="1" dirty="0" smtClean="0">
                <a:ea typeface="宋体" pitchFamily="2" charset="-122"/>
              </a:rPr>
              <a:t>a</a:t>
            </a:r>
            <a:r>
              <a:rPr lang="zh-CN" altLang="zh-CN" sz="2800" b="1" dirty="0" smtClean="0">
                <a:ea typeface="宋体" pitchFamily="2" charset="-122"/>
              </a:rPr>
              <a:t>）为</a:t>
            </a:r>
            <a:r>
              <a:rPr lang="en-US" altLang="zh-CN" sz="2800" b="1" dirty="0" smtClean="0">
                <a:ea typeface="宋体" pitchFamily="2" charset="-122"/>
              </a:rPr>
              <a:t>G</a:t>
            </a:r>
            <a:r>
              <a:rPr lang="zh-CN" altLang="zh-CN" sz="2800" b="1" dirty="0" smtClean="0">
                <a:ea typeface="宋体" pitchFamily="2" charset="-122"/>
              </a:rPr>
              <a:t>的</a:t>
            </a:r>
            <a:r>
              <a:rPr lang="en-US" altLang="zh-CN" sz="2800" b="1" dirty="0" smtClean="0">
                <a:ea typeface="宋体" pitchFamily="2" charset="-122"/>
              </a:rPr>
              <a:t>n</a:t>
            </a:r>
            <a:r>
              <a:rPr lang="zh-CN" altLang="zh-CN" sz="2800" b="1" dirty="0" smtClean="0">
                <a:ea typeface="宋体" pitchFamily="2" charset="-122"/>
              </a:rPr>
              <a:t>元有限子群，矛盾。故</a:t>
            </a:r>
            <a:r>
              <a:rPr lang="en-US" altLang="zh-CN" sz="2800" b="1" dirty="0" smtClean="0">
                <a:ea typeface="宋体" pitchFamily="2" charset="-122"/>
              </a:rPr>
              <a:t>H</a:t>
            </a:r>
            <a:r>
              <a:rPr lang="zh-CN" altLang="zh-CN" sz="2800" b="1" dirty="0" smtClean="0">
                <a:ea typeface="宋体" pitchFamily="2" charset="-122"/>
              </a:rPr>
              <a:t>必为有限群。</a:t>
            </a:r>
            <a:endParaRPr lang="en-US" altLang="zh-CN" sz="2800" b="1" dirty="0" smtClean="0">
              <a:ea typeface="宋体" pitchFamily="2" charset="-122"/>
            </a:endParaRPr>
          </a:p>
          <a:p>
            <a:pPr marL="0" indent="0">
              <a:lnSpc>
                <a:spcPct val="110000"/>
              </a:lnSpc>
              <a:buFont typeface="Arial" pitchFamily="34" charset="0"/>
              <a:buChar char="•"/>
              <a:defRPr/>
            </a:pPr>
            <a:r>
              <a:rPr lang="zh-CN" altLang="zh-CN" sz="2800" b="1" dirty="0" smtClean="0">
                <a:ea typeface="宋体" pitchFamily="2" charset="-122"/>
              </a:rPr>
              <a:t>已知</a:t>
            </a:r>
            <a:r>
              <a:rPr lang="en-US" altLang="zh-CN" sz="2800" b="1" dirty="0" smtClean="0">
                <a:ea typeface="宋体" pitchFamily="2" charset="-122"/>
              </a:rPr>
              <a:t>H</a:t>
            </a:r>
            <a:r>
              <a:rPr lang="zh-CN" altLang="zh-CN" sz="2800" b="1" dirty="0" smtClean="0">
                <a:ea typeface="宋体" pitchFamily="2" charset="-122"/>
              </a:rPr>
              <a:t>≠</a:t>
            </a:r>
            <a:r>
              <a:rPr lang="en-US" altLang="zh-CN" sz="2800" b="1" dirty="0" smtClean="0">
                <a:ea typeface="宋体" pitchFamily="2" charset="-122"/>
              </a:rPr>
              <a:t>{1}</a:t>
            </a:r>
            <a:r>
              <a:rPr lang="zh-CN" altLang="zh-CN" sz="2800" b="1" dirty="0" smtClean="0">
                <a:ea typeface="宋体" pitchFamily="2" charset="-122"/>
              </a:rPr>
              <a:t>，故</a:t>
            </a:r>
            <a:r>
              <a:rPr lang="en-US" altLang="zh-CN" sz="2800" b="1" dirty="0" smtClean="0">
                <a:ea typeface="宋体" pitchFamily="2" charset="-122"/>
              </a:rPr>
              <a:t>|H|=n</a:t>
            </a:r>
            <a:r>
              <a:rPr lang="zh-CN" altLang="zh-CN" sz="2800" b="1" dirty="0" smtClean="0">
                <a:ea typeface="宋体" pitchFamily="2" charset="-122"/>
              </a:rPr>
              <a:t>必大于</a:t>
            </a:r>
            <a:r>
              <a:rPr lang="en-US" altLang="zh-CN" sz="2800" b="1" dirty="0" smtClean="0">
                <a:ea typeface="宋体" pitchFamily="2" charset="-122"/>
              </a:rPr>
              <a:t>1</a:t>
            </a:r>
            <a:r>
              <a:rPr lang="zh-CN" altLang="zh-CN" sz="2800" b="1" dirty="0" smtClean="0">
                <a:ea typeface="宋体" pitchFamily="2" charset="-122"/>
              </a:rPr>
              <a:t>，假设</a:t>
            </a:r>
            <a:r>
              <a:rPr lang="en-US" altLang="zh-CN" sz="2800" b="1" dirty="0" smtClean="0">
                <a:ea typeface="宋体" pitchFamily="2" charset="-122"/>
              </a:rPr>
              <a:t>n</a:t>
            </a:r>
            <a:r>
              <a:rPr lang="zh-CN" altLang="zh-CN" sz="2800" b="1" dirty="0" smtClean="0">
                <a:ea typeface="宋体" pitchFamily="2" charset="-122"/>
              </a:rPr>
              <a:t>不为质数，设</a:t>
            </a:r>
            <a:r>
              <a:rPr lang="en-US" altLang="zh-CN" sz="2800" b="1" dirty="0" smtClean="0">
                <a:ea typeface="宋体" pitchFamily="2" charset="-122"/>
              </a:rPr>
              <a:t>n=</a:t>
            </a:r>
            <a:r>
              <a:rPr lang="en-US" altLang="zh-CN" sz="2800" b="1" dirty="0" err="1" smtClean="0">
                <a:ea typeface="宋体" pitchFamily="2" charset="-122"/>
              </a:rPr>
              <a:t>hk</a:t>
            </a:r>
            <a:r>
              <a:rPr lang="zh-CN" altLang="zh-CN" sz="2800" b="1" dirty="0" smtClean="0">
                <a:ea typeface="宋体" pitchFamily="2" charset="-122"/>
              </a:rPr>
              <a:t>，根据拉格朗日定理，必存在元素</a:t>
            </a:r>
            <a:r>
              <a:rPr lang="en-US" altLang="zh-CN" sz="2800" b="1" dirty="0" err="1" smtClean="0">
                <a:ea typeface="宋体" pitchFamily="2" charset="-122"/>
              </a:rPr>
              <a:t>a</a:t>
            </a:r>
            <a:r>
              <a:rPr lang="en-US" altLang="zh-CN" sz="2800" b="1" dirty="0" err="1" smtClean="0">
                <a:ea typeface="宋体" pitchFamily="2" charset="-122"/>
                <a:sym typeface="Symbol"/>
              </a:rPr>
              <a:t></a:t>
            </a:r>
            <a:r>
              <a:rPr lang="en-US" altLang="zh-CN" sz="2800" b="1" dirty="0" err="1" smtClean="0">
                <a:ea typeface="宋体" pitchFamily="2" charset="-122"/>
              </a:rPr>
              <a:t>H</a:t>
            </a:r>
            <a:r>
              <a:rPr lang="zh-CN" altLang="zh-CN" sz="2800" b="1" dirty="0" smtClean="0">
                <a:ea typeface="宋体" pitchFamily="2" charset="-122"/>
              </a:rPr>
              <a:t>，满足</a:t>
            </a:r>
            <a:r>
              <a:rPr lang="en-US" altLang="zh-CN" sz="2800" b="1" dirty="0" err="1" smtClean="0">
                <a:ea typeface="宋体" pitchFamily="2" charset="-122"/>
              </a:rPr>
              <a:t>a</a:t>
            </a:r>
            <a:r>
              <a:rPr lang="en-US" altLang="zh-CN" sz="2800" b="1" baseline="30000" dirty="0" err="1" smtClean="0">
                <a:ea typeface="宋体" pitchFamily="2" charset="-122"/>
              </a:rPr>
              <a:t>hk</a:t>
            </a:r>
            <a:r>
              <a:rPr lang="en-US" altLang="zh-CN" sz="2800" b="1" dirty="0" smtClean="0">
                <a:ea typeface="宋体" pitchFamily="2" charset="-122"/>
              </a:rPr>
              <a:t>=1</a:t>
            </a:r>
            <a:r>
              <a:rPr lang="zh-CN" altLang="zh-CN" sz="2800" b="1" dirty="0" smtClean="0">
                <a:ea typeface="宋体" pitchFamily="2" charset="-122"/>
              </a:rPr>
              <a:t>，则由</a:t>
            </a:r>
            <a:r>
              <a:rPr lang="en-US" altLang="zh-CN" sz="2800" b="1" dirty="0" smtClean="0">
                <a:ea typeface="宋体" pitchFamily="2" charset="-122"/>
              </a:rPr>
              <a:t>a</a:t>
            </a:r>
            <a:r>
              <a:rPr lang="en-US" altLang="zh-CN" sz="2800" b="1" baseline="30000" dirty="0" smtClean="0">
                <a:ea typeface="宋体" pitchFamily="2" charset="-122"/>
              </a:rPr>
              <a:t>h</a:t>
            </a:r>
            <a:r>
              <a:rPr lang="zh-CN" altLang="zh-CN" sz="2800" b="1" dirty="0" smtClean="0">
                <a:ea typeface="宋体" pitchFamily="2" charset="-122"/>
              </a:rPr>
              <a:t>生成的循环子群（</a:t>
            </a:r>
            <a:r>
              <a:rPr lang="en-US" altLang="zh-CN" sz="2800" b="1" dirty="0" smtClean="0">
                <a:ea typeface="宋体" pitchFamily="2" charset="-122"/>
              </a:rPr>
              <a:t>a</a:t>
            </a:r>
            <a:r>
              <a:rPr lang="en-US" altLang="zh-CN" sz="2800" b="1" baseline="30000" dirty="0" smtClean="0">
                <a:ea typeface="宋体" pitchFamily="2" charset="-122"/>
              </a:rPr>
              <a:t>h</a:t>
            </a:r>
            <a:r>
              <a:rPr lang="zh-CN" altLang="zh-CN" sz="2800" b="1" dirty="0" smtClean="0">
                <a:ea typeface="宋体" pitchFamily="2" charset="-122"/>
              </a:rPr>
              <a:t>）必为</a:t>
            </a:r>
            <a:r>
              <a:rPr lang="en-US" altLang="zh-CN" sz="2800" b="1" dirty="0" smtClean="0">
                <a:ea typeface="宋体" pitchFamily="2" charset="-122"/>
              </a:rPr>
              <a:t>G</a:t>
            </a:r>
            <a:r>
              <a:rPr lang="zh-CN" altLang="zh-CN" sz="2800" b="1" dirty="0" smtClean="0">
                <a:ea typeface="宋体" pitchFamily="2" charset="-122"/>
              </a:rPr>
              <a:t>的子群，则</a:t>
            </a:r>
            <a:r>
              <a:rPr lang="en-US" altLang="zh-CN" sz="2800" b="1" dirty="0" smtClean="0">
                <a:ea typeface="宋体" pitchFamily="2" charset="-122"/>
              </a:rPr>
              <a:t>G</a:t>
            </a:r>
            <a:r>
              <a:rPr lang="zh-CN" altLang="zh-CN" sz="2800" b="1" dirty="0" smtClean="0">
                <a:ea typeface="宋体" pitchFamily="2" charset="-122"/>
              </a:rPr>
              <a:t>的所有子群的</a:t>
            </a:r>
            <a:r>
              <a:rPr lang="zh-CN" altLang="en-US" sz="2800" b="1" dirty="0">
                <a:ea typeface="宋体" pitchFamily="2" charset="-122"/>
              </a:rPr>
              <a:t>交集</a:t>
            </a:r>
            <a:r>
              <a:rPr lang="zh-CN" altLang="zh-CN" sz="2800" b="1" dirty="0" smtClean="0">
                <a:ea typeface="宋体" pitchFamily="2" charset="-122"/>
              </a:rPr>
              <a:t>应该为（</a:t>
            </a:r>
            <a:r>
              <a:rPr lang="en-US" altLang="zh-CN" sz="2800" b="1" dirty="0" smtClean="0">
                <a:ea typeface="宋体" pitchFamily="2" charset="-122"/>
              </a:rPr>
              <a:t>a</a:t>
            </a:r>
            <a:r>
              <a:rPr lang="en-US" altLang="zh-CN" sz="2800" b="1" baseline="30000" dirty="0" smtClean="0">
                <a:ea typeface="宋体" pitchFamily="2" charset="-122"/>
              </a:rPr>
              <a:t>h</a:t>
            </a:r>
            <a:r>
              <a:rPr lang="zh-CN" altLang="zh-CN" sz="2800" b="1" dirty="0" smtClean="0">
                <a:ea typeface="宋体" pitchFamily="2" charset="-122"/>
              </a:rPr>
              <a:t>）而不是</a:t>
            </a:r>
            <a:r>
              <a:rPr lang="en-US" altLang="zh-CN" sz="2800" b="1" dirty="0" smtClean="0">
                <a:ea typeface="宋体" pitchFamily="2" charset="-122"/>
              </a:rPr>
              <a:t>H</a:t>
            </a:r>
            <a:r>
              <a:rPr lang="zh-CN" altLang="zh-CN" sz="2800" b="1" dirty="0" smtClean="0">
                <a:ea typeface="宋体" pitchFamily="2" charset="-122"/>
              </a:rPr>
              <a:t>，矛盾。</a:t>
            </a:r>
          </a:p>
          <a:p>
            <a:pPr marL="0" indent="0">
              <a:lnSpc>
                <a:spcPct val="110000"/>
              </a:lnSpc>
              <a:buFont typeface="Arial" pitchFamily="34" charset="0"/>
              <a:buChar char="•"/>
              <a:defRPr/>
            </a:pPr>
            <a:r>
              <a:rPr lang="zh-CN" altLang="zh-CN" sz="2800" b="1" dirty="0" smtClean="0">
                <a:ea typeface="宋体" pitchFamily="2" charset="-122"/>
              </a:rPr>
              <a:t>故原假设不成立，</a:t>
            </a:r>
            <a:r>
              <a:rPr lang="en-US" altLang="zh-CN" sz="2800" b="1" dirty="0" smtClean="0">
                <a:ea typeface="宋体" pitchFamily="2" charset="-122"/>
              </a:rPr>
              <a:t>|H|</a:t>
            </a:r>
            <a:r>
              <a:rPr lang="zh-CN" altLang="zh-CN" sz="2800" b="1" dirty="0" smtClean="0">
                <a:ea typeface="宋体" pitchFamily="2" charset="-122"/>
              </a:rPr>
              <a:t>一定是质数，故</a:t>
            </a:r>
            <a:r>
              <a:rPr lang="en-US" altLang="zh-CN" sz="2800" b="1" dirty="0" smtClean="0">
                <a:ea typeface="宋体" pitchFamily="2" charset="-122"/>
              </a:rPr>
              <a:t>H</a:t>
            </a:r>
            <a:r>
              <a:rPr lang="zh-CN" altLang="zh-CN" sz="2800" b="1" dirty="0" smtClean="0">
                <a:ea typeface="宋体" pitchFamily="2" charset="-122"/>
              </a:rPr>
              <a:t>一定是循环群</a:t>
            </a:r>
            <a:r>
              <a:rPr lang="zh-CN" altLang="zh-CN" b="1" dirty="0" smtClean="0">
                <a:ea typeface="宋体" pitchFamily="2" charset="-122"/>
              </a:rPr>
              <a:t>。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81403526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smtClean="0">
                <a:solidFill>
                  <a:srgbClr val="0000FF"/>
                </a:solidFill>
                <a:sym typeface="Symbol" panose="05050102010706020507" pitchFamily="18" charset="2"/>
              </a:rPr>
              <a:t>置换的奇偶性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1975" y="1439863"/>
            <a:ext cx="8301038" cy="4608512"/>
          </a:xfrm>
        </p:spPr>
        <p:txBody>
          <a:bodyPr/>
          <a:lstStyle/>
          <a:p>
            <a:pPr marL="85725" indent="-85725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solidFill>
                  <a:srgbClr val="000000"/>
                </a:solidFill>
                <a:ea typeface="宋体" panose="02010600030101010101" pitchFamily="2" charset="-122"/>
              </a:rPr>
              <a:t>σ</a:t>
            </a:r>
            <a:r>
              <a:rPr lang="zh-CN" altLang="en-US" sz="3000" b="1" dirty="0">
                <a:solidFill>
                  <a:srgbClr val="000000"/>
                </a:solidFill>
                <a:ea typeface="宋体" panose="02010600030101010101" pitchFamily="2" charset="-122"/>
              </a:rPr>
              <a:t>为</a:t>
            </a:r>
            <a:r>
              <a:rPr lang="en-US" altLang="zh-CN" sz="3000" b="1" dirty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zh-CN" altLang="en-US" sz="3000" b="1" dirty="0">
                <a:solidFill>
                  <a:srgbClr val="000000"/>
                </a:solidFill>
                <a:ea typeface="宋体" panose="02010600030101010101" pitchFamily="2" charset="-122"/>
              </a:rPr>
              <a:t>元</a:t>
            </a:r>
            <a:r>
              <a:rPr lang="zh-CN" altLang="en-US" sz="3000" b="1" dirty="0" smtClean="0">
                <a:solidFill>
                  <a:srgbClr val="000000"/>
                </a:solidFill>
                <a:ea typeface="宋体" panose="02010600030101010101" pitchFamily="2" charset="-122"/>
              </a:rPr>
              <a:t>置换，</a:t>
            </a:r>
            <a:r>
              <a:rPr lang="zh-CN" altLang="en-US" sz="3000" b="1" dirty="0" smtClean="0">
                <a:ea typeface="宋体" panose="02010600030101010101" pitchFamily="2" charset="-122"/>
              </a:rPr>
              <a:t>设</a:t>
            </a:r>
            <a:r>
              <a:rPr lang="en-US" altLang="zh-CN" sz="3000" b="1" dirty="0" smtClean="0">
                <a:ea typeface="宋体" panose="02010600030101010101" pitchFamily="2" charset="-122"/>
              </a:rPr>
              <a:t>σ</a:t>
            </a:r>
            <a:r>
              <a:rPr lang="zh-CN" altLang="en-US" sz="3000" b="1" dirty="0" smtClean="0">
                <a:ea typeface="宋体" panose="02010600030101010101" pitchFamily="2" charset="-122"/>
              </a:rPr>
              <a:t>表为</a:t>
            </a:r>
            <a:r>
              <a:rPr lang="en-US" altLang="zh-CN" sz="3000" b="1" dirty="0" smtClean="0">
                <a:ea typeface="宋体" panose="02010600030101010101" pitchFamily="2" charset="-122"/>
              </a:rPr>
              <a:t>k</a:t>
            </a:r>
            <a:r>
              <a:rPr lang="zh-CN" altLang="en-US" sz="3000" b="1" dirty="0" smtClean="0">
                <a:ea typeface="宋体" panose="02010600030101010101" pitchFamily="2" charset="-122"/>
              </a:rPr>
              <a:t>个不相杂的轮换的乘积</a:t>
            </a:r>
            <a:r>
              <a:rPr lang="en-US" altLang="zh-CN" sz="3000" b="1" dirty="0" smtClean="0">
                <a:ea typeface="宋体" panose="02010600030101010101" pitchFamily="2" charset="-122"/>
              </a:rPr>
              <a:t>(</a:t>
            </a:r>
            <a:r>
              <a:rPr lang="zh-CN" altLang="en-US" sz="3000" b="1" dirty="0" smtClean="0">
                <a:ea typeface="宋体" panose="02010600030101010101" pitchFamily="2" charset="-122"/>
              </a:rPr>
              <a:t>包括长度为</a:t>
            </a:r>
            <a:r>
              <a:rPr lang="en-US" altLang="zh-CN" sz="3000" b="1" dirty="0" smtClean="0">
                <a:ea typeface="宋体" panose="02010600030101010101" pitchFamily="2" charset="-122"/>
              </a:rPr>
              <a:t>1</a:t>
            </a:r>
            <a:r>
              <a:rPr lang="zh-CN" altLang="en-US" sz="3000" b="1" dirty="0" smtClean="0">
                <a:ea typeface="宋体" panose="02010600030101010101" pitchFamily="2" charset="-122"/>
              </a:rPr>
              <a:t>的轮换在内</a:t>
            </a:r>
            <a:r>
              <a:rPr lang="en-US" altLang="zh-CN" sz="3000" b="1" dirty="0" smtClean="0">
                <a:ea typeface="宋体" panose="02010600030101010101" pitchFamily="2" charset="-122"/>
              </a:rPr>
              <a:t>)</a:t>
            </a:r>
            <a:r>
              <a:rPr lang="zh-CN" altLang="en-US" sz="3000" b="1" dirty="0" smtClean="0">
                <a:ea typeface="宋体" panose="02010600030101010101" pitchFamily="2" charset="-122"/>
              </a:rPr>
              <a:t>，长度分别为</a:t>
            </a:r>
            <a:r>
              <a:rPr lang="en-US" altLang="zh-CN" sz="3000" b="1" dirty="0" smtClean="0">
                <a:ea typeface="宋体" panose="02010600030101010101" pitchFamily="2" charset="-122"/>
              </a:rPr>
              <a:t>r</a:t>
            </a:r>
            <a:r>
              <a:rPr lang="en-US" altLang="zh-CN" sz="3000" b="1" baseline="-30000" dirty="0" smtClean="0">
                <a:ea typeface="宋体" panose="02010600030101010101" pitchFamily="2" charset="-122"/>
              </a:rPr>
              <a:t>1</a:t>
            </a:r>
            <a:r>
              <a:rPr lang="zh-CN" altLang="en-US" sz="3000" b="1" dirty="0" smtClean="0">
                <a:ea typeface="宋体" panose="02010600030101010101" pitchFamily="2" charset="-122"/>
              </a:rPr>
              <a:t>，</a:t>
            </a:r>
            <a:r>
              <a:rPr lang="en-US" altLang="zh-CN" sz="3000" b="1" dirty="0" smtClean="0">
                <a:ea typeface="宋体" panose="02010600030101010101" pitchFamily="2" charset="-122"/>
              </a:rPr>
              <a:t>r</a:t>
            </a:r>
            <a:r>
              <a:rPr lang="en-US" altLang="zh-CN" sz="3000" b="1" baseline="-30000" dirty="0" smtClean="0">
                <a:ea typeface="宋体" panose="02010600030101010101" pitchFamily="2" charset="-122"/>
              </a:rPr>
              <a:t>2</a:t>
            </a:r>
            <a:r>
              <a:rPr lang="zh-CN" altLang="en-US" sz="3000" b="1" dirty="0" smtClean="0">
                <a:ea typeface="宋体" panose="02010600030101010101" pitchFamily="2" charset="-122"/>
              </a:rPr>
              <a:t>，</a:t>
            </a:r>
            <a:r>
              <a:rPr lang="en-US" altLang="zh-CN" sz="3000" b="1" dirty="0" smtClean="0">
                <a:ea typeface="宋体" panose="02010600030101010101" pitchFamily="2" charset="-122"/>
              </a:rPr>
              <a:t>…</a:t>
            </a:r>
            <a:r>
              <a:rPr lang="zh-CN" altLang="en-US" sz="3000" b="1" dirty="0" smtClean="0">
                <a:ea typeface="宋体" panose="02010600030101010101" pitchFamily="2" charset="-122"/>
              </a:rPr>
              <a:t>，</a:t>
            </a:r>
            <a:r>
              <a:rPr lang="en-US" altLang="zh-CN" sz="3000" b="1" dirty="0" err="1" smtClean="0">
                <a:ea typeface="宋体" panose="02010600030101010101" pitchFamily="2" charset="-122"/>
              </a:rPr>
              <a:t>r</a:t>
            </a:r>
            <a:r>
              <a:rPr lang="en-US" altLang="zh-CN" sz="3000" b="1" baseline="-30000" dirty="0" err="1" smtClean="0">
                <a:ea typeface="宋体" panose="02010600030101010101" pitchFamily="2" charset="-122"/>
              </a:rPr>
              <a:t>k</a:t>
            </a:r>
            <a:r>
              <a:rPr lang="zh-CN" altLang="en-US" sz="3000" b="1" dirty="0" smtClean="0">
                <a:ea typeface="宋体" panose="02010600030101010101" pitchFamily="2" charset="-122"/>
              </a:rPr>
              <a:t>。</a:t>
            </a:r>
            <a:endParaRPr lang="en-US" altLang="zh-CN" sz="3000" b="1" dirty="0" smtClean="0">
              <a:ea typeface="宋体" panose="02010600030101010101" pitchFamily="2" charset="-122"/>
            </a:endParaRPr>
          </a:p>
          <a:p>
            <a:pPr marL="85725" indent="-85725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endParaRPr lang="en-US" altLang="zh-CN" sz="3000" b="1" dirty="0" smtClean="0">
              <a:ea typeface="宋体" panose="02010600030101010101" pitchFamily="2" charset="-122"/>
            </a:endParaRPr>
          </a:p>
          <a:p>
            <a:pPr marL="85725" indent="-85725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b="1" dirty="0" smtClean="0">
                <a:ea typeface="宋体" panose="02010600030101010101" pitchFamily="2" charset="-122"/>
              </a:rPr>
              <a:t>若               </a:t>
            </a:r>
            <a:r>
              <a:rPr lang="en-US" altLang="zh-CN" sz="3000" b="1" dirty="0" smtClean="0">
                <a:ea typeface="宋体" panose="02010600030101010101" pitchFamily="2" charset="-122"/>
              </a:rPr>
              <a:t>= n-k</a:t>
            </a:r>
            <a:r>
              <a:rPr lang="zh-CN" altLang="en-US" sz="3000" b="1" dirty="0" smtClean="0">
                <a:ea typeface="宋体" panose="02010600030101010101" pitchFamily="2" charset="-122"/>
              </a:rPr>
              <a:t>为奇数（偶数），则称</a:t>
            </a:r>
            <a:r>
              <a:rPr lang="en-US" altLang="zh-CN" sz="3000" b="1" dirty="0" smtClean="0">
                <a:ea typeface="宋体" panose="02010600030101010101" pitchFamily="2" charset="-122"/>
              </a:rPr>
              <a:t>σ</a:t>
            </a:r>
            <a:r>
              <a:rPr lang="zh-CN" altLang="en-US" sz="3000" b="1" dirty="0" smtClean="0">
                <a:ea typeface="宋体" panose="02010600030101010101" pitchFamily="2" charset="-122"/>
              </a:rPr>
              <a:t>为奇置换（偶置换）。 </a:t>
            </a:r>
            <a:endParaRPr lang="en-US" altLang="zh-CN" sz="3000" b="1" dirty="0" smtClean="0">
              <a:ea typeface="宋体" panose="02010600030101010101" pitchFamily="2" charset="-122"/>
            </a:endParaRPr>
          </a:p>
          <a:p>
            <a:pPr marL="85725" indent="-85725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endParaRPr lang="zh-CN" altLang="en-US" sz="2800" b="1" dirty="0" smtClean="0"/>
          </a:p>
          <a:p>
            <a:pPr>
              <a:defRPr/>
            </a:pPr>
            <a:endParaRPr lang="zh-CN" altLang="en-US" dirty="0"/>
          </a:p>
        </p:txBody>
      </p:sp>
      <p:graphicFrame>
        <p:nvGraphicFramePr>
          <p:cNvPr id="100356" name="Object 2"/>
          <p:cNvGraphicFramePr>
            <a:graphicFrameLocks noChangeAspect="1"/>
          </p:cNvGraphicFramePr>
          <p:nvPr/>
        </p:nvGraphicFramePr>
        <p:xfrm>
          <a:off x="1187450" y="4149725"/>
          <a:ext cx="1227138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71" name="公式" r:id="rId3" imgW="622030" imgH="444307" progId="Equation.3">
                  <p:embed/>
                </p:oleObj>
              </mc:Choice>
              <mc:Fallback>
                <p:oleObj name="公式" r:id="rId3" imgW="622030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4149725"/>
                        <a:ext cx="1227138" cy="87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06229880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标题 1"/>
          <p:cNvSpPr>
            <a:spLocks noGrp="1"/>
          </p:cNvSpPr>
          <p:nvPr>
            <p:ph type="title"/>
          </p:nvPr>
        </p:nvSpPr>
        <p:spPr>
          <a:xfrm>
            <a:off x="573088" y="355600"/>
            <a:ext cx="8020050" cy="889000"/>
          </a:xfrm>
        </p:spPr>
        <p:txBody>
          <a:bodyPr/>
          <a:lstStyle/>
          <a:p>
            <a:r>
              <a:rPr lang="zh-CN" altLang="en-US" b="0" smtClean="0">
                <a:solidFill>
                  <a:srgbClr val="0000FF"/>
                </a:solidFill>
                <a:sym typeface="Symbol" panose="05050102010706020507" pitchFamily="18" charset="2"/>
              </a:rPr>
              <a:t>置换的奇偶性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3088" y="1138238"/>
            <a:ext cx="8301037" cy="4572000"/>
          </a:xfrm>
        </p:spPr>
        <p:txBody>
          <a:bodyPr/>
          <a:lstStyle/>
          <a:p>
            <a:pPr marL="1257300" indent="-1257300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b="1" dirty="0" smtClean="0">
                <a:solidFill>
                  <a:schemeClr val="tx2"/>
                </a:solidFill>
                <a:ea typeface="宋体" panose="02010600030101010101" pitchFamily="2" charset="-122"/>
              </a:rPr>
              <a:t>结论： </a:t>
            </a:r>
            <a:r>
              <a:rPr lang="zh-CN" altLang="en-US" sz="3000" b="1" dirty="0" smtClean="0">
                <a:ea typeface="宋体" panose="02010600030101010101" pitchFamily="2" charset="-122"/>
              </a:rPr>
              <a:t>奇置换可表为奇数个对换之积，               偶置换可表为偶数个对换之积。</a:t>
            </a:r>
            <a:endParaRPr lang="en-US" altLang="zh-CN" sz="3000" b="1" dirty="0" smtClean="0">
              <a:ea typeface="宋体" panose="02010600030101010101" pitchFamily="2" charset="-122"/>
            </a:endParaRPr>
          </a:p>
          <a:p>
            <a:pPr marL="0" indent="0">
              <a:lnSpc>
                <a:spcPct val="140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zh-CN" altLang="en-US" sz="3000" b="1" dirty="0" smtClean="0">
                <a:ea typeface="宋体" panose="02010600030101010101" pitchFamily="2" charset="-122"/>
              </a:rPr>
              <a:t>结论：</a:t>
            </a:r>
            <a:endParaRPr lang="en-US" altLang="zh-CN" sz="3000" b="1" dirty="0" smtClean="0">
              <a:ea typeface="宋体" panose="02010600030101010101" pitchFamily="2" charset="-122"/>
            </a:endParaRPr>
          </a:p>
          <a:p>
            <a:pPr marL="0" indent="0">
              <a:lnSpc>
                <a:spcPct val="140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zh-CN" altLang="en-US" sz="3200" b="1" dirty="0" smtClean="0">
                <a:ea typeface="宋体" panose="02010600030101010101" pitchFamily="2" charset="-122"/>
                <a:sym typeface="Symbol" panose="05050102010706020507" pitchFamily="18" charset="2"/>
              </a:rPr>
              <a:t>            偶</a:t>
            </a:r>
            <a:r>
              <a:rPr lang="en-US" altLang="zh-CN" sz="3200" b="1" dirty="0" smtClean="0">
                <a:ea typeface="宋体" panose="02010600030101010101" pitchFamily="2" charset="-122"/>
                <a:sym typeface="Symbol" panose="05050102010706020507" pitchFamily="18" charset="2"/>
              </a:rPr>
              <a:t>×</a:t>
            </a:r>
            <a:r>
              <a:rPr lang="zh-CN" altLang="en-US" sz="3200" b="1" dirty="0" smtClean="0">
                <a:ea typeface="宋体" panose="02010600030101010101" pitchFamily="2" charset="-122"/>
                <a:sym typeface="Symbol" panose="05050102010706020507" pitchFamily="18" charset="2"/>
              </a:rPr>
              <a:t>偶</a:t>
            </a:r>
            <a:r>
              <a:rPr lang="en-US" altLang="zh-CN" sz="3200" b="1" dirty="0" smtClean="0"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lang="zh-CN" altLang="en-US" sz="3200" b="1" dirty="0" smtClean="0">
                <a:ea typeface="宋体" panose="02010600030101010101" pitchFamily="2" charset="-122"/>
                <a:sym typeface="Symbol" panose="05050102010706020507" pitchFamily="18" charset="2"/>
              </a:rPr>
              <a:t>偶         奇</a:t>
            </a:r>
            <a:r>
              <a:rPr lang="en-US" altLang="zh-CN" sz="3200" b="1" dirty="0" smtClean="0">
                <a:ea typeface="宋体" panose="02010600030101010101" pitchFamily="2" charset="-122"/>
                <a:sym typeface="Symbol" panose="05050102010706020507" pitchFamily="18" charset="2"/>
              </a:rPr>
              <a:t>×</a:t>
            </a:r>
            <a:r>
              <a:rPr lang="zh-CN" altLang="en-US" sz="3200" b="1" dirty="0" smtClean="0">
                <a:ea typeface="宋体" panose="02010600030101010101" pitchFamily="2" charset="-122"/>
                <a:sym typeface="Symbol" panose="05050102010706020507" pitchFamily="18" charset="2"/>
              </a:rPr>
              <a:t>奇</a:t>
            </a:r>
            <a:r>
              <a:rPr lang="en-US" altLang="zh-CN" sz="3200" b="1" dirty="0" smtClean="0"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lang="zh-CN" altLang="en-US" sz="3200" b="1" dirty="0" smtClean="0">
                <a:ea typeface="宋体" panose="02010600030101010101" pitchFamily="2" charset="-122"/>
                <a:sym typeface="Symbol" panose="05050102010706020507" pitchFamily="18" charset="2"/>
              </a:rPr>
              <a:t>偶</a:t>
            </a:r>
          </a:p>
          <a:p>
            <a:pPr marL="0" indent="0">
              <a:lnSpc>
                <a:spcPct val="140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zh-CN" altLang="en-US" sz="3200" b="1" dirty="0" smtClean="0">
                <a:ea typeface="宋体" panose="02010600030101010101" pitchFamily="2" charset="-122"/>
                <a:sym typeface="Symbol" panose="05050102010706020507" pitchFamily="18" charset="2"/>
              </a:rPr>
              <a:t>            偶</a:t>
            </a:r>
            <a:r>
              <a:rPr lang="en-US" altLang="zh-CN" sz="3200" b="1" dirty="0" smtClean="0">
                <a:ea typeface="宋体" panose="02010600030101010101" pitchFamily="2" charset="-122"/>
                <a:sym typeface="Symbol" panose="05050102010706020507" pitchFamily="18" charset="2"/>
              </a:rPr>
              <a:t>×</a:t>
            </a:r>
            <a:r>
              <a:rPr lang="zh-CN" altLang="en-US" sz="3200" b="1" dirty="0" smtClean="0">
                <a:ea typeface="宋体" panose="02010600030101010101" pitchFamily="2" charset="-122"/>
                <a:sym typeface="Symbol" panose="05050102010706020507" pitchFamily="18" charset="2"/>
              </a:rPr>
              <a:t>奇</a:t>
            </a:r>
            <a:r>
              <a:rPr lang="en-US" altLang="zh-CN" sz="3200" b="1" dirty="0" smtClean="0"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lang="zh-CN" altLang="en-US" sz="3200" b="1" dirty="0" smtClean="0">
                <a:ea typeface="宋体" panose="02010600030101010101" pitchFamily="2" charset="-122"/>
                <a:sym typeface="Symbol" panose="05050102010706020507" pitchFamily="18" charset="2"/>
              </a:rPr>
              <a:t>奇         奇</a:t>
            </a:r>
            <a:r>
              <a:rPr lang="en-US" altLang="zh-CN" sz="3200" b="1" dirty="0" smtClean="0">
                <a:ea typeface="宋体" panose="02010600030101010101" pitchFamily="2" charset="-122"/>
                <a:sym typeface="Symbol" panose="05050102010706020507" pitchFamily="18" charset="2"/>
              </a:rPr>
              <a:t>×</a:t>
            </a:r>
            <a:r>
              <a:rPr lang="zh-CN" altLang="en-US" sz="3200" b="1" dirty="0" smtClean="0">
                <a:ea typeface="宋体" panose="02010600030101010101" pitchFamily="2" charset="-122"/>
                <a:sym typeface="Symbol" panose="05050102010706020507" pitchFamily="18" charset="2"/>
              </a:rPr>
              <a:t>偶</a:t>
            </a:r>
            <a:r>
              <a:rPr lang="en-US" altLang="zh-CN" sz="3200" b="1" dirty="0" smtClean="0"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lang="zh-CN" altLang="en-US" sz="3200" b="1" dirty="0" smtClean="0">
                <a:ea typeface="宋体" panose="02010600030101010101" pitchFamily="2" charset="-122"/>
                <a:sym typeface="Symbol" panose="05050102010706020507" pitchFamily="18" charset="2"/>
              </a:rPr>
              <a:t>奇</a:t>
            </a:r>
            <a:endParaRPr lang="zh-CN" altLang="en-US" sz="4000" b="1" dirty="0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1257300" indent="-1257300">
              <a:lnSpc>
                <a:spcPct val="150000"/>
              </a:lnSpc>
              <a:spcBef>
                <a:spcPct val="0"/>
              </a:spcBef>
              <a:buClr>
                <a:schemeClr val="tx2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b="1" dirty="0" smtClean="0">
                <a:ea typeface="宋体" panose="02010600030101010101" pitchFamily="2" charset="-122"/>
              </a:rPr>
              <a:t> </a:t>
            </a:r>
          </a:p>
          <a:p>
            <a:pPr>
              <a:defRPr/>
            </a:pP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8263542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549275"/>
            <a:ext cx="8207375" cy="5688013"/>
          </a:xfrm>
        </p:spPr>
        <p:txBody>
          <a:bodyPr/>
          <a:lstStyle/>
          <a:p>
            <a:pPr marL="0" indent="0">
              <a:defRPr/>
            </a:pPr>
            <a:r>
              <a:rPr lang="zh-CN" altLang="en-US" sz="2800" b="1" dirty="0" smtClean="0">
                <a:solidFill>
                  <a:srgbClr val="0000FF"/>
                </a:solidFill>
                <a:ea typeface="宋体" pitchFamily="2" charset="-122"/>
              </a:rPr>
              <a:t>习题</a:t>
            </a:r>
            <a:r>
              <a:rPr lang="en-US" altLang="zh-CN" sz="2800" b="1" dirty="0" smtClean="0">
                <a:solidFill>
                  <a:srgbClr val="0000FF"/>
                </a:solidFill>
                <a:ea typeface="宋体" pitchFamily="2" charset="-122"/>
              </a:rPr>
              <a:t>6.2—9 </a:t>
            </a:r>
            <a:r>
              <a:rPr lang="zh-CN" altLang="en-US" sz="2800" b="1" dirty="0" smtClean="0">
                <a:solidFill>
                  <a:srgbClr val="0000FF"/>
                </a:solidFill>
                <a:ea typeface="宋体" pitchFamily="2" charset="-122"/>
              </a:rPr>
              <a:t>：</a:t>
            </a:r>
            <a:r>
              <a:rPr lang="zh-CN" altLang="zh-CN" sz="2800" b="1" dirty="0" smtClean="0">
                <a:ea typeface="宋体" pitchFamily="2" charset="-122"/>
              </a:rPr>
              <a:t> 试</a:t>
            </a:r>
            <a:r>
              <a:rPr lang="en-US" altLang="zh-CN" sz="2800" b="1" dirty="0" smtClean="0">
                <a:ea typeface="宋体" pitchFamily="2" charset="-122"/>
              </a:rPr>
              <a:t>n </a:t>
            </a:r>
            <a:r>
              <a:rPr lang="zh-CN" altLang="zh-CN" sz="2800" b="1" dirty="0" smtClean="0">
                <a:ea typeface="宋体" pitchFamily="2" charset="-122"/>
              </a:rPr>
              <a:t>个元素的所有置换作成</a:t>
            </a:r>
            <a:r>
              <a:rPr lang="en-US" altLang="zh-CN" sz="2800" b="1" dirty="0" smtClean="0">
                <a:ea typeface="宋体" pitchFamily="2" charset="-122"/>
              </a:rPr>
              <a:t>n</a:t>
            </a:r>
            <a:r>
              <a:rPr lang="zh-CN" altLang="zh-CN" sz="2800" b="1" dirty="0" smtClean="0">
                <a:ea typeface="宋体" pitchFamily="2" charset="-122"/>
              </a:rPr>
              <a:t>次对称群。</a:t>
            </a:r>
            <a:r>
              <a:rPr lang="en-US" altLang="zh-CN" sz="2800" b="1" dirty="0" smtClean="0">
                <a:ea typeface="宋体" pitchFamily="2" charset="-122"/>
              </a:rPr>
              <a:t>(1)</a:t>
            </a:r>
            <a:r>
              <a:rPr lang="zh-CN" altLang="zh-CN" sz="2800" b="1" dirty="0" smtClean="0">
                <a:ea typeface="宋体" pitchFamily="2" charset="-122"/>
              </a:rPr>
              <a:t>证明</a:t>
            </a:r>
            <a:r>
              <a:rPr lang="en-US" altLang="zh-CN" sz="2800" b="1" dirty="0" smtClean="0">
                <a:ea typeface="宋体" pitchFamily="2" charset="-122"/>
              </a:rPr>
              <a:t>n</a:t>
            </a:r>
            <a:r>
              <a:rPr lang="zh-CN" altLang="zh-CN" sz="2800" b="1" dirty="0" smtClean="0">
                <a:ea typeface="宋体" pitchFamily="2" charset="-122"/>
              </a:rPr>
              <a:t>个元素的所有</a:t>
            </a:r>
            <a:r>
              <a:rPr lang="zh-CN" altLang="zh-CN" sz="2800" b="1" dirty="0" smtClean="0">
                <a:solidFill>
                  <a:srgbClr val="0000FF"/>
                </a:solidFill>
                <a:ea typeface="宋体" pitchFamily="2" charset="-122"/>
              </a:rPr>
              <a:t>偶置换</a:t>
            </a:r>
            <a:r>
              <a:rPr lang="zh-CN" altLang="zh-CN" sz="2800" b="1" dirty="0" smtClean="0">
                <a:ea typeface="宋体" pitchFamily="2" charset="-122"/>
              </a:rPr>
              <a:t>作成群（叫做</a:t>
            </a:r>
            <a:r>
              <a:rPr lang="en-US" altLang="zh-CN" sz="2800" b="1" dirty="0" smtClean="0">
                <a:ea typeface="宋体" pitchFamily="2" charset="-122"/>
              </a:rPr>
              <a:t>n</a:t>
            </a:r>
            <a:r>
              <a:rPr lang="zh-CN" altLang="zh-CN" sz="2800" b="1" dirty="0" smtClean="0">
                <a:ea typeface="宋体" pitchFamily="2" charset="-122"/>
              </a:rPr>
              <a:t>次交代群</a:t>
            </a:r>
            <a:r>
              <a:rPr lang="en-US" altLang="zh-CN" sz="2800" b="1" dirty="0" smtClean="0">
                <a:ea typeface="宋体" pitchFamily="2" charset="-122"/>
              </a:rPr>
              <a:t>An</a:t>
            </a:r>
            <a:r>
              <a:rPr lang="zh-CN" altLang="zh-CN" sz="2800" b="1" dirty="0" smtClean="0">
                <a:ea typeface="宋体" pitchFamily="2" charset="-122"/>
              </a:rPr>
              <a:t>）。</a:t>
            </a:r>
            <a:endParaRPr lang="en-US" altLang="zh-CN" sz="2800" b="1" dirty="0" smtClean="0">
              <a:ea typeface="宋体" pitchFamily="2" charset="-122"/>
            </a:endParaRPr>
          </a:p>
          <a:p>
            <a:pPr marL="0" indent="0">
              <a:defRPr/>
            </a:pPr>
            <a:r>
              <a:rPr lang="en-US" altLang="zh-CN" sz="2800" b="1" dirty="0" smtClean="0">
                <a:ea typeface="宋体" pitchFamily="2" charset="-122"/>
              </a:rPr>
              <a:t>(1)</a:t>
            </a:r>
            <a:r>
              <a:rPr lang="zh-CN" altLang="en-US" sz="2800" b="1" dirty="0" smtClean="0">
                <a:ea typeface="宋体" pitchFamily="2" charset="-122"/>
              </a:rPr>
              <a:t>解</a:t>
            </a:r>
            <a:r>
              <a:rPr lang="en-US" altLang="zh-CN" sz="2800" b="1" dirty="0" smtClean="0">
                <a:ea typeface="宋体" pitchFamily="2" charset="-122"/>
              </a:rPr>
              <a:t>:</a:t>
            </a:r>
            <a:r>
              <a:rPr lang="zh-CN" altLang="en-US" sz="2800" b="1" dirty="0" smtClean="0">
                <a:ea typeface="宋体" pitchFamily="2" charset="-122"/>
              </a:rPr>
              <a:t>先证</a:t>
            </a:r>
            <a:r>
              <a:rPr lang="en-US" altLang="zh-CN" sz="2800" b="1" dirty="0" smtClean="0">
                <a:ea typeface="宋体" pitchFamily="2" charset="-122"/>
              </a:rPr>
              <a:t>n</a:t>
            </a:r>
            <a:r>
              <a:rPr lang="zh-CN" altLang="zh-CN" sz="2800" b="1" dirty="0" smtClean="0">
                <a:ea typeface="宋体" pitchFamily="2" charset="-122"/>
              </a:rPr>
              <a:t>次交代群</a:t>
            </a:r>
            <a:r>
              <a:rPr lang="en-US" altLang="zh-CN" sz="2800" b="1" dirty="0" smtClean="0">
                <a:ea typeface="宋体" pitchFamily="2" charset="-122"/>
              </a:rPr>
              <a:t>An</a:t>
            </a:r>
            <a:r>
              <a:rPr lang="zh-CN" altLang="en-US" sz="2800" b="1" dirty="0" smtClean="0">
                <a:ea typeface="宋体" pitchFamily="2" charset="-122"/>
              </a:rPr>
              <a:t>为群</a:t>
            </a:r>
            <a:endParaRPr lang="en-US" altLang="zh-CN" sz="2800" b="1" dirty="0" smtClean="0">
              <a:ea typeface="宋体" pitchFamily="2" charset="-122"/>
            </a:endParaRPr>
          </a:p>
          <a:p>
            <a:pPr marL="514350" indent="-514350">
              <a:buFont typeface="+mj-ea"/>
              <a:buAutoNum type="circleNumDbPlain"/>
              <a:defRPr/>
            </a:pPr>
            <a:r>
              <a:rPr lang="en-US" altLang="zh-CN" sz="2800" b="1" dirty="0" smtClean="0">
                <a:ea typeface="宋体" pitchFamily="2" charset="-122"/>
              </a:rPr>
              <a:t>An</a:t>
            </a:r>
            <a:r>
              <a:rPr lang="zh-CN" altLang="en-US" sz="2800" b="1" dirty="0" smtClean="0">
                <a:ea typeface="宋体" pitchFamily="2" charset="-122"/>
              </a:rPr>
              <a:t>非空，恒等置换</a:t>
            </a:r>
            <a:r>
              <a:rPr lang="en-US" altLang="zh-CN" sz="2800" b="1" dirty="0" smtClean="0">
                <a:ea typeface="宋体" pitchFamily="2" charset="-122"/>
              </a:rPr>
              <a:t>I</a:t>
            </a:r>
            <a:r>
              <a:rPr lang="zh-CN" altLang="en-US" sz="2800" b="1" dirty="0" smtClean="0">
                <a:ea typeface="宋体" pitchFamily="2" charset="-122"/>
              </a:rPr>
              <a:t>属于</a:t>
            </a:r>
            <a:r>
              <a:rPr lang="en-US" altLang="zh-CN" sz="2800" b="1" dirty="0" smtClean="0">
                <a:ea typeface="宋体" pitchFamily="2" charset="-122"/>
              </a:rPr>
              <a:t>An</a:t>
            </a:r>
          </a:p>
          <a:p>
            <a:pPr marL="514350" indent="-514350">
              <a:buFont typeface="+mj-ea"/>
              <a:buAutoNum type="circleNumDbPlain"/>
              <a:defRPr/>
            </a:pPr>
            <a:r>
              <a:rPr lang="zh-CN" altLang="en-US" sz="2800" b="1" dirty="0" smtClean="0">
                <a:ea typeface="宋体" pitchFamily="2" charset="-122"/>
              </a:rPr>
              <a:t>置换乘法在</a:t>
            </a:r>
            <a:r>
              <a:rPr lang="en-US" altLang="zh-CN" sz="2800" b="1" dirty="0" smtClean="0">
                <a:ea typeface="宋体" pitchFamily="2" charset="-122"/>
              </a:rPr>
              <a:t>An</a:t>
            </a:r>
            <a:r>
              <a:rPr lang="zh-CN" altLang="en-US" sz="2800" b="1" dirty="0" smtClean="0">
                <a:ea typeface="宋体" pitchFamily="2" charset="-122"/>
              </a:rPr>
              <a:t>上封闭，偶置换</a:t>
            </a:r>
            <a:r>
              <a:rPr lang="en-US" altLang="zh-CN" sz="2800" b="1" dirty="0" smtClean="0">
                <a:ea typeface="宋体" pitchFamily="2" charset="-122"/>
                <a:sym typeface="Symbol" pitchFamily="18" charset="2"/>
              </a:rPr>
              <a:t>×</a:t>
            </a:r>
            <a:r>
              <a:rPr lang="zh-CN" altLang="en-US" sz="2800" b="1" dirty="0" smtClean="0">
                <a:ea typeface="宋体" pitchFamily="2" charset="-122"/>
              </a:rPr>
              <a:t>偶置换</a:t>
            </a:r>
            <a:r>
              <a:rPr lang="en-US" altLang="zh-CN" sz="2800" b="1" dirty="0" smtClean="0">
                <a:ea typeface="宋体" pitchFamily="2" charset="-122"/>
              </a:rPr>
              <a:t>=</a:t>
            </a:r>
            <a:r>
              <a:rPr lang="zh-CN" altLang="en-US" sz="2800" b="1" dirty="0" smtClean="0">
                <a:ea typeface="宋体" pitchFamily="2" charset="-122"/>
              </a:rPr>
              <a:t>偶置换</a:t>
            </a:r>
            <a:endParaRPr lang="en-US" altLang="zh-CN" sz="2800" b="1" dirty="0" smtClean="0">
              <a:ea typeface="宋体" pitchFamily="2" charset="-122"/>
            </a:endParaRPr>
          </a:p>
          <a:p>
            <a:pPr marL="514350" indent="-514350">
              <a:buFont typeface="+mj-ea"/>
              <a:buAutoNum type="circleNumDbPlain"/>
              <a:defRPr/>
            </a:pPr>
            <a:r>
              <a:rPr lang="zh-CN" altLang="en-US" sz="2800" b="1" dirty="0" smtClean="0">
                <a:ea typeface="宋体" pitchFamily="2" charset="-122"/>
              </a:rPr>
              <a:t>置换乘法满足结合律</a:t>
            </a:r>
            <a:endParaRPr lang="en-US" altLang="zh-CN" sz="2800" b="1" dirty="0" smtClean="0">
              <a:ea typeface="宋体" pitchFamily="2" charset="-122"/>
            </a:endParaRPr>
          </a:p>
          <a:p>
            <a:pPr marL="514350" indent="-514350">
              <a:buFont typeface="+mj-ea"/>
              <a:buAutoNum type="circleNumDbPlain"/>
              <a:defRPr/>
            </a:pPr>
            <a:r>
              <a:rPr lang="zh-CN" altLang="en-US" sz="2800" b="1" dirty="0" smtClean="0">
                <a:ea typeface="宋体" pitchFamily="2" charset="-122"/>
              </a:rPr>
              <a:t>有单位元</a:t>
            </a:r>
            <a:r>
              <a:rPr lang="en-US" altLang="zh-CN" sz="2800" b="1" dirty="0" smtClean="0">
                <a:ea typeface="宋体" pitchFamily="2" charset="-122"/>
              </a:rPr>
              <a:t>I(</a:t>
            </a:r>
            <a:r>
              <a:rPr lang="zh-CN" altLang="en-US" sz="2800" b="1" dirty="0" smtClean="0">
                <a:ea typeface="宋体" pitchFamily="2" charset="-122"/>
              </a:rPr>
              <a:t>恒等置换</a:t>
            </a:r>
            <a:r>
              <a:rPr lang="en-US" altLang="zh-CN" sz="2800" b="1" dirty="0" smtClean="0">
                <a:ea typeface="宋体" pitchFamily="2" charset="-122"/>
              </a:rPr>
              <a:t>) ∈An</a:t>
            </a:r>
            <a:r>
              <a:rPr lang="zh-CN" altLang="en-US" sz="2800" b="1" dirty="0" smtClean="0">
                <a:ea typeface="宋体" pitchFamily="2" charset="-122"/>
              </a:rPr>
              <a:t>，</a:t>
            </a:r>
            <a:r>
              <a:rPr lang="en-US" altLang="zh-CN" sz="2800" b="1" dirty="0" smtClean="0">
                <a:ea typeface="宋体" pitchFamily="2" charset="-122"/>
              </a:rPr>
              <a:t>σ I=</a:t>
            </a:r>
            <a:r>
              <a:rPr lang="en-US" altLang="zh-CN" sz="2800" b="1" dirty="0" err="1" smtClean="0">
                <a:ea typeface="宋体" pitchFamily="2" charset="-122"/>
              </a:rPr>
              <a:t>Iσ</a:t>
            </a:r>
            <a:r>
              <a:rPr lang="en-US" altLang="zh-CN" sz="2800" b="1" dirty="0" smtClean="0">
                <a:ea typeface="宋体" pitchFamily="2" charset="-122"/>
              </a:rPr>
              <a:t>= σ</a:t>
            </a:r>
          </a:p>
          <a:p>
            <a:pPr marL="514350" indent="-514350">
              <a:buFont typeface="+mj-ea"/>
              <a:buAutoNum type="circleNumDbPlain"/>
              <a:defRPr/>
            </a:pPr>
            <a:r>
              <a:rPr lang="zh-CN" altLang="en-US" sz="2800" b="1" dirty="0" smtClean="0">
                <a:ea typeface="宋体" pitchFamily="2" charset="-122"/>
              </a:rPr>
              <a:t>对于任意一个</a:t>
            </a:r>
            <a:r>
              <a:rPr lang="en-US" altLang="zh-CN" sz="2400" b="1" dirty="0" smtClean="0">
                <a:ea typeface="宋体" pitchFamily="2" charset="-122"/>
              </a:rPr>
              <a:t>σ </a:t>
            </a:r>
            <a:r>
              <a:rPr lang="en-US" altLang="zh-CN" sz="2800" b="1" dirty="0" smtClean="0">
                <a:ea typeface="宋体" pitchFamily="2" charset="-122"/>
              </a:rPr>
              <a:t>∈</a:t>
            </a:r>
            <a:r>
              <a:rPr lang="en-US" altLang="zh-CN" sz="2400" b="1" dirty="0" smtClean="0">
                <a:ea typeface="宋体" pitchFamily="2" charset="-122"/>
              </a:rPr>
              <a:t>An</a:t>
            </a:r>
            <a:r>
              <a:rPr lang="zh-CN" altLang="en-US" sz="2400" b="1" dirty="0" smtClean="0">
                <a:ea typeface="宋体" pitchFamily="2" charset="-122"/>
              </a:rPr>
              <a:t>，都存在一个</a:t>
            </a:r>
            <a:r>
              <a:rPr lang="en-US" altLang="zh-CN" b="1" dirty="0" smtClean="0">
                <a:ea typeface="宋体" pitchFamily="2" charset="-122"/>
              </a:rPr>
              <a:t>σ</a:t>
            </a:r>
            <a:r>
              <a:rPr lang="en-US" altLang="zh-CN" b="1" baseline="30000" dirty="0" smtClean="0">
                <a:ea typeface="宋体" pitchFamily="2" charset="-122"/>
              </a:rPr>
              <a:t>-1</a:t>
            </a:r>
            <a:r>
              <a:rPr lang="en-US" altLang="zh-CN" sz="3200" b="1" dirty="0" smtClean="0">
                <a:ea typeface="宋体" pitchFamily="2" charset="-122"/>
              </a:rPr>
              <a:t>∈</a:t>
            </a:r>
            <a:r>
              <a:rPr lang="en-US" altLang="zh-CN" sz="2800" b="1" dirty="0" smtClean="0">
                <a:ea typeface="宋体" pitchFamily="2" charset="-122"/>
              </a:rPr>
              <a:t>An</a:t>
            </a:r>
            <a:r>
              <a:rPr lang="zh-CN" altLang="en-US" sz="2800" b="1" dirty="0" smtClean="0">
                <a:ea typeface="宋体" pitchFamily="2" charset="-122"/>
              </a:rPr>
              <a:t>，使</a:t>
            </a:r>
            <a:endParaRPr lang="en-US" altLang="zh-CN" sz="2800" b="1" dirty="0" smtClean="0">
              <a:ea typeface="宋体" pitchFamily="2" charset="-12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>
                <a:ea typeface="宋体" pitchFamily="2" charset="-122"/>
              </a:rPr>
              <a:t>σσ</a:t>
            </a:r>
            <a:r>
              <a:rPr lang="en-US" altLang="zh-CN" sz="2800" b="1" baseline="30000" dirty="0" smtClean="0">
                <a:ea typeface="宋体" pitchFamily="2" charset="-122"/>
              </a:rPr>
              <a:t>-1</a:t>
            </a:r>
            <a:r>
              <a:rPr lang="zh-CN" altLang="en-US" sz="2800" b="1" baseline="30000" dirty="0" smtClean="0">
                <a:ea typeface="宋体" pitchFamily="2" charset="-122"/>
              </a:rPr>
              <a:t>＝</a:t>
            </a:r>
            <a:r>
              <a:rPr lang="en-US" altLang="zh-CN" sz="2800" b="1" dirty="0" smtClean="0">
                <a:ea typeface="宋体" pitchFamily="2" charset="-122"/>
              </a:rPr>
              <a:t>I</a:t>
            </a:r>
            <a:r>
              <a:rPr lang="zh-CN" altLang="en-US" sz="2800" b="1" dirty="0" smtClean="0">
                <a:ea typeface="宋体" pitchFamily="2" charset="-122"/>
              </a:rPr>
              <a:t>。因</a:t>
            </a:r>
            <a:r>
              <a:rPr lang="en-US" altLang="zh-CN" sz="2800" b="1" dirty="0" err="1" smtClean="0">
                <a:ea typeface="宋体" pitchFamily="2" charset="-122"/>
              </a:rPr>
              <a:t>Sn</a:t>
            </a:r>
            <a:r>
              <a:rPr lang="zh-CN" altLang="en-US" sz="2800" b="1" dirty="0" smtClean="0">
                <a:ea typeface="宋体" pitchFamily="2" charset="-122"/>
              </a:rPr>
              <a:t>为</a:t>
            </a:r>
            <a:r>
              <a:rPr lang="en-US" altLang="zh-CN" sz="2800" b="1" dirty="0" smtClean="0">
                <a:ea typeface="宋体" pitchFamily="2" charset="-122"/>
              </a:rPr>
              <a:t>n</a:t>
            </a:r>
            <a:r>
              <a:rPr lang="zh-CN" altLang="en-US" sz="2800" b="1" dirty="0" smtClean="0">
                <a:ea typeface="宋体" pitchFamily="2" charset="-122"/>
              </a:rPr>
              <a:t>次对称群，</a:t>
            </a:r>
            <a:r>
              <a:rPr lang="en-US" altLang="zh-CN" sz="2800" b="1" dirty="0" smtClean="0">
                <a:ea typeface="宋体" pitchFamily="2" charset="-122"/>
              </a:rPr>
              <a:t>σ</a:t>
            </a:r>
            <a:r>
              <a:rPr lang="zh-CN" altLang="en-US" sz="2800" b="1" dirty="0" smtClean="0">
                <a:ea typeface="宋体" pitchFamily="2" charset="-122"/>
              </a:rPr>
              <a:t>在</a:t>
            </a:r>
            <a:r>
              <a:rPr lang="en-US" altLang="zh-CN" sz="2800" b="1" dirty="0" err="1" smtClean="0">
                <a:ea typeface="宋体" pitchFamily="2" charset="-122"/>
              </a:rPr>
              <a:t>Sn</a:t>
            </a:r>
            <a:r>
              <a:rPr lang="zh-CN" altLang="en-US" sz="2800" b="1" dirty="0" smtClean="0">
                <a:ea typeface="宋体" pitchFamily="2" charset="-122"/>
              </a:rPr>
              <a:t>中必有逆，</a:t>
            </a:r>
            <a:r>
              <a:rPr lang="en-US" altLang="zh-CN" sz="2800" b="1" dirty="0" smtClean="0">
                <a:ea typeface="宋体" pitchFamily="2" charset="-122"/>
              </a:rPr>
              <a:t>σσ</a:t>
            </a:r>
            <a:r>
              <a:rPr lang="en-US" altLang="zh-CN" sz="2800" b="1" baseline="30000" dirty="0" smtClean="0">
                <a:ea typeface="宋体" pitchFamily="2" charset="-122"/>
              </a:rPr>
              <a:t>-1</a:t>
            </a:r>
            <a:r>
              <a:rPr lang="zh-CN" altLang="en-US" sz="2800" b="1" baseline="30000" dirty="0" smtClean="0">
                <a:ea typeface="宋体" pitchFamily="2" charset="-122"/>
              </a:rPr>
              <a:t>＝</a:t>
            </a:r>
            <a:r>
              <a:rPr lang="en-US" altLang="zh-CN" sz="2800" b="1" dirty="0" smtClean="0">
                <a:ea typeface="宋体" pitchFamily="2" charset="-122"/>
              </a:rPr>
              <a:t>I</a:t>
            </a:r>
            <a:r>
              <a:rPr lang="zh-CN" altLang="en-US" sz="2800" b="1" dirty="0" smtClean="0">
                <a:ea typeface="宋体" pitchFamily="2" charset="-122"/>
              </a:rPr>
              <a:t>，</a:t>
            </a:r>
            <a:r>
              <a:rPr lang="en-US" altLang="zh-CN" sz="2800" b="1" dirty="0" smtClean="0">
                <a:ea typeface="宋体" pitchFamily="2" charset="-122"/>
              </a:rPr>
              <a:t>σ</a:t>
            </a:r>
            <a:r>
              <a:rPr lang="zh-CN" altLang="en-US" sz="2800" b="1" dirty="0" smtClean="0">
                <a:ea typeface="宋体" pitchFamily="2" charset="-122"/>
              </a:rPr>
              <a:t>为偶置换，</a:t>
            </a:r>
            <a:r>
              <a:rPr lang="en-US" altLang="zh-CN" sz="2800" b="1" dirty="0" smtClean="0">
                <a:ea typeface="宋体" pitchFamily="2" charset="-122"/>
              </a:rPr>
              <a:t>I</a:t>
            </a:r>
            <a:r>
              <a:rPr lang="zh-CN" altLang="en-US" sz="2800" b="1" dirty="0" smtClean="0">
                <a:ea typeface="宋体" pitchFamily="2" charset="-122"/>
              </a:rPr>
              <a:t>为偶置换</a:t>
            </a:r>
            <a:r>
              <a:rPr lang="en-US" altLang="zh-CN" sz="2800" b="1" dirty="0" smtClean="0">
                <a:ea typeface="宋体" pitchFamily="2" charset="-122"/>
              </a:rPr>
              <a:t>,</a:t>
            </a:r>
            <a:r>
              <a:rPr lang="zh-CN" altLang="en-US" sz="2800" b="1" dirty="0" smtClean="0">
                <a:ea typeface="宋体" pitchFamily="2" charset="-122"/>
              </a:rPr>
              <a:t>因此，</a:t>
            </a:r>
            <a:r>
              <a:rPr lang="en-US" altLang="zh-CN" sz="2800" b="1" dirty="0" smtClean="0">
                <a:ea typeface="宋体" pitchFamily="2" charset="-122"/>
              </a:rPr>
              <a:t>σ</a:t>
            </a:r>
            <a:r>
              <a:rPr lang="en-US" altLang="zh-CN" sz="2800" b="1" baseline="30000" dirty="0" smtClean="0">
                <a:ea typeface="宋体" pitchFamily="2" charset="-122"/>
              </a:rPr>
              <a:t>-1</a:t>
            </a:r>
            <a:r>
              <a:rPr lang="zh-CN" altLang="en-US" sz="2800" b="1" dirty="0" smtClean="0">
                <a:ea typeface="宋体" pitchFamily="2" charset="-122"/>
              </a:rPr>
              <a:t>为偶置换</a:t>
            </a:r>
            <a:r>
              <a:rPr lang="en-US" altLang="zh-CN" sz="2800" b="1" dirty="0" smtClean="0">
                <a:ea typeface="宋体" pitchFamily="2" charset="-122"/>
              </a:rPr>
              <a:t>∈An</a:t>
            </a:r>
            <a:endParaRPr lang="zh-CN" altLang="zh-CN" sz="2800" dirty="0" smtClean="0">
              <a:ea typeface="宋体" pitchFamily="2" charset="-122"/>
            </a:endParaRPr>
          </a:p>
          <a:p>
            <a:pPr marL="514350" indent="-514350">
              <a:buFont typeface="+mj-ea"/>
              <a:buAutoNum type="circleNumDbPlain"/>
              <a:defRPr/>
            </a:pPr>
            <a:endParaRPr lang="en-US" altLang="zh-CN" dirty="0" smtClean="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1287893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1975" y="692150"/>
            <a:ext cx="8301038" cy="5356225"/>
          </a:xfrm>
        </p:spPr>
        <p:txBody>
          <a:bodyPr/>
          <a:lstStyle/>
          <a:p>
            <a:pPr marL="0" indent="0">
              <a:defRPr/>
            </a:pPr>
            <a:r>
              <a:rPr lang="en-US" altLang="zh-CN" sz="2800" b="1" dirty="0" smtClean="0">
                <a:ea typeface="宋体" pitchFamily="2" charset="-122"/>
              </a:rPr>
              <a:t>(2)</a:t>
            </a:r>
            <a:r>
              <a:rPr lang="zh-CN" altLang="zh-CN" sz="2800" b="1" dirty="0" smtClean="0">
                <a:ea typeface="宋体" pitchFamily="2" charset="-122"/>
              </a:rPr>
              <a:t>写出四次交代群中的元素。</a:t>
            </a:r>
            <a:r>
              <a:rPr lang="en-US" altLang="zh-CN" sz="2800" b="1" dirty="0" smtClean="0">
                <a:ea typeface="宋体" pitchFamily="2" charset="-122"/>
              </a:rPr>
              <a:t>(3)n</a:t>
            </a:r>
            <a:r>
              <a:rPr lang="zh-CN" altLang="zh-CN" sz="2800" b="1" dirty="0" smtClean="0">
                <a:ea typeface="宋体" pitchFamily="2" charset="-122"/>
              </a:rPr>
              <a:t>次交代群</a:t>
            </a:r>
            <a:r>
              <a:rPr lang="en-US" altLang="zh-CN" sz="2800" b="1" dirty="0" smtClean="0">
                <a:ea typeface="宋体" pitchFamily="2" charset="-122"/>
              </a:rPr>
              <a:t>An</a:t>
            </a:r>
            <a:r>
              <a:rPr lang="zh-CN" altLang="zh-CN" sz="2800" b="1" dirty="0" smtClean="0">
                <a:ea typeface="宋体" pitchFamily="2" charset="-122"/>
              </a:rPr>
              <a:t>的元数为何？</a:t>
            </a:r>
            <a:endParaRPr lang="en-US" altLang="zh-CN" sz="2800" b="1" dirty="0" smtClean="0">
              <a:ea typeface="宋体" pitchFamily="2" charset="-122"/>
            </a:endParaRPr>
          </a:p>
          <a:p>
            <a:pPr indent="14288">
              <a:buFont typeface="Wingdings" panose="05000000000000000000" pitchFamily="2" charset="2"/>
              <a:buNone/>
              <a:defRPr/>
            </a:pPr>
            <a:r>
              <a:rPr lang="zh-CN" altLang="en-US" sz="2800" b="1" dirty="0" smtClean="0">
                <a:solidFill>
                  <a:srgbClr val="0000FF"/>
                </a:solidFill>
                <a:ea typeface="宋体" pitchFamily="2" charset="-122"/>
              </a:rPr>
              <a:t>解</a:t>
            </a:r>
            <a:r>
              <a:rPr lang="en-US" altLang="zh-CN" sz="2800" b="1" dirty="0" smtClean="0">
                <a:solidFill>
                  <a:srgbClr val="0000FF"/>
                </a:solidFill>
                <a:ea typeface="宋体" pitchFamily="2" charset="-122"/>
              </a:rPr>
              <a:t>(2)</a:t>
            </a:r>
            <a:r>
              <a:rPr lang="zh-CN" altLang="en-US" sz="2800" b="1" dirty="0" smtClean="0">
                <a:solidFill>
                  <a:srgbClr val="0000FF"/>
                </a:solidFill>
                <a:ea typeface="宋体" pitchFamily="2" charset="-122"/>
              </a:rPr>
              <a:t>：</a:t>
            </a:r>
            <a:r>
              <a:rPr lang="en-US" altLang="zh-CN" sz="2800" dirty="0" smtClean="0"/>
              <a:t> </a:t>
            </a:r>
            <a:r>
              <a:rPr lang="en-US" altLang="zh-CN" sz="2800" b="1" dirty="0" smtClean="0"/>
              <a:t>A</a:t>
            </a:r>
            <a:r>
              <a:rPr lang="en-US" altLang="zh-CN" sz="2800" b="1" baseline="-25000" dirty="0" smtClean="0"/>
              <a:t>4</a:t>
            </a:r>
            <a:r>
              <a:rPr lang="zh-CN" altLang="zh-CN" sz="2800" dirty="0" smtClean="0"/>
              <a:t>：</a:t>
            </a:r>
            <a:r>
              <a:rPr lang="en-US" altLang="zh-CN" sz="2800" b="1" dirty="0" smtClean="0"/>
              <a:t> I</a:t>
            </a:r>
          </a:p>
          <a:p>
            <a:pPr indent="14288"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/>
              <a:t>(1 2 3), (1 3 2), (1 2 4), (1 4 2),</a:t>
            </a:r>
            <a:endParaRPr lang="zh-CN" altLang="zh-CN" sz="2800" dirty="0" smtClean="0"/>
          </a:p>
          <a:p>
            <a:pPr indent="14288"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/>
              <a:t>(1 3 4), (1 4 3), (2 3 4), (2 4 3)</a:t>
            </a:r>
            <a:r>
              <a:rPr lang="zh-CN" altLang="zh-CN" sz="2800" b="1" dirty="0" smtClean="0"/>
              <a:t>；</a:t>
            </a:r>
            <a:endParaRPr lang="zh-CN" altLang="zh-CN" sz="2800" dirty="0" smtClean="0"/>
          </a:p>
          <a:p>
            <a:pPr indent="14288"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/>
              <a:t>(1 2)(3 4), (1 3)(2 4), (1 4)(2 3)</a:t>
            </a:r>
          </a:p>
          <a:p>
            <a:pPr indent="14288">
              <a:buFont typeface="Wingdings" panose="05000000000000000000" pitchFamily="2" charset="2"/>
              <a:buNone/>
              <a:defRPr/>
            </a:pPr>
            <a:endParaRPr lang="en-US" altLang="zh-CN" sz="2800" b="1" dirty="0" smtClean="0">
              <a:solidFill>
                <a:srgbClr val="0000FF"/>
              </a:solidFill>
            </a:endParaRPr>
          </a:p>
          <a:p>
            <a:pPr indent="14288">
              <a:buFont typeface="Wingdings" panose="05000000000000000000" pitchFamily="2" charset="2"/>
              <a:buNone/>
              <a:defRPr/>
            </a:pPr>
            <a:r>
              <a:rPr lang="zh-CN" altLang="en-US" sz="2800" b="1" dirty="0" smtClean="0">
                <a:solidFill>
                  <a:srgbClr val="0000FF"/>
                </a:solidFill>
              </a:rPr>
              <a:t>解</a:t>
            </a:r>
            <a:r>
              <a:rPr lang="en-US" altLang="zh-CN" sz="2800" b="1" dirty="0" smtClean="0">
                <a:solidFill>
                  <a:srgbClr val="0000FF"/>
                </a:solidFill>
              </a:rPr>
              <a:t>(3):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zh-CN" altLang="en-US" sz="2800" dirty="0"/>
          </a:p>
        </p:txBody>
      </p:sp>
      <p:graphicFrame>
        <p:nvGraphicFramePr>
          <p:cNvPr id="103427" name="Object 2"/>
          <p:cNvGraphicFramePr>
            <a:graphicFrameLocks noChangeAspect="1"/>
          </p:cNvGraphicFramePr>
          <p:nvPr/>
        </p:nvGraphicFramePr>
        <p:xfrm>
          <a:off x="2411413" y="4149725"/>
          <a:ext cx="517525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595" name="公式" r:id="rId3" imgW="266469" imgH="393359" progId="Equation.3">
                  <p:embed/>
                </p:oleObj>
              </mc:Choice>
              <mc:Fallback>
                <p:oleObj name="公式" r:id="rId3" imgW="266469" imgH="39335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4149725"/>
                        <a:ext cx="517525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552832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内容占位符 2"/>
          <p:cNvSpPr>
            <a:spLocks noGrp="1"/>
          </p:cNvSpPr>
          <p:nvPr>
            <p:ph idx="1"/>
          </p:nvPr>
        </p:nvSpPr>
        <p:spPr>
          <a:xfrm>
            <a:off x="395288" y="692150"/>
            <a:ext cx="8353425" cy="5616575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700" b="1" dirty="0" smtClean="0">
                <a:solidFill>
                  <a:srgbClr val="0000FF"/>
                </a:solidFill>
                <a:ea typeface="宋体" pitchFamily="2" charset="-122"/>
              </a:rPr>
              <a:t>练习：</a:t>
            </a:r>
            <a:r>
              <a:rPr lang="zh-CN" altLang="zh-CN" sz="2700" b="1" dirty="0" smtClean="0">
                <a:ea typeface="宋体" pitchFamily="2" charset="-122"/>
              </a:rPr>
              <a:t>（</a:t>
            </a:r>
            <a:r>
              <a:rPr lang="en-US" altLang="zh-CN" sz="2700" b="1" dirty="0" smtClean="0">
                <a:ea typeface="宋体" pitchFamily="2" charset="-122"/>
              </a:rPr>
              <a:t>R</a:t>
            </a:r>
            <a:r>
              <a:rPr lang="zh-CN" altLang="zh-CN" sz="2700" b="1" dirty="0" smtClean="0">
                <a:ea typeface="宋体" pitchFamily="2" charset="-122"/>
              </a:rPr>
              <a:t>，</a:t>
            </a:r>
            <a:r>
              <a:rPr lang="en-US" altLang="zh-CN" sz="2700" b="1" dirty="0" smtClean="0">
                <a:ea typeface="宋体" pitchFamily="2" charset="-122"/>
              </a:rPr>
              <a:t>+</a:t>
            </a:r>
            <a:r>
              <a:rPr lang="zh-CN" altLang="zh-CN" sz="2700" b="1" dirty="0" smtClean="0">
                <a:ea typeface="宋体" pitchFamily="2" charset="-122"/>
              </a:rPr>
              <a:t>）为有理数加法群，（</a:t>
            </a:r>
            <a:r>
              <a:rPr lang="en-US" altLang="zh-CN" sz="2700" b="1" dirty="0" smtClean="0">
                <a:ea typeface="宋体" pitchFamily="2" charset="-122"/>
              </a:rPr>
              <a:t>R*</a:t>
            </a:r>
            <a:r>
              <a:rPr lang="zh-CN" altLang="zh-CN" sz="2700" b="1" dirty="0" smtClean="0">
                <a:ea typeface="宋体" pitchFamily="2" charset="-122"/>
              </a:rPr>
              <a:t>，</a:t>
            </a:r>
            <a:r>
              <a:rPr lang="en-US" altLang="zh-CN" sz="2700" b="1" dirty="0" smtClean="0">
                <a:ea typeface="宋体" pitchFamily="2" charset="-122"/>
              </a:rPr>
              <a:t>·</a:t>
            </a:r>
            <a:r>
              <a:rPr lang="zh-CN" altLang="zh-CN" sz="2700" b="1" dirty="0" smtClean="0">
                <a:ea typeface="宋体" pitchFamily="2" charset="-122"/>
              </a:rPr>
              <a:t>）为非零有理数乘法群，请问（</a:t>
            </a:r>
            <a:r>
              <a:rPr lang="en-US" altLang="zh-CN" sz="2700" b="1" dirty="0" smtClean="0">
                <a:ea typeface="宋体" pitchFamily="2" charset="-122"/>
              </a:rPr>
              <a:t>R</a:t>
            </a:r>
            <a:r>
              <a:rPr lang="zh-CN" altLang="zh-CN" sz="2700" b="1" dirty="0" smtClean="0">
                <a:ea typeface="宋体" pitchFamily="2" charset="-122"/>
              </a:rPr>
              <a:t>，</a:t>
            </a:r>
            <a:r>
              <a:rPr lang="en-US" altLang="zh-CN" sz="2700" b="1" dirty="0" smtClean="0">
                <a:ea typeface="宋体" pitchFamily="2" charset="-122"/>
              </a:rPr>
              <a:t>+</a:t>
            </a:r>
            <a:r>
              <a:rPr lang="zh-CN" altLang="zh-CN" sz="2700" b="1" dirty="0" smtClean="0">
                <a:ea typeface="宋体" pitchFamily="2" charset="-122"/>
              </a:rPr>
              <a:t>）和（</a:t>
            </a:r>
            <a:r>
              <a:rPr lang="en-US" altLang="zh-CN" sz="2700" b="1" dirty="0" smtClean="0">
                <a:ea typeface="宋体" pitchFamily="2" charset="-122"/>
              </a:rPr>
              <a:t>R*</a:t>
            </a:r>
            <a:r>
              <a:rPr lang="zh-CN" altLang="zh-CN" sz="2700" b="1" dirty="0" smtClean="0">
                <a:ea typeface="宋体" pitchFamily="2" charset="-122"/>
              </a:rPr>
              <a:t>，</a:t>
            </a:r>
            <a:r>
              <a:rPr lang="en-US" altLang="zh-CN" sz="2700" b="1" dirty="0" smtClean="0">
                <a:ea typeface="宋体" pitchFamily="2" charset="-122"/>
              </a:rPr>
              <a:t>·</a:t>
            </a:r>
            <a:r>
              <a:rPr lang="zh-CN" altLang="zh-CN" sz="2700" b="1" dirty="0" smtClean="0">
                <a:ea typeface="宋体" pitchFamily="2" charset="-122"/>
              </a:rPr>
              <a:t>）是否同构</a:t>
            </a:r>
            <a:r>
              <a:rPr lang="en-US" altLang="zh-CN" sz="2700" b="1" dirty="0" smtClean="0">
                <a:ea typeface="宋体" pitchFamily="2" charset="-122"/>
              </a:rPr>
              <a:t>?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2700" b="1" dirty="0" smtClean="0">
                <a:solidFill>
                  <a:srgbClr val="0000FF"/>
                </a:solidFill>
                <a:ea typeface="宋体" pitchFamily="2" charset="-122"/>
              </a:rPr>
              <a:t>解：</a:t>
            </a:r>
            <a:r>
              <a:rPr lang="zh-CN" altLang="en-US" sz="2700" b="1" dirty="0" smtClean="0">
                <a:ea typeface="宋体" pitchFamily="2" charset="-122"/>
              </a:rPr>
              <a:t>不同构。</a:t>
            </a:r>
            <a:endParaRPr lang="en-US" altLang="zh-CN" sz="2700" b="1" dirty="0" smtClean="0">
              <a:ea typeface="宋体" pitchFamily="2" charset="-122"/>
            </a:endParaRPr>
          </a:p>
          <a:p>
            <a:pPr marL="0" indent="0" algn="just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700" b="1" dirty="0" smtClean="0">
                <a:ea typeface="宋体" pitchFamily="2" charset="-122"/>
                <a:cs typeface="Times New Roman" pitchFamily="18" charset="0"/>
              </a:rPr>
              <a:t>用反证法。假设（</a:t>
            </a:r>
            <a:r>
              <a:rPr lang="en-US" altLang="zh-CN" sz="2700" b="1" dirty="0" smtClean="0">
                <a:ea typeface="宋体" pitchFamily="2" charset="-122"/>
                <a:cs typeface="Times New Roman" pitchFamily="18" charset="0"/>
              </a:rPr>
              <a:t>R</a:t>
            </a:r>
            <a:r>
              <a:rPr lang="en-US" altLang="zh-CN" sz="2700" b="1" baseline="30000" dirty="0" smtClean="0">
                <a:ea typeface="宋体" pitchFamily="2" charset="-122"/>
                <a:cs typeface="Times New Roman" pitchFamily="18" charset="0"/>
              </a:rPr>
              <a:t>*</a:t>
            </a:r>
            <a:r>
              <a:rPr lang="en-US" altLang="zh-CN" sz="2700" b="1" dirty="0" smtClean="0">
                <a:ea typeface="宋体" pitchFamily="2" charset="-122"/>
                <a:cs typeface="Times New Roman" pitchFamily="18" charset="0"/>
              </a:rPr>
              <a:t>，·）</a:t>
            </a:r>
            <a:r>
              <a:rPr lang="zh-CN" altLang="en-US" sz="2700" b="1" dirty="0" smtClean="0">
                <a:ea typeface="宋体" pitchFamily="2" charset="-122"/>
                <a:cs typeface="Times New Roman" pitchFamily="18" charset="0"/>
              </a:rPr>
              <a:t>与（</a:t>
            </a:r>
            <a:r>
              <a:rPr lang="en-US" altLang="zh-CN" sz="2700" b="1" dirty="0" smtClean="0">
                <a:ea typeface="宋体" pitchFamily="2" charset="-122"/>
                <a:cs typeface="Times New Roman" pitchFamily="18" charset="0"/>
              </a:rPr>
              <a:t>R，+）</a:t>
            </a:r>
            <a:r>
              <a:rPr lang="zh-CN" altLang="en-US" sz="2700" b="1" dirty="0" smtClean="0">
                <a:ea typeface="宋体" pitchFamily="2" charset="-122"/>
                <a:cs typeface="Times New Roman" pitchFamily="18" charset="0"/>
              </a:rPr>
              <a:t>同构，可设映射</a:t>
            </a:r>
            <a:r>
              <a:rPr lang="en-US" altLang="zh-CN" sz="2700" b="1" dirty="0" smtClean="0">
                <a:ea typeface="宋体" pitchFamily="2" charset="-122"/>
                <a:cs typeface="Times New Roman" pitchFamily="18" charset="0"/>
              </a:rPr>
              <a:t>σ</a:t>
            </a:r>
            <a:r>
              <a:rPr lang="zh-CN" altLang="en-US" sz="2700" b="1" dirty="0" smtClean="0">
                <a:ea typeface="宋体" pitchFamily="2" charset="-122"/>
                <a:cs typeface="Times New Roman" pitchFamily="18" charset="0"/>
              </a:rPr>
              <a:t>为</a:t>
            </a:r>
            <a:r>
              <a:rPr lang="en-US" altLang="zh-CN" sz="2700" b="1" dirty="0" smtClean="0">
                <a:ea typeface="宋体" pitchFamily="2" charset="-122"/>
                <a:cs typeface="Times New Roman" pitchFamily="18" charset="0"/>
              </a:rPr>
              <a:t>R</a:t>
            </a:r>
            <a:r>
              <a:rPr lang="en-US" altLang="zh-CN" sz="2700" b="1" baseline="30000" dirty="0" smtClean="0">
                <a:ea typeface="宋体" pitchFamily="2" charset="-122"/>
                <a:cs typeface="Times New Roman" pitchFamily="18" charset="0"/>
              </a:rPr>
              <a:t>*</a:t>
            </a:r>
            <a:r>
              <a:rPr lang="zh-CN" altLang="en-US" sz="2700" b="1" dirty="0" smtClean="0">
                <a:ea typeface="宋体" pitchFamily="2" charset="-122"/>
                <a:cs typeface="Times New Roman" pitchFamily="18" charset="0"/>
              </a:rPr>
              <a:t>到</a:t>
            </a:r>
            <a:r>
              <a:rPr lang="en-US" altLang="zh-CN" sz="2700" b="1" dirty="0" smtClean="0">
                <a:ea typeface="宋体" pitchFamily="2" charset="-122"/>
                <a:cs typeface="Times New Roman" pitchFamily="18" charset="0"/>
              </a:rPr>
              <a:t>R</a:t>
            </a:r>
            <a:r>
              <a:rPr lang="zh-CN" altLang="en-US" sz="2700" b="1" dirty="0" smtClean="0">
                <a:ea typeface="宋体" pitchFamily="2" charset="-122"/>
                <a:cs typeface="Times New Roman" pitchFamily="18" charset="0"/>
              </a:rPr>
              <a:t>上的一个同构映射，于是必有</a:t>
            </a:r>
          </a:p>
          <a:p>
            <a:pPr marL="0" indent="0" algn="just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700" b="1" dirty="0" smtClean="0">
                <a:ea typeface="宋体" pitchFamily="2" charset="-122"/>
                <a:cs typeface="Times New Roman" pitchFamily="18" charset="0"/>
              </a:rPr>
              <a:t>σ：1 </a:t>
            </a:r>
            <a:r>
              <a:rPr lang="en-US" altLang="zh-CN" sz="27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700" b="1" dirty="0" smtClean="0">
                <a:ea typeface="宋体" pitchFamily="2" charset="-122"/>
                <a:cs typeface="Times New Roman" pitchFamily="18" charset="0"/>
              </a:rPr>
              <a:t> 0，</a:t>
            </a:r>
          </a:p>
          <a:p>
            <a:pPr marL="0" indent="0" algn="just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700" b="1" dirty="0" smtClean="0">
                <a:ea typeface="宋体" pitchFamily="2" charset="-122"/>
                <a:cs typeface="Times New Roman" pitchFamily="18" charset="0"/>
              </a:rPr>
              <a:t>        -1 </a:t>
            </a:r>
            <a:r>
              <a:rPr lang="en-US" altLang="zh-CN" sz="27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700" b="1" dirty="0" smtClean="0">
                <a:ea typeface="宋体" pitchFamily="2" charset="-122"/>
                <a:cs typeface="Times New Roman" pitchFamily="18" charset="0"/>
              </a:rPr>
              <a:t> a，  a </a:t>
            </a:r>
            <a:r>
              <a:rPr lang="en-US" altLang="zh-CN" sz="27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≠ </a:t>
            </a:r>
            <a:r>
              <a:rPr lang="en-US" altLang="zh-CN" sz="2700" b="1" dirty="0" smtClean="0">
                <a:ea typeface="宋体" pitchFamily="2" charset="-122"/>
                <a:cs typeface="Times New Roman" pitchFamily="18" charset="0"/>
              </a:rPr>
              <a:t>0。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700" b="1" dirty="0" smtClean="0">
                <a:ea typeface="宋体" pitchFamily="2" charset="-122"/>
                <a:cs typeface="Times New Roman" pitchFamily="18" charset="0"/>
              </a:rPr>
              <a:t>从而，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700" b="1" dirty="0" smtClean="0">
                <a:ea typeface="宋体" pitchFamily="2" charset="-122"/>
                <a:cs typeface="Times New Roman" pitchFamily="18" charset="0"/>
              </a:rPr>
              <a:t>σ(1)=σ((-1)·(-1)) =σ(-1)+σ(-1)=</a:t>
            </a:r>
            <a:r>
              <a:rPr lang="en-US" altLang="zh-CN" sz="2700" b="1" dirty="0" err="1" smtClean="0">
                <a:ea typeface="宋体" pitchFamily="2" charset="-122"/>
                <a:cs typeface="Times New Roman" pitchFamily="18" charset="0"/>
              </a:rPr>
              <a:t>a+a</a:t>
            </a:r>
            <a:r>
              <a:rPr lang="en-US" altLang="zh-CN" sz="2700" b="1" dirty="0" smtClean="0">
                <a:ea typeface="宋体" pitchFamily="2" charset="-122"/>
                <a:cs typeface="Times New Roman" pitchFamily="18" charset="0"/>
              </a:rPr>
              <a:t>=2a。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700" b="1" dirty="0" smtClean="0">
                <a:ea typeface="宋体" pitchFamily="2" charset="-122"/>
                <a:cs typeface="Times New Roman" pitchFamily="18" charset="0"/>
              </a:rPr>
              <a:t>则有2</a:t>
            </a:r>
            <a:r>
              <a:rPr lang="en-US" altLang="zh-CN" sz="2700" b="1" dirty="0" smtClean="0">
                <a:ea typeface="宋体" pitchFamily="2" charset="-122"/>
                <a:cs typeface="Times New Roman" pitchFamily="18" charset="0"/>
              </a:rPr>
              <a:t>a=0，a=0，</a:t>
            </a:r>
            <a:r>
              <a:rPr lang="zh-CN" altLang="en-US" sz="2700" b="1" dirty="0" smtClean="0">
                <a:ea typeface="宋体" pitchFamily="2" charset="-122"/>
                <a:cs typeface="Times New Roman" pitchFamily="18" charset="0"/>
              </a:rPr>
              <a:t>与</a:t>
            </a:r>
            <a:r>
              <a:rPr lang="en-US" altLang="zh-CN" sz="2700" b="1" dirty="0" smtClean="0">
                <a:ea typeface="宋体" pitchFamily="2" charset="-122"/>
                <a:cs typeface="Times New Roman" pitchFamily="18" charset="0"/>
              </a:rPr>
              <a:t>a </a:t>
            </a:r>
            <a:r>
              <a:rPr lang="en-US" altLang="zh-CN" sz="2700" b="1" dirty="0" smtClean="0">
                <a:ea typeface="宋体" pitchFamily="2" charset="-122"/>
                <a:cs typeface="Times New Roman" pitchFamily="18" charset="0"/>
                <a:sym typeface="Symbol" pitchFamily="18" charset="2"/>
              </a:rPr>
              <a:t>≠</a:t>
            </a:r>
            <a:r>
              <a:rPr lang="en-US" altLang="zh-CN" sz="2700" b="1" dirty="0" smtClean="0">
                <a:ea typeface="宋体" pitchFamily="2" charset="-122"/>
                <a:cs typeface="Times New Roman" pitchFamily="18" charset="0"/>
              </a:rPr>
              <a:t> 0</a:t>
            </a:r>
            <a:r>
              <a:rPr lang="zh-CN" altLang="en-US" sz="2700" b="1" dirty="0" smtClean="0">
                <a:ea typeface="宋体" pitchFamily="2" charset="-122"/>
                <a:cs typeface="Times New Roman" pitchFamily="18" charset="0"/>
              </a:rPr>
              <a:t>矛盾。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2700" b="1" dirty="0" smtClean="0">
                <a:ea typeface="宋体" pitchFamily="2" charset="-122"/>
              </a:rPr>
              <a:t> </a:t>
            </a:r>
            <a:r>
              <a:rPr lang="en-US" altLang="zh-CN" sz="2700" b="1" dirty="0" smtClean="0">
                <a:solidFill>
                  <a:srgbClr val="0000FF"/>
                </a:solidFill>
                <a:ea typeface="宋体" pitchFamily="2" charset="-122"/>
              </a:rPr>
              <a:t>note:</a:t>
            </a:r>
            <a:r>
              <a:rPr lang="zh-CN" altLang="zh-CN" sz="2700" b="1" dirty="0" smtClean="0">
                <a:ea typeface="宋体" pitchFamily="2" charset="-122"/>
              </a:rPr>
              <a:t> </a:t>
            </a:r>
            <a:r>
              <a:rPr lang="zh-CN" altLang="en-US" sz="2700" b="1" dirty="0" smtClean="0">
                <a:ea typeface="宋体" pitchFamily="2" charset="-122"/>
              </a:rPr>
              <a:t>同理</a:t>
            </a:r>
            <a:r>
              <a:rPr lang="zh-CN" altLang="zh-CN" sz="2700" b="1" dirty="0" smtClean="0">
                <a:ea typeface="宋体" pitchFamily="2" charset="-122"/>
              </a:rPr>
              <a:t>（</a:t>
            </a:r>
            <a:r>
              <a:rPr lang="en-US" altLang="zh-CN" sz="2700" b="1" dirty="0" smtClean="0">
                <a:ea typeface="宋体" pitchFamily="2" charset="-122"/>
              </a:rPr>
              <a:t>Q</a:t>
            </a:r>
            <a:r>
              <a:rPr lang="zh-CN" altLang="zh-CN" sz="2700" b="1" dirty="0" smtClean="0">
                <a:ea typeface="宋体" pitchFamily="2" charset="-122"/>
              </a:rPr>
              <a:t>，</a:t>
            </a:r>
            <a:r>
              <a:rPr lang="en-US" altLang="zh-CN" sz="2700" b="1" dirty="0" smtClean="0">
                <a:ea typeface="宋体" pitchFamily="2" charset="-122"/>
              </a:rPr>
              <a:t>+</a:t>
            </a:r>
            <a:r>
              <a:rPr lang="zh-CN" altLang="zh-CN" sz="2700" b="1" dirty="0" smtClean="0">
                <a:ea typeface="宋体" pitchFamily="2" charset="-122"/>
              </a:rPr>
              <a:t>）和（</a:t>
            </a:r>
            <a:r>
              <a:rPr lang="en-US" altLang="zh-CN" sz="2700" b="1" dirty="0" smtClean="0">
                <a:ea typeface="宋体" pitchFamily="2" charset="-122"/>
              </a:rPr>
              <a:t>Q*</a:t>
            </a:r>
            <a:r>
              <a:rPr lang="zh-CN" altLang="zh-CN" sz="2700" b="1" dirty="0" smtClean="0">
                <a:ea typeface="宋体" pitchFamily="2" charset="-122"/>
              </a:rPr>
              <a:t>，</a:t>
            </a:r>
            <a:r>
              <a:rPr lang="en-US" altLang="zh-CN" sz="2700" b="1" dirty="0" smtClean="0">
                <a:ea typeface="宋体" pitchFamily="2" charset="-122"/>
              </a:rPr>
              <a:t>·</a:t>
            </a:r>
            <a:r>
              <a:rPr lang="zh-CN" altLang="zh-CN" sz="2700" b="1" dirty="0" smtClean="0">
                <a:ea typeface="宋体" pitchFamily="2" charset="-122"/>
              </a:rPr>
              <a:t>）</a:t>
            </a:r>
            <a:r>
              <a:rPr lang="zh-CN" altLang="en-US" sz="2700" b="1" dirty="0" smtClean="0">
                <a:ea typeface="宋体" pitchFamily="2" charset="-122"/>
              </a:rPr>
              <a:t>不同构。</a:t>
            </a:r>
            <a:endParaRPr lang="en-US" altLang="zh-CN" sz="2700" b="1" dirty="0" smtClean="0">
              <a:solidFill>
                <a:srgbClr val="0000FF"/>
              </a:solidFill>
              <a:ea typeface="宋体" pitchFamily="2" charset="-122"/>
            </a:endParaRPr>
          </a:p>
          <a:p>
            <a:pPr>
              <a:defRPr/>
            </a:pP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459023090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40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0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40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40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0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0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40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40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40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40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40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40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40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40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188" y="620713"/>
            <a:ext cx="8301037" cy="5688012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zh-CN" altLang="en-US" sz="2800" b="1" dirty="0" smtClean="0">
                <a:solidFill>
                  <a:srgbClr val="0000FF"/>
                </a:solidFill>
                <a:ea typeface="宋体" pitchFamily="2" charset="-122"/>
              </a:rPr>
              <a:t>练习：</a:t>
            </a:r>
            <a:r>
              <a:rPr lang="zh-CN" altLang="zh-CN" sz="2800" b="1" dirty="0" smtClean="0">
                <a:ea typeface="宋体" pitchFamily="2" charset="-122"/>
              </a:rPr>
              <a:t>设循环群</a:t>
            </a:r>
            <a:r>
              <a:rPr lang="en-US" altLang="zh-CN" sz="2800" b="1" dirty="0" smtClean="0">
                <a:ea typeface="宋体" pitchFamily="2" charset="-122"/>
              </a:rPr>
              <a:t>G=(a)</a:t>
            </a:r>
            <a:r>
              <a:rPr lang="zh-CN" altLang="zh-CN" sz="2800" b="1" dirty="0" smtClean="0">
                <a:ea typeface="宋体" pitchFamily="2" charset="-122"/>
              </a:rPr>
              <a:t>，</a:t>
            </a:r>
            <a:r>
              <a:rPr lang="en-US" altLang="zh-CN" sz="2800" b="1" dirty="0" smtClean="0">
                <a:ea typeface="宋体" pitchFamily="2" charset="-122"/>
              </a:rPr>
              <a:t>|G|=6</a:t>
            </a:r>
            <a:r>
              <a:rPr lang="zh-CN" altLang="zh-CN" sz="2800" b="1" dirty="0" smtClean="0">
                <a:ea typeface="宋体" pitchFamily="2" charset="-122"/>
              </a:rPr>
              <a:t>，（</a:t>
            </a:r>
            <a:r>
              <a:rPr lang="en-US" altLang="zh-CN" sz="2800" b="1" dirty="0" smtClean="0">
                <a:ea typeface="宋体" pitchFamily="2" charset="-122"/>
              </a:rPr>
              <a:t>Z</a:t>
            </a:r>
            <a:r>
              <a:rPr lang="zh-CN" altLang="zh-CN" sz="2800" b="1" dirty="0" smtClean="0">
                <a:ea typeface="宋体" pitchFamily="2" charset="-122"/>
              </a:rPr>
              <a:t>，</a:t>
            </a:r>
            <a:r>
              <a:rPr lang="en-US" altLang="zh-CN" sz="2800" b="1" dirty="0" smtClean="0">
                <a:ea typeface="宋体" pitchFamily="2" charset="-122"/>
              </a:rPr>
              <a:t>+</a:t>
            </a:r>
            <a:r>
              <a:rPr lang="zh-CN" altLang="zh-CN" sz="2800" b="1" dirty="0" smtClean="0">
                <a:ea typeface="宋体" pitchFamily="2" charset="-122"/>
              </a:rPr>
              <a:t>）为整数加法群，令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</a:t>
            </a:r>
            <a:r>
              <a:rPr lang="zh-CN" altLang="zh-CN" sz="2800" b="1" dirty="0" smtClean="0">
                <a:ea typeface="宋体" pitchFamily="2" charset="-122"/>
              </a:rPr>
              <a:t>是</a:t>
            </a:r>
            <a:r>
              <a:rPr lang="en-US" altLang="zh-CN" sz="2800" b="1" dirty="0" smtClean="0">
                <a:ea typeface="宋体" pitchFamily="2" charset="-122"/>
              </a:rPr>
              <a:t>Z</a:t>
            </a:r>
            <a:r>
              <a:rPr lang="zh-CN" altLang="zh-CN" sz="2800" b="1" dirty="0" smtClean="0">
                <a:ea typeface="宋体" pitchFamily="2" charset="-122"/>
              </a:rPr>
              <a:t>到</a:t>
            </a:r>
            <a:r>
              <a:rPr lang="en-US" altLang="zh-CN" sz="2800" b="1" dirty="0" smtClean="0">
                <a:ea typeface="宋体" pitchFamily="2" charset="-122"/>
              </a:rPr>
              <a:t>G</a:t>
            </a:r>
            <a:r>
              <a:rPr lang="zh-CN" altLang="zh-CN" sz="2800" b="1" dirty="0" smtClean="0">
                <a:ea typeface="宋体" pitchFamily="2" charset="-122"/>
              </a:rPr>
              <a:t>内映射</a:t>
            </a:r>
            <a:r>
              <a:rPr lang="en-US" altLang="zh-CN" sz="2800" b="1" dirty="0" smtClean="0">
                <a:ea typeface="宋体" pitchFamily="2" charset="-122"/>
              </a:rPr>
              <a:t/>
            </a:r>
            <a:br>
              <a:rPr lang="en-US" altLang="zh-CN" sz="2800" b="1" dirty="0" smtClean="0">
                <a:ea typeface="宋体" pitchFamily="2" charset="-122"/>
              </a:rPr>
            </a:br>
            <a:r>
              <a:rPr lang="en-US" altLang="zh-CN" sz="2800" b="1" dirty="0" smtClean="0">
                <a:ea typeface="宋体" pitchFamily="2" charset="-122"/>
                <a:sym typeface="Symbol"/>
              </a:rPr>
              <a:t></a:t>
            </a:r>
            <a:r>
              <a:rPr lang="zh-CN" altLang="zh-CN" sz="2800" b="1" dirty="0" smtClean="0">
                <a:ea typeface="宋体" pitchFamily="2" charset="-122"/>
              </a:rPr>
              <a:t>（</a:t>
            </a:r>
            <a:r>
              <a:rPr lang="en-US" altLang="zh-CN" sz="2800" b="1" dirty="0" smtClean="0">
                <a:ea typeface="宋体" pitchFamily="2" charset="-122"/>
              </a:rPr>
              <a:t>n</a:t>
            </a:r>
            <a:r>
              <a:rPr lang="zh-CN" altLang="zh-CN" sz="2800" b="1" dirty="0" smtClean="0">
                <a:ea typeface="宋体" pitchFamily="2" charset="-122"/>
              </a:rPr>
              <a:t>）</a:t>
            </a:r>
            <a:r>
              <a:rPr lang="en-US" altLang="zh-CN" sz="2800" b="1" dirty="0" smtClean="0">
                <a:ea typeface="宋体" pitchFamily="2" charset="-122"/>
              </a:rPr>
              <a:t>= a</a:t>
            </a:r>
            <a:r>
              <a:rPr lang="en-US" altLang="zh-CN" sz="2800" b="1" baseline="30000" dirty="0" smtClean="0">
                <a:ea typeface="宋体" pitchFamily="2" charset="-122"/>
              </a:rPr>
              <a:t>n</a:t>
            </a:r>
            <a:r>
              <a:rPr lang="zh-CN" altLang="zh-CN" sz="2800" b="1" dirty="0" smtClean="0">
                <a:ea typeface="宋体" pitchFamily="2" charset="-122"/>
              </a:rPr>
              <a:t>，</a:t>
            </a:r>
            <a:r>
              <a:rPr lang="en-US" altLang="zh-CN" sz="2800" b="1" dirty="0" err="1" smtClean="0">
                <a:ea typeface="宋体" pitchFamily="2" charset="-122"/>
              </a:rPr>
              <a:t>n</a:t>
            </a:r>
            <a:r>
              <a:rPr lang="en-US" altLang="zh-CN" sz="2800" b="1" dirty="0" err="1" smtClean="0">
                <a:ea typeface="宋体" pitchFamily="2" charset="-122"/>
                <a:sym typeface="Symbol"/>
              </a:rPr>
              <a:t></a:t>
            </a:r>
            <a:r>
              <a:rPr lang="en-US" altLang="zh-CN" sz="2800" b="1" dirty="0" err="1" smtClean="0">
                <a:ea typeface="宋体" pitchFamily="2" charset="-122"/>
              </a:rPr>
              <a:t>Z</a:t>
            </a:r>
            <a:r>
              <a:rPr lang="zh-CN" altLang="zh-CN" sz="2800" b="1" dirty="0" smtClean="0">
                <a:ea typeface="宋体" pitchFamily="2" charset="-122"/>
              </a:rPr>
              <a:t>。</a:t>
            </a:r>
            <a:r>
              <a:rPr lang="en-US" altLang="zh-CN" sz="2800" b="1" dirty="0" smtClean="0">
                <a:ea typeface="宋体" pitchFamily="2" charset="-122"/>
              </a:rPr>
              <a:t/>
            </a:r>
            <a:br>
              <a:rPr lang="en-US" altLang="zh-CN" sz="2800" b="1" dirty="0" smtClean="0">
                <a:ea typeface="宋体" pitchFamily="2" charset="-122"/>
              </a:rPr>
            </a:br>
            <a:r>
              <a:rPr lang="zh-CN" altLang="zh-CN" sz="2800" b="1" dirty="0" smtClean="0">
                <a:ea typeface="宋体" pitchFamily="2" charset="-122"/>
              </a:rPr>
              <a:t>（</a:t>
            </a:r>
            <a:r>
              <a:rPr lang="en-US" altLang="zh-CN" sz="2800" b="1" dirty="0" smtClean="0">
                <a:ea typeface="宋体" pitchFamily="2" charset="-122"/>
              </a:rPr>
              <a:t>1</a:t>
            </a:r>
            <a:r>
              <a:rPr lang="zh-CN" altLang="zh-CN" sz="2800" b="1" dirty="0" smtClean="0">
                <a:ea typeface="宋体" pitchFamily="2" charset="-122"/>
              </a:rPr>
              <a:t>）证明：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</a:t>
            </a:r>
            <a:r>
              <a:rPr lang="zh-CN" altLang="zh-CN" sz="2800" b="1" dirty="0" smtClean="0">
                <a:ea typeface="宋体" pitchFamily="2" charset="-122"/>
              </a:rPr>
              <a:t>是同态映射，且是满射。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>
                <a:ea typeface="宋体" pitchFamily="2" charset="-122"/>
              </a:rPr>
              <a:t>	</a:t>
            </a:r>
            <a:r>
              <a:rPr lang="zh-CN" altLang="zh-CN" sz="2800" b="1" dirty="0" smtClean="0">
                <a:ea typeface="宋体" pitchFamily="2" charset="-122"/>
              </a:rPr>
              <a:t>（</a:t>
            </a:r>
            <a:r>
              <a:rPr lang="en-US" altLang="zh-CN" sz="2800" b="1" dirty="0" smtClean="0">
                <a:ea typeface="宋体" pitchFamily="2" charset="-122"/>
              </a:rPr>
              <a:t>2</a:t>
            </a:r>
            <a:r>
              <a:rPr lang="zh-CN" altLang="zh-CN" sz="2800" b="1" dirty="0" smtClean="0">
                <a:ea typeface="宋体" pitchFamily="2" charset="-122"/>
              </a:rPr>
              <a:t>）设</a:t>
            </a:r>
            <a:r>
              <a:rPr lang="en-US" altLang="zh-CN" sz="2800" b="1" dirty="0" smtClean="0">
                <a:ea typeface="宋体" pitchFamily="2" charset="-122"/>
              </a:rPr>
              <a:t>N</a:t>
            </a:r>
            <a:r>
              <a:rPr lang="zh-CN" altLang="zh-CN" sz="2800" b="1" dirty="0" smtClean="0">
                <a:ea typeface="宋体" pitchFamily="2" charset="-122"/>
              </a:rPr>
              <a:t>是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</a:t>
            </a:r>
            <a:r>
              <a:rPr lang="zh-CN" altLang="zh-CN" sz="2800" b="1" dirty="0" smtClean="0">
                <a:ea typeface="宋体" pitchFamily="2" charset="-122"/>
              </a:rPr>
              <a:t>的同态核，求商群</a:t>
            </a:r>
            <a:r>
              <a:rPr lang="en-US" altLang="zh-CN" sz="2800" b="1" dirty="0" smtClean="0">
                <a:ea typeface="宋体" pitchFamily="2" charset="-122"/>
              </a:rPr>
              <a:t>Z/N</a:t>
            </a:r>
            <a:r>
              <a:rPr lang="zh-CN" altLang="zh-CN" sz="2800" b="1" dirty="0" smtClean="0">
                <a:ea typeface="宋体" pitchFamily="2" charset="-122"/>
              </a:rPr>
              <a:t>。</a:t>
            </a:r>
            <a:endParaRPr lang="en-US" altLang="zh-CN" sz="2800" b="1" dirty="0" smtClean="0">
              <a:ea typeface="宋体" pitchFamily="2" charset="-122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>
                <a:ea typeface="宋体" pitchFamily="2" charset="-122"/>
              </a:rPr>
              <a:t>      </a:t>
            </a:r>
            <a:r>
              <a:rPr lang="zh-CN" altLang="zh-CN" sz="2800" b="1" dirty="0"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ea typeface="宋体" panose="02010600030101010101" pitchFamily="2" charset="-122"/>
              </a:rPr>
              <a:t>(3) </a:t>
            </a:r>
            <a:r>
              <a:rPr lang="zh-CN" altLang="en-US" sz="2800" b="1" dirty="0">
                <a:ea typeface="宋体" panose="02010600030101010101" pitchFamily="2" charset="-122"/>
              </a:rPr>
              <a:t>求 </a:t>
            </a:r>
            <a:r>
              <a:rPr lang="en-US" altLang="zh-CN" sz="2800" b="1" dirty="0">
                <a:ea typeface="宋体" panose="02010600030101010101" pitchFamily="2" charset="-122"/>
              </a:rPr>
              <a:t>(a</a:t>
            </a:r>
            <a:r>
              <a:rPr lang="en-US" altLang="zh-CN" sz="2800" b="1" baseline="30000" dirty="0">
                <a:ea typeface="宋体" panose="02010600030101010101" pitchFamily="2" charset="-122"/>
              </a:rPr>
              <a:t>2</a:t>
            </a:r>
            <a:r>
              <a:rPr lang="en-US" altLang="zh-CN" sz="2800" b="1" dirty="0">
                <a:ea typeface="宋体" panose="02010600030101010101" pitchFamily="2" charset="-122"/>
              </a:rPr>
              <a:t>)</a:t>
            </a:r>
            <a:r>
              <a:rPr lang="zh-CN" altLang="en-US" sz="2800" b="1" dirty="0">
                <a:ea typeface="宋体" panose="02010600030101010101" pitchFamily="2" charset="-122"/>
              </a:rPr>
              <a:t>和</a:t>
            </a:r>
            <a:r>
              <a:rPr lang="en-US" altLang="zh-CN" sz="2800" b="1" dirty="0">
                <a:ea typeface="宋体" panose="02010600030101010101" pitchFamily="2" charset="-122"/>
              </a:rPr>
              <a:t>(a</a:t>
            </a:r>
            <a:r>
              <a:rPr lang="en-US" altLang="zh-CN" sz="2800" b="1" baseline="30000" dirty="0">
                <a:ea typeface="宋体" panose="02010600030101010101" pitchFamily="2" charset="-122"/>
              </a:rPr>
              <a:t>3</a:t>
            </a:r>
            <a:r>
              <a:rPr lang="en-US" altLang="zh-CN" sz="2800" b="1" dirty="0">
                <a:ea typeface="宋体" panose="02010600030101010101" pitchFamily="2" charset="-122"/>
              </a:rPr>
              <a:t>)</a:t>
            </a:r>
            <a:r>
              <a:rPr lang="zh-CN" altLang="en-US" sz="2800" b="1" dirty="0">
                <a:ea typeface="宋体" panose="02010600030101010101" pitchFamily="2" charset="-122"/>
              </a:rPr>
              <a:t>的原像的集合</a:t>
            </a:r>
            <a:endParaRPr lang="en-US" altLang="zh-CN" sz="2800" b="1" dirty="0" smtClean="0">
              <a:ea typeface="宋体" pitchFamily="2" charset="-122"/>
            </a:endParaRP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b="1" dirty="0" smtClean="0">
                <a:solidFill>
                  <a:srgbClr val="0000FF"/>
                </a:solidFill>
                <a:ea typeface="宋体" pitchFamily="2" charset="-122"/>
              </a:rPr>
              <a:t>解</a:t>
            </a:r>
            <a:r>
              <a:rPr lang="en-US" altLang="zh-CN" sz="2800" b="1" dirty="0" smtClean="0">
                <a:solidFill>
                  <a:srgbClr val="0000FF"/>
                </a:solidFill>
                <a:ea typeface="宋体" pitchFamily="2" charset="-122"/>
                <a:sym typeface="Wingdings" pitchFamily="2" charset="2"/>
              </a:rPr>
              <a:t>: (1) </a:t>
            </a:r>
            <a:r>
              <a:rPr lang="zh-CN" altLang="zh-CN" sz="2800" b="1" dirty="0" smtClean="0">
                <a:ea typeface="宋体" pitchFamily="2" charset="-122"/>
              </a:rPr>
              <a:t>对任意的</a:t>
            </a:r>
            <a:r>
              <a:rPr lang="en-US" altLang="zh-CN" sz="2800" b="1" dirty="0" err="1" smtClean="0">
                <a:ea typeface="宋体" pitchFamily="2" charset="-122"/>
              </a:rPr>
              <a:t>x,y</a:t>
            </a:r>
            <a:r>
              <a:rPr lang="en-US" altLang="zh-CN" sz="2800" b="1" dirty="0" err="1" smtClean="0">
                <a:ea typeface="宋体" pitchFamily="2" charset="-122"/>
                <a:sym typeface="Symbol"/>
              </a:rPr>
              <a:t></a:t>
            </a:r>
            <a:r>
              <a:rPr lang="en-US" altLang="zh-CN" sz="2800" b="1" dirty="0" err="1" smtClean="0">
                <a:ea typeface="宋体" pitchFamily="2" charset="-122"/>
              </a:rPr>
              <a:t>Z</a:t>
            </a:r>
            <a:r>
              <a:rPr lang="en-US" altLang="zh-CN" sz="2800" b="1" dirty="0" smtClean="0">
                <a:ea typeface="宋体" pitchFamily="2" charset="-122"/>
              </a:rPr>
              <a:t>, 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</a:t>
            </a:r>
            <a:r>
              <a:rPr lang="en-US" altLang="zh-CN" sz="2800" b="1" dirty="0" smtClean="0">
                <a:ea typeface="宋体" pitchFamily="2" charset="-122"/>
              </a:rPr>
              <a:t>(</a:t>
            </a:r>
            <a:r>
              <a:rPr lang="en-US" altLang="zh-CN" sz="2800" b="1" dirty="0" err="1" smtClean="0">
                <a:ea typeface="宋体" pitchFamily="2" charset="-122"/>
              </a:rPr>
              <a:t>x+y</a:t>
            </a:r>
            <a:r>
              <a:rPr lang="en-US" altLang="zh-CN" sz="2800" b="1" dirty="0" smtClean="0">
                <a:ea typeface="宋体" pitchFamily="2" charset="-122"/>
              </a:rPr>
              <a:t>)=</a:t>
            </a:r>
            <a:r>
              <a:rPr lang="en-US" altLang="zh-CN" sz="2800" b="1" dirty="0" err="1" smtClean="0">
                <a:ea typeface="宋体" pitchFamily="2" charset="-122"/>
              </a:rPr>
              <a:t>a</a:t>
            </a:r>
            <a:r>
              <a:rPr lang="en-US" altLang="zh-CN" sz="2800" b="1" baseline="30000" dirty="0" err="1" smtClean="0">
                <a:ea typeface="宋体" pitchFamily="2" charset="-122"/>
              </a:rPr>
              <a:t>x+y</a:t>
            </a:r>
            <a:r>
              <a:rPr lang="en-US" altLang="zh-CN" sz="2800" b="1" dirty="0" smtClean="0">
                <a:ea typeface="宋体" pitchFamily="2" charset="-122"/>
              </a:rPr>
              <a:t>=</a:t>
            </a:r>
            <a:r>
              <a:rPr lang="en-US" altLang="zh-CN" sz="2800" b="1" dirty="0" err="1" smtClean="0">
                <a:ea typeface="宋体" pitchFamily="2" charset="-122"/>
              </a:rPr>
              <a:t>a</a:t>
            </a:r>
            <a:r>
              <a:rPr lang="en-US" altLang="zh-CN" sz="2800" b="1" baseline="30000" dirty="0" err="1" smtClean="0">
                <a:ea typeface="宋体" pitchFamily="2" charset="-122"/>
              </a:rPr>
              <a:t>x</a:t>
            </a:r>
            <a:r>
              <a:rPr lang="en-US" altLang="zh-CN" sz="2800" b="1" dirty="0" err="1" smtClean="0">
                <a:ea typeface="宋体" pitchFamily="2" charset="-122"/>
              </a:rPr>
              <a:t>a</a:t>
            </a:r>
            <a:r>
              <a:rPr lang="en-US" altLang="zh-CN" sz="2800" b="1" baseline="30000" dirty="0" err="1" smtClean="0">
                <a:ea typeface="宋体" pitchFamily="2" charset="-122"/>
              </a:rPr>
              <a:t>y</a:t>
            </a:r>
            <a:r>
              <a:rPr lang="en-US" altLang="zh-CN" sz="2800" b="1" dirty="0" smtClean="0">
                <a:ea typeface="宋体" pitchFamily="2" charset="-122"/>
              </a:rPr>
              <a:t>=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</a:t>
            </a:r>
            <a:r>
              <a:rPr lang="en-US" altLang="zh-CN" sz="2800" b="1" dirty="0" smtClean="0">
                <a:ea typeface="宋体" pitchFamily="2" charset="-122"/>
              </a:rPr>
              <a:t>(x)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</a:t>
            </a:r>
            <a:r>
              <a:rPr lang="en-US" altLang="zh-CN" sz="2800" b="1" dirty="0" smtClean="0">
                <a:ea typeface="宋体" pitchFamily="2" charset="-122"/>
              </a:rPr>
              <a:t>(y)</a:t>
            </a:r>
            <a:r>
              <a:rPr lang="zh-CN" altLang="zh-CN" sz="2800" b="1" dirty="0" smtClean="0">
                <a:ea typeface="宋体" pitchFamily="2" charset="-122"/>
              </a:rPr>
              <a:t>，即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</a:t>
            </a:r>
            <a:r>
              <a:rPr lang="zh-CN" altLang="zh-CN" sz="2800" b="1" dirty="0" smtClean="0">
                <a:ea typeface="宋体" pitchFamily="2" charset="-122"/>
              </a:rPr>
              <a:t>是同态的。</a:t>
            </a: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zh-CN" sz="2800" b="1" dirty="0" smtClean="0">
                <a:ea typeface="宋体" pitchFamily="2" charset="-122"/>
              </a:rPr>
              <a:t>对于任意的</a:t>
            </a:r>
            <a:r>
              <a:rPr lang="en-US" altLang="zh-CN" sz="2800" b="1" dirty="0" smtClean="0">
                <a:ea typeface="宋体" pitchFamily="2" charset="-122"/>
              </a:rPr>
              <a:t>x=</a:t>
            </a:r>
            <a:r>
              <a:rPr lang="en-US" altLang="zh-CN" sz="2800" b="1" dirty="0" err="1" smtClean="0">
                <a:ea typeface="宋体" pitchFamily="2" charset="-122"/>
              </a:rPr>
              <a:t>a</a:t>
            </a:r>
            <a:r>
              <a:rPr lang="en-US" altLang="zh-CN" sz="2800" b="1" baseline="30000" dirty="0" err="1" smtClean="0">
                <a:ea typeface="宋体" pitchFamily="2" charset="-122"/>
              </a:rPr>
              <a:t>i</a:t>
            </a:r>
            <a:r>
              <a:rPr lang="en-US" altLang="zh-CN" sz="2800" b="1" dirty="0" err="1" smtClean="0">
                <a:ea typeface="宋体" pitchFamily="2" charset="-122"/>
                <a:sym typeface="Symbol"/>
              </a:rPr>
              <a:t></a:t>
            </a:r>
            <a:r>
              <a:rPr lang="en-US" altLang="zh-CN" sz="2800" b="1" dirty="0" err="1" smtClean="0">
                <a:ea typeface="宋体" pitchFamily="2" charset="-122"/>
              </a:rPr>
              <a:t>G</a:t>
            </a:r>
            <a:r>
              <a:rPr lang="zh-CN" altLang="zh-CN" sz="2800" b="1" dirty="0" smtClean="0">
                <a:ea typeface="宋体" pitchFamily="2" charset="-122"/>
              </a:rPr>
              <a:t>，</a:t>
            </a:r>
            <a:r>
              <a:rPr lang="en-US" altLang="zh-CN" sz="2800" b="1" dirty="0" smtClean="0">
                <a:ea typeface="宋体" pitchFamily="2" charset="-122"/>
              </a:rPr>
              <a:t>x</a:t>
            </a:r>
            <a:r>
              <a:rPr lang="zh-CN" altLang="zh-CN" sz="2800" b="1" dirty="0" smtClean="0">
                <a:ea typeface="宋体" pitchFamily="2" charset="-122"/>
              </a:rPr>
              <a:t>有原像</a:t>
            </a:r>
            <a:r>
              <a:rPr lang="en-US" altLang="zh-CN" sz="2800" b="1" dirty="0" err="1" smtClean="0">
                <a:ea typeface="宋体" pitchFamily="2" charset="-122"/>
              </a:rPr>
              <a:t>i</a:t>
            </a:r>
            <a:r>
              <a:rPr lang="zh-CN" altLang="zh-CN" sz="2800" b="1" dirty="0" smtClean="0">
                <a:ea typeface="宋体" pitchFamily="2" charset="-122"/>
              </a:rPr>
              <a:t>使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</a:t>
            </a:r>
            <a:r>
              <a:rPr lang="en-US" altLang="zh-CN" sz="2800" b="1" dirty="0" smtClean="0">
                <a:ea typeface="宋体" pitchFamily="2" charset="-122"/>
              </a:rPr>
              <a:t>(</a:t>
            </a:r>
            <a:r>
              <a:rPr lang="en-US" altLang="zh-CN" sz="2800" b="1" dirty="0" err="1" smtClean="0">
                <a:ea typeface="宋体" pitchFamily="2" charset="-122"/>
              </a:rPr>
              <a:t>i</a:t>
            </a:r>
            <a:r>
              <a:rPr lang="en-US" altLang="zh-CN" sz="2800" b="1" dirty="0" smtClean="0">
                <a:ea typeface="宋体" pitchFamily="2" charset="-122"/>
              </a:rPr>
              <a:t>)=</a:t>
            </a:r>
            <a:r>
              <a:rPr lang="en-US" altLang="zh-CN" sz="2800" b="1" dirty="0" err="1" smtClean="0">
                <a:ea typeface="宋体" pitchFamily="2" charset="-122"/>
              </a:rPr>
              <a:t>a</a:t>
            </a:r>
            <a:r>
              <a:rPr lang="en-US" altLang="zh-CN" sz="2800" b="1" baseline="30000" dirty="0" err="1" smtClean="0">
                <a:ea typeface="宋体" pitchFamily="2" charset="-122"/>
              </a:rPr>
              <a:t>i</a:t>
            </a:r>
            <a:r>
              <a:rPr lang="en-US" altLang="zh-CN" sz="2800" b="1" dirty="0" smtClean="0">
                <a:ea typeface="宋体" pitchFamily="2" charset="-122"/>
              </a:rPr>
              <a:t>=x,</a:t>
            </a:r>
            <a:r>
              <a:rPr lang="zh-CN" altLang="zh-CN" sz="2800" b="1" dirty="0" smtClean="0">
                <a:ea typeface="宋体" pitchFamily="2" charset="-122"/>
              </a:rPr>
              <a:t>即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</a:t>
            </a:r>
            <a:r>
              <a:rPr lang="zh-CN" altLang="zh-CN" sz="2800" b="1" dirty="0" smtClean="0">
                <a:ea typeface="宋体" pitchFamily="2" charset="-122"/>
              </a:rPr>
              <a:t>是满射</a:t>
            </a:r>
            <a:endParaRPr lang="en-US" altLang="zh-CN" sz="2600" b="1" dirty="0" smtClean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zh-CN" sz="2600" b="1" dirty="0" smtClean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1608734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内容占位符 2"/>
          <p:cNvSpPr>
            <a:spLocks noGrp="1"/>
          </p:cNvSpPr>
          <p:nvPr>
            <p:ph idx="1"/>
          </p:nvPr>
        </p:nvSpPr>
        <p:spPr>
          <a:xfrm>
            <a:off x="561975" y="692150"/>
            <a:ext cx="8301038" cy="5832475"/>
          </a:xfrm>
        </p:spPr>
        <p:txBody>
          <a:bodyPr/>
          <a:lstStyle/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zh-CN" sz="2800" b="1" smtClean="0">
                <a:solidFill>
                  <a:srgbClr val="0000FF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2800" b="1" smtClean="0">
                <a:solidFill>
                  <a:srgbClr val="0000FF"/>
                </a:solidFill>
                <a:ea typeface="宋体" panose="02010600030101010101" pitchFamily="2" charset="-122"/>
              </a:rPr>
              <a:t>2</a:t>
            </a:r>
            <a:r>
              <a:rPr lang="zh-CN" altLang="zh-CN" sz="2800" b="1" smtClean="0">
                <a:solidFill>
                  <a:srgbClr val="0000FF"/>
                </a:solidFill>
                <a:ea typeface="宋体" panose="02010600030101010101" pitchFamily="2" charset="-122"/>
              </a:rPr>
              <a:t>）</a:t>
            </a:r>
            <a:r>
              <a:rPr lang="zh-CN" altLang="zh-CN" sz="2800" b="1" smtClean="0">
                <a:ea typeface="宋体" panose="02010600030101010101" pitchFamily="2" charset="-122"/>
              </a:rPr>
              <a:t>设</a:t>
            </a:r>
            <a:r>
              <a:rPr lang="en-US" altLang="zh-CN" sz="2800" b="1" smtClean="0">
                <a:ea typeface="宋体" panose="02010600030101010101" pitchFamily="2" charset="-122"/>
              </a:rPr>
              <a:t>N</a:t>
            </a:r>
            <a:r>
              <a:rPr lang="zh-CN" altLang="zh-CN" sz="2800" b="1" smtClean="0">
                <a:ea typeface="宋体" panose="02010600030101010101" pitchFamily="2" charset="-122"/>
              </a:rPr>
              <a:t>是</a:t>
            </a:r>
            <a:r>
              <a:rPr lang="en-US" altLang="zh-CN" sz="2800" b="1" smtClean="0"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lang="zh-CN" altLang="zh-CN" sz="2800" b="1" smtClean="0">
                <a:ea typeface="宋体" panose="02010600030101010101" pitchFamily="2" charset="-122"/>
              </a:rPr>
              <a:t>的同态核，求商群</a:t>
            </a:r>
            <a:r>
              <a:rPr lang="en-US" altLang="zh-CN" sz="2800" b="1" smtClean="0">
                <a:ea typeface="宋体" panose="02010600030101010101" pitchFamily="2" charset="-122"/>
              </a:rPr>
              <a:t>Z/N</a:t>
            </a:r>
            <a:r>
              <a:rPr lang="zh-CN" altLang="zh-CN" sz="2800" b="1" smtClean="0">
                <a:ea typeface="宋体" panose="02010600030101010101" pitchFamily="2" charset="-122"/>
              </a:rPr>
              <a:t>。</a:t>
            </a:r>
            <a:endParaRPr lang="en-US" altLang="zh-CN" sz="2800" b="1" smtClean="0"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zh-CN" sz="2800" b="1" smtClean="0">
                <a:ea typeface="宋体" panose="02010600030101010101" pitchFamily="2" charset="-122"/>
              </a:rPr>
              <a:t>同态</a:t>
            </a:r>
            <a:r>
              <a:rPr lang="zh-CN" altLang="en-US" sz="2800" b="1" smtClean="0">
                <a:ea typeface="宋体" panose="02010600030101010101" pitchFamily="2" charset="-122"/>
              </a:rPr>
              <a:t>核</a:t>
            </a:r>
            <a:r>
              <a:rPr lang="en-US" altLang="zh-CN" sz="2800" b="1" smtClean="0">
                <a:ea typeface="宋体" panose="02010600030101010101" pitchFamily="2" charset="-122"/>
              </a:rPr>
              <a:t>N=6Z,</a:t>
            </a:r>
            <a:r>
              <a:rPr lang="zh-CN" altLang="zh-CN" sz="2800" b="1" smtClean="0">
                <a:ea typeface="宋体" panose="02010600030101010101" pitchFamily="2" charset="-122"/>
              </a:rPr>
              <a:t>因此</a:t>
            </a:r>
            <a:r>
              <a:rPr lang="en-US" altLang="zh-CN" sz="2800" b="1" smtClean="0">
                <a:ea typeface="宋体" panose="02010600030101010101" pitchFamily="2" charset="-122"/>
              </a:rPr>
              <a:t> Z/N</a:t>
            </a:r>
            <a:r>
              <a:rPr lang="en-US" altLang="zh-CN" sz="2800" b="1" smtClean="0"/>
              <a:t>= {                           }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800" b="1" smtClean="0">
                <a:ea typeface="宋体" panose="02010600030101010101" pitchFamily="2" charset="-122"/>
                <a:cs typeface="Times New Roman" panose="02020603050405020304" pitchFamily="18" charset="0"/>
              </a:rPr>
              <a:t>或写成</a:t>
            </a:r>
            <a:r>
              <a:rPr lang="en-US" altLang="zh-CN" sz="2800" b="1" smtClean="0">
                <a:ea typeface="宋体" panose="02010600030101010101" pitchFamily="2" charset="-122"/>
                <a:cs typeface="Times New Roman" panose="02020603050405020304" pitchFamily="18" charset="0"/>
              </a:rPr>
              <a:t>Z/N={6Z,6Z+1,6Z+2,</a:t>
            </a:r>
            <a:r>
              <a:rPr lang="en-US" altLang="zh-CN" sz="2800" b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6Z+3,</a:t>
            </a:r>
            <a:r>
              <a:rPr lang="en-US" altLang="zh-CN" sz="2800" b="1" smtClean="0">
                <a:ea typeface="宋体" panose="02010600030101010101" pitchFamily="2" charset="-122"/>
                <a:cs typeface="Times New Roman" panose="02020603050405020304" pitchFamily="18" charset="0"/>
              </a:rPr>
              <a:t> 6Z+4, 6Z+5}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800" b="1" smtClean="0"/>
              <a:t>（</a:t>
            </a:r>
            <a:r>
              <a:rPr lang="en-US" altLang="zh-CN" sz="2800" b="1" smtClean="0"/>
              <a:t>3</a:t>
            </a:r>
            <a:r>
              <a:rPr lang="zh-CN" altLang="en-US" sz="2800" b="1" smtClean="0"/>
              <a:t>）</a:t>
            </a:r>
            <a:r>
              <a:rPr lang="en-US" altLang="zh-CN" sz="2800" b="1" smtClean="0"/>
              <a:t>(a</a:t>
            </a:r>
            <a:r>
              <a:rPr lang="en-US" altLang="zh-CN" sz="2800" b="1" baseline="30000" smtClean="0"/>
              <a:t>2</a:t>
            </a:r>
            <a:r>
              <a:rPr lang="en-US" altLang="zh-CN" sz="2800" b="1" smtClean="0"/>
              <a:t>) = {1,a</a:t>
            </a:r>
            <a:r>
              <a:rPr lang="en-US" altLang="zh-CN" sz="2800" b="1" baseline="30000" smtClean="0"/>
              <a:t>2</a:t>
            </a:r>
            <a:r>
              <a:rPr lang="en-US" altLang="zh-CN" sz="2800" b="1" smtClean="0"/>
              <a:t>,a</a:t>
            </a:r>
            <a:r>
              <a:rPr lang="en-US" altLang="zh-CN" sz="2800" b="1" baseline="30000" smtClean="0"/>
              <a:t>4</a:t>
            </a:r>
            <a:r>
              <a:rPr lang="en-US" altLang="zh-CN" sz="2800" b="1" smtClean="0"/>
              <a:t>} ,   (a</a:t>
            </a:r>
            <a:r>
              <a:rPr lang="en-US" altLang="zh-CN" sz="2800" b="1" baseline="30000" smtClean="0"/>
              <a:t>3</a:t>
            </a:r>
            <a:r>
              <a:rPr lang="en-US" altLang="zh-CN" sz="2800" b="1" smtClean="0"/>
              <a:t>) = {1,a</a:t>
            </a:r>
            <a:r>
              <a:rPr lang="en-US" altLang="zh-CN" sz="2800" b="1" baseline="30000" smtClean="0"/>
              <a:t>3</a:t>
            </a:r>
            <a:r>
              <a:rPr lang="en-US" altLang="zh-CN" sz="2800" b="1" smtClean="0"/>
              <a:t>}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800" b="1" smtClean="0"/>
              <a:t>则</a:t>
            </a:r>
            <a:r>
              <a:rPr lang="en-US" altLang="zh-CN" sz="2800" b="1" smtClean="0"/>
              <a:t>σ</a:t>
            </a:r>
            <a:r>
              <a:rPr lang="en-US" altLang="zh-CN" sz="2800" b="1" baseline="30000" smtClean="0"/>
              <a:t>-1 </a:t>
            </a:r>
            <a:r>
              <a:rPr lang="en-US" altLang="zh-CN" sz="2800" b="1" smtClean="0"/>
              <a:t>(</a:t>
            </a:r>
            <a:r>
              <a:rPr lang="en-US" altLang="zh-CN" sz="2800" b="1" baseline="30000" smtClean="0"/>
              <a:t> </a:t>
            </a:r>
            <a:r>
              <a:rPr lang="en-US" altLang="zh-CN" sz="2800" b="1" smtClean="0"/>
              <a:t>(a</a:t>
            </a:r>
            <a:r>
              <a:rPr lang="en-US" altLang="zh-CN" sz="2800" b="1" baseline="30000" smtClean="0"/>
              <a:t>2</a:t>
            </a:r>
            <a:r>
              <a:rPr lang="en-US" altLang="zh-CN" sz="2800" b="1" smtClean="0"/>
              <a:t>))</a:t>
            </a:r>
            <a:r>
              <a:rPr lang="zh-CN" altLang="en-US" sz="2800" b="1" smtClean="0"/>
              <a:t> </a:t>
            </a:r>
            <a:r>
              <a:rPr lang="en-US" altLang="zh-CN" sz="2800" b="1" smtClean="0"/>
              <a:t>= 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800" b="1" smtClean="0">
                <a:sym typeface="楷体_GB2312" pitchFamily="49" charset="-122"/>
              </a:rPr>
              <a:t>    σ</a:t>
            </a:r>
            <a:r>
              <a:rPr lang="en-US" altLang="zh-CN" sz="2800" b="1" baseline="30000" smtClean="0">
                <a:sym typeface="楷体_GB2312" pitchFamily="49" charset="-122"/>
              </a:rPr>
              <a:t>-1 </a:t>
            </a:r>
            <a:r>
              <a:rPr lang="en-US" altLang="zh-CN" sz="2800" b="1" smtClean="0">
                <a:sym typeface="楷体_GB2312" pitchFamily="49" charset="-122"/>
              </a:rPr>
              <a:t>(</a:t>
            </a:r>
            <a:r>
              <a:rPr lang="en-US" altLang="zh-CN" sz="2800" b="1" baseline="30000" smtClean="0">
                <a:sym typeface="楷体_GB2312" pitchFamily="49" charset="-122"/>
              </a:rPr>
              <a:t> </a:t>
            </a:r>
            <a:r>
              <a:rPr lang="en-US" altLang="zh-CN" sz="2800" b="1" smtClean="0">
                <a:sym typeface="楷体_GB2312" pitchFamily="49" charset="-122"/>
              </a:rPr>
              <a:t>(a</a:t>
            </a:r>
            <a:r>
              <a:rPr lang="en-US" altLang="zh-CN" sz="2800" b="1" baseline="30000" smtClean="0">
                <a:sym typeface="楷体_GB2312" pitchFamily="49" charset="-122"/>
              </a:rPr>
              <a:t>3</a:t>
            </a:r>
            <a:r>
              <a:rPr lang="en-US" altLang="zh-CN" sz="2800" b="1" smtClean="0">
                <a:sym typeface="楷体_GB2312" pitchFamily="49" charset="-122"/>
              </a:rPr>
              <a:t>))</a:t>
            </a:r>
            <a:r>
              <a:rPr lang="zh-CN" altLang="en-US" sz="2800" b="1" smtClean="0"/>
              <a:t> </a:t>
            </a:r>
            <a:r>
              <a:rPr lang="en-US" altLang="zh-CN" sz="2800" b="1" smtClean="0"/>
              <a:t>=       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800" b="1" smtClean="0">
                <a:solidFill>
                  <a:srgbClr val="0000FF"/>
                </a:solidFill>
                <a:ea typeface="宋体" panose="02010600030101010101" pitchFamily="2" charset="-122"/>
              </a:rPr>
              <a:t>注：</a:t>
            </a:r>
            <a:r>
              <a:rPr lang="zh-CN" altLang="en-US" sz="2800" b="1" smtClean="0">
                <a:ea typeface="宋体" panose="02010600030101010101" pitchFamily="2" charset="-122"/>
              </a:rPr>
              <a:t>设</a:t>
            </a:r>
            <a:r>
              <a:rPr lang="en-US" altLang="zh-CN" sz="2800" b="1" smtClean="0">
                <a:ea typeface="宋体" panose="02010600030101010101" pitchFamily="2" charset="-122"/>
              </a:rPr>
              <a:t>σ</a:t>
            </a:r>
            <a:r>
              <a:rPr lang="zh-CN" altLang="en-US" sz="2800" b="1" smtClean="0">
                <a:ea typeface="宋体" panose="02010600030101010101" pitchFamily="2" charset="-122"/>
              </a:rPr>
              <a:t>是</a:t>
            </a:r>
            <a:r>
              <a:rPr lang="en-US" altLang="zh-CN" sz="2800" b="1" smtClean="0">
                <a:ea typeface="宋体" panose="02010600030101010101" pitchFamily="2" charset="-122"/>
              </a:rPr>
              <a:t>G</a:t>
            </a:r>
            <a:r>
              <a:rPr lang="zh-CN" altLang="en-US" sz="2800" b="1" smtClean="0">
                <a:ea typeface="宋体" panose="02010600030101010101" pitchFamily="2" charset="-122"/>
              </a:rPr>
              <a:t>到</a:t>
            </a:r>
            <a:r>
              <a:rPr lang="en-US" altLang="zh-CN" sz="2800" b="1" smtClean="0">
                <a:ea typeface="宋体" panose="02010600030101010101" pitchFamily="2" charset="-122"/>
              </a:rPr>
              <a:t>G′</a:t>
            </a:r>
            <a:r>
              <a:rPr lang="zh-CN" altLang="en-US" sz="2800" b="1" smtClean="0">
                <a:ea typeface="宋体" panose="02010600030101010101" pitchFamily="2" charset="-122"/>
              </a:rPr>
              <a:t>上的一个同态映射，命</a:t>
            </a:r>
            <a:r>
              <a:rPr lang="en-US" altLang="zh-CN" sz="2800" b="1" smtClean="0">
                <a:ea typeface="宋体" panose="02010600030101010101" pitchFamily="2" charset="-122"/>
              </a:rPr>
              <a:t>N</a:t>
            </a:r>
            <a:r>
              <a:rPr lang="zh-CN" altLang="en-US" sz="2800" b="1" smtClean="0">
                <a:ea typeface="宋体" panose="02010600030101010101" pitchFamily="2" charset="-122"/>
              </a:rPr>
              <a:t>为</a:t>
            </a:r>
            <a:r>
              <a:rPr lang="en-US" altLang="zh-CN" sz="2800" b="1" smtClean="0">
                <a:ea typeface="宋体" panose="02010600030101010101" pitchFamily="2" charset="-122"/>
              </a:rPr>
              <a:t>G</a:t>
            </a:r>
            <a:r>
              <a:rPr lang="zh-CN" altLang="en-US" sz="2800" b="1" smtClean="0">
                <a:ea typeface="宋体" panose="02010600030101010101" pitchFamily="2" charset="-122"/>
              </a:rPr>
              <a:t>中所有映射到</a:t>
            </a:r>
            <a:r>
              <a:rPr lang="en-US" altLang="zh-CN" sz="2800" b="1" smtClean="0">
                <a:ea typeface="宋体" panose="02010600030101010101" pitchFamily="2" charset="-122"/>
              </a:rPr>
              <a:t>G′</a:t>
            </a:r>
            <a:r>
              <a:rPr lang="zh-CN" altLang="en-US" sz="2800" b="1" smtClean="0">
                <a:ea typeface="宋体" panose="02010600030101010101" pitchFamily="2" charset="-122"/>
              </a:rPr>
              <a:t>中1′的元素</a:t>
            </a:r>
            <a:r>
              <a:rPr lang="en-US" altLang="zh-CN" sz="2800" b="1" smtClean="0">
                <a:ea typeface="宋体" panose="02010600030101010101" pitchFamily="2" charset="-122"/>
              </a:rPr>
              <a:t>g</a:t>
            </a:r>
            <a:r>
              <a:rPr lang="zh-CN" altLang="en-US" sz="2800" b="1" smtClean="0">
                <a:ea typeface="宋体" panose="02010600030101010101" pitchFamily="2" charset="-122"/>
              </a:rPr>
              <a:t>的集合，记为</a:t>
            </a:r>
            <a:r>
              <a:rPr lang="en-US" altLang="zh-CN" sz="2800" b="1" smtClean="0">
                <a:ea typeface="宋体" panose="02010600030101010101" pitchFamily="2" charset="-122"/>
              </a:rPr>
              <a:t>σ</a:t>
            </a:r>
            <a:r>
              <a:rPr lang="en-US" altLang="zh-CN" sz="2800" b="1" baseline="30000" smtClean="0">
                <a:ea typeface="宋体" panose="02010600030101010101" pitchFamily="2" charset="-122"/>
              </a:rPr>
              <a:t>-1</a:t>
            </a:r>
            <a:r>
              <a:rPr lang="en-US" altLang="zh-CN" sz="2800" b="1" smtClean="0">
                <a:ea typeface="宋体" panose="02010600030101010101" pitchFamily="2" charset="-122"/>
              </a:rPr>
              <a:t>(1′)，</a:t>
            </a:r>
            <a:r>
              <a:rPr lang="zh-CN" altLang="en-US" sz="2800" b="1" smtClean="0">
                <a:ea typeface="宋体" panose="02010600030101010101" pitchFamily="2" charset="-122"/>
              </a:rPr>
              <a:t>即</a:t>
            </a:r>
            <a:br>
              <a:rPr lang="zh-CN" altLang="en-US" sz="2800" b="1" smtClean="0">
                <a:ea typeface="宋体" panose="02010600030101010101" pitchFamily="2" charset="-122"/>
              </a:rPr>
            </a:br>
            <a:r>
              <a:rPr lang="zh-CN" altLang="en-US" sz="2800" b="1" smtClean="0">
                <a:ea typeface="宋体" panose="02010600030101010101" pitchFamily="2" charset="-122"/>
              </a:rPr>
              <a:t>           </a:t>
            </a:r>
            <a:r>
              <a:rPr lang="en-US" altLang="zh-CN" sz="2800" b="1" smtClean="0">
                <a:ea typeface="宋体" panose="02010600030101010101" pitchFamily="2" charset="-122"/>
              </a:rPr>
              <a:t>N=σ</a:t>
            </a:r>
            <a:r>
              <a:rPr lang="en-US" altLang="zh-CN" sz="2800" b="1" baseline="30000" smtClean="0">
                <a:ea typeface="宋体" panose="02010600030101010101" pitchFamily="2" charset="-122"/>
              </a:rPr>
              <a:t>-1 </a:t>
            </a:r>
            <a:r>
              <a:rPr lang="en-US" altLang="zh-CN" sz="2800" b="1" smtClean="0">
                <a:ea typeface="宋体" panose="02010600030101010101" pitchFamily="2" charset="-122"/>
              </a:rPr>
              <a:t>(</a:t>
            </a:r>
            <a:r>
              <a:rPr lang="en-US" altLang="zh-CN" sz="2800" b="1" baseline="30000" smtClean="0">
                <a:ea typeface="宋体" panose="02010600030101010101" pitchFamily="2" charset="-122"/>
              </a:rPr>
              <a:t> </a:t>
            </a:r>
            <a:r>
              <a:rPr lang="en-US" altLang="zh-CN" sz="2800" b="1" smtClean="0">
                <a:ea typeface="宋体" panose="02010600030101010101" pitchFamily="2" charset="-122"/>
              </a:rPr>
              <a:t>1′)={g∣ g∈G ,σ(g)=1′}</a:t>
            </a:r>
            <a:br>
              <a:rPr lang="en-US" altLang="zh-CN" sz="2800" b="1" smtClean="0">
                <a:ea typeface="宋体" panose="02010600030101010101" pitchFamily="2" charset="-122"/>
              </a:rPr>
            </a:br>
            <a:r>
              <a:rPr lang="zh-CN" altLang="en-US" sz="2800" b="1" smtClean="0">
                <a:ea typeface="宋体" panose="02010600030101010101" pitchFamily="2" charset="-122"/>
              </a:rPr>
              <a:t>则称</a:t>
            </a:r>
            <a:r>
              <a:rPr lang="en-US" altLang="zh-CN" sz="2800" b="1" smtClean="0">
                <a:ea typeface="宋体" panose="02010600030101010101" pitchFamily="2" charset="-122"/>
              </a:rPr>
              <a:t>N</a:t>
            </a:r>
            <a:r>
              <a:rPr lang="zh-CN" altLang="en-US" sz="2800" b="1" smtClean="0">
                <a:ea typeface="宋体" panose="02010600030101010101" pitchFamily="2" charset="-122"/>
              </a:rPr>
              <a:t>为</a:t>
            </a:r>
            <a:r>
              <a:rPr lang="en-US" altLang="zh-CN" sz="2800" b="1" smtClean="0">
                <a:ea typeface="宋体" panose="02010600030101010101" pitchFamily="2" charset="-122"/>
              </a:rPr>
              <a:t>σ</a:t>
            </a:r>
            <a:r>
              <a:rPr lang="zh-CN" altLang="en-US" sz="2800" b="1" smtClean="0">
                <a:ea typeface="宋体" panose="02010600030101010101" pitchFamily="2" charset="-122"/>
              </a:rPr>
              <a:t>的核。</a:t>
            </a:r>
          </a:p>
        </p:txBody>
      </p:sp>
      <p:graphicFrame>
        <p:nvGraphicFramePr>
          <p:cNvPr id="126979" name="Object 2"/>
          <p:cNvGraphicFramePr>
            <a:graphicFrameLocks noChangeAspect="1"/>
          </p:cNvGraphicFramePr>
          <p:nvPr/>
        </p:nvGraphicFramePr>
        <p:xfrm>
          <a:off x="4719638" y="1196975"/>
          <a:ext cx="205422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21" name="公式" r:id="rId3" imgW="736600" imgH="241300" progId="Equation.3">
                  <p:embed/>
                </p:oleObj>
              </mc:Choice>
              <mc:Fallback>
                <p:oleObj name="公式" r:id="rId3" imgW="7366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9638" y="1196975"/>
                        <a:ext cx="205422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2925763" y="3006725"/>
          <a:ext cx="1363662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22" r:id="rId5" imgW="596880" imgH="215640" progId="Equation.3">
                  <p:embed/>
                </p:oleObj>
              </mc:Choice>
              <mc:Fallback>
                <p:oleObj r:id="rId5" imgW="5968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5763" y="3006725"/>
                        <a:ext cx="1363662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3203575" y="3500438"/>
          <a:ext cx="808038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23" r:id="rId7" imgW="355320" imgH="215640" progId="Equation.3">
                  <p:embed/>
                </p:oleObj>
              </mc:Choice>
              <mc:Fallback>
                <p:oleObj r:id="rId7" imgW="3553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3500438"/>
                        <a:ext cx="808038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563417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39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39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39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39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39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39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1975" y="765175"/>
            <a:ext cx="8113713" cy="5283200"/>
          </a:xfrm>
        </p:spPr>
        <p:txBody>
          <a:bodyPr/>
          <a:lstStyle/>
          <a:p>
            <a:pPr marL="0">
              <a:lnSpc>
                <a:spcPct val="120000"/>
              </a:lnSpc>
              <a:spcBef>
                <a:spcPts val="0"/>
              </a:spcBef>
              <a:defRPr/>
            </a:pPr>
            <a:r>
              <a:rPr lang="zh-CN" altLang="en-US" sz="2800" b="1" dirty="0" smtClean="0">
                <a:solidFill>
                  <a:srgbClr val="0000FF"/>
                </a:solidFill>
                <a:ea typeface="宋体" pitchFamily="2" charset="-122"/>
              </a:rPr>
              <a:t>练习：</a:t>
            </a:r>
            <a:r>
              <a:rPr lang="zh-CN" altLang="zh-CN" sz="2800" b="1" dirty="0" smtClean="0">
                <a:ea typeface="宋体" pitchFamily="2" charset="-122"/>
              </a:rPr>
              <a:t>设</a:t>
            </a:r>
            <a:r>
              <a:rPr lang="en-US" altLang="zh-CN" sz="2800" b="1" dirty="0" smtClean="0">
                <a:ea typeface="宋体" pitchFamily="2" charset="-122"/>
              </a:rPr>
              <a:t>f</a:t>
            </a:r>
            <a:r>
              <a:rPr lang="zh-CN" altLang="zh-CN" sz="2800" b="1" dirty="0" smtClean="0">
                <a:ea typeface="宋体" pitchFamily="2" charset="-122"/>
              </a:rPr>
              <a:t>是整数加群（</a:t>
            </a:r>
            <a:r>
              <a:rPr lang="en-US" altLang="zh-CN" sz="2800" b="1" dirty="0" smtClean="0">
                <a:ea typeface="宋体" pitchFamily="2" charset="-122"/>
              </a:rPr>
              <a:t>Z</a:t>
            </a:r>
            <a:r>
              <a:rPr lang="zh-CN" altLang="zh-CN" sz="2800" b="1" dirty="0" smtClean="0">
                <a:ea typeface="宋体" pitchFamily="2" charset="-122"/>
              </a:rPr>
              <a:t>，</a:t>
            </a:r>
            <a:r>
              <a:rPr lang="en-US" altLang="zh-CN" sz="2800" b="1" dirty="0" smtClean="0">
                <a:ea typeface="宋体" pitchFamily="2" charset="-122"/>
              </a:rPr>
              <a:t>+</a:t>
            </a:r>
            <a:r>
              <a:rPr lang="zh-CN" altLang="zh-CN" sz="2800" b="1" dirty="0" smtClean="0">
                <a:ea typeface="宋体" pitchFamily="2" charset="-122"/>
              </a:rPr>
              <a:t>）到整数加群</a:t>
            </a:r>
            <a:r>
              <a:rPr lang="en-US" altLang="zh-CN" sz="2800" b="1" dirty="0" smtClean="0">
                <a:ea typeface="宋体" pitchFamily="2" charset="-122"/>
              </a:rPr>
              <a:t>       </a:t>
            </a:r>
            <a:r>
              <a:rPr lang="zh-CN" altLang="zh-CN" sz="2800" b="1" dirty="0" smtClean="0">
                <a:ea typeface="宋体" pitchFamily="2" charset="-122"/>
              </a:rPr>
              <a:t>（</a:t>
            </a:r>
            <a:r>
              <a:rPr lang="en-US" altLang="zh-CN" sz="2800" b="1" dirty="0" smtClean="0">
                <a:ea typeface="宋体" pitchFamily="2" charset="-122"/>
              </a:rPr>
              <a:t>Z</a:t>
            </a:r>
            <a:r>
              <a:rPr lang="zh-CN" altLang="zh-CN" sz="2800" b="1" dirty="0" smtClean="0">
                <a:ea typeface="宋体" pitchFamily="2" charset="-122"/>
              </a:rPr>
              <a:t>，</a:t>
            </a:r>
            <a:r>
              <a:rPr lang="en-US" altLang="zh-CN" sz="2800" b="1" dirty="0" smtClean="0">
                <a:ea typeface="宋体" pitchFamily="2" charset="-122"/>
              </a:rPr>
              <a:t>+</a:t>
            </a:r>
            <a:r>
              <a:rPr lang="zh-CN" altLang="zh-CN" sz="2800" b="1" dirty="0" smtClean="0">
                <a:ea typeface="宋体" pitchFamily="2" charset="-122"/>
              </a:rPr>
              <a:t>）内的映射：</a:t>
            </a:r>
            <a:r>
              <a:rPr lang="en-US" altLang="zh-CN" sz="2800" b="1" dirty="0" smtClean="0">
                <a:ea typeface="宋体" pitchFamily="2" charset="-122"/>
              </a:rPr>
              <a:t/>
            </a:r>
            <a:br>
              <a:rPr lang="en-US" altLang="zh-CN" sz="2800" b="1" dirty="0" smtClean="0">
                <a:ea typeface="宋体" pitchFamily="2" charset="-122"/>
              </a:rPr>
            </a:br>
            <a:r>
              <a:rPr lang="en-US" altLang="zh-CN" sz="2800" b="1" dirty="0" smtClean="0">
                <a:ea typeface="宋体" pitchFamily="2" charset="-122"/>
              </a:rPr>
              <a:t>f(x)=x</a:t>
            </a:r>
            <a:r>
              <a:rPr lang="en-US" altLang="zh-CN" sz="2800" b="1" baseline="30000" dirty="0" smtClean="0">
                <a:ea typeface="宋体" pitchFamily="2" charset="-122"/>
              </a:rPr>
              <a:t>2</a:t>
            </a:r>
            <a:r>
              <a:rPr lang="en-US" altLang="zh-CN" sz="2800" b="1" dirty="0" smtClean="0">
                <a:ea typeface="宋体" pitchFamily="2" charset="-122"/>
              </a:rPr>
              <a:t>,  </a:t>
            </a:r>
            <a:r>
              <a:rPr lang="zh-CN" altLang="zh-CN" sz="2800" b="1" dirty="0" smtClean="0">
                <a:ea typeface="宋体" pitchFamily="2" charset="-122"/>
              </a:rPr>
              <a:t>证明或者反驳</a:t>
            </a:r>
            <a:r>
              <a:rPr lang="en-US" altLang="zh-CN" sz="2800" b="1" dirty="0" smtClean="0">
                <a:ea typeface="宋体" pitchFamily="2" charset="-122"/>
              </a:rPr>
              <a:t>f</a:t>
            </a:r>
            <a:r>
              <a:rPr lang="zh-CN" altLang="zh-CN" sz="2800" b="1" dirty="0" smtClean="0">
                <a:ea typeface="宋体" pitchFamily="2" charset="-122"/>
              </a:rPr>
              <a:t>是同态映射。</a:t>
            </a: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r>
              <a:rPr lang="zh-CN" altLang="en-US" sz="2800" b="1" dirty="0" smtClean="0">
                <a:solidFill>
                  <a:srgbClr val="0000FF"/>
                </a:solidFill>
                <a:ea typeface="宋体" pitchFamily="2" charset="-122"/>
              </a:rPr>
              <a:t>解：</a:t>
            </a:r>
            <a:endParaRPr lang="en-US" altLang="zh-CN" sz="2800" b="1" dirty="0" smtClean="0">
              <a:solidFill>
                <a:srgbClr val="0000FF"/>
              </a:solidFill>
              <a:ea typeface="宋体" pitchFamily="2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>
                <a:ea typeface="宋体" pitchFamily="2" charset="-122"/>
              </a:rPr>
              <a:t>f</a:t>
            </a:r>
            <a:r>
              <a:rPr lang="zh-CN" altLang="zh-CN" sz="2800" b="1" dirty="0" smtClean="0">
                <a:ea typeface="宋体" pitchFamily="2" charset="-122"/>
              </a:rPr>
              <a:t>不是同态映射</a:t>
            </a:r>
            <a:r>
              <a:rPr lang="en-US" altLang="zh-CN" sz="2800" b="1" dirty="0" smtClean="0">
                <a:ea typeface="宋体" pitchFamily="2" charset="-122"/>
              </a:rPr>
              <a:t/>
            </a:r>
            <a:br>
              <a:rPr lang="en-US" altLang="zh-CN" sz="2800" b="1" dirty="0" smtClean="0">
                <a:ea typeface="宋体" pitchFamily="2" charset="-122"/>
              </a:rPr>
            </a:br>
            <a:r>
              <a:rPr lang="zh-CN" altLang="zh-CN" sz="2800" b="1" dirty="0" smtClean="0">
                <a:ea typeface="宋体" pitchFamily="2" charset="-122"/>
              </a:rPr>
              <a:t>假设</a:t>
            </a:r>
            <a:r>
              <a:rPr lang="en-US" altLang="zh-CN" sz="2800" b="1" dirty="0" smtClean="0">
                <a:ea typeface="宋体" pitchFamily="2" charset="-122"/>
              </a:rPr>
              <a:t>f</a:t>
            </a:r>
            <a:r>
              <a:rPr lang="zh-CN" altLang="zh-CN" sz="2800" b="1" dirty="0" smtClean="0">
                <a:ea typeface="宋体" pitchFamily="2" charset="-122"/>
              </a:rPr>
              <a:t>是同态映射，则对于整数</a:t>
            </a:r>
            <a:r>
              <a:rPr lang="en-US" altLang="zh-CN" sz="2800" b="1" dirty="0" smtClean="0">
                <a:ea typeface="宋体" pitchFamily="2" charset="-122"/>
              </a:rPr>
              <a:t>2</a:t>
            </a:r>
            <a:r>
              <a:rPr lang="zh-CN" altLang="zh-CN" sz="2800" b="1" dirty="0" smtClean="0">
                <a:ea typeface="宋体" pitchFamily="2" charset="-122"/>
              </a:rPr>
              <a:t>和</a:t>
            </a:r>
            <a:r>
              <a:rPr lang="en-US" altLang="zh-CN" sz="2800" b="1" dirty="0" smtClean="0">
                <a:ea typeface="宋体" pitchFamily="2" charset="-122"/>
              </a:rPr>
              <a:t>-2</a:t>
            </a:r>
            <a:r>
              <a:rPr lang="zh-CN" altLang="zh-CN" sz="2800" b="1" dirty="0" smtClean="0">
                <a:ea typeface="宋体" pitchFamily="2" charset="-122"/>
              </a:rPr>
              <a:t>，</a:t>
            </a:r>
            <a:endParaRPr lang="en-US" altLang="zh-CN" sz="2800" b="1" dirty="0" smtClean="0">
              <a:ea typeface="宋体" pitchFamily="2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>
                <a:ea typeface="宋体" pitchFamily="2" charset="-122"/>
              </a:rPr>
              <a:t>f(2+(-2))=(2+</a:t>
            </a:r>
            <a:r>
              <a:rPr lang="zh-CN" altLang="zh-CN" sz="2800" b="1" dirty="0" smtClean="0">
                <a:ea typeface="宋体" pitchFamily="2" charset="-122"/>
              </a:rPr>
              <a:t>（</a:t>
            </a:r>
            <a:r>
              <a:rPr lang="en-US" altLang="zh-CN" sz="2800" b="1" dirty="0" smtClean="0">
                <a:ea typeface="宋体" pitchFamily="2" charset="-122"/>
              </a:rPr>
              <a:t>-2</a:t>
            </a:r>
            <a:r>
              <a:rPr lang="zh-CN" altLang="zh-CN" sz="2800" b="1" dirty="0" smtClean="0">
                <a:ea typeface="宋体" pitchFamily="2" charset="-122"/>
              </a:rPr>
              <a:t>）</a:t>
            </a:r>
            <a:r>
              <a:rPr lang="en-US" altLang="zh-CN" sz="2800" b="1" dirty="0" smtClean="0">
                <a:ea typeface="宋体" pitchFamily="2" charset="-122"/>
              </a:rPr>
              <a:t>)</a:t>
            </a:r>
            <a:r>
              <a:rPr lang="en-US" altLang="zh-CN" sz="2800" b="1" baseline="30000" dirty="0" smtClean="0">
                <a:ea typeface="宋体" pitchFamily="2" charset="-122"/>
              </a:rPr>
              <a:t>2</a:t>
            </a:r>
            <a:r>
              <a:rPr lang="en-US" altLang="zh-CN" sz="2800" b="1" dirty="0" smtClean="0">
                <a:ea typeface="宋体" pitchFamily="2" charset="-122"/>
              </a:rPr>
              <a:t>=0,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zh-CN" sz="2800" b="1" dirty="0" smtClean="0">
                <a:ea typeface="宋体" pitchFamily="2" charset="-122"/>
              </a:rPr>
              <a:t>但是</a:t>
            </a:r>
            <a:r>
              <a:rPr lang="en-US" altLang="zh-CN" sz="2800" b="1" dirty="0" smtClean="0">
                <a:ea typeface="宋体" pitchFamily="2" charset="-122"/>
              </a:rPr>
              <a:t>f(2)+f(-2)=4+4=8,</a:t>
            </a:r>
            <a:r>
              <a:rPr lang="zh-CN" altLang="zh-CN" sz="2800" b="1" dirty="0" smtClean="0">
                <a:ea typeface="宋体" pitchFamily="2" charset="-122"/>
              </a:rPr>
              <a:t>所以</a:t>
            </a:r>
            <a:r>
              <a:rPr lang="en-US" altLang="zh-CN" sz="2800" b="1" dirty="0" smtClean="0">
                <a:ea typeface="宋体" pitchFamily="2" charset="-122"/>
              </a:rPr>
              <a:t>f(2+(-2))</a:t>
            </a:r>
            <a:r>
              <a:rPr lang="zh-CN" altLang="zh-CN" sz="2800" b="1" dirty="0" smtClean="0">
                <a:ea typeface="宋体" pitchFamily="2" charset="-122"/>
              </a:rPr>
              <a:t>≠</a:t>
            </a:r>
            <a:r>
              <a:rPr lang="en-US" altLang="zh-CN" sz="2800" b="1" dirty="0" smtClean="0">
                <a:ea typeface="宋体" pitchFamily="2" charset="-122"/>
              </a:rPr>
              <a:t>f(2)+f(-2)</a:t>
            </a:r>
            <a:r>
              <a:rPr lang="zh-CN" altLang="zh-CN" sz="2800" b="1" dirty="0" smtClean="0">
                <a:ea typeface="宋体" pitchFamily="2" charset="-122"/>
              </a:rPr>
              <a:t>。</a:t>
            </a:r>
          </a:p>
          <a:p>
            <a:pPr>
              <a:lnSpc>
                <a:spcPct val="120000"/>
              </a:lnSpc>
              <a:spcBef>
                <a:spcPts val="0"/>
              </a:spcBef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86030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765175"/>
            <a:ext cx="8113712" cy="5283200"/>
          </a:xfrm>
        </p:spPr>
        <p:txBody>
          <a:bodyPr/>
          <a:lstStyle/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b="1" dirty="0" smtClean="0">
                <a:solidFill>
                  <a:srgbClr val="0000FF"/>
                </a:solidFill>
                <a:ea typeface="宋体" pitchFamily="2" charset="-122"/>
              </a:rPr>
              <a:t>练习：</a:t>
            </a:r>
            <a:r>
              <a:rPr lang="zh-CN" altLang="zh-CN" sz="2800" b="1" dirty="0" smtClean="0">
                <a:ea typeface="宋体" pitchFamily="2" charset="-122"/>
              </a:rPr>
              <a:t>设</a:t>
            </a:r>
            <a:r>
              <a:rPr lang="en-US" altLang="zh-CN" sz="2800" b="1" dirty="0" smtClean="0">
                <a:ea typeface="宋体" pitchFamily="2" charset="-122"/>
              </a:rPr>
              <a:t>Z</a:t>
            </a:r>
            <a:r>
              <a:rPr lang="zh-CN" altLang="zh-CN" sz="2800" b="1" dirty="0" smtClean="0">
                <a:ea typeface="宋体" pitchFamily="2" charset="-122"/>
              </a:rPr>
              <a:t>是整数集合，</a:t>
            </a:r>
            <a:r>
              <a:rPr lang="en-US" altLang="zh-CN" sz="2800" b="1" dirty="0" smtClean="0">
                <a:ea typeface="宋体" pitchFamily="2" charset="-122"/>
              </a:rPr>
              <a:t>X={(a, b)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</a:t>
            </a:r>
            <a:r>
              <a:rPr lang="en-US" altLang="zh-CN" sz="2800" b="1" dirty="0" err="1" smtClean="0">
                <a:ea typeface="宋体" pitchFamily="2" charset="-122"/>
              </a:rPr>
              <a:t>a,b</a:t>
            </a:r>
            <a:r>
              <a:rPr lang="en-US" altLang="zh-CN" sz="2800" b="1" dirty="0" err="1" smtClean="0">
                <a:ea typeface="宋体" pitchFamily="2" charset="-122"/>
                <a:sym typeface="Symbol"/>
              </a:rPr>
              <a:t></a:t>
            </a:r>
            <a:r>
              <a:rPr lang="en-US" altLang="zh-CN" sz="2800" b="1" dirty="0" err="1" smtClean="0">
                <a:ea typeface="宋体" pitchFamily="2" charset="-122"/>
              </a:rPr>
              <a:t>Z</a:t>
            </a:r>
            <a:r>
              <a:rPr lang="en-US" altLang="zh-CN" sz="2800" b="1" dirty="0" smtClean="0">
                <a:ea typeface="宋体" pitchFamily="2" charset="-122"/>
              </a:rPr>
              <a:t>}</a:t>
            </a:r>
            <a:r>
              <a:rPr lang="zh-CN" altLang="zh-CN" sz="2800" b="1" dirty="0" smtClean="0">
                <a:ea typeface="宋体" pitchFamily="2" charset="-122"/>
              </a:rPr>
              <a:t>，定义</a:t>
            </a:r>
            <a:r>
              <a:rPr lang="en-US" altLang="zh-CN" sz="2800" b="1" dirty="0" smtClean="0">
                <a:ea typeface="宋体" pitchFamily="2" charset="-122"/>
              </a:rPr>
              <a:t>X</a:t>
            </a:r>
            <a:r>
              <a:rPr lang="zh-CN" altLang="zh-CN" sz="2800" b="1" dirty="0" smtClean="0">
                <a:ea typeface="宋体" pitchFamily="2" charset="-122"/>
              </a:rPr>
              <a:t>上的二元运算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</a:t>
            </a:r>
            <a:r>
              <a:rPr lang="zh-CN" altLang="zh-CN" sz="2800" b="1" dirty="0" smtClean="0">
                <a:ea typeface="宋体" pitchFamily="2" charset="-122"/>
              </a:rPr>
              <a:t>和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</a:t>
            </a:r>
            <a:r>
              <a:rPr lang="zh-CN" altLang="zh-CN" sz="2800" b="1" dirty="0" smtClean="0">
                <a:ea typeface="宋体" pitchFamily="2" charset="-122"/>
              </a:rPr>
              <a:t>如下；对任意</a:t>
            </a:r>
            <a:r>
              <a:rPr lang="en-US" altLang="zh-CN" sz="2800" b="1" dirty="0" smtClean="0">
                <a:ea typeface="宋体" pitchFamily="2" charset="-122"/>
              </a:rPr>
              <a:t>(a</a:t>
            </a:r>
            <a:r>
              <a:rPr lang="en-US" altLang="zh-CN" sz="2800" b="1" baseline="-25000" dirty="0" smtClean="0">
                <a:ea typeface="宋体" pitchFamily="2" charset="-122"/>
              </a:rPr>
              <a:t>1</a:t>
            </a:r>
            <a:r>
              <a:rPr lang="en-US" altLang="zh-CN" sz="2800" b="1" dirty="0" smtClean="0">
                <a:ea typeface="宋体" pitchFamily="2" charset="-122"/>
              </a:rPr>
              <a:t>,b</a:t>
            </a:r>
            <a:r>
              <a:rPr lang="en-US" altLang="zh-CN" sz="2800" b="1" baseline="-25000" dirty="0" smtClean="0">
                <a:ea typeface="宋体" pitchFamily="2" charset="-122"/>
              </a:rPr>
              <a:t>1</a:t>
            </a:r>
            <a:r>
              <a:rPr lang="en-US" altLang="zh-CN" sz="2800" b="1" dirty="0" smtClean="0">
                <a:ea typeface="宋体" pitchFamily="2" charset="-122"/>
              </a:rPr>
              <a:t>)</a:t>
            </a:r>
            <a:r>
              <a:rPr lang="zh-CN" altLang="zh-CN" sz="2800" b="1" dirty="0" smtClean="0">
                <a:ea typeface="宋体" pitchFamily="2" charset="-122"/>
              </a:rPr>
              <a:t>，</a:t>
            </a:r>
            <a:r>
              <a:rPr lang="en-US" altLang="zh-CN" sz="2800" b="1" dirty="0" smtClean="0">
                <a:ea typeface="宋体" pitchFamily="2" charset="-122"/>
              </a:rPr>
              <a:t>(a</a:t>
            </a:r>
            <a:r>
              <a:rPr lang="en-US" altLang="zh-CN" sz="2800" b="1" baseline="-25000" dirty="0" smtClean="0">
                <a:ea typeface="宋体" pitchFamily="2" charset="-122"/>
              </a:rPr>
              <a:t>2</a:t>
            </a:r>
            <a:r>
              <a:rPr lang="en-US" altLang="zh-CN" sz="2800" b="1" dirty="0" smtClean="0">
                <a:ea typeface="宋体" pitchFamily="2" charset="-122"/>
              </a:rPr>
              <a:t>,b</a:t>
            </a:r>
            <a:r>
              <a:rPr lang="en-US" altLang="zh-CN" sz="2800" b="1" baseline="-25000" dirty="0" smtClean="0">
                <a:ea typeface="宋体" pitchFamily="2" charset="-122"/>
              </a:rPr>
              <a:t>2</a:t>
            </a:r>
            <a:r>
              <a:rPr lang="en-US" altLang="zh-CN" sz="2800" b="1" dirty="0" smtClean="0">
                <a:ea typeface="宋体" pitchFamily="2" charset="-122"/>
              </a:rPr>
              <a:t>) 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</a:t>
            </a:r>
            <a:r>
              <a:rPr lang="en-US" altLang="zh-CN" sz="2800" b="1" dirty="0" smtClean="0">
                <a:ea typeface="宋体" pitchFamily="2" charset="-122"/>
              </a:rPr>
              <a:t>X</a:t>
            </a:r>
            <a:r>
              <a:rPr lang="zh-CN" altLang="zh-CN" sz="2800" b="1" dirty="0" smtClean="0">
                <a:ea typeface="宋体" pitchFamily="2" charset="-122"/>
              </a:rPr>
              <a:t>有：</a:t>
            </a:r>
            <a:r>
              <a:rPr lang="en-US" altLang="zh-CN" sz="2800" b="1" dirty="0" smtClean="0">
                <a:ea typeface="宋体" pitchFamily="2" charset="-122"/>
              </a:rPr>
              <a:t>(a</a:t>
            </a:r>
            <a:r>
              <a:rPr lang="en-US" altLang="zh-CN" sz="2800" b="1" baseline="-25000" dirty="0" smtClean="0">
                <a:ea typeface="宋体" pitchFamily="2" charset="-122"/>
              </a:rPr>
              <a:t>1</a:t>
            </a:r>
            <a:r>
              <a:rPr lang="en-US" altLang="zh-CN" sz="2800" b="1" dirty="0" smtClean="0">
                <a:ea typeface="宋体" pitchFamily="2" charset="-122"/>
              </a:rPr>
              <a:t>,b</a:t>
            </a:r>
            <a:r>
              <a:rPr lang="en-US" altLang="zh-CN" sz="2800" b="1" baseline="-25000" dirty="0" smtClean="0">
                <a:ea typeface="宋体" pitchFamily="2" charset="-122"/>
              </a:rPr>
              <a:t>1</a:t>
            </a:r>
            <a:r>
              <a:rPr lang="en-US" altLang="zh-CN" sz="2800" b="1" dirty="0" smtClean="0">
                <a:ea typeface="宋体" pitchFamily="2" charset="-122"/>
              </a:rPr>
              <a:t>) 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</a:t>
            </a:r>
            <a:r>
              <a:rPr lang="en-US" altLang="zh-CN" sz="2800" b="1" dirty="0" smtClean="0">
                <a:ea typeface="宋体" pitchFamily="2" charset="-122"/>
              </a:rPr>
              <a:t>(a</a:t>
            </a:r>
            <a:r>
              <a:rPr lang="en-US" altLang="zh-CN" sz="2800" b="1" baseline="-25000" dirty="0" smtClean="0">
                <a:ea typeface="宋体" pitchFamily="2" charset="-122"/>
              </a:rPr>
              <a:t>2</a:t>
            </a:r>
            <a:r>
              <a:rPr lang="en-US" altLang="zh-CN" sz="2800" b="1" dirty="0" smtClean="0">
                <a:ea typeface="宋体" pitchFamily="2" charset="-122"/>
              </a:rPr>
              <a:t>,b</a:t>
            </a:r>
            <a:r>
              <a:rPr lang="en-US" altLang="zh-CN" sz="2800" b="1" baseline="-25000" dirty="0" smtClean="0">
                <a:ea typeface="宋体" pitchFamily="2" charset="-122"/>
              </a:rPr>
              <a:t>2</a:t>
            </a:r>
            <a:r>
              <a:rPr lang="en-US" altLang="zh-CN" sz="2800" b="1" dirty="0" smtClean="0">
                <a:ea typeface="宋体" pitchFamily="2" charset="-122"/>
              </a:rPr>
              <a:t>)=(a</a:t>
            </a:r>
            <a:r>
              <a:rPr lang="en-US" altLang="zh-CN" sz="2800" b="1" baseline="-25000" dirty="0" smtClean="0">
                <a:ea typeface="宋体" pitchFamily="2" charset="-122"/>
              </a:rPr>
              <a:t>1</a:t>
            </a:r>
            <a:r>
              <a:rPr lang="en-US" altLang="zh-CN" sz="2800" b="1" dirty="0" smtClean="0">
                <a:ea typeface="宋体" pitchFamily="2" charset="-122"/>
              </a:rPr>
              <a:t>+a</a:t>
            </a:r>
            <a:r>
              <a:rPr lang="en-US" altLang="zh-CN" sz="2800" b="1" baseline="-25000" dirty="0" smtClean="0">
                <a:ea typeface="宋体" pitchFamily="2" charset="-122"/>
              </a:rPr>
              <a:t>2 </a:t>
            </a:r>
            <a:r>
              <a:rPr lang="en-US" altLang="zh-CN" sz="2800" b="1" dirty="0" smtClean="0">
                <a:ea typeface="宋体" pitchFamily="2" charset="-122"/>
              </a:rPr>
              <a:t>, b</a:t>
            </a:r>
            <a:r>
              <a:rPr lang="en-US" altLang="zh-CN" sz="2800" b="1" baseline="-25000" dirty="0" smtClean="0">
                <a:ea typeface="宋体" pitchFamily="2" charset="-122"/>
              </a:rPr>
              <a:t>1</a:t>
            </a:r>
            <a:r>
              <a:rPr lang="en-US" altLang="zh-CN" sz="2800" b="1" dirty="0" smtClean="0">
                <a:ea typeface="宋体" pitchFamily="2" charset="-122"/>
              </a:rPr>
              <a:t>+b</a:t>
            </a:r>
            <a:r>
              <a:rPr lang="en-US" altLang="zh-CN" sz="2800" b="1" baseline="-25000" dirty="0" smtClean="0">
                <a:ea typeface="宋体" pitchFamily="2" charset="-122"/>
              </a:rPr>
              <a:t>2</a:t>
            </a:r>
            <a:r>
              <a:rPr lang="en-US" altLang="zh-CN" sz="2800" b="1" dirty="0" smtClean="0">
                <a:ea typeface="宋体" pitchFamily="2" charset="-122"/>
              </a:rPr>
              <a:t>), </a:t>
            </a: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>
                <a:ea typeface="宋体" pitchFamily="2" charset="-122"/>
              </a:rPr>
              <a:t>        (a</a:t>
            </a:r>
            <a:r>
              <a:rPr lang="en-US" altLang="zh-CN" sz="2800" b="1" baseline="-25000" dirty="0" smtClean="0">
                <a:ea typeface="宋体" pitchFamily="2" charset="-122"/>
              </a:rPr>
              <a:t>1</a:t>
            </a:r>
            <a:r>
              <a:rPr lang="en-US" altLang="zh-CN" sz="2800" b="1" dirty="0" smtClean="0">
                <a:ea typeface="宋体" pitchFamily="2" charset="-122"/>
              </a:rPr>
              <a:t>,b</a:t>
            </a:r>
            <a:r>
              <a:rPr lang="en-US" altLang="zh-CN" sz="2800" b="1" baseline="-25000" dirty="0" smtClean="0">
                <a:ea typeface="宋体" pitchFamily="2" charset="-122"/>
              </a:rPr>
              <a:t>1</a:t>
            </a:r>
            <a:r>
              <a:rPr lang="en-US" altLang="zh-CN" sz="2800" b="1" dirty="0" smtClean="0">
                <a:ea typeface="宋体" pitchFamily="2" charset="-122"/>
              </a:rPr>
              <a:t>) 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</a:t>
            </a:r>
            <a:r>
              <a:rPr lang="en-US" altLang="zh-CN" sz="2800" b="1" dirty="0" smtClean="0">
                <a:ea typeface="宋体" pitchFamily="2" charset="-122"/>
              </a:rPr>
              <a:t> (a</a:t>
            </a:r>
            <a:r>
              <a:rPr lang="en-US" altLang="zh-CN" sz="2800" b="1" baseline="-25000" dirty="0" smtClean="0">
                <a:ea typeface="宋体" pitchFamily="2" charset="-122"/>
              </a:rPr>
              <a:t>2</a:t>
            </a:r>
            <a:r>
              <a:rPr lang="en-US" altLang="zh-CN" sz="2800" b="1" dirty="0" smtClean="0">
                <a:ea typeface="宋体" pitchFamily="2" charset="-122"/>
              </a:rPr>
              <a:t>,b</a:t>
            </a:r>
            <a:r>
              <a:rPr lang="en-US" altLang="zh-CN" sz="2800" b="1" baseline="-25000" dirty="0" smtClean="0">
                <a:ea typeface="宋体" pitchFamily="2" charset="-122"/>
              </a:rPr>
              <a:t>2</a:t>
            </a:r>
            <a:r>
              <a:rPr lang="en-US" altLang="zh-CN" sz="2800" b="1" dirty="0" smtClean="0">
                <a:ea typeface="宋体" pitchFamily="2" charset="-122"/>
              </a:rPr>
              <a:t>)=(a</a:t>
            </a:r>
            <a:r>
              <a:rPr lang="en-US" altLang="zh-CN" sz="2800" b="1" baseline="-25000" dirty="0" smtClean="0">
                <a:ea typeface="宋体" pitchFamily="2" charset="-122"/>
              </a:rPr>
              <a:t>1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</a:t>
            </a:r>
            <a:r>
              <a:rPr lang="en-US" altLang="zh-CN" sz="2800" b="1" dirty="0" smtClean="0">
                <a:ea typeface="宋体" pitchFamily="2" charset="-122"/>
              </a:rPr>
              <a:t>a</a:t>
            </a:r>
            <a:r>
              <a:rPr lang="en-US" altLang="zh-CN" sz="2800" b="1" baseline="-25000" dirty="0" smtClean="0">
                <a:ea typeface="宋体" pitchFamily="2" charset="-122"/>
              </a:rPr>
              <a:t>2 </a:t>
            </a:r>
            <a:r>
              <a:rPr lang="en-US" altLang="zh-CN" sz="2800" b="1" dirty="0" smtClean="0">
                <a:ea typeface="宋体" pitchFamily="2" charset="-122"/>
              </a:rPr>
              <a:t>, b</a:t>
            </a:r>
            <a:r>
              <a:rPr lang="en-US" altLang="zh-CN" sz="2800" b="1" baseline="-25000" dirty="0" smtClean="0">
                <a:ea typeface="宋体" pitchFamily="2" charset="-122"/>
              </a:rPr>
              <a:t>1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</a:t>
            </a:r>
            <a:r>
              <a:rPr lang="en-US" altLang="zh-CN" sz="2800" b="1" dirty="0" smtClean="0">
                <a:ea typeface="宋体" pitchFamily="2" charset="-122"/>
              </a:rPr>
              <a:t>b</a:t>
            </a:r>
            <a:r>
              <a:rPr lang="en-US" altLang="zh-CN" sz="2800" b="1" baseline="-25000" dirty="0" smtClean="0">
                <a:ea typeface="宋体" pitchFamily="2" charset="-122"/>
              </a:rPr>
              <a:t>2</a:t>
            </a:r>
            <a:r>
              <a:rPr lang="en-US" altLang="zh-CN" sz="2800" b="1" dirty="0" smtClean="0">
                <a:ea typeface="宋体" pitchFamily="2" charset="-122"/>
              </a:rPr>
              <a:t>)</a:t>
            </a:r>
            <a:endParaRPr lang="zh-CN" altLang="zh-CN" sz="2800" b="1" dirty="0" smtClean="0">
              <a:ea typeface="宋体" pitchFamily="2" charset="-122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zh-CN" sz="2800" b="1" dirty="0" smtClean="0">
                <a:ea typeface="宋体" pitchFamily="2" charset="-122"/>
              </a:rPr>
              <a:t>其中</a:t>
            </a:r>
            <a:r>
              <a:rPr lang="en-US" altLang="zh-CN" sz="2800" b="1" dirty="0" smtClean="0">
                <a:ea typeface="宋体" pitchFamily="2" charset="-122"/>
              </a:rPr>
              <a:t>+</a:t>
            </a:r>
            <a:r>
              <a:rPr lang="zh-CN" altLang="zh-CN" sz="2800" b="1" dirty="0" smtClean="0">
                <a:ea typeface="宋体" pitchFamily="2" charset="-122"/>
              </a:rPr>
              <a:t>，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</a:t>
            </a:r>
            <a:r>
              <a:rPr lang="zh-CN" altLang="zh-CN" sz="2800" b="1" dirty="0" smtClean="0">
                <a:ea typeface="宋体" pitchFamily="2" charset="-122"/>
              </a:rPr>
              <a:t>分别是整数加法与乘法。</a:t>
            </a:r>
            <a:endParaRPr lang="en-US" altLang="zh-CN" sz="2800" b="1" dirty="0" smtClean="0">
              <a:ea typeface="宋体" pitchFamily="2" charset="-122"/>
            </a:endParaRPr>
          </a:p>
          <a:p>
            <a:pPr>
              <a:lnSpc>
                <a:spcPct val="105000"/>
              </a:lnSpc>
              <a:buFont typeface="Wingdings" panose="05000000000000000000" pitchFamily="2" charset="2"/>
              <a:buNone/>
              <a:defRPr/>
            </a:pPr>
            <a:r>
              <a:rPr lang="zh-CN" altLang="zh-CN" sz="2800" b="1" dirty="0" smtClean="0">
                <a:ea typeface="宋体" pitchFamily="2" charset="-122"/>
              </a:rPr>
              <a:t>证明：</a:t>
            </a:r>
            <a:r>
              <a:rPr lang="en-US" altLang="zh-CN" sz="2800" b="1" dirty="0" smtClean="0">
                <a:ea typeface="宋体" pitchFamily="2" charset="-122"/>
              </a:rPr>
              <a:t>(X</a:t>
            </a:r>
            <a:r>
              <a:rPr lang="zh-CN" altLang="zh-CN" sz="2800" b="1" dirty="0" smtClean="0">
                <a:ea typeface="宋体" pitchFamily="2" charset="-122"/>
              </a:rPr>
              <a:t>，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</a:t>
            </a:r>
            <a:r>
              <a:rPr lang="zh-CN" altLang="zh-CN" sz="2800" b="1" dirty="0" smtClean="0">
                <a:ea typeface="宋体" pitchFamily="2" charset="-122"/>
              </a:rPr>
              <a:t>，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</a:t>
            </a:r>
            <a:r>
              <a:rPr lang="en-US" altLang="zh-CN" sz="2800" b="1" dirty="0" smtClean="0">
                <a:ea typeface="宋体" pitchFamily="2" charset="-122"/>
              </a:rPr>
              <a:t>)</a:t>
            </a:r>
            <a:r>
              <a:rPr lang="zh-CN" altLang="zh-CN" sz="2800" b="1" dirty="0" smtClean="0">
                <a:ea typeface="宋体" pitchFamily="2" charset="-122"/>
              </a:rPr>
              <a:t>是环</a:t>
            </a:r>
            <a:r>
              <a:rPr lang="en-US" altLang="zh-CN" sz="2800" b="1" dirty="0" smtClean="0">
                <a:ea typeface="宋体" pitchFamily="2" charset="-122"/>
              </a:rPr>
              <a:t>.</a:t>
            </a:r>
          </a:p>
          <a:p>
            <a:pPr>
              <a:lnSpc>
                <a:spcPct val="105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b="1" dirty="0" smtClean="0">
                <a:solidFill>
                  <a:srgbClr val="0000FF"/>
                </a:solidFill>
                <a:ea typeface="宋体" pitchFamily="2" charset="-122"/>
              </a:rPr>
              <a:t>分析：证明</a:t>
            </a:r>
            <a:r>
              <a:rPr lang="en-US" altLang="zh-CN" sz="2800" b="1" dirty="0" smtClean="0">
                <a:ea typeface="宋体" pitchFamily="2" charset="-122"/>
              </a:rPr>
              <a:t>(X</a:t>
            </a:r>
            <a:r>
              <a:rPr lang="zh-CN" altLang="zh-CN" sz="2800" b="1" dirty="0" smtClean="0">
                <a:ea typeface="宋体" pitchFamily="2" charset="-122"/>
              </a:rPr>
              <a:t>，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</a:t>
            </a:r>
            <a:r>
              <a:rPr lang="zh-CN" altLang="zh-CN" sz="2800" b="1" dirty="0" smtClean="0">
                <a:ea typeface="宋体" pitchFamily="2" charset="-122"/>
              </a:rPr>
              <a:t>，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</a:t>
            </a:r>
            <a:r>
              <a:rPr lang="en-US" altLang="zh-CN" sz="2800" b="1" dirty="0" smtClean="0">
                <a:ea typeface="宋体" pitchFamily="2" charset="-122"/>
              </a:rPr>
              <a:t>)</a:t>
            </a:r>
            <a:r>
              <a:rPr lang="zh-CN" altLang="en-US" sz="2800" b="1" dirty="0" smtClean="0">
                <a:solidFill>
                  <a:srgbClr val="0000FF"/>
                </a:solidFill>
                <a:ea typeface="宋体" pitchFamily="2" charset="-122"/>
              </a:rPr>
              <a:t>是环。要证：</a:t>
            </a:r>
            <a:endParaRPr lang="en-US" altLang="zh-CN" sz="2800" b="1" dirty="0" smtClean="0">
              <a:solidFill>
                <a:srgbClr val="0000FF"/>
              </a:solidFill>
              <a:ea typeface="宋体" pitchFamily="2" charset="-122"/>
            </a:endParaRPr>
          </a:p>
          <a:p>
            <a:pPr>
              <a:lnSpc>
                <a:spcPct val="105000"/>
              </a:lnSpc>
              <a:defRPr/>
            </a:pPr>
            <a:r>
              <a:rPr lang="zh-CN" altLang="en-US" sz="2800" b="1" dirty="0" smtClean="0">
                <a:ea typeface="宋体" pitchFamily="2" charset="-122"/>
              </a:rPr>
              <a:t>（</a:t>
            </a:r>
            <a:r>
              <a:rPr lang="en-US" altLang="zh-CN" sz="2800" b="1" dirty="0" smtClean="0">
                <a:ea typeface="宋体" pitchFamily="2" charset="-122"/>
              </a:rPr>
              <a:t>X</a:t>
            </a:r>
            <a:r>
              <a:rPr lang="zh-CN" altLang="en-US" sz="2800" b="1" dirty="0" smtClean="0">
                <a:ea typeface="宋体" pitchFamily="2" charset="-122"/>
              </a:rPr>
              <a:t>，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</a:t>
            </a:r>
            <a:r>
              <a:rPr lang="zh-CN" altLang="en-US" sz="2800" b="1" dirty="0" smtClean="0">
                <a:ea typeface="宋体" pitchFamily="2" charset="-122"/>
                <a:sym typeface="Symbol"/>
              </a:rPr>
              <a:t>）</a:t>
            </a:r>
            <a:r>
              <a:rPr lang="zh-CN" altLang="en-US" sz="2800" b="1" dirty="0" smtClean="0">
                <a:ea typeface="宋体" pitchFamily="2" charset="-122"/>
              </a:rPr>
              <a:t>是交换群</a:t>
            </a:r>
            <a:endParaRPr lang="en-US" altLang="zh-CN" sz="2800" b="1" dirty="0" smtClean="0">
              <a:ea typeface="宋体" pitchFamily="2" charset="-122"/>
            </a:endParaRPr>
          </a:p>
          <a:p>
            <a:pPr>
              <a:lnSpc>
                <a:spcPct val="105000"/>
              </a:lnSpc>
              <a:defRPr/>
            </a:pPr>
            <a:r>
              <a:rPr lang="en-US" altLang="zh-CN" sz="2800" b="1" dirty="0" smtClean="0">
                <a:ea typeface="宋体" pitchFamily="2" charset="-122"/>
              </a:rPr>
              <a:t> </a:t>
            </a:r>
            <a:r>
              <a:rPr lang="zh-CN" altLang="en-US" sz="2800" b="1" dirty="0" smtClean="0">
                <a:ea typeface="宋体" pitchFamily="2" charset="-122"/>
              </a:rPr>
              <a:t>（</a:t>
            </a:r>
            <a:r>
              <a:rPr lang="en-US" altLang="zh-CN" sz="2800" b="1" dirty="0" smtClean="0">
                <a:ea typeface="宋体" pitchFamily="2" charset="-122"/>
              </a:rPr>
              <a:t>X</a:t>
            </a:r>
            <a:r>
              <a:rPr lang="zh-CN" altLang="en-US" sz="2800" b="1" dirty="0" smtClean="0">
                <a:ea typeface="宋体" pitchFamily="2" charset="-122"/>
              </a:rPr>
              <a:t>，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  </a:t>
            </a:r>
            <a:r>
              <a:rPr lang="zh-CN" altLang="en-US" sz="2800" b="1" dirty="0" smtClean="0">
                <a:ea typeface="宋体" pitchFamily="2" charset="-122"/>
                <a:sym typeface="Symbol"/>
              </a:rPr>
              <a:t>）是半群</a:t>
            </a:r>
            <a:endParaRPr lang="en-US" altLang="zh-CN" sz="2800" b="1" dirty="0" smtClean="0">
              <a:ea typeface="宋体" pitchFamily="2" charset="-122"/>
              <a:sym typeface="Symbol"/>
            </a:endParaRPr>
          </a:p>
          <a:p>
            <a:pPr>
              <a:lnSpc>
                <a:spcPct val="105000"/>
              </a:lnSpc>
              <a:defRPr/>
            </a:pPr>
            <a:r>
              <a:rPr lang="en-US" altLang="zh-CN" sz="2800" b="1" dirty="0" smtClean="0">
                <a:ea typeface="宋体" pitchFamily="2" charset="-122"/>
                <a:sym typeface="Symbol"/>
              </a:rPr>
              <a:t>   </a:t>
            </a:r>
            <a:r>
              <a:rPr lang="zh-CN" altLang="en-US" sz="2800" b="1" dirty="0" smtClean="0">
                <a:ea typeface="宋体" pitchFamily="2" charset="-122"/>
                <a:sym typeface="Symbol"/>
              </a:rPr>
              <a:t>对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</a:t>
            </a:r>
            <a:r>
              <a:rPr lang="zh-CN" altLang="en-US" sz="2800" b="1" dirty="0" smtClean="0">
                <a:ea typeface="宋体" pitchFamily="2" charset="-122"/>
                <a:sym typeface="Symbol"/>
              </a:rPr>
              <a:t>满足左右分配律</a:t>
            </a:r>
            <a:endParaRPr lang="en-US" altLang="zh-CN" sz="2800" b="1" dirty="0" smtClean="0">
              <a:ea typeface="宋体" pitchFamily="2" charset="-122"/>
            </a:endParaRPr>
          </a:p>
          <a:p>
            <a:pPr>
              <a:lnSpc>
                <a:spcPct val="105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>
                <a:solidFill>
                  <a:srgbClr val="0000FF"/>
                </a:solidFill>
                <a:ea typeface="宋体" pitchFamily="2" charset="-122"/>
              </a:rPr>
              <a:t> </a:t>
            </a:r>
            <a:endParaRPr lang="zh-CN" altLang="zh-CN" sz="2800" b="1" dirty="0" smtClean="0">
              <a:solidFill>
                <a:srgbClr val="0000FF"/>
              </a:solidFill>
              <a:ea typeface="宋体" pitchFamily="2" charset="-122"/>
            </a:endParaRPr>
          </a:p>
          <a:p>
            <a:pPr>
              <a:defRPr/>
            </a:pPr>
            <a:endParaRPr lang="zh-CN" altLang="en-US" b="1" dirty="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1012972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内容占位符 2"/>
          <p:cNvSpPr>
            <a:spLocks noGrp="1"/>
          </p:cNvSpPr>
          <p:nvPr>
            <p:ph idx="1"/>
          </p:nvPr>
        </p:nvSpPr>
        <p:spPr>
          <a:xfrm>
            <a:off x="539750" y="620713"/>
            <a:ext cx="8042275" cy="54991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3200" b="1" smtClean="0">
                <a:ea typeface="宋体" panose="02010600030101010101" pitchFamily="2" charset="-122"/>
              </a:rPr>
              <a:t>X={(a, b)</a:t>
            </a:r>
            <a:r>
              <a:rPr lang="en-US" altLang="zh-CN" sz="3200" b="1" smtClean="0">
                <a:ea typeface="宋体" panose="02010600030101010101" pitchFamily="2" charset="-122"/>
                <a:sym typeface="Symbol" panose="05050102010706020507" pitchFamily="18" charset="2"/>
              </a:rPr>
              <a:t></a:t>
            </a:r>
            <a:r>
              <a:rPr lang="en-US" altLang="zh-CN" sz="3200" b="1" smtClean="0">
                <a:ea typeface="宋体" panose="02010600030101010101" pitchFamily="2" charset="-122"/>
              </a:rPr>
              <a:t>a,b</a:t>
            </a:r>
            <a:r>
              <a:rPr lang="en-US" altLang="zh-CN" sz="3200" b="1" smtClean="0"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3200" b="1" smtClean="0">
                <a:ea typeface="宋体" panose="02010600030101010101" pitchFamily="2" charset="-122"/>
              </a:rPr>
              <a:t>Z}</a:t>
            </a:r>
            <a:r>
              <a:rPr lang="zh-CN" altLang="zh-CN" sz="3200" b="1" smtClean="0">
                <a:ea typeface="宋体" panose="02010600030101010101" pitchFamily="2" charset="-122"/>
              </a:rPr>
              <a:t>，</a:t>
            </a:r>
            <a:endParaRPr lang="en-US" altLang="zh-CN" sz="3000" b="1" smtClean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zh-CN" sz="3000" b="1" smtClean="0">
                <a:solidFill>
                  <a:srgbClr val="0000FF"/>
                </a:solidFill>
                <a:ea typeface="宋体" panose="02010600030101010101" pitchFamily="2" charset="-122"/>
              </a:rPr>
              <a:t>①首先证明（</a:t>
            </a:r>
            <a:r>
              <a:rPr lang="en-US" altLang="zh-CN" sz="3000" b="1" smtClean="0">
                <a:solidFill>
                  <a:srgbClr val="0000FF"/>
                </a:solidFill>
                <a:ea typeface="宋体" panose="02010600030101010101" pitchFamily="2" charset="-122"/>
              </a:rPr>
              <a:t>X</a:t>
            </a:r>
            <a:r>
              <a:rPr lang="zh-CN" altLang="zh-CN" sz="3000" b="1" smtClean="0">
                <a:solidFill>
                  <a:srgbClr val="0000FF"/>
                </a:solidFill>
                <a:ea typeface="宋体" panose="02010600030101010101" pitchFamily="2" charset="-122"/>
              </a:rPr>
              <a:t>，⊕）是交换群</a:t>
            </a:r>
            <a:endParaRPr lang="en-US" altLang="zh-CN" sz="3000" b="1" smtClean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r>
              <a:rPr lang="zh-CN" altLang="zh-CN" sz="3000" b="1" smtClean="0">
                <a:ea typeface="宋体" panose="02010600030101010101" pitchFamily="2" charset="-122"/>
              </a:rPr>
              <a:t>显然</a:t>
            </a:r>
            <a:r>
              <a:rPr lang="en-US" altLang="zh-CN" sz="3000" b="1" smtClean="0">
                <a:ea typeface="宋体" panose="02010600030101010101" pitchFamily="2" charset="-122"/>
              </a:rPr>
              <a:t>X </a:t>
            </a:r>
            <a:r>
              <a:rPr lang="zh-CN" altLang="zh-CN" sz="3000" b="1" smtClean="0">
                <a:ea typeface="宋体" panose="02010600030101010101" pitchFamily="2" charset="-122"/>
              </a:rPr>
              <a:t>非空，如（</a:t>
            </a:r>
            <a:r>
              <a:rPr lang="en-US" altLang="zh-CN" sz="3000" b="1" smtClean="0">
                <a:ea typeface="宋体" panose="02010600030101010101" pitchFamily="2" charset="-122"/>
              </a:rPr>
              <a:t>0</a:t>
            </a:r>
            <a:r>
              <a:rPr lang="zh-CN" altLang="zh-CN" sz="3000" b="1" smtClean="0">
                <a:ea typeface="宋体" panose="02010600030101010101" pitchFamily="2" charset="-122"/>
              </a:rPr>
              <a:t>，</a:t>
            </a:r>
            <a:r>
              <a:rPr lang="en-US" altLang="zh-CN" sz="3000" b="1" smtClean="0">
                <a:ea typeface="宋体" panose="02010600030101010101" pitchFamily="2" charset="-122"/>
              </a:rPr>
              <a:t>0</a:t>
            </a:r>
            <a:r>
              <a:rPr lang="zh-CN" altLang="zh-CN" sz="3000" b="1" smtClean="0">
                <a:ea typeface="宋体" panose="02010600030101010101" pitchFamily="2" charset="-122"/>
              </a:rPr>
              <a:t>）属于</a:t>
            </a:r>
            <a:r>
              <a:rPr lang="en-US" altLang="zh-CN" sz="3000" b="1" smtClean="0">
                <a:ea typeface="宋体" panose="02010600030101010101" pitchFamily="2" charset="-122"/>
              </a:rPr>
              <a:t>X</a:t>
            </a:r>
          </a:p>
          <a:p>
            <a:r>
              <a:rPr lang="zh-CN" altLang="zh-CN" sz="3000" b="1" smtClean="0">
                <a:ea typeface="宋体" panose="02010600030101010101" pitchFamily="2" charset="-122"/>
              </a:rPr>
              <a:t>根据</a:t>
            </a:r>
            <a:r>
              <a:rPr lang="en-US" altLang="zh-CN" sz="3000" b="1" smtClean="0">
                <a:ea typeface="宋体" panose="02010600030101010101" pitchFamily="2" charset="-122"/>
                <a:sym typeface="Symbol" panose="05050102010706020507" pitchFamily="18" charset="2"/>
              </a:rPr>
              <a:t></a:t>
            </a:r>
            <a:r>
              <a:rPr lang="zh-CN" altLang="zh-CN" sz="3000" b="1" smtClean="0">
                <a:ea typeface="宋体" panose="02010600030101010101" pitchFamily="2" charset="-122"/>
              </a:rPr>
              <a:t>运算定义，</a:t>
            </a:r>
            <a:r>
              <a:rPr lang="en-US" altLang="zh-CN" sz="3200" b="1" smtClean="0">
                <a:ea typeface="宋体" panose="02010600030101010101" pitchFamily="2" charset="-122"/>
              </a:rPr>
              <a:t> (a</a:t>
            </a:r>
            <a:r>
              <a:rPr lang="en-US" altLang="zh-CN" sz="3200" b="1" baseline="-25000" smtClean="0">
                <a:ea typeface="宋体" panose="02010600030101010101" pitchFamily="2" charset="-122"/>
              </a:rPr>
              <a:t>1</a:t>
            </a:r>
            <a:r>
              <a:rPr lang="en-US" altLang="zh-CN" sz="3200" b="1" smtClean="0">
                <a:ea typeface="宋体" panose="02010600030101010101" pitchFamily="2" charset="-122"/>
              </a:rPr>
              <a:t>,b</a:t>
            </a:r>
            <a:r>
              <a:rPr lang="en-US" altLang="zh-CN" sz="3200" b="1" baseline="-25000" smtClean="0">
                <a:ea typeface="宋体" panose="02010600030101010101" pitchFamily="2" charset="-122"/>
              </a:rPr>
              <a:t>1</a:t>
            </a:r>
            <a:r>
              <a:rPr lang="en-US" altLang="zh-CN" sz="3200" b="1" smtClean="0">
                <a:ea typeface="宋体" panose="02010600030101010101" pitchFamily="2" charset="-122"/>
              </a:rPr>
              <a:t>) </a:t>
            </a:r>
            <a:r>
              <a:rPr lang="en-US" altLang="zh-CN" sz="3200" b="1" smtClean="0">
                <a:ea typeface="宋体" panose="02010600030101010101" pitchFamily="2" charset="-122"/>
                <a:sym typeface="Symbol" panose="05050102010706020507" pitchFamily="18" charset="2"/>
              </a:rPr>
              <a:t></a:t>
            </a:r>
            <a:r>
              <a:rPr lang="en-US" altLang="zh-CN" sz="3200" b="1" smtClean="0">
                <a:ea typeface="宋体" panose="02010600030101010101" pitchFamily="2" charset="-122"/>
              </a:rPr>
              <a:t>(a</a:t>
            </a:r>
            <a:r>
              <a:rPr lang="en-US" altLang="zh-CN" sz="3200" b="1" baseline="-25000" smtClean="0">
                <a:ea typeface="宋体" panose="02010600030101010101" pitchFamily="2" charset="-122"/>
              </a:rPr>
              <a:t>2</a:t>
            </a:r>
            <a:r>
              <a:rPr lang="en-US" altLang="zh-CN" sz="3200" b="1" smtClean="0">
                <a:ea typeface="宋体" panose="02010600030101010101" pitchFamily="2" charset="-122"/>
              </a:rPr>
              <a:t>,b</a:t>
            </a:r>
            <a:r>
              <a:rPr lang="en-US" altLang="zh-CN" sz="3200" b="1" baseline="-25000" smtClean="0">
                <a:ea typeface="宋体" panose="02010600030101010101" pitchFamily="2" charset="-122"/>
              </a:rPr>
              <a:t>2</a:t>
            </a:r>
            <a:r>
              <a:rPr lang="en-US" altLang="zh-CN" sz="3200" b="1" smtClean="0">
                <a:ea typeface="宋体" panose="02010600030101010101" pitchFamily="2" charset="-122"/>
              </a:rPr>
              <a:t>)=(a</a:t>
            </a:r>
            <a:r>
              <a:rPr lang="en-US" altLang="zh-CN" sz="3200" b="1" baseline="-25000" smtClean="0">
                <a:ea typeface="宋体" panose="02010600030101010101" pitchFamily="2" charset="-122"/>
              </a:rPr>
              <a:t>1</a:t>
            </a:r>
            <a:r>
              <a:rPr lang="en-US" altLang="zh-CN" sz="3200" b="1" smtClean="0">
                <a:ea typeface="宋体" panose="02010600030101010101" pitchFamily="2" charset="-122"/>
              </a:rPr>
              <a:t>+a</a:t>
            </a:r>
            <a:r>
              <a:rPr lang="en-US" altLang="zh-CN" sz="3200" b="1" baseline="-25000" smtClean="0">
                <a:ea typeface="宋体" panose="02010600030101010101" pitchFamily="2" charset="-122"/>
              </a:rPr>
              <a:t>2</a:t>
            </a:r>
            <a:r>
              <a:rPr lang="en-US" altLang="zh-CN" sz="3200" b="1" smtClean="0">
                <a:ea typeface="宋体" panose="02010600030101010101" pitchFamily="2" charset="-122"/>
              </a:rPr>
              <a:t>,b</a:t>
            </a:r>
            <a:r>
              <a:rPr lang="en-US" altLang="zh-CN" sz="3200" b="1" baseline="-25000" smtClean="0">
                <a:ea typeface="宋体" panose="02010600030101010101" pitchFamily="2" charset="-122"/>
              </a:rPr>
              <a:t>1</a:t>
            </a:r>
            <a:r>
              <a:rPr lang="en-US" altLang="zh-CN" sz="3200" b="1" smtClean="0">
                <a:ea typeface="宋体" panose="02010600030101010101" pitchFamily="2" charset="-122"/>
              </a:rPr>
              <a:t>+b</a:t>
            </a:r>
            <a:r>
              <a:rPr lang="en-US" altLang="zh-CN" sz="3200" b="1" baseline="-25000" smtClean="0">
                <a:ea typeface="宋体" panose="02010600030101010101" pitchFamily="2" charset="-122"/>
              </a:rPr>
              <a:t>2</a:t>
            </a:r>
            <a:r>
              <a:rPr lang="en-US" altLang="zh-CN" sz="3200" b="1" smtClean="0">
                <a:ea typeface="宋体" panose="02010600030101010101" pitchFamily="2" charset="-122"/>
              </a:rPr>
              <a:t>), </a:t>
            </a:r>
            <a:r>
              <a:rPr lang="en-US" altLang="zh-CN" sz="2800" b="1" smtClean="0">
                <a:ea typeface="宋体" panose="02010600030101010101" pitchFamily="2" charset="-122"/>
              </a:rPr>
              <a:t>a</a:t>
            </a:r>
            <a:r>
              <a:rPr lang="en-US" altLang="zh-CN" sz="2800" b="1" baseline="-25000" smtClean="0">
                <a:ea typeface="宋体" panose="02010600030101010101" pitchFamily="2" charset="-122"/>
              </a:rPr>
              <a:t>1</a:t>
            </a:r>
            <a:r>
              <a:rPr lang="en-US" altLang="zh-CN" sz="2800" b="1" smtClean="0">
                <a:ea typeface="宋体" panose="02010600030101010101" pitchFamily="2" charset="-122"/>
              </a:rPr>
              <a:t>+a</a:t>
            </a:r>
            <a:r>
              <a:rPr lang="en-US" altLang="zh-CN" sz="2800" b="1" baseline="-25000" smtClean="0">
                <a:ea typeface="宋体" panose="02010600030101010101" pitchFamily="2" charset="-122"/>
              </a:rPr>
              <a:t>2</a:t>
            </a:r>
            <a:r>
              <a:rPr lang="en-US" altLang="zh-CN" sz="2800" b="1" smtClean="0">
                <a:ea typeface="宋体" panose="02010600030101010101" pitchFamily="2" charset="-122"/>
                <a:sym typeface="Symbol" panose="05050102010706020507" pitchFamily="18" charset="2"/>
              </a:rPr>
              <a:t> </a:t>
            </a:r>
            <a:r>
              <a:rPr lang="en-US" altLang="zh-CN" sz="2800" b="1" smtClean="0">
                <a:ea typeface="宋体" panose="02010600030101010101" pitchFamily="2" charset="-122"/>
              </a:rPr>
              <a:t>Z </a:t>
            </a:r>
            <a:r>
              <a:rPr lang="zh-CN" altLang="en-US" sz="2800" b="1" smtClean="0">
                <a:ea typeface="宋体" panose="02010600030101010101" pitchFamily="2" charset="-122"/>
              </a:rPr>
              <a:t>，</a:t>
            </a:r>
            <a:r>
              <a:rPr lang="en-US" altLang="zh-CN" sz="2800" b="1" smtClean="0">
                <a:ea typeface="宋体" panose="02010600030101010101" pitchFamily="2" charset="-122"/>
              </a:rPr>
              <a:t>b</a:t>
            </a:r>
            <a:r>
              <a:rPr lang="en-US" altLang="zh-CN" sz="2800" b="1" baseline="-25000" smtClean="0">
                <a:ea typeface="宋体" panose="02010600030101010101" pitchFamily="2" charset="-122"/>
              </a:rPr>
              <a:t>1</a:t>
            </a:r>
            <a:r>
              <a:rPr lang="en-US" altLang="zh-CN" sz="2800" b="1" smtClean="0">
                <a:ea typeface="宋体" panose="02010600030101010101" pitchFamily="2" charset="-122"/>
              </a:rPr>
              <a:t>+b</a:t>
            </a:r>
            <a:r>
              <a:rPr lang="en-US" altLang="zh-CN" sz="2800" b="1" baseline="-25000" smtClean="0">
                <a:ea typeface="宋体" panose="02010600030101010101" pitchFamily="2" charset="-122"/>
              </a:rPr>
              <a:t>2</a:t>
            </a:r>
            <a:r>
              <a:rPr lang="en-US" altLang="zh-CN" sz="3200" b="1" smtClean="0"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3200" b="1" smtClean="0">
                <a:ea typeface="宋体" panose="02010600030101010101" pitchFamily="2" charset="-122"/>
              </a:rPr>
              <a:t>Z</a:t>
            </a:r>
            <a:r>
              <a:rPr lang="zh-CN" altLang="en-US" sz="3200" b="1" smtClean="0">
                <a:ea typeface="宋体" panose="02010600030101010101" pitchFamily="2" charset="-122"/>
              </a:rPr>
              <a:t>，</a:t>
            </a:r>
            <a:r>
              <a:rPr lang="en-US" altLang="zh-CN" sz="3000" b="1" smtClean="0">
                <a:ea typeface="宋体" panose="02010600030101010101" pitchFamily="2" charset="-122"/>
                <a:sym typeface="Symbol" panose="05050102010706020507" pitchFamily="18" charset="2"/>
              </a:rPr>
              <a:t></a:t>
            </a:r>
            <a:r>
              <a:rPr lang="zh-CN" altLang="zh-CN" sz="3000" b="1" smtClean="0">
                <a:ea typeface="宋体" panose="02010600030101010101" pitchFamily="2" charset="-122"/>
              </a:rPr>
              <a:t>运算</a:t>
            </a:r>
            <a:r>
              <a:rPr lang="zh-CN" altLang="en-US" sz="3000" b="1" smtClean="0">
                <a:ea typeface="宋体" panose="02010600030101010101" pitchFamily="2" charset="-122"/>
              </a:rPr>
              <a:t>封闭。</a:t>
            </a:r>
            <a:endParaRPr lang="en-US" altLang="zh-CN" sz="3000" b="1" smtClean="0">
              <a:ea typeface="宋体" panose="02010600030101010101" pitchFamily="2" charset="-122"/>
            </a:endParaRPr>
          </a:p>
          <a:p>
            <a:r>
              <a:rPr lang="zh-CN" altLang="en-US" sz="3000" b="1" smtClean="0">
                <a:ea typeface="宋体" panose="02010600030101010101" pitchFamily="2" charset="-122"/>
              </a:rPr>
              <a:t>整数加法满足</a:t>
            </a:r>
            <a:r>
              <a:rPr lang="zh-CN" altLang="zh-CN" sz="3000" b="1" smtClean="0">
                <a:ea typeface="宋体" panose="02010600030101010101" pitchFamily="2" charset="-122"/>
              </a:rPr>
              <a:t>交换律与结合律，</a:t>
            </a:r>
            <a:r>
              <a:rPr lang="zh-CN" altLang="en-US" sz="3000" b="1" smtClean="0">
                <a:ea typeface="宋体" panose="02010600030101010101" pitchFamily="2" charset="-122"/>
              </a:rPr>
              <a:t>因此，</a:t>
            </a:r>
            <a:r>
              <a:rPr lang="en-US" altLang="zh-CN" sz="3000" b="1" smtClean="0">
                <a:ea typeface="宋体" panose="02010600030101010101" pitchFamily="2" charset="-122"/>
                <a:sym typeface="Symbol" panose="05050102010706020507" pitchFamily="18" charset="2"/>
              </a:rPr>
              <a:t></a:t>
            </a:r>
            <a:r>
              <a:rPr lang="zh-CN" altLang="en-US" sz="3000" b="1" smtClean="0">
                <a:ea typeface="宋体" panose="02010600030101010101" pitchFamily="2" charset="-122"/>
                <a:sym typeface="Symbol" panose="05050102010706020507" pitchFamily="18" charset="2"/>
              </a:rPr>
              <a:t>满足交换律与结合律。</a:t>
            </a:r>
            <a:endParaRPr lang="en-US" altLang="zh-CN" sz="3000" b="1" smtClean="0">
              <a:ea typeface="宋体" panose="02010600030101010101" pitchFamily="2" charset="-122"/>
            </a:endParaRPr>
          </a:p>
          <a:p>
            <a:r>
              <a:rPr lang="en-US" altLang="zh-CN" sz="3000" b="1" smtClean="0">
                <a:ea typeface="宋体" panose="02010600030101010101" pitchFamily="2" charset="-122"/>
              </a:rPr>
              <a:t>(X, </a:t>
            </a:r>
            <a:r>
              <a:rPr lang="en-US" altLang="zh-CN" sz="3000" b="1" smtClean="0">
                <a:ea typeface="宋体" panose="02010600030101010101" pitchFamily="2" charset="-122"/>
                <a:sym typeface="Symbol" panose="05050102010706020507" pitchFamily="18" charset="2"/>
              </a:rPr>
              <a:t></a:t>
            </a:r>
            <a:r>
              <a:rPr lang="en-US" altLang="zh-CN" sz="3000" b="1" smtClean="0">
                <a:ea typeface="宋体" panose="02010600030101010101" pitchFamily="2" charset="-122"/>
              </a:rPr>
              <a:t>)</a:t>
            </a:r>
            <a:r>
              <a:rPr lang="zh-CN" altLang="zh-CN" sz="3000" b="1" smtClean="0">
                <a:ea typeface="宋体" panose="02010600030101010101" pitchFamily="2" charset="-122"/>
              </a:rPr>
              <a:t>的单位元是</a:t>
            </a:r>
            <a:r>
              <a:rPr lang="en-US" altLang="zh-CN" sz="3000" b="1" smtClean="0">
                <a:ea typeface="宋体" panose="02010600030101010101" pitchFamily="2" charset="-122"/>
              </a:rPr>
              <a:t>(0,0)</a:t>
            </a:r>
            <a:r>
              <a:rPr lang="zh-CN" altLang="en-US" sz="3000" b="1" smtClean="0">
                <a:ea typeface="宋体" panose="02010600030101010101" pitchFamily="2" charset="-122"/>
              </a:rPr>
              <a:t>。</a:t>
            </a:r>
            <a:endParaRPr lang="en-US" altLang="zh-CN" sz="3000" b="1" smtClean="0">
              <a:ea typeface="宋体" panose="02010600030101010101" pitchFamily="2" charset="-122"/>
            </a:endParaRPr>
          </a:p>
          <a:p>
            <a:r>
              <a:rPr lang="zh-CN" altLang="zh-CN" sz="3000" b="1" smtClean="0">
                <a:ea typeface="宋体" panose="02010600030101010101" pitchFamily="2" charset="-122"/>
              </a:rPr>
              <a:t>任取</a:t>
            </a:r>
            <a:r>
              <a:rPr lang="en-US" altLang="zh-CN" sz="3000" b="1" smtClean="0">
                <a:ea typeface="宋体" panose="02010600030101010101" pitchFamily="2" charset="-122"/>
              </a:rPr>
              <a:t>(a,b) </a:t>
            </a:r>
            <a:r>
              <a:rPr lang="en-US" altLang="zh-CN" sz="3000" b="1" smtClean="0"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3000" b="1" smtClean="0">
                <a:ea typeface="宋体" panose="02010600030101010101" pitchFamily="2" charset="-122"/>
              </a:rPr>
              <a:t>X</a:t>
            </a:r>
            <a:r>
              <a:rPr lang="zh-CN" altLang="zh-CN" sz="3000" b="1" smtClean="0">
                <a:ea typeface="宋体" panose="02010600030101010101" pitchFamily="2" charset="-122"/>
              </a:rPr>
              <a:t>，</a:t>
            </a:r>
            <a:r>
              <a:rPr lang="en-US" altLang="zh-CN" sz="3000" b="1" smtClean="0">
                <a:ea typeface="宋体" panose="02010600030101010101" pitchFamily="2" charset="-122"/>
              </a:rPr>
              <a:t>(a,b)</a:t>
            </a:r>
            <a:r>
              <a:rPr lang="zh-CN" altLang="zh-CN" sz="3000" b="1" smtClean="0">
                <a:ea typeface="宋体" panose="02010600030101010101" pitchFamily="2" charset="-122"/>
              </a:rPr>
              <a:t>的</a:t>
            </a:r>
            <a:r>
              <a:rPr lang="zh-CN" altLang="en-US" sz="3000" b="1" smtClean="0">
                <a:ea typeface="宋体" panose="02010600030101010101" pitchFamily="2" charset="-122"/>
              </a:rPr>
              <a:t>逆</a:t>
            </a:r>
            <a:r>
              <a:rPr lang="zh-CN" altLang="zh-CN" sz="3000" b="1" smtClean="0">
                <a:ea typeface="宋体" panose="02010600030101010101" pitchFamily="2" charset="-122"/>
              </a:rPr>
              <a:t>是</a:t>
            </a:r>
            <a:r>
              <a:rPr lang="en-US" altLang="zh-CN" sz="3000" b="1" smtClean="0">
                <a:ea typeface="宋体" panose="02010600030101010101" pitchFamily="2" charset="-122"/>
              </a:rPr>
              <a:t>(-a,-b)</a:t>
            </a:r>
            <a:r>
              <a:rPr lang="zh-CN" altLang="zh-CN" sz="3000" b="1" smtClean="0">
                <a:ea typeface="宋体" panose="02010600030101010101" pitchFamily="2" charset="-122"/>
              </a:rPr>
              <a:t>。</a:t>
            </a:r>
            <a:endParaRPr lang="en-US" altLang="zh-CN" sz="3000" b="1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zh-CN" sz="3000" b="1" smtClean="0">
                <a:ea typeface="宋体" panose="02010600030101010101" pitchFamily="2" charset="-122"/>
              </a:rPr>
              <a:t>所以</a:t>
            </a:r>
            <a:r>
              <a:rPr lang="en-US" altLang="zh-CN" sz="3000" b="1" smtClean="0">
                <a:ea typeface="宋体" panose="02010600030101010101" pitchFamily="2" charset="-122"/>
              </a:rPr>
              <a:t>(X, </a:t>
            </a:r>
            <a:r>
              <a:rPr lang="en-US" altLang="zh-CN" sz="3000" b="1" smtClean="0">
                <a:ea typeface="宋体" panose="02010600030101010101" pitchFamily="2" charset="-122"/>
                <a:sym typeface="Symbol" panose="05050102010706020507" pitchFamily="18" charset="2"/>
              </a:rPr>
              <a:t></a:t>
            </a:r>
            <a:r>
              <a:rPr lang="en-US" altLang="zh-CN" sz="3000" b="1" smtClean="0">
                <a:ea typeface="宋体" panose="02010600030101010101" pitchFamily="2" charset="-122"/>
              </a:rPr>
              <a:t>)</a:t>
            </a:r>
            <a:r>
              <a:rPr lang="zh-CN" altLang="zh-CN" sz="3000" b="1" smtClean="0">
                <a:ea typeface="宋体" panose="02010600030101010101" pitchFamily="2" charset="-122"/>
              </a:rPr>
              <a:t>是交换群。</a:t>
            </a:r>
            <a:endParaRPr lang="zh-CN" altLang="en-US" sz="3000" b="1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33546270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08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08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08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08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08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08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08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08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内容占位符 2"/>
          <p:cNvSpPr>
            <a:spLocks noGrp="1"/>
          </p:cNvSpPr>
          <p:nvPr>
            <p:ph idx="1"/>
          </p:nvPr>
        </p:nvSpPr>
        <p:spPr>
          <a:xfrm>
            <a:off x="561975" y="836613"/>
            <a:ext cx="8113713" cy="5211762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zh-CN" sz="3000" b="1" smtClean="0">
                <a:solidFill>
                  <a:srgbClr val="0000FF"/>
                </a:solidFill>
              </a:rPr>
              <a:t>②</a:t>
            </a:r>
            <a:r>
              <a:rPr lang="zh-CN" altLang="zh-CN" sz="3000" b="1" smtClean="0">
                <a:solidFill>
                  <a:srgbClr val="0000FF"/>
                </a:solidFill>
                <a:ea typeface="宋体" panose="02010600030101010101" pitchFamily="2" charset="-122"/>
              </a:rPr>
              <a:t>证明（</a:t>
            </a:r>
            <a:r>
              <a:rPr lang="en-US" altLang="zh-CN" sz="3000" b="1" smtClean="0">
                <a:solidFill>
                  <a:srgbClr val="0000FF"/>
                </a:solidFill>
                <a:ea typeface="宋体" panose="02010600030101010101" pitchFamily="2" charset="-122"/>
              </a:rPr>
              <a:t>X</a:t>
            </a:r>
            <a:r>
              <a:rPr lang="zh-CN" altLang="zh-CN" sz="3000" b="1" smtClean="0">
                <a:solidFill>
                  <a:srgbClr val="0000FF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3200" b="1" smtClean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3200" b="1" smtClean="0">
                <a:solidFill>
                  <a:srgbClr val="0000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</a:t>
            </a:r>
            <a:r>
              <a:rPr lang="en-US" altLang="zh-CN" sz="3200" b="1" smtClean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zh-CN" sz="3000" b="1" smtClean="0">
                <a:solidFill>
                  <a:srgbClr val="0000FF"/>
                </a:solidFill>
                <a:ea typeface="宋体" panose="02010600030101010101" pitchFamily="2" charset="-122"/>
              </a:rPr>
              <a:t>）是半群。</a:t>
            </a:r>
            <a:endParaRPr lang="en-US" altLang="zh-CN" sz="3000" b="1" smtClean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r>
              <a:rPr lang="zh-CN" altLang="zh-CN" sz="3000" b="1" smtClean="0">
                <a:ea typeface="宋体" panose="02010600030101010101" pitchFamily="2" charset="-122"/>
              </a:rPr>
              <a:t>显然</a:t>
            </a:r>
            <a:r>
              <a:rPr lang="en-US" altLang="zh-CN" sz="3000" b="1" smtClean="0">
                <a:ea typeface="宋体" panose="02010600030101010101" pitchFamily="2" charset="-122"/>
              </a:rPr>
              <a:t>X </a:t>
            </a:r>
            <a:r>
              <a:rPr lang="zh-CN" altLang="zh-CN" sz="3000" b="1" smtClean="0">
                <a:ea typeface="宋体" panose="02010600030101010101" pitchFamily="2" charset="-122"/>
              </a:rPr>
              <a:t>非空，如（</a:t>
            </a:r>
            <a:r>
              <a:rPr lang="en-US" altLang="zh-CN" sz="3000" b="1" smtClean="0">
                <a:ea typeface="宋体" panose="02010600030101010101" pitchFamily="2" charset="-122"/>
              </a:rPr>
              <a:t>0</a:t>
            </a:r>
            <a:r>
              <a:rPr lang="zh-CN" altLang="zh-CN" sz="3000" b="1" smtClean="0">
                <a:ea typeface="宋体" panose="02010600030101010101" pitchFamily="2" charset="-122"/>
              </a:rPr>
              <a:t>，</a:t>
            </a:r>
            <a:r>
              <a:rPr lang="en-US" altLang="zh-CN" sz="3000" b="1" smtClean="0">
                <a:ea typeface="宋体" panose="02010600030101010101" pitchFamily="2" charset="-122"/>
              </a:rPr>
              <a:t>0</a:t>
            </a:r>
            <a:r>
              <a:rPr lang="zh-CN" altLang="zh-CN" sz="3000" b="1" smtClean="0">
                <a:ea typeface="宋体" panose="02010600030101010101" pitchFamily="2" charset="-122"/>
              </a:rPr>
              <a:t>）属于</a:t>
            </a:r>
            <a:r>
              <a:rPr lang="en-US" altLang="zh-CN" sz="3000" b="1" smtClean="0">
                <a:ea typeface="宋体" panose="02010600030101010101" pitchFamily="2" charset="-122"/>
              </a:rPr>
              <a:t>X</a:t>
            </a:r>
          </a:p>
          <a:p>
            <a:r>
              <a:rPr lang="zh-CN" altLang="zh-CN" sz="3000" b="1" smtClean="0">
                <a:ea typeface="宋体" panose="02010600030101010101" pitchFamily="2" charset="-122"/>
              </a:rPr>
              <a:t>运算</a:t>
            </a:r>
            <a:r>
              <a:rPr lang="en-US" altLang="zh-CN" sz="3000" b="1" smtClean="0">
                <a:ea typeface="宋体" panose="02010600030101010101" pitchFamily="2" charset="-122"/>
                <a:sym typeface="Symbol" panose="05050102010706020507" pitchFamily="18" charset="2"/>
              </a:rPr>
              <a:t></a:t>
            </a:r>
            <a:r>
              <a:rPr lang="zh-CN" altLang="zh-CN" sz="3000" b="1" smtClean="0">
                <a:ea typeface="宋体" panose="02010600030101010101" pitchFamily="2" charset="-122"/>
              </a:rPr>
              <a:t>在</a:t>
            </a:r>
            <a:r>
              <a:rPr lang="en-US" altLang="zh-CN" sz="3000" b="1" smtClean="0">
                <a:ea typeface="宋体" panose="02010600030101010101" pitchFamily="2" charset="-122"/>
              </a:rPr>
              <a:t>X</a:t>
            </a:r>
            <a:r>
              <a:rPr lang="zh-CN" altLang="zh-CN" sz="3000" b="1" smtClean="0">
                <a:ea typeface="宋体" panose="02010600030101010101" pitchFamily="2" charset="-122"/>
              </a:rPr>
              <a:t>上封闭，</a:t>
            </a:r>
            <a:endParaRPr lang="en-US" altLang="zh-CN" sz="3000" b="1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3000" b="1" smtClean="0">
                <a:ea typeface="宋体" panose="02010600030101010101" pitchFamily="2" charset="-122"/>
              </a:rPr>
              <a:t>据定义</a:t>
            </a:r>
            <a:r>
              <a:rPr lang="en-US" altLang="zh-CN" sz="3000" b="1" smtClean="0">
                <a:ea typeface="宋体" panose="02010600030101010101" pitchFamily="2" charset="-122"/>
              </a:rPr>
              <a:t> (a</a:t>
            </a:r>
            <a:r>
              <a:rPr lang="en-US" altLang="zh-CN" sz="3000" b="1" baseline="-25000" smtClean="0">
                <a:ea typeface="宋体" panose="02010600030101010101" pitchFamily="2" charset="-122"/>
              </a:rPr>
              <a:t>1</a:t>
            </a:r>
            <a:r>
              <a:rPr lang="en-US" altLang="zh-CN" sz="3000" b="1" smtClean="0">
                <a:ea typeface="宋体" panose="02010600030101010101" pitchFamily="2" charset="-122"/>
              </a:rPr>
              <a:t>,b</a:t>
            </a:r>
            <a:r>
              <a:rPr lang="en-US" altLang="zh-CN" sz="3000" b="1" baseline="-25000" smtClean="0">
                <a:ea typeface="宋体" panose="02010600030101010101" pitchFamily="2" charset="-122"/>
              </a:rPr>
              <a:t>1</a:t>
            </a:r>
            <a:r>
              <a:rPr lang="en-US" altLang="zh-CN" sz="3000" b="1" smtClean="0">
                <a:ea typeface="宋体" panose="02010600030101010101" pitchFamily="2" charset="-122"/>
              </a:rPr>
              <a:t>) </a:t>
            </a:r>
            <a:r>
              <a:rPr lang="en-US" altLang="zh-CN" sz="3000" b="1" smtClean="0">
                <a:ea typeface="宋体" panose="02010600030101010101" pitchFamily="2" charset="-122"/>
                <a:sym typeface="Symbol" panose="05050102010706020507" pitchFamily="18" charset="2"/>
              </a:rPr>
              <a:t></a:t>
            </a:r>
            <a:r>
              <a:rPr lang="en-US" altLang="zh-CN" sz="3000" b="1" smtClean="0">
                <a:ea typeface="宋体" panose="02010600030101010101" pitchFamily="2" charset="-122"/>
              </a:rPr>
              <a:t> (a</a:t>
            </a:r>
            <a:r>
              <a:rPr lang="en-US" altLang="zh-CN" sz="3000" b="1" baseline="-25000" smtClean="0">
                <a:ea typeface="宋体" panose="02010600030101010101" pitchFamily="2" charset="-122"/>
              </a:rPr>
              <a:t>2</a:t>
            </a:r>
            <a:r>
              <a:rPr lang="en-US" altLang="zh-CN" sz="3000" b="1" smtClean="0">
                <a:ea typeface="宋体" panose="02010600030101010101" pitchFamily="2" charset="-122"/>
              </a:rPr>
              <a:t>,b</a:t>
            </a:r>
            <a:r>
              <a:rPr lang="en-US" altLang="zh-CN" sz="3000" b="1" baseline="-25000" smtClean="0">
                <a:ea typeface="宋体" panose="02010600030101010101" pitchFamily="2" charset="-122"/>
              </a:rPr>
              <a:t>2</a:t>
            </a:r>
            <a:r>
              <a:rPr lang="en-US" altLang="zh-CN" sz="3000" b="1" smtClean="0">
                <a:ea typeface="宋体" panose="02010600030101010101" pitchFamily="2" charset="-122"/>
              </a:rPr>
              <a:t>)=(a</a:t>
            </a:r>
            <a:r>
              <a:rPr lang="en-US" altLang="zh-CN" sz="3000" b="1" baseline="-25000" smtClean="0">
                <a:ea typeface="宋体" panose="02010600030101010101" pitchFamily="2" charset="-122"/>
              </a:rPr>
              <a:t>1</a:t>
            </a:r>
            <a:r>
              <a:rPr lang="en-US" altLang="zh-CN" sz="3000" b="1" smtClean="0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sz="3000" b="1" smtClean="0">
                <a:ea typeface="宋体" panose="02010600030101010101" pitchFamily="2" charset="-122"/>
              </a:rPr>
              <a:t>a</a:t>
            </a:r>
            <a:r>
              <a:rPr lang="en-US" altLang="zh-CN" sz="3000" b="1" baseline="-25000" smtClean="0">
                <a:ea typeface="宋体" panose="02010600030101010101" pitchFamily="2" charset="-122"/>
              </a:rPr>
              <a:t>2</a:t>
            </a:r>
            <a:r>
              <a:rPr lang="en-US" altLang="zh-CN" sz="3000" b="1" smtClean="0">
                <a:ea typeface="宋体" panose="02010600030101010101" pitchFamily="2" charset="-122"/>
              </a:rPr>
              <a:t>,b</a:t>
            </a:r>
            <a:r>
              <a:rPr lang="en-US" altLang="zh-CN" sz="3000" b="1" baseline="-25000" smtClean="0">
                <a:ea typeface="宋体" panose="02010600030101010101" pitchFamily="2" charset="-122"/>
              </a:rPr>
              <a:t>1</a:t>
            </a:r>
            <a:r>
              <a:rPr lang="en-US" altLang="zh-CN" sz="3000" b="1" smtClean="0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sz="3000" b="1" smtClean="0">
                <a:ea typeface="宋体" panose="02010600030101010101" pitchFamily="2" charset="-122"/>
              </a:rPr>
              <a:t>b</a:t>
            </a:r>
            <a:r>
              <a:rPr lang="en-US" altLang="zh-CN" sz="3000" b="1" baseline="-25000" smtClean="0">
                <a:ea typeface="宋体" panose="02010600030101010101" pitchFamily="2" charset="-122"/>
              </a:rPr>
              <a:t>2</a:t>
            </a:r>
            <a:r>
              <a:rPr lang="en-US" altLang="zh-CN" sz="3000" b="1" smtClean="0">
                <a:ea typeface="宋体" panose="02010600030101010101" pitchFamily="2" charset="-122"/>
              </a:rPr>
              <a:t>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000" b="1" smtClean="0">
                <a:ea typeface="宋体" panose="02010600030101010101" pitchFamily="2" charset="-122"/>
              </a:rPr>
              <a:t>a</a:t>
            </a:r>
            <a:r>
              <a:rPr lang="en-US" altLang="zh-CN" sz="3000" b="1" baseline="-25000" smtClean="0">
                <a:ea typeface="宋体" panose="02010600030101010101" pitchFamily="2" charset="-122"/>
              </a:rPr>
              <a:t>1</a:t>
            </a:r>
            <a:r>
              <a:rPr lang="en-US" altLang="zh-CN" sz="3000" b="1" smtClean="0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sz="3000" b="1" smtClean="0">
                <a:ea typeface="宋体" panose="02010600030101010101" pitchFamily="2" charset="-122"/>
              </a:rPr>
              <a:t>a</a:t>
            </a:r>
            <a:r>
              <a:rPr lang="en-US" altLang="zh-CN" sz="3000" b="1" baseline="-25000" smtClean="0">
                <a:ea typeface="宋体" panose="02010600030101010101" pitchFamily="2" charset="-122"/>
              </a:rPr>
              <a:t>2</a:t>
            </a:r>
            <a:r>
              <a:rPr lang="en-US" altLang="zh-CN" sz="3000" b="1" smtClean="0">
                <a:ea typeface="宋体" panose="02010600030101010101" pitchFamily="2" charset="-122"/>
                <a:sym typeface="Symbol" panose="05050102010706020507" pitchFamily="18" charset="2"/>
              </a:rPr>
              <a:t> </a:t>
            </a:r>
            <a:r>
              <a:rPr lang="en-US" altLang="zh-CN" sz="3000" b="1" smtClean="0">
                <a:ea typeface="宋体" panose="02010600030101010101" pitchFamily="2" charset="-122"/>
              </a:rPr>
              <a:t>Z,    b</a:t>
            </a:r>
            <a:r>
              <a:rPr lang="en-US" altLang="zh-CN" sz="3000" b="1" baseline="-25000" smtClean="0">
                <a:ea typeface="宋体" panose="02010600030101010101" pitchFamily="2" charset="-122"/>
              </a:rPr>
              <a:t>1</a:t>
            </a:r>
            <a:r>
              <a:rPr lang="en-US" altLang="zh-CN" sz="3000" b="1" smtClean="0"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sz="3000" b="1" smtClean="0">
                <a:ea typeface="宋体" panose="02010600030101010101" pitchFamily="2" charset="-122"/>
              </a:rPr>
              <a:t>b</a:t>
            </a:r>
            <a:r>
              <a:rPr lang="en-US" altLang="zh-CN" sz="3000" b="1" baseline="-25000" smtClean="0">
                <a:ea typeface="宋体" panose="02010600030101010101" pitchFamily="2" charset="-122"/>
              </a:rPr>
              <a:t>2</a:t>
            </a:r>
            <a:r>
              <a:rPr lang="en-US" altLang="zh-CN" sz="3000" b="1" smtClean="0">
                <a:ea typeface="宋体" panose="02010600030101010101" pitchFamily="2" charset="-122"/>
                <a:sym typeface="Symbol" panose="05050102010706020507" pitchFamily="18" charset="2"/>
              </a:rPr>
              <a:t> </a:t>
            </a:r>
            <a:r>
              <a:rPr lang="en-US" altLang="zh-CN" sz="3000" b="1" smtClean="0">
                <a:ea typeface="宋体" panose="02010600030101010101" pitchFamily="2" charset="-122"/>
              </a:rPr>
              <a:t>Z</a:t>
            </a:r>
          </a:p>
          <a:p>
            <a:r>
              <a:rPr lang="zh-CN" altLang="zh-CN" sz="3000" b="1" smtClean="0">
                <a:ea typeface="宋体" panose="02010600030101010101" pitchFamily="2" charset="-122"/>
              </a:rPr>
              <a:t>运算</a:t>
            </a:r>
            <a:r>
              <a:rPr lang="en-US" altLang="zh-CN" sz="3000" b="1" smtClean="0">
                <a:ea typeface="宋体" panose="02010600030101010101" pitchFamily="2" charset="-122"/>
                <a:sym typeface="Symbol" panose="05050102010706020507" pitchFamily="18" charset="2"/>
              </a:rPr>
              <a:t></a:t>
            </a:r>
            <a:r>
              <a:rPr lang="zh-CN" altLang="zh-CN" sz="3000" b="1" smtClean="0">
                <a:ea typeface="宋体" panose="02010600030101010101" pitchFamily="2" charset="-122"/>
              </a:rPr>
              <a:t>满足结合律，</a:t>
            </a:r>
            <a:r>
              <a:rPr lang="zh-CN" altLang="en-US" sz="3000" b="1" smtClean="0">
                <a:ea typeface="宋体" panose="02010600030101010101" pitchFamily="2" charset="-122"/>
              </a:rPr>
              <a:t>由于整数乘法满足结合律</a:t>
            </a:r>
            <a:endParaRPr lang="en-US" altLang="zh-CN" sz="3000" b="1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3000" b="1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zh-CN" sz="3000" b="1" smtClean="0">
                <a:ea typeface="宋体" panose="02010600030101010101" pitchFamily="2" charset="-122"/>
              </a:rPr>
              <a:t>所以</a:t>
            </a:r>
            <a:r>
              <a:rPr lang="en-US" altLang="zh-CN" sz="3000" b="1" smtClean="0">
                <a:ea typeface="宋体" panose="02010600030101010101" pitchFamily="2" charset="-122"/>
              </a:rPr>
              <a:t>(X, </a:t>
            </a:r>
            <a:r>
              <a:rPr lang="en-US" altLang="zh-CN" sz="3000" b="1" smtClean="0">
                <a:ea typeface="宋体" panose="02010600030101010101" pitchFamily="2" charset="-122"/>
                <a:sym typeface="Symbol" panose="05050102010706020507" pitchFamily="18" charset="2"/>
              </a:rPr>
              <a:t></a:t>
            </a:r>
            <a:r>
              <a:rPr lang="en-US" altLang="zh-CN" sz="3000" b="1" smtClean="0">
                <a:ea typeface="宋体" panose="02010600030101010101" pitchFamily="2" charset="-122"/>
              </a:rPr>
              <a:t>)</a:t>
            </a:r>
            <a:r>
              <a:rPr lang="zh-CN" altLang="zh-CN" sz="3000" b="1" smtClean="0">
                <a:ea typeface="宋体" panose="02010600030101010101" pitchFamily="2" charset="-122"/>
              </a:rPr>
              <a:t>是半群</a:t>
            </a:r>
            <a:r>
              <a:rPr lang="zh-CN" altLang="zh-CN" sz="3000" b="1" smtClean="0"/>
              <a:t>。</a:t>
            </a:r>
            <a:endParaRPr lang="en-US" altLang="zh-CN" sz="3000" b="1" smtClean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endParaRPr lang="zh-CN" altLang="zh-CN" sz="2400" smtClean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3489869416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19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19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19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19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19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19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19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19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1975" y="836613"/>
            <a:ext cx="8042275" cy="5211762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zh-CN" sz="2800" b="1" dirty="0" smtClean="0">
                <a:solidFill>
                  <a:srgbClr val="0000FF"/>
                </a:solidFill>
                <a:ea typeface="宋体" pitchFamily="2" charset="-122"/>
              </a:rPr>
              <a:t>③</a:t>
            </a:r>
            <a:r>
              <a:rPr lang="zh-CN" altLang="zh-CN" sz="2800" b="1" dirty="0" smtClean="0">
                <a:ea typeface="宋体" pitchFamily="2" charset="-122"/>
              </a:rPr>
              <a:t>证明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</a:t>
            </a:r>
            <a:r>
              <a:rPr lang="zh-CN" altLang="zh-CN" sz="2800" b="1" dirty="0" smtClean="0">
                <a:ea typeface="宋体" pitchFamily="2" charset="-122"/>
              </a:rPr>
              <a:t>对⊕有左右分配律。</a:t>
            </a:r>
            <a:endParaRPr lang="en-US" altLang="zh-CN" sz="2800" b="1" dirty="0" smtClean="0">
              <a:ea typeface="宋体" pitchFamily="2" charset="-122"/>
            </a:endParaRPr>
          </a:p>
          <a:p>
            <a:pPr marL="0" indent="85725">
              <a:defRPr/>
            </a:pPr>
            <a:r>
              <a:rPr lang="zh-CN" altLang="en-US" sz="2800" b="1" dirty="0" smtClean="0">
                <a:solidFill>
                  <a:srgbClr val="0000FF"/>
                </a:solidFill>
                <a:ea typeface="宋体" pitchFamily="2" charset="-122"/>
              </a:rPr>
              <a:t>左分配律：</a:t>
            </a:r>
            <a:endParaRPr lang="zh-CN" altLang="zh-CN" sz="2800" dirty="0" smtClean="0">
              <a:solidFill>
                <a:srgbClr val="0000FF"/>
              </a:solidFill>
              <a:ea typeface="宋体" pitchFamily="2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zh-CN" sz="2800" b="1" dirty="0" smtClean="0">
                <a:latin typeface="宋体" pitchFamily="2" charset="-122"/>
                <a:ea typeface="宋体" pitchFamily="2" charset="-122"/>
              </a:rPr>
              <a:t>任取</a:t>
            </a:r>
            <a:r>
              <a:rPr lang="en-US" altLang="zh-CN" sz="2800" b="1" dirty="0" smtClean="0"/>
              <a:t>(a</a:t>
            </a:r>
            <a:r>
              <a:rPr lang="en-US" altLang="zh-CN" sz="2800" b="1" baseline="-25000" dirty="0" smtClean="0"/>
              <a:t>1</a:t>
            </a:r>
            <a:r>
              <a:rPr lang="en-US" altLang="zh-CN" sz="2800" b="1" dirty="0" smtClean="0"/>
              <a:t>,b</a:t>
            </a:r>
            <a:r>
              <a:rPr lang="en-US" altLang="zh-CN" sz="2800" b="1" baseline="-25000" dirty="0" smtClean="0"/>
              <a:t>1</a:t>
            </a:r>
            <a:r>
              <a:rPr lang="en-US" altLang="zh-CN" sz="2800" b="1" dirty="0" smtClean="0"/>
              <a:t>)</a:t>
            </a:r>
            <a:r>
              <a:rPr lang="zh-CN" altLang="zh-CN" sz="2800" b="1" dirty="0" smtClean="0"/>
              <a:t>，</a:t>
            </a:r>
            <a:r>
              <a:rPr lang="en-US" altLang="zh-CN" sz="2800" b="1" dirty="0" smtClean="0"/>
              <a:t>(a</a:t>
            </a:r>
            <a:r>
              <a:rPr lang="en-US" altLang="zh-CN" sz="2800" b="1" baseline="-25000" dirty="0" smtClean="0"/>
              <a:t>2</a:t>
            </a:r>
            <a:r>
              <a:rPr lang="en-US" altLang="zh-CN" sz="2800" b="1" dirty="0" smtClean="0"/>
              <a:t>,b</a:t>
            </a:r>
            <a:r>
              <a:rPr lang="en-US" altLang="zh-CN" sz="2800" b="1" baseline="-25000" dirty="0" smtClean="0"/>
              <a:t>2</a:t>
            </a:r>
            <a:r>
              <a:rPr lang="en-US" altLang="zh-CN" sz="2800" b="1" dirty="0" smtClean="0"/>
              <a:t>) </a:t>
            </a:r>
            <a:r>
              <a:rPr lang="zh-CN" altLang="zh-CN" sz="2800" b="1" dirty="0" smtClean="0"/>
              <a:t>，</a:t>
            </a:r>
            <a:r>
              <a:rPr lang="en-US" altLang="zh-CN" sz="2800" b="1" dirty="0" smtClean="0"/>
              <a:t>(a</a:t>
            </a:r>
            <a:r>
              <a:rPr lang="en-US" altLang="zh-CN" sz="2800" b="1" baseline="-25000" dirty="0" smtClean="0"/>
              <a:t>3</a:t>
            </a:r>
            <a:r>
              <a:rPr lang="en-US" altLang="zh-CN" sz="2800" b="1" dirty="0" smtClean="0"/>
              <a:t>,b</a:t>
            </a:r>
            <a:r>
              <a:rPr lang="en-US" altLang="zh-CN" sz="2800" b="1" baseline="-25000" dirty="0" smtClean="0"/>
              <a:t>3</a:t>
            </a:r>
            <a:r>
              <a:rPr lang="en-US" altLang="zh-CN" sz="2800" b="1" dirty="0" smtClean="0"/>
              <a:t>) </a:t>
            </a:r>
            <a:r>
              <a:rPr lang="en-US" altLang="zh-CN" sz="2800" b="1" dirty="0" smtClean="0">
                <a:sym typeface="Symbol"/>
              </a:rPr>
              <a:t></a:t>
            </a:r>
            <a:r>
              <a:rPr lang="en-US" altLang="zh-CN" sz="2800" b="1" dirty="0" smtClean="0"/>
              <a:t>X</a:t>
            </a:r>
            <a:r>
              <a:rPr lang="zh-CN" altLang="zh-CN" sz="2800" b="1" dirty="0" smtClean="0"/>
              <a:t>，</a:t>
            </a:r>
            <a:endParaRPr lang="en-US" altLang="zh-CN" sz="2800" b="1" dirty="0" smtClean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>
                <a:solidFill>
                  <a:srgbClr val="0000FF"/>
                </a:solidFill>
              </a:rPr>
              <a:t>(a</a:t>
            </a:r>
            <a:r>
              <a:rPr lang="en-US" altLang="zh-CN" sz="2800" b="1" baseline="-25000" dirty="0" smtClean="0">
                <a:solidFill>
                  <a:srgbClr val="0000FF"/>
                </a:solidFill>
              </a:rPr>
              <a:t>1</a:t>
            </a:r>
            <a:r>
              <a:rPr lang="en-US" altLang="zh-CN" sz="2800" b="1" dirty="0" smtClean="0">
                <a:solidFill>
                  <a:srgbClr val="0000FF"/>
                </a:solidFill>
              </a:rPr>
              <a:t>,b</a:t>
            </a:r>
            <a:r>
              <a:rPr lang="en-US" altLang="zh-CN" sz="2800" b="1" baseline="-25000" dirty="0" smtClean="0">
                <a:solidFill>
                  <a:srgbClr val="0000FF"/>
                </a:solidFill>
              </a:rPr>
              <a:t>1</a:t>
            </a:r>
            <a:r>
              <a:rPr lang="en-US" altLang="zh-CN" sz="2800" b="1" dirty="0" smtClean="0">
                <a:solidFill>
                  <a:srgbClr val="0000FF"/>
                </a:solidFill>
              </a:rPr>
              <a:t>) </a:t>
            </a:r>
            <a:r>
              <a:rPr lang="en-US" altLang="zh-CN" sz="2800" b="1" dirty="0" smtClean="0">
                <a:solidFill>
                  <a:srgbClr val="0000FF"/>
                </a:solidFill>
                <a:sym typeface="Symbol"/>
              </a:rPr>
              <a:t></a:t>
            </a:r>
            <a:r>
              <a:rPr lang="en-US" altLang="zh-CN" sz="2800" b="1" dirty="0" smtClean="0">
                <a:solidFill>
                  <a:srgbClr val="0000FF"/>
                </a:solidFill>
              </a:rPr>
              <a:t>((a</a:t>
            </a:r>
            <a:r>
              <a:rPr lang="en-US" altLang="zh-CN" sz="2800" b="1" baseline="-25000" dirty="0" smtClean="0">
                <a:solidFill>
                  <a:srgbClr val="0000FF"/>
                </a:solidFill>
              </a:rPr>
              <a:t>2</a:t>
            </a:r>
            <a:r>
              <a:rPr lang="en-US" altLang="zh-CN" sz="2800" b="1" dirty="0" smtClean="0">
                <a:solidFill>
                  <a:srgbClr val="0000FF"/>
                </a:solidFill>
              </a:rPr>
              <a:t>,b</a:t>
            </a:r>
            <a:r>
              <a:rPr lang="en-US" altLang="zh-CN" sz="2800" b="1" baseline="-25000" dirty="0" smtClean="0">
                <a:solidFill>
                  <a:srgbClr val="0000FF"/>
                </a:solidFill>
              </a:rPr>
              <a:t>2</a:t>
            </a:r>
            <a:r>
              <a:rPr lang="en-US" altLang="zh-CN" sz="2800" b="1" dirty="0" smtClean="0">
                <a:solidFill>
                  <a:srgbClr val="0000FF"/>
                </a:solidFill>
              </a:rPr>
              <a:t>) </a:t>
            </a:r>
            <a:r>
              <a:rPr lang="en-US" altLang="zh-CN" sz="2800" b="1" dirty="0" smtClean="0">
                <a:solidFill>
                  <a:srgbClr val="0000FF"/>
                </a:solidFill>
                <a:sym typeface="Symbol"/>
              </a:rPr>
              <a:t></a:t>
            </a:r>
            <a:r>
              <a:rPr lang="en-US" altLang="zh-CN" sz="2800" b="1" dirty="0" smtClean="0">
                <a:solidFill>
                  <a:srgbClr val="0000FF"/>
                </a:solidFill>
              </a:rPr>
              <a:t> (a</a:t>
            </a:r>
            <a:r>
              <a:rPr lang="en-US" altLang="zh-CN" sz="2800" b="1" baseline="-25000" dirty="0" smtClean="0">
                <a:solidFill>
                  <a:srgbClr val="0000FF"/>
                </a:solidFill>
              </a:rPr>
              <a:t>3</a:t>
            </a:r>
            <a:r>
              <a:rPr lang="en-US" altLang="zh-CN" sz="2800" b="1" dirty="0" smtClean="0">
                <a:solidFill>
                  <a:srgbClr val="0000FF"/>
                </a:solidFill>
              </a:rPr>
              <a:t>,b</a:t>
            </a:r>
            <a:r>
              <a:rPr lang="en-US" altLang="zh-CN" sz="2800" b="1" baseline="-25000" dirty="0" smtClean="0">
                <a:solidFill>
                  <a:srgbClr val="0000FF"/>
                </a:solidFill>
              </a:rPr>
              <a:t>3</a:t>
            </a:r>
            <a:r>
              <a:rPr lang="en-US" altLang="zh-CN" sz="2800" b="1" dirty="0" smtClean="0">
                <a:solidFill>
                  <a:srgbClr val="0000FF"/>
                </a:solidFill>
              </a:rPr>
              <a:t>))</a:t>
            </a:r>
            <a:r>
              <a:rPr lang="en-US" altLang="zh-CN" sz="2800" b="1" dirty="0" smtClean="0"/>
              <a:t>=</a:t>
            </a:r>
            <a:r>
              <a:rPr lang="en-US" altLang="zh-CN" sz="2800" b="1" dirty="0">
                <a:solidFill>
                  <a:srgbClr val="0000FF"/>
                </a:solidFill>
              </a:rPr>
              <a:t> </a:t>
            </a:r>
            <a:r>
              <a:rPr lang="en-US" altLang="zh-CN" sz="2800" b="1" dirty="0"/>
              <a:t>(a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,b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) </a:t>
            </a:r>
            <a:r>
              <a:rPr lang="en-US" altLang="zh-CN" sz="2800" b="1" dirty="0" smtClean="0">
                <a:sym typeface="Symbol"/>
              </a:rPr>
              <a:t>(</a:t>
            </a:r>
            <a:r>
              <a:rPr lang="en-US" altLang="zh-CN" sz="2800" b="1" dirty="0" smtClean="0"/>
              <a:t>a</a:t>
            </a:r>
            <a:r>
              <a:rPr lang="en-US" altLang="zh-CN" sz="2800" b="1" baseline="-25000" dirty="0" smtClean="0"/>
              <a:t>2</a:t>
            </a:r>
            <a:r>
              <a:rPr lang="en-US" altLang="zh-CN" sz="2800" b="1" dirty="0" smtClean="0"/>
              <a:t>+a</a:t>
            </a:r>
            <a:r>
              <a:rPr lang="en-US" altLang="zh-CN" sz="2800" b="1" baseline="-25000" dirty="0" smtClean="0"/>
              <a:t>3</a:t>
            </a:r>
            <a:r>
              <a:rPr lang="en-US" altLang="zh-CN" sz="2800" b="1" dirty="0" smtClean="0"/>
              <a:t>,</a:t>
            </a:r>
            <a:r>
              <a:rPr lang="en-US" altLang="zh-CN" sz="2800" b="1" dirty="0"/>
              <a:t> </a:t>
            </a:r>
            <a:r>
              <a:rPr lang="en-US" altLang="zh-CN" sz="2800" b="1" dirty="0" smtClean="0"/>
              <a:t>b</a:t>
            </a:r>
            <a:r>
              <a:rPr lang="en-US" altLang="zh-CN" sz="2800" b="1" baseline="-25000" dirty="0" smtClean="0"/>
              <a:t>2</a:t>
            </a:r>
            <a:r>
              <a:rPr lang="en-US" altLang="zh-CN" sz="2800" b="1" dirty="0" smtClean="0"/>
              <a:t>+</a:t>
            </a:r>
            <a:r>
              <a:rPr lang="en-US" altLang="zh-CN" sz="2800" b="1" dirty="0"/>
              <a:t>b</a:t>
            </a:r>
            <a:r>
              <a:rPr lang="en-US" altLang="zh-CN" sz="2800" b="1" baseline="-25000" dirty="0"/>
              <a:t>3</a:t>
            </a:r>
            <a:r>
              <a:rPr lang="en-US" altLang="zh-CN" sz="2800" b="1" dirty="0" smtClean="0"/>
              <a:t>)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/>
              <a:t>                                           (a</a:t>
            </a:r>
            <a:r>
              <a:rPr lang="en-US" altLang="zh-CN" sz="2800" b="1" baseline="-25000" dirty="0" smtClean="0"/>
              <a:t>1</a:t>
            </a:r>
            <a:r>
              <a:rPr lang="en-US" altLang="zh-CN" sz="2800" b="1" dirty="0" smtClean="0">
                <a:sym typeface="Symbol"/>
              </a:rPr>
              <a:t></a:t>
            </a:r>
            <a:r>
              <a:rPr lang="en-US" altLang="zh-CN" sz="2800" b="1" dirty="0" smtClean="0"/>
              <a:t>a</a:t>
            </a:r>
            <a:r>
              <a:rPr lang="en-US" altLang="zh-CN" sz="2800" b="1" baseline="-25000" dirty="0" smtClean="0"/>
              <a:t>2</a:t>
            </a:r>
            <a:r>
              <a:rPr lang="en-US" altLang="zh-CN" sz="2800" b="1" dirty="0" smtClean="0"/>
              <a:t>+a</a:t>
            </a:r>
            <a:r>
              <a:rPr lang="en-US" altLang="zh-CN" sz="2800" b="1" baseline="-25000" dirty="0" smtClean="0"/>
              <a:t>1</a:t>
            </a:r>
            <a:r>
              <a:rPr lang="en-US" altLang="zh-CN" sz="2800" b="1" dirty="0" smtClean="0">
                <a:sym typeface="Symbol"/>
              </a:rPr>
              <a:t></a:t>
            </a:r>
            <a:r>
              <a:rPr lang="en-US" altLang="zh-CN" sz="2800" b="1" dirty="0" smtClean="0"/>
              <a:t>a</a:t>
            </a:r>
            <a:r>
              <a:rPr lang="en-US" altLang="zh-CN" sz="2800" b="1" baseline="-25000" dirty="0" smtClean="0"/>
              <a:t>3</a:t>
            </a:r>
            <a:r>
              <a:rPr lang="en-US" altLang="zh-CN" sz="2800" b="1" dirty="0" smtClean="0"/>
              <a:t>,b</a:t>
            </a:r>
            <a:r>
              <a:rPr lang="en-US" altLang="zh-CN" sz="2800" b="1" baseline="-25000" dirty="0" smtClean="0"/>
              <a:t>1</a:t>
            </a:r>
            <a:r>
              <a:rPr lang="en-US" altLang="zh-CN" sz="2800" b="1" dirty="0" smtClean="0">
                <a:sym typeface="Symbol"/>
              </a:rPr>
              <a:t></a:t>
            </a:r>
            <a:r>
              <a:rPr lang="en-US" altLang="zh-CN" sz="2800" b="1" dirty="0" smtClean="0"/>
              <a:t>b</a:t>
            </a:r>
            <a:r>
              <a:rPr lang="en-US" altLang="zh-CN" sz="2800" b="1" baseline="-25000" dirty="0" smtClean="0"/>
              <a:t>2</a:t>
            </a:r>
            <a:r>
              <a:rPr lang="en-US" altLang="zh-CN" sz="2800" b="1" dirty="0" smtClean="0"/>
              <a:t>+b</a:t>
            </a:r>
            <a:r>
              <a:rPr lang="en-US" altLang="zh-CN" sz="2800" b="1" baseline="-25000" dirty="0" smtClean="0"/>
              <a:t>1</a:t>
            </a:r>
            <a:r>
              <a:rPr lang="en-US" altLang="zh-CN" sz="2800" b="1" dirty="0" smtClean="0">
                <a:sym typeface="Symbol"/>
              </a:rPr>
              <a:t></a:t>
            </a:r>
            <a:r>
              <a:rPr lang="en-US" altLang="zh-CN" sz="2800" b="1" dirty="0" smtClean="0"/>
              <a:t>b</a:t>
            </a:r>
            <a:r>
              <a:rPr lang="en-US" altLang="zh-CN" sz="2800" b="1" baseline="-25000" dirty="0" smtClean="0"/>
              <a:t>3</a:t>
            </a:r>
            <a:r>
              <a:rPr lang="en-US" altLang="zh-CN" sz="2800" b="1" dirty="0" smtClean="0"/>
              <a:t>)</a:t>
            </a:r>
            <a:endParaRPr lang="zh-CN" altLang="zh-CN" sz="2800" b="1" dirty="0" smtClean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>
                <a:solidFill>
                  <a:srgbClr val="0000FF"/>
                </a:solidFill>
              </a:rPr>
              <a:t>((a</a:t>
            </a:r>
            <a:r>
              <a:rPr lang="en-US" altLang="zh-CN" sz="2800" b="1" baseline="-25000" dirty="0" smtClean="0">
                <a:solidFill>
                  <a:srgbClr val="0000FF"/>
                </a:solidFill>
              </a:rPr>
              <a:t>1</a:t>
            </a:r>
            <a:r>
              <a:rPr lang="en-US" altLang="zh-CN" sz="2800" b="1" dirty="0" smtClean="0">
                <a:solidFill>
                  <a:srgbClr val="0000FF"/>
                </a:solidFill>
              </a:rPr>
              <a:t>,b</a:t>
            </a:r>
            <a:r>
              <a:rPr lang="en-US" altLang="zh-CN" sz="2800" b="1" baseline="-25000" dirty="0" smtClean="0">
                <a:solidFill>
                  <a:srgbClr val="0000FF"/>
                </a:solidFill>
              </a:rPr>
              <a:t>1</a:t>
            </a:r>
            <a:r>
              <a:rPr lang="en-US" altLang="zh-CN" sz="2800" b="1" dirty="0" smtClean="0">
                <a:solidFill>
                  <a:srgbClr val="0000FF"/>
                </a:solidFill>
              </a:rPr>
              <a:t>) </a:t>
            </a:r>
            <a:r>
              <a:rPr lang="en-US" altLang="zh-CN" sz="2800" b="1" dirty="0" smtClean="0">
                <a:solidFill>
                  <a:srgbClr val="0000FF"/>
                </a:solidFill>
                <a:sym typeface="Symbol"/>
              </a:rPr>
              <a:t></a:t>
            </a:r>
            <a:r>
              <a:rPr lang="en-US" altLang="zh-CN" sz="2800" b="1" dirty="0" smtClean="0">
                <a:solidFill>
                  <a:srgbClr val="0000FF"/>
                </a:solidFill>
              </a:rPr>
              <a:t>(a</a:t>
            </a:r>
            <a:r>
              <a:rPr lang="en-US" altLang="zh-CN" sz="2800" b="1" baseline="-25000" dirty="0" smtClean="0">
                <a:solidFill>
                  <a:srgbClr val="0000FF"/>
                </a:solidFill>
              </a:rPr>
              <a:t>2</a:t>
            </a:r>
            <a:r>
              <a:rPr lang="en-US" altLang="zh-CN" sz="2800" b="1" dirty="0" smtClean="0">
                <a:solidFill>
                  <a:srgbClr val="0000FF"/>
                </a:solidFill>
              </a:rPr>
              <a:t>,b</a:t>
            </a:r>
            <a:r>
              <a:rPr lang="en-US" altLang="zh-CN" sz="2800" b="1" baseline="-25000" dirty="0" smtClean="0">
                <a:solidFill>
                  <a:srgbClr val="0000FF"/>
                </a:solidFill>
              </a:rPr>
              <a:t>2</a:t>
            </a:r>
            <a:r>
              <a:rPr lang="en-US" altLang="zh-CN" sz="2800" b="1" dirty="0" smtClean="0">
                <a:solidFill>
                  <a:srgbClr val="0000FF"/>
                </a:solidFill>
              </a:rPr>
              <a:t>)) </a:t>
            </a:r>
            <a:r>
              <a:rPr lang="en-US" altLang="zh-CN" sz="2800" b="1" dirty="0" smtClean="0">
                <a:solidFill>
                  <a:srgbClr val="0000FF"/>
                </a:solidFill>
                <a:sym typeface="Symbol"/>
              </a:rPr>
              <a:t></a:t>
            </a:r>
            <a:r>
              <a:rPr lang="en-US" altLang="zh-CN" sz="2800" b="1" dirty="0" smtClean="0">
                <a:solidFill>
                  <a:srgbClr val="0000FF"/>
                </a:solidFill>
              </a:rPr>
              <a:t>((a</a:t>
            </a:r>
            <a:r>
              <a:rPr lang="en-US" altLang="zh-CN" sz="2800" b="1" baseline="-25000" dirty="0" smtClean="0">
                <a:solidFill>
                  <a:srgbClr val="0000FF"/>
                </a:solidFill>
              </a:rPr>
              <a:t>1</a:t>
            </a:r>
            <a:r>
              <a:rPr lang="en-US" altLang="zh-CN" sz="2800" b="1" dirty="0" smtClean="0">
                <a:solidFill>
                  <a:srgbClr val="0000FF"/>
                </a:solidFill>
              </a:rPr>
              <a:t>,b</a:t>
            </a:r>
            <a:r>
              <a:rPr lang="en-US" altLang="zh-CN" sz="2800" b="1" baseline="-25000" dirty="0" smtClean="0">
                <a:solidFill>
                  <a:srgbClr val="0000FF"/>
                </a:solidFill>
              </a:rPr>
              <a:t>1</a:t>
            </a:r>
            <a:r>
              <a:rPr lang="en-US" altLang="zh-CN" sz="2800" b="1" dirty="0" smtClean="0">
                <a:solidFill>
                  <a:srgbClr val="0000FF"/>
                </a:solidFill>
              </a:rPr>
              <a:t>) </a:t>
            </a:r>
            <a:r>
              <a:rPr lang="en-US" altLang="zh-CN" sz="2800" b="1" dirty="0" smtClean="0">
                <a:solidFill>
                  <a:srgbClr val="0000FF"/>
                </a:solidFill>
                <a:sym typeface="Symbol"/>
              </a:rPr>
              <a:t></a:t>
            </a:r>
            <a:r>
              <a:rPr lang="en-US" altLang="zh-CN" sz="2800" b="1" dirty="0" smtClean="0">
                <a:solidFill>
                  <a:srgbClr val="0000FF"/>
                </a:solidFill>
              </a:rPr>
              <a:t>(a</a:t>
            </a:r>
            <a:r>
              <a:rPr lang="en-US" altLang="zh-CN" sz="2800" b="1" baseline="-25000" dirty="0" smtClean="0">
                <a:solidFill>
                  <a:srgbClr val="0000FF"/>
                </a:solidFill>
              </a:rPr>
              <a:t>3</a:t>
            </a:r>
            <a:r>
              <a:rPr lang="en-US" altLang="zh-CN" sz="2800" b="1" dirty="0" smtClean="0">
                <a:solidFill>
                  <a:srgbClr val="0000FF"/>
                </a:solidFill>
              </a:rPr>
              <a:t>,b</a:t>
            </a:r>
            <a:r>
              <a:rPr lang="en-US" altLang="zh-CN" sz="2800" b="1" baseline="-25000" dirty="0" smtClean="0">
                <a:solidFill>
                  <a:srgbClr val="0000FF"/>
                </a:solidFill>
              </a:rPr>
              <a:t>3</a:t>
            </a:r>
            <a:r>
              <a:rPr lang="en-US" altLang="zh-CN" sz="2800" b="1" dirty="0" smtClean="0">
                <a:solidFill>
                  <a:srgbClr val="0000FF"/>
                </a:solidFill>
              </a:rPr>
              <a:t>))</a:t>
            </a:r>
            <a:r>
              <a:rPr lang="en-US" altLang="zh-CN" sz="2800" b="1" dirty="0" smtClean="0"/>
              <a:t>=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/>
              <a:t>                                          (a</a:t>
            </a:r>
            <a:r>
              <a:rPr lang="en-US" altLang="zh-CN" sz="2800" b="1" baseline="-25000" dirty="0" smtClean="0"/>
              <a:t>1</a:t>
            </a:r>
            <a:r>
              <a:rPr lang="en-US" altLang="zh-CN" sz="2800" b="1" dirty="0" smtClean="0">
                <a:sym typeface="Symbol"/>
              </a:rPr>
              <a:t></a:t>
            </a:r>
            <a:r>
              <a:rPr lang="en-US" altLang="zh-CN" sz="2800" b="1" dirty="0" smtClean="0"/>
              <a:t>a</a:t>
            </a:r>
            <a:r>
              <a:rPr lang="en-US" altLang="zh-CN" sz="2800" b="1" baseline="-25000" dirty="0" smtClean="0"/>
              <a:t>2</a:t>
            </a:r>
            <a:r>
              <a:rPr lang="en-US" altLang="zh-CN" sz="2800" b="1" dirty="0" smtClean="0"/>
              <a:t>+a</a:t>
            </a:r>
            <a:r>
              <a:rPr lang="en-US" altLang="zh-CN" sz="2800" b="1" baseline="-25000" dirty="0" smtClean="0"/>
              <a:t>1</a:t>
            </a:r>
            <a:r>
              <a:rPr lang="en-US" altLang="zh-CN" sz="2800" b="1" dirty="0" smtClean="0">
                <a:sym typeface="Symbol"/>
              </a:rPr>
              <a:t></a:t>
            </a:r>
            <a:r>
              <a:rPr lang="en-US" altLang="zh-CN" sz="2800" b="1" dirty="0" smtClean="0"/>
              <a:t>a</a:t>
            </a:r>
            <a:r>
              <a:rPr lang="en-US" altLang="zh-CN" sz="2800" b="1" baseline="-25000" dirty="0" smtClean="0"/>
              <a:t>3</a:t>
            </a:r>
            <a:r>
              <a:rPr lang="en-US" altLang="zh-CN" sz="2800" b="1" dirty="0" smtClean="0"/>
              <a:t>,b</a:t>
            </a:r>
            <a:r>
              <a:rPr lang="en-US" altLang="zh-CN" sz="2800" b="1" baseline="-25000" dirty="0" smtClean="0"/>
              <a:t>1</a:t>
            </a:r>
            <a:r>
              <a:rPr lang="en-US" altLang="zh-CN" sz="2800" b="1" dirty="0" smtClean="0">
                <a:sym typeface="Symbol"/>
              </a:rPr>
              <a:t></a:t>
            </a:r>
            <a:r>
              <a:rPr lang="en-US" altLang="zh-CN" sz="2800" b="1" dirty="0" smtClean="0"/>
              <a:t>b</a:t>
            </a:r>
            <a:r>
              <a:rPr lang="en-US" altLang="zh-CN" sz="2800" b="1" baseline="-25000" dirty="0" smtClean="0"/>
              <a:t>2</a:t>
            </a:r>
            <a:r>
              <a:rPr lang="en-US" altLang="zh-CN" sz="2800" b="1" dirty="0" smtClean="0"/>
              <a:t>+b</a:t>
            </a:r>
            <a:r>
              <a:rPr lang="en-US" altLang="zh-CN" sz="2800" b="1" baseline="-25000" dirty="0" smtClean="0"/>
              <a:t>1</a:t>
            </a:r>
            <a:r>
              <a:rPr lang="en-US" altLang="zh-CN" sz="2800" b="1" dirty="0" smtClean="0">
                <a:sym typeface="Symbol"/>
              </a:rPr>
              <a:t></a:t>
            </a:r>
            <a:r>
              <a:rPr lang="en-US" altLang="zh-CN" sz="2800" b="1" dirty="0" smtClean="0"/>
              <a:t>b</a:t>
            </a:r>
            <a:r>
              <a:rPr lang="en-US" altLang="zh-CN" sz="2800" b="1" baseline="-25000" dirty="0" smtClean="0"/>
              <a:t>3</a:t>
            </a:r>
            <a:r>
              <a:rPr lang="en-US" altLang="zh-CN" sz="2800" dirty="0" smtClean="0"/>
              <a:t>)</a:t>
            </a:r>
            <a:endParaRPr lang="zh-CN" altLang="zh-CN" sz="2800" dirty="0" smtClean="0"/>
          </a:p>
          <a:p>
            <a:pPr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6377454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内容占位符 2"/>
          <p:cNvSpPr>
            <a:spLocks noGrp="1"/>
          </p:cNvSpPr>
          <p:nvPr>
            <p:ph idx="1"/>
          </p:nvPr>
        </p:nvSpPr>
        <p:spPr>
          <a:xfrm>
            <a:off x="539750" y="620713"/>
            <a:ext cx="8113713" cy="5067300"/>
          </a:xfrm>
        </p:spPr>
        <p:txBody>
          <a:bodyPr/>
          <a:lstStyle/>
          <a:p>
            <a:pPr>
              <a:defRPr/>
            </a:pPr>
            <a:r>
              <a:rPr lang="zh-CN" altLang="en-US" sz="2800" b="1" dirty="0" smtClean="0">
                <a:solidFill>
                  <a:srgbClr val="0000FF"/>
                </a:solidFill>
                <a:ea typeface="宋体" pitchFamily="2" charset="-122"/>
              </a:rPr>
              <a:t>右分配律：</a:t>
            </a:r>
            <a:endParaRPr lang="en-US" altLang="zh-CN" sz="2800" b="1" dirty="0" smtClean="0">
              <a:solidFill>
                <a:srgbClr val="0000FF"/>
              </a:solidFill>
              <a:ea typeface="宋体" pitchFamily="2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zh-CN" sz="2800" b="1" dirty="0" smtClean="0">
                <a:ea typeface="宋体" pitchFamily="2" charset="-122"/>
              </a:rPr>
              <a:t>根据</a:t>
            </a:r>
            <a:r>
              <a:rPr lang="en-US" altLang="zh-CN" sz="2800" b="1" dirty="0" smtClean="0">
                <a:ea typeface="宋体" pitchFamily="2" charset="-122"/>
                <a:sym typeface="Symbol" pitchFamily="18" charset="2"/>
              </a:rPr>
              <a:t></a:t>
            </a:r>
            <a:r>
              <a:rPr lang="zh-CN" altLang="zh-CN" sz="2800" b="1" dirty="0" smtClean="0">
                <a:ea typeface="宋体" pitchFamily="2" charset="-122"/>
              </a:rPr>
              <a:t>和</a:t>
            </a:r>
            <a:r>
              <a:rPr lang="en-US" altLang="zh-CN" sz="2800" b="1" dirty="0" smtClean="0">
                <a:ea typeface="宋体" pitchFamily="2" charset="-122"/>
                <a:sym typeface="Symbol" pitchFamily="18" charset="2"/>
              </a:rPr>
              <a:t></a:t>
            </a:r>
            <a:r>
              <a:rPr lang="zh-CN" altLang="zh-CN" sz="2800" b="1" dirty="0" smtClean="0">
                <a:ea typeface="宋体" pitchFamily="2" charset="-122"/>
              </a:rPr>
              <a:t>满足交换律</a:t>
            </a:r>
            <a:r>
              <a:rPr lang="zh-CN" altLang="en-US" sz="2800" b="1" dirty="0" smtClean="0">
                <a:ea typeface="宋体" pitchFamily="2" charset="-122"/>
              </a:rPr>
              <a:t>，可得</a:t>
            </a:r>
            <a:endParaRPr lang="en-US" altLang="zh-CN" sz="2800" b="1" dirty="0" smtClean="0">
              <a:solidFill>
                <a:srgbClr val="0000FF"/>
              </a:solidFill>
              <a:ea typeface="宋体" pitchFamily="2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>
                <a:solidFill>
                  <a:srgbClr val="0000FF"/>
                </a:solidFill>
                <a:ea typeface="宋体" pitchFamily="2" charset="-122"/>
              </a:rPr>
              <a:t>((a</a:t>
            </a:r>
            <a:r>
              <a:rPr lang="en-US" altLang="zh-CN" sz="2800" b="1" baseline="-25000" dirty="0" smtClean="0">
                <a:solidFill>
                  <a:srgbClr val="0000FF"/>
                </a:solidFill>
                <a:ea typeface="宋体" pitchFamily="2" charset="-122"/>
              </a:rPr>
              <a:t>2</a:t>
            </a:r>
            <a:r>
              <a:rPr lang="en-US" altLang="zh-CN" sz="2800" b="1" dirty="0" smtClean="0">
                <a:solidFill>
                  <a:srgbClr val="0000FF"/>
                </a:solidFill>
                <a:ea typeface="宋体" pitchFamily="2" charset="-122"/>
              </a:rPr>
              <a:t>,b</a:t>
            </a:r>
            <a:r>
              <a:rPr lang="en-US" altLang="zh-CN" sz="2800" b="1" baseline="-25000" dirty="0" smtClean="0">
                <a:solidFill>
                  <a:srgbClr val="0000FF"/>
                </a:solidFill>
                <a:ea typeface="宋体" pitchFamily="2" charset="-122"/>
              </a:rPr>
              <a:t>2</a:t>
            </a:r>
            <a:r>
              <a:rPr lang="en-US" altLang="zh-CN" sz="2800" b="1" dirty="0" smtClean="0">
                <a:solidFill>
                  <a:srgbClr val="0000FF"/>
                </a:solidFill>
                <a:ea typeface="宋体" pitchFamily="2" charset="-122"/>
              </a:rPr>
              <a:t>) </a:t>
            </a:r>
            <a:r>
              <a:rPr lang="en-US" altLang="zh-CN" sz="2800" b="1" dirty="0" smtClean="0">
                <a:solidFill>
                  <a:srgbClr val="0000FF"/>
                </a:solidFill>
                <a:ea typeface="宋体" pitchFamily="2" charset="-122"/>
                <a:sym typeface="Symbol" pitchFamily="18" charset="2"/>
              </a:rPr>
              <a:t></a:t>
            </a:r>
            <a:r>
              <a:rPr lang="en-US" altLang="zh-CN" sz="2800" b="1" dirty="0" smtClean="0">
                <a:solidFill>
                  <a:srgbClr val="0000FF"/>
                </a:solidFill>
                <a:ea typeface="宋体" pitchFamily="2" charset="-122"/>
              </a:rPr>
              <a:t> (a</a:t>
            </a:r>
            <a:r>
              <a:rPr lang="en-US" altLang="zh-CN" sz="2800" b="1" baseline="-25000" dirty="0" smtClean="0">
                <a:solidFill>
                  <a:srgbClr val="0000FF"/>
                </a:solidFill>
                <a:ea typeface="宋体" pitchFamily="2" charset="-122"/>
              </a:rPr>
              <a:t>3</a:t>
            </a:r>
            <a:r>
              <a:rPr lang="en-US" altLang="zh-CN" sz="2800" b="1" dirty="0" smtClean="0">
                <a:solidFill>
                  <a:srgbClr val="0000FF"/>
                </a:solidFill>
                <a:ea typeface="宋体" pitchFamily="2" charset="-122"/>
              </a:rPr>
              <a:t>,b</a:t>
            </a:r>
            <a:r>
              <a:rPr lang="en-US" altLang="zh-CN" sz="2800" b="1" baseline="-25000" dirty="0" smtClean="0">
                <a:solidFill>
                  <a:srgbClr val="0000FF"/>
                </a:solidFill>
                <a:ea typeface="宋体" pitchFamily="2" charset="-122"/>
              </a:rPr>
              <a:t>3</a:t>
            </a:r>
            <a:r>
              <a:rPr lang="en-US" altLang="zh-CN" sz="2800" b="1" dirty="0" smtClean="0">
                <a:solidFill>
                  <a:srgbClr val="0000FF"/>
                </a:solidFill>
                <a:ea typeface="宋体" pitchFamily="2" charset="-122"/>
              </a:rPr>
              <a:t>))</a:t>
            </a:r>
            <a:r>
              <a:rPr lang="en-US" altLang="zh-CN" sz="2800" b="1" dirty="0" smtClean="0">
                <a:solidFill>
                  <a:srgbClr val="0000FF"/>
                </a:solidFill>
                <a:ea typeface="宋体" pitchFamily="2" charset="-122"/>
                <a:sym typeface="Symbol" pitchFamily="18" charset="2"/>
              </a:rPr>
              <a:t> </a:t>
            </a:r>
            <a:r>
              <a:rPr lang="en-US" altLang="zh-CN" sz="2800" b="1" dirty="0" smtClean="0">
                <a:solidFill>
                  <a:srgbClr val="0000FF"/>
                </a:solidFill>
                <a:ea typeface="宋体" pitchFamily="2" charset="-122"/>
              </a:rPr>
              <a:t> (a</a:t>
            </a:r>
            <a:r>
              <a:rPr lang="en-US" altLang="zh-CN" sz="2800" b="1" baseline="-25000" dirty="0" smtClean="0">
                <a:solidFill>
                  <a:srgbClr val="0000FF"/>
                </a:solidFill>
                <a:ea typeface="宋体" pitchFamily="2" charset="-122"/>
              </a:rPr>
              <a:t>1</a:t>
            </a:r>
            <a:r>
              <a:rPr lang="en-US" altLang="zh-CN" sz="2800" b="1" dirty="0" smtClean="0">
                <a:solidFill>
                  <a:srgbClr val="0000FF"/>
                </a:solidFill>
                <a:ea typeface="宋体" pitchFamily="2" charset="-122"/>
              </a:rPr>
              <a:t>,b</a:t>
            </a:r>
            <a:r>
              <a:rPr lang="en-US" altLang="zh-CN" sz="2800" b="1" baseline="-25000" dirty="0" smtClean="0">
                <a:solidFill>
                  <a:srgbClr val="0000FF"/>
                </a:solidFill>
                <a:ea typeface="宋体" pitchFamily="2" charset="-122"/>
              </a:rPr>
              <a:t>1</a:t>
            </a:r>
            <a:r>
              <a:rPr lang="en-US" altLang="zh-CN" sz="2800" b="1" dirty="0" smtClean="0">
                <a:solidFill>
                  <a:srgbClr val="0000FF"/>
                </a:solidFill>
                <a:ea typeface="宋体" pitchFamily="2" charset="-122"/>
              </a:rPr>
              <a:t>)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>
                <a:ea typeface="宋体" pitchFamily="2" charset="-122"/>
              </a:rPr>
              <a:t>=(a</a:t>
            </a:r>
            <a:r>
              <a:rPr lang="en-US" altLang="zh-CN" sz="2800" b="1" baseline="-25000" dirty="0" smtClean="0">
                <a:ea typeface="宋体" pitchFamily="2" charset="-122"/>
              </a:rPr>
              <a:t>2</a:t>
            </a:r>
            <a:r>
              <a:rPr lang="en-US" altLang="zh-CN" sz="2800" b="1" dirty="0" smtClean="0">
                <a:ea typeface="宋体" pitchFamily="2" charset="-122"/>
              </a:rPr>
              <a:t>+a</a:t>
            </a:r>
            <a:r>
              <a:rPr lang="en-US" altLang="zh-CN" sz="2800" b="1" baseline="-25000" dirty="0" smtClean="0">
                <a:ea typeface="宋体" pitchFamily="2" charset="-122"/>
              </a:rPr>
              <a:t>3</a:t>
            </a:r>
            <a:r>
              <a:rPr lang="en-US" altLang="zh-CN" sz="2800" b="1" dirty="0" smtClean="0">
                <a:ea typeface="宋体" pitchFamily="2" charset="-122"/>
              </a:rPr>
              <a:t>, b</a:t>
            </a:r>
            <a:r>
              <a:rPr lang="en-US" altLang="zh-CN" sz="2800" b="1" baseline="-25000" dirty="0" smtClean="0">
                <a:ea typeface="宋体" pitchFamily="2" charset="-122"/>
              </a:rPr>
              <a:t>2</a:t>
            </a:r>
            <a:r>
              <a:rPr lang="en-US" altLang="zh-CN" sz="2800" b="1" dirty="0" smtClean="0">
                <a:ea typeface="宋体" pitchFamily="2" charset="-122"/>
              </a:rPr>
              <a:t>+b</a:t>
            </a:r>
            <a:r>
              <a:rPr lang="en-US" altLang="zh-CN" sz="2800" b="1" baseline="-25000" dirty="0" smtClean="0">
                <a:ea typeface="宋体" pitchFamily="2" charset="-122"/>
              </a:rPr>
              <a:t>3</a:t>
            </a:r>
            <a:r>
              <a:rPr lang="en-US" altLang="zh-CN" sz="2800" b="1" dirty="0" smtClean="0">
                <a:ea typeface="宋体" pitchFamily="2" charset="-122"/>
              </a:rPr>
              <a:t>)</a:t>
            </a:r>
            <a:r>
              <a:rPr lang="en-US" altLang="zh-CN" sz="2800" b="1" dirty="0" smtClean="0">
                <a:ea typeface="宋体" pitchFamily="2" charset="-122"/>
                <a:sym typeface="Symbol" pitchFamily="18" charset="2"/>
              </a:rPr>
              <a:t> </a:t>
            </a:r>
            <a:r>
              <a:rPr lang="en-US" altLang="zh-CN" sz="2800" b="1" dirty="0" smtClean="0">
                <a:ea typeface="宋体" pitchFamily="2" charset="-122"/>
              </a:rPr>
              <a:t> (a</a:t>
            </a:r>
            <a:r>
              <a:rPr lang="en-US" altLang="zh-CN" sz="2800" b="1" baseline="-25000" dirty="0" smtClean="0">
                <a:ea typeface="宋体" pitchFamily="2" charset="-122"/>
              </a:rPr>
              <a:t>1</a:t>
            </a:r>
            <a:r>
              <a:rPr lang="en-US" altLang="zh-CN" sz="2800" b="1" dirty="0" smtClean="0">
                <a:ea typeface="宋体" pitchFamily="2" charset="-122"/>
              </a:rPr>
              <a:t>,b</a:t>
            </a:r>
            <a:r>
              <a:rPr lang="en-US" altLang="zh-CN" sz="2800" b="1" baseline="-25000" dirty="0" smtClean="0">
                <a:ea typeface="宋体" pitchFamily="2" charset="-122"/>
              </a:rPr>
              <a:t>1</a:t>
            </a:r>
            <a:r>
              <a:rPr lang="en-US" altLang="zh-CN" sz="2800" b="1" dirty="0" smtClean="0">
                <a:ea typeface="宋体" pitchFamily="2" charset="-122"/>
              </a:rPr>
              <a:t>)=(a</a:t>
            </a:r>
            <a:r>
              <a:rPr lang="en-US" altLang="zh-CN" sz="2800" b="1" baseline="-25000" dirty="0" smtClean="0">
                <a:ea typeface="宋体" pitchFamily="2" charset="-122"/>
              </a:rPr>
              <a:t>2</a:t>
            </a:r>
            <a:r>
              <a:rPr lang="en-US" altLang="zh-CN" sz="2800" b="1" dirty="0" smtClean="0">
                <a:ea typeface="宋体" pitchFamily="2" charset="-122"/>
              </a:rPr>
              <a:t>a</a:t>
            </a:r>
            <a:r>
              <a:rPr lang="en-US" altLang="zh-CN" sz="2800" b="1" baseline="-25000" dirty="0" smtClean="0">
                <a:ea typeface="宋体" pitchFamily="2" charset="-122"/>
              </a:rPr>
              <a:t>1</a:t>
            </a:r>
            <a:r>
              <a:rPr lang="en-US" altLang="zh-CN" sz="2800" b="1" dirty="0" smtClean="0">
                <a:ea typeface="宋体" pitchFamily="2" charset="-122"/>
              </a:rPr>
              <a:t>+a</a:t>
            </a:r>
            <a:r>
              <a:rPr lang="en-US" altLang="zh-CN" sz="2800" b="1" baseline="-25000" dirty="0" smtClean="0">
                <a:ea typeface="宋体" pitchFamily="2" charset="-122"/>
              </a:rPr>
              <a:t>3</a:t>
            </a:r>
            <a:r>
              <a:rPr lang="en-US" altLang="zh-CN" sz="2800" b="1" dirty="0" smtClean="0">
                <a:ea typeface="宋体" pitchFamily="2" charset="-122"/>
              </a:rPr>
              <a:t>a</a:t>
            </a:r>
            <a:r>
              <a:rPr lang="en-US" altLang="zh-CN" sz="2800" b="1" baseline="-25000" dirty="0" smtClean="0">
                <a:ea typeface="宋体" pitchFamily="2" charset="-122"/>
              </a:rPr>
              <a:t>1</a:t>
            </a:r>
            <a:r>
              <a:rPr lang="en-US" altLang="zh-CN" sz="2800" b="1" dirty="0" smtClean="0">
                <a:ea typeface="宋体" pitchFamily="2" charset="-122"/>
              </a:rPr>
              <a:t>, b</a:t>
            </a:r>
            <a:r>
              <a:rPr lang="en-US" altLang="zh-CN" sz="2800" b="1" baseline="-25000" dirty="0" smtClean="0">
                <a:ea typeface="宋体" pitchFamily="2" charset="-122"/>
              </a:rPr>
              <a:t>2</a:t>
            </a:r>
            <a:r>
              <a:rPr lang="en-US" altLang="zh-CN" sz="2800" b="1" dirty="0" smtClean="0">
                <a:ea typeface="宋体" pitchFamily="2" charset="-122"/>
              </a:rPr>
              <a:t>b</a:t>
            </a:r>
            <a:r>
              <a:rPr lang="en-US" altLang="zh-CN" sz="2800" b="1" baseline="-25000" dirty="0" smtClean="0">
                <a:ea typeface="宋体" pitchFamily="2" charset="-122"/>
              </a:rPr>
              <a:t>1</a:t>
            </a:r>
            <a:r>
              <a:rPr lang="en-US" altLang="zh-CN" sz="2800" b="1" dirty="0" smtClean="0">
                <a:ea typeface="宋体" pitchFamily="2" charset="-122"/>
              </a:rPr>
              <a:t>+b</a:t>
            </a:r>
            <a:r>
              <a:rPr lang="en-US" altLang="zh-CN" sz="2800" b="1" baseline="-25000" dirty="0" smtClean="0">
                <a:ea typeface="宋体" pitchFamily="2" charset="-122"/>
              </a:rPr>
              <a:t>3</a:t>
            </a:r>
            <a:r>
              <a:rPr lang="en-US" altLang="zh-CN" sz="2800" b="1" dirty="0" smtClean="0">
                <a:ea typeface="宋体" pitchFamily="2" charset="-122"/>
              </a:rPr>
              <a:t>b</a:t>
            </a:r>
            <a:r>
              <a:rPr lang="en-US" altLang="zh-CN" sz="2800" b="1" baseline="-25000" dirty="0" smtClean="0">
                <a:ea typeface="宋体" pitchFamily="2" charset="-122"/>
              </a:rPr>
              <a:t>1</a:t>
            </a:r>
            <a:r>
              <a:rPr lang="en-US" altLang="zh-CN" sz="2800" b="1" dirty="0" smtClean="0">
                <a:ea typeface="宋体" pitchFamily="2" charset="-122"/>
              </a:rPr>
              <a:t>)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en-US" altLang="zh-CN" sz="2800" b="1" dirty="0" smtClean="0">
              <a:ea typeface="宋体" pitchFamily="2" charset="-12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>
                <a:solidFill>
                  <a:srgbClr val="0000FF"/>
                </a:solidFill>
                <a:ea typeface="宋体" pitchFamily="2" charset="-122"/>
              </a:rPr>
              <a:t>( (a</a:t>
            </a:r>
            <a:r>
              <a:rPr lang="en-US" altLang="zh-CN" sz="2800" b="1" baseline="-25000" dirty="0" smtClean="0">
                <a:solidFill>
                  <a:srgbClr val="0000FF"/>
                </a:solidFill>
                <a:ea typeface="宋体" pitchFamily="2" charset="-122"/>
              </a:rPr>
              <a:t>2</a:t>
            </a:r>
            <a:r>
              <a:rPr lang="en-US" altLang="zh-CN" sz="2800" b="1" dirty="0" smtClean="0">
                <a:solidFill>
                  <a:srgbClr val="0000FF"/>
                </a:solidFill>
                <a:ea typeface="宋体" pitchFamily="2" charset="-122"/>
              </a:rPr>
              <a:t>,b</a:t>
            </a:r>
            <a:r>
              <a:rPr lang="en-US" altLang="zh-CN" sz="2800" b="1" baseline="-25000" dirty="0" smtClean="0">
                <a:solidFill>
                  <a:srgbClr val="0000FF"/>
                </a:solidFill>
                <a:ea typeface="宋体" pitchFamily="2" charset="-122"/>
              </a:rPr>
              <a:t>2</a:t>
            </a:r>
            <a:r>
              <a:rPr lang="en-US" altLang="zh-CN" sz="2800" b="1" dirty="0" smtClean="0">
                <a:solidFill>
                  <a:srgbClr val="0000FF"/>
                </a:solidFill>
                <a:ea typeface="宋体" pitchFamily="2" charset="-122"/>
              </a:rPr>
              <a:t>) </a:t>
            </a:r>
            <a:r>
              <a:rPr lang="en-US" altLang="zh-CN" sz="2800" b="1" dirty="0" smtClean="0">
                <a:solidFill>
                  <a:srgbClr val="0000FF"/>
                </a:solidFill>
                <a:ea typeface="宋体" pitchFamily="2" charset="-122"/>
                <a:sym typeface="Symbol" pitchFamily="18" charset="2"/>
              </a:rPr>
              <a:t></a:t>
            </a:r>
            <a:r>
              <a:rPr lang="en-US" altLang="zh-CN" sz="2800" b="1" dirty="0" smtClean="0">
                <a:solidFill>
                  <a:srgbClr val="0000FF"/>
                </a:solidFill>
                <a:ea typeface="宋体" pitchFamily="2" charset="-122"/>
              </a:rPr>
              <a:t>(a</a:t>
            </a:r>
            <a:r>
              <a:rPr lang="en-US" altLang="zh-CN" sz="2800" b="1" baseline="-25000" dirty="0" smtClean="0">
                <a:solidFill>
                  <a:srgbClr val="0000FF"/>
                </a:solidFill>
                <a:ea typeface="宋体" pitchFamily="2" charset="-122"/>
              </a:rPr>
              <a:t>1</a:t>
            </a:r>
            <a:r>
              <a:rPr lang="en-US" altLang="zh-CN" sz="2800" b="1" dirty="0" smtClean="0">
                <a:solidFill>
                  <a:srgbClr val="0000FF"/>
                </a:solidFill>
                <a:ea typeface="宋体" pitchFamily="2" charset="-122"/>
              </a:rPr>
              <a:t>,b</a:t>
            </a:r>
            <a:r>
              <a:rPr lang="en-US" altLang="zh-CN" sz="2800" b="1" baseline="-25000" dirty="0" smtClean="0">
                <a:solidFill>
                  <a:srgbClr val="0000FF"/>
                </a:solidFill>
                <a:ea typeface="宋体" pitchFamily="2" charset="-122"/>
              </a:rPr>
              <a:t>1</a:t>
            </a:r>
            <a:r>
              <a:rPr lang="en-US" altLang="zh-CN" sz="2800" b="1" dirty="0" smtClean="0">
                <a:solidFill>
                  <a:srgbClr val="0000FF"/>
                </a:solidFill>
                <a:ea typeface="宋体" pitchFamily="2" charset="-122"/>
              </a:rPr>
              <a:t>) )</a:t>
            </a:r>
            <a:r>
              <a:rPr lang="en-US" altLang="zh-CN" sz="2800" b="1" dirty="0" smtClean="0">
                <a:solidFill>
                  <a:srgbClr val="0000FF"/>
                </a:solidFill>
                <a:ea typeface="宋体" pitchFamily="2" charset="-122"/>
                <a:sym typeface="Symbol" pitchFamily="18" charset="2"/>
              </a:rPr>
              <a:t> (</a:t>
            </a:r>
            <a:r>
              <a:rPr lang="en-US" altLang="zh-CN" sz="2800" b="1" dirty="0" smtClean="0">
                <a:solidFill>
                  <a:srgbClr val="0000FF"/>
                </a:solidFill>
                <a:ea typeface="宋体" pitchFamily="2" charset="-122"/>
              </a:rPr>
              <a:t>(a</a:t>
            </a:r>
            <a:r>
              <a:rPr lang="en-US" altLang="zh-CN" sz="2800" b="1" baseline="-25000" dirty="0" smtClean="0">
                <a:solidFill>
                  <a:srgbClr val="0000FF"/>
                </a:solidFill>
                <a:ea typeface="宋体" pitchFamily="2" charset="-122"/>
              </a:rPr>
              <a:t>3</a:t>
            </a:r>
            <a:r>
              <a:rPr lang="en-US" altLang="zh-CN" sz="2800" b="1" dirty="0" smtClean="0">
                <a:solidFill>
                  <a:srgbClr val="0000FF"/>
                </a:solidFill>
                <a:ea typeface="宋体" pitchFamily="2" charset="-122"/>
              </a:rPr>
              <a:t>,b</a:t>
            </a:r>
            <a:r>
              <a:rPr lang="en-US" altLang="zh-CN" sz="2800" b="1" baseline="-25000" dirty="0" smtClean="0">
                <a:solidFill>
                  <a:srgbClr val="0000FF"/>
                </a:solidFill>
                <a:ea typeface="宋体" pitchFamily="2" charset="-122"/>
              </a:rPr>
              <a:t>3</a:t>
            </a:r>
            <a:r>
              <a:rPr lang="en-US" altLang="zh-CN" sz="2800" b="1" dirty="0" smtClean="0">
                <a:solidFill>
                  <a:srgbClr val="0000FF"/>
                </a:solidFill>
                <a:ea typeface="宋体" pitchFamily="2" charset="-122"/>
              </a:rPr>
              <a:t>) </a:t>
            </a:r>
            <a:r>
              <a:rPr lang="en-US" altLang="zh-CN" sz="2800" b="1" dirty="0" smtClean="0">
                <a:solidFill>
                  <a:srgbClr val="0000FF"/>
                </a:solidFill>
                <a:ea typeface="宋体" pitchFamily="2" charset="-122"/>
                <a:sym typeface="Symbol" pitchFamily="18" charset="2"/>
              </a:rPr>
              <a:t></a:t>
            </a:r>
            <a:r>
              <a:rPr lang="en-US" altLang="zh-CN" sz="2800" b="1" dirty="0" smtClean="0">
                <a:solidFill>
                  <a:srgbClr val="0000FF"/>
                </a:solidFill>
                <a:ea typeface="宋体" pitchFamily="2" charset="-122"/>
              </a:rPr>
              <a:t>(a</a:t>
            </a:r>
            <a:r>
              <a:rPr lang="en-US" altLang="zh-CN" sz="2800" b="1" baseline="-25000" dirty="0" smtClean="0">
                <a:solidFill>
                  <a:srgbClr val="0000FF"/>
                </a:solidFill>
                <a:ea typeface="宋体" pitchFamily="2" charset="-122"/>
              </a:rPr>
              <a:t>1</a:t>
            </a:r>
            <a:r>
              <a:rPr lang="en-US" altLang="zh-CN" sz="2800" b="1" dirty="0" smtClean="0">
                <a:solidFill>
                  <a:srgbClr val="0000FF"/>
                </a:solidFill>
                <a:ea typeface="宋体" pitchFamily="2" charset="-122"/>
              </a:rPr>
              <a:t>,b</a:t>
            </a:r>
            <a:r>
              <a:rPr lang="en-US" altLang="zh-CN" sz="2800" b="1" baseline="-25000" dirty="0" smtClean="0">
                <a:solidFill>
                  <a:srgbClr val="0000FF"/>
                </a:solidFill>
                <a:ea typeface="宋体" pitchFamily="2" charset="-122"/>
              </a:rPr>
              <a:t>1</a:t>
            </a:r>
            <a:r>
              <a:rPr lang="en-US" altLang="zh-CN" sz="2800" b="1" dirty="0" smtClean="0">
                <a:solidFill>
                  <a:srgbClr val="0000FF"/>
                </a:solidFill>
                <a:ea typeface="宋体" pitchFamily="2" charset="-122"/>
              </a:rPr>
              <a:t>)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>
                <a:ea typeface="宋体" pitchFamily="2" charset="-122"/>
              </a:rPr>
              <a:t>=(a</a:t>
            </a:r>
            <a:r>
              <a:rPr lang="en-US" altLang="zh-CN" sz="2800" b="1" baseline="-25000" dirty="0" smtClean="0">
                <a:ea typeface="宋体" pitchFamily="2" charset="-122"/>
              </a:rPr>
              <a:t>2</a:t>
            </a:r>
            <a:r>
              <a:rPr lang="en-US" altLang="zh-CN" sz="2800" b="1" dirty="0" smtClean="0">
                <a:ea typeface="宋体" pitchFamily="2" charset="-122"/>
              </a:rPr>
              <a:t>a</a:t>
            </a:r>
            <a:r>
              <a:rPr lang="en-US" altLang="zh-CN" sz="2800" b="1" baseline="-25000" dirty="0" smtClean="0">
                <a:ea typeface="宋体" pitchFamily="2" charset="-122"/>
              </a:rPr>
              <a:t>1</a:t>
            </a:r>
            <a:r>
              <a:rPr lang="en-US" altLang="zh-CN" sz="2800" b="1" dirty="0" smtClean="0">
                <a:ea typeface="宋体" pitchFamily="2" charset="-122"/>
              </a:rPr>
              <a:t>, b</a:t>
            </a:r>
            <a:r>
              <a:rPr lang="en-US" altLang="zh-CN" sz="2800" b="1" baseline="-25000" dirty="0" smtClean="0">
                <a:ea typeface="宋体" pitchFamily="2" charset="-122"/>
              </a:rPr>
              <a:t>2</a:t>
            </a:r>
            <a:r>
              <a:rPr lang="en-US" altLang="zh-CN" sz="2800" b="1" dirty="0" smtClean="0">
                <a:ea typeface="宋体" pitchFamily="2" charset="-122"/>
              </a:rPr>
              <a:t>b</a:t>
            </a:r>
            <a:r>
              <a:rPr lang="en-US" altLang="zh-CN" sz="2800" b="1" baseline="-25000" dirty="0" smtClean="0">
                <a:ea typeface="宋体" pitchFamily="2" charset="-122"/>
              </a:rPr>
              <a:t>1</a:t>
            </a:r>
            <a:r>
              <a:rPr lang="en-US" altLang="zh-CN" sz="2800" b="1" dirty="0" smtClean="0">
                <a:ea typeface="宋体" pitchFamily="2" charset="-122"/>
              </a:rPr>
              <a:t>) </a:t>
            </a:r>
            <a:r>
              <a:rPr lang="en-US" altLang="zh-CN" sz="2800" b="1" dirty="0" smtClean="0">
                <a:ea typeface="宋体" pitchFamily="2" charset="-122"/>
                <a:sym typeface="Symbol" pitchFamily="18" charset="2"/>
              </a:rPr>
              <a:t>(</a:t>
            </a:r>
            <a:r>
              <a:rPr lang="en-US" altLang="zh-CN" sz="2800" b="1" dirty="0" smtClean="0">
                <a:ea typeface="宋体" pitchFamily="2" charset="-122"/>
              </a:rPr>
              <a:t>a</a:t>
            </a:r>
            <a:r>
              <a:rPr lang="en-US" altLang="zh-CN" sz="2800" b="1" baseline="-25000" dirty="0" smtClean="0">
                <a:ea typeface="宋体" pitchFamily="2" charset="-122"/>
              </a:rPr>
              <a:t>3</a:t>
            </a:r>
            <a:r>
              <a:rPr lang="en-US" altLang="zh-CN" sz="2800" b="1" dirty="0" smtClean="0">
                <a:ea typeface="宋体" pitchFamily="2" charset="-122"/>
              </a:rPr>
              <a:t>a</a:t>
            </a:r>
            <a:r>
              <a:rPr lang="en-US" altLang="zh-CN" sz="2800" b="1" baseline="-25000" dirty="0" smtClean="0">
                <a:ea typeface="宋体" pitchFamily="2" charset="-122"/>
              </a:rPr>
              <a:t>1,</a:t>
            </a:r>
            <a:r>
              <a:rPr lang="en-US" altLang="zh-CN" sz="2800" b="1" dirty="0" smtClean="0">
                <a:ea typeface="宋体" pitchFamily="2" charset="-122"/>
              </a:rPr>
              <a:t> b</a:t>
            </a:r>
            <a:r>
              <a:rPr lang="en-US" altLang="zh-CN" sz="2800" b="1" baseline="-25000" dirty="0" smtClean="0">
                <a:ea typeface="宋体" pitchFamily="2" charset="-122"/>
              </a:rPr>
              <a:t>3</a:t>
            </a:r>
            <a:r>
              <a:rPr lang="en-US" altLang="zh-CN" sz="2800" b="1" dirty="0" smtClean="0">
                <a:ea typeface="宋体" pitchFamily="2" charset="-122"/>
              </a:rPr>
              <a:t>b</a:t>
            </a:r>
            <a:r>
              <a:rPr lang="en-US" altLang="zh-CN" sz="2800" b="1" baseline="-25000" dirty="0" smtClean="0">
                <a:ea typeface="宋体" pitchFamily="2" charset="-122"/>
              </a:rPr>
              <a:t>1</a:t>
            </a:r>
            <a:r>
              <a:rPr lang="en-US" altLang="zh-CN" sz="2800" b="1" dirty="0" smtClean="0">
                <a:ea typeface="宋体" pitchFamily="2" charset="-122"/>
              </a:rPr>
              <a:t>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>
                <a:ea typeface="宋体" pitchFamily="2" charset="-122"/>
              </a:rPr>
              <a:t>= (a</a:t>
            </a:r>
            <a:r>
              <a:rPr lang="en-US" altLang="zh-CN" sz="2800" b="1" baseline="-25000" dirty="0" smtClean="0">
                <a:ea typeface="宋体" pitchFamily="2" charset="-122"/>
              </a:rPr>
              <a:t>2</a:t>
            </a:r>
            <a:r>
              <a:rPr lang="en-US" altLang="zh-CN" sz="2800" b="1" dirty="0" smtClean="0">
                <a:ea typeface="宋体" pitchFamily="2" charset="-122"/>
              </a:rPr>
              <a:t>a</a:t>
            </a:r>
            <a:r>
              <a:rPr lang="en-US" altLang="zh-CN" sz="2800" b="1" baseline="-25000" dirty="0" smtClean="0">
                <a:ea typeface="宋体" pitchFamily="2" charset="-122"/>
              </a:rPr>
              <a:t>1</a:t>
            </a:r>
            <a:r>
              <a:rPr lang="en-US" altLang="zh-CN" sz="2800" b="1" dirty="0" smtClean="0">
                <a:ea typeface="宋体" pitchFamily="2" charset="-122"/>
              </a:rPr>
              <a:t>+a</a:t>
            </a:r>
            <a:r>
              <a:rPr lang="en-US" altLang="zh-CN" sz="2800" b="1" baseline="-25000" dirty="0" smtClean="0">
                <a:ea typeface="宋体" pitchFamily="2" charset="-122"/>
              </a:rPr>
              <a:t>3</a:t>
            </a:r>
            <a:r>
              <a:rPr lang="en-US" altLang="zh-CN" sz="2800" b="1" dirty="0" smtClean="0">
                <a:ea typeface="宋体" pitchFamily="2" charset="-122"/>
              </a:rPr>
              <a:t>a</a:t>
            </a:r>
            <a:r>
              <a:rPr lang="en-US" altLang="zh-CN" sz="2800" b="1" baseline="-25000" dirty="0" smtClean="0">
                <a:ea typeface="宋体" pitchFamily="2" charset="-122"/>
              </a:rPr>
              <a:t>1</a:t>
            </a:r>
            <a:r>
              <a:rPr lang="en-US" altLang="zh-CN" sz="2800" b="1" dirty="0" smtClean="0">
                <a:ea typeface="宋体" pitchFamily="2" charset="-122"/>
              </a:rPr>
              <a:t>, b</a:t>
            </a:r>
            <a:r>
              <a:rPr lang="en-US" altLang="zh-CN" sz="2800" b="1" baseline="-25000" dirty="0" smtClean="0">
                <a:ea typeface="宋体" pitchFamily="2" charset="-122"/>
              </a:rPr>
              <a:t>2</a:t>
            </a:r>
            <a:r>
              <a:rPr lang="en-US" altLang="zh-CN" sz="2800" b="1" dirty="0" smtClean="0">
                <a:ea typeface="宋体" pitchFamily="2" charset="-122"/>
              </a:rPr>
              <a:t>b</a:t>
            </a:r>
            <a:r>
              <a:rPr lang="en-US" altLang="zh-CN" sz="2800" b="1" baseline="-25000" dirty="0" smtClean="0">
                <a:ea typeface="宋体" pitchFamily="2" charset="-122"/>
              </a:rPr>
              <a:t>1</a:t>
            </a:r>
            <a:r>
              <a:rPr lang="en-US" altLang="zh-CN" sz="2800" b="1" dirty="0" smtClean="0">
                <a:ea typeface="宋体" pitchFamily="2" charset="-122"/>
              </a:rPr>
              <a:t>+b</a:t>
            </a:r>
            <a:r>
              <a:rPr lang="en-US" altLang="zh-CN" sz="2800" b="1" baseline="-25000" dirty="0" smtClean="0">
                <a:ea typeface="宋体" pitchFamily="2" charset="-122"/>
              </a:rPr>
              <a:t>3</a:t>
            </a:r>
            <a:r>
              <a:rPr lang="en-US" altLang="zh-CN" sz="2800" b="1" dirty="0" smtClean="0">
                <a:ea typeface="宋体" pitchFamily="2" charset="-122"/>
              </a:rPr>
              <a:t>b</a:t>
            </a:r>
            <a:r>
              <a:rPr lang="en-US" altLang="zh-CN" sz="2800" b="1" baseline="-25000" dirty="0" smtClean="0">
                <a:ea typeface="宋体" pitchFamily="2" charset="-122"/>
              </a:rPr>
              <a:t>1</a:t>
            </a:r>
            <a:r>
              <a:rPr lang="en-US" altLang="zh-CN" sz="2800" b="1" dirty="0" smtClean="0">
                <a:ea typeface="宋体" pitchFamily="2" charset="-122"/>
              </a:rPr>
              <a:t>)</a:t>
            </a:r>
            <a:endParaRPr lang="zh-CN" altLang="zh-CN" sz="2800" b="1" dirty="0" smtClean="0">
              <a:solidFill>
                <a:srgbClr val="0000FF"/>
              </a:solidFill>
              <a:ea typeface="宋体" pitchFamily="2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zh-CN" sz="2800" b="1" dirty="0" smtClean="0">
                <a:ea typeface="宋体" pitchFamily="2" charset="-122"/>
              </a:rPr>
              <a:t>故</a:t>
            </a:r>
            <a:r>
              <a:rPr lang="en-US" altLang="zh-CN" sz="2800" b="1" dirty="0" smtClean="0">
                <a:ea typeface="宋体" pitchFamily="2" charset="-122"/>
              </a:rPr>
              <a:t>(X</a:t>
            </a:r>
            <a:r>
              <a:rPr lang="zh-CN" altLang="zh-CN" sz="2800" b="1" dirty="0" smtClean="0">
                <a:ea typeface="宋体" pitchFamily="2" charset="-122"/>
              </a:rPr>
              <a:t>，</a:t>
            </a:r>
            <a:r>
              <a:rPr lang="en-US" altLang="zh-CN" sz="2800" b="1" dirty="0" smtClean="0">
                <a:ea typeface="宋体" pitchFamily="2" charset="-122"/>
                <a:sym typeface="Symbol" pitchFamily="18" charset="2"/>
              </a:rPr>
              <a:t></a:t>
            </a:r>
            <a:r>
              <a:rPr lang="zh-CN" altLang="zh-CN" sz="2800" b="1" dirty="0" smtClean="0">
                <a:ea typeface="宋体" pitchFamily="2" charset="-122"/>
              </a:rPr>
              <a:t>，</a:t>
            </a:r>
            <a:r>
              <a:rPr lang="en-US" altLang="zh-CN" sz="2800" b="1" dirty="0" smtClean="0">
                <a:ea typeface="宋体" pitchFamily="2" charset="-122"/>
                <a:sym typeface="Symbol" pitchFamily="18" charset="2"/>
              </a:rPr>
              <a:t></a:t>
            </a:r>
            <a:r>
              <a:rPr lang="en-US" altLang="zh-CN" sz="2800" b="1" dirty="0" smtClean="0">
                <a:ea typeface="宋体" pitchFamily="2" charset="-122"/>
              </a:rPr>
              <a:t>)</a:t>
            </a:r>
            <a:r>
              <a:rPr lang="zh-CN" altLang="zh-CN" sz="2800" b="1" dirty="0" smtClean="0">
                <a:ea typeface="宋体" pitchFamily="2" charset="-122"/>
              </a:rPr>
              <a:t>是环。</a:t>
            </a:r>
            <a:endParaRPr lang="zh-CN" altLang="en-US" sz="2800" b="1" dirty="0" smtClean="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8288095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标题 1"/>
          <p:cNvSpPr>
            <a:spLocks noGrp="1"/>
          </p:cNvSpPr>
          <p:nvPr>
            <p:ph type="title"/>
          </p:nvPr>
        </p:nvSpPr>
        <p:spPr>
          <a:xfrm>
            <a:off x="703263" y="404813"/>
            <a:ext cx="8020050" cy="889000"/>
          </a:xfrm>
        </p:spPr>
        <p:txBody>
          <a:bodyPr/>
          <a:lstStyle/>
          <a:p>
            <a:pPr eaLnBrk="1" hangingPunct="1"/>
            <a:r>
              <a:rPr lang="zh-CN" altLang="en-US" smtClean="0"/>
              <a:t>子环与大环的关系</a:t>
            </a:r>
          </a:p>
        </p:txBody>
      </p:sp>
      <p:sp>
        <p:nvSpPr>
          <p:cNvPr id="3" name="内容占位符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561975" y="1293664"/>
            <a:ext cx="8301038" cy="4572000"/>
          </a:xfrm>
          <a:blipFill rotWithShape="0">
            <a:blip r:embed="rId3"/>
            <a:stretch>
              <a:fillRect l="-1689" t="-1200" r="-954" b="-1200"/>
            </a:stretch>
          </a:blipFill>
          <a:ex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741855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内容占位符 2"/>
          <p:cNvSpPr>
            <a:spLocks noGrp="1"/>
          </p:cNvSpPr>
          <p:nvPr>
            <p:ph idx="1"/>
          </p:nvPr>
        </p:nvSpPr>
        <p:spPr>
          <a:xfrm>
            <a:off x="561975" y="836613"/>
            <a:ext cx="8301038" cy="5211762"/>
          </a:xfrm>
        </p:spPr>
        <p:txBody>
          <a:bodyPr/>
          <a:lstStyle/>
          <a:p>
            <a:pPr>
              <a:defRPr/>
            </a:pPr>
            <a:r>
              <a:rPr lang="zh-CN" altLang="en-US" sz="3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是否存在大环中无单位元，而子环中有单位元的情况？若有，请举例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3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解：</a:t>
            </a:r>
            <a:endParaRPr lang="en-US" altLang="zh-CN" sz="3000" b="1" dirty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3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R={0,2,4,6,8,10},</a:t>
            </a:r>
            <a:r>
              <a:rPr lang="zh-CN" altLang="en-US" sz="3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运算为模</a:t>
            </a:r>
            <a:r>
              <a:rPr lang="en-US" altLang="zh-CN" sz="3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r>
              <a:rPr lang="zh-CN" altLang="en-US" sz="3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加法和模</a:t>
            </a:r>
            <a:r>
              <a:rPr lang="en-US" altLang="zh-CN" sz="3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r>
              <a:rPr lang="zh-CN" altLang="en-US" sz="3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乘法</a:t>
            </a:r>
            <a:endParaRPr lang="en-US" altLang="zh-CN" sz="3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3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R1={0,4,8}</a:t>
            </a:r>
            <a:r>
              <a:rPr lang="zh-CN" altLang="en-US" sz="3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为其子环。</a:t>
            </a:r>
            <a:endParaRPr lang="en-US" altLang="zh-CN" sz="3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3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3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中无单位元，而子环</a:t>
            </a:r>
            <a:r>
              <a:rPr lang="en-US" altLang="zh-CN" sz="3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R1</a:t>
            </a:r>
            <a:r>
              <a:rPr lang="zh-CN" altLang="en-US" sz="3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中有单位元为</a:t>
            </a:r>
            <a:r>
              <a:rPr lang="en-US" altLang="zh-CN" sz="3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</a:t>
            </a:r>
            <a:endParaRPr lang="zh-CN" altLang="en-US" sz="3000" b="1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193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7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7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75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75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75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75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75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75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内容占位符 2"/>
          <p:cNvSpPr>
            <a:spLocks noGrp="1"/>
          </p:cNvSpPr>
          <p:nvPr>
            <p:ph idx="1"/>
          </p:nvPr>
        </p:nvSpPr>
        <p:spPr>
          <a:xfrm>
            <a:off x="323850" y="620713"/>
            <a:ext cx="8640763" cy="53562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30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习题</a:t>
            </a:r>
            <a:r>
              <a:rPr lang="en-US" altLang="zh-CN" sz="30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6.6-7</a:t>
            </a:r>
            <a:r>
              <a:rPr lang="zh-CN" altLang="en-US" sz="30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：</a:t>
            </a:r>
            <a:r>
              <a:rPr lang="zh-CN" altLang="en-US" sz="3000" b="1" dirty="0" smtClean="0">
                <a:ea typeface="宋体" panose="02010600030101010101" pitchFamily="2" charset="-122"/>
              </a:rPr>
              <a:t>模</a:t>
            </a:r>
            <a:r>
              <a:rPr lang="en-US" altLang="zh-CN" sz="3000" b="1" dirty="0" smtClean="0">
                <a:ea typeface="宋体" panose="02010600030101010101" pitchFamily="2" charset="-122"/>
              </a:rPr>
              <a:t>16</a:t>
            </a:r>
            <a:r>
              <a:rPr lang="zh-CN" altLang="en-US" sz="3000" b="1" dirty="0" smtClean="0">
                <a:ea typeface="宋体" panose="02010600030101010101" pitchFamily="2" charset="-122"/>
              </a:rPr>
              <a:t>剩余类环是否为域？</a:t>
            </a:r>
            <a:endParaRPr lang="en-US" altLang="zh-CN" sz="3000" b="1" dirty="0" smtClean="0">
              <a:ea typeface="宋体" panose="02010600030101010101" pitchFamily="2" charset="-122"/>
            </a:endParaRPr>
          </a:p>
          <a:p>
            <a:pPr marL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解：</a:t>
            </a:r>
            <a:r>
              <a:rPr lang="zh-CN" altLang="en-US" sz="3000" b="1" dirty="0" smtClean="0">
                <a:ea typeface="宋体" panose="02010600030101010101" pitchFamily="2" charset="-122"/>
              </a:rPr>
              <a:t>不是，因为</a:t>
            </a:r>
            <a:r>
              <a:rPr lang="en-US" altLang="zh-CN" sz="3000" b="1" dirty="0" smtClean="0">
                <a:ea typeface="宋体" panose="02010600030101010101" pitchFamily="2" charset="-122"/>
              </a:rPr>
              <a:t>16</a:t>
            </a:r>
            <a:r>
              <a:rPr lang="zh-CN" altLang="en-US" sz="3000" b="1" dirty="0" smtClean="0">
                <a:ea typeface="宋体" panose="02010600030101010101" pitchFamily="2" charset="-122"/>
              </a:rPr>
              <a:t>不是质数。因为虽然模</a:t>
            </a:r>
            <a:r>
              <a:rPr lang="en-US" altLang="zh-CN" sz="3000" b="1" dirty="0" smtClean="0">
                <a:ea typeface="宋体" panose="02010600030101010101" pitchFamily="2" charset="-122"/>
              </a:rPr>
              <a:t>16</a:t>
            </a:r>
            <a:r>
              <a:rPr lang="zh-CN" altLang="en-US" sz="3000" b="1" dirty="0" smtClean="0">
                <a:ea typeface="宋体" panose="02010600030101010101" pitchFamily="2" charset="-122"/>
              </a:rPr>
              <a:t>剩余类环中元素在加法下可形成一个群，但其非零元素在乘法下不能组成群</a:t>
            </a:r>
            <a:r>
              <a:rPr lang="zh-CN" altLang="en-US" b="1" dirty="0" smtClean="0"/>
              <a:t>。</a:t>
            </a:r>
            <a:endParaRPr lang="en-US" altLang="zh-CN" b="1" dirty="0" smtClean="0"/>
          </a:p>
          <a:p>
            <a:pPr>
              <a:buFont typeface="Wingdings" panose="05000000000000000000" pitchFamily="2" charset="2"/>
              <a:buNone/>
              <a:defRPr/>
            </a:pPr>
            <a:endParaRPr lang="en-US" altLang="zh-CN" b="1" dirty="0" smtClean="0"/>
          </a:p>
          <a:p>
            <a:pPr marL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练习：</a:t>
            </a:r>
            <a:r>
              <a:rPr lang="zh-CN" altLang="en-US" sz="2800" b="1" dirty="0" smtClean="0">
                <a:ea typeface="宋体" panose="02010600030101010101" pitchFamily="2" charset="-122"/>
              </a:rPr>
              <a:t>模</a:t>
            </a:r>
            <a:r>
              <a:rPr lang="en-US" altLang="zh-CN" sz="2800" b="1" dirty="0" smtClean="0">
                <a:ea typeface="宋体" panose="02010600030101010101" pitchFamily="2" charset="-122"/>
              </a:rPr>
              <a:t>12</a:t>
            </a:r>
            <a:r>
              <a:rPr lang="zh-CN" altLang="en-US" sz="2800" b="1" dirty="0" smtClean="0">
                <a:ea typeface="宋体" panose="02010600030101010101" pitchFamily="2" charset="-122"/>
              </a:rPr>
              <a:t>剩余类环是消去环吗？若不是，给出其所有零因子。</a:t>
            </a:r>
            <a:endParaRPr lang="en-US" altLang="zh-CN" sz="2800" b="1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28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解：  </a:t>
            </a:r>
            <a:r>
              <a:rPr lang="zh-CN" altLang="en-US" sz="2800" b="1" dirty="0" smtClean="0">
                <a:ea typeface="宋体" panose="02010600030101010101" pitchFamily="2" charset="-122"/>
              </a:rPr>
              <a:t>不是消去环。所有零因子如下：</a:t>
            </a:r>
            <a:endParaRPr lang="en-US" altLang="zh-CN" sz="2800" b="1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endParaRPr lang="en-US" altLang="zh-CN" b="1" dirty="0" smtClean="0"/>
          </a:p>
          <a:p>
            <a:pPr marL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altLang="zh-CN" sz="2800" b="1" dirty="0" smtClean="0">
              <a:ea typeface="宋体" panose="02010600030101010101" pitchFamily="2" charset="-122"/>
            </a:endParaRPr>
          </a:p>
          <a:p>
            <a:pPr marL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注：</a:t>
            </a:r>
            <a:r>
              <a:rPr lang="zh-CN" altLang="en-US" sz="2800" b="1" dirty="0" smtClean="0">
                <a:ea typeface="宋体" panose="02010600030101010101" pitchFamily="2" charset="-122"/>
              </a:rPr>
              <a:t>模</a:t>
            </a:r>
            <a:r>
              <a:rPr lang="en-US" altLang="zh-CN" sz="2800" b="1" dirty="0" smtClean="0">
                <a:ea typeface="宋体" panose="02010600030101010101" pitchFamily="2" charset="-122"/>
              </a:rPr>
              <a:t>n</a:t>
            </a:r>
            <a:r>
              <a:rPr lang="zh-CN" altLang="en-US" sz="2800" b="1" dirty="0" smtClean="0">
                <a:ea typeface="宋体" panose="02010600030101010101" pitchFamily="2" charset="-122"/>
              </a:rPr>
              <a:t>剩余类环</a:t>
            </a:r>
            <a:r>
              <a:rPr lang="en-US" altLang="zh-CN" sz="2800" b="1" dirty="0" smtClean="0">
                <a:ea typeface="宋体" panose="02010600030101010101" pitchFamily="2" charset="-122"/>
              </a:rPr>
              <a:t>(</a:t>
            </a:r>
            <a:r>
              <a:rPr lang="zh-CN" altLang="en-US" sz="2800" b="1" dirty="0" smtClean="0">
                <a:ea typeface="宋体" panose="02010600030101010101" pitchFamily="2" charset="-122"/>
              </a:rPr>
              <a:t>模</a:t>
            </a:r>
            <a:r>
              <a:rPr lang="en-US" altLang="zh-CN" sz="2800" b="1" dirty="0" smtClean="0">
                <a:ea typeface="宋体" panose="02010600030101010101" pitchFamily="2" charset="-122"/>
              </a:rPr>
              <a:t>n</a:t>
            </a:r>
            <a:r>
              <a:rPr lang="zh-CN" altLang="en-US" sz="2800" b="1" dirty="0" smtClean="0">
                <a:ea typeface="宋体" panose="02010600030101010101" pitchFamily="2" charset="-122"/>
              </a:rPr>
              <a:t>整数环</a:t>
            </a:r>
            <a:r>
              <a:rPr lang="en-US" altLang="zh-CN" sz="2800" b="1" dirty="0">
                <a:ea typeface="宋体" panose="02010600030101010101" pitchFamily="2" charset="-122"/>
              </a:rPr>
              <a:t>)</a:t>
            </a:r>
            <a:r>
              <a:rPr lang="zh-CN" altLang="en-US" sz="2800" b="1" dirty="0" smtClean="0">
                <a:ea typeface="宋体" panose="02010600030101010101" pitchFamily="2" charset="-122"/>
              </a:rPr>
              <a:t>，在</a:t>
            </a:r>
            <a:r>
              <a:rPr lang="en-US" altLang="zh-CN" sz="2800" b="1" dirty="0" smtClean="0">
                <a:ea typeface="宋体" panose="02010600030101010101" pitchFamily="2" charset="-122"/>
              </a:rPr>
              <a:t>n</a:t>
            </a:r>
            <a:r>
              <a:rPr lang="zh-CN" altLang="en-US" sz="2800" b="1" dirty="0" smtClean="0">
                <a:ea typeface="宋体" panose="02010600030101010101" pitchFamily="2" charset="-122"/>
              </a:rPr>
              <a:t>为质数时为消去环</a:t>
            </a:r>
            <a:endParaRPr lang="en-US" altLang="zh-CN" sz="2800" b="1" dirty="0" smtClean="0">
              <a:ea typeface="宋体" panose="02010600030101010101" pitchFamily="2" charset="-122"/>
            </a:endParaRPr>
          </a:p>
          <a:p>
            <a:pPr marL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b="1" dirty="0" smtClean="0"/>
              <a:t>          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b="1" dirty="0" smtClean="0"/>
              <a:t>        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en-US" altLang="zh-CN" b="1" dirty="0" smtClean="0"/>
          </a:p>
          <a:p>
            <a:pPr>
              <a:buFont typeface="Wingdings" panose="05000000000000000000" pitchFamily="2" charset="2"/>
              <a:buNone/>
              <a:defRPr/>
            </a:pPr>
            <a:endParaRPr lang="en-US" altLang="zh-CN" b="1" dirty="0" smtClean="0"/>
          </a:p>
          <a:p>
            <a:pPr>
              <a:buFont typeface="Wingdings" panose="05000000000000000000" pitchFamily="2" charset="2"/>
              <a:buNone/>
              <a:defRPr/>
            </a:pPr>
            <a:endParaRPr lang="en-US" altLang="zh-CN" b="1" dirty="0" smtClean="0"/>
          </a:p>
          <a:p>
            <a:pPr>
              <a:buFont typeface="Wingdings" panose="05000000000000000000" pitchFamily="2" charset="2"/>
              <a:buNone/>
              <a:defRPr/>
            </a:pPr>
            <a:endParaRPr lang="en-US" altLang="zh-CN" b="1" dirty="0" smtClean="0"/>
          </a:p>
          <a:p>
            <a:pPr>
              <a:buFont typeface="Wingdings" panose="05000000000000000000" pitchFamily="2" charset="2"/>
              <a:buNone/>
              <a:defRPr/>
            </a:pPr>
            <a:endParaRPr lang="zh-CN" altLang="en-US" b="1" dirty="0" smtClean="0"/>
          </a:p>
        </p:txBody>
      </p:sp>
      <p:graphicFrame>
        <p:nvGraphicFramePr>
          <p:cNvPr id="2050" name="Object 3"/>
          <p:cNvGraphicFramePr>
            <a:graphicFrameLocks noChangeAspect="1"/>
          </p:cNvGraphicFramePr>
          <p:nvPr/>
        </p:nvGraphicFramePr>
        <p:xfrm>
          <a:off x="2339975" y="4508500"/>
          <a:ext cx="1963738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43" name="公式" r:id="rId3" imgW="939392" imgH="241195" progId="Equation.3">
                  <p:embed/>
                </p:oleObj>
              </mc:Choice>
              <mc:Fallback>
                <p:oleObj name="公式" r:id="rId3" imgW="939392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4508500"/>
                        <a:ext cx="1963738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8458451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188" y="692150"/>
            <a:ext cx="8042275" cy="5211763"/>
          </a:xfrm>
        </p:spPr>
        <p:txBody>
          <a:bodyPr/>
          <a:lstStyle/>
          <a:p>
            <a:pPr marL="0" indent="0">
              <a:lnSpc>
                <a:spcPct val="114000"/>
              </a:lnSpc>
              <a:defRPr/>
            </a:pPr>
            <a:r>
              <a:rPr lang="zh-CN" altLang="zh-CN" sz="2800" b="1" dirty="0" smtClean="0">
                <a:ea typeface="宋体" pitchFamily="2" charset="-122"/>
              </a:rPr>
              <a:t>设</a:t>
            </a:r>
            <a:r>
              <a:rPr lang="en-US" altLang="zh-CN" sz="2800" b="1" dirty="0" smtClean="0">
                <a:ea typeface="宋体" pitchFamily="2" charset="-122"/>
              </a:rPr>
              <a:t>R={0,1,2,…,8}</a:t>
            </a:r>
            <a:r>
              <a:rPr lang="zh-CN" altLang="zh-CN" sz="2800" b="1" dirty="0" smtClean="0">
                <a:ea typeface="宋体" pitchFamily="2" charset="-122"/>
              </a:rPr>
              <a:t>，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</a:t>
            </a:r>
            <a:r>
              <a:rPr lang="zh-CN" altLang="zh-CN" sz="2800" b="1" dirty="0" smtClean="0">
                <a:ea typeface="宋体" pitchFamily="2" charset="-122"/>
              </a:rPr>
              <a:t>是模</a:t>
            </a:r>
            <a:r>
              <a:rPr lang="en-US" altLang="zh-CN" sz="2800" b="1" dirty="0" smtClean="0">
                <a:ea typeface="宋体" pitchFamily="2" charset="-122"/>
              </a:rPr>
              <a:t>9</a:t>
            </a:r>
            <a:r>
              <a:rPr lang="zh-CN" altLang="zh-CN" sz="2800" b="1" dirty="0" smtClean="0">
                <a:ea typeface="宋体" pitchFamily="2" charset="-122"/>
              </a:rPr>
              <a:t>加法，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</a:t>
            </a:r>
            <a:r>
              <a:rPr lang="zh-CN" altLang="zh-CN" sz="2800" b="1" dirty="0" smtClean="0">
                <a:ea typeface="宋体" pitchFamily="2" charset="-122"/>
              </a:rPr>
              <a:t>是模</a:t>
            </a:r>
            <a:r>
              <a:rPr lang="en-US" altLang="zh-CN" sz="2800" b="1" dirty="0" smtClean="0">
                <a:ea typeface="宋体" pitchFamily="2" charset="-122"/>
              </a:rPr>
              <a:t>9</a:t>
            </a:r>
            <a:r>
              <a:rPr lang="zh-CN" altLang="zh-CN" sz="2800" b="1" dirty="0" smtClean="0">
                <a:ea typeface="宋体" pitchFamily="2" charset="-122"/>
              </a:rPr>
              <a:t>乘法，则</a:t>
            </a:r>
            <a:r>
              <a:rPr lang="en-US" altLang="zh-CN" sz="2800" b="1" dirty="0" smtClean="0">
                <a:ea typeface="宋体" pitchFamily="2" charset="-122"/>
              </a:rPr>
              <a:t>(R, 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</a:t>
            </a:r>
            <a:r>
              <a:rPr lang="en-US" altLang="zh-CN" sz="2800" b="1" dirty="0" smtClean="0">
                <a:ea typeface="宋体" pitchFamily="2" charset="-122"/>
              </a:rPr>
              <a:t>, </a:t>
            </a:r>
            <a:r>
              <a:rPr lang="en-US" altLang="zh-CN" sz="2800" b="1" dirty="0" smtClean="0">
                <a:ea typeface="宋体" pitchFamily="2" charset="-122"/>
                <a:sym typeface="Symbol"/>
              </a:rPr>
              <a:t></a:t>
            </a:r>
            <a:r>
              <a:rPr lang="en-US" altLang="zh-CN" sz="2800" b="1" dirty="0" smtClean="0">
                <a:ea typeface="宋体" pitchFamily="2" charset="-122"/>
              </a:rPr>
              <a:t>)</a:t>
            </a:r>
            <a:r>
              <a:rPr lang="zh-CN" altLang="zh-CN" sz="2800" b="1" dirty="0" smtClean="0">
                <a:ea typeface="宋体" pitchFamily="2" charset="-122"/>
              </a:rPr>
              <a:t>是环，请问：</a:t>
            </a:r>
            <a:r>
              <a:rPr lang="en-US" altLang="zh-CN" sz="2800" b="1" dirty="0" smtClean="0">
                <a:ea typeface="宋体" pitchFamily="2" charset="-122"/>
              </a:rPr>
              <a:t/>
            </a:r>
            <a:br>
              <a:rPr lang="en-US" altLang="zh-CN" sz="2800" b="1" dirty="0" smtClean="0">
                <a:ea typeface="宋体" pitchFamily="2" charset="-122"/>
              </a:rPr>
            </a:br>
            <a:r>
              <a:rPr lang="en-US" altLang="zh-CN" sz="2800" b="1" dirty="0" smtClean="0">
                <a:ea typeface="宋体" pitchFamily="2" charset="-122"/>
              </a:rPr>
              <a:t>(1)</a:t>
            </a:r>
            <a:r>
              <a:rPr lang="zh-CN" altLang="zh-CN" sz="2800" b="1" dirty="0" smtClean="0">
                <a:ea typeface="宋体" pitchFamily="2" charset="-122"/>
              </a:rPr>
              <a:t>环</a:t>
            </a:r>
            <a:r>
              <a:rPr lang="en-US" altLang="zh-CN" sz="2800" b="1" dirty="0" smtClean="0">
                <a:ea typeface="宋体" pitchFamily="2" charset="-122"/>
              </a:rPr>
              <a:t>R</a:t>
            </a:r>
            <a:r>
              <a:rPr lang="zh-CN" altLang="zh-CN" sz="2800" b="1" dirty="0" smtClean="0">
                <a:ea typeface="宋体" pitchFamily="2" charset="-122"/>
              </a:rPr>
              <a:t>是消去环吗？若不是，请找出其中的零因子</a:t>
            </a:r>
            <a:r>
              <a:rPr lang="en-US" altLang="zh-CN" sz="2800" b="1" dirty="0" smtClean="0">
                <a:ea typeface="宋体" pitchFamily="2" charset="-122"/>
              </a:rPr>
              <a:t/>
            </a:r>
            <a:br>
              <a:rPr lang="en-US" altLang="zh-CN" sz="2800" b="1" dirty="0" smtClean="0">
                <a:ea typeface="宋体" pitchFamily="2" charset="-122"/>
              </a:rPr>
            </a:br>
            <a:r>
              <a:rPr lang="en-US" altLang="zh-CN" sz="2800" b="1" dirty="0" smtClean="0">
                <a:ea typeface="宋体" pitchFamily="2" charset="-122"/>
              </a:rPr>
              <a:t>(2)</a:t>
            </a:r>
            <a:r>
              <a:rPr lang="zh-CN" altLang="zh-CN" sz="2800" b="1" dirty="0" smtClean="0">
                <a:ea typeface="宋体" pitchFamily="2" charset="-122"/>
              </a:rPr>
              <a:t>环</a:t>
            </a:r>
            <a:r>
              <a:rPr lang="en-US" altLang="zh-CN" sz="2800" b="1" dirty="0" smtClean="0">
                <a:ea typeface="宋体" pitchFamily="2" charset="-122"/>
              </a:rPr>
              <a:t>R</a:t>
            </a:r>
            <a:r>
              <a:rPr lang="zh-CN" altLang="zh-CN" sz="2800" b="1" dirty="0" smtClean="0">
                <a:ea typeface="宋体" pitchFamily="2" charset="-122"/>
              </a:rPr>
              <a:t>是整区吗？</a:t>
            </a:r>
            <a:endParaRPr lang="en-US" altLang="zh-CN" sz="2800" b="1" dirty="0" smtClean="0">
              <a:ea typeface="宋体" pitchFamily="2" charset="-122"/>
            </a:endParaRPr>
          </a:p>
          <a:p>
            <a:pPr marL="0" indent="0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>
                <a:ea typeface="宋体" pitchFamily="2" charset="-122"/>
              </a:rPr>
              <a:t>(3)</a:t>
            </a:r>
            <a:r>
              <a:rPr lang="zh-CN" altLang="zh-CN" sz="28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求出加法周期为</a:t>
            </a:r>
            <a:r>
              <a:rPr lang="en-US" altLang="zh-CN" sz="28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28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的元素</a:t>
            </a:r>
            <a:r>
              <a:rPr lang="en-US" altLang="zh-CN" sz="2800" b="1" dirty="0" smtClean="0">
                <a:ea typeface="宋体" pitchFamily="2" charset="-122"/>
              </a:rPr>
              <a:t/>
            </a:r>
            <a:br>
              <a:rPr lang="en-US" altLang="zh-CN" sz="2800" b="1" dirty="0" smtClean="0">
                <a:ea typeface="宋体" pitchFamily="2" charset="-122"/>
              </a:rPr>
            </a:br>
            <a:r>
              <a:rPr lang="zh-CN" altLang="en-US" sz="2800" b="1" dirty="0" smtClean="0">
                <a:solidFill>
                  <a:srgbClr val="0000FF"/>
                </a:solidFill>
                <a:ea typeface="宋体" pitchFamily="2" charset="-122"/>
              </a:rPr>
              <a:t>解：</a:t>
            </a:r>
            <a:endParaRPr lang="en-US" altLang="zh-CN" sz="2800" b="1" dirty="0" smtClean="0">
              <a:solidFill>
                <a:srgbClr val="0000FF"/>
              </a:solidFill>
              <a:ea typeface="宋体" pitchFamily="2" charset="-122"/>
            </a:endParaRPr>
          </a:p>
          <a:p>
            <a:pPr marL="0" indent="0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>
                <a:ea typeface="宋体" pitchFamily="2" charset="-122"/>
              </a:rPr>
              <a:t>(1)</a:t>
            </a:r>
            <a:r>
              <a:rPr lang="zh-CN" altLang="en-US" sz="2800" b="1" dirty="0" smtClean="0">
                <a:ea typeface="宋体" pitchFamily="2" charset="-122"/>
              </a:rPr>
              <a:t>不是，</a:t>
            </a:r>
            <a:r>
              <a:rPr lang="en-US" altLang="zh-CN" sz="2800" b="1" dirty="0" smtClean="0">
                <a:ea typeface="宋体" pitchFamily="2" charset="-122"/>
              </a:rPr>
              <a:t>3</a:t>
            </a:r>
            <a:r>
              <a:rPr lang="zh-CN" altLang="en-US" sz="2800" b="1" dirty="0" smtClean="0">
                <a:ea typeface="宋体" pitchFamily="2" charset="-122"/>
              </a:rPr>
              <a:t>和</a:t>
            </a:r>
            <a:r>
              <a:rPr lang="en-US" altLang="zh-CN" sz="2800" b="1" dirty="0" smtClean="0">
                <a:ea typeface="宋体" pitchFamily="2" charset="-122"/>
              </a:rPr>
              <a:t>6</a:t>
            </a:r>
            <a:r>
              <a:rPr lang="zh-CN" altLang="en-US" sz="2800" b="1" dirty="0" smtClean="0">
                <a:ea typeface="宋体" pitchFamily="2" charset="-122"/>
              </a:rPr>
              <a:t>是</a:t>
            </a:r>
            <a:r>
              <a:rPr lang="zh-CN" altLang="zh-CN" sz="2800" b="1" dirty="0" smtClean="0">
                <a:ea typeface="宋体" pitchFamily="2" charset="-122"/>
              </a:rPr>
              <a:t>零因子</a:t>
            </a:r>
            <a:endParaRPr lang="en-US" altLang="zh-CN" sz="2800" b="1" dirty="0" smtClean="0">
              <a:ea typeface="宋体" pitchFamily="2" charset="-122"/>
            </a:endParaRPr>
          </a:p>
          <a:p>
            <a:pPr marL="0" indent="0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>
                <a:ea typeface="宋体" pitchFamily="2" charset="-122"/>
              </a:rPr>
              <a:t>(2)</a:t>
            </a:r>
            <a:r>
              <a:rPr lang="zh-CN" altLang="en-US" sz="2800" b="1" dirty="0" smtClean="0">
                <a:ea typeface="宋体" pitchFamily="2" charset="-122"/>
              </a:rPr>
              <a:t>不是整区</a:t>
            </a:r>
            <a:endParaRPr lang="en-US" altLang="zh-CN" sz="2800" b="1" dirty="0" smtClean="0">
              <a:ea typeface="宋体" pitchFamily="2" charset="-122"/>
            </a:endParaRPr>
          </a:p>
          <a:p>
            <a:pPr marL="0" indent="0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>
                <a:ea typeface="宋体" pitchFamily="2" charset="-122"/>
              </a:rPr>
              <a:t>(3)</a:t>
            </a:r>
            <a:r>
              <a:rPr lang="zh-CN" altLang="zh-CN" sz="28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周期为</a:t>
            </a:r>
            <a:r>
              <a:rPr lang="en-US" altLang="zh-CN" sz="2800" b="1" kern="100" dirty="0">
                <a:ea typeface="宋体" panose="02010600030101010101" pitchFamily="2" charset="-122"/>
              </a:rPr>
              <a:t>3</a:t>
            </a:r>
            <a:r>
              <a:rPr lang="zh-CN" altLang="zh-CN" sz="28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的元素是：</a:t>
            </a:r>
            <a:r>
              <a:rPr lang="en-US" altLang="zh-CN" sz="2800" b="1" kern="100" dirty="0">
                <a:ea typeface="宋体" panose="02010600030101010101" pitchFamily="2" charset="-122"/>
              </a:rPr>
              <a:t>3</a:t>
            </a:r>
            <a:r>
              <a:rPr lang="zh-CN" altLang="zh-CN" sz="28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 kern="100" dirty="0">
                <a:ea typeface="宋体" panose="02010600030101010101" pitchFamily="2" charset="-122"/>
              </a:rPr>
              <a:t>6</a:t>
            </a:r>
            <a:r>
              <a:rPr lang="zh-CN" altLang="zh-CN" sz="28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800" b="1" dirty="0" smtClean="0">
              <a:ea typeface="宋体" pitchFamily="2" charset="-122"/>
            </a:endParaRPr>
          </a:p>
          <a:p>
            <a:pPr>
              <a:defRPr/>
            </a:pPr>
            <a:endParaRPr lang="zh-CN" altLang="en-US" dirty="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018648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内容占位符 2"/>
          <p:cNvSpPr>
            <a:spLocks noGrp="1"/>
          </p:cNvSpPr>
          <p:nvPr>
            <p:ph idx="1"/>
          </p:nvPr>
        </p:nvSpPr>
        <p:spPr>
          <a:xfrm>
            <a:off x="395288" y="692150"/>
            <a:ext cx="8424862" cy="5834063"/>
          </a:xfrm>
        </p:spPr>
        <p:txBody>
          <a:bodyPr/>
          <a:lstStyle/>
          <a:p>
            <a:pPr>
              <a:defRPr/>
            </a:pPr>
            <a:r>
              <a:rPr lang="zh-CN" altLang="zh-CN" sz="2800" b="1" dirty="0" smtClean="0">
                <a:ea typeface="宋体" panose="02010600030101010101" pitchFamily="2" charset="-122"/>
              </a:rPr>
              <a:t>无零因子的有限环是否一定是体？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28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解：不一定（如果是至少</a:t>
            </a:r>
            <a:r>
              <a:rPr lang="en-US" altLang="zh-CN" sz="28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2</a:t>
            </a:r>
            <a:r>
              <a:rPr lang="zh-CN" altLang="en-US" sz="28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个元素</a:t>
            </a:r>
            <a:r>
              <a:rPr lang="zh-CN" altLang="zh-CN" sz="28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无零因子的有限环</a:t>
            </a:r>
            <a:r>
              <a:rPr lang="zh-CN" altLang="en-US" sz="28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则一定是体）</a:t>
            </a:r>
            <a:endParaRPr lang="en-US" altLang="zh-CN" sz="2800" b="1" dirty="0" smtClean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 marL="0" indent="0">
              <a:buClr>
                <a:srgbClr val="3333CC"/>
              </a:buClr>
              <a:defRPr/>
            </a:pPr>
            <a:r>
              <a:rPr lang="zh-CN" altLang="zh-CN" sz="2800" b="1" dirty="0">
                <a:solidFill>
                  <a:srgbClr val="000000"/>
                </a:solidFill>
                <a:ea typeface="宋体" pitchFamily="2" charset="-122"/>
              </a:rPr>
              <a:t>整区中是否存在零因子？整区中所有非零元素的乘法周期都相等吗？</a:t>
            </a:r>
            <a:endParaRPr lang="en-US" altLang="zh-CN" sz="2800" b="1" dirty="0">
              <a:solidFill>
                <a:srgbClr val="000000"/>
              </a:solidFill>
              <a:ea typeface="宋体" pitchFamily="2" charset="-122"/>
            </a:endParaRPr>
          </a:p>
          <a:p>
            <a:pPr marL="0" indent="0"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solidFill>
                  <a:srgbClr val="0000FF"/>
                </a:solidFill>
                <a:ea typeface="宋体" pitchFamily="2" charset="-122"/>
              </a:rPr>
              <a:t>解：不存在，不</a:t>
            </a:r>
            <a:r>
              <a:rPr lang="zh-CN" altLang="en-US" sz="2800" b="1" dirty="0" smtClean="0">
                <a:solidFill>
                  <a:srgbClr val="0000FF"/>
                </a:solidFill>
                <a:ea typeface="宋体" pitchFamily="2" charset="-122"/>
              </a:rPr>
              <a:t>相等</a:t>
            </a:r>
            <a:endParaRPr lang="en-US" altLang="zh-CN" sz="2800" b="1" dirty="0" smtClean="0">
              <a:solidFill>
                <a:srgbClr val="0000FF"/>
              </a:solidFill>
              <a:ea typeface="宋体" pitchFamily="2" charset="-122"/>
            </a:endParaRPr>
          </a:p>
          <a:p>
            <a:pPr marL="342900" lvl="1" indent="-342900">
              <a:buFont typeface="Wingdings" panose="05000000000000000000" pitchFamily="2" charset="2"/>
              <a:buNone/>
              <a:defRPr/>
            </a:pPr>
            <a:endParaRPr lang="en-US" altLang="zh-CN" sz="2800" b="1" dirty="0" smtClean="0">
              <a:solidFill>
                <a:srgbClr val="0000FF"/>
              </a:solidFill>
              <a:ea typeface="宋体" pitchFamily="2" charset="-122"/>
            </a:endParaRPr>
          </a:p>
          <a:p>
            <a:pPr marL="342900" lvl="1" indent="-342900">
              <a:buFont typeface="Wingdings" panose="05000000000000000000" pitchFamily="2" charset="2"/>
              <a:buNone/>
              <a:defRPr/>
            </a:pPr>
            <a:endParaRPr lang="zh-CN" altLang="zh-CN" sz="2800" b="1" dirty="0" smtClean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defRPr/>
            </a:pPr>
            <a:endParaRPr lang="zh-CN" altLang="zh-CN" sz="2800" dirty="0" smtClean="0"/>
          </a:p>
          <a:p>
            <a:pPr>
              <a:buClr>
                <a:srgbClr val="3333CC"/>
              </a:buClr>
              <a:defRPr/>
            </a:pPr>
            <a:endParaRPr lang="zh-CN" altLang="zh-CN" sz="2800" dirty="0">
              <a:solidFill>
                <a:srgbClr val="0000FF"/>
              </a:solidFill>
              <a:ea typeface="宋体" pitchFamily="2" charset="-122"/>
            </a:endParaRPr>
          </a:p>
          <a:p>
            <a:pPr marL="0" indent="0"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endParaRPr lang="en-US" altLang="zh-CN" sz="2800" b="1" dirty="0">
              <a:solidFill>
                <a:srgbClr val="0000FF"/>
              </a:solidFill>
              <a:ea typeface="宋体" pitchFamily="2" charset="-122"/>
            </a:endParaRPr>
          </a:p>
          <a:p>
            <a:pPr>
              <a:defRPr/>
            </a:pPr>
            <a:endParaRPr lang="en-US" altLang="zh-CN" sz="2800" b="1" dirty="0" smtClean="0">
              <a:solidFill>
                <a:srgbClr val="0000FF"/>
              </a:solidFill>
              <a:ea typeface="宋体" panose="02010600030101010101" pitchFamily="2" charset="-122"/>
            </a:endParaRPr>
          </a:p>
          <a:p>
            <a:pPr>
              <a:defRPr/>
            </a:pPr>
            <a:endParaRPr lang="zh-CN" alt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369900484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288" y="620713"/>
            <a:ext cx="8301037" cy="5832475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600" b="1" kern="100" dirty="0" smtClean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练习：</a:t>
            </a:r>
            <a:r>
              <a:rPr lang="zh-CN" altLang="zh-CN" sz="2600" b="1" kern="1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下面</a:t>
            </a:r>
            <a:r>
              <a:rPr lang="zh-CN" altLang="zh-CN" sz="2600" b="1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给</a:t>
            </a:r>
            <a:r>
              <a:rPr lang="zh-CN" altLang="zh-CN" sz="2600" b="1" kern="1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出两</a:t>
            </a:r>
            <a:r>
              <a:rPr lang="zh-CN" altLang="zh-CN" sz="2600" b="1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个格</a:t>
            </a:r>
            <a:r>
              <a:rPr lang="en-US" altLang="zh-CN" sz="2600" b="1" kern="100" dirty="0">
                <a:solidFill>
                  <a:srgbClr val="000000"/>
                </a:solidFill>
                <a:ea typeface="宋体" panose="02010600030101010101" pitchFamily="2" charset="-122"/>
              </a:rPr>
              <a:t>L</a:t>
            </a:r>
            <a:r>
              <a:rPr lang="en-US" altLang="zh-CN" sz="2600" b="1" kern="1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zh-CN" altLang="zh-CN" sz="2600" b="1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600" b="1" kern="100" dirty="0">
                <a:solidFill>
                  <a:srgbClr val="000000"/>
                </a:solidFill>
                <a:ea typeface="宋体" panose="02010600030101010101" pitchFamily="2" charset="-122"/>
              </a:rPr>
              <a:t>L</a:t>
            </a:r>
            <a:r>
              <a:rPr lang="en-US" altLang="zh-CN" sz="2600" b="1" kern="1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zh-CN" altLang="zh-CN" sz="2600" b="1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，以及</a:t>
            </a:r>
            <a:r>
              <a:rPr lang="en-US" altLang="zh-CN" sz="2600" b="1" kern="100" dirty="0">
                <a:solidFill>
                  <a:srgbClr val="000000"/>
                </a:solidFill>
                <a:ea typeface="宋体" panose="02010600030101010101" pitchFamily="2" charset="-122"/>
              </a:rPr>
              <a:t>L</a:t>
            </a:r>
            <a:r>
              <a:rPr lang="en-US" altLang="zh-CN" sz="2600" b="1" kern="1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zh-CN" altLang="zh-CN" sz="2600" b="1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sz="2600" b="1" kern="100" dirty="0">
                <a:solidFill>
                  <a:srgbClr val="000000"/>
                </a:solidFill>
                <a:ea typeface="宋体" panose="02010600030101010101" pitchFamily="2" charset="-122"/>
              </a:rPr>
              <a:t>L</a:t>
            </a:r>
            <a:r>
              <a:rPr lang="en-US" altLang="zh-CN" sz="2600" b="1" kern="1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zh-CN" altLang="zh-CN" sz="2600" b="1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上的映射</a:t>
            </a:r>
            <a:r>
              <a:rPr lang="en-US" altLang="zh-CN" sz="2600" b="1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600" b="1" kern="1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600" b="1" kern="100" dirty="0">
                <a:solidFill>
                  <a:srgbClr val="000000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600" b="1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600" b="1" kern="1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zh-CN" altLang="zh-CN" sz="2600" b="1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，请问</a:t>
            </a:r>
            <a:r>
              <a:rPr lang="en-US" altLang="zh-CN" sz="2600" b="1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600" b="1" kern="1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600" b="1" kern="100" dirty="0">
                <a:solidFill>
                  <a:srgbClr val="000000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600" b="1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600" b="1" kern="1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zh-CN" altLang="zh-CN" sz="2600" b="1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是同态映射吗？是保序映射吗？</a:t>
            </a:r>
            <a:r>
              <a:rPr lang="zh-CN" altLang="zh-CN" sz="2600" b="1" kern="1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为什么</a:t>
            </a:r>
            <a:endParaRPr lang="en-US" altLang="zh-CN" sz="2600" b="1" kern="100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600" b="1" dirty="0" smtClean="0">
                <a:sym typeface="Symbol" panose="05050102010706020507" pitchFamily="18" charset="2"/>
              </a:rPr>
              <a:t>          </a:t>
            </a:r>
            <a:r>
              <a:rPr lang="en-US" altLang="zh-CN" sz="2800" b="1" dirty="0" smtClean="0">
                <a:sym typeface="Symbol" panose="05050102010706020507" pitchFamily="18" charset="2"/>
              </a:rPr>
              <a:t></a:t>
            </a:r>
            <a:r>
              <a:rPr lang="en-US" altLang="zh-CN" sz="2800" b="1" baseline="-25000" dirty="0"/>
              <a:t>1</a:t>
            </a:r>
            <a:r>
              <a:rPr lang="zh-CN" altLang="zh-CN" sz="2800" b="1" dirty="0"/>
              <a:t>：</a:t>
            </a:r>
            <a:r>
              <a:rPr lang="en-US" altLang="zh-CN" sz="2800" b="1" dirty="0"/>
              <a:t>L</a:t>
            </a:r>
            <a:r>
              <a:rPr lang="en-US" altLang="zh-CN" sz="2800" b="1" baseline="-25000" dirty="0"/>
              <a:t>1</a:t>
            </a:r>
            <a:r>
              <a:rPr lang="en-US" altLang="zh-CN" sz="2800" b="1" dirty="0">
                <a:sym typeface="Symbol" panose="05050102010706020507" pitchFamily="18" charset="2"/>
              </a:rPr>
              <a:t></a:t>
            </a:r>
            <a:r>
              <a:rPr lang="en-US" altLang="zh-CN" sz="2800" b="1" dirty="0"/>
              <a:t>L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, </a:t>
            </a:r>
            <a:r>
              <a:rPr lang="en-US" altLang="zh-CN" sz="2800" b="1" dirty="0">
                <a:sym typeface="Symbol" panose="05050102010706020507" pitchFamily="18" charset="2"/>
              </a:rPr>
              <a:t>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(a)=</a:t>
            </a:r>
            <a:r>
              <a:rPr lang="en-US" altLang="zh-CN" sz="2800" b="1" dirty="0">
                <a:sym typeface="Symbol" panose="05050102010706020507" pitchFamily="18" charset="2"/>
              </a:rPr>
              <a:t>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(b)=</a:t>
            </a:r>
            <a:r>
              <a:rPr lang="en-US" altLang="zh-CN" sz="2800" b="1" dirty="0">
                <a:sym typeface="Symbol" panose="05050102010706020507" pitchFamily="18" charset="2"/>
              </a:rPr>
              <a:t>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(c)=a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, </a:t>
            </a:r>
            <a:r>
              <a:rPr lang="en-US" altLang="zh-CN" sz="2800" b="1" dirty="0">
                <a:sym typeface="Symbol" panose="05050102010706020507" pitchFamily="18" charset="2"/>
              </a:rPr>
              <a:t>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(d)=d</a:t>
            </a:r>
            <a:r>
              <a:rPr lang="en-US" altLang="zh-CN" sz="2800" b="1" baseline="-25000" dirty="0"/>
              <a:t>1</a:t>
            </a:r>
            <a:endParaRPr lang="zh-CN" altLang="zh-CN" sz="2800" b="1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b="1" dirty="0"/>
              <a:t>	</a:t>
            </a:r>
            <a:r>
              <a:rPr lang="en-US" altLang="zh-CN" sz="2800" b="1" dirty="0">
                <a:sym typeface="Symbol" panose="05050102010706020507" pitchFamily="18" charset="2"/>
              </a:rPr>
              <a:t></a:t>
            </a:r>
            <a:r>
              <a:rPr lang="en-US" altLang="zh-CN" sz="2800" b="1" baseline="-25000" dirty="0"/>
              <a:t>2</a:t>
            </a:r>
            <a:r>
              <a:rPr lang="zh-CN" altLang="zh-CN" sz="2800" b="1" dirty="0"/>
              <a:t>：</a:t>
            </a:r>
            <a:r>
              <a:rPr lang="en-US" altLang="zh-CN" sz="2800" b="1" dirty="0"/>
              <a:t>L</a:t>
            </a:r>
            <a:r>
              <a:rPr lang="en-US" altLang="zh-CN" sz="2800" b="1" baseline="-25000" dirty="0"/>
              <a:t>1</a:t>
            </a:r>
            <a:r>
              <a:rPr lang="en-US" altLang="zh-CN" sz="2800" b="1" dirty="0">
                <a:sym typeface="Symbol" panose="05050102010706020507" pitchFamily="18" charset="2"/>
              </a:rPr>
              <a:t></a:t>
            </a:r>
            <a:r>
              <a:rPr lang="en-US" altLang="zh-CN" sz="2800" b="1" dirty="0"/>
              <a:t>L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, </a:t>
            </a:r>
            <a:r>
              <a:rPr lang="en-US" altLang="zh-CN" sz="2800" b="1" dirty="0">
                <a:sym typeface="Symbol" panose="05050102010706020507" pitchFamily="18" charset="2"/>
              </a:rPr>
              <a:t>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(b)=</a:t>
            </a:r>
            <a:r>
              <a:rPr lang="en-US" altLang="zh-CN" sz="2800" b="1" dirty="0">
                <a:sym typeface="Symbol" panose="05050102010706020507" pitchFamily="18" charset="2"/>
              </a:rPr>
              <a:t>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(c)=</a:t>
            </a:r>
            <a:r>
              <a:rPr lang="en-US" altLang="zh-CN" sz="2800" b="1" dirty="0">
                <a:sym typeface="Symbol" panose="05050102010706020507" pitchFamily="18" charset="2"/>
              </a:rPr>
              <a:t>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(d)=d</a:t>
            </a:r>
            <a:r>
              <a:rPr lang="en-US" altLang="zh-CN" sz="2800" b="1" baseline="-25000" dirty="0"/>
              <a:t>1</a:t>
            </a:r>
            <a:r>
              <a:rPr lang="en-US" altLang="zh-CN" sz="2800" b="1" dirty="0"/>
              <a:t>, </a:t>
            </a:r>
            <a:r>
              <a:rPr lang="en-US" altLang="zh-CN" sz="2800" b="1" dirty="0">
                <a:sym typeface="Symbol" panose="05050102010706020507" pitchFamily="18" charset="2"/>
              </a:rPr>
              <a:t>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(a)=</a:t>
            </a:r>
            <a:r>
              <a:rPr lang="en-US" altLang="zh-CN" sz="2800" b="1" dirty="0" smtClean="0"/>
              <a:t>a</a:t>
            </a:r>
            <a:r>
              <a:rPr lang="en-US" altLang="zh-CN" sz="2800" b="1" baseline="-25000" dirty="0" smtClean="0"/>
              <a:t>1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600" b="1" baseline="-250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600" b="1" baseline="-25000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600" b="1" baseline="-250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600" b="1" baseline="-25000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600" b="1" baseline="-250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600" b="1" baseline="-25000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b="1" baseline="-25000" dirty="0"/>
          </a:p>
          <a:p>
            <a:pPr marL="0" indent="0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7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解：</a:t>
            </a:r>
            <a:r>
              <a:rPr lang="en-US" altLang="zh-CN" sz="2700" b="1" kern="1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sz="2700" b="1" kern="1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700" b="1" kern="100" dirty="0">
                <a:solidFill>
                  <a:srgbClr val="000000"/>
                </a:solidFill>
                <a:ea typeface="宋体" panose="02010600030101010101" pitchFamily="2" charset="-122"/>
              </a:rPr>
              <a:t>, </a:t>
            </a:r>
            <a:r>
              <a:rPr lang="en-US" altLang="zh-CN" sz="2700" b="1" kern="1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sz="2700" b="1" kern="1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zh-CN" altLang="zh-CN" sz="2700" b="1" kern="100" dirty="0">
                <a:solidFill>
                  <a:srgbClr val="000000"/>
                </a:solidFill>
                <a:ea typeface="宋体" panose="02010600030101010101" pitchFamily="2" charset="-122"/>
              </a:rPr>
              <a:t>都是</a:t>
            </a:r>
            <a:r>
              <a:rPr lang="zh-CN" altLang="zh-CN" sz="2700" b="1" kern="100" dirty="0" smtClean="0">
                <a:solidFill>
                  <a:srgbClr val="000000"/>
                </a:solidFill>
                <a:ea typeface="宋体" panose="02010600030101010101" pitchFamily="2" charset="-122"/>
              </a:rPr>
              <a:t>保序映射，</a:t>
            </a:r>
            <a:r>
              <a:rPr lang="zh-CN" altLang="zh-CN" sz="2700" b="1" kern="100" dirty="0">
                <a:solidFill>
                  <a:srgbClr val="000000"/>
                </a:solidFill>
                <a:ea typeface="宋体" panose="02010600030101010101" pitchFamily="2" charset="-122"/>
              </a:rPr>
              <a:t>不是同态</a:t>
            </a:r>
            <a:r>
              <a:rPr lang="zh-CN" altLang="zh-CN" sz="2700" b="1" kern="100" dirty="0" smtClean="0">
                <a:solidFill>
                  <a:srgbClr val="000000"/>
                </a:solidFill>
                <a:ea typeface="宋体" panose="02010600030101010101" pitchFamily="2" charset="-122"/>
              </a:rPr>
              <a:t>映射</a:t>
            </a:r>
            <a:r>
              <a:rPr lang="zh-CN" altLang="en-US" sz="2700" b="1" kern="100" dirty="0" smtClean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zh-CN" altLang="zh-CN" sz="2700" b="1" kern="100" dirty="0" smtClean="0">
                <a:solidFill>
                  <a:srgbClr val="000000"/>
                </a:solidFill>
                <a:ea typeface="宋体" panose="02010600030101010101" pitchFamily="2" charset="-122"/>
              </a:rPr>
              <a:t>反例</a:t>
            </a:r>
            <a:r>
              <a:rPr lang="zh-CN" altLang="zh-CN" sz="2700" b="1" kern="100" dirty="0">
                <a:solidFill>
                  <a:srgbClr val="000000"/>
                </a:solidFill>
                <a:ea typeface="宋体" panose="02010600030101010101" pitchFamily="2" charset="-122"/>
              </a:rPr>
              <a:t>：</a:t>
            </a:r>
            <a:endParaRPr lang="zh-CN" altLang="zh-CN" sz="2700" b="1" kern="100" dirty="0" smtClean="0">
              <a:ea typeface="宋体" panose="02010600030101010101" pitchFamily="2" charset="-122"/>
            </a:endParaRPr>
          </a:p>
          <a:p>
            <a:pPr marL="0" indent="0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700" b="1" kern="1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sz="2700" b="1" kern="1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700" b="1" kern="100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700" b="1" kern="100" dirty="0" err="1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700" b="1" kern="100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</a:t>
            </a:r>
            <a:r>
              <a:rPr lang="en-US" altLang="zh-CN" sz="2700" b="1" kern="100" dirty="0" err="1">
                <a:solidFill>
                  <a:srgbClr val="000000"/>
                </a:solidFill>
                <a:ea typeface="宋体" panose="02010600030101010101" pitchFamily="2" charset="-122"/>
              </a:rPr>
              <a:t>c</a:t>
            </a:r>
            <a:r>
              <a:rPr lang="en-US" altLang="zh-CN" sz="2700" b="1" kern="100" dirty="0">
                <a:solidFill>
                  <a:srgbClr val="000000"/>
                </a:solidFill>
                <a:ea typeface="宋体" panose="02010600030101010101" pitchFamily="2" charset="-122"/>
              </a:rPr>
              <a:t>)=</a:t>
            </a:r>
            <a:r>
              <a:rPr lang="en-US" altLang="zh-CN" sz="2700" b="1" kern="1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sz="2700" b="1" kern="1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700" b="1" kern="100" dirty="0">
                <a:solidFill>
                  <a:srgbClr val="000000"/>
                </a:solidFill>
                <a:ea typeface="宋体" panose="02010600030101010101" pitchFamily="2" charset="-122"/>
              </a:rPr>
              <a:t>(d)=d</a:t>
            </a:r>
            <a:r>
              <a:rPr lang="en-US" altLang="zh-CN" sz="2700" b="1" kern="1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zh-CN" altLang="zh-CN" sz="2700" b="1" kern="100" dirty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700" b="1" kern="1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sz="2700" b="1" kern="1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700" b="1" kern="100" dirty="0">
                <a:solidFill>
                  <a:srgbClr val="000000"/>
                </a:solidFill>
                <a:ea typeface="宋体" panose="02010600030101010101" pitchFamily="2" charset="-122"/>
              </a:rPr>
              <a:t>(b)</a:t>
            </a:r>
            <a:r>
              <a:rPr lang="en-US" altLang="zh-CN" sz="2700" b="1" kern="1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</a:t>
            </a:r>
            <a:r>
              <a:rPr lang="en-US" altLang="zh-CN" sz="2700" b="1" kern="1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700" b="1" kern="100" dirty="0">
                <a:solidFill>
                  <a:srgbClr val="000000"/>
                </a:solidFill>
                <a:ea typeface="宋体" panose="02010600030101010101" pitchFamily="2" charset="-122"/>
              </a:rPr>
              <a:t>(c)=a</a:t>
            </a:r>
            <a:r>
              <a:rPr lang="en-US" altLang="zh-CN" sz="2700" b="1" kern="1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700" b="1" kern="1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</a:t>
            </a:r>
            <a:r>
              <a:rPr lang="en-US" altLang="zh-CN" sz="2700" b="1" kern="100" dirty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700" b="1" kern="1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700" b="1" kern="100" dirty="0">
                <a:solidFill>
                  <a:srgbClr val="000000"/>
                </a:solidFill>
                <a:ea typeface="宋体" panose="02010600030101010101" pitchFamily="2" charset="-122"/>
              </a:rPr>
              <a:t>=a</a:t>
            </a:r>
            <a:r>
              <a:rPr lang="en-US" altLang="zh-CN" sz="2700" b="1" kern="1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zh-CN" altLang="zh-CN" sz="2700" b="1" kern="100" dirty="0">
                <a:solidFill>
                  <a:srgbClr val="000000"/>
                </a:solidFill>
                <a:ea typeface="宋体" panose="02010600030101010101" pitchFamily="2" charset="-122"/>
              </a:rPr>
              <a:t>；</a:t>
            </a:r>
            <a:endParaRPr lang="zh-CN" altLang="zh-CN" sz="2700" b="1" kern="100" dirty="0" smtClean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700" b="1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700" b="1" kern="1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700" b="1" kern="100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700" b="1" kern="100" dirty="0" err="1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700" b="1" kern="10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700" b="1" kern="100" dirty="0" err="1">
                <a:solidFill>
                  <a:srgbClr val="000000"/>
                </a:solidFill>
                <a:ea typeface="宋体" panose="02010600030101010101" pitchFamily="2" charset="-122"/>
              </a:rPr>
              <a:t>c</a:t>
            </a:r>
            <a:r>
              <a:rPr lang="en-US" altLang="zh-CN" sz="2700" b="1" kern="100" dirty="0">
                <a:solidFill>
                  <a:srgbClr val="000000"/>
                </a:solidFill>
                <a:ea typeface="宋体" panose="02010600030101010101" pitchFamily="2" charset="-122"/>
              </a:rPr>
              <a:t>)=</a:t>
            </a:r>
            <a:r>
              <a:rPr lang="en-US" altLang="zh-CN" sz="2700" b="1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700" b="1" kern="1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700" b="1" kern="100" dirty="0">
                <a:solidFill>
                  <a:srgbClr val="000000"/>
                </a:solidFill>
                <a:ea typeface="宋体" panose="02010600030101010101" pitchFamily="2" charset="-122"/>
              </a:rPr>
              <a:t>(a)=a</a:t>
            </a:r>
            <a:r>
              <a:rPr lang="en-US" altLang="zh-CN" sz="2700" b="1" kern="1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zh-CN" altLang="zh-CN" sz="2700" b="1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700" b="1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700" b="1" kern="1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700" b="1" kern="100" dirty="0">
                <a:solidFill>
                  <a:srgbClr val="000000"/>
                </a:solidFill>
                <a:ea typeface="宋体" panose="02010600030101010101" pitchFamily="2" charset="-122"/>
              </a:rPr>
              <a:t>(b)</a:t>
            </a:r>
            <a:r>
              <a:rPr lang="en-US" altLang="zh-CN" sz="2700" b="1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</a:t>
            </a:r>
            <a:r>
              <a:rPr lang="en-US" altLang="zh-CN" sz="2700" b="1" kern="1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700" b="1" kern="100" dirty="0">
                <a:solidFill>
                  <a:srgbClr val="000000"/>
                </a:solidFill>
                <a:ea typeface="宋体" panose="02010600030101010101" pitchFamily="2" charset="-122"/>
              </a:rPr>
              <a:t>(c)=d</a:t>
            </a:r>
            <a:r>
              <a:rPr lang="en-US" altLang="zh-CN" sz="2700" b="1" kern="100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700" b="1" kern="1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sz="2700" b="1" kern="100" dirty="0" smtClean="0">
                <a:solidFill>
                  <a:srgbClr val="000000"/>
                </a:solidFill>
                <a:ea typeface="宋体" panose="02010600030101010101" pitchFamily="2" charset="-122"/>
              </a:rPr>
              <a:t>d</a:t>
            </a:r>
            <a:r>
              <a:rPr lang="en-US" altLang="zh-CN" sz="2700" b="1" kern="100" baseline="-25000" dirty="0" smtClean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700" b="1" kern="100" dirty="0" smtClean="0">
                <a:solidFill>
                  <a:srgbClr val="000000"/>
                </a:solidFill>
                <a:ea typeface="宋体" panose="02010600030101010101" pitchFamily="2" charset="-122"/>
              </a:rPr>
              <a:t>=d</a:t>
            </a:r>
            <a:r>
              <a:rPr lang="en-US" altLang="zh-CN" sz="2700" b="1" kern="100" baseline="-25000" dirty="0" smtClean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endParaRPr lang="en-US" altLang="zh-CN" sz="2700" b="1" dirty="0" smtClean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sz="2700" b="1" dirty="0">
              <a:ea typeface="宋体" panose="02010600030101010101" pitchFamily="2" charset="-122"/>
            </a:endParaRPr>
          </a:p>
        </p:txBody>
      </p:sp>
      <p:pic>
        <p:nvPicPr>
          <p:cNvPr id="159747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75" y="2636838"/>
            <a:ext cx="3246438" cy="194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923732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765175"/>
            <a:ext cx="8301037" cy="5283200"/>
          </a:xfrm>
        </p:spPr>
        <p:txBody>
          <a:bodyPr/>
          <a:lstStyle/>
          <a:p>
            <a:pPr marL="0" indent="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800" b="1" kern="100" dirty="0" smtClean="0">
                <a:solidFill>
                  <a:srgbClr val="0000FF"/>
                </a:solidFill>
                <a:ea typeface="宋体" panose="02010600030101010101" pitchFamily="2" charset="-122"/>
              </a:rPr>
              <a:t>练习：</a:t>
            </a:r>
            <a:r>
              <a:rPr lang="zh-CN" altLang="zh-CN" sz="2800" b="1" kern="100" dirty="0" smtClean="0">
                <a:ea typeface="宋体" panose="02010600030101010101" pitchFamily="2" charset="-122"/>
              </a:rPr>
              <a:t>设</a:t>
            </a:r>
            <a:r>
              <a:rPr lang="en-US" altLang="zh-CN" sz="2800" b="1" kern="100" dirty="0" smtClean="0">
                <a:ea typeface="宋体" panose="02010600030101010101" pitchFamily="2" charset="-122"/>
              </a:rPr>
              <a:t>D</a:t>
            </a:r>
            <a:r>
              <a:rPr lang="zh-CN" altLang="zh-CN" sz="2800" b="1" kern="100" dirty="0" smtClean="0">
                <a:ea typeface="宋体" panose="02010600030101010101" pitchFamily="2" charset="-122"/>
              </a:rPr>
              <a:t>是集合</a:t>
            </a:r>
            <a:r>
              <a:rPr lang="en-US" altLang="zh-CN" sz="2800" b="1" kern="100" dirty="0" smtClean="0">
                <a:ea typeface="宋体" panose="02010600030101010101" pitchFamily="2" charset="-122"/>
              </a:rPr>
              <a:t>S</a:t>
            </a:r>
            <a:r>
              <a:rPr lang="zh-CN" altLang="zh-CN" sz="2800" b="1" kern="100" dirty="0" smtClean="0">
                <a:ea typeface="宋体" panose="02010600030101010101" pitchFamily="2" charset="-122"/>
              </a:rPr>
              <a:t>上的整除关系。以下部分序集是否为格：</a:t>
            </a:r>
          </a:p>
          <a:p>
            <a:pPr algn="just">
              <a:spcAft>
                <a:spcPts val="0"/>
              </a:spcAft>
              <a:buClr>
                <a:srgbClr val="0000FF"/>
              </a:buClr>
              <a:buFont typeface="+mj-lt"/>
              <a:buAutoNum type="arabicParenBoth"/>
              <a:tabLst>
                <a:tab pos="752475" algn="l"/>
              </a:tabLst>
              <a:defRPr/>
            </a:pPr>
            <a:r>
              <a:rPr lang="en-US" altLang="zh-CN" sz="2800" b="1" kern="100" dirty="0" smtClean="0">
                <a:ea typeface="宋体" panose="02010600030101010101" pitchFamily="2" charset="-122"/>
              </a:rPr>
              <a:t>S = {1</a:t>
            </a:r>
            <a:r>
              <a:rPr lang="zh-CN" altLang="zh-CN" sz="2800" b="1" kern="100" dirty="0" smtClean="0">
                <a:ea typeface="宋体" panose="02010600030101010101" pitchFamily="2" charset="-122"/>
              </a:rPr>
              <a:t>，</a:t>
            </a:r>
            <a:r>
              <a:rPr lang="en-US" altLang="zh-CN" sz="2800" b="1" kern="100" dirty="0" smtClean="0">
                <a:ea typeface="宋体" panose="02010600030101010101" pitchFamily="2" charset="-122"/>
              </a:rPr>
              <a:t>2</a:t>
            </a:r>
            <a:r>
              <a:rPr lang="zh-CN" altLang="zh-CN" sz="2800" b="1" kern="100" dirty="0" smtClean="0">
                <a:ea typeface="宋体" panose="02010600030101010101" pitchFamily="2" charset="-122"/>
              </a:rPr>
              <a:t>，</a:t>
            </a:r>
            <a:r>
              <a:rPr lang="en-US" altLang="zh-CN" sz="2800" b="1" kern="100" dirty="0" smtClean="0">
                <a:ea typeface="宋体" panose="02010600030101010101" pitchFamily="2" charset="-122"/>
              </a:rPr>
              <a:t>3</a:t>
            </a:r>
            <a:r>
              <a:rPr lang="zh-CN" altLang="zh-CN" sz="2800" b="1" kern="100" dirty="0" smtClean="0">
                <a:ea typeface="宋体" panose="02010600030101010101" pitchFamily="2" charset="-122"/>
              </a:rPr>
              <a:t>，</a:t>
            </a:r>
            <a:r>
              <a:rPr lang="en-US" altLang="zh-CN" sz="2800" b="1" kern="100" dirty="0" smtClean="0">
                <a:ea typeface="宋体" panose="02010600030101010101" pitchFamily="2" charset="-122"/>
              </a:rPr>
              <a:t>4</a:t>
            </a:r>
            <a:r>
              <a:rPr lang="zh-CN" altLang="zh-CN" sz="2800" b="1" kern="100" dirty="0" smtClean="0">
                <a:ea typeface="宋体" panose="02010600030101010101" pitchFamily="2" charset="-122"/>
              </a:rPr>
              <a:t>，</a:t>
            </a:r>
            <a:r>
              <a:rPr lang="en-US" altLang="zh-CN" sz="2800" b="1" kern="100" dirty="0" smtClean="0">
                <a:ea typeface="宋体" panose="02010600030101010101" pitchFamily="2" charset="-122"/>
              </a:rPr>
              <a:t>6</a:t>
            </a:r>
            <a:r>
              <a:rPr lang="zh-CN" altLang="zh-CN" sz="2800" b="1" kern="100" dirty="0" smtClean="0">
                <a:ea typeface="宋体" panose="02010600030101010101" pitchFamily="2" charset="-122"/>
              </a:rPr>
              <a:t>，</a:t>
            </a:r>
            <a:r>
              <a:rPr lang="en-US" altLang="zh-CN" sz="2800" b="1" kern="100" dirty="0" smtClean="0">
                <a:ea typeface="宋体" panose="02010600030101010101" pitchFamily="2" charset="-122"/>
              </a:rPr>
              <a:t>12}</a:t>
            </a:r>
            <a:endParaRPr lang="zh-CN" altLang="zh-CN" sz="2800" b="1" kern="100" dirty="0" smtClean="0">
              <a:ea typeface="宋体" panose="02010600030101010101" pitchFamily="2" charset="-122"/>
            </a:endParaRPr>
          </a:p>
          <a:p>
            <a:pPr algn="just">
              <a:spcAft>
                <a:spcPts val="0"/>
              </a:spcAft>
              <a:buClr>
                <a:srgbClr val="0000FF"/>
              </a:buClr>
              <a:buFont typeface="+mj-lt"/>
              <a:buAutoNum type="arabicParenBoth"/>
              <a:tabLst>
                <a:tab pos="752475" algn="l"/>
              </a:tabLst>
              <a:defRPr/>
            </a:pPr>
            <a:r>
              <a:rPr lang="en-US" altLang="zh-CN" sz="2800" b="1" kern="100" dirty="0" smtClean="0">
                <a:ea typeface="宋体" panose="02010600030101010101" pitchFamily="2" charset="-122"/>
              </a:rPr>
              <a:t>S = {1</a:t>
            </a:r>
            <a:r>
              <a:rPr lang="zh-CN" altLang="zh-CN" sz="2800" b="1" kern="100" dirty="0" smtClean="0">
                <a:ea typeface="宋体" panose="02010600030101010101" pitchFamily="2" charset="-122"/>
              </a:rPr>
              <a:t>，</a:t>
            </a:r>
            <a:r>
              <a:rPr lang="en-US" altLang="zh-CN" sz="2800" b="1" kern="100" dirty="0" smtClean="0">
                <a:ea typeface="宋体" panose="02010600030101010101" pitchFamily="2" charset="-122"/>
              </a:rPr>
              <a:t>2</a:t>
            </a:r>
            <a:r>
              <a:rPr lang="zh-CN" altLang="zh-CN" sz="2800" b="1" kern="100" dirty="0" smtClean="0">
                <a:ea typeface="宋体" panose="02010600030101010101" pitchFamily="2" charset="-122"/>
              </a:rPr>
              <a:t>，</a:t>
            </a:r>
            <a:r>
              <a:rPr lang="en-US" altLang="zh-CN" sz="2800" b="1" kern="100" dirty="0" smtClean="0">
                <a:ea typeface="宋体" panose="02010600030101010101" pitchFamily="2" charset="-122"/>
              </a:rPr>
              <a:t>3</a:t>
            </a:r>
            <a:r>
              <a:rPr lang="zh-CN" altLang="zh-CN" sz="2800" b="1" kern="100" dirty="0" smtClean="0">
                <a:ea typeface="宋体" panose="02010600030101010101" pitchFamily="2" charset="-122"/>
              </a:rPr>
              <a:t>，</a:t>
            </a:r>
            <a:r>
              <a:rPr lang="en-US" altLang="zh-CN" sz="2800" b="1" kern="100" dirty="0" smtClean="0">
                <a:ea typeface="宋体" panose="02010600030101010101" pitchFamily="2" charset="-122"/>
              </a:rPr>
              <a:t>4</a:t>
            </a:r>
            <a:r>
              <a:rPr lang="zh-CN" altLang="zh-CN" sz="2800" b="1" kern="100" dirty="0" smtClean="0">
                <a:ea typeface="宋体" panose="02010600030101010101" pitchFamily="2" charset="-122"/>
              </a:rPr>
              <a:t>，</a:t>
            </a:r>
            <a:r>
              <a:rPr lang="en-US" altLang="zh-CN" sz="2800" b="1" kern="100" dirty="0" smtClean="0">
                <a:ea typeface="宋体" panose="02010600030101010101" pitchFamily="2" charset="-122"/>
              </a:rPr>
              <a:t>6</a:t>
            </a:r>
            <a:r>
              <a:rPr lang="zh-CN" altLang="zh-CN" sz="2800" b="1" kern="100" dirty="0" smtClean="0">
                <a:ea typeface="宋体" panose="02010600030101010101" pitchFamily="2" charset="-122"/>
              </a:rPr>
              <a:t>，</a:t>
            </a:r>
            <a:r>
              <a:rPr lang="en-US" altLang="zh-CN" sz="2800" b="1" kern="100" dirty="0" smtClean="0">
                <a:ea typeface="宋体" panose="02010600030101010101" pitchFamily="2" charset="-122"/>
              </a:rPr>
              <a:t>8</a:t>
            </a:r>
            <a:r>
              <a:rPr lang="zh-CN" altLang="zh-CN" sz="2800" b="1" kern="100" dirty="0" smtClean="0">
                <a:ea typeface="宋体" panose="02010600030101010101" pitchFamily="2" charset="-122"/>
              </a:rPr>
              <a:t>，</a:t>
            </a:r>
            <a:r>
              <a:rPr lang="en-US" altLang="zh-CN" sz="2800" b="1" kern="100" dirty="0" smtClean="0">
                <a:ea typeface="宋体" panose="02010600030101010101" pitchFamily="2" charset="-122"/>
              </a:rPr>
              <a:t>10</a:t>
            </a:r>
            <a:r>
              <a:rPr lang="zh-CN" altLang="zh-CN" sz="2800" b="1" kern="100" dirty="0" smtClean="0">
                <a:ea typeface="宋体" panose="02010600030101010101" pitchFamily="2" charset="-122"/>
              </a:rPr>
              <a:t>，</a:t>
            </a:r>
            <a:r>
              <a:rPr lang="en-US" altLang="zh-CN" sz="2800" b="1" kern="100" dirty="0" smtClean="0">
                <a:ea typeface="宋体" panose="02010600030101010101" pitchFamily="2" charset="-122"/>
              </a:rPr>
              <a:t>12}</a:t>
            </a:r>
            <a:endParaRPr lang="zh-CN" altLang="zh-CN" sz="2800" b="1" kern="100" dirty="0" smtClean="0">
              <a:ea typeface="宋体" panose="02010600030101010101" pitchFamily="2" charset="-122"/>
            </a:endParaRPr>
          </a:p>
          <a:p>
            <a:pPr algn="just">
              <a:spcAft>
                <a:spcPts val="0"/>
              </a:spcAft>
              <a:buClr>
                <a:srgbClr val="0000FF"/>
              </a:buClr>
              <a:buFont typeface="+mj-lt"/>
              <a:buAutoNum type="arabicParenBoth"/>
              <a:tabLst>
                <a:tab pos="752475" algn="l"/>
              </a:tabLst>
              <a:defRPr/>
            </a:pPr>
            <a:r>
              <a:rPr lang="en-US" altLang="zh-CN" sz="2800" b="1" kern="100" dirty="0" smtClean="0">
                <a:ea typeface="宋体" panose="02010600030101010101" pitchFamily="2" charset="-122"/>
              </a:rPr>
              <a:t>S = {1</a:t>
            </a:r>
            <a:r>
              <a:rPr lang="zh-CN" altLang="zh-CN" sz="2800" b="1" kern="100" dirty="0" smtClean="0">
                <a:ea typeface="宋体" panose="02010600030101010101" pitchFamily="2" charset="-122"/>
              </a:rPr>
              <a:t>，</a:t>
            </a:r>
            <a:r>
              <a:rPr lang="en-US" altLang="zh-CN" sz="2800" b="1" kern="100" dirty="0" smtClean="0">
                <a:ea typeface="宋体" panose="02010600030101010101" pitchFamily="2" charset="-122"/>
              </a:rPr>
              <a:t>2</a:t>
            </a:r>
            <a:r>
              <a:rPr lang="zh-CN" altLang="zh-CN" sz="2800" b="1" kern="100" dirty="0" smtClean="0">
                <a:ea typeface="宋体" panose="02010600030101010101" pitchFamily="2" charset="-122"/>
              </a:rPr>
              <a:t>，</a:t>
            </a:r>
            <a:r>
              <a:rPr lang="en-US" altLang="zh-CN" sz="2800" b="1" kern="100" dirty="0" smtClean="0">
                <a:ea typeface="宋体" panose="02010600030101010101" pitchFamily="2" charset="-122"/>
              </a:rPr>
              <a:t>3</a:t>
            </a:r>
            <a:r>
              <a:rPr lang="zh-CN" altLang="zh-CN" sz="2800" b="1" kern="100" dirty="0" smtClean="0">
                <a:ea typeface="宋体" panose="02010600030101010101" pitchFamily="2" charset="-122"/>
              </a:rPr>
              <a:t>，</a:t>
            </a:r>
            <a:r>
              <a:rPr lang="en-US" altLang="zh-CN" sz="2800" b="1" kern="100" dirty="0" smtClean="0">
                <a:ea typeface="宋体" panose="02010600030101010101" pitchFamily="2" charset="-122"/>
              </a:rPr>
              <a:t>4</a:t>
            </a:r>
            <a:r>
              <a:rPr lang="zh-CN" altLang="zh-CN" sz="2800" b="1" kern="100" dirty="0" smtClean="0">
                <a:ea typeface="宋体" panose="02010600030101010101" pitchFamily="2" charset="-122"/>
              </a:rPr>
              <a:t>，</a:t>
            </a:r>
            <a:r>
              <a:rPr lang="en-US" altLang="zh-CN" sz="2800" b="1" kern="100" dirty="0" smtClean="0">
                <a:ea typeface="宋体" panose="02010600030101010101" pitchFamily="2" charset="-122"/>
              </a:rPr>
              <a:t>5</a:t>
            </a:r>
            <a:r>
              <a:rPr lang="zh-CN" altLang="zh-CN" sz="2800" b="1" kern="100" dirty="0" smtClean="0">
                <a:ea typeface="宋体" panose="02010600030101010101" pitchFamily="2" charset="-122"/>
              </a:rPr>
              <a:t>，</a:t>
            </a:r>
            <a:r>
              <a:rPr lang="en-US" altLang="zh-CN" sz="2800" b="1" kern="100" dirty="0" smtClean="0">
                <a:ea typeface="宋体" panose="02010600030101010101" pitchFamily="2" charset="-122"/>
              </a:rPr>
              <a:t>6</a:t>
            </a:r>
            <a:r>
              <a:rPr lang="zh-CN" altLang="zh-CN" sz="2800" b="1" kern="100" dirty="0" smtClean="0">
                <a:ea typeface="宋体" panose="02010600030101010101" pitchFamily="2" charset="-122"/>
              </a:rPr>
              <a:t>，</a:t>
            </a:r>
            <a:r>
              <a:rPr lang="en-US" altLang="zh-CN" sz="2800" b="1" kern="100" dirty="0" smtClean="0">
                <a:ea typeface="宋体" panose="02010600030101010101" pitchFamily="2" charset="-122"/>
              </a:rPr>
              <a:t>7</a:t>
            </a:r>
            <a:r>
              <a:rPr lang="zh-CN" altLang="zh-CN" sz="2800" b="1" kern="100" dirty="0" smtClean="0">
                <a:ea typeface="宋体" panose="02010600030101010101" pitchFamily="2" charset="-122"/>
              </a:rPr>
              <a:t>，</a:t>
            </a:r>
            <a:r>
              <a:rPr lang="en-US" altLang="zh-CN" sz="2800" b="1" kern="100" dirty="0" smtClean="0">
                <a:ea typeface="宋体" panose="02010600030101010101" pitchFamily="2" charset="-122"/>
              </a:rPr>
              <a:t>8</a:t>
            </a:r>
            <a:r>
              <a:rPr lang="zh-CN" altLang="zh-CN" sz="2800" b="1" kern="100" dirty="0" smtClean="0">
                <a:ea typeface="宋体" panose="02010600030101010101" pitchFamily="2" charset="-122"/>
              </a:rPr>
              <a:t>，</a:t>
            </a:r>
            <a:r>
              <a:rPr lang="en-US" altLang="zh-CN" sz="2800" b="1" kern="100" dirty="0" smtClean="0">
                <a:ea typeface="宋体" panose="02010600030101010101" pitchFamily="2" charset="-122"/>
              </a:rPr>
              <a:t>9</a:t>
            </a:r>
            <a:r>
              <a:rPr lang="zh-CN" altLang="zh-CN" sz="2800" b="1" kern="100" dirty="0" smtClean="0">
                <a:ea typeface="宋体" panose="02010600030101010101" pitchFamily="2" charset="-122"/>
              </a:rPr>
              <a:t>，</a:t>
            </a:r>
            <a:r>
              <a:rPr lang="en-US" altLang="zh-CN" sz="2800" b="1" kern="100" dirty="0" smtClean="0">
                <a:ea typeface="宋体" panose="02010600030101010101" pitchFamily="2" charset="-122"/>
              </a:rPr>
              <a:t>10}</a:t>
            </a:r>
            <a:endParaRPr lang="zh-CN" altLang="zh-CN" sz="2800" b="1" kern="100" dirty="0" smtClean="0">
              <a:ea typeface="宋体" panose="02010600030101010101" pitchFamily="2" charset="-122"/>
            </a:endParaRPr>
          </a:p>
          <a:p>
            <a:pPr algn="just">
              <a:spcAft>
                <a:spcPts val="0"/>
              </a:spcAft>
              <a:buClr>
                <a:srgbClr val="0000FF"/>
              </a:buClr>
              <a:buFont typeface="+mj-lt"/>
              <a:buAutoNum type="arabicParenBoth"/>
              <a:tabLst>
                <a:tab pos="752475" algn="l"/>
              </a:tabLst>
              <a:defRPr/>
            </a:pPr>
            <a:r>
              <a:rPr lang="en-US" altLang="zh-CN" sz="2800" b="1" kern="100" dirty="0" smtClean="0">
                <a:ea typeface="宋体" panose="02010600030101010101" pitchFamily="2" charset="-122"/>
              </a:rPr>
              <a:t>S = {2</a:t>
            </a:r>
            <a:r>
              <a:rPr lang="zh-CN" altLang="zh-CN" sz="2800" b="1" kern="100" dirty="0" smtClean="0">
                <a:ea typeface="宋体" panose="02010600030101010101" pitchFamily="2" charset="-122"/>
              </a:rPr>
              <a:t>，</a:t>
            </a:r>
            <a:r>
              <a:rPr lang="en-US" altLang="zh-CN" sz="2800" b="1" kern="100" dirty="0" smtClean="0">
                <a:ea typeface="宋体" panose="02010600030101010101" pitchFamily="2" charset="-122"/>
              </a:rPr>
              <a:t>3</a:t>
            </a:r>
            <a:r>
              <a:rPr lang="zh-CN" altLang="zh-CN" sz="2800" b="1" kern="100" dirty="0" smtClean="0">
                <a:ea typeface="宋体" panose="02010600030101010101" pitchFamily="2" charset="-122"/>
              </a:rPr>
              <a:t>，</a:t>
            </a:r>
            <a:r>
              <a:rPr lang="en-US" altLang="zh-CN" sz="2800" b="1" kern="100" dirty="0" smtClean="0">
                <a:ea typeface="宋体" panose="02010600030101010101" pitchFamily="2" charset="-122"/>
              </a:rPr>
              <a:t>6</a:t>
            </a:r>
            <a:r>
              <a:rPr lang="zh-CN" altLang="zh-CN" sz="2800" b="1" kern="100" dirty="0" smtClean="0">
                <a:ea typeface="宋体" panose="02010600030101010101" pitchFamily="2" charset="-122"/>
              </a:rPr>
              <a:t>，</a:t>
            </a:r>
            <a:r>
              <a:rPr lang="en-US" altLang="zh-CN" sz="2800" b="1" kern="100" dirty="0" smtClean="0">
                <a:ea typeface="宋体" panose="02010600030101010101" pitchFamily="2" charset="-122"/>
              </a:rPr>
              <a:t>12</a:t>
            </a:r>
            <a:r>
              <a:rPr lang="zh-CN" altLang="zh-CN" sz="2800" b="1" kern="100" dirty="0" smtClean="0">
                <a:ea typeface="宋体" panose="02010600030101010101" pitchFamily="2" charset="-122"/>
              </a:rPr>
              <a:t>，</a:t>
            </a:r>
            <a:r>
              <a:rPr lang="en-US" altLang="zh-CN" sz="2800" b="1" kern="100" dirty="0" smtClean="0">
                <a:ea typeface="宋体" panose="02010600030101010101" pitchFamily="2" charset="-122"/>
              </a:rPr>
              <a:t>24</a:t>
            </a:r>
            <a:r>
              <a:rPr lang="zh-CN" altLang="zh-CN" sz="2800" b="1" kern="100" dirty="0" smtClean="0">
                <a:ea typeface="宋体" panose="02010600030101010101" pitchFamily="2" charset="-122"/>
              </a:rPr>
              <a:t>，</a:t>
            </a:r>
            <a:r>
              <a:rPr lang="en-US" altLang="zh-CN" sz="2800" b="1" kern="100" dirty="0" smtClean="0">
                <a:ea typeface="宋体" panose="02010600030101010101" pitchFamily="2" charset="-122"/>
              </a:rPr>
              <a:t>36</a:t>
            </a:r>
            <a:r>
              <a:rPr lang="en-US" altLang="zh-CN" sz="2800" b="1" kern="100" smtClean="0">
                <a:ea typeface="宋体" panose="02010600030101010101" pitchFamily="2" charset="-122"/>
              </a:rPr>
              <a:t>} </a:t>
            </a:r>
          </a:p>
          <a:p>
            <a:pPr marL="0" indent="0" algn="just">
              <a:spcAft>
                <a:spcPts val="0"/>
              </a:spcAft>
              <a:buClr>
                <a:srgbClr val="0000FF"/>
              </a:buClr>
              <a:buFont typeface="Wingdings" panose="05000000000000000000" pitchFamily="2" charset="2"/>
              <a:buNone/>
              <a:tabLst>
                <a:tab pos="752475" algn="l"/>
              </a:tabLst>
              <a:defRPr/>
            </a:pPr>
            <a:endParaRPr lang="zh-CN" altLang="zh-CN" sz="2800" b="1" kern="100" dirty="0" smtClean="0">
              <a:ea typeface="宋体" panose="02010600030101010101" pitchFamily="2" charset="-122"/>
            </a:endParaRPr>
          </a:p>
          <a:p>
            <a:pPr marL="0" indent="0">
              <a:buClr>
                <a:srgbClr val="0000FF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800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解</a:t>
            </a:r>
            <a:r>
              <a:rPr lang="en-US" altLang="zh-CN" sz="2800" b="1" dirty="0" smtClean="0">
                <a:solidFill>
                  <a:srgbClr val="0000FF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:</a:t>
            </a:r>
            <a:r>
              <a:rPr lang="en-US" altLang="zh-CN" sz="2800" b="1" dirty="0" smtClean="0">
                <a:ea typeface="宋体" panose="02010600030101010101" pitchFamily="2" charset="-122"/>
                <a:sym typeface="Wingdings" panose="05000000000000000000" pitchFamily="2" charset="2"/>
              </a:rPr>
              <a:t> (1)</a:t>
            </a:r>
            <a:r>
              <a:rPr lang="zh-CN" altLang="en-US" sz="2800" b="1" dirty="0" smtClean="0">
                <a:ea typeface="宋体" panose="02010600030101010101" pitchFamily="2" charset="-122"/>
                <a:sym typeface="Wingdings" panose="05000000000000000000" pitchFamily="2" charset="2"/>
              </a:rPr>
              <a:t>是格</a:t>
            </a:r>
            <a:endParaRPr lang="zh-CN" altLang="en-US" sz="2800" b="1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2740527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8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0_B075">
  <a:themeElements>
    <a:clrScheme name="B075 9">
      <a:dk1>
        <a:srgbClr val="000000"/>
      </a:dk1>
      <a:lt1>
        <a:srgbClr val="FFFFFF"/>
      </a:lt1>
      <a:dk2>
        <a:srgbClr val="800000"/>
      </a:dk2>
      <a:lt2>
        <a:srgbClr val="666633"/>
      </a:lt2>
      <a:accent1>
        <a:srgbClr val="339933"/>
      </a:accent1>
      <a:accent2>
        <a:srgbClr val="800000"/>
      </a:accent2>
      <a:accent3>
        <a:srgbClr val="FFFFFF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B075">
      <a:majorFont>
        <a:latin typeface="华文中宋"/>
        <a:ea typeface="华文中宋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8">
        <a:dk1>
          <a:srgbClr val="000000"/>
        </a:dk1>
        <a:lt1>
          <a:srgbClr val="FFFFFF"/>
        </a:lt1>
        <a:dk2>
          <a:srgbClr val="0000CC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FF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9">
        <a:dk1>
          <a:srgbClr val="000000"/>
        </a:dk1>
        <a:lt1>
          <a:srgbClr val="FFFFFF"/>
        </a:lt1>
        <a:dk2>
          <a:srgbClr val="800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FF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6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7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5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9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6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7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11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2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3_B075">
  <a:themeElements>
    <a:clrScheme name="B075 9">
      <a:dk1>
        <a:srgbClr val="000000"/>
      </a:dk1>
      <a:lt1>
        <a:srgbClr val="FFFFFF"/>
      </a:lt1>
      <a:dk2>
        <a:srgbClr val="800000"/>
      </a:dk2>
      <a:lt2>
        <a:srgbClr val="666633"/>
      </a:lt2>
      <a:accent1>
        <a:srgbClr val="339933"/>
      </a:accent1>
      <a:accent2>
        <a:srgbClr val="800000"/>
      </a:accent2>
      <a:accent3>
        <a:srgbClr val="FFFFFF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B075">
      <a:majorFont>
        <a:latin typeface="华文中宋"/>
        <a:ea typeface="华文中宋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8">
        <a:dk1>
          <a:srgbClr val="000000"/>
        </a:dk1>
        <a:lt1>
          <a:srgbClr val="FFFFFF"/>
        </a:lt1>
        <a:dk2>
          <a:srgbClr val="0000CC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FF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9">
        <a:dk1>
          <a:srgbClr val="000000"/>
        </a:dk1>
        <a:lt1>
          <a:srgbClr val="FFFFFF"/>
        </a:lt1>
        <a:dk2>
          <a:srgbClr val="800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FF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12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19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anose="0201060903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anose="02010609030101010101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C:\coolpt\TempSlide\B075.POT</Template>
  <TotalTime>20020</TotalTime>
  <Words>8112</Words>
  <Application>Microsoft Office PowerPoint</Application>
  <PresentationFormat>全屏显示(4:3)</PresentationFormat>
  <Paragraphs>823</Paragraphs>
  <Slides>82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16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82</vt:i4>
      </vt:variant>
    </vt:vector>
  </HeadingPairs>
  <TitlesOfParts>
    <vt:vector size="115" baseType="lpstr">
      <vt:lpstr>等线</vt:lpstr>
      <vt:lpstr>楷体_GB2312</vt:lpstr>
      <vt:lpstr>Symbol</vt:lpstr>
      <vt:lpstr>华文中宋</vt:lpstr>
      <vt:lpstr>宋体</vt:lpstr>
      <vt:lpstr>Malgun Gothic</vt:lpstr>
      <vt:lpstr>Arial</vt:lpstr>
      <vt:lpstr>Wingdings</vt:lpstr>
      <vt:lpstr>-윤명조140</vt:lpstr>
      <vt:lpstr>KaiTi</vt:lpstr>
      <vt:lpstr>Cambria Math</vt:lpstr>
      <vt:lpstr>楷体</vt:lpstr>
      <vt:lpstr>Calibri</vt:lpstr>
      <vt:lpstr>Times New Roman</vt:lpstr>
      <vt:lpstr>B075</vt:lpstr>
      <vt:lpstr>4_B075</vt:lpstr>
      <vt:lpstr>8_B075</vt:lpstr>
      <vt:lpstr>10_B075</vt:lpstr>
      <vt:lpstr>16_B075</vt:lpstr>
      <vt:lpstr>17_B075</vt:lpstr>
      <vt:lpstr>5_B075</vt:lpstr>
      <vt:lpstr>9_B075</vt:lpstr>
      <vt:lpstr>6_B075</vt:lpstr>
      <vt:lpstr>7_B075</vt:lpstr>
      <vt:lpstr>11_B075</vt:lpstr>
      <vt:lpstr>1_B075</vt:lpstr>
      <vt:lpstr>2_B075</vt:lpstr>
      <vt:lpstr>3_B075</vt:lpstr>
      <vt:lpstr>12_B075</vt:lpstr>
      <vt:lpstr>19_B075</vt:lpstr>
      <vt:lpstr>Equation</vt:lpstr>
      <vt:lpstr>公式</vt:lpstr>
      <vt:lpstr>Equation.3</vt:lpstr>
      <vt:lpstr>消去环：</vt:lpstr>
      <vt:lpstr>PowerPoint 演示文稿</vt:lpstr>
      <vt:lpstr>PowerPoint 演示文稿</vt:lpstr>
      <vt:lpstr>思考：</vt:lpstr>
      <vt:lpstr>PowerPoint 演示文稿</vt:lpstr>
      <vt:lpstr>练习</vt:lpstr>
      <vt:lpstr>第一次作业：</vt:lpstr>
      <vt:lpstr>第一次作业：</vt:lpstr>
      <vt:lpstr>第一次作业：</vt:lpstr>
      <vt:lpstr>第一次作业：</vt:lpstr>
      <vt:lpstr>第一次作业：</vt:lpstr>
      <vt:lpstr>第一次作业：</vt:lpstr>
      <vt:lpstr>PowerPoint 演示文稿</vt:lpstr>
      <vt:lpstr>PowerPoint 演示文稿</vt:lpstr>
      <vt:lpstr>求陪集的简单方法</vt:lpstr>
      <vt:lpstr>循环群</vt:lpstr>
      <vt:lpstr>第二次作 业：</vt:lpstr>
      <vt:lpstr>第二次作 业：</vt:lpstr>
      <vt:lpstr>第二次作 业：</vt:lpstr>
      <vt:lpstr>第二次作 业：</vt:lpstr>
      <vt:lpstr>第三次作业</vt:lpstr>
      <vt:lpstr>第三次作业</vt:lpstr>
      <vt:lpstr>第三次作业</vt:lpstr>
      <vt:lpstr>第四次作业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练习：</vt:lpstr>
      <vt:lpstr>练习：</vt:lpstr>
      <vt:lpstr>PowerPoint 演示文稿</vt:lpstr>
      <vt:lpstr>群的一些结论：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求陪集的简单方法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置换的奇偶性</vt:lpstr>
      <vt:lpstr>置换的奇偶性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子环与大环的关系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정윤주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정윤주</dc:creator>
  <cp:lastModifiedBy>Windows 用户</cp:lastModifiedBy>
  <cp:revision>1516</cp:revision>
  <dcterms:created xsi:type="dcterms:W3CDTF">2001-07-18T23:57:34Z</dcterms:created>
  <dcterms:modified xsi:type="dcterms:W3CDTF">2025-10-31T14:09:04Z</dcterms:modified>
</cp:coreProperties>
</file>