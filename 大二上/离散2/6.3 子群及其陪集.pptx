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86469" r:id="rId2"/>
    <p:sldMasterId id="2147486983" r:id="rId3"/>
    <p:sldMasterId id="2147487508" r:id="rId4"/>
    <p:sldMasterId id="2147487532" r:id="rId5"/>
    <p:sldMasterId id="2147487609" r:id="rId6"/>
    <p:sldMasterId id="2147487623" r:id="rId7"/>
    <p:sldMasterId id="2147487648" r:id="rId8"/>
  </p:sldMasterIdLst>
  <p:notesMasterIdLst>
    <p:notesMasterId r:id="rId104"/>
  </p:notesMasterIdLst>
  <p:sldIdLst>
    <p:sldId id="390" r:id="rId9"/>
    <p:sldId id="519" r:id="rId10"/>
    <p:sldId id="329" r:id="rId11"/>
    <p:sldId id="391" r:id="rId12"/>
    <p:sldId id="392" r:id="rId13"/>
    <p:sldId id="454" r:id="rId14"/>
    <p:sldId id="331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334" r:id="rId24"/>
    <p:sldId id="382" r:id="rId25"/>
    <p:sldId id="431" r:id="rId26"/>
    <p:sldId id="526" r:id="rId27"/>
    <p:sldId id="568" r:id="rId28"/>
    <p:sldId id="335" r:id="rId29"/>
    <p:sldId id="401" r:id="rId30"/>
    <p:sldId id="402" r:id="rId31"/>
    <p:sldId id="337" r:id="rId32"/>
    <p:sldId id="383" r:id="rId33"/>
    <p:sldId id="520" r:id="rId34"/>
    <p:sldId id="455" r:id="rId35"/>
    <p:sldId id="403" r:id="rId36"/>
    <p:sldId id="338" r:id="rId37"/>
    <p:sldId id="404" r:id="rId38"/>
    <p:sldId id="521" r:id="rId39"/>
    <p:sldId id="405" r:id="rId40"/>
    <p:sldId id="573" r:id="rId41"/>
    <p:sldId id="525" r:id="rId42"/>
    <p:sldId id="452" r:id="rId43"/>
    <p:sldId id="453" r:id="rId44"/>
    <p:sldId id="340" r:id="rId45"/>
    <p:sldId id="408" r:id="rId46"/>
    <p:sldId id="409" r:id="rId47"/>
    <p:sldId id="410" r:id="rId48"/>
    <p:sldId id="484" r:id="rId49"/>
    <p:sldId id="389" r:id="rId50"/>
    <p:sldId id="411" r:id="rId51"/>
    <p:sldId id="412" r:id="rId52"/>
    <p:sldId id="413" r:id="rId53"/>
    <p:sldId id="414" r:id="rId54"/>
    <p:sldId id="501" r:id="rId55"/>
    <p:sldId id="458" r:id="rId56"/>
    <p:sldId id="488" r:id="rId57"/>
    <p:sldId id="500" r:id="rId58"/>
    <p:sldId id="487" r:id="rId59"/>
    <p:sldId id="346" r:id="rId60"/>
    <p:sldId id="415" r:id="rId61"/>
    <p:sldId id="347" r:id="rId62"/>
    <p:sldId id="348" r:id="rId63"/>
    <p:sldId id="416" r:id="rId64"/>
    <p:sldId id="432" r:id="rId65"/>
    <p:sldId id="433" r:id="rId66"/>
    <p:sldId id="417" r:id="rId67"/>
    <p:sldId id="350" r:id="rId68"/>
    <p:sldId id="418" r:id="rId69"/>
    <p:sldId id="469" r:id="rId70"/>
    <p:sldId id="468" r:id="rId71"/>
    <p:sldId id="385" r:id="rId72"/>
    <p:sldId id="351" r:id="rId73"/>
    <p:sldId id="419" r:id="rId74"/>
    <p:sldId id="485" r:id="rId75"/>
    <p:sldId id="420" r:id="rId76"/>
    <p:sldId id="421" r:id="rId77"/>
    <p:sldId id="422" r:id="rId78"/>
    <p:sldId id="353" r:id="rId79"/>
    <p:sldId id="423" r:id="rId80"/>
    <p:sldId id="466" r:id="rId81"/>
    <p:sldId id="424" r:id="rId82"/>
    <p:sldId id="425" r:id="rId83"/>
    <p:sldId id="462" r:id="rId84"/>
    <p:sldId id="463" r:id="rId85"/>
    <p:sldId id="464" r:id="rId86"/>
    <p:sldId id="465" r:id="rId87"/>
    <p:sldId id="426" r:id="rId88"/>
    <p:sldId id="528" r:id="rId89"/>
    <p:sldId id="427" r:id="rId90"/>
    <p:sldId id="436" r:id="rId91"/>
    <p:sldId id="437" r:id="rId92"/>
    <p:sldId id="438" r:id="rId93"/>
    <p:sldId id="571" r:id="rId94"/>
    <p:sldId id="572" r:id="rId95"/>
    <p:sldId id="569" r:id="rId96"/>
    <p:sldId id="450" r:id="rId97"/>
    <p:sldId id="538" r:id="rId98"/>
    <p:sldId id="540" r:id="rId99"/>
    <p:sldId id="543" r:id="rId100"/>
    <p:sldId id="504" r:id="rId101"/>
    <p:sldId id="505" r:id="rId102"/>
    <p:sldId id="506" r:id="rId103"/>
  </p:sldIdLst>
  <p:sldSz cx="9144000" cy="6858000" type="screen4x3"/>
  <p:notesSz cx="6858000" cy="9144000"/>
  <p:embeddedFontLst>
    <p:embeddedFont>
      <p:font typeface="华文中宋" panose="02010600040101010101" pitchFamily="2" charset="-122"/>
      <p:regular r:id="rId105"/>
    </p:embeddedFont>
    <p:embeddedFont>
      <p:font typeface="KaiTi" panose="02010609060101010101" pitchFamily="49" charset="-122"/>
      <p:regular r:id="rId106"/>
    </p:embeddedFont>
    <p:embeddedFont>
      <p:font typeface="-윤명조140" panose="020B0604020202020204" charset="-127"/>
      <p:regular r:id="rId107"/>
    </p:embeddedFont>
    <p:embeddedFont>
      <p:font typeface="Calibri" panose="020F0502020204030204" pitchFamily="34" charset="0"/>
      <p:regular r:id="rId108"/>
      <p:bold r:id="rId109"/>
      <p:italic r:id="rId110"/>
      <p:boldItalic r:id="rId111"/>
    </p:embeddedFont>
    <p:embeddedFont>
      <p:font typeface="楷体_GB2312" panose="02010600030101010101" charset="-122"/>
      <p:regular r:id="rId112"/>
      <p:bold r:id="rId113"/>
      <p:italic r:id="rId114"/>
      <p:boldItalic r:id="rId115"/>
    </p:embeddedFont>
    <p:embeddedFont>
      <p:font typeface="黑体" panose="02010609060101010101" pitchFamily="49" charset="-122"/>
      <p:regular r:id="rId116"/>
    </p:embeddedFont>
    <p:embeddedFont>
      <p:font typeface="Malgun Gothic" panose="020B0503020000020004" pitchFamily="34" charset="-127"/>
      <p:regular r:id="rId117"/>
      <p:bold r:id="rId118"/>
    </p:embeddedFont>
    <p:embeddedFont>
      <p:font typeface="楷体" panose="02010609060101010101" pitchFamily="49" charset="-122"/>
      <p:regular r:id="rId119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8FDCB"/>
    <a:srgbClr val="FFFFFF"/>
    <a:srgbClr val="FF9900"/>
    <a:srgbClr val="C9FFF1"/>
    <a:srgbClr val="FF0000"/>
    <a:srgbClr val="8B6B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931" autoAdjust="0"/>
  </p:normalViewPr>
  <p:slideViewPr>
    <p:cSldViewPr>
      <p:cViewPr varScale="1">
        <p:scale>
          <a:sx n="91" d="100"/>
          <a:sy n="91" d="100"/>
        </p:scale>
        <p:origin x="113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42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117" Type="http://schemas.openxmlformats.org/officeDocument/2006/relationships/font" Target="fonts/font13.fntdata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slide" Target="slides/slide76.xml"/><Relationship Id="rId89" Type="http://schemas.openxmlformats.org/officeDocument/2006/relationships/slide" Target="slides/slide81.xml"/><Relationship Id="rId112" Type="http://schemas.openxmlformats.org/officeDocument/2006/relationships/font" Target="fonts/font8.fntdata"/><Relationship Id="rId16" Type="http://schemas.openxmlformats.org/officeDocument/2006/relationships/slide" Target="slides/slide8.xml"/><Relationship Id="rId107" Type="http://schemas.openxmlformats.org/officeDocument/2006/relationships/font" Target="fonts/font3.fntdata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102" Type="http://schemas.openxmlformats.org/officeDocument/2006/relationships/slide" Target="slides/slide94.xml"/><Relationship Id="rId123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82.xml"/><Relationship Id="rId95" Type="http://schemas.openxmlformats.org/officeDocument/2006/relationships/slide" Target="slides/slide87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113" Type="http://schemas.openxmlformats.org/officeDocument/2006/relationships/font" Target="fonts/font9.fntdata"/><Relationship Id="rId118" Type="http://schemas.openxmlformats.org/officeDocument/2006/relationships/font" Target="fonts/font14.fntdata"/><Relationship Id="rId80" Type="http://schemas.openxmlformats.org/officeDocument/2006/relationships/slide" Target="slides/slide72.xml"/><Relationship Id="rId85" Type="http://schemas.openxmlformats.org/officeDocument/2006/relationships/slide" Target="slides/slide7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59" Type="http://schemas.openxmlformats.org/officeDocument/2006/relationships/slide" Target="slides/slide51.xml"/><Relationship Id="rId103" Type="http://schemas.openxmlformats.org/officeDocument/2006/relationships/slide" Target="slides/slide95.xml"/><Relationship Id="rId108" Type="http://schemas.openxmlformats.org/officeDocument/2006/relationships/font" Target="fonts/font4.fntdata"/><Relationship Id="rId54" Type="http://schemas.openxmlformats.org/officeDocument/2006/relationships/slide" Target="slides/slide46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91" Type="http://schemas.openxmlformats.org/officeDocument/2006/relationships/slide" Target="slides/slide83.xml"/><Relationship Id="rId96" Type="http://schemas.openxmlformats.org/officeDocument/2006/relationships/slide" Target="slides/slide8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49" Type="http://schemas.openxmlformats.org/officeDocument/2006/relationships/slide" Target="slides/slide41.xml"/><Relationship Id="rId114" Type="http://schemas.openxmlformats.org/officeDocument/2006/relationships/font" Target="fonts/font10.fntdata"/><Relationship Id="rId119" Type="http://schemas.openxmlformats.org/officeDocument/2006/relationships/font" Target="fonts/font15.fntdata"/><Relationship Id="rId44" Type="http://schemas.openxmlformats.org/officeDocument/2006/relationships/slide" Target="slides/slide36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81" Type="http://schemas.openxmlformats.org/officeDocument/2006/relationships/slide" Target="slides/slide73.xml"/><Relationship Id="rId86" Type="http://schemas.openxmlformats.org/officeDocument/2006/relationships/slide" Target="slides/slide7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109" Type="http://schemas.openxmlformats.org/officeDocument/2006/relationships/font" Target="fonts/font5.fntdata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97" Type="http://schemas.openxmlformats.org/officeDocument/2006/relationships/slide" Target="slides/slide89.xml"/><Relationship Id="rId104" Type="http://schemas.openxmlformats.org/officeDocument/2006/relationships/notesMaster" Target="notesMasters/notesMaster1.xml"/><Relationship Id="rId120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92" Type="http://schemas.openxmlformats.org/officeDocument/2006/relationships/slide" Target="slides/slide8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slide" Target="slides/slide79.xml"/><Relationship Id="rId110" Type="http://schemas.openxmlformats.org/officeDocument/2006/relationships/font" Target="fonts/font6.fntdata"/><Relationship Id="rId115" Type="http://schemas.openxmlformats.org/officeDocument/2006/relationships/font" Target="fonts/font11.fntdata"/><Relationship Id="rId61" Type="http://schemas.openxmlformats.org/officeDocument/2006/relationships/slide" Target="slides/slide53.xml"/><Relationship Id="rId82" Type="http://schemas.openxmlformats.org/officeDocument/2006/relationships/slide" Target="slides/slide7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56" Type="http://schemas.openxmlformats.org/officeDocument/2006/relationships/slide" Target="slides/slide48.xml"/><Relationship Id="rId77" Type="http://schemas.openxmlformats.org/officeDocument/2006/relationships/slide" Target="slides/slide69.xml"/><Relationship Id="rId100" Type="http://schemas.openxmlformats.org/officeDocument/2006/relationships/slide" Target="slides/slide92.xml"/><Relationship Id="rId105" Type="http://schemas.openxmlformats.org/officeDocument/2006/relationships/font" Target="fonts/font1.fntdata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93" Type="http://schemas.openxmlformats.org/officeDocument/2006/relationships/slide" Target="slides/slide85.xml"/><Relationship Id="rId98" Type="http://schemas.openxmlformats.org/officeDocument/2006/relationships/slide" Target="slides/slide90.xml"/><Relationship Id="rId121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7.xml"/><Relationship Id="rId46" Type="http://schemas.openxmlformats.org/officeDocument/2006/relationships/slide" Target="slides/slide38.xml"/><Relationship Id="rId67" Type="http://schemas.openxmlformats.org/officeDocument/2006/relationships/slide" Target="slides/slide59.xml"/><Relationship Id="rId116" Type="http://schemas.openxmlformats.org/officeDocument/2006/relationships/font" Target="fonts/font12.fntdata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62" Type="http://schemas.openxmlformats.org/officeDocument/2006/relationships/slide" Target="slides/slide54.xml"/><Relationship Id="rId83" Type="http://schemas.openxmlformats.org/officeDocument/2006/relationships/slide" Target="slides/slide75.xml"/><Relationship Id="rId88" Type="http://schemas.openxmlformats.org/officeDocument/2006/relationships/slide" Target="slides/slide80.xml"/><Relationship Id="rId111" Type="http://schemas.openxmlformats.org/officeDocument/2006/relationships/font" Target="fonts/font7.fntdata"/><Relationship Id="rId15" Type="http://schemas.openxmlformats.org/officeDocument/2006/relationships/slide" Target="slides/slide7.xml"/><Relationship Id="rId36" Type="http://schemas.openxmlformats.org/officeDocument/2006/relationships/slide" Target="slides/slide28.xml"/><Relationship Id="rId57" Type="http://schemas.openxmlformats.org/officeDocument/2006/relationships/slide" Target="slides/slide49.xml"/><Relationship Id="rId106" Type="http://schemas.openxmlformats.org/officeDocument/2006/relationships/font" Target="fonts/font2.fntdata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52" Type="http://schemas.openxmlformats.org/officeDocument/2006/relationships/slide" Target="slides/slide44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94" Type="http://schemas.openxmlformats.org/officeDocument/2006/relationships/slide" Target="slides/slide86.xml"/><Relationship Id="rId99" Type="http://schemas.openxmlformats.org/officeDocument/2006/relationships/slide" Target="slides/slide91.xml"/><Relationship Id="rId101" Type="http://schemas.openxmlformats.org/officeDocument/2006/relationships/slide" Target="slides/slide93.xml"/><Relationship Id="rId1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53B1148-62B5-4FEF-BD60-ECAC1F7D2B99}" type="datetimeFigureOut">
              <a:rPr lang="zh-CN" altLang="en-US"/>
              <a:pPr>
                <a:defRPr/>
              </a:pPr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7AE4CC8-9744-4CC5-988D-2E9C2B5874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9540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맑은 고딕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맑은 고딕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맑은 고딕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맑은 고딕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맑은 고딕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5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F80E137C-CD8C-447B-9DBB-ECB77F807F3D}" type="slidenum">
              <a:rPr lang="zh-CN" altLang="en-US" sz="1200" smtClean="0"/>
              <a:pPr/>
              <a:t>26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5346621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4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ED14F55D-5B61-40B2-BE5A-40124B14574D}" type="slidenum">
              <a:rPr lang="zh-CN" altLang="en-US" sz="1200" smtClean="0"/>
              <a:pPr/>
              <a:t>32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296141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xmlns="" id="{9B124366-5C98-3B4A-96FE-DD4E7B312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071E32BF-C0A6-6348-808E-095257D6CCCD}" type="slidenum">
              <a:rPr lang="en-US" altLang="zh-CN" smtClean="0">
                <a:solidFill>
                  <a:prstClr val="black"/>
                </a:solidFill>
              </a:rPr>
              <a:pPr/>
              <a:t>86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xmlns="" id="{EA0F7384-98E7-7646-B250-81E929D77B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xmlns="" id="{E871636B-B9D9-834C-9792-D05BC32E5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6789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4D2433-128D-984E-B31B-A5C5F89DD8A0}" type="slidenum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040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7AE4CC8-9744-4CC5-988D-2E9C2B5874F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527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8EB4A-FDE0-4354-B5AB-C842DB5962F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531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BE0B6-33ED-4271-BA60-4214A05283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6535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DF3D-D505-4921-A94B-BE3A4F2C86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9176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501F0-CF88-4066-9ED9-BDF7A630D8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7268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8FA79-816C-42F3-A850-BFAD7541DA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1418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5BADC-DF17-40CC-9BDA-6091E860DA3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3298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E1A2-4FB8-4B93-AD84-BB6052BC3D5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7581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2C2F3-0813-4448-A8C6-1A1A7738B26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00793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55CCF-61C2-474B-8F7B-64EEA7A6E68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58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74793-17C9-47E6-B4B6-C786CBF465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005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0A357-FD51-4798-8B0C-C735F717E5E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9479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A93FF9-E1CE-477C-8401-8D3BF03604A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57436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E6AE1E-1B84-4623-B32D-89DAE5F54D8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8460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A47F6-72A1-4484-84F9-A02136E901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94190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C978E7-470B-49A2-8E50-18AFBC5D477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29981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EF370-59F7-4164-9E16-6F0BC9669A0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76563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D5B6E-460C-4412-8651-06028BEC7F1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295048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9D991D-8B37-47BC-9C64-8171012FB93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39634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070AF-6863-4579-AED2-9083A8463D7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79579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8781E4-A120-415A-8393-A5E6B2527A1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87624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92A2F-7AC1-481E-A54F-5D0701B293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9001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83FFE-D8AA-4F13-8979-EC319CF736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563618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F4D92-06FB-4E19-B415-18D38EBD80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33272407"/>
      </p:ext>
    </p:extLst>
  </p:cSld>
  <p:clrMapOvr>
    <a:masterClrMapping/>
  </p:clrMapOvr>
  <p:transition spd="med">
    <p:random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AE7F7D-C385-4296-BA4B-44E2595CD29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82154876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97E94A-0722-4D27-8A4D-A862329C520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24446730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F05826-35C0-4BFD-BB2B-75D627DF687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4089304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768F1-F42A-45A3-B493-A0A5612526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2160557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0B475-1822-4AF1-B676-33ECB3F4EC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8237708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2A9B1-424E-4532-81A2-331690A919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19594763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C7908E-3B70-45B6-93D6-93C3C76F1D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6475986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38BC4-F991-40A3-805B-9310AE1E63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75507935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68C76F-03D7-4F2D-AB5D-A77F239C2B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92820440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CE24AA-5A01-4FE3-A16E-6F908EF6F1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2525049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A35D6-B526-4BAD-8D72-7B82832A604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5629969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C75FD-22F5-4BC9-9B67-91EECB6BD1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0741022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10BEE-2950-441B-9932-9C66900A25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32110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BA873-E572-4244-AFE3-F18298C0EB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45319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C08BE-F6F6-4061-8ECE-C73DFEFC2D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12118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677D-DDF3-4DBA-8781-C2AA873984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26767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A98F1-7D55-4232-9E41-2DAD5655E8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558633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C8BC4-5847-4FD9-920E-361BBDC961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359067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6FA0C-154C-4DAA-B5DE-99ECA4049F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110385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2929C-9401-4BA8-A4A8-B6FF8E3236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83727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9635E-1E16-4D1B-AE4F-AAA1FD1BF6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93306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9AE4D-0CAD-4CD2-9BB7-7908CF23C5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10370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95EC6-76DE-43DF-8E5D-FD6E101177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7189288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anose="02010600030101010101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  <a:ea typeface="楷体_GB2312" panose="02010600030101010101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5DEBC-475F-4B42-966C-232BA683E34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42352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D9530-C1B3-434E-8267-3534FFBBD38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1887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96C795-6361-4206-A725-F1ABD18A15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0336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579B7-B3C8-4CA7-B334-F9391B012A1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6047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249F2C-796A-4929-A114-65B1703D05E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75531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C0E1C1-470B-4AA3-9A23-82D818B5744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9758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156C6-CF9D-4C43-8A07-5765C3D1F59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470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3A327-552E-4538-BBDD-BE017FF12EC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28801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6AF68-9C5E-4ABB-AA4A-407B436536B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5765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6A789F-88DD-4B62-8ED4-2E98A8F539C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03958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29FFA4-CF29-42F7-A222-35CFE14AF34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287369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F1E69471-8113-4D03-8C49-5EEA8669B4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37207711"/>
      </p:ext>
    </p:extLst>
  </p:cSld>
  <p:clrMapOvr>
    <a:masterClrMapping/>
  </p:clrMapOvr>
  <p:transition spd="med"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2A7525B1-9C44-43CC-96C0-4B2B3E404D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45958206"/>
      </p:ext>
    </p:extLst>
  </p:cSld>
  <p:clrMapOvr>
    <a:masterClrMapping/>
  </p:clrMapOvr>
  <p:transition spd="med"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AA6D7769-D3DC-4598-9971-7DDCBB87FD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90436685"/>
      </p:ext>
    </p:extLst>
  </p:cSld>
  <p:clrMapOvr>
    <a:masterClrMapping/>
  </p:clrMapOvr>
  <p:transition spd="med"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B1E8A193-3B7F-49C8-8071-A068A00F2D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27479265"/>
      </p:ext>
    </p:extLst>
  </p:cSld>
  <p:clrMapOvr>
    <a:masterClrMapping/>
  </p:clrMapOvr>
  <p:transition spd="med">
    <p:random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3917ED5-6514-4363-A4AA-AC995EB464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9112749"/>
      </p:ext>
    </p:extLst>
  </p:cSld>
  <p:clrMapOvr>
    <a:masterClrMapping/>
  </p:clrMapOvr>
  <p:transition spd="med">
    <p:random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1D25B1AA-D088-496D-A84C-B010703D30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25302993"/>
      </p:ext>
    </p:extLst>
  </p:cSld>
  <p:clrMapOvr>
    <a:masterClrMapping/>
  </p:clrMapOvr>
  <p:transition spd="med">
    <p:random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DC08444C-0E7C-42D3-A739-CFE75D3EF5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6155203"/>
      </p:ext>
    </p:extLst>
  </p:cSld>
  <p:clrMapOvr>
    <a:masterClrMapping/>
  </p:clrMapOvr>
  <p:transition spd="med">
    <p:random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CCD834AD-7E40-419E-A209-E8742731BB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5949403"/>
      </p:ext>
    </p:extLst>
  </p:cSld>
  <p:clrMapOvr>
    <a:masterClrMapping/>
  </p:clrMapOvr>
  <p:transition spd="med">
    <p:random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3A6625B2-3A7E-4A06-B03C-18D73AABA7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8145832"/>
      </p:ext>
    </p:extLst>
  </p:cSld>
  <p:clrMapOvr>
    <a:masterClrMapping/>
  </p:clrMapOvr>
  <p:transition spd="med">
    <p:random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19818AF9-F88F-405B-9CA8-1DD32296C4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6507522"/>
      </p:ext>
    </p:extLst>
  </p:cSld>
  <p:clrMapOvr>
    <a:masterClrMapping/>
  </p:clrMapOvr>
  <p:transition spd="med">
    <p:random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9F65DD15-0C9E-401E-B5E1-7F194F5CF2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5223247"/>
      </p:ext>
    </p:extLst>
  </p:cSld>
  <p:clrMapOvr>
    <a:masterClrMapping/>
  </p:clrMapOvr>
  <p:transition spd="med">
    <p:random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5773DE0-435B-4955-8F64-D09B02E975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046170"/>
      </p:ext>
    </p:extLst>
  </p:cSld>
  <p:clrMapOvr>
    <a:masterClrMapping/>
  </p:clrMapOvr>
  <p:transition spd="med">
    <p:random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0DAD1CF-8A24-4164-BA54-C08C9218D7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4656105"/>
      </p:ext>
    </p:extLst>
  </p:cSld>
  <p:clrMapOvr>
    <a:masterClrMapping/>
  </p:clrMapOvr>
  <p:transition spd="med">
    <p:random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="" xmlns:a16="http://schemas.microsoft.com/office/drawing/2014/main" id="{0AE4543C-6CC7-4DEB-8217-67C81B3D60C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="" xmlns:a16="http://schemas.microsoft.com/office/drawing/2014/main" id="{68298902-0298-4DA0-8AE4-C791B21BC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="" xmlns:a16="http://schemas.microsoft.com/office/drawing/2014/main" id="{F8CD5100-5E96-4197-A6BB-966B80E48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E59258ED-6CC4-492B-AD3C-9B9B4FF01D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B683D18F-78A3-41D5-B680-138BEE5045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5CAF5246-6EA3-4CC4-AEDC-7ED9F8439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62A6FBD-28EB-4642-9C95-2E4AE064989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68472207"/>
      </p:ext>
    </p:extLst>
  </p:cSld>
  <p:clrMapOvr>
    <a:masterClrMapping/>
  </p:clrMapOvr>
  <p:transition>
    <p:random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DBA1100C-3DA1-402D-A410-B0D4B67A86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758D4C5-084B-48C1-9256-F3DCCF1ABD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1A979CDC-A5C5-43DC-AF2D-8CCFE2DF9B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33279-FA50-483E-AA48-9E8D7EC796D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7952895"/>
      </p:ext>
    </p:extLst>
  </p:cSld>
  <p:clrMapOvr>
    <a:masterClrMapping/>
  </p:clrMapOvr>
  <p:transition>
    <p:random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4469620C-37A9-4DD3-A0F6-8DE30533A3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E039B87F-1844-4EE8-BBD5-1E0F77893D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50F52C89-8DBF-4AE3-888C-B411029428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40159-FA61-47A4-AF85-5D7574B2781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29446073"/>
      </p:ext>
    </p:extLst>
  </p:cSld>
  <p:clrMapOvr>
    <a:masterClrMapping/>
  </p:clrMapOvr>
  <p:transition>
    <p:random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58FC2E4C-5D2A-46AA-810A-19C1AE7EDE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BFB50A1E-DB01-4EAA-B68C-0B0015271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F08AD43C-3411-4C9D-82EF-BA6AC43B8A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6ED9BE-6950-47DD-B0FD-85C477106AF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74572778"/>
      </p:ext>
    </p:extLst>
  </p:cSld>
  <p:clrMapOvr>
    <a:masterClrMapping/>
  </p:clrMapOvr>
  <p:transition>
    <p:random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="" xmlns:a16="http://schemas.microsoft.com/office/drawing/2014/main" id="{6700D6F2-0906-4E7C-AB56-A0EC5295D2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="" xmlns:a16="http://schemas.microsoft.com/office/drawing/2014/main" id="{6AAB877F-EFC6-4140-AFD4-38B2214116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="" xmlns:a16="http://schemas.microsoft.com/office/drawing/2014/main" id="{A60DAD44-E032-4C3E-BBE6-5F6A3C3A59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29C76E-E127-4776-A6DB-28F46F72159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57002509"/>
      </p:ext>
    </p:extLst>
  </p:cSld>
  <p:clrMapOvr>
    <a:masterClrMapping/>
  </p:clrMapOvr>
  <p:transition>
    <p:random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="" xmlns:a16="http://schemas.microsoft.com/office/drawing/2014/main" id="{A2A7879B-5E6E-4CF5-AE4A-219EC6E42C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="" xmlns:a16="http://schemas.microsoft.com/office/drawing/2014/main" id="{EC1E85FA-004C-4FD7-AA1C-27F95BD880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DEC33824-3990-46C6-B0A9-F8BAE93597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BE07A0-78FB-45FA-8E1F-743E26D2FD8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66872085"/>
      </p:ext>
    </p:extLst>
  </p:cSld>
  <p:clrMapOvr>
    <a:masterClrMapping/>
  </p:clrMapOvr>
  <p:transition>
    <p:random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="" xmlns:a16="http://schemas.microsoft.com/office/drawing/2014/main" id="{AF988EF5-3ADE-4F70-9322-1B166C0E46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="" xmlns:a16="http://schemas.microsoft.com/office/drawing/2014/main" id="{75A4299C-B172-4AE5-ACCB-15F5D5AEBC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="" xmlns:a16="http://schemas.microsoft.com/office/drawing/2014/main" id="{7DD48793-C014-43E2-9E75-963DF72D4C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03090-F7EC-4C7B-8F52-271887661E4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29311406"/>
      </p:ext>
    </p:extLst>
  </p:cSld>
  <p:clrMapOvr>
    <a:masterClrMapping/>
  </p:clrMapOvr>
  <p:transition>
    <p:random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9C2E76DF-C41D-49A3-ABAF-686AC47908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695F2602-4B5A-4291-95C6-95831AA6EE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CCA2C50F-BB9F-422B-AB07-6A4A6588F7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744687-2A7D-48EF-BC38-9F4559EDABB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48117171"/>
      </p:ext>
    </p:extLst>
  </p:cSld>
  <p:clrMapOvr>
    <a:masterClrMapping/>
  </p:clrMapOvr>
  <p:transition>
    <p:random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="" xmlns:a16="http://schemas.microsoft.com/office/drawing/2014/main" id="{272F3B66-DDD4-4838-86B2-FA9021F49E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="" xmlns:a16="http://schemas.microsoft.com/office/drawing/2014/main" id="{0EE435EE-69FD-4FED-8F5E-86BAD5B033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="" xmlns:a16="http://schemas.microsoft.com/office/drawing/2014/main" id="{B0BDD1F8-0F52-4A22-AA04-7D6EB7FA31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834845-E5D9-4F1D-B759-118CAD90D5E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8779560"/>
      </p:ext>
    </p:extLst>
  </p:cSld>
  <p:clrMapOvr>
    <a:masterClrMapping/>
  </p:clrMapOvr>
  <p:transition>
    <p:random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D953B99E-2028-43A2-A12B-16716A27A8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6CD95E76-712E-408F-8C3F-AE483B1A7C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4D2754E5-5152-40CA-8F0A-440E67F1F9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B0262-570C-4C51-B70F-93FA9221A21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06500157"/>
      </p:ext>
    </p:extLst>
  </p:cSld>
  <p:clrMapOvr>
    <a:masterClrMapping/>
  </p:clrMapOvr>
  <p:transition>
    <p:random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="" xmlns:a16="http://schemas.microsoft.com/office/drawing/2014/main" id="{06A043BE-A971-4DB5-93D6-1B0D977654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829A56BE-0F6D-4D5A-BDF4-917AF4123E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="" xmlns:a16="http://schemas.microsoft.com/office/drawing/2014/main" id="{3BFFBD01-CEC0-424B-86BC-13EC389587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653AD-5E58-4DE6-8AE7-5064D80427B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55217047"/>
      </p:ext>
    </p:extLst>
  </p:cSld>
  <p:clrMapOvr>
    <a:masterClrMapping/>
  </p:clrMapOvr>
  <p:transition>
    <p:random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BFF51292-7C24-D344-A4D0-1FE9E07948F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04AFC66E-7D21-114F-9380-465086641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79B67D75-F41B-8F4F-9765-0DFBBAB5F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F62D7B1F-D4AA-2F49-BF96-694B528AC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A7E537E3-3412-B64F-B6D7-CE6B277F3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DF0DD2E5-F0F1-C248-9F90-97C592EEF3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2222B4-71DC-D847-96A7-82CA85A5F19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359991"/>
      </p:ext>
    </p:extLst>
  </p:cSld>
  <p:clrMapOvr>
    <a:masterClrMapping/>
  </p:clrMapOvr>
  <p:transition spd="med">
    <p:random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92AC690-E252-7742-B562-90E181BDC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B9F66F4-D328-BD41-9D06-7A591CF9E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618B16D7-96E1-0D42-AA5F-8650ADF7C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95C2E-1553-4143-805C-213D9C230BA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644667"/>
      </p:ext>
    </p:extLst>
  </p:cSld>
  <p:clrMapOvr>
    <a:masterClrMapping/>
  </p:clrMapOvr>
  <p:transition spd="med">
    <p:random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8241E169-6127-DD4E-91C6-0716B6EBA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599E1C6E-2E00-D44D-AD71-D20F13900E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0B7BB93-7479-DE40-B4B3-01731F124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32A54-00EA-0943-832E-E5CEB72C25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686242"/>
      </p:ext>
    </p:extLst>
  </p:cSld>
  <p:clrMapOvr>
    <a:masterClrMapping/>
  </p:clrMapOvr>
  <p:transition spd="med">
    <p:random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CBA4CAB-5601-B648-96E8-2D06B5D48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5923146-2503-A84C-9A6E-1ECCBF3F5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02699BA-3DA2-1F46-84D9-71257F546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711A7-28EE-D743-9BDD-A3807CD5E5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601929"/>
      </p:ext>
    </p:extLst>
  </p:cSld>
  <p:clrMapOvr>
    <a:masterClrMapping/>
  </p:clrMapOvr>
  <p:transition spd="med">
    <p:random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A187415-FCC2-D448-86C3-3A4EEE9093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00E71A0B-B197-DC4C-A8D0-5E44DE7131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157B795B-B6F5-564B-823F-F686F19336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1253-C171-3047-93EB-BC998BD0D18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411663"/>
      </p:ext>
    </p:extLst>
  </p:cSld>
  <p:clrMapOvr>
    <a:masterClrMapping/>
  </p:clrMapOvr>
  <p:transition spd="med">
    <p:random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F8BC7412-783A-AA43-A10E-1CFDD28827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E421AFD-C5A2-664F-B407-A6810F22E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90202017-D2EB-B245-9BC1-4415FC628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60F07-F225-9045-A89D-E61C097800C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0876841"/>
      </p:ext>
    </p:extLst>
  </p:cSld>
  <p:clrMapOvr>
    <a:masterClrMapping/>
  </p:clrMapOvr>
  <p:transition spd="med">
    <p:random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C948E136-7C4F-094A-8063-BE89A8FB2F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602F769C-CB33-3F4C-901C-EDC648B31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83918C7-E3D8-9744-A7B9-12B8C8B013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E5839-2295-4940-91FA-EC8B87A1F78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1552634"/>
      </p:ext>
    </p:extLst>
  </p:cSld>
  <p:clrMapOvr>
    <a:masterClrMapping/>
  </p:clrMapOvr>
  <p:transition spd="med">
    <p:random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0448EB2-F429-C84E-94FB-510572782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B5CBA13-C85F-C548-A4AB-33214DA19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5FB315FB-F853-3044-811F-40063BA44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EB9A2-CD53-FF4F-8EBC-FA7290EB06D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040531"/>
      </p:ext>
    </p:extLst>
  </p:cSld>
  <p:clrMapOvr>
    <a:masterClrMapping/>
  </p:clrMapOvr>
  <p:transition spd="med">
    <p:random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9E22BE9-D098-6144-B97F-F2921C2F39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125078D-00EF-3445-8DE7-C4F719D8E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1DE6C96-978B-574D-A2C2-D2311BC63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192D5-30BF-5E46-AFE6-E2804E950F9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29822"/>
      </p:ext>
    </p:extLst>
  </p:cSld>
  <p:clrMapOvr>
    <a:masterClrMapping/>
  </p:clrMapOvr>
  <p:transition spd="med">
    <p:random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C0E41E7-3CAB-374F-8EA6-B94F27F525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ACC922BD-2676-9E40-8E27-FAF8DC1CC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DF44C551-E355-2E42-B925-9B7F13214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5E67E-F0CE-8445-B07A-DBFC87C6076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917953"/>
      </p:ext>
    </p:extLst>
  </p:cSld>
  <p:clrMapOvr>
    <a:masterClrMapping/>
  </p:clrMapOvr>
  <p:transition spd="med">
    <p:random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1587563-F1E2-DC49-9B68-9CCD164DA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F5EBEE4A-C95F-D346-BCA2-02D9F72AA1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57DA1A34-AC98-5245-B374-78632FB6D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85EBE-D0B4-7248-84DC-D6B47DBB0E9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963785"/>
      </p:ext>
    </p:extLst>
  </p:cSld>
  <p:clrMapOvr>
    <a:masterClrMapping/>
  </p:clrMapOvr>
  <p:transition spd="med">
    <p:random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71A58E5-7A7C-824E-8A9D-6326C7B76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C633A28-36D2-6A4D-A7DC-8D18A3B1EF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04C7E778-B760-1F40-9925-E41F6FE76E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36350-9573-204C-99A7-C25B379F71A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1020751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CAA4763-404C-45FA-9BE4-C57D06105D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90" r:id="rId1"/>
    <p:sldLayoutId id="2147487436" r:id="rId2"/>
    <p:sldLayoutId id="2147487437" r:id="rId3"/>
    <p:sldLayoutId id="2147487438" r:id="rId4"/>
    <p:sldLayoutId id="2147487439" r:id="rId5"/>
    <p:sldLayoutId id="2147487440" r:id="rId6"/>
    <p:sldLayoutId id="2147487441" r:id="rId7"/>
    <p:sldLayoutId id="2147487442" r:id="rId8"/>
    <p:sldLayoutId id="2147487443" r:id="rId9"/>
    <p:sldLayoutId id="2147487444" r:id="rId10"/>
    <p:sldLayoutId id="2147487445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D346EE4-05C4-4CF5-BC32-C55647D2368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91" r:id="rId1"/>
    <p:sldLayoutId id="2147487446" r:id="rId2"/>
    <p:sldLayoutId id="2147487447" r:id="rId3"/>
    <p:sldLayoutId id="2147487448" r:id="rId4"/>
    <p:sldLayoutId id="2147487449" r:id="rId5"/>
    <p:sldLayoutId id="2147487450" r:id="rId6"/>
    <p:sldLayoutId id="2147487451" r:id="rId7"/>
    <p:sldLayoutId id="2147487452" r:id="rId8"/>
    <p:sldLayoutId id="2147487453" r:id="rId9"/>
    <p:sldLayoutId id="2147487454" r:id="rId10"/>
    <p:sldLayoutId id="2147487455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F04CF7F6-716B-424B-9225-F9C38F9BAE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494" r:id="rId1"/>
    <p:sldLayoutId id="2147487478" r:id="rId2"/>
    <p:sldLayoutId id="2147487479" r:id="rId3"/>
    <p:sldLayoutId id="2147487480" r:id="rId4"/>
    <p:sldLayoutId id="2147487481" r:id="rId5"/>
    <p:sldLayoutId id="2147487482" r:id="rId6"/>
    <p:sldLayoutId id="2147487483" r:id="rId7"/>
    <p:sldLayoutId id="2147487484" r:id="rId8"/>
    <p:sldLayoutId id="2147487485" r:id="rId9"/>
    <p:sldLayoutId id="2147487486" r:id="rId10"/>
    <p:sldLayoutId id="2147487487" r:id="rId11"/>
    <p:sldLayoutId id="2147487488" r:id="rId12"/>
    <p:sldLayoutId id="2147487489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D29CF9F7-E453-42D6-A23D-DB4D4D36EB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757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509" r:id="rId1"/>
    <p:sldLayoutId id="2147487510" r:id="rId2"/>
    <p:sldLayoutId id="2147487511" r:id="rId3"/>
    <p:sldLayoutId id="2147487512" r:id="rId4"/>
    <p:sldLayoutId id="2147487513" r:id="rId5"/>
    <p:sldLayoutId id="2147487514" r:id="rId6"/>
    <p:sldLayoutId id="2147487515" r:id="rId7"/>
    <p:sldLayoutId id="2147487516" r:id="rId8"/>
    <p:sldLayoutId id="2147487517" r:id="rId9"/>
    <p:sldLayoutId id="2147487518" r:id="rId10"/>
    <p:sldLayoutId id="2147487519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917FC585-8F09-4D87-A074-240A6C7CE74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09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533" r:id="rId1"/>
    <p:sldLayoutId id="2147487534" r:id="rId2"/>
    <p:sldLayoutId id="2147487535" r:id="rId3"/>
    <p:sldLayoutId id="2147487536" r:id="rId4"/>
    <p:sldLayoutId id="2147487537" r:id="rId5"/>
    <p:sldLayoutId id="2147487538" r:id="rId6"/>
    <p:sldLayoutId id="2147487539" r:id="rId7"/>
    <p:sldLayoutId id="2147487540" r:id="rId8"/>
    <p:sldLayoutId id="2147487541" r:id="rId9"/>
    <p:sldLayoutId id="2147487542" r:id="rId10"/>
    <p:sldLayoutId id="2147487543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11133411-EFC1-41A7-9DF2-F0973EF90F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3452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610" r:id="rId1"/>
    <p:sldLayoutId id="2147487611" r:id="rId2"/>
    <p:sldLayoutId id="2147487612" r:id="rId3"/>
    <p:sldLayoutId id="2147487613" r:id="rId4"/>
    <p:sldLayoutId id="2147487614" r:id="rId5"/>
    <p:sldLayoutId id="2147487615" r:id="rId6"/>
    <p:sldLayoutId id="2147487616" r:id="rId7"/>
    <p:sldLayoutId id="2147487617" r:id="rId8"/>
    <p:sldLayoutId id="2147487618" r:id="rId9"/>
    <p:sldLayoutId id="2147487619" r:id="rId10"/>
    <p:sldLayoutId id="2147487620" r:id="rId11"/>
    <p:sldLayoutId id="2147487621" r:id="rId12"/>
    <p:sldLayoutId id="2147487622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>
            <a:extLst>
              <a:ext uri="{FF2B5EF4-FFF2-40B4-BE49-F238E27FC236}">
                <a16:creationId xmlns="" xmlns:a16="http://schemas.microsoft.com/office/drawing/2014/main" id="{7866F572-25AA-4EE4-A067-1CCAE615C22D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>
            <a:extLst>
              <a:ext uri="{FF2B5EF4-FFF2-40B4-BE49-F238E27FC236}">
                <a16:creationId xmlns="" xmlns:a16="http://schemas.microsoft.com/office/drawing/2014/main" id="{516AD88B-4EB0-4389-8E70-1B30A60862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="" xmlns:a16="http://schemas.microsoft.com/office/drawing/2014/main" id="{9146548D-7FF3-41C8-82D6-F09CF488C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37221" name="Rectangle 5">
            <a:extLst>
              <a:ext uri="{FF2B5EF4-FFF2-40B4-BE49-F238E27FC236}">
                <a16:creationId xmlns="" xmlns:a16="http://schemas.microsoft.com/office/drawing/2014/main" id="{E3F3BA1D-E78C-4C1C-BB89-0D25F7C8C46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>
            <a:extLst>
              <a:ext uri="{FF2B5EF4-FFF2-40B4-BE49-F238E27FC236}">
                <a16:creationId xmlns="" xmlns:a16="http://schemas.microsoft.com/office/drawing/2014/main" id="{DBE4124C-EA0E-42FF-BD81-8E981A47F33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>
            <a:extLst>
              <a:ext uri="{FF2B5EF4-FFF2-40B4-BE49-F238E27FC236}">
                <a16:creationId xmlns="" xmlns:a16="http://schemas.microsoft.com/office/drawing/2014/main" id="{F1BBF622-410B-4618-AF3A-E7A436F2203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pPr>
              <a:defRPr/>
            </a:pPr>
            <a:fld id="{9BB42420-C437-4037-8449-927045B12AB7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8974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624" r:id="rId1"/>
    <p:sldLayoutId id="2147487625" r:id="rId2"/>
    <p:sldLayoutId id="2147487626" r:id="rId3"/>
    <p:sldLayoutId id="2147487627" r:id="rId4"/>
    <p:sldLayoutId id="2147487628" r:id="rId5"/>
    <p:sldLayoutId id="2147487629" r:id="rId6"/>
    <p:sldLayoutId id="2147487630" r:id="rId7"/>
    <p:sldLayoutId id="2147487631" r:id="rId8"/>
    <p:sldLayoutId id="2147487632" r:id="rId9"/>
    <p:sldLayoutId id="2147487633" r:id="rId10"/>
    <p:sldLayoutId id="2147487634" r:id="rId11"/>
  </p:sldLayoutIdLst>
  <p:transition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华文中宋" panose="02010600040101010101" pitchFamily="2" charset="-12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:a16="http://schemas.microsoft.com/office/drawing/2014/main" xmlns="" id="{61709F8B-2E42-6540-A600-32A170299C57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37C47529-77B9-5543-AE97-C44822DA4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8E048A4D-61B8-C144-A8B5-ED81CABAD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:a16="http://schemas.microsoft.com/office/drawing/2014/main" xmlns="" id="{380D5494-16C2-0340-A957-990A73EC4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>
            <a:extLst>
              <a:ext uri="{FF2B5EF4-FFF2-40B4-BE49-F238E27FC236}">
                <a16:creationId xmlns:a16="http://schemas.microsoft.com/office/drawing/2014/main" xmlns="" id="{EFCA09BF-D7D2-3541-B364-971561252A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>
            <a:extLst>
              <a:ext uri="{FF2B5EF4-FFF2-40B4-BE49-F238E27FC236}">
                <a16:creationId xmlns:a16="http://schemas.microsoft.com/office/drawing/2014/main" xmlns="" id="{3C32C923-63F4-224A-9591-8F65DAC413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panose="02030600000101010101" pitchFamily="18" charset="-127"/>
                <a:ea typeface="-윤명조140" panose="02030600000101010101" pitchFamily="18" charset="-127"/>
              </a:defRPr>
            </a:lvl1pPr>
          </a:lstStyle>
          <a:p>
            <a:pPr>
              <a:defRPr/>
            </a:pPr>
            <a:fld id="{B7CDDBFD-D1B6-3E41-AF8F-BB84CA5A9C0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425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7649" r:id="rId1"/>
    <p:sldLayoutId id="2147487650" r:id="rId2"/>
    <p:sldLayoutId id="2147487651" r:id="rId3"/>
    <p:sldLayoutId id="2147487652" r:id="rId4"/>
    <p:sldLayoutId id="2147487653" r:id="rId5"/>
    <p:sldLayoutId id="2147487654" r:id="rId6"/>
    <p:sldLayoutId id="2147487655" r:id="rId7"/>
    <p:sldLayoutId id="2147487656" r:id="rId8"/>
    <p:sldLayoutId id="2147487657" r:id="rId9"/>
    <p:sldLayoutId id="2147487658" r:id="rId10"/>
    <p:sldLayoutId id="2147487659" r:id="rId11"/>
    <p:sldLayoutId id="2147487660" r:id="rId12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8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第六章   群 、环、域</a:t>
            </a:r>
          </a:p>
        </p:txBody>
      </p:sp>
      <p:grpSp>
        <p:nvGrpSpPr>
          <p:cNvPr id="26627" name="Group 3"/>
          <p:cNvGrpSpPr>
            <a:grpSpLocks/>
          </p:cNvGrpSpPr>
          <p:nvPr/>
        </p:nvGrpSpPr>
        <p:grpSpPr bwMode="auto">
          <a:xfrm>
            <a:off x="1054100" y="2032000"/>
            <a:ext cx="762000" cy="665163"/>
            <a:chOff x="1110" y="2656"/>
            <a:chExt cx="1549" cy="1351"/>
          </a:xfrm>
        </p:grpSpPr>
        <p:sp>
          <p:nvSpPr>
            <p:cNvPr id="26681" name="AutoShape 4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82" name="AutoShape 5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10" name="AutoShape 6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grpSp>
        <p:nvGrpSpPr>
          <p:cNvPr id="26628" name="Group 7"/>
          <p:cNvGrpSpPr>
            <a:grpSpLocks/>
          </p:cNvGrpSpPr>
          <p:nvPr/>
        </p:nvGrpSpPr>
        <p:grpSpPr bwMode="auto">
          <a:xfrm>
            <a:off x="1054100" y="3001963"/>
            <a:ext cx="762000" cy="665162"/>
            <a:chOff x="3174" y="2656"/>
            <a:chExt cx="1549" cy="1351"/>
          </a:xfrm>
        </p:grpSpPr>
        <p:sp>
          <p:nvSpPr>
            <p:cNvPr id="26678" name="AutoShape 8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79" name="AutoShape 9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14" name="AutoShape 10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26629" name="Line 11"/>
          <p:cNvSpPr>
            <a:spLocks noChangeShapeType="1"/>
          </p:cNvSpPr>
          <p:nvPr/>
        </p:nvSpPr>
        <p:spPr bwMode="auto">
          <a:xfrm>
            <a:off x="16637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0" name="Text Box 12"/>
          <p:cNvSpPr txBox="1">
            <a:spLocks noChangeArrowheads="1"/>
          </p:cNvSpPr>
          <p:nvPr/>
        </p:nvSpPr>
        <p:spPr bwMode="gray">
          <a:xfrm>
            <a:off x="12509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26631" name="Line 13"/>
          <p:cNvSpPr>
            <a:spLocks noChangeShapeType="1"/>
          </p:cNvSpPr>
          <p:nvPr/>
        </p:nvSpPr>
        <p:spPr bwMode="auto">
          <a:xfrm>
            <a:off x="16637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2" name="Text Box 14"/>
          <p:cNvSpPr txBox="1">
            <a:spLocks noChangeArrowheads="1"/>
          </p:cNvSpPr>
          <p:nvPr/>
        </p:nvSpPr>
        <p:spPr bwMode="gray">
          <a:xfrm>
            <a:off x="12509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</a:p>
        </p:txBody>
      </p:sp>
      <p:grpSp>
        <p:nvGrpSpPr>
          <p:cNvPr id="26633" name="Group 15"/>
          <p:cNvGrpSpPr>
            <a:grpSpLocks/>
          </p:cNvGrpSpPr>
          <p:nvPr/>
        </p:nvGrpSpPr>
        <p:grpSpPr bwMode="auto">
          <a:xfrm>
            <a:off x="1054100" y="3965575"/>
            <a:ext cx="762000" cy="665163"/>
            <a:chOff x="1110" y="2656"/>
            <a:chExt cx="1549" cy="1351"/>
          </a:xfrm>
        </p:grpSpPr>
        <p:sp>
          <p:nvSpPr>
            <p:cNvPr id="26675" name="AutoShape 1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76" name="AutoShape 1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22" name="AutoShape 1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26634" name="Line 19"/>
          <p:cNvSpPr>
            <a:spLocks noChangeShapeType="1"/>
          </p:cNvSpPr>
          <p:nvPr/>
        </p:nvSpPr>
        <p:spPr bwMode="auto">
          <a:xfrm>
            <a:off x="16637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35" name="Text Box 20"/>
          <p:cNvSpPr txBox="1">
            <a:spLocks noChangeArrowheads="1"/>
          </p:cNvSpPr>
          <p:nvPr/>
        </p:nvSpPr>
        <p:spPr bwMode="gray">
          <a:xfrm>
            <a:off x="12509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456725" name="Text Box 21"/>
          <p:cNvSpPr txBox="1">
            <a:spLocks noChangeArrowheads="1"/>
          </p:cNvSpPr>
          <p:nvPr/>
        </p:nvSpPr>
        <p:spPr bwMode="auto">
          <a:xfrm>
            <a:off x="2197100" y="2122488"/>
            <a:ext cx="167640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代数系统</a:t>
            </a:r>
            <a:endParaRPr kumimoji="0"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456726" name="Text Box 22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1835150" y="3933825"/>
            <a:ext cx="2952750" cy="579438"/>
          </a:xfrm>
          <a:prstGeom prst="rect">
            <a:avLst/>
          </a:prstGeom>
          <a:solidFill>
            <a:srgbClr val="FF9900"/>
          </a:solidFill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3200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子群及其陪集</a:t>
            </a:r>
            <a:endParaRPr kumimoji="0" lang="en-US" altLang="zh-CN" sz="3200" b="1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26638" name="Line 23"/>
          <p:cNvSpPr>
            <a:spLocks noChangeShapeType="1"/>
          </p:cNvSpPr>
          <p:nvPr/>
        </p:nvSpPr>
        <p:spPr bwMode="auto">
          <a:xfrm>
            <a:off x="1663700" y="54911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6639" name="Group 25"/>
          <p:cNvGrpSpPr>
            <a:grpSpLocks/>
          </p:cNvGrpSpPr>
          <p:nvPr/>
        </p:nvGrpSpPr>
        <p:grpSpPr bwMode="auto">
          <a:xfrm>
            <a:off x="5016500" y="2032000"/>
            <a:ext cx="762000" cy="665163"/>
            <a:chOff x="1110" y="2656"/>
            <a:chExt cx="1549" cy="1351"/>
          </a:xfrm>
        </p:grpSpPr>
        <p:sp>
          <p:nvSpPr>
            <p:cNvPr id="26672" name="AutoShape 26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73" name="AutoShape 27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32" name="AutoShape 28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grpSp>
        <p:nvGrpSpPr>
          <p:cNvPr id="26640" name="Group 29"/>
          <p:cNvGrpSpPr>
            <a:grpSpLocks/>
          </p:cNvGrpSpPr>
          <p:nvPr/>
        </p:nvGrpSpPr>
        <p:grpSpPr bwMode="auto">
          <a:xfrm>
            <a:off x="5016500" y="3001963"/>
            <a:ext cx="762000" cy="665162"/>
            <a:chOff x="3174" y="2656"/>
            <a:chExt cx="1549" cy="1351"/>
          </a:xfrm>
        </p:grpSpPr>
        <p:sp>
          <p:nvSpPr>
            <p:cNvPr id="26669" name="AutoShape 30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70" name="AutoShape 31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36" name="AutoShape 32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26641" name="Line 33"/>
          <p:cNvSpPr>
            <a:spLocks noChangeShapeType="1"/>
          </p:cNvSpPr>
          <p:nvPr/>
        </p:nvSpPr>
        <p:spPr bwMode="auto">
          <a:xfrm>
            <a:off x="5626100" y="2641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2" name="Text Box 34"/>
          <p:cNvSpPr txBox="1">
            <a:spLocks noChangeArrowheads="1"/>
          </p:cNvSpPr>
          <p:nvPr/>
        </p:nvSpPr>
        <p:spPr bwMode="gray">
          <a:xfrm>
            <a:off x="5213350" y="213042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26643" name="Line 35"/>
          <p:cNvSpPr>
            <a:spLocks noChangeShapeType="1"/>
          </p:cNvSpPr>
          <p:nvPr/>
        </p:nvSpPr>
        <p:spPr bwMode="auto">
          <a:xfrm>
            <a:off x="5626100" y="3611563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4" name="Text Box 36"/>
          <p:cNvSpPr txBox="1">
            <a:spLocks noChangeArrowheads="1"/>
          </p:cNvSpPr>
          <p:nvPr/>
        </p:nvSpPr>
        <p:spPr bwMode="gray">
          <a:xfrm>
            <a:off x="5213350" y="31003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26645" name="Group 37"/>
          <p:cNvGrpSpPr>
            <a:grpSpLocks/>
          </p:cNvGrpSpPr>
          <p:nvPr/>
        </p:nvGrpSpPr>
        <p:grpSpPr bwMode="auto">
          <a:xfrm>
            <a:off x="5016500" y="3965575"/>
            <a:ext cx="762000" cy="665163"/>
            <a:chOff x="1110" y="2656"/>
            <a:chExt cx="1549" cy="1351"/>
          </a:xfrm>
        </p:grpSpPr>
        <p:sp>
          <p:nvSpPr>
            <p:cNvPr id="26666" name="AutoShape 38"/>
            <p:cNvSpPr>
              <a:spLocks noChangeArrowheads="1"/>
            </p:cNvSpPr>
            <p:nvPr/>
          </p:nvSpPr>
          <p:spPr bwMode="gray">
            <a:xfrm>
              <a:off x="1123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67" name="AutoShape 39"/>
            <p:cNvSpPr>
              <a:spLocks noChangeArrowheads="1"/>
            </p:cNvSpPr>
            <p:nvPr/>
          </p:nvSpPr>
          <p:spPr bwMode="gray">
            <a:xfrm>
              <a:off x="1110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44" name="AutoShape 40"/>
            <p:cNvSpPr>
              <a:spLocks noChangeArrowheads="1"/>
            </p:cNvSpPr>
            <p:nvPr/>
          </p:nvSpPr>
          <p:spPr bwMode="gray">
            <a:xfrm>
              <a:off x="1200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hlink">
                    <a:gamma/>
                    <a:shade val="46275"/>
                    <a:invGamma/>
                  </a:schemeClr>
                </a:gs>
                <a:gs pos="100000">
                  <a:schemeClr val="hlink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26646" name="Line 41"/>
          <p:cNvSpPr>
            <a:spLocks noChangeShapeType="1"/>
          </p:cNvSpPr>
          <p:nvPr/>
        </p:nvSpPr>
        <p:spPr bwMode="auto">
          <a:xfrm>
            <a:off x="5626100" y="4575175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47" name="Text Box 42"/>
          <p:cNvSpPr txBox="1">
            <a:spLocks noChangeArrowheads="1"/>
          </p:cNvSpPr>
          <p:nvPr/>
        </p:nvSpPr>
        <p:spPr bwMode="gray">
          <a:xfrm>
            <a:off x="5213350" y="406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456747" name="Text Box 43"/>
          <p:cNvSpPr txBox="1">
            <a:spLocks noChangeArrowheads="1"/>
          </p:cNvSpPr>
          <p:nvPr/>
        </p:nvSpPr>
        <p:spPr bwMode="auto">
          <a:xfrm>
            <a:off x="1979613" y="4941888"/>
            <a:ext cx="2736850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群的同态及同构</a:t>
            </a:r>
            <a:endParaRPr kumimoji="0"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456748" name="Text Box 44"/>
          <p:cNvSpPr txBox="1">
            <a:spLocks noChangeArrowheads="1"/>
          </p:cNvSpPr>
          <p:nvPr/>
        </p:nvSpPr>
        <p:spPr bwMode="auto">
          <a:xfrm>
            <a:off x="5940425" y="2060575"/>
            <a:ext cx="190500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环</a:t>
            </a:r>
            <a:endParaRPr kumimoji="0"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456749" name="Text Box 45"/>
          <p:cNvSpPr txBox="1">
            <a:spLocks noChangeArrowheads="1"/>
          </p:cNvSpPr>
          <p:nvPr/>
        </p:nvSpPr>
        <p:spPr bwMode="auto">
          <a:xfrm>
            <a:off x="5867400" y="2997200"/>
            <a:ext cx="2665413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域的特征 素域</a:t>
            </a:r>
          </a:p>
        </p:txBody>
      </p:sp>
      <p:grpSp>
        <p:nvGrpSpPr>
          <p:cNvPr id="26651" name="Group 46"/>
          <p:cNvGrpSpPr>
            <a:grpSpLocks/>
          </p:cNvGrpSpPr>
          <p:nvPr/>
        </p:nvGrpSpPr>
        <p:grpSpPr bwMode="auto">
          <a:xfrm>
            <a:off x="1054100" y="4924425"/>
            <a:ext cx="762000" cy="665163"/>
            <a:chOff x="3174" y="2656"/>
            <a:chExt cx="1549" cy="1351"/>
          </a:xfrm>
        </p:grpSpPr>
        <p:sp>
          <p:nvSpPr>
            <p:cNvPr id="26663" name="AutoShape 47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64" name="AutoShape 48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53" name="AutoShape 49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26652" name="Text Box 50"/>
          <p:cNvSpPr txBox="1">
            <a:spLocks noChangeArrowheads="1"/>
          </p:cNvSpPr>
          <p:nvPr/>
        </p:nvSpPr>
        <p:spPr bwMode="gray">
          <a:xfrm>
            <a:off x="1250950" y="503555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456755" name="Text Box 51"/>
          <p:cNvSpPr txBox="1">
            <a:spLocks noChangeArrowheads="1"/>
          </p:cNvSpPr>
          <p:nvPr/>
        </p:nvSpPr>
        <p:spPr bwMode="auto">
          <a:xfrm>
            <a:off x="5940425" y="4005263"/>
            <a:ext cx="2665413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多项式</a:t>
            </a:r>
          </a:p>
        </p:txBody>
      </p:sp>
      <p:sp>
        <p:nvSpPr>
          <p:cNvPr id="26654" name="Line 52"/>
          <p:cNvSpPr>
            <a:spLocks noChangeShapeType="1"/>
          </p:cNvSpPr>
          <p:nvPr/>
        </p:nvSpPr>
        <p:spPr bwMode="auto">
          <a:xfrm>
            <a:off x="5695950" y="5435600"/>
            <a:ext cx="2895600" cy="0"/>
          </a:xfrm>
          <a:prstGeom prst="line">
            <a:avLst/>
          </a:prstGeom>
          <a:noFill/>
          <a:ln w="25400">
            <a:solidFill>
              <a:srgbClr val="C0C0C0"/>
            </a:solidFill>
            <a:prstDash val="sysDot"/>
            <a:round/>
            <a:headE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56757" name="Text Box 53"/>
          <p:cNvSpPr txBox="1">
            <a:spLocks noChangeArrowheads="1"/>
          </p:cNvSpPr>
          <p:nvPr/>
        </p:nvSpPr>
        <p:spPr bwMode="auto">
          <a:xfrm>
            <a:off x="6011863" y="4886325"/>
            <a:ext cx="27368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有限域</a:t>
            </a:r>
            <a:endParaRPr kumimoji="0"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grpSp>
        <p:nvGrpSpPr>
          <p:cNvPr id="26656" name="Group 54"/>
          <p:cNvGrpSpPr>
            <a:grpSpLocks/>
          </p:cNvGrpSpPr>
          <p:nvPr/>
        </p:nvGrpSpPr>
        <p:grpSpPr bwMode="auto">
          <a:xfrm>
            <a:off x="5086350" y="4868863"/>
            <a:ext cx="762000" cy="665162"/>
            <a:chOff x="3174" y="2656"/>
            <a:chExt cx="1549" cy="1351"/>
          </a:xfrm>
        </p:grpSpPr>
        <p:sp>
          <p:nvSpPr>
            <p:cNvPr id="26660" name="AutoShape 55"/>
            <p:cNvSpPr>
              <a:spLocks noChangeArrowheads="1"/>
            </p:cNvSpPr>
            <p:nvPr/>
          </p:nvSpPr>
          <p:spPr bwMode="gray">
            <a:xfrm>
              <a:off x="3187" y="2679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6661" name="AutoShape 56"/>
            <p:cNvSpPr>
              <a:spLocks noChangeArrowheads="1"/>
            </p:cNvSpPr>
            <p:nvPr/>
          </p:nvSpPr>
          <p:spPr bwMode="gray">
            <a:xfrm>
              <a:off x="3174" y="2656"/>
              <a:ext cx="1536" cy="1328"/>
            </a:xfrm>
            <a:prstGeom prst="hexagon">
              <a:avLst>
                <a:gd name="adj" fmla="val 28916"/>
                <a:gd name="vf" fmla="val 115470"/>
              </a:avLst>
            </a:prstGeom>
            <a:gradFill rotWithShape="1">
              <a:gsLst>
                <a:gs pos="0">
                  <a:srgbClr val="E6E6E6"/>
                </a:gs>
                <a:gs pos="7500">
                  <a:srgbClr val="7D8496"/>
                </a:gs>
                <a:gs pos="26500">
                  <a:srgbClr val="E6E6E6"/>
                </a:gs>
                <a:gs pos="34000">
                  <a:srgbClr val="7D8496"/>
                </a:gs>
                <a:gs pos="46500">
                  <a:srgbClr val="E6E6E6"/>
                </a:gs>
                <a:gs pos="50000">
                  <a:srgbClr val="FFFFFF"/>
                </a:gs>
                <a:gs pos="53500">
                  <a:srgbClr val="E6E6E6"/>
                </a:gs>
                <a:gs pos="66000">
                  <a:srgbClr val="7D8496"/>
                </a:gs>
                <a:gs pos="73500">
                  <a:srgbClr val="E6E6E6"/>
                </a:gs>
                <a:gs pos="92500">
                  <a:srgbClr val="7D8496"/>
                </a:gs>
                <a:gs pos="100000">
                  <a:srgbClr val="E6E6E6"/>
                </a:gs>
              </a:gsLst>
              <a:lin ang="2700000" scaled="1"/>
            </a:gradFill>
            <a:ln w="9525">
              <a:solidFill>
                <a:srgbClr val="C0C0C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50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6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latinLnBrk="1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130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456761" name="AutoShape 57"/>
            <p:cNvSpPr>
              <a:spLocks noChangeArrowheads="1"/>
            </p:cNvSpPr>
            <p:nvPr/>
          </p:nvSpPr>
          <p:spPr bwMode="gray">
            <a:xfrm>
              <a:off x="3264" y="2737"/>
              <a:ext cx="1349" cy="1167"/>
            </a:xfrm>
            <a:prstGeom prst="hexagon">
              <a:avLst>
                <a:gd name="adj" fmla="val 28896"/>
                <a:gd name="vf" fmla="val 115470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latinLnBrk="1" hangingPunct="1">
                <a:defRPr/>
              </a:pPr>
              <a:endParaRPr lang="zh-CN" altLang="en-US"/>
            </a:p>
          </p:txBody>
        </p:sp>
      </p:grpSp>
      <p:sp>
        <p:nvSpPr>
          <p:cNvPr id="26657" name="Text Box 58"/>
          <p:cNvSpPr txBox="1">
            <a:spLocks noChangeArrowheads="1"/>
          </p:cNvSpPr>
          <p:nvPr/>
        </p:nvSpPr>
        <p:spPr bwMode="gray">
          <a:xfrm>
            <a:off x="5283200" y="4979988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456763" name="Text Box 59"/>
          <p:cNvSpPr txBox="1">
            <a:spLocks noChangeArrowheads="1"/>
          </p:cNvSpPr>
          <p:nvPr/>
        </p:nvSpPr>
        <p:spPr bwMode="auto">
          <a:xfrm>
            <a:off x="2195513" y="3068638"/>
            <a:ext cx="1944687" cy="5191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sz="2800" b="1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</a:rPr>
              <a:t>群的定义</a:t>
            </a:r>
            <a:endParaRPr kumimoji="0" lang="en-US" altLang="zh-CN" sz="2800" b="1" dirty="0">
              <a:solidFill>
                <a:schemeClr val="bg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</a:endParaRPr>
          </a:p>
        </p:txBody>
      </p:sp>
      <p:sp>
        <p:nvSpPr>
          <p:cNvPr id="266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E415A9E-4F2F-46E5-AC3D-61C093F11101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>
              <a:defRPr/>
            </a:pPr>
            <a:r>
              <a:rPr kumimoji="0" lang="zh-CN" altLang="en-US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子群及其陪集</a:t>
            </a:r>
            <a:endParaRPr lang="zh-CN" altLang="en-US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765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6.3.1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子群的定义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6.3.2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子群的判别条件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6.3.3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循环群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6.3.4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陪集</a:t>
            </a:r>
          </a:p>
        </p:txBody>
      </p:sp>
      <p:sp>
        <p:nvSpPr>
          <p:cNvPr id="27652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7CC3A65-7741-499C-B929-7B456871783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</a:p>
        </p:txBody>
      </p:sp>
      <p:sp>
        <p:nvSpPr>
          <p:cNvPr id="382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9588" y="1246188"/>
            <a:ext cx="8424862" cy="5184775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是一个群，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按照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中的乘法运算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·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仍是一个群，则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叫做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的一个子群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不等于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，即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叫做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的真子群。 </a:t>
            </a:r>
            <a:endParaRPr lang="en-US" altLang="zh-CN" sz="3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zh-CN" sz="3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1071563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Note: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的运算必须与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的运算一样，</a:t>
            </a:r>
          </a:p>
          <a:p>
            <a:pPr marL="0" indent="-1071563" eaLnBrk="1" hangingPunct="1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(C*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 </a:t>
            </a:r>
          </a:p>
          <a:p>
            <a:pPr marL="0" indent="-1071563" eaLnBrk="1" hangingPunct="1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-1071563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867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5B4D02-E036-4171-B7DB-09E5FAC65D4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2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2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29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05478"/>
            <a:ext cx="8641208" cy="4922837"/>
          </a:xfrm>
        </p:spPr>
        <p:txBody>
          <a:bodyPr/>
          <a:lstStyle/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的一个子群，其中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为整数。</a:t>
            </a: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(Q，+)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(Z，+)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为其真子群。 </a:t>
            </a: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(Q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为其真子群。</a:t>
            </a: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 行列式等于1的所有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阶矩阵作成实数域上所有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阶非奇异矩阵的乘法群的一个真子群。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4000"/>
              </a:lnSpc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交代群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次对称群的一个真子群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(n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4000"/>
              </a:lnSpc>
              <a:defRPr/>
            </a:pP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10000"/>
              </a:lnSpc>
              <a:defRPr/>
            </a:pP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子群的例</a:t>
            </a:r>
          </a:p>
        </p:txBody>
      </p:sp>
      <p:sp>
        <p:nvSpPr>
          <p:cNvPr id="297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1633F9-C7E2-41E3-BC78-ECAB451F403E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eaLnBrk="1" hangingPunct="1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任一群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都有两个明显的子群，称为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的平凡子群：</a:t>
            </a:r>
          </a:p>
          <a:p>
            <a:pPr marL="0" eaLnBrk="1" hangingPunct="1"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由其单位元素组成的子群{1}，称为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的单位子群；</a:t>
            </a:r>
          </a:p>
          <a:p>
            <a:pPr marL="0" eaLnBrk="1" hangingPunct="1">
              <a:lnSpc>
                <a:spcPct val="120000"/>
              </a:lnSpc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本身。</a:t>
            </a:r>
          </a:p>
          <a:p>
            <a:pPr marL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其余的子群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如果有的话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称为非平凡子群。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eaLnBrk="1" hangingPunct="1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平凡子群</a:t>
            </a:r>
          </a:p>
        </p:txBody>
      </p:sp>
      <p:sp>
        <p:nvSpPr>
          <p:cNvPr id="3072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548EFA-1DF4-4DF5-A75D-BB78BF396BE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588" y="1339850"/>
            <a:ext cx="8301037" cy="5257800"/>
          </a:xfrm>
        </p:spPr>
        <p:txBody>
          <a:bodyPr/>
          <a:lstStyle/>
          <a:p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偶数加法群是整数加法群的非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平凡子群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?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是否对于任意群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，都存在两个不同的平凡子群？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buClr>
                <a:srgbClr val="3333CC"/>
              </a:buClr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S={0,1,2,3,4,5},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的整数加法群。取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A={0,2,4},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问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下，是否为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的非平凡子群？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05000"/>
              </a:lnSpc>
              <a:buClr>
                <a:srgbClr val="3333CC"/>
              </a:buClr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S={0,1,2,3,4}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，规定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上的运算⊕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加法，则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5)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的整数加法群。取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A={0,2,4}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，问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下，是否为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的子群？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Clr>
                <a:srgbClr val="3333CC"/>
              </a:buClr>
            </a:pPr>
            <a:endParaRPr lang="en-US" altLang="zh-CN" sz="30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3200" b="1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6.3.1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子群的定义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平凡子群</a:t>
            </a:r>
          </a:p>
        </p:txBody>
      </p:sp>
      <p:sp>
        <p:nvSpPr>
          <p:cNvPr id="317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6598DE-C9C0-4A47-A054-058B274EF95B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82713"/>
            <a:ext cx="8423275" cy="4895850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定理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6.3.1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（判别条件一）   </a:t>
            </a:r>
          </a:p>
          <a:p>
            <a:pPr marL="0" indent="0"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群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的一个子集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的一个子群的充分必要条件是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   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 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   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 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3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 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(3)    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非空。</a:t>
            </a:r>
          </a:p>
          <a:p>
            <a:pPr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6.3.2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</a:t>
            </a:r>
          </a:p>
        </p:txBody>
      </p:sp>
      <p:sp>
        <p:nvSpPr>
          <p:cNvPr id="327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E58CB8-C3DE-4E6E-B484-DBB72D3516D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</a:t>
            </a: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的子群，则(1)、(3)显然。</a:t>
            </a:r>
          </a:p>
          <a:p>
            <a:pPr marL="0" indent="0"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现要证（2）.</a:t>
            </a:r>
            <a:endParaRPr lang="en-US" altLang="zh-CN" sz="33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子群的判别条件一（必要性证明）</a:t>
            </a:r>
          </a:p>
        </p:txBody>
      </p:sp>
      <p:sp>
        <p:nvSpPr>
          <p:cNvPr id="3379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38F647-5D4B-4E81-AB33-8B305902C01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1813" y="1331913"/>
            <a:ext cx="8301037" cy="4922837"/>
          </a:xfrm>
        </p:spPr>
        <p:txBody>
          <a:bodyPr/>
          <a:lstStyle/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先证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中的单位元就是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中的单位元。 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设1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中的单位元，1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中的单位元。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中有：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中也成立。以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右乘得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(1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aa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000" baseline="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spcBef>
                <a:spcPts val="16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/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子群的判别条件一（必要性证明）</a:t>
            </a:r>
          </a:p>
        </p:txBody>
      </p:sp>
      <p:sp>
        <p:nvSpPr>
          <p:cNvPr id="3482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A0B258-3BDC-450B-AFD4-A8DE189BCDC6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由群的定义，对于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应有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ab=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此式在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中亦成立，以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左乘得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ab=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ctr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b=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成立。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必要性证毕。</a:t>
            </a: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子群的判别条件一（必要性证明）</a:t>
            </a:r>
          </a:p>
        </p:txBody>
      </p:sp>
      <p:sp>
        <p:nvSpPr>
          <p:cNvPr id="3584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7FB60AD-A71F-40A1-AAA2-C3EFBCB6C1A8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内容占位符 2"/>
          <p:cNvSpPr>
            <a:spLocks noGrp="1"/>
          </p:cNvSpPr>
          <p:nvPr>
            <p:ph idx="1"/>
          </p:nvPr>
        </p:nvSpPr>
        <p:spPr>
          <a:xfrm>
            <a:off x="323850" y="1268413"/>
            <a:ext cx="8712200" cy="5427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设(1),(2),(3)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成立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由(3)，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</a:t>
            </a: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由(1)，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内运算封闭.</a:t>
            </a: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中成立的结合律在子集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中自然成立。</a:t>
            </a: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中有单位元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。任取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由(2),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由(1),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H；1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中适合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中亦有此性质。</a:t>
            </a:r>
          </a:p>
          <a:p>
            <a:pPr eaLnBrk="1" hangingPunct="1"/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逆。因由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(2),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a=1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此式在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中亦应成立，故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中之逆。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的运算下是一个群，故是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子群的判别条件一（充分性证明）</a:t>
            </a:r>
          </a:p>
        </p:txBody>
      </p:sp>
      <p:sp>
        <p:nvSpPr>
          <p:cNvPr id="3686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9CEBD9-3270-46F3-8421-F3BF39A98338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2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子群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与大群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的关系：</a:t>
            </a:r>
          </a:p>
          <a:p>
            <a:pPr marL="0" indent="0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的单位元就是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的单位元，</a:t>
            </a:r>
          </a:p>
          <a:p>
            <a:pPr marL="0" indent="0" eaLnBrk="1" hangingPunct="1">
              <a:lnSpc>
                <a:spcPct val="114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中任一元素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中的逆元也就是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中的逆元。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14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</a:p>
          <a:p>
            <a:pPr marL="0" indent="0" eaLnBrk="1" hangingPunct="1">
              <a:tabLst>
                <a:tab pos="1149350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子群的判别条件一</a:t>
            </a:r>
          </a:p>
        </p:txBody>
      </p:sp>
      <p:sp>
        <p:nvSpPr>
          <p:cNvPr id="3789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6289D60-B9F8-4A07-B098-CB52F53198A0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268413"/>
            <a:ext cx="8301038" cy="4779962"/>
          </a:xfrm>
        </p:spPr>
        <p:txBody>
          <a:bodyPr/>
          <a:lstStyle/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，·)，(H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(G，·)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的两个互不包含的子群，证明：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≠G。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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故只需证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中存在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一个元素，它既不属于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也不属于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互不包含知，存在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x，y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</a:p>
          <a:p>
            <a:pPr algn="ctr"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14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应用子群的判别条件一的例</a:t>
            </a:r>
          </a:p>
        </p:txBody>
      </p:sp>
      <p:sp>
        <p:nvSpPr>
          <p:cNvPr id="3891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86C45B-8157-41D8-8D2F-9BA50BCB3B5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内容占位符 2"/>
          <p:cNvSpPr>
            <a:spLocks noGrp="1"/>
          </p:cNvSpPr>
          <p:nvPr>
            <p:ph idx="1"/>
          </p:nvPr>
        </p:nvSpPr>
        <p:spPr>
          <a:xfrm>
            <a:off x="611188" y="1268413"/>
            <a:ext cx="8353425" cy="53562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用反证法，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x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矛盾。</a:t>
            </a:r>
          </a:p>
          <a:p>
            <a:pPr marL="0" eaLnBrk="1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用反证法，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)·y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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∪H</a:t>
            </a:r>
            <a:r>
              <a:rPr lang="en-US" altLang="zh-CN" sz="30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≠G。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应用子群的判别条件一的例</a:t>
            </a:r>
          </a:p>
        </p:txBody>
      </p:sp>
      <p:sp>
        <p:nvSpPr>
          <p:cNvPr id="3994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175BA2-2E50-458A-8EB4-3A67A2CA58AD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196975"/>
            <a:ext cx="8640762" cy="4851400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的子群，证明：对任意的</a:t>
            </a:r>
            <a:r>
              <a:rPr lang="en-US" altLang="zh-CN" sz="3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32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，集合</a:t>
            </a:r>
            <a:r>
              <a:rPr lang="en-US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gHg</a:t>
            </a:r>
            <a:r>
              <a:rPr lang="en-US" altLang="zh-CN" sz="3200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  <a:endParaRPr lang="en-US" altLang="zh-CN" sz="32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32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None/>
              <a:defRPr/>
            </a:pP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a=gh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b=gh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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H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,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ab=(gh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)(gh</a:t>
            </a:r>
            <a:r>
              <a:rPr lang="en-US" altLang="zh-CN" sz="32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32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2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任取 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a=gh</a:t>
            </a:r>
            <a:r>
              <a:rPr lang="en-US" altLang="zh-CN" sz="3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gHg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 a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=(gh</a:t>
            </a:r>
            <a:r>
              <a:rPr lang="en-US" altLang="zh-CN" sz="3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=gh</a:t>
            </a:r>
            <a:r>
              <a:rPr lang="en-US" altLang="zh-CN" sz="3000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gHg</a:t>
            </a:r>
            <a:r>
              <a:rPr lang="en-US" altLang="zh-CN" sz="30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 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g1g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gHg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gHg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非空。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集合</a:t>
            </a:r>
            <a:r>
              <a:rPr lang="en-US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gHg</a:t>
            </a:r>
            <a:r>
              <a:rPr lang="en-US" altLang="zh-CN" sz="32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zh-CN" sz="300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zh-CN" altLang="en-US" sz="3000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应用子群的判别条件一的例</a:t>
            </a:r>
          </a:p>
        </p:txBody>
      </p:sp>
      <p:sp>
        <p:nvSpPr>
          <p:cNvPr id="40964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F75712-A9FE-467F-9003-F6999D1D9E4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497887" cy="4391025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6.3.2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（判别条件二）</a:t>
            </a:r>
          </a:p>
          <a:p>
            <a:pPr marL="0" indent="0">
              <a:lnSpc>
                <a:spcPct val="14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中的两个条件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可以换成下面一个条件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     (*)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6.3.2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</a:t>
            </a:r>
          </a:p>
        </p:txBody>
      </p:sp>
      <p:sp>
        <p:nvSpPr>
          <p:cNvPr id="4198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9B3F13-5EBA-4C4A-AB15-8264581F9611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677275" cy="5329237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zh-CN" sz="4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(1), 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(2), 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(1), 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成立。设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可推得，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1∈H.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又由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可推得，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1·a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，因为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已证，故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再由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推知，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 (b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a·b∈H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成立。 </a:t>
            </a: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子群的判别条件二证明</a:t>
            </a:r>
          </a:p>
        </p:txBody>
      </p:sp>
      <p:sp>
        <p:nvSpPr>
          <p:cNvPr id="4301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66F84F0-8D2A-4087-9CF6-BF1F786F9C4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8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85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85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85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468313" y="1241425"/>
            <a:ext cx="8567737" cy="550068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∈K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a,b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同理可得，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ab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∩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扩展结论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的任意多个子群的交仍是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  <a:endParaRPr lang="en-US" altLang="zh-CN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403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8C056C-CEF7-4745-82EF-06EE764F57B6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子群的判别条件二证明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196975"/>
            <a:ext cx="8301038" cy="4851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给定整数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m，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,+)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是一个群。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证明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因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是一个群，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的子集，因此，只需证(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(1)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非空，至少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(2)</a:t>
            </a:r>
            <a:r>
              <a:rPr lang="zh-CN" altLang="en-US" sz="3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对任意</a:t>
            </a:r>
            <a:r>
              <a:rPr lang="en-US" altLang="zh-CN" sz="3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x, 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k, </a:t>
            </a:r>
            <a:r>
              <a:rPr lang="en-US" altLang="zh-CN" sz="3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∈Z，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x=km, y=</a:t>
            </a:r>
            <a:r>
              <a:rPr lang="en-US" altLang="zh-CN" sz="3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 </a:t>
            </a:r>
          </a:p>
          <a:p>
            <a:pPr eaLnBrk="1" hangingPunct="1"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+(-y)=km +(-</a:t>
            </a:r>
            <a:r>
              <a:rPr lang="en-US" altLang="zh-CN" sz="3000" i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m)=(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k-</a:t>
            </a:r>
            <a:r>
              <a:rPr lang="en-US" altLang="zh-CN" sz="3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)m ∈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mZ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是(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当然本身是一个群。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E6AE1E-1B84-4623-B32D-89DAE5F54D8B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判别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条件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二的例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549275"/>
            <a:ext cx="8712200" cy="59753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练习：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HK={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xy|x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∈H, 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的子群当且仅当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必要性，已知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HK=KH.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 ∈HK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∈HK 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于是存在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k∈K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x=k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∈KH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。同理可证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KH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，从而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充分性，已知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514350" indent="-514350">
              <a:buClr>
                <a:srgbClr val="0000FF"/>
              </a:buClr>
              <a:buFont typeface="Wingdings" panose="05000000000000000000" pitchFamily="2" charset="2"/>
              <a:buAutoNum type="arabicParenR"/>
              <a:defRPr/>
            </a:pP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,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 ,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1.1=1∈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非空。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514350" indent="-514350">
              <a:buClr>
                <a:srgbClr val="0000FF"/>
              </a:buClr>
              <a:buFont typeface="Wingdings" panose="05000000000000000000" pitchFamily="2" charset="2"/>
              <a:buAutoNum type="arabicParenR"/>
              <a:defRPr/>
            </a:pP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y∈HK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，则有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∈H, 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∈K 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,y=h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xy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k=k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∈K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HK=KH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，存在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k’ ∈K , h’ ∈H,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=h’ k’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xy</a:t>
            </a:r>
            <a:r>
              <a:rPr lang="en-US" altLang="zh-CN" sz="28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h’ k’ ∈HK.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证毕。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800" baseline="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460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28675D-6299-4D8E-882E-5C94AB0B6342}" type="slidenum">
              <a:rPr kumimoji="1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윤명조140" pitchFamily="18" charset="-127"/>
                <a:ea typeface="-윤명조140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윤명조140" pitchFamily="18" charset="-127"/>
              <a:ea typeface="-윤명조140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076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424862" cy="4895850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6.3.3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（判别条件三）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有限非空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子集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的一个子群的充分必要条件是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的运算是封闭的，即若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 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ab ∈ 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</a:p>
        </p:txBody>
      </p:sp>
      <p:sp>
        <p:nvSpPr>
          <p:cNvPr id="389124" name="AutoShape 4"/>
          <p:cNvSpPr>
            <a:spLocks noChangeArrowheads="1"/>
          </p:cNvSpPr>
          <p:nvPr/>
        </p:nvSpPr>
        <p:spPr bwMode="auto">
          <a:xfrm>
            <a:off x="642938" y="4076700"/>
            <a:ext cx="7632700" cy="1873250"/>
          </a:xfrm>
          <a:prstGeom prst="plaque">
            <a:avLst>
              <a:gd name="adj" fmla="val 16667"/>
            </a:avLst>
          </a:prstGeom>
          <a:solidFill>
            <a:srgbClr val="98FABD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18900000" algn="ctr" rotWithShape="0">
              <a:schemeClr val="bg2">
                <a:alpha val="50000"/>
              </a:schemeClr>
            </a:outerShdw>
          </a:effectLst>
        </p:spPr>
        <p:txBody>
          <a:bodyPr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(G, 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是有限群，则对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的任意非空子集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，只要运算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·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封闭，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(H, 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就是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(G, 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的子群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。</a:t>
            </a: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6.3.2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</a:t>
            </a:r>
          </a:p>
        </p:txBody>
      </p:sp>
      <p:sp>
        <p:nvSpPr>
          <p:cNvPr id="4710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9F0916-CF27-48EB-A8DE-DDD50ED4F77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89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89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/>
          <p:cNvSpPr>
            <a:spLocks noGrp="1"/>
          </p:cNvSpPr>
          <p:nvPr>
            <p:ph idx="1"/>
          </p:nvPr>
        </p:nvSpPr>
        <p:spPr>
          <a:xfrm>
            <a:off x="395288" y="1169988"/>
            <a:ext cx="8301037" cy="56880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由判别条件一知，只需证明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即可。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则由运算封闭性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,...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,所以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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j 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 j&gt;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j-i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=1, a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j-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&gt;1,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 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b)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j-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=a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.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充分性也可用习题</a:t>
            </a:r>
            <a:r>
              <a:rPr lang="en-US" altLang="zh-CN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6.2—2</a:t>
            </a:r>
            <a:r>
              <a:rPr lang="zh-CN" altLang="en-US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结论证明</a:t>
            </a:r>
            <a:r>
              <a:rPr lang="en-US" altLang="zh-CN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eaLnBrk="1" hangingPunct="1"/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子群的判别条件三证明</a:t>
            </a:r>
          </a:p>
        </p:txBody>
      </p:sp>
      <p:sp>
        <p:nvSpPr>
          <p:cNvPr id="4813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6A6C2F-C09B-405B-9572-3E067FF90375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5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5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5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15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385888"/>
            <a:ext cx="8301038" cy="4922837"/>
          </a:xfrm>
        </p:spPr>
        <p:txBody>
          <a:bodyPr/>
          <a:lstStyle/>
          <a:p>
            <a:pPr marL="0" indent="-377825" eaLnBrk="1" hangingPunct="1">
              <a:spcBef>
                <a:spcPct val="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次对称群，判断其非空子集是否是群只需验证运算是否封闭。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试判断下面子集在置换的乘法下是否是群：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(1)所有偶置换的集合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(2)所有奇置换的集合 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(3){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2)}</a:t>
            </a:r>
          </a:p>
          <a:p>
            <a:pPr marL="0" indent="-377825" eaLnBrk="1" hangingPunct="1">
              <a:spcBef>
                <a:spcPct val="50000"/>
              </a:spcBef>
              <a:buFont typeface="Wingdings" panose="05000000000000000000" pitchFamily="2" charset="2"/>
              <a:buNone/>
              <a:tabLst>
                <a:tab pos="1042988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(4){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(12), (13)}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377825" eaLnBrk="1" hangingPunct="1">
              <a:tabLst>
                <a:tab pos="1042988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5095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应用子群的判别条件三的例</a:t>
            </a:r>
          </a:p>
        </p:txBody>
      </p:sp>
      <p:sp>
        <p:nvSpPr>
          <p:cNvPr id="491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4123E1C-0D1E-4791-ACF2-82BD02E5219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6.3.3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 环 群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497887" cy="5400675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定理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6.3.4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的一个元素。于是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的所有幂的集合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{a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| n=0,±1,±2,… }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，做成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的一个子群，记为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此群称为由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生成的子群。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 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非空，例如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 ∈(a)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中二元素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m-n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。故由定理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做成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的一个子群。</a:t>
            </a:r>
          </a:p>
        </p:txBody>
      </p:sp>
      <p:sp>
        <p:nvSpPr>
          <p:cNvPr id="5018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D931A6-A92F-4EE5-8924-E574FE26475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1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1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84313"/>
            <a:ext cx="8640762" cy="5373687"/>
          </a:xfrm>
        </p:spPr>
        <p:txBody>
          <a:bodyPr/>
          <a:lstStyle/>
          <a:p>
            <a:pPr marL="0" indent="0"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29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 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如果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可以由它的某元素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生成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 ∈G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使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 =(a)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，群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叫做一个循环群，或巡回群。于是定理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6.3.4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中的子群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可称为由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生成的循环子群。 </a:t>
            </a:r>
          </a:p>
          <a:p>
            <a:pPr marL="0" indent="0"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3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6.3.3 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 环 群</a:t>
            </a:r>
          </a:p>
        </p:txBody>
      </p:sp>
      <p:sp>
        <p:nvSpPr>
          <p:cNvPr id="51204" name="灯片编号占位符 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769FAF-A881-4E3A-AD33-41C99001DA82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例</a:t>
            </a:r>
            <a:r>
              <a:rPr lang="en-US" altLang="zh-CN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整数加法群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(Z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+)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是由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生成的循</a:t>
            </a:r>
            <a:endParaRPr lang="en-US" altLang="zh-CN" sz="3200" kern="1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环群。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en-US" altLang="zh-CN" sz="3200" kern="1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nZ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+)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是由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生成的循环群。</a:t>
            </a:r>
            <a:endParaRPr lang="en-US" altLang="zh-CN" sz="3200" kern="1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latinLnBrk="0" hangingPunct="1">
              <a:lnSpc>
                <a:spcPct val="12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是4次对称群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本身不是循环群</a:t>
            </a:r>
            <a:r>
              <a:rPr lang="en-US" altLang="zh-CN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kern="1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200" kern="1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32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</a:t>
            </a:r>
            <a:r>
              <a:rPr lang="en-US" altLang="zh-CN" sz="32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生成的循环子群为{</a:t>
            </a:r>
            <a:r>
              <a:rPr lang="en-US" altLang="zh-CN" sz="3200" kern="12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2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，(1 </a:t>
            </a:r>
            <a:r>
              <a:rPr lang="en-US" altLang="zh-CN" sz="3200" kern="12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2)}。 </a:t>
            </a:r>
          </a:p>
          <a:p>
            <a:pPr marL="0" indent="0" eaLnBrk="1" latinLnBrk="0" hangingPunct="1"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endParaRPr lang="en-US" altLang="zh-CN" sz="2800" b="1" kern="1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defRPr/>
            </a:pP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 环 群的例</a:t>
            </a:r>
          </a:p>
        </p:txBody>
      </p:sp>
      <p:sp>
        <p:nvSpPr>
          <p:cNvPr id="52228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A37000-1C10-4AB0-9E7C-526BBCDE2C3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311275"/>
            <a:ext cx="8569325" cy="5211763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.)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是非零复数乘法群：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H1={1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，是由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.)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的循环子群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H2={1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，是由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.)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的循环子群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H3={…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2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2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2, 2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…}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，是由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生成的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.)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的循环子群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427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AC94504-4284-4068-B110-1949402058B5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5427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 环 群的例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内容占位符 2"/>
          <p:cNvSpPr>
            <a:spLocks noGrp="1"/>
          </p:cNvSpPr>
          <p:nvPr>
            <p:ph idx="1"/>
          </p:nvPr>
        </p:nvSpPr>
        <p:spPr>
          <a:xfrm>
            <a:off x="683568" y="1409700"/>
            <a:ext cx="7940749" cy="5067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结论：每个循环群是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  <a:endParaRPr lang="en-US" altLang="zh-CN" sz="32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 *)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是循环群，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是生成元，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则对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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 b G,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a=g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b=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a*b=g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r+s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*g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=b*a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zh-CN" altLang="en-US" sz="36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552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8742FA-F1C0-42F3-8AA3-4BE2E868B218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5530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 环 群的例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9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99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231900"/>
            <a:ext cx="8424862" cy="5473700"/>
          </a:xfrm>
        </p:spPr>
        <p:txBody>
          <a:bodyPr/>
          <a:lstStyle/>
          <a:p>
            <a:pPr>
              <a:lnSpc>
                <a:spcPct val="10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看由元素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所生成的循环群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：</a:t>
            </a:r>
            <a:b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…,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a,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…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      (1)</a:t>
            </a:r>
          </a:p>
          <a:p>
            <a:pPr>
              <a:lnSpc>
                <a:spcPct val="105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有两种情形：</a:t>
            </a:r>
          </a:p>
          <a:p>
            <a:pPr marL="0">
              <a:lnSpc>
                <a:spcPct val="10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情形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0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：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中所有元素都彼此不同，则称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的周期为无穷大或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。此时，对任意两个不同的整数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≠a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>
              <a:lnSpc>
                <a:spcPct val="10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情形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baseline="30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：如果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中出现重复的元素，即有整数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s≠t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使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。不妨设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s&gt;t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，于是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s-t&gt;0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s-t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，即有正整数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使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为适合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的最小正整数，则称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29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29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>
              <a:lnSpc>
                <a:spcPct val="10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29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例：</a:t>
            </a:r>
            <a:endParaRPr lang="en-US" altLang="zh-CN" sz="29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endParaRPr lang="zh-CN" altLang="en-US" sz="29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63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4746FBB-B300-4BDE-A13A-1BA69629501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5632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元素的周期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2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92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92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92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92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395288" y="1243013"/>
            <a:ext cx="8641208" cy="4922837"/>
          </a:xfrm>
        </p:spPr>
        <p:txBody>
          <a:bodyPr/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群中单位元的周期为1，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={1}。  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u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群中任一元素和它的逆元具有同样的周期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证明: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的周期为无穷大,则显然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的周期也为无穷大。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m，      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m≤n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m|n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)。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 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n≤m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n|m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。</a:t>
            </a: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m=n。</a:t>
            </a:r>
          </a:p>
          <a:p>
            <a:pPr>
              <a:buFont typeface="Wingdings" panose="05000000000000000000" pitchFamily="2" charset="2"/>
              <a:buNone/>
            </a:pPr>
            <a:endParaRPr lang="zh-CN" altLang="en-US" sz="3000" b="1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7348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CCB2A27-243F-4B7E-852F-A7735C26A1DB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元素的周期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"/>
          <p:cNvSpPr>
            <a:spLocks noGrp="1"/>
          </p:cNvSpPr>
          <p:nvPr>
            <p:ph idx="1"/>
          </p:nvPr>
        </p:nvSpPr>
        <p:spPr>
          <a:xfrm>
            <a:off x="539552" y="1243013"/>
            <a:ext cx="8323461" cy="4922837"/>
          </a:xfrm>
        </p:spPr>
        <p:txBody>
          <a:bodyPr/>
          <a:lstStyle/>
          <a:p>
            <a:pPr>
              <a:buFont typeface="Wingdings" panose="05000000000000000000" pitchFamily="2" charset="2"/>
              <a:buChar char="u"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元有限群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(G,*)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</a:t>
            </a:r>
            <a:r>
              <a:rPr lang="zh-CN" altLang="en-US" sz="3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每一元素周期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有限，且至多为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，则在序列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,…,a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n+1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中至少有两个元素相同，不妨设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(1s&lt;rn+1)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*a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*a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 1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所以，元素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的周期至多为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r-s n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zh-CN" altLang="en-US" sz="30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8372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4EBFF90-78F6-4224-8797-F3854C8A9519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元素的周期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442913" y="1412875"/>
            <a:ext cx="8424862" cy="4465638"/>
          </a:xfrm>
        </p:spPr>
        <p:txBody>
          <a:bodyPr/>
          <a:lstStyle/>
          <a:p>
            <a:pPr marL="114300" indent="-45720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4次对称群中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1 2 3 4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的周期是4，因为    </a:t>
            </a:r>
          </a:p>
          <a:p>
            <a:pPr marL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1 2 3 4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1 2 3 4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1 4 3 2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1 2 3 4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</a:p>
          <a:p>
            <a:pPr marL="114300" indent="-45720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(C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中，1的周期为1，-1的周期为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的周期为4，模数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r≠1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的复数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re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iθ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的周期为无穷大。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114300" indent="-45720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的周期是多少？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的周期是多少？</a:t>
            </a:r>
          </a:p>
        </p:txBody>
      </p:sp>
      <p:sp>
        <p:nvSpPr>
          <p:cNvPr id="6041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403E7A-2EDE-43EB-BF04-D8C52C771010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周期的例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0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练习：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次对称群中， 求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(123)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(1324)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，·)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，求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(Z 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+)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中，求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判断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G={1 , 3 , 4 , 5 , 9}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在模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的乘法下是否为群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？若是，求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的周期。</a:t>
            </a:r>
            <a:endParaRPr lang="en-US" altLang="zh-CN" sz="3200" dirty="0" smtClean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2BE0B6-33ED-4271-BA60-4214A05283CD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174076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6075" y="1557338"/>
            <a:ext cx="8618538" cy="4319587"/>
          </a:xfrm>
        </p:spPr>
      </p:pic>
      <p:sp>
        <p:nvSpPr>
          <p:cNvPr id="624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22D7ED-C442-4F61-B559-C3821A7F0CB2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周期的例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399462" cy="5040312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(G,·)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x，y∈G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baseline="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x</a:t>
            </a:r>
            <a:r>
              <a:rPr lang="en-US" altLang="zh-CN" sz="3000" baseline="30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x≠1,   y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的周期是2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试求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的周期。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由已知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x≠1，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断言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≠1.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反证，若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由已知</a:t>
            </a: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x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</a:t>
            </a: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）=1，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得</a:t>
            </a: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x·y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两边同时右乘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x=1，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与已知矛盾。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4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F9575C4-35BB-4866-B491-D54987A82BB5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349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周期的例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/>
          <p:cNvSpPr>
            <a:spLocks noGrp="1"/>
          </p:cNvSpPr>
          <p:nvPr>
            <p:ph idx="1"/>
          </p:nvPr>
        </p:nvSpPr>
        <p:spPr>
          <a:xfrm>
            <a:off x="468313" y="1265238"/>
            <a:ext cx="8301037" cy="5211762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得：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）·（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=（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）·（y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·y）·（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             </a:t>
            </a: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=（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）·1·（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     </a:t>
            </a: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= y·x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·y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= y·（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y·x·y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）·y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由已知</a:t>
            </a: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=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·x·y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–2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的周期是2知，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–2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</a:p>
          <a:p>
            <a:pPr algn="ctr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1·x·1=x。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因此，3是满足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最小正整数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的周期是3。 </a:t>
            </a: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zh-CN" sz="28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zh-CN" sz="28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zh-CN" sz="28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5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E09ECA-AB7F-429F-B753-90F72613EC4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451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周期的例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50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0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50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0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0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0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0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7887" cy="504031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的周期为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1, a, 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 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,…,a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n-1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个不同元素；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当且仅当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n∣m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;</a:t>
            </a:r>
            <a:b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当且仅当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n∣(s-t)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655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A2FF5A-BA0F-4F15-90CB-F3F59392A50D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554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6.3.5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468313" y="1341438"/>
            <a:ext cx="8301037" cy="52832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因为任意整数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恒可唯一地表为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m=nq+r，0≤r&lt;n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nq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30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q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=1a</a:t>
            </a:r>
            <a:r>
              <a:rPr lang="en-US" altLang="zh-CN" sz="30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；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由于0≤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r&lt;n，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故按周期的定义知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iff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r=0</a:t>
            </a:r>
          </a:p>
          <a:p>
            <a:pPr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所以</a:t>
            </a:r>
          </a:p>
          <a:p>
            <a:pPr algn="ctr">
              <a:lnSpc>
                <a:spcPct val="90000"/>
              </a:lnSpc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iff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r=0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iff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n∣m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得证。由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即知 </a:t>
            </a:r>
          </a:p>
          <a:p>
            <a:pPr algn="ctr"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t 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iff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s-t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=1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iff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n∣(s-t)，</a:t>
            </a:r>
          </a:p>
          <a:p>
            <a:pPr>
              <a:spcBef>
                <a:spcPts val="2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得证，最后由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立即可得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 </a:t>
            </a: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656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2C5C66-B078-4EA4-BBCD-2CEA58D4F08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656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6.3.5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7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7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710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7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710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710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/>
          <p:cNvSpPr>
            <a:spLocks noGrp="1"/>
          </p:cNvSpPr>
          <p:nvPr>
            <p:ph idx="1"/>
          </p:nvPr>
        </p:nvSpPr>
        <p:spPr>
          <a:xfrm>
            <a:off x="395288" y="1268413"/>
            <a:ext cx="8301037" cy="5356225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的一个元素，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的周期为无穷大，则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是无限循环群，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由彼此不同的元素</a:t>
            </a:r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…，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，1，a，a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，…</a:t>
            </a:r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组成。</a:t>
            </a:r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元循环群它由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个不同的元素</a:t>
            </a:r>
          </a:p>
          <a:p>
            <a:pPr marL="0" indent="0" algn="ctr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a，a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，…，a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n-1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组成。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注：</a:t>
            </a:r>
          </a:p>
        </p:txBody>
      </p:sp>
      <p:sp>
        <p:nvSpPr>
          <p:cNvPr id="675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BC408D-1E6C-41A9-B61A-8251A790863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41425"/>
            <a:ext cx="8301037" cy="5616575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在加法群中，(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应换为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的所有倍数的集合  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…，-2a，-a，0，a，2a，…       *</a:t>
            </a:r>
            <a:b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当(*)中的所有元素均彼此不同时，称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的周期为无穷大或为0；否则当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适合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na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=0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的最小正整数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时，称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>
              <a:lnSpc>
                <a:spcPct val="12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Z,+)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中除0以外,其余元素的周期为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无穷大。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endParaRPr lang="zh-CN" alt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6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F9561A-00C2-42CD-A761-5B7EF1E4775B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861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加法群中的周期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若加法群中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n，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则有</a:t>
            </a:r>
            <a:b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’)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0，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a，2a，…,(n-1)a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个不同元素</a:t>
            </a:r>
            <a:b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(2′)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ma=0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当且仅当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n∣m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;</a:t>
            </a:r>
            <a:b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(3′) 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sa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=ta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当且仅当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n∣(s-t).</a:t>
            </a: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6963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4E6CD73-A6BF-4E9D-8CE0-968623A985B5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6963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6.3.5’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85775" y="1311275"/>
            <a:ext cx="8351838" cy="4832350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  <a:ea typeface="华文中宋"/>
                <a:cs typeface="Times New Roman" panose="02020603050405020304" pitchFamily="18" charset="0"/>
                <a:sym typeface="Symbol" panose="05050102010706020507" pitchFamily="18" charset="2"/>
              </a:rPr>
              <a:t>6.3.6</a:t>
            </a:r>
            <a:r>
              <a:rPr lang="en-US" altLang="zh-CN" sz="3200" b="1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/>
            </a:r>
            <a:br>
              <a:rPr lang="en-US" altLang="zh-CN" sz="3200" b="1" dirty="0">
                <a:solidFill>
                  <a:srgbClr val="0000FF"/>
                </a:solidFill>
                <a:latin typeface="+mj-lt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(1)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无限循环群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一共有两个生成元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及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(2) 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元循环群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中，元素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的生成元的充要条件是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k)=1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所以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一共有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个生成元素。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例：</a:t>
            </a:r>
          </a:p>
          <a:p>
            <a:pPr marL="0" indent="0"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06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1F26C2-BE3C-4AD8-A0AC-C534B8A6D1C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循环群的生成元素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56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5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56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556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56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414463"/>
            <a:ext cx="8399462" cy="4610100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(1)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往证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无限循环群中，共有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个生成元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itchFamily="18" charset="2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证明：如果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的一个生成元，那么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中每个元素都可表示为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的方幂。特别地，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也可表示为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的方幂。设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)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 m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是无限循环群知，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km=1.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因此</a:t>
            </a:r>
            <a:r>
              <a:rPr lang="zh-CN" altLang="en-US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Symbol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k=±1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。即，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为无限循环群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的生成元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。</a:t>
            </a:r>
          </a:p>
          <a:p>
            <a:pPr>
              <a:defRPr/>
            </a:pP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16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AEE8CA-AB42-404D-9E31-E14A5B8F5C0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168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6.3.6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450" y="1196752"/>
            <a:ext cx="8301038" cy="5356225"/>
          </a:xfrm>
        </p:spPr>
        <p:txBody>
          <a:bodyPr/>
          <a:lstStyle/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元循环群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中，元素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的生成元的充要条件是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k)=1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证明：必要性。</a:t>
            </a:r>
          </a:p>
          <a:p>
            <a:pPr marL="0" indent="0" algn="just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的一个生成元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，那么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中每个元素都可表示为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的方幂。特别地，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也可表示为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的方幂。设</a:t>
            </a:r>
          </a:p>
          <a:p>
            <a:pPr marL="0" indent="0" algn="ctr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 =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元循环群，即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由周期的性质知，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n|km-1。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</a:t>
            </a:r>
          </a:p>
          <a:p>
            <a:pPr marL="0" indent="0" algn="ctr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km-1=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lang="en-US" altLang="zh-CN" sz="30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      </a:t>
            </a:r>
            <a:r>
              <a:rPr lang="en-US" altLang="zh-CN" sz="30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mk-qn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=1。</a:t>
            </a:r>
          </a:p>
          <a:p>
            <a:pPr marL="0" indent="0" algn="just">
              <a:spcBef>
                <a:spcPts val="200"/>
              </a:spcBef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这说明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互质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defRPr/>
            </a:pP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270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C40619C-7E50-4135-BB13-285C42759734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270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6.3.6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113" y="1268760"/>
            <a:ext cx="8301037" cy="5113337"/>
          </a:xfrm>
        </p:spPr>
        <p:txBody>
          <a:bodyPr/>
          <a:lstStyle/>
          <a:p>
            <a:pPr marL="0" indent="0">
              <a:spcBef>
                <a:spcPts val="20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6954838" algn="l"/>
              </a:tabLst>
              <a:defRPr/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往证：</a:t>
            </a: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元循环群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中，元素</a:t>
            </a:r>
            <a:r>
              <a:rPr lang="en-US" altLang="zh-CN" sz="28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28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(a)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的生成元的充要条件是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k)=1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just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证明：充分性。若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互质，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sk+tn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=1，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 </a:t>
            </a:r>
          </a:p>
          <a:p>
            <a:pPr algn="ctr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sk+tn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sk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tn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可表为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的若干次方，因此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中每个元素都可表示为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的方幂， </a:t>
            </a:r>
            <a:r>
              <a:rPr lang="en-US" altLang="zh-CN" sz="3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的一个生成元。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总之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的生成元 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iff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n，k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=1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但在0≤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k&lt;n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中，共有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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互质，故共有  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itchFamily="18" charset="2"/>
              </a:rPr>
              <a:t>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可生成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(a)。 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73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12E8927-90F3-48EC-8511-49BC72F74F0D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373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6.3.6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内容占位符 2"/>
          <p:cNvSpPr>
            <a:spLocks noGrp="1"/>
          </p:cNvSpPr>
          <p:nvPr>
            <p:ph idx="1"/>
          </p:nvPr>
        </p:nvSpPr>
        <p:spPr>
          <a:xfrm>
            <a:off x="468313" y="1370013"/>
            <a:ext cx="8301037" cy="4895850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(Z,+)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的生成元：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1,  -1</a:t>
            </a: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nZ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,+)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的生成元：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n,  -n</a:t>
            </a: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(a)={1, a,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(n)=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(4)=2  ,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的生成元为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baseline="30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验证：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)={(a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= {1, a,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的生成元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)={ 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 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}={1, 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endParaRPr lang="zh-CN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的生成元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:(1)={1}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4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4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75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0CE5DA-45BC-4618-800A-5C7AA090951F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475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生成元的例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9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9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19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9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19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412875"/>
            <a:ext cx="8301038" cy="4679950"/>
          </a:xfrm>
        </p:spPr>
        <p:txBody>
          <a:bodyPr/>
          <a:lstStyle/>
          <a:p>
            <a:pPr>
              <a:lnSpc>
                <a:spcPct val="110000"/>
              </a:lnSpc>
              <a:buClr>
                <a:srgbClr val="3333CC"/>
              </a:buClr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={0, 1, 2, 3, 4, 5}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运算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）为模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整数加法群。请求出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中每个元素的周期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并指出所有的生成元</a:t>
            </a:r>
            <a:r>
              <a:rPr lang="zh-CN" altLang="en-US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 smtClean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>
                <a:srgbClr val="3333CC"/>
              </a:buClr>
              <a:defRPr/>
            </a:pP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 </a:t>
            </a:r>
            <a:r>
              <a:rPr lang="en-US" altLang="zh-CN" sz="3000" dirty="0" smtClean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;   1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2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 ;   3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4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3;    5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生成元：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1 , 5</a:t>
            </a: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加法群是循环群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757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3C0AA8-84E8-4720-91BE-6CF39FE09330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578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生成元的例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2125" y="1511300"/>
            <a:ext cx="8472488" cy="4537075"/>
          </a:xfrm>
        </p:spPr>
        <p:txBody>
          <a:bodyPr/>
          <a:lstStyle/>
          <a:p>
            <a:pPr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请写出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次对称群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(S3 ,</a:t>
            </a:r>
            <a:r>
              <a:rPr lang="en-US" altLang="zh-CN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·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循环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子群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 </a:t>
            </a:r>
            <a:r>
              <a:rPr lang="en-US" altLang="zh-CN" sz="3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) = { </a:t>
            </a:r>
            <a:r>
              <a:rPr lang="en-US" altLang="zh-CN" sz="3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((1 2 ))={</a:t>
            </a:r>
            <a:r>
              <a:rPr lang="en-US" altLang="zh-CN" sz="3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30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(1 2) }</a:t>
            </a:r>
            <a:b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</a:b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((1 3)) ={</a:t>
            </a:r>
            <a:r>
              <a:rPr lang="en-US" altLang="zh-CN" sz="3000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sz="30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(1 3)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((2 3))={</a:t>
            </a:r>
            <a:r>
              <a:rPr lang="en-US" altLang="zh-CN" sz="3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(2 3) 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((1 2 3)) = ((1 3 2))={</a:t>
            </a:r>
            <a:r>
              <a:rPr lang="en-US" altLang="zh-CN" sz="3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(1 2  3), (1 3  2)}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680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A5CD76A-D9BD-4261-BD3D-24AF38220450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680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循环群的例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内容占位符 2"/>
          <p:cNvSpPr>
            <a:spLocks noGrp="1"/>
          </p:cNvSpPr>
          <p:nvPr>
            <p:ph idx="1"/>
          </p:nvPr>
        </p:nvSpPr>
        <p:spPr>
          <a:xfrm>
            <a:off x="323528" y="1340768"/>
            <a:ext cx="8713093" cy="4465637"/>
          </a:xfrm>
        </p:spPr>
        <p:txBody>
          <a:bodyPr/>
          <a:lstStyle/>
          <a:p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写出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元循环群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(a)={1 ,a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3}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的乘法表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913591"/>
              </p:ext>
            </p:extLst>
          </p:nvPr>
        </p:nvGraphicFramePr>
        <p:xfrm>
          <a:off x="1403350" y="2492375"/>
          <a:ext cx="6096000" cy="27432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*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1</a:t>
                      </a:r>
                      <a:endParaRPr kumimoji="0" lang="zh-CN" alt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zh-CN" sz="3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0" lang="zh-CN" alt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86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1B6F531-A445-42BD-B57E-BAAD4A3C8A44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7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循环群的例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内容占位符 2"/>
          <p:cNvSpPr>
            <a:spLocks noGrp="1"/>
          </p:cNvSpPr>
          <p:nvPr>
            <p:ph idx="1"/>
          </p:nvPr>
        </p:nvSpPr>
        <p:spPr>
          <a:xfrm>
            <a:off x="539552" y="1144238"/>
            <a:ext cx="8042275" cy="5111750"/>
          </a:xfrm>
        </p:spPr>
        <p:txBody>
          <a:bodyPr/>
          <a:lstStyle/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求证循环群的子群仍然是循环群。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设循环群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G=(a), 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的任意子群，</a:t>
            </a:r>
            <a:b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H={1},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显然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是循环群。</a:t>
            </a:r>
            <a:b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否则，一定存在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k&gt;0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）。取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中的最小正幂元素，往证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中所有元素均是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的幂。任取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qm+r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0≤r&lt;m,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 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s-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)·(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qm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也是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中元素，但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最小。而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0≤r&lt;m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r=0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，因此有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s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=</a:t>
            </a:r>
            <a:r>
              <a:rPr lang="en-US" altLang="zh-CN" sz="30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 err="1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qm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=(a</a:t>
            </a:r>
            <a:r>
              <a:rPr lang="en-US" altLang="zh-CN" sz="30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m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q</a:t>
            </a:r>
            <a:r>
              <a:rPr lang="zh-CN" altLang="en-US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生成的循环群。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sz="3000" dirty="0"/>
          </a:p>
        </p:txBody>
      </p:sp>
      <p:sp>
        <p:nvSpPr>
          <p:cNvPr id="788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C68046-8CF1-45C5-8204-572322F11A59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79438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6.3-3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058251"/>
            <a:ext cx="8640959" cy="5329237"/>
          </a:xfrm>
        </p:spPr>
        <p:txBody>
          <a:bodyPr/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元循环群，试找出</a:t>
            </a:r>
            <a:r>
              <a:rPr lang="en-US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的所有生成元，并找出</a:t>
            </a:r>
            <a:r>
              <a:rPr lang="en-US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kern="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的所有子群。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解：设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G={1, 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}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(n)=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(6)=2 , 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zh-CN" sz="3000" kern="10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生成元</a:t>
            </a:r>
            <a:r>
              <a:rPr lang="zh-CN" altLang="en-US" sz="3000" kern="10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zh-CN" sz="3000" kern="10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循环群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的子群仍是循环群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故用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的每个元素去生</a:t>
            </a:r>
            <a:r>
              <a:rPr lang="zh-CN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成群</a:t>
            </a:r>
            <a:r>
              <a:rPr lang="en-US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3000" kern="1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所有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子群</a:t>
            </a:r>
            <a:r>
              <a:rPr lang="en-US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zh-CN" sz="3000" kern="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它们是</a:t>
            </a:r>
            <a:endParaRPr lang="en-US" altLang="zh-CN" sz="3000" kern="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(1)={1}</a:t>
            </a:r>
            <a:r>
              <a:rPr lang="zh-CN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(a</a:t>
            </a:r>
            <a:r>
              <a:rPr lang="en-US" altLang="zh-CN" sz="3000" kern="1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)={1</a:t>
            </a:r>
            <a:r>
              <a:rPr lang="zh-CN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3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}</a:t>
            </a:r>
            <a:r>
              <a:rPr lang="zh-CN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endParaRPr lang="en-US" altLang="zh-CN" sz="3000" kern="1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(a</a:t>
            </a:r>
            <a:r>
              <a:rPr lang="en-US" altLang="zh-CN" sz="3000" kern="1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)={1</a:t>
            </a:r>
            <a:r>
              <a:rPr lang="zh-CN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3000" kern="100" baseline="30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4</a:t>
            </a: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}</a:t>
            </a:r>
            <a:r>
              <a:rPr lang="zh-CN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endParaRPr lang="en-US" altLang="zh-CN" sz="3000" kern="1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kern="1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(a)=G</a:t>
            </a:r>
            <a:r>
              <a:rPr lang="zh-CN" altLang="zh-CN" sz="30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  <a:endParaRPr lang="en-US" altLang="zh-CN" sz="3000" kern="100" dirty="0" smtClean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kern="100" dirty="0" smtClean="0">
                <a:solidFill>
                  <a:srgbClr val="0000FF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注：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设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G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是由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生成的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元循环群，则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G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的全部子群为   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{(a</a:t>
            </a:r>
            <a:r>
              <a:rPr lang="en-US" altLang="zh-CN" sz="2800" kern="100" baseline="300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d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)| d 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为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的正因子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}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，即只考虑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的正因数次幂生成的</a:t>
            </a:r>
            <a:r>
              <a:rPr lang="en-US" altLang="zh-CN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G</a:t>
            </a:r>
            <a:r>
              <a:rPr lang="zh-CN" altLang="en-US" sz="2800" kern="100" dirty="0" smtClean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的循环子群即可。</a:t>
            </a:r>
            <a:endParaRPr lang="zh-CN" altLang="zh-CN" sz="2800" kern="1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7987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EF1CA88-6A57-49F9-A700-0A170CDA34F4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987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503461"/>
          </a:xfrm>
        </p:spPr>
        <p:txBody>
          <a:bodyPr/>
          <a:lstStyle/>
          <a:p>
            <a:pPr eaLnBrk="1" hangingPunct="1"/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6.3-6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6.3.4    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   集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497887" cy="5589587"/>
          </a:xfrm>
        </p:spPr>
        <p:txBody>
          <a:bodyPr/>
          <a:lstStyle/>
          <a:p>
            <a:pPr marL="0" indent="0">
              <a:lnSpc>
                <a:spcPct val="140000"/>
              </a:lnSpc>
              <a:spcBef>
                <a:spcPct val="0"/>
              </a:spcBef>
              <a:buClr>
                <a:srgbClr val="000099"/>
              </a:buClr>
              <a:buFont typeface="Wingdings" panose="05000000000000000000" pitchFamily="2" charset="2"/>
              <a:buNone/>
            </a:pPr>
            <a:r>
              <a:rPr lang="zh-CN" altLang="en-US" sz="33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合同关系</a:t>
            </a:r>
            <a:endParaRPr lang="en-US" altLang="zh-CN" sz="33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rgbClr val="000099"/>
              </a:buClr>
              <a:buFont typeface="Wingdings" panose="05000000000000000000" pitchFamily="2" charset="2"/>
              <a:buNone/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定义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: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是群，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的子群，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b∈G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b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若有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h∈H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，使得</a:t>
            </a:r>
            <a:b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 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b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则称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合同于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 (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右模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b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记为 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a≡b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H)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809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F814BB-FE85-436E-B964-7B5087226701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620713"/>
            <a:ext cx="8301038" cy="5688012"/>
          </a:xfrm>
        </p:spPr>
        <p:txBody>
          <a:bodyPr/>
          <a:lstStyle/>
          <a:p>
            <a:pPr algn="just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itchFamily="18" charset="0"/>
              </a:rPr>
              <a:t>例.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是三次对称群： </a:t>
            </a:r>
          </a:p>
          <a:p>
            <a:pPr algn="ctr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G={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,(1 2),(1 3),(2 3),(1 2 3),(1 3 2)}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</a:t>
            </a:r>
          </a:p>
          <a:p>
            <a:pPr algn="just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是由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生成的子群：</a:t>
            </a:r>
          </a:p>
          <a:p>
            <a:pPr algn="ctr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，(1 2 3)，(1 3 2)}。</a:t>
            </a:r>
          </a:p>
          <a:p>
            <a:pPr algn="just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zh-CN" altLang="en-US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2)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 </a:t>
            </a:r>
          </a:p>
          <a:p>
            <a:pPr algn="ctr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H)。</a:t>
            </a: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因为有(1 2 3)∈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H,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使得(2 3)=(1 2)(1 2 3)，</a:t>
            </a: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H)。</a:t>
            </a: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可验证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" panose="05000000000000000000" pitchFamily="2" charset="2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H)，</a:t>
            </a:r>
          </a:p>
          <a:p>
            <a:pPr marL="0" indent="0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H)，</a:t>
            </a:r>
          </a:p>
          <a:p>
            <a:pPr marL="0" indent="0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1 2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H)，</a:t>
            </a:r>
          </a:p>
          <a:p>
            <a:pPr marL="0" indent="0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H)，</a:t>
            </a:r>
          </a:p>
          <a:p>
            <a:pPr marL="0" indent="0"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2 3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 H)，H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中元素互相合同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ts val="1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</a:t>
            </a:r>
            <a:endParaRPr lang="zh-CN" altLang="en-US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19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0AAB9D-08B1-4845-85D2-A45A58F5E86D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2913" y="1238250"/>
            <a:ext cx="8424862" cy="5083175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ct val="0"/>
              </a:spcBef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合同关系（右模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）是一个等价关系。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）证反身性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因为对任意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a∈G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1∈H,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使得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a=a1,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所以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   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）证对称性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b≡a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可以推出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b=ah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b≡a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）。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3)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证传递性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即证若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a≡b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b≡c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  <a:p>
            <a:pPr marL="0" indent="0">
              <a:lnSpc>
                <a:spcPct val="11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，可得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ckh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，其中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kh∈H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  H)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</a:p>
        </p:txBody>
      </p:sp>
      <p:sp>
        <p:nvSpPr>
          <p:cNvPr id="8294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D0A84B-DB97-4D09-9F72-6E3D773CD2A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8294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1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01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01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01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1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97887" cy="4679950"/>
          </a:xfrm>
        </p:spPr>
        <p:txBody>
          <a:bodyPr/>
          <a:lstStyle/>
          <a:p>
            <a:pPr marL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定义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6.3.4 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在合同关系（右模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）下的一个等价类叫做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的一个右陪集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.</a:t>
            </a:r>
          </a:p>
          <a:p>
            <a:pPr marL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同样，可以定义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合同于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（左模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）：          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a≡b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（左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modH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）和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的左陪集。</a:t>
            </a:r>
          </a:p>
          <a:p>
            <a:pPr marL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>
              <a:lnSpc>
                <a:spcPct val="125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39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D2B012C-8695-42DC-9CD5-E19891BA0BEF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759" y="1196752"/>
            <a:ext cx="8301037" cy="5356225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所在的右陪集为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</a:t>
            </a:r>
            <a:r>
              <a:rPr lang="en-US" altLang="zh-CN" sz="3200" b="1" dirty="0" err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ah|h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 H}。</a:t>
            </a:r>
          </a:p>
          <a:p>
            <a:pPr marL="0" indent="0"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分析：只需证明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是合同关系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右模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下的一个等价类即可。即证明：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中元素互相合同(等价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)。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中某元素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合同(等价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b∈aH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.(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即证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中任意元素与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外任意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元素不等价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tabLst>
                <a:tab pos="1149350" algn="l"/>
                <a:tab pos="1995488" algn="l"/>
              </a:tabLst>
              <a:defRPr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9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D7F05E-19C7-4F88-91F6-026BCE9DD05E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8499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2"/>
          <p:cNvSpPr>
            <a:spLocks noGrp="1"/>
          </p:cNvSpPr>
          <p:nvPr>
            <p:ph idx="1"/>
          </p:nvPr>
        </p:nvSpPr>
        <p:spPr>
          <a:xfrm>
            <a:off x="561975" y="765175"/>
            <a:ext cx="8301038" cy="5283200"/>
          </a:xfrm>
        </p:spPr>
        <p:txBody>
          <a:bodyPr/>
          <a:lstStyle/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y∈aH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，往证：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x≡y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y∈aH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，则有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h1,h2∈H,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x=ah1    y=ah2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=a(h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x=y(h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  <a:defRPr/>
            </a:pP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x≡y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8601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991FE64-1853-4162-B54D-FE98FE3DAD01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2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2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内容占位符 2"/>
          <p:cNvSpPr>
            <a:spLocks noGrp="1"/>
          </p:cNvSpPr>
          <p:nvPr>
            <p:ph idx="1"/>
          </p:nvPr>
        </p:nvSpPr>
        <p:spPr>
          <a:xfrm>
            <a:off x="561975" y="836613"/>
            <a:ext cx="8301038" cy="5211762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≡c(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，往证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∈aH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≡c(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，知有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，使得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，知有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  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b=c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=a(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 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，可见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∈aH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en-US" altLang="zh-CN" sz="3200" b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</a:t>
            </a:r>
            <a:endParaRPr lang="en-US" altLang="zh-CN" sz="3200" b="1" baseline="-25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b="1" dirty="0">
              <a:solidFill>
                <a:schemeClr val="tx2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704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94598B-344E-4DF3-A6DB-6CB8B859BA39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4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42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341438"/>
            <a:ext cx="8301038" cy="4851400"/>
          </a:xfrm>
        </p:spPr>
        <p:txBody>
          <a:bodyPr/>
          <a:lstStyle/>
          <a:p>
            <a:pPr marL="0" indent="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</a:pPr>
            <a:r>
              <a:rPr lang="zh-CN" altLang="en-US" sz="31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例：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是整数加法群。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的所有倍数作成的子群，因为加法适合交换律，所以左右之分不存在，因而，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左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H) 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mod H)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是一样的，左右陪集也是一样的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a≡b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(mod H)，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3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b+h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),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亦即 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</a:t>
            </a:r>
            <a:r>
              <a:rPr lang="en-US" altLang="zh-CN" sz="3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b+km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m|a-b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1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a≡b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(mod m)。</a:t>
            </a:r>
          </a:p>
          <a:p>
            <a:pPr marL="0" indent="0">
              <a:lnSpc>
                <a:spcPct val="110000"/>
              </a:lnSpc>
              <a:spcBef>
                <a:spcPct val="2500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可见，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的陪集就是模</a:t>
            </a:r>
            <a:r>
              <a:rPr lang="en-US" altLang="zh-CN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的剩余类。</a:t>
            </a:r>
            <a:r>
              <a:rPr lang="zh-CN" altLang="en-US" sz="3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marL="0" indent="0">
              <a:tabLst>
                <a:tab pos="1149350" algn="l"/>
                <a:tab pos="1995488" algn="l"/>
              </a:tabLst>
            </a:pPr>
            <a:endParaRPr lang="zh-CN" altLang="en-US" sz="3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806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0E42560-15AA-49B1-82A6-CAC183B2D6F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8806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268413"/>
            <a:ext cx="8424862" cy="5183187"/>
          </a:xfrm>
        </p:spPr>
        <p:txBody>
          <a:bodyPr/>
          <a:lstStyle/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是一个有限群，求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的右陪集：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首先，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本身是一个；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aH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而求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又得到一个；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任取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sz="3200" dirty="0" err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bH∪aH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而求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bH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又得到一个；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如此类推，因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有限，最后必被穷尽，而</a:t>
            </a: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              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H∪aH∪bH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∪…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问：在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的所有右陪集中，存在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的几个子群？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909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DF91AF-B717-4A0F-A0FB-8B2A566C6B11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8909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求陪集的简单方法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196975"/>
            <a:ext cx="8301037" cy="5545138"/>
          </a:xfrm>
        </p:spPr>
        <p:txBody>
          <a:bodyPr/>
          <a:lstStyle/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是3次对称群：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2), (1 3), (2 3), (1 2 3), (1 3 2)}，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H：{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2)}，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有三个右陪集：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2)}, 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{(1 3), (1 2 3)},</a:t>
            </a:r>
          </a:p>
          <a:p>
            <a:pPr marL="0" indent="0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{ (2 3), (1 3 2)}。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有三个左陪集：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2)},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{(1 3), (1 3 2)}, </a:t>
            </a:r>
          </a:p>
          <a:p>
            <a:pPr marL="0" indent="0" algn="just">
              <a:lnSpc>
                <a:spcPct val="105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{(2 3), (1 2 3)}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1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8B30BD-7D20-4D02-B89F-EA7899913355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011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268413"/>
            <a:ext cx="8301037" cy="5283200"/>
          </a:xfrm>
        </p:spPr>
        <p:txBody>
          <a:bodyPr/>
          <a:lstStyle/>
          <a:p>
            <a:pPr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例. 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是3次对称群：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2), (1 3), (2 3), (1 2 3), (1 3 2)}，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H：{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 3)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 2)}，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个右陪集：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{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 3)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 2)}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{ (12), (23) ,(13)}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个左陪集：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{</a:t>
            </a:r>
            <a:r>
              <a:rPr lang="en-US" altLang="zh-CN" sz="3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 3)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 2)}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{ (12), (23) ,(13)}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的左右陪集相等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endParaRPr lang="en-US" altLang="zh-CN" sz="32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endParaRPr lang="en-US" altLang="zh-CN" sz="32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endParaRPr lang="en-US" altLang="zh-CN" sz="32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911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C946F87-CB0E-4A78-A6ED-02D8D56E15D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114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文本占位符 5"/>
          <p:cNvSpPr>
            <a:spLocks noGrp="1"/>
          </p:cNvSpPr>
          <p:nvPr>
            <p:ph type="body" idx="1"/>
          </p:nvPr>
        </p:nvSpPr>
        <p:spPr>
          <a:xfrm>
            <a:off x="539750" y="1412875"/>
            <a:ext cx="7772400" cy="2087563"/>
          </a:xfrm>
        </p:spPr>
        <p:txBody>
          <a:bodyPr/>
          <a:lstStyle/>
          <a:p>
            <a:pPr>
              <a:lnSpc>
                <a:spcPct val="125000"/>
              </a:lnSpc>
              <a:spcBef>
                <a:spcPct val="0"/>
              </a:spcBef>
              <a:buClr>
                <a:srgbClr val="3333CC"/>
              </a:buClr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S={0,1,2,3}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⊕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加法运算，则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为模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整数加法群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H={0,2}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(H,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为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的子群。求</a:t>
            </a: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的左陪集和右陪集</a:t>
            </a:r>
            <a:r>
              <a:rPr lang="zh-CN" altLang="en-US" sz="30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solidFill>
                <a:srgbClr val="0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65064390"/>
              </p:ext>
            </p:extLst>
          </p:nvPr>
        </p:nvGraphicFramePr>
        <p:xfrm>
          <a:off x="971550" y="3644900"/>
          <a:ext cx="7178676" cy="199866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35893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58933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620675">
                <a:tc>
                  <a:txBody>
                    <a:bodyPr/>
                    <a:lstStyle/>
                    <a:p>
                      <a:r>
                        <a:rPr lang="en-US" altLang="zh-CN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</a:t>
                      </a:r>
                      <a:r>
                        <a:rPr lang="zh-CN" altLang="en-US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的左陪集</a:t>
                      </a: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r>
                        <a:rPr lang="en-US" altLang="zh-CN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</a:t>
                      </a:r>
                      <a:r>
                        <a:rPr lang="zh-CN" altLang="en-US" sz="3000" b="0" dirty="0"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的右陪集</a:t>
                      </a: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2282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3333CC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H={0 , 2}</a:t>
                      </a:r>
                      <a:endParaRPr lang="zh-CN" altLang="en-US" sz="3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H={0 , 2}</a:t>
                      </a:r>
                      <a:endParaRPr lang="zh-CN" altLang="en-US" sz="30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51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</a:t>
                      </a:r>
                      <a:r>
                        <a:rPr lang="zh-CN" altLang="en-US" sz="3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⊕</a:t>
                      </a:r>
                      <a:r>
                        <a:rPr lang="en-US" altLang="zh-CN" sz="3000" b="0" baseline="-250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lang="en-US" altLang="zh-CN" sz="30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1={1 , 3}</a:t>
                      </a:r>
                      <a:endParaRPr lang="zh-CN" altLang="en-US" sz="3000" b="0" dirty="0"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kumimoji="0" lang="zh-CN" altLang="en-US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 ⊕</a:t>
                      </a:r>
                      <a:r>
                        <a:rPr kumimoji="0" lang="en-US" altLang="zh-CN" sz="3000" b="0" i="0" u="none" strike="noStrike" kern="1200" cap="none" spc="0" normalizeH="0" baseline="-25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4</a:t>
                      </a:r>
                      <a:r>
                        <a:rPr kumimoji="0" lang="en-US" altLang="zh-CN" sz="3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H={1 , 3}</a:t>
                      </a:r>
                      <a:endParaRPr lang="zh-CN" altLang="en-US" sz="3000" b="0" dirty="0"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91444" marR="91444" marT="45719" marB="45719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17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ABB5D8-5975-4BDE-AFEC-D15EBE72EA7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4464050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有限子群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的任意右陪集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的元数皆等于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的元数。</a:t>
            </a: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0" indent="0">
              <a:lnSpc>
                <a:spcPct val="130000"/>
              </a:lnSpc>
              <a:spcBef>
                <a:spcPct val="0"/>
              </a:spcBef>
              <a:buClr>
                <a:schemeClr val="bg1"/>
              </a:buClr>
              <a:buFontTx/>
              <a:buNone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证明：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={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ah│h∈H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中有消法律：</a:t>
            </a:r>
            <a:b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ax=ay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可以推出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x=y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，故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中不同元素以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左乘仍得不同的元素。因而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的元数等于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的元数。 </a:t>
            </a:r>
          </a:p>
        </p:txBody>
      </p:sp>
      <p:sp>
        <p:nvSpPr>
          <p:cNvPr id="9318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9CED57-A874-4C98-9A55-E3CE36FF84C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318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6.3.7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1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7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7788"/>
            <a:ext cx="8351838" cy="5113337"/>
          </a:xfrm>
        </p:spPr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的有限子群，则|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 = |H|。</a:t>
            </a:r>
          </a:p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本身也是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的右陪集。</a:t>
            </a:r>
          </a:p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endParaRPr lang="en-US" altLang="zh-CN" sz="32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H=1H，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为1所在的右陪集。</a:t>
            </a:r>
          </a:p>
        </p:txBody>
      </p:sp>
      <p:sp>
        <p:nvSpPr>
          <p:cNvPr id="9421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9147C6-E0EF-4D27-B030-3111E4D8EAC0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421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陪集的性质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5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5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5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内容占位符 2"/>
          <p:cNvSpPr>
            <a:spLocks noGrp="1"/>
          </p:cNvSpPr>
          <p:nvPr>
            <p:ph idx="1"/>
          </p:nvPr>
        </p:nvSpPr>
        <p:spPr>
          <a:xfrm>
            <a:off x="541338" y="1268413"/>
            <a:ext cx="8301037" cy="5400675"/>
          </a:xfrm>
        </p:spPr>
        <p:txBody>
          <a:bodyPr/>
          <a:lstStyle/>
          <a:p>
            <a:pPr>
              <a:spcBef>
                <a:spcPts val="2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000" b="1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aH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iff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a∈H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 </a:t>
            </a:r>
          </a:p>
          <a:p>
            <a:pPr>
              <a:lnSpc>
                <a:spcPct val="110000"/>
              </a:lnSpc>
              <a:spcBef>
                <a:spcPts val="2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a=a1∈aH,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Clr>
                <a:schemeClr val="tx2"/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证法一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否则,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在两个不同的等价类中，矛盾。</a:t>
            </a:r>
          </a:p>
          <a:p>
            <a:pPr marL="0" indent="0"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证法二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先证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H。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x=ah,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再由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的子群知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再证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x = (aa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)x = a(a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x∈H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的子群知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 </a:t>
            </a:r>
          </a:p>
          <a:p>
            <a:pPr>
              <a:lnSpc>
                <a:spcPct val="110000"/>
              </a:lnSpc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x=a(a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23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900E54F-2847-463A-92BF-64EF488658B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523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在陪集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中。</a:t>
            </a:r>
          </a:p>
          <a:p>
            <a:pPr marL="0" indent="0" algn="just"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证明：因为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a=a1∈aH。</a:t>
            </a:r>
          </a:p>
          <a:p>
            <a:pPr marL="0" indent="0" algn="just"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</a:p>
          <a:p>
            <a:pPr marL="0" indent="0" algn="just">
              <a:buClr>
                <a:srgbClr val="3333CC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根据这点，把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叫做右陪集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的一个陪集代表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625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2E961A0-B019-4A85-B010-709EA3DA3692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626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陪集的性质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875"/>
            <a:ext cx="8425185" cy="4608513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对于右陪集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都有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证法一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：若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aH≠bH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在右陪集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中，而又由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在右陪集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在两个不同的等价类中，矛盾。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证法二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：由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b∈aH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知，存在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使得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b=ah</a:t>
            </a: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   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=a(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说明右陪集</a:t>
            </a:r>
            <a:r>
              <a:rPr lang="en-US" altLang="zh-CN" sz="3200" dirty="0" err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中任一元素都可以做陪集</a:t>
            </a:r>
            <a:r>
              <a:rPr lang="zh-CN" altLang="en-US" sz="32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代表。</a:t>
            </a:r>
            <a:endParaRPr lang="zh-CN" altLang="en-US" sz="36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 algn="just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endParaRPr lang="zh-CN" altLang="en-US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>
              <a:tabLst>
                <a:tab pos="1149350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28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A43024-A303-4D47-A37A-0EACF7BCDEA0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728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268413"/>
            <a:ext cx="8301038" cy="4922837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还可推出：</a:t>
            </a:r>
          </a:p>
          <a:p>
            <a:pPr marL="0" indent="0">
              <a:lnSpc>
                <a:spcPct val="12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(6)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的充分必要条件是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3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b∈H。 </a:t>
            </a:r>
            <a:endParaRPr lang="zh-CN" altLang="en-US" sz="3300" dirty="0">
              <a:solidFill>
                <a:schemeClr val="tx2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证明：必要性.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由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b∈bH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及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 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3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b∈H。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充分性.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由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3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b∈H，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知，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b∈aH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故由性质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，知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en-US" altLang="zh-CN" sz="33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33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tabLst>
                <a:tab pos="1149350" algn="l"/>
                <a:tab pos="1995488" algn="l"/>
              </a:tabLst>
            </a:pPr>
            <a:endParaRPr lang="zh-CN" altLang="en-US" sz="33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830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7310842-C6DF-4FB1-94CE-54D415A9A9E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830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en-US" altLang="zh-CN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任意两个右陪集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或者相等或者不相交。   </a:t>
            </a:r>
          </a:p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如果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相交，则它们包含公共元素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c，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c∈bH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</a:p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5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得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故，</a:t>
            </a:r>
          </a:p>
          <a:p>
            <a:pPr marL="0" indent="0" algn="just"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 </a:t>
            </a:r>
            <a:endParaRPr lang="zh-CN" altLang="en-US" sz="33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tabLst>
                <a:tab pos="1149350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933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3C75F7-1E62-4CA0-909D-E35FFEAEEAA8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9933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陪集的性质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341438"/>
            <a:ext cx="8424862" cy="5256212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</a:pPr>
            <a:r>
              <a:rPr lang="zh-CN" altLang="en-US" sz="3300" i="1" u="sng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定义.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设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是群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的子群,设对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中的任意</a:t>
            </a:r>
          </a:p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元素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g,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都有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=Hg,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则称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的正规子群。</a:t>
            </a:r>
          </a:p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</a:pPr>
            <a:endParaRPr lang="zh-CN" altLang="en-US" sz="33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=Hg 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与对任意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h∈H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33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是一个含义吗？</a:t>
            </a:r>
          </a:p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结论1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“平凡”子群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H={1}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都是</a:t>
            </a:r>
            <a:r>
              <a:rPr lang="en-US" altLang="zh-CN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en-US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正规子群。</a:t>
            </a:r>
            <a:endParaRPr lang="zh-CN" altLang="en-US" sz="33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</a:pP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3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结论2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3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Abel</a:t>
            </a:r>
            <a:r>
              <a:rPr lang="zh-CN" altLang="en-US" sz="33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群的任意子群是正规子群。  </a:t>
            </a:r>
          </a:p>
          <a:p>
            <a:pPr marL="0" indent="0">
              <a:lnSpc>
                <a:spcPct val="140000"/>
              </a:lnSpc>
              <a:spcBef>
                <a:spcPct val="0"/>
              </a:spcBef>
              <a:buClr>
                <a:schemeClr val="bg1"/>
              </a:buClr>
              <a:buFontTx/>
              <a:buNone/>
              <a:tabLst>
                <a:tab pos="1149350" algn="l"/>
                <a:tab pos="1995488" algn="l"/>
              </a:tabLst>
            </a:pPr>
            <a:endParaRPr lang="zh-CN" altLang="en-US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  <p:pic>
        <p:nvPicPr>
          <p:cNvPr id="100355" name="Picture 4" descr="BD0002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565400"/>
            <a:ext cx="862012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6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62DDEDF-4591-400A-B6EB-73A9A41069BC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035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正规子群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7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268413"/>
            <a:ext cx="8301037" cy="5356225"/>
          </a:xfrm>
        </p:spPr>
        <p:txBody>
          <a:bodyPr/>
          <a:lstStyle/>
          <a:p>
            <a:pPr marL="0" indent="0">
              <a:lnSpc>
                <a:spcPct val="107000"/>
              </a:lnSpc>
              <a:spcBef>
                <a:spcPts val="0"/>
              </a:spcBef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的正规子群，必要而且只要对任意的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g∈G，gHg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H.</a:t>
            </a:r>
          </a:p>
          <a:p>
            <a:pPr marL="85725" indent="-8572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必要性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的正规子群，知，对于</a:t>
            </a:r>
          </a:p>
          <a:p>
            <a:pPr marL="85725" indent="-8572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g∈G，gH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=Hg,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即,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故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H.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85725" indent="-8572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充分性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设对任意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g∈G，gHg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既然此式</a:t>
            </a:r>
          </a:p>
          <a:p>
            <a:pPr marL="85725" indent="-8572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g∈G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成立，则以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∈G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代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仍成立：</a:t>
            </a:r>
          </a:p>
          <a:p>
            <a:pPr marL="85725" indent="-85725" algn="ctr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H(g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H；</a:t>
            </a:r>
          </a:p>
          <a:p>
            <a:pPr marL="85725" indent="-85725" algn="just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左乘以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右乘之，得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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gHg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85725" indent="-8572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H=gHg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g∈G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都成立,即，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=Hg,</a:t>
            </a:r>
          </a:p>
          <a:p>
            <a:pPr marL="85725" indent="-85725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是正规子群。 </a:t>
            </a:r>
          </a:p>
          <a:p>
            <a:pPr marL="85725" indent="-85725">
              <a:tabLst>
                <a:tab pos="1149350" algn="l"/>
                <a:tab pos="1995488" algn="l"/>
              </a:tabLst>
              <a:defRPr/>
            </a:pP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137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136FA8-4E70-4C48-9008-A3E23A5F0A0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138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1293813"/>
            <a:ext cx="8301038" cy="4572000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S={0,1,2,3}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为模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加法运算，则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(S,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为模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整数加法群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,H={0,2}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(H,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b="1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验证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H={0 , 2}=H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0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H={1 , 3}=H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1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H={0 , 2}=H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2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         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H={3 , 1}=H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⊕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3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240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3302C9-6FB4-4593-944A-05506B4BC9B9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240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正规子群的例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内容占位符 2"/>
          <p:cNvSpPr>
            <a:spLocks noGrp="1"/>
          </p:cNvSpPr>
          <p:nvPr>
            <p:ph idx="1"/>
          </p:nvPr>
        </p:nvSpPr>
        <p:spPr>
          <a:xfrm>
            <a:off x="566738" y="1301750"/>
            <a:ext cx="8301037" cy="4851400"/>
          </a:xfrm>
        </p:spPr>
        <p:txBody>
          <a:bodyPr/>
          <a:lstStyle/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是3次对称群: </a:t>
            </a:r>
          </a:p>
          <a:p>
            <a:pPr algn="ctr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,(1 2),(1 3),(2 3),(1 2 3),(1 3 2)},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,(1 2)}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不是正规子群，因为</a:t>
            </a:r>
          </a:p>
          <a:p>
            <a:pPr algn="ctr"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≠</a:t>
            </a:r>
            <a:r>
              <a:rPr lang="zh-CN" altLang="en-US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1 3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3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(1 2 3), (1 3 2)}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是正规子群.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σ∈H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，σH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σ=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2)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2) ={(1 2),(2 3),(1 3)},</a:t>
            </a: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 3)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 3) ={(1 2),(2 3),(1 3)},</a:t>
            </a:r>
            <a:endParaRPr lang="en-US" altLang="zh-CN" sz="3000" baseline="-25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同理，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3)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 H</a:t>
            </a:r>
            <a:r>
              <a:rPr lang="en-US" altLang="zh-CN" sz="30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3) ={(1 2),(2 3),(1 3</a:t>
            </a:r>
            <a:r>
              <a:rPr lang="en-US" altLang="zh-CN" sz="3000" dirty="0"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)}</a:t>
            </a:r>
            <a:endParaRPr lang="en-US" altLang="zh-CN" sz="3000" baseline="-250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spcBef>
                <a:spcPts val="300"/>
              </a:spcBef>
              <a:buFont typeface="Wingdings" panose="05000000000000000000" pitchFamily="2" charset="2"/>
              <a:buChar char="Ø"/>
            </a:pPr>
            <a:endParaRPr lang="zh-CN" altLang="en-US" sz="30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42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CF84BF-3EC0-410A-899D-8240946E89FF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342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正规子群的例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750" y="1314450"/>
            <a:ext cx="8301038" cy="4922838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</a:t>
            </a:r>
            <a:r>
              <a:rPr lang="zh-CN" altLang="en-US" sz="3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有限群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的任意子群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的元数整除群</a:t>
            </a:r>
            <a:r>
              <a:rPr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 设|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G|= n，|H|=r。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个右陪集,则每个右陪集的元数等于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再由不同的右陪集没有公共元素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知所有右陪集的并集有元数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  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等于所有右陪集的并集，故</a:t>
            </a:r>
          </a:p>
          <a:p>
            <a:pPr marL="0" indent="0" algn="ctr">
              <a:lnSpc>
                <a:spcPct val="9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G|= n = 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rs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=|H|s，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即，子群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的元数整除群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tabLst>
                <a:tab pos="1149350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44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8D3EC3-14DB-48B4-BDF9-7B47032413F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445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拉格朗日定理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内容占位符 2"/>
          <p:cNvSpPr>
            <a:spLocks noGrp="1"/>
          </p:cNvSpPr>
          <p:nvPr>
            <p:ph idx="1"/>
          </p:nvPr>
        </p:nvSpPr>
        <p:spPr>
          <a:xfrm>
            <a:off x="561975" y="1476375"/>
            <a:ext cx="8474075" cy="45720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是有限群，且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|G|=n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，对任意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的正因数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不一定存在元数个数为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的子群。</a:t>
            </a:r>
          </a:p>
        </p:txBody>
      </p:sp>
      <p:sp>
        <p:nvSpPr>
          <p:cNvPr id="10547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CF414A-8449-407E-9C81-566CC26748D4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76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547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结论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800" y="1222375"/>
            <a:ext cx="8712200" cy="5283200"/>
          </a:xfr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ct val="0"/>
              </a:spcBef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以四次交代群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为例，说明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元群对于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的因数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，可能没有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元子群。即证明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包含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个形如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(ab)(cd)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包含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8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个形如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的元素和恒等置换。假设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有一个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H.</a:t>
            </a: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中都是形如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的元素，而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cba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∈H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元置换必成对出现，加上一个单位置换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的元数不会是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6.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中都是形如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(ab)(cd)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的元素，再加上一个单位置换，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中只有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个元素，不会是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zh-CN" altLang="en-US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649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734C79-6C28-4858-9DAB-862E65181021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77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650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193800"/>
            <a:ext cx="8472487" cy="5283200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solidFill>
                  <a:srgbClr val="0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(3)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不失一般性，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中即有形如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的置换，也有形如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(ab)(cd)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的置换，不妨设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∈H,        (ab)(cd) 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cba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)(ab)(cd)=(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acd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(ab)(cd)(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abc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)=(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bdc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∈H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acd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en-US" altLang="zh-CN" sz="32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-1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=(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dca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 ∈H,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再加上单位元，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|H|&gt;6,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</a:p>
          <a:p>
            <a:pPr marL="0" indent="0">
              <a:lnSpc>
                <a:spcPct val="125000"/>
              </a:lnSpc>
              <a:spcBef>
                <a:spcPts val="0"/>
              </a:spcBef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A4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不会有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元子群。</a:t>
            </a:r>
            <a:endParaRPr lang="zh-CN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endParaRPr lang="zh-CN" altLang="zh-CN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107523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3C1A0D-5321-4767-B2F1-72E8BF4BF153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752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内容占位符 2"/>
          <p:cNvSpPr>
            <a:spLocks noGrp="1"/>
          </p:cNvSpPr>
          <p:nvPr>
            <p:ph idx="1"/>
          </p:nvPr>
        </p:nvSpPr>
        <p:spPr>
          <a:xfrm>
            <a:off x="323850" y="1350963"/>
            <a:ext cx="8748713" cy="4572000"/>
          </a:xfrm>
        </p:spPr>
        <p:txBody>
          <a:bodyPr/>
          <a:lstStyle/>
          <a:p>
            <a:pPr marL="0" indent="0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为有限群，并且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|G|=n 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的任意子群的元数均为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的因子；但是，对于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的任意一个因子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未必有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zh-CN" altLang="en-US" sz="3000" dirty="0" smtClean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循环群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|G|=n 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对于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的任意一个正因数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m, 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一定存在且仅存在一个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元数是质数的群，一定没有非平凡子群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是有限群，且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|G|=n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 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中任意元素的周期一定为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的因子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8547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B145AE-D28B-4555-87BC-EE07ED87E0A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854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拉格朗日定理总结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557338"/>
            <a:ext cx="8569200" cy="4244975"/>
          </a:xfrm>
        </p:spPr>
        <p:txBody>
          <a:bodyPr/>
          <a:lstStyle/>
          <a:p>
            <a:pPr marL="685800" indent="-685800" algn="just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定义: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有限群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的元数除以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的元数所得的商，记为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(G：H), 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称作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中的指数。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685800" algn="just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结论：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的指数也就是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的右(左)陪集的</a:t>
            </a:r>
            <a:r>
              <a:rPr lang="zh-CN" altLang="en-US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个数。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957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81F802-6BD1-414C-82DA-DF85411D2CDA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0957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在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中的指数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484313"/>
            <a:ext cx="8472487" cy="4391025"/>
          </a:xfrm>
        </p:spPr>
        <p:txBody>
          <a:bodyPr/>
          <a:lstStyle/>
          <a:p>
            <a:pPr marL="0" indent="-685800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定义:</a:t>
            </a:r>
            <a:r>
              <a:rPr lang="zh-CN" altLang="en-US" sz="31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从每个右陪集中选出一个元素为代表，全体代表的集合叫做一个右代表系或右代表团。</a:t>
            </a:r>
          </a:p>
          <a:p>
            <a:pPr marL="0" indent="-685800" algn="just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，…，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作成一个右代表系，则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H，…，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便是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的所有右陪集而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-685800" algn="just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 g</a:t>
            </a:r>
            <a:r>
              <a:rPr lang="en-US" altLang="zh-CN" sz="3200" baseline="-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H∪…∪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en-US" altLang="zh-CN" sz="3200" baseline="-30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32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685800" indent="-685800">
              <a:tabLst>
                <a:tab pos="1149350" algn="l"/>
                <a:tab pos="1995488" algn="l"/>
              </a:tabLst>
              <a:defRPr/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059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431396-C8D4-4146-BBE6-F70A3AF3E4C0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81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059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右代表系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268413"/>
            <a:ext cx="8640762" cy="4779962"/>
          </a:xfrm>
        </p:spPr>
        <p:txBody>
          <a:bodyPr/>
          <a:lstStyle/>
          <a:p>
            <a:pPr marL="0" indent="0" algn="just">
              <a:lnSpc>
                <a:spcPct val="130000"/>
              </a:lnSpc>
              <a:buFont typeface="Wingdings" panose="05000000000000000000" pitchFamily="2" charset="2"/>
              <a:buNone/>
              <a:tabLst>
                <a:tab pos="484188" algn="l"/>
                <a:tab pos="1995488" algn="l"/>
              </a:tabLst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定理6.</a:t>
            </a:r>
            <a:r>
              <a:rPr lang="en-US" altLang="zh-CN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.8 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为有限群，元数为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对任意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a∈G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=1。</a:t>
            </a:r>
          </a:p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  <a:tabLst>
                <a:tab pos="484188" algn="l"/>
                <a:tab pos="1995488" algn="l"/>
              </a:tabLst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en-US" sz="3000" dirty="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有限，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的周期必有限，否则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所生成的循环子群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将无限，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的元素将无穷多。命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生成一个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元循环子群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(a)。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由拉格朗日定理，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m│n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因此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000" baseline="30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=1。 </a:t>
            </a:r>
            <a:endParaRPr lang="zh-CN" altLang="en-US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tabLst>
                <a:tab pos="484188" algn="l"/>
                <a:tab pos="1995488" algn="l"/>
              </a:tabLst>
            </a:pPr>
            <a:endParaRPr lang="zh-CN" altLang="en-US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161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1ECCA3-5B1B-4713-8064-973805C70317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82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162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468313" y="692150"/>
            <a:ext cx="8301037" cy="59039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例 ：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写出三次对称群的所有子群。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2), (1 3), (2 3), (1 2 3) , (1 3 2)}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由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Lagrange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定理，子群的元数只能为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1, 2, 3, 6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({ 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},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 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元数为质数的群一定为循环群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(12)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为生成元：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({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2)}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)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(13)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为生成元：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({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(1 3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)}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)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(23)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为生成元：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({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(2 3)}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)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的子群一定为循环群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以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(123)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为生成元：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</a:t>
            </a:r>
            <a:r>
              <a:rPr lang="en-US" altLang="zh-CN" sz="28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,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 2 3), (1 3 2)}</a:t>
            </a:r>
            <a:r>
              <a:rPr lang="zh-CN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· 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元数为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6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的子群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: S</a:t>
            </a:r>
            <a:r>
              <a:rPr lang="en-US" altLang="zh-CN" sz="2800" baseline="-25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endParaRPr lang="zh-CN" altLang="zh-CN"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67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4DE949-9B5B-4DC6-BBC5-E749E64EE704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5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5473700"/>
          </a:xfrm>
        </p:spPr>
        <p:txBody>
          <a:bodyPr/>
          <a:lstStyle/>
          <a:p>
            <a:pPr>
              <a:spcBef>
                <a:spcPts val="2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例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构造元数为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任取四元群中一非单位元的元素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，由拉格朗日定理知，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的周期可能为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2, 4,  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为单位元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 marL="0" indent="0">
              <a:spcBef>
                <a:spcPts val="2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若群中有周期为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的元素，不妨设为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四元循环群</a:t>
            </a:r>
            <a:endParaRPr lang="en-US" altLang="zh-CN" sz="3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97579"/>
              </p:ext>
            </p:extLst>
          </p:nvPr>
        </p:nvGraphicFramePr>
        <p:xfrm>
          <a:off x="1403350" y="2781300"/>
          <a:ext cx="6096000" cy="2895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4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4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zh-CN" sz="3200" b="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kern="1200" baseline="30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3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1" lang="en-US" altLang="zh-CN" sz="3200" b="0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2</a:t>
                      </a:r>
                      <a:endParaRPr kumimoji="1" lang="zh-CN" altLang="zh-CN" sz="3200" b="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780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66B443-081F-4CD2-A964-D03D2BDF89AB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内容占位符 2"/>
          <p:cNvSpPr>
            <a:spLocks noGrp="1"/>
          </p:cNvSpPr>
          <p:nvPr>
            <p:ph idx="1"/>
          </p:nvPr>
        </p:nvSpPr>
        <p:spPr>
          <a:xfrm>
            <a:off x="323850" y="692150"/>
            <a:ext cx="8280400" cy="59055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若除单位元外，其他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个元素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a, b, c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周期均为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每个元素逆均为其自身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Klein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四元群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当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n&lt;6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n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元群均是交换群。</a:t>
            </a:r>
            <a:endParaRPr lang="en-US" altLang="zh-CN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659145"/>
              </p:ext>
            </p:extLst>
          </p:nvPr>
        </p:nvGraphicFramePr>
        <p:xfrm>
          <a:off x="1331913" y="1844675"/>
          <a:ext cx="6096000" cy="289560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4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F4E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FAF6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c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b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a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10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1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楷体_GB2312" pitchFamily="49" charset="-122"/>
                          <a:cs typeface="Arial" panose="020B0604020202020204" pitchFamily="34" charset="0"/>
                        </a:rPr>
                        <a:t>e</a:t>
                      </a:r>
                      <a:endParaRPr kumimoji="0" lang="zh-CN" alt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楷体_GB2312" pitchFamily="49" charset="-122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E2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8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BE0414-A54A-4D41-991D-D46444F96DF2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en-US" altLang="ko-KR" sz="1400" dirty="0">
              <a:latin typeface="-윤명조140" pitchFamily="18" charset="-127"/>
              <a:ea typeface="-윤명조140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47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03C28DBC-290D-164A-8906-55BF9AA0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DD278F1E-A356-794B-BFC2-FAB931C61719}" type="slidenum">
              <a:rPr lang="en-US" altLang="zh-CN" sz="1400" b="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86</a:t>
            </a:fld>
            <a:endParaRPr lang="en-US" altLang="zh-CN" sz="1400" b="0" dirty="0">
              <a:solidFill>
                <a:srgbClr val="000000"/>
              </a:solidFill>
            </a:endParaRPr>
          </a:p>
        </p:txBody>
      </p:sp>
      <p:sp>
        <p:nvSpPr>
          <p:cNvPr id="66563" name="文本框 4">
            <a:extLst>
              <a:ext uri="{FF2B5EF4-FFF2-40B4-BE49-F238E27FC236}">
                <a16:creationId xmlns:a16="http://schemas.microsoft.com/office/drawing/2014/main" xmlns="" id="{EBE3C99A-8442-B149-B121-B9F016774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980728"/>
            <a:ext cx="8531779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zh-CN" altLang="en-US" sz="2800" b="0" dirty="0" smtClean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2800" b="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,(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12)(34),(13)(24),(14)(23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置换在置换乘法下，作成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一个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b="0" dirty="0" err="1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klein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四元群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为恒等置换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2800" b="0" dirty="0" smtClean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zh-CN" sz="2800" b="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2800" b="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,(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12)(34),(13)(24),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(14)(23)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},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非空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封闭性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满足结合律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有单位元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(5)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有逆，为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元素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本身</a:t>
            </a: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None/>
            </a:pPr>
            <a:r>
              <a:rPr lang="zh-CN" altLang="en-US" sz="2800" b="0" dirty="0" smtClean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此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四元群是四次对称群的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正规子群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习题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7A7DC270-0CDB-A54E-97E4-6C34872B5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076623"/>
              </p:ext>
            </p:extLst>
          </p:nvPr>
        </p:nvGraphicFramePr>
        <p:xfrm>
          <a:off x="2672370" y="3210078"/>
          <a:ext cx="6195405" cy="273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0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1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40826"/>
            <a:ext cx="7772400" cy="611910"/>
          </a:xfrm>
        </p:spPr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147532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EE91DD0-6CA4-4341-9618-7669205A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692150"/>
            <a:ext cx="8301038" cy="535622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zh-CN" altLang="en-US" sz="3200" b="1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 </a:t>
            </a:r>
            <a:r>
              <a:rPr lang="zh-CN" altLang="zh-CN" sz="3200" b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元群必有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元子群。</a:t>
            </a:r>
            <a:endParaRPr lang="zh-CN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buFont typeface="Wingdings" pitchFamily="2" charset="2"/>
              <a:buNone/>
            </a:pPr>
            <a:r>
              <a:rPr lang="zh-CN" altLang="zh-CN" sz="32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如果是循环群，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则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</a:t>
            </a:r>
            <a:r>
              <a:rPr lang="en-US" altLang="zh-CN" sz="3200" baseline="30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zh-CN" sz="32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元子群。</a:t>
            </a:r>
          </a:p>
          <a:p>
            <a:pPr marL="0" indent="0" algn="just">
              <a:lnSpc>
                <a:spcPct val="114000"/>
              </a:lnSpc>
              <a:buFont typeface="Wingdings" pitchFamily="2" charset="2"/>
              <a:buNone/>
            </a:pP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如果不是循环群，则没有周期为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14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的元素，</a:t>
            </a:r>
            <a:r>
              <a:rPr lang="zh-CN" altLang="en-US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假设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没有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元子群，根据拉格朗日定理，除了单位元，其余元素周期均为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，即是交换群。那么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{1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ab}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就组成了一个子群，而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14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元群不可能有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</a:t>
            </a:r>
            <a:r>
              <a:rPr lang="zh-CN" altLang="zh-CN" sz="3200" dirty="0"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矛盾。</a:t>
            </a:r>
          </a:p>
          <a:p>
            <a:pPr marL="0" indent="0">
              <a:lnSpc>
                <a:spcPct val="114000"/>
              </a:lnSpc>
              <a:buFont typeface="Wingdings" pitchFamily="2" charset="2"/>
              <a:buNone/>
            </a:pP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综上，存在</a:t>
            </a:r>
            <a:r>
              <a:rPr lang="en-US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7</a:t>
            </a:r>
            <a:r>
              <a:rPr lang="zh-CN" altLang="zh-CN" sz="3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元子群。</a:t>
            </a:r>
            <a:endParaRPr lang="zh-CN" altLang="en-US" sz="3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50468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301037" cy="4392613"/>
          </a:xfrm>
        </p:spPr>
        <p:txBody>
          <a:bodyPr/>
          <a:lstStyle/>
          <a:p>
            <a:pPr marL="0" indent="0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求证若群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的元数是一个质数，则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必是循环群。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的元数为质数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 (p&gt;1)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，任取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中非单位元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的一个循环子群，设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的元数为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，显然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m&gt;1, 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据拉格朗日定理得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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。但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是质数，显然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m=p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，所以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G=(a)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，即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是由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生成的循环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</a:p>
        </p:txBody>
      </p:sp>
      <p:sp>
        <p:nvSpPr>
          <p:cNvPr id="1157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fld id="{98DDEBC6-52F1-4FE0-81CC-0A449F277412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 latinLnBrk="0"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571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79438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6.3-5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6163480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内容占位符 2">
            <a:extLst>
              <a:ext uri="{FF2B5EF4-FFF2-40B4-BE49-F238E27FC236}">
                <a16:creationId xmlns="" xmlns:a16="http://schemas.microsoft.com/office/drawing/2014/main" id="{746E06C0-0FED-4E6E-9AAC-A7ADCB4DB7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1268760"/>
            <a:ext cx="8640762" cy="4572000"/>
          </a:xfrm>
        </p:spPr>
        <p:txBody>
          <a:bodyPr/>
          <a:lstStyle/>
          <a:p>
            <a:pPr marL="0" indent="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求证若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中的指数是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必然是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的正规子群。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Clr>
                <a:srgbClr val="0000FF"/>
              </a:buClr>
              <a:buNone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en-US" sz="3000" dirty="0" smtClean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的指数也就是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右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陪集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的个数。当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的指数为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时，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的右陪集为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 err="1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000" dirty="0" smtClean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a∉H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的左陪集为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Ha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a∉H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x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H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=Hx=H ;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若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xH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，则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=G-H=Hx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。因此，对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xG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，恒有</a:t>
            </a:r>
            <a:r>
              <a:rPr lang="en-US" altLang="zh-CN" sz="3000" dirty="0" err="1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xH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=Hx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。因此，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H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是</a:t>
            </a:r>
            <a:r>
              <a:rPr lang="en-US" altLang="zh-CN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的正规子群。</a:t>
            </a:r>
            <a:endParaRPr lang="en-US" altLang="zh-CN" sz="3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8851" name="标题 1">
            <a:extLst>
              <a:ext uri="{FF2B5EF4-FFF2-40B4-BE49-F238E27FC236}">
                <a16:creationId xmlns="" xmlns:a16="http://schemas.microsoft.com/office/drawing/2014/main" id="{CB36286D-911A-4BF6-8177-12F6052F49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习题</a:t>
            </a:r>
            <a:r>
              <a:rPr lang="en-US" altLang="zh-CN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6.3-10</a:t>
            </a:r>
            <a:endParaRPr lang="zh-CN" altLang="en-US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852" name="灯片编号占位符 1">
            <a:extLst>
              <a:ext uri="{FF2B5EF4-FFF2-40B4-BE49-F238E27FC236}">
                <a16:creationId xmlns="" xmlns:a16="http://schemas.microsoft.com/office/drawing/2014/main" id="{7A0972CD-5186-47D7-8DA3-1F08D8842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anose="02010600030101010101" charset="-122"/>
                <a:ea typeface="楷体_GB2312" panose="02010600030101010101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0030101010101" charset="-122"/>
              </a:defRPr>
            </a:lvl9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3E0BCB-76B1-43B0-AF32-1CB9AE5989C9}" type="slidenum">
              <a:rPr kumimoji="1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윤명조140" panose="02010600030101010101" charset="-127"/>
                <a:ea typeface="-윤명조140" panose="02010600030101010101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윤명조140" panose="02010600030101010101" charset="-127"/>
              <a:ea typeface="-윤명조140" panose="02010600030101010101" charset="-127"/>
              <a:cs typeface="+mn-cs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11275"/>
            <a:ext cx="8496300" cy="4968875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试证明元数为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的群一定包含一个元数是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的子群，其中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为质数，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m≥1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solidFill>
                  <a:srgbClr val="0000FF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证明：</a:t>
            </a:r>
            <a:endParaRPr lang="en-US" altLang="zh-CN" sz="3000" dirty="0">
              <a:solidFill>
                <a:srgbClr val="0000FF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为元数为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的群，任取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中一非单位元的元素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的周期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一定整除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，且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n≠1, 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不妨设</a:t>
            </a:r>
            <a:endParaRPr lang="en-US" altLang="zh-CN" sz="30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n= p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,1≤k&lt;m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k=1,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则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即为元数为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的子群。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若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k&gt;1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，则取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s=p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k-1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，令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b=a</a:t>
            </a:r>
            <a:r>
              <a:rPr lang="en-US" altLang="zh-CN" sz="3000" baseline="30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s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b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，故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(b)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是一个元数为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</a:t>
            </a:r>
            <a:r>
              <a:rPr lang="en-US" altLang="zh-CN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的子群</a:t>
            </a:r>
            <a:r>
              <a:rPr lang="zh-CN" altLang="en-US" sz="28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95288" y="549275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600" b="1">
                <a:solidFill>
                  <a:schemeClr val="tx1"/>
                </a:solidFill>
                <a:latin typeface="华文中宋" pitchFamily="2" charset="-122"/>
                <a:ea typeface="华文中宋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ker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6.3-7</a:t>
            </a:r>
            <a:endParaRPr lang="zh-CN" altLang="en-US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AE7F7D-C385-4296-BA4B-44E2595CD29B}" type="slidenum">
              <a:rPr lang="en-US" altLang="ko-KR" smtClean="0"/>
              <a:pPr>
                <a:defRPr/>
              </a:pPr>
              <a:t>90</a:t>
            </a:fld>
            <a:endParaRPr lang="en-US" altLang="ko-KR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4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4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539552" y="1241698"/>
            <a:ext cx="8301038" cy="5355654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是生成元。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是任意正整数，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的最高公因为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，试证明：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d|m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∈(a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的最高公因，所以存在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，使得</a:t>
            </a: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km+ln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。于是，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km+ln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2800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G=(a)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是生成元知，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，代入上式得：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，从而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kern="1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28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en-US" sz="28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aseline="30000" dirty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A1BA873-E572-4244-AFE3-F18298C0EBCE}" type="slidenum">
              <a:rPr kumimoji="1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윤명조140" pitchFamily="18" charset="-127"/>
                <a:ea typeface="-윤명조140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윤명조140" pitchFamily="18" charset="-127"/>
              <a:ea typeface="-윤명조140" pitchFamily="18" charset="-127"/>
              <a:cs typeface="+mn-cs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2095894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301038" cy="4752627"/>
          </a:xfrm>
        </p:spPr>
        <p:txBody>
          <a:bodyPr/>
          <a:lstStyle/>
          <a:p>
            <a:pPr marL="0"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是元数为质数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的循环群，则对于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中任意不是单位元的元素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都是生成元。</a:t>
            </a:r>
            <a:endParaRPr lang="en-US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G=(u)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不是单位元，存在</a:t>
            </a:r>
            <a:r>
              <a:rPr lang="en-US" altLang="zh-CN" sz="320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a=u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0&lt;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。因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为质数，</a:t>
            </a:r>
            <a:r>
              <a:rPr lang="en-US" altLang="zh-CN" sz="32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互质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故存在整数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m,n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+mp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=1.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于是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32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i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+mp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3200" i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(u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3200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从而对于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中任意一个元素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，都存在</a:t>
            </a:r>
            <a:r>
              <a:rPr lang="en-US" altLang="zh-CN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Z,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x=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32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tn</a:t>
            </a:r>
            <a:r>
              <a:rPr lang="zh-CN" alt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，</a:t>
            </a:r>
            <a:r>
              <a:rPr lang="en-US" altLang="zh-CN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tn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32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即证得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的生成元。</a:t>
            </a:r>
            <a:endParaRPr lang="zh-CN" altLang="zh-CN" sz="32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200" b="1" baseline="30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5D9530-C1B3-434E-8267-3534FFBBD382}" type="slidenum">
              <a:rPr kumimoji="1" lang="en-US" altLang="ko-KR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-윤명조140" pitchFamily="18" charset="-127"/>
                <a:ea typeface="-윤명조140" pitchFamily="18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1" lang="en-US" altLang="ko-KR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-윤명조140" pitchFamily="18" charset="-127"/>
              <a:ea typeface="-윤명조140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663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latinLnBrk="0" hangingPunct="1">
              <a:lnSpc>
                <a:spcPct val="114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zh-CN" altLang="en-US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例</a:t>
            </a:r>
            <a:r>
              <a:rPr lang="en-US" altLang="zh-CN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: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 设有限交换群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(G，·)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中所有元素之积不等于单位元1，试证明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必为偶数元群。</a:t>
            </a:r>
            <a:endParaRPr lang="en-US" altLang="zh-CN" sz="3200" kern="1200" dirty="0"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marL="0" indent="0" algn="just" eaLnBrk="1" latinLnBrk="0" hangingPunct="1">
              <a:lnSpc>
                <a:spcPct val="114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endParaRPr lang="zh-CN" altLang="en-US" sz="3200" kern="1200" dirty="0"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marL="0" indent="0" algn="just" eaLnBrk="1" latinLnBrk="0" hangingPunct="1">
              <a:lnSpc>
                <a:spcPct val="114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kern="1200" dirty="0">
                <a:solidFill>
                  <a:srgbClr val="0000FF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证明：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用反证法。假设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(G，·)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为奇数元群，往证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(G，·)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中所有元素之积等于单位元1。</a:t>
            </a:r>
          </a:p>
          <a:p>
            <a:pPr marL="0" indent="0" algn="just" eaLnBrk="1" latinLnBrk="0" hangingPunct="1">
              <a:lnSpc>
                <a:spcPct val="114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由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有限，设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G={1，a</a:t>
            </a:r>
            <a:r>
              <a:rPr lang="en-US" altLang="zh-CN" sz="3200" kern="1200" baseline="-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，a</a:t>
            </a:r>
            <a:r>
              <a:rPr lang="en-US" altLang="zh-CN" sz="3200" kern="1200" baseline="-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,…,a</a:t>
            </a:r>
            <a:r>
              <a:rPr lang="en-US" altLang="zh-CN" sz="3200" kern="1200" baseline="-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2n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}。</a:t>
            </a:r>
            <a:endParaRPr lang="zh-CN" altLang="en-US" sz="3200" kern="1200" dirty="0"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647C3A-F8BE-4472-9227-DDE89464EEF9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应用拉格朗日定理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2351177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首先证明对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中任意非单位元的元素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a，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a≠a</a:t>
            </a:r>
            <a:r>
              <a:rPr lang="en-US" altLang="zh-CN" sz="32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。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假设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中有元素</a:t>
            </a:r>
            <a:r>
              <a:rPr lang="en-US" altLang="zh-CN" sz="3200" kern="1200" dirty="0" err="1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a，a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=a</a:t>
            </a:r>
            <a:r>
              <a:rPr lang="en-US" altLang="zh-CN" sz="32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-1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则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3200" kern="1200" baseline="300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=1，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显然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{1，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a}，·)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是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(G，·)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的元数为2的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子群。由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Lagrange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定理知，2应该整除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元数。因为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的元数为2</a:t>
            </a: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n+1，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所以2不整除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3200" kern="1200" dirty="0"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的元数，这就产生了矛盾。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136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CA27F9-1471-4917-9D0B-49B5E76AC16F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94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366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应用拉格朗日定理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378153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563" y="1265238"/>
            <a:ext cx="8301037" cy="5472112"/>
          </a:xfrm>
        </p:spPr>
        <p:txBody>
          <a:bodyPr/>
          <a:lstStyle/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由于任意元素的逆元素是唯一的，即不同的元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素有不同的逆元，所以在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,…,a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2n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中按如下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方法取元素：先任取一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i1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及其逆元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j1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(i1≠j1)，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再在剩下的2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(n-1)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个元素中任取一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i2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及其逆元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j2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(i2≠j2)，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以此类推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n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次，直到取出</a:t>
            </a:r>
            <a:r>
              <a:rPr lang="en-US" altLang="zh-CN" sz="2800" kern="1200" dirty="0" err="1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 err="1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in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及其逆元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2800" kern="1200" dirty="0" err="1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 err="1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jn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</a:t>
            </a:r>
            <a:r>
              <a:rPr lang="en-US" altLang="zh-CN" sz="2800" kern="1200" dirty="0" err="1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in≠jn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)。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则                  =1，</a:t>
            </a:r>
            <a:endParaRPr lang="en-US" altLang="zh-CN" sz="2800" kern="1200" dirty="0">
              <a:solidFill>
                <a:srgbClr val="000044"/>
              </a:solidFill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endParaRPr lang="en-US" altLang="zh-CN" sz="2800" kern="1200" dirty="0">
              <a:solidFill>
                <a:srgbClr val="000044"/>
              </a:solidFill>
              <a:latin typeface="Arial" panose="020B0604020202020204" pitchFamily="34" charset="0"/>
              <a:ea typeface="宋体"/>
              <a:cs typeface="Arial" panose="020B0604020202020204" pitchFamily="34" charset="0"/>
            </a:endParaRP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由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(G，·)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为交换群知 ，               = 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·a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·…·a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2n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，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所以，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1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·a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·…·a</a:t>
            </a:r>
            <a:r>
              <a:rPr lang="en-US" altLang="zh-CN" sz="2800" kern="1200" baseline="-300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2n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=1。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这与已知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(G，·)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中所有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元素之积不等于单位元1矛盾。所以，</a:t>
            </a:r>
            <a:r>
              <a:rPr lang="en-US" altLang="zh-CN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G</a:t>
            </a: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必为偶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kern="1200" dirty="0">
                <a:solidFill>
                  <a:srgbClr val="000044"/>
                </a:solidFill>
                <a:latin typeface="Arial" panose="020B0604020202020204" pitchFamily="34" charset="0"/>
                <a:ea typeface="宋体"/>
                <a:cs typeface="Arial" panose="020B0604020202020204" pitchFamily="34" charset="0"/>
              </a:rPr>
              <a:t>数元群。 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endParaRPr lang="zh-CN" altLang="en-US" sz="2800" b="1" kern="1200" dirty="0">
              <a:solidFill>
                <a:srgbClr val="000044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zh-CN" altLang="en-US" dirty="0"/>
          </a:p>
        </p:txBody>
      </p:sp>
      <p:pic>
        <p:nvPicPr>
          <p:cNvPr id="114691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584575"/>
            <a:ext cx="130175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2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988" y="4365625"/>
            <a:ext cx="1300162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2023D2-2938-4FAC-8019-410861F8723F}" type="slidenum">
              <a:rPr lang="en-US" altLang="ko-KR" sz="1400" smtClean="0"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ko-KR" sz="1400"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46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应用拉格朗日定理 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例</a:t>
            </a:r>
          </a:p>
        </p:txBody>
      </p:sp>
    </p:spTree>
    <p:extLst>
      <p:ext uri="{BB962C8B-B14F-4D97-AF65-F5344CB8AC3E}">
        <p14:creationId xmlns:p14="http://schemas.microsoft.com/office/powerpoint/2010/main" val="4093274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14205</TotalTime>
  <Words>8634</Words>
  <Application>Microsoft Office PowerPoint</Application>
  <PresentationFormat>全屏显示(4:3)</PresentationFormat>
  <Paragraphs>867</Paragraphs>
  <Slides>95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95</vt:i4>
      </vt:variant>
    </vt:vector>
  </HeadingPairs>
  <TitlesOfParts>
    <vt:vector size="116" baseType="lpstr">
      <vt:lpstr>Symbol</vt:lpstr>
      <vt:lpstr>华文中宋</vt:lpstr>
      <vt:lpstr>宋体</vt:lpstr>
      <vt:lpstr>Arial</vt:lpstr>
      <vt:lpstr>Wingdings</vt:lpstr>
      <vt:lpstr>KaiTi</vt:lpstr>
      <vt:lpstr>-윤명조140</vt:lpstr>
      <vt:lpstr>Calibri</vt:lpstr>
      <vt:lpstr>Times New Roman</vt:lpstr>
      <vt:lpstr>楷体_GB2312</vt:lpstr>
      <vt:lpstr>黑体</vt:lpstr>
      <vt:lpstr>Malgun Gothic</vt:lpstr>
      <vt:lpstr>楷体</vt:lpstr>
      <vt:lpstr>B075</vt:lpstr>
      <vt:lpstr>2_B075</vt:lpstr>
      <vt:lpstr>1_B075</vt:lpstr>
      <vt:lpstr>9_B075</vt:lpstr>
      <vt:lpstr>7_B075</vt:lpstr>
      <vt:lpstr>4_B075</vt:lpstr>
      <vt:lpstr>3_B075</vt:lpstr>
      <vt:lpstr>6_B075</vt:lpstr>
      <vt:lpstr>第六章   群 、环、域</vt:lpstr>
      <vt:lpstr>子群及其陪集</vt:lpstr>
      <vt:lpstr> 6.3.1 子群的定义</vt:lpstr>
      <vt:lpstr> 6.3.1 子群的定义—子群的例</vt:lpstr>
      <vt:lpstr> 6.3.1 子群的定义—平凡子群</vt:lpstr>
      <vt:lpstr> 6.3.1 子群的定义—平凡子群</vt:lpstr>
      <vt:lpstr> 6.3.2子群的判别条件</vt:lpstr>
      <vt:lpstr> 子群的判别条件一（必要性证明）</vt:lpstr>
      <vt:lpstr> 子群的判别条件一（必要性证明）</vt:lpstr>
      <vt:lpstr> 子群的判别条件一（必要性证明）</vt:lpstr>
      <vt:lpstr> 子群的判别条件一（充分性证明）</vt:lpstr>
      <vt:lpstr> 子群的判别条件一</vt:lpstr>
      <vt:lpstr> 应用子群的判别条件一的例</vt:lpstr>
      <vt:lpstr> 应用子群的判别条件一的例</vt:lpstr>
      <vt:lpstr> 应用子群的判别条件一的例</vt:lpstr>
      <vt:lpstr> 6.3.2子群的判别条件</vt:lpstr>
      <vt:lpstr> 子群的判别条件二证明</vt:lpstr>
      <vt:lpstr> 子群的判别条件二证明</vt:lpstr>
      <vt:lpstr>子群 判别条件二的例</vt:lpstr>
      <vt:lpstr>PowerPoint 演示文稿</vt:lpstr>
      <vt:lpstr> 6.3.2子群的判别条件</vt:lpstr>
      <vt:lpstr> 子群的判别条件三证明</vt:lpstr>
      <vt:lpstr> 应用子群的判别条件三的例</vt:lpstr>
      <vt:lpstr>6.3.3  循 环 群</vt:lpstr>
      <vt:lpstr>6.3.3  循 环 群</vt:lpstr>
      <vt:lpstr>循 环 群的例</vt:lpstr>
      <vt:lpstr>循 环 群的例</vt:lpstr>
      <vt:lpstr>循 环 群的例</vt:lpstr>
      <vt:lpstr>元素的周期</vt:lpstr>
      <vt:lpstr>元素的周期</vt:lpstr>
      <vt:lpstr>元素的周期</vt:lpstr>
      <vt:lpstr>周期的例</vt:lpstr>
      <vt:lpstr>练习：</vt:lpstr>
      <vt:lpstr>周期的例</vt:lpstr>
      <vt:lpstr>周期的例</vt:lpstr>
      <vt:lpstr>周期的例</vt:lpstr>
      <vt:lpstr>定理6.3.5</vt:lpstr>
      <vt:lpstr>定理6.3.5</vt:lpstr>
      <vt:lpstr>结论</vt:lpstr>
      <vt:lpstr>加法群中的周期</vt:lpstr>
      <vt:lpstr>定理6.3.5’</vt:lpstr>
      <vt:lpstr>循环群的生成元素</vt:lpstr>
      <vt:lpstr>定理6.3.6</vt:lpstr>
      <vt:lpstr>定理6.3.6</vt:lpstr>
      <vt:lpstr>定理6.3.6</vt:lpstr>
      <vt:lpstr>生成元的例</vt:lpstr>
      <vt:lpstr>生成元的例</vt:lpstr>
      <vt:lpstr>循环群的例</vt:lpstr>
      <vt:lpstr>循环群的例</vt:lpstr>
      <vt:lpstr>习题6.3-3</vt:lpstr>
      <vt:lpstr>习题6.3-6</vt:lpstr>
      <vt:lpstr>6.3.4    陪   集</vt:lpstr>
      <vt:lpstr>PowerPoint 演示文稿</vt:lpstr>
      <vt:lpstr>结论</vt:lpstr>
      <vt:lpstr>陪集</vt:lpstr>
      <vt:lpstr>结论</vt:lpstr>
      <vt:lpstr>PowerPoint 演示文稿</vt:lpstr>
      <vt:lpstr>PowerPoint 演示文稿</vt:lpstr>
      <vt:lpstr>陪集的例</vt:lpstr>
      <vt:lpstr>求陪集的简单方法</vt:lpstr>
      <vt:lpstr>陪集的例</vt:lpstr>
      <vt:lpstr>陪集的例</vt:lpstr>
      <vt:lpstr>陪集的例</vt:lpstr>
      <vt:lpstr>定理6.3.7</vt:lpstr>
      <vt:lpstr>陪集的性质</vt:lpstr>
      <vt:lpstr>陪集的性质</vt:lpstr>
      <vt:lpstr>陪集的性质</vt:lpstr>
      <vt:lpstr>陪集的性质</vt:lpstr>
      <vt:lpstr>陪集的性质</vt:lpstr>
      <vt:lpstr>陪集的性质</vt:lpstr>
      <vt:lpstr>正规子群</vt:lpstr>
      <vt:lpstr>结论</vt:lpstr>
      <vt:lpstr>正规子群的例</vt:lpstr>
      <vt:lpstr>正规子群的例</vt:lpstr>
      <vt:lpstr>拉格朗日定理</vt:lpstr>
      <vt:lpstr>结论</vt:lpstr>
      <vt:lpstr>例</vt:lpstr>
      <vt:lpstr>例</vt:lpstr>
      <vt:lpstr>拉格朗日定理总结</vt:lpstr>
      <vt:lpstr>H在G中的指数</vt:lpstr>
      <vt:lpstr>右代表系</vt:lpstr>
      <vt:lpstr>应用拉格朗日定理</vt:lpstr>
      <vt:lpstr>PowerPoint 演示文稿</vt:lpstr>
      <vt:lpstr>PowerPoint 演示文稿</vt:lpstr>
      <vt:lpstr>PowerPoint 演示文稿</vt:lpstr>
      <vt:lpstr>例</vt:lpstr>
      <vt:lpstr>PowerPoint 演示文稿</vt:lpstr>
      <vt:lpstr>习题6.3-5</vt:lpstr>
      <vt:lpstr>习题6.3-10</vt:lpstr>
      <vt:lpstr>PowerPoint 演示文稿</vt:lpstr>
      <vt:lpstr>例</vt:lpstr>
      <vt:lpstr>例</vt:lpstr>
      <vt:lpstr>应用拉格朗日定理 - 例</vt:lpstr>
      <vt:lpstr>应用拉格朗日定理 - 例</vt:lpstr>
      <vt:lpstr>应用拉格朗日定理 - 例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离散数学二</dc:title>
  <dc:creator>Administrator</dc:creator>
  <cp:lastModifiedBy>Windows 用户</cp:lastModifiedBy>
  <cp:revision>1141</cp:revision>
  <dcterms:created xsi:type="dcterms:W3CDTF">2001-07-18T23:57:34Z</dcterms:created>
  <dcterms:modified xsi:type="dcterms:W3CDTF">2025-09-26T09:22:29Z</dcterms:modified>
</cp:coreProperties>
</file>