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6682" r:id="rId2"/>
    <p:sldMasterId id="2147486766" r:id="rId3"/>
  </p:sldMasterIdLst>
  <p:notesMasterIdLst>
    <p:notesMasterId r:id="rId48"/>
  </p:notesMasterIdLst>
  <p:handoutMasterIdLst>
    <p:handoutMasterId r:id="rId49"/>
  </p:handoutMasterIdLst>
  <p:sldIdLst>
    <p:sldId id="346" r:id="rId4"/>
    <p:sldId id="347" r:id="rId5"/>
    <p:sldId id="328" r:id="rId6"/>
    <p:sldId id="348" r:id="rId7"/>
    <p:sldId id="349" r:id="rId8"/>
    <p:sldId id="350" r:id="rId9"/>
    <p:sldId id="332" r:id="rId10"/>
    <p:sldId id="351" r:id="rId11"/>
    <p:sldId id="335" r:id="rId12"/>
    <p:sldId id="336" r:id="rId13"/>
    <p:sldId id="337" r:id="rId14"/>
    <p:sldId id="353" r:id="rId15"/>
    <p:sldId id="338" r:id="rId16"/>
    <p:sldId id="345" r:id="rId17"/>
    <p:sldId id="340" r:id="rId18"/>
    <p:sldId id="341" r:id="rId19"/>
    <p:sldId id="445" r:id="rId20"/>
    <p:sldId id="342" r:id="rId21"/>
    <p:sldId id="409" r:id="rId22"/>
    <p:sldId id="442" r:id="rId23"/>
    <p:sldId id="273" r:id="rId24"/>
    <p:sldId id="275" r:id="rId25"/>
    <p:sldId id="278" r:id="rId26"/>
    <p:sldId id="276" r:id="rId27"/>
    <p:sldId id="277" r:id="rId28"/>
    <p:sldId id="279" r:id="rId29"/>
    <p:sldId id="280" r:id="rId30"/>
    <p:sldId id="283" r:id="rId31"/>
    <p:sldId id="286" r:id="rId32"/>
    <p:sldId id="289" r:id="rId33"/>
    <p:sldId id="293" r:id="rId34"/>
    <p:sldId id="297" r:id="rId35"/>
    <p:sldId id="322" r:id="rId36"/>
    <p:sldId id="304" r:id="rId37"/>
    <p:sldId id="315" r:id="rId38"/>
    <p:sldId id="305" r:id="rId39"/>
    <p:sldId id="306" r:id="rId40"/>
    <p:sldId id="451" r:id="rId41"/>
    <p:sldId id="413" r:id="rId42"/>
    <p:sldId id="414" r:id="rId43"/>
    <p:sldId id="415" r:id="rId44"/>
    <p:sldId id="416" r:id="rId45"/>
    <p:sldId id="417" r:id="rId46"/>
    <p:sldId id="418" r:id="rId4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72619"/>
    <a:srgbClr val="0000FF"/>
    <a:srgbClr val="0033CC"/>
    <a:srgbClr val="95422B"/>
    <a:srgbClr val="3366CC"/>
    <a:srgbClr val="C09200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11" autoAdjust="0"/>
  </p:normalViewPr>
  <p:slideViewPr>
    <p:cSldViewPr>
      <p:cViewPr varScale="1">
        <p:scale>
          <a:sx n="93" d="100"/>
          <a:sy n="93" d="100"/>
        </p:scale>
        <p:origin x="109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72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0.wmf"/><Relationship Id="rId4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0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0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0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98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fld id="{9678523D-1D75-4676-8009-83238A1D0A5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29140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0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0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0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fld id="{4F7AAEBB-6B66-4A48-9BEB-401E1CCEC53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46382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1A3AC57-0559-45FD-9601-C432E03DD6ED}" type="slidenum">
              <a:rPr lang="zh-CN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解释：一、 </a:t>
            </a:r>
            <a:r>
              <a:rPr lang="en-US" altLang="zh-CN" smtClean="0">
                <a:latin typeface="Arial" panose="020B0604020202020204" pitchFamily="34" charset="0"/>
              </a:rPr>
              <a:t>A</a:t>
            </a:r>
            <a:r>
              <a:rPr lang="zh-CN" altLang="en-US" smtClean="0">
                <a:latin typeface="Arial" panose="020B0604020202020204" pitchFamily="34" charset="0"/>
              </a:rPr>
              <a:t>的</a:t>
            </a:r>
            <a:r>
              <a:rPr lang="zh-CN" altLang="en-US" smtClean="0">
                <a:solidFill>
                  <a:schemeClr val="tx2"/>
                </a:solidFill>
                <a:latin typeface="Arial" panose="020B0604020202020204" pitchFamily="34" charset="0"/>
              </a:rPr>
              <a:t>所有元素必须都有映像；但</a:t>
            </a:r>
            <a:r>
              <a:rPr lang="en-US" altLang="zh-CN" smtClean="0">
                <a:solidFill>
                  <a:schemeClr val="tx2"/>
                </a:solidFill>
                <a:latin typeface="Arial" panose="020B0604020202020204" pitchFamily="34" charset="0"/>
              </a:rPr>
              <a:t>B</a:t>
            </a:r>
            <a:r>
              <a:rPr lang="zh-CN" altLang="en-US" smtClean="0">
                <a:solidFill>
                  <a:schemeClr val="tx2"/>
                </a:solidFill>
                <a:latin typeface="Arial" panose="020B0604020202020204" pitchFamily="34" charset="0"/>
              </a:rPr>
              <a:t>中不要求每个元素都有原像；二、可以</a:t>
            </a:r>
            <a:r>
              <a:rPr lang="en-US" altLang="zh-CN" smtClean="0">
                <a:solidFill>
                  <a:schemeClr val="tx2"/>
                </a:solidFill>
                <a:latin typeface="Arial" panose="020B0604020202020204" pitchFamily="34" charset="0"/>
              </a:rPr>
              <a:t>A</a:t>
            </a:r>
            <a:r>
              <a:rPr lang="zh-CN" altLang="en-US" smtClean="0">
                <a:solidFill>
                  <a:schemeClr val="tx2"/>
                </a:solidFill>
                <a:latin typeface="Arial" panose="020B0604020202020204" pitchFamily="34" charset="0"/>
              </a:rPr>
              <a:t>中的多个元素对应</a:t>
            </a:r>
            <a:r>
              <a:rPr lang="en-US" altLang="zh-CN" smtClean="0">
                <a:solidFill>
                  <a:schemeClr val="tx2"/>
                </a:solidFill>
                <a:latin typeface="Arial" panose="020B0604020202020204" pitchFamily="34" charset="0"/>
              </a:rPr>
              <a:t>b</a:t>
            </a:r>
            <a:r>
              <a:rPr lang="zh-CN" altLang="en-US" smtClean="0">
                <a:solidFill>
                  <a:schemeClr val="tx2"/>
                </a:solidFill>
                <a:latin typeface="Arial" panose="020B0604020202020204" pitchFamily="34" charset="0"/>
              </a:rPr>
              <a:t>中的一个元素；但不允许</a:t>
            </a:r>
            <a:r>
              <a:rPr lang="en-US" altLang="zh-CN" smtClean="0">
                <a:solidFill>
                  <a:schemeClr val="tx2"/>
                </a:solidFill>
                <a:latin typeface="Arial" panose="020B0604020202020204" pitchFamily="34" charset="0"/>
              </a:rPr>
              <a:t>A</a:t>
            </a:r>
            <a:r>
              <a:rPr lang="zh-CN" altLang="en-US" smtClean="0">
                <a:solidFill>
                  <a:schemeClr val="tx2"/>
                </a:solidFill>
                <a:latin typeface="Arial" panose="020B0604020202020204" pitchFamily="34" charset="0"/>
              </a:rPr>
              <a:t>中的一个元素对应</a:t>
            </a:r>
            <a:r>
              <a:rPr lang="en-US" altLang="zh-CN" smtClean="0">
                <a:solidFill>
                  <a:schemeClr val="tx2"/>
                </a:solidFill>
                <a:latin typeface="Arial" panose="020B0604020202020204" pitchFamily="34" charset="0"/>
              </a:rPr>
              <a:t>b</a:t>
            </a:r>
            <a:r>
              <a:rPr lang="zh-CN" altLang="en-US" smtClean="0">
                <a:solidFill>
                  <a:schemeClr val="tx2"/>
                </a:solidFill>
                <a:latin typeface="Arial" panose="020B0604020202020204" pitchFamily="34" charset="0"/>
              </a:rPr>
              <a:t>中的多个元素；</a:t>
            </a:r>
          </a:p>
        </p:txBody>
      </p:sp>
    </p:spTree>
    <p:extLst>
      <p:ext uri="{BB962C8B-B14F-4D97-AF65-F5344CB8AC3E}">
        <p14:creationId xmlns:p14="http://schemas.microsoft.com/office/powerpoint/2010/main" val="2891522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anose="020B0604020202020204" pitchFamily="34" charset="0"/>
            </a:endParaRP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fld id="{B384311E-B414-4821-9A88-B12C1063485D}" type="slidenum">
              <a:rPr lang="zh-CN" altLang="en-US" sz="1200">
                <a:ea typeface="宋体" panose="02010600030101010101" pitchFamily="2" charset="-122"/>
              </a:rPr>
              <a:pPr/>
              <a:t>4</a:t>
            </a:fld>
            <a:endParaRPr lang="en-US" altLang="zh-CN" sz="120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5731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E308AFF-141E-4069-9EB7-2B395AAAE3CE}" type="slidenum">
              <a:rPr lang="zh-CN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884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9587A7E-0CBA-4048-A33D-9CBE3ECD5823}" type="slidenum">
              <a:rPr lang="zh-CN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如</a:t>
            </a:r>
          </a:p>
        </p:txBody>
      </p:sp>
    </p:spTree>
    <p:extLst>
      <p:ext uri="{BB962C8B-B14F-4D97-AF65-F5344CB8AC3E}">
        <p14:creationId xmlns:p14="http://schemas.microsoft.com/office/powerpoint/2010/main" val="410930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8B84466-6B08-4D9C-A6A9-42FB8849C33B}" type="slidenum">
              <a:rPr lang="zh-CN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400" smtClean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6964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6AD5685-2B8D-484B-9CF3-ACD2A2173123}" type="slidenum">
              <a:rPr lang="zh-CN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 sz="1400" smtClean="0">
              <a:solidFill>
                <a:schemeClr val="tx2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02086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anose="020B0604020202020204" pitchFamily="34" charset="0"/>
            </a:endParaRPr>
          </a:p>
        </p:txBody>
      </p:sp>
      <p:sp>
        <p:nvSpPr>
          <p:cNvPr id="6758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fld id="{A1EDCF56-92C0-45C9-8F99-0274F704A308}" type="slidenum">
              <a:rPr lang="zh-CN" altLang="en-US" sz="1200">
                <a:ea typeface="宋体" panose="02010600030101010101" pitchFamily="2" charset="-122"/>
              </a:rPr>
              <a:pPr/>
              <a:t>43</a:t>
            </a:fld>
            <a:endParaRPr lang="en-US" altLang="zh-CN" sz="120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7631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87242DB-4E03-42E4-B019-6B5554C9E44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695193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70CB6-5E6D-4704-9F42-0B6A15DC6EA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88135242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B27BC1-D4D7-46EA-8DC9-0B93B937D2F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7429662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FD07E5-3E58-4879-B0AC-11336132D54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58427901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A2B073-8912-4DD2-A0E8-0561009F2A0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4501284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69976F-512A-456E-B902-9BC61359C1C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34263284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BF1D41-B79A-4120-A3CD-DF33814C0D0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7072514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261C38-4834-4FD1-88A3-D7767D9EA18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60482813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E22F7D-A24F-4937-8C9C-A4F48DEB0F8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78202485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1850B7-D5D2-4662-AB55-36F8763271F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6798393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5C42DF-1730-40A8-85BD-ACEAA0697C0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93321828"/>
      </p:ext>
    </p:extLst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D2BD9F9-ED0A-47E6-AFD3-9EA2433C941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502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2103DE-6802-4678-A03A-8915F96B6A7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09415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F26F76-4642-4348-87C6-DE8D4F3FDDC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06400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5B2A19-70F4-43CA-9F72-5BE73D4366A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4915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636872-9C7F-4E0E-9397-B9FDD138921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285046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4FFA58-1102-48AC-9C17-66BE7244E2D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376003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062654-489A-4502-BE34-CF6B8AC952E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789928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365DD9-47D1-405F-8897-4AEF71EEC5A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11229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2630A5-3664-4E60-93CE-2ADC81A2377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915856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A5FE05-770C-48FA-AEBE-432B200AE5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31339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E10220-0274-4FA9-8967-E01EB93E2CD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32086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4F89DF1-8041-4C77-96AB-24B81C0E40B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0287616"/>
      </p:ext>
    </p:extLst>
  </p:cSld>
  <p:clrMapOvr>
    <a:masterClrMapping/>
  </p:clrMapOvr>
  <p:transition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768195-2BBC-4864-B57E-0000DA4A9C6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165388"/>
      </p:ext>
    </p:extLst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E7AECF-3FF7-43A1-9A1D-7EC9CE98E37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2959625"/>
      </p:ext>
    </p:extLst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A4CC51-D155-465C-BBE5-7F88B77E46B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0971108"/>
      </p:ext>
    </p:extLst>
  </p:cSld>
  <p:clrMapOvr>
    <a:masterClrMapping/>
  </p:clrMapOvr>
  <p:transition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A4D596-DF13-4CF7-AE22-27E8053DADE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87707379"/>
      </p:ext>
    </p:extLst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34DA08-C5CD-46CD-BB83-1C82FEF74B4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52843377"/>
      </p:ext>
    </p:extLst>
  </p:cSld>
  <p:clrMapOvr>
    <a:masterClrMapping/>
  </p:clrMapOvr>
  <p:transition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CB3360-96C9-4BD4-AD5A-03D3BEA4216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6598607"/>
      </p:ext>
    </p:extLst>
  </p:cSld>
  <p:clrMapOvr>
    <a:masterClrMapping/>
  </p:clrMapOvr>
  <p:transition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A5A885-9EC3-448E-A87F-BE045645ADB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96259619"/>
      </p:ext>
    </p:extLst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E794CE-C952-4EAB-85B0-99DA4507D76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33501236"/>
      </p:ext>
    </p:extLst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F4455A-67E2-4AD5-BD58-7AB79EAF220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9081965"/>
      </p:ext>
    </p:extLst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55ACC5-258A-4B8B-8EFE-617CFC5F763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7055774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charset="-127"/>
                <a:ea typeface="-윤명조140" charset="-127"/>
              </a:defRPr>
            </a:lvl1pPr>
          </a:lstStyle>
          <a:p>
            <a:fld id="{40A97950-6E3D-4B44-9845-AEF9184B6C09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119" r:id="rId1"/>
    <p:sldLayoutId id="2147489045" r:id="rId2"/>
    <p:sldLayoutId id="2147489046" r:id="rId3"/>
    <p:sldLayoutId id="2147489047" r:id="rId4"/>
    <p:sldLayoutId id="2147489048" r:id="rId5"/>
    <p:sldLayoutId id="2147489049" r:id="rId6"/>
    <p:sldLayoutId id="2147489050" r:id="rId7"/>
    <p:sldLayoutId id="2147489051" r:id="rId8"/>
    <p:sldLayoutId id="2147489052" r:id="rId9"/>
    <p:sldLayoutId id="2147489053" r:id="rId10"/>
    <p:sldLayoutId id="2147489054" r:id="rId11"/>
  </p:sldLayoutIdLst>
  <p:transition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华文中宋" panose="02010600040101010101" pitchFamily="2" charset="-122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charset="-127"/>
                <a:ea typeface="-윤명조140" charset="-127"/>
              </a:defRPr>
            </a:lvl1pPr>
          </a:lstStyle>
          <a:p>
            <a:fld id="{D8AAF52F-A65E-46B0-8926-EF1CE09D5DCD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120" r:id="rId1"/>
    <p:sldLayoutId id="2147489055" r:id="rId2"/>
    <p:sldLayoutId id="2147489056" r:id="rId3"/>
    <p:sldLayoutId id="2147489057" r:id="rId4"/>
    <p:sldLayoutId id="2147489058" r:id="rId5"/>
    <p:sldLayoutId id="2147489059" r:id="rId6"/>
    <p:sldLayoutId id="2147489060" r:id="rId7"/>
    <p:sldLayoutId id="2147489061" r:id="rId8"/>
    <p:sldLayoutId id="2147489062" r:id="rId9"/>
    <p:sldLayoutId id="2147489063" r:id="rId10"/>
    <p:sldLayoutId id="214748906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华文中宋" panose="02010600040101010101" pitchFamily="2" charset="-122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charset="-127"/>
                <a:ea typeface="-윤명조140" charset="-127"/>
              </a:defRPr>
            </a:lvl1pPr>
          </a:lstStyle>
          <a:p>
            <a:fld id="{5243820B-AD5E-4FA8-AA92-75CA3307C7D6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121" r:id="rId1"/>
    <p:sldLayoutId id="2147489065" r:id="rId2"/>
    <p:sldLayoutId id="2147489066" r:id="rId3"/>
    <p:sldLayoutId id="2147489067" r:id="rId4"/>
    <p:sldLayoutId id="2147489068" r:id="rId5"/>
    <p:sldLayoutId id="2147489069" r:id="rId6"/>
    <p:sldLayoutId id="2147489070" r:id="rId7"/>
    <p:sldLayoutId id="2147489071" r:id="rId8"/>
    <p:sldLayoutId id="2147489072" r:id="rId9"/>
    <p:sldLayoutId id="2147489073" r:id="rId10"/>
    <p:sldLayoutId id="2147489074" r:id="rId11"/>
  </p:sldLayoutIdLst>
  <p:transition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华文中宋" panose="02010600040101010101" pitchFamily="2" charset="-122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6.bin"/><Relationship Id="rId10" Type="http://schemas.openxmlformats.org/officeDocument/2006/relationships/oleObject" Target="../embeddings/oleObject10.bin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oleObject" Target="../embeddings/oleObject16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8.wmf"/><Relationship Id="rId12" Type="http://schemas.openxmlformats.org/officeDocument/2006/relationships/oleObject" Target="../embeddings/oleObject15.bin"/><Relationship Id="rId1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8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4.wmf"/><Relationship Id="rId5" Type="http://schemas.openxmlformats.org/officeDocument/2006/relationships/image" Target="../media/image7.wmf"/><Relationship Id="rId15" Type="http://schemas.openxmlformats.org/officeDocument/2006/relationships/oleObject" Target="../embeddings/oleObject17.bin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wmf"/><Relationship Id="rId14" Type="http://schemas.openxmlformats.org/officeDocument/2006/relationships/image" Target="../media/image10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20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0" smtClean="0">
                <a:latin typeface="黑体" panose="02010609060101010101" pitchFamily="49" charset="-122"/>
                <a:ea typeface="宋体" panose="02010600030101010101" pitchFamily="2" charset="-122"/>
                <a:sym typeface="Symbol" panose="05050102010706020507" pitchFamily="18" charset="2"/>
              </a:rPr>
              <a:t>第六章   群 、环、域</a:t>
            </a:r>
          </a:p>
        </p:txBody>
      </p:sp>
      <p:grpSp>
        <p:nvGrpSpPr>
          <p:cNvPr id="17411" name="Group 3"/>
          <p:cNvGrpSpPr>
            <a:grpSpLocks/>
          </p:cNvGrpSpPr>
          <p:nvPr/>
        </p:nvGrpSpPr>
        <p:grpSpPr bwMode="auto">
          <a:xfrm>
            <a:off x="1054100" y="2032000"/>
            <a:ext cx="762000" cy="665163"/>
            <a:chOff x="1110" y="2656"/>
            <a:chExt cx="1549" cy="1351"/>
          </a:xfrm>
        </p:grpSpPr>
        <p:sp>
          <p:nvSpPr>
            <p:cNvPr id="17465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66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7942" name="AutoShape 6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ea typeface="楷体_GB2312" pitchFamily="49" charset="-122"/>
              </a:endParaRPr>
            </a:p>
          </p:txBody>
        </p:sp>
      </p:grpSp>
      <p:grpSp>
        <p:nvGrpSpPr>
          <p:cNvPr id="17412" name="Group 7"/>
          <p:cNvGrpSpPr>
            <a:grpSpLocks/>
          </p:cNvGrpSpPr>
          <p:nvPr/>
        </p:nvGrpSpPr>
        <p:grpSpPr bwMode="auto">
          <a:xfrm>
            <a:off x="1054100" y="3001963"/>
            <a:ext cx="762000" cy="665162"/>
            <a:chOff x="3174" y="2656"/>
            <a:chExt cx="1549" cy="1351"/>
          </a:xfrm>
        </p:grpSpPr>
        <p:sp>
          <p:nvSpPr>
            <p:cNvPr id="17462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63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7946" name="AutoShape 10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ea typeface="楷体_GB2312" pitchFamily="49" charset="-122"/>
              </a:endParaRPr>
            </a:p>
          </p:txBody>
        </p:sp>
      </p:grpSp>
      <p:sp>
        <p:nvSpPr>
          <p:cNvPr id="17413" name="Line 11"/>
          <p:cNvSpPr>
            <a:spLocks noChangeShapeType="1"/>
          </p:cNvSpPr>
          <p:nvPr/>
        </p:nvSpPr>
        <p:spPr bwMode="auto">
          <a:xfrm>
            <a:off x="1663700" y="2641600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4" name="Text Box 12"/>
          <p:cNvSpPr txBox="1">
            <a:spLocks noChangeArrowheads="1"/>
          </p:cNvSpPr>
          <p:nvPr/>
        </p:nvSpPr>
        <p:spPr bwMode="gray">
          <a:xfrm>
            <a:off x="1250950" y="213042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415" name="Line 13"/>
          <p:cNvSpPr>
            <a:spLocks noChangeShapeType="1"/>
          </p:cNvSpPr>
          <p:nvPr/>
        </p:nvSpPr>
        <p:spPr bwMode="auto">
          <a:xfrm>
            <a:off x="1663700" y="3611563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6" name="Text Box 14"/>
          <p:cNvSpPr txBox="1">
            <a:spLocks noChangeArrowheads="1"/>
          </p:cNvSpPr>
          <p:nvPr/>
        </p:nvSpPr>
        <p:spPr bwMode="gray">
          <a:xfrm>
            <a:off x="1250950" y="31003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grpSp>
        <p:nvGrpSpPr>
          <p:cNvPr id="17417" name="Group 15"/>
          <p:cNvGrpSpPr>
            <a:grpSpLocks/>
          </p:cNvGrpSpPr>
          <p:nvPr/>
        </p:nvGrpSpPr>
        <p:grpSpPr bwMode="auto">
          <a:xfrm>
            <a:off x="1054100" y="3965575"/>
            <a:ext cx="762000" cy="665163"/>
            <a:chOff x="1110" y="2656"/>
            <a:chExt cx="1549" cy="1351"/>
          </a:xfrm>
        </p:grpSpPr>
        <p:sp>
          <p:nvSpPr>
            <p:cNvPr id="17459" name="AutoShape 16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60" name="AutoShape 17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7954" name="AutoShape 18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ea typeface="楷体_GB2312" pitchFamily="49" charset="-122"/>
              </a:endParaRPr>
            </a:p>
          </p:txBody>
        </p:sp>
      </p:grpSp>
      <p:sp>
        <p:nvSpPr>
          <p:cNvPr id="17418" name="Line 19"/>
          <p:cNvSpPr>
            <a:spLocks noChangeShapeType="1"/>
          </p:cNvSpPr>
          <p:nvPr/>
        </p:nvSpPr>
        <p:spPr bwMode="auto">
          <a:xfrm>
            <a:off x="1663700" y="4575175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9" name="Text Box 20"/>
          <p:cNvSpPr txBox="1">
            <a:spLocks noChangeArrowheads="1"/>
          </p:cNvSpPr>
          <p:nvPr/>
        </p:nvSpPr>
        <p:spPr bwMode="gray">
          <a:xfrm>
            <a:off x="1250950" y="40640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67957" name="Text Box 21"/>
          <p:cNvSpPr txBox="1">
            <a:spLocks noChangeArrowheads="1"/>
          </p:cNvSpPr>
          <p:nvPr/>
        </p:nvSpPr>
        <p:spPr bwMode="auto">
          <a:xfrm>
            <a:off x="2197100" y="2122488"/>
            <a:ext cx="167640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代数系统</a:t>
            </a:r>
            <a:endParaRPr kumimoji="0" lang="en-US" altLang="zh-CN" sz="2800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7958" name="Text Box 2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908175" y="4797425"/>
            <a:ext cx="2520950" cy="1311275"/>
          </a:xfrm>
          <a:prstGeom prst="rect">
            <a:avLst/>
          </a:prstGeom>
          <a:solidFill>
            <a:srgbClr val="FF9900"/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kumimoji="0" lang="zh-CN" altLang="en-US" sz="40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群的同态及同构</a:t>
            </a:r>
            <a:endParaRPr kumimoji="0" lang="en-US" altLang="zh-CN" sz="4000" b="1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422" name="Line 23"/>
          <p:cNvSpPr>
            <a:spLocks noChangeShapeType="1"/>
          </p:cNvSpPr>
          <p:nvPr/>
        </p:nvSpPr>
        <p:spPr bwMode="auto">
          <a:xfrm>
            <a:off x="1663700" y="5491163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60" name="Text Box 24"/>
          <p:cNvSpPr txBox="1">
            <a:spLocks noChangeArrowheads="1"/>
          </p:cNvSpPr>
          <p:nvPr/>
        </p:nvSpPr>
        <p:spPr bwMode="auto">
          <a:xfrm>
            <a:off x="1908175" y="3933825"/>
            <a:ext cx="25146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子群及其陪集</a:t>
            </a:r>
          </a:p>
        </p:txBody>
      </p:sp>
      <p:grpSp>
        <p:nvGrpSpPr>
          <p:cNvPr id="17424" name="Group 25"/>
          <p:cNvGrpSpPr>
            <a:grpSpLocks/>
          </p:cNvGrpSpPr>
          <p:nvPr/>
        </p:nvGrpSpPr>
        <p:grpSpPr bwMode="auto">
          <a:xfrm>
            <a:off x="5016500" y="2032000"/>
            <a:ext cx="762000" cy="665163"/>
            <a:chOff x="1110" y="2656"/>
            <a:chExt cx="1549" cy="1351"/>
          </a:xfrm>
        </p:grpSpPr>
        <p:sp>
          <p:nvSpPr>
            <p:cNvPr id="17456" name="AutoShape 26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57" name="AutoShape 27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7964" name="AutoShape 28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ea typeface="楷体_GB2312" pitchFamily="49" charset="-122"/>
              </a:endParaRPr>
            </a:p>
          </p:txBody>
        </p:sp>
      </p:grpSp>
      <p:grpSp>
        <p:nvGrpSpPr>
          <p:cNvPr id="17425" name="Group 29"/>
          <p:cNvGrpSpPr>
            <a:grpSpLocks/>
          </p:cNvGrpSpPr>
          <p:nvPr/>
        </p:nvGrpSpPr>
        <p:grpSpPr bwMode="auto">
          <a:xfrm>
            <a:off x="5016500" y="3001963"/>
            <a:ext cx="762000" cy="665162"/>
            <a:chOff x="3174" y="2656"/>
            <a:chExt cx="1549" cy="1351"/>
          </a:xfrm>
        </p:grpSpPr>
        <p:sp>
          <p:nvSpPr>
            <p:cNvPr id="17453" name="AutoShape 30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54" name="AutoShape 31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7968" name="AutoShape 32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ea typeface="楷体_GB2312" pitchFamily="49" charset="-122"/>
              </a:endParaRPr>
            </a:p>
          </p:txBody>
        </p:sp>
      </p:grpSp>
      <p:sp>
        <p:nvSpPr>
          <p:cNvPr id="17426" name="Line 33"/>
          <p:cNvSpPr>
            <a:spLocks noChangeShapeType="1"/>
          </p:cNvSpPr>
          <p:nvPr/>
        </p:nvSpPr>
        <p:spPr bwMode="auto">
          <a:xfrm>
            <a:off x="5626100" y="2641600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7" name="Text Box 34"/>
          <p:cNvSpPr txBox="1">
            <a:spLocks noChangeArrowheads="1"/>
          </p:cNvSpPr>
          <p:nvPr/>
        </p:nvSpPr>
        <p:spPr bwMode="gray">
          <a:xfrm>
            <a:off x="5213350" y="213042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7428" name="Line 35"/>
          <p:cNvSpPr>
            <a:spLocks noChangeShapeType="1"/>
          </p:cNvSpPr>
          <p:nvPr/>
        </p:nvSpPr>
        <p:spPr bwMode="auto">
          <a:xfrm>
            <a:off x="5626100" y="3611563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9" name="Text Box 36"/>
          <p:cNvSpPr txBox="1">
            <a:spLocks noChangeArrowheads="1"/>
          </p:cNvSpPr>
          <p:nvPr/>
        </p:nvSpPr>
        <p:spPr bwMode="gray">
          <a:xfrm>
            <a:off x="5213350" y="31003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</a:p>
        </p:txBody>
      </p:sp>
      <p:grpSp>
        <p:nvGrpSpPr>
          <p:cNvPr id="17430" name="Group 37"/>
          <p:cNvGrpSpPr>
            <a:grpSpLocks/>
          </p:cNvGrpSpPr>
          <p:nvPr/>
        </p:nvGrpSpPr>
        <p:grpSpPr bwMode="auto">
          <a:xfrm>
            <a:off x="5016500" y="3965575"/>
            <a:ext cx="762000" cy="665163"/>
            <a:chOff x="1110" y="2656"/>
            <a:chExt cx="1549" cy="1351"/>
          </a:xfrm>
        </p:grpSpPr>
        <p:sp>
          <p:nvSpPr>
            <p:cNvPr id="17450" name="AutoShape 3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51" name="AutoShape 3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7976" name="AutoShape 40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ea typeface="楷体_GB2312" pitchFamily="49" charset="-122"/>
              </a:endParaRPr>
            </a:p>
          </p:txBody>
        </p:sp>
      </p:grpSp>
      <p:sp>
        <p:nvSpPr>
          <p:cNvPr id="17431" name="Line 41"/>
          <p:cNvSpPr>
            <a:spLocks noChangeShapeType="1"/>
          </p:cNvSpPr>
          <p:nvPr/>
        </p:nvSpPr>
        <p:spPr bwMode="auto">
          <a:xfrm>
            <a:off x="5626100" y="4575175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32" name="Text Box 42"/>
          <p:cNvSpPr txBox="1">
            <a:spLocks noChangeArrowheads="1"/>
          </p:cNvSpPr>
          <p:nvPr/>
        </p:nvSpPr>
        <p:spPr bwMode="gray">
          <a:xfrm>
            <a:off x="5213350" y="40640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67979" name="Text Box 43"/>
          <p:cNvSpPr txBox="1">
            <a:spLocks noChangeArrowheads="1"/>
          </p:cNvSpPr>
          <p:nvPr/>
        </p:nvSpPr>
        <p:spPr bwMode="auto">
          <a:xfrm>
            <a:off x="2195513" y="2997200"/>
            <a:ext cx="2449512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群的定义</a:t>
            </a:r>
            <a:endParaRPr kumimoji="0" lang="en-US" altLang="zh-CN" sz="2800" b="1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7980" name="Text Box 44"/>
          <p:cNvSpPr txBox="1">
            <a:spLocks noChangeArrowheads="1"/>
          </p:cNvSpPr>
          <p:nvPr/>
        </p:nvSpPr>
        <p:spPr bwMode="auto">
          <a:xfrm>
            <a:off x="5940425" y="2060575"/>
            <a:ext cx="19050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环</a:t>
            </a:r>
            <a:endParaRPr kumimoji="0" lang="en-US" altLang="zh-CN" sz="2800" b="1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7981" name="Text Box 45"/>
          <p:cNvSpPr txBox="1">
            <a:spLocks noChangeArrowheads="1"/>
          </p:cNvSpPr>
          <p:nvPr/>
        </p:nvSpPr>
        <p:spPr bwMode="auto">
          <a:xfrm>
            <a:off x="5867400" y="2997200"/>
            <a:ext cx="2665413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域的特征 素域</a:t>
            </a:r>
          </a:p>
        </p:txBody>
      </p:sp>
      <p:grpSp>
        <p:nvGrpSpPr>
          <p:cNvPr id="17436" name="Group 46"/>
          <p:cNvGrpSpPr>
            <a:grpSpLocks/>
          </p:cNvGrpSpPr>
          <p:nvPr/>
        </p:nvGrpSpPr>
        <p:grpSpPr bwMode="auto">
          <a:xfrm>
            <a:off x="1054100" y="4924425"/>
            <a:ext cx="762000" cy="665163"/>
            <a:chOff x="3174" y="2656"/>
            <a:chExt cx="1549" cy="1351"/>
          </a:xfrm>
        </p:grpSpPr>
        <p:sp>
          <p:nvSpPr>
            <p:cNvPr id="17447" name="AutoShape 47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48" name="AutoShape 48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7985" name="AutoShape 49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ea typeface="楷体_GB2312" pitchFamily="49" charset="-122"/>
              </a:endParaRPr>
            </a:p>
          </p:txBody>
        </p:sp>
      </p:grpSp>
      <p:sp>
        <p:nvSpPr>
          <p:cNvPr id="17437" name="Text Box 50"/>
          <p:cNvSpPr txBox="1">
            <a:spLocks noChangeArrowheads="1"/>
          </p:cNvSpPr>
          <p:nvPr/>
        </p:nvSpPr>
        <p:spPr bwMode="gray">
          <a:xfrm>
            <a:off x="1250950" y="503555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67987" name="Text Box 51"/>
          <p:cNvSpPr txBox="1">
            <a:spLocks noChangeArrowheads="1"/>
          </p:cNvSpPr>
          <p:nvPr/>
        </p:nvSpPr>
        <p:spPr bwMode="auto">
          <a:xfrm>
            <a:off x="5940425" y="4005263"/>
            <a:ext cx="2665413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多项式</a:t>
            </a:r>
          </a:p>
        </p:txBody>
      </p:sp>
      <p:sp>
        <p:nvSpPr>
          <p:cNvPr id="17439" name="Line 52"/>
          <p:cNvSpPr>
            <a:spLocks noChangeShapeType="1"/>
          </p:cNvSpPr>
          <p:nvPr/>
        </p:nvSpPr>
        <p:spPr bwMode="auto">
          <a:xfrm>
            <a:off x="5695950" y="5435600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89" name="Text Box 53"/>
          <p:cNvSpPr txBox="1">
            <a:spLocks noChangeArrowheads="1"/>
          </p:cNvSpPr>
          <p:nvPr/>
        </p:nvSpPr>
        <p:spPr bwMode="auto">
          <a:xfrm>
            <a:off x="6011863" y="4886325"/>
            <a:ext cx="273685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有限域</a:t>
            </a:r>
            <a:endParaRPr kumimoji="0" lang="en-US" altLang="zh-CN" sz="2800" b="1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7441" name="Group 54"/>
          <p:cNvGrpSpPr>
            <a:grpSpLocks/>
          </p:cNvGrpSpPr>
          <p:nvPr/>
        </p:nvGrpSpPr>
        <p:grpSpPr bwMode="auto">
          <a:xfrm>
            <a:off x="5086350" y="4868863"/>
            <a:ext cx="762000" cy="665162"/>
            <a:chOff x="3174" y="2656"/>
            <a:chExt cx="1549" cy="1351"/>
          </a:xfrm>
        </p:grpSpPr>
        <p:sp>
          <p:nvSpPr>
            <p:cNvPr id="17444" name="AutoShape 55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445" name="AutoShape 56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7993" name="AutoShape 57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ea typeface="楷体_GB2312" pitchFamily="49" charset="-122"/>
              </a:endParaRPr>
            </a:p>
          </p:txBody>
        </p:sp>
      </p:grpSp>
      <p:sp>
        <p:nvSpPr>
          <p:cNvPr id="17442" name="Text Box 58"/>
          <p:cNvSpPr txBox="1">
            <a:spLocks noChangeArrowheads="1"/>
          </p:cNvSpPr>
          <p:nvPr/>
        </p:nvSpPr>
        <p:spPr bwMode="gray">
          <a:xfrm>
            <a:off x="5283200" y="49799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744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791AC84-9059-49ED-88DD-BC99FEA50C54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§6.</a:t>
            </a:r>
            <a:r>
              <a:rPr lang="en-US" altLang="zh-CN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群的</a:t>
            </a:r>
            <a:r>
              <a:rPr lang="zh-CN" altLang="en-US" b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同态及同构</a:t>
            </a:r>
            <a:endParaRPr lang="zh-CN" altLang="en-US" b="0" smtClean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18435" name="内容占位符 2"/>
          <p:cNvSpPr>
            <a:spLocks noGrp="1" noChangeArrowheads="1"/>
          </p:cNvSpPr>
          <p:nvPr>
            <p:ph idx="1"/>
          </p:nvPr>
        </p:nvSpPr>
        <p:spPr>
          <a:xfrm>
            <a:off x="611188" y="1916113"/>
            <a:ext cx="8301037" cy="45720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b="1" smtClean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en-US" altLang="zh-CN" sz="3200" b="1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200" b="1" smtClean="0">
                <a:latin typeface="宋体" panose="02010600030101010101" pitchFamily="2" charset="-122"/>
                <a:ea typeface="宋体" panose="02010600030101010101" pitchFamily="2" charset="-122"/>
              </a:rPr>
              <a:t>.1  同 态 映 射 </a:t>
            </a:r>
          </a:p>
          <a:p>
            <a:pPr eaLnBrk="1" hangingPunct="1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b="1" smtClean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en-US" altLang="zh-CN" sz="3200" b="1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200" b="1" smtClean="0">
                <a:latin typeface="宋体" panose="02010600030101010101" pitchFamily="2" charset="-122"/>
                <a:ea typeface="宋体" panose="02010600030101010101" pitchFamily="2" charset="-122"/>
              </a:rPr>
              <a:t>.2  同 构 映 射 </a:t>
            </a:r>
          </a:p>
          <a:p>
            <a:pPr eaLnBrk="1" hangingPunct="1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b="1" smtClean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en-US" altLang="zh-CN" sz="3200" b="1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200" b="1" smtClean="0">
                <a:latin typeface="宋体" panose="02010600030101010101" pitchFamily="2" charset="-122"/>
                <a:ea typeface="宋体" panose="02010600030101010101" pitchFamily="2" charset="-122"/>
              </a:rPr>
              <a:t>.3  同 态 核 </a:t>
            </a:r>
          </a:p>
          <a:p>
            <a:pPr eaLnBrk="1" hangingPunct="1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zh-CN" altLang="en-US" sz="3200" b="1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3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924E4A9-7452-4505-AAD1-A31DDCF9C1D8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6.4.1 </a:t>
            </a:r>
            <a:r>
              <a:rPr lang="en-US" altLang="zh-CN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同态映射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524000"/>
            <a:ext cx="8424862" cy="51054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定义.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(G,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(K,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•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是一个代数系统，称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的一个映射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是一个同态映射，如果对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a，b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</a:t>
            </a:r>
            <a:b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σ(a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b)=σ(a)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•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σ(b)</a:t>
            </a:r>
          </a:p>
          <a:p>
            <a:pPr algn="ctr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注意：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这个映射既不一定是单射也不一定是满射。</a:t>
            </a:r>
          </a:p>
        </p:txBody>
      </p:sp>
      <p:sp>
        <p:nvSpPr>
          <p:cNvPr id="1946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50EB0C-3E30-4F6A-8554-C98326EFD17B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2"/>
          <p:cNvSpPr>
            <a:spLocks noGrp="1" noChangeArrowheads="1"/>
          </p:cNvSpPr>
          <p:nvPr>
            <p:ph idx="1"/>
          </p:nvPr>
        </p:nvSpPr>
        <p:spPr>
          <a:xfrm>
            <a:off x="561975" y="1268413"/>
            <a:ext cx="8301038" cy="5113337"/>
          </a:xfrm>
        </p:spPr>
        <p:txBody>
          <a:bodyPr/>
          <a:lstStyle/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 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设(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G，*)，(K，+)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是两个群，令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σ：x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e，    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x∈G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其中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的单位元。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内的映射，且对任意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a,b∈G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σ(a*b)=e=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e+e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=σ(a)+σ(b)。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的同态映射。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σ(G)={e}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的一个子群, 记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G～σ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(G)。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900" u="sng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这个同态映射是任意两个群之间都有的。</a:t>
            </a:r>
            <a:r>
              <a:rPr lang="zh-CN" altLang="en-US" sz="2900" b="1" u="sng" dirty="0" smtClean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32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Clr>
                <a:srgbClr val="0000FF"/>
              </a:buClr>
            </a:pPr>
            <a:endParaRPr lang="zh-CN" altLang="en-US" sz="32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同态映射的例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695EFA-830C-4673-A31C-5245437CFBD8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内容占位符 2"/>
          <p:cNvSpPr>
            <a:spLocks noGrp="1"/>
          </p:cNvSpPr>
          <p:nvPr>
            <p:ph idx="1"/>
          </p:nvPr>
        </p:nvSpPr>
        <p:spPr>
          <a:xfrm>
            <a:off x="539750" y="1196975"/>
            <a:ext cx="8301038" cy="54276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是整数加法群，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是模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的整数加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法群，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上的运算⊕如下：</a:t>
            </a:r>
          </a:p>
          <a:p>
            <a:pPr algn="just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⊕ b= </a:t>
            </a:r>
          </a:p>
          <a:p>
            <a:pPr algn="just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</a:p>
          <a:p>
            <a:pPr algn="just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σ：x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x(mod n)，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x∈G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满射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，且对任意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a,b∈G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a+b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)(mod n)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= ((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a(mod n)+b(mod 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)mod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=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a(mod n)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⊕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b(mod n)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=σ(a) ⊕ σ(b) 。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满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同态映射。</a:t>
            </a:r>
          </a:p>
          <a:p>
            <a:pPr eaLnBrk="1" hangingPunct="1">
              <a:defRPr/>
            </a:pPr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555" name="Object 2"/>
          <p:cNvGraphicFramePr>
            <a:graphicFrameLocks noChangeAspect="1"/>
          </p:cNvGraphicFramePr>
          <p:nvPr/>
        </p:nvGraphicFramePr>
        <p:xfrm>
          <a:off x="2411413" y="2205038"/>
          <a:ext cx="3313112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0" name="公式" r:id="rId3" imgW="3077029" imgH="870857" progId="Equation.3">
                  <p:embed/>
                </p:oleObj>
              </mc:Choice>
              <mc:Fallback>
                <p:oleObj name="公式" r:id="rId3" imgW="3077029" imgH="87085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205038"/>
                        <a:ext cx="3313112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B927586-5AF5-4F13-B1C6-DC0D0B42921E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同态映射的例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内容占位符 2"/>
          <p:cNvSpPr>
            <a:spLocks noGrp="1" noChangeArrowheads="1"/>
          </p:cNvSpPr>
          <p:nvPr>
            <p:ph idx="1"/>
          </p:nvPr>
        </p:nvSpPr>
        <p:spPr>
          <a:xfrm>
            <a:off x="635000" y="1352550"/>
            <a:ext cx="8113713" cy="4895850"/>
          </a:xfrm>
        </p:spPr>
        <p:txBody>
          <a:bodyPr/>
          <a:lstStyle/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2"/>
                </a:solidFill>
              </a:rPr>
              <a:t> </a:t>
            </a: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为整数加群，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G1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为实数加群，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           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σ：x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 -x， 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x∈G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G1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内的映射，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且对任意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32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x</a:t>
            </a:r>
            <a:r>
              <a:rPr lang="en-US" altLang="zh-CN" sz="32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∈G，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</a:t>
            </a:r>
          </a:p>
          <a:p>
            <a:pPr algn="ctr" eaLnBrk="1" hangingPunct="1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σ(x</a:t>
            </a:r>
            <a:r>
              <a:rPr lang="en-US" altLang="zh-CN" sz="32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+x</a:t>
            </a:r>
            <a:r>
              <a:rPr lang="en-US" altLang="zh-CN" sz="32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)=-(x</a:t>
            </a:r>
            <a:r>
              <a:rPr lang="en-US" altLang="zh-CN" sz="32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+x</a:t>
            </a:r>
            <a:r>
              <a:rPr lang="en-US" altLang="zh-CN" sz="32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)=(-x</a:t>
            </a:r>
            <a:r>
              <a:rPr lang="en-US" altLang="zh-CN" sz="32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)+(-x</a:t>
            </a:r>
            <a:r>
              <a:rPr lang="en-US" altLang="zh-CN" sz="32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)=σ(x</a:t>
            </a:r>
            <a:r>
              <a:rPr lang="en-US" altLang="zh-CN" sz="32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)+σ(x</a:t>
            </a:r>
            <a:r>
              <a:rPr lang="en-US" altLang="zh-CN" sz="32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)，</a:t>
            </a:r>
          </a:p>
          <a:p>
            <a:pPr algn="just" eaLnBrk="1" hangingPunct="1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G1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的同态映射，显然是单射</a:t>
            </a:r>
          </a:p>
          <a:p>
            <a:pPr algn="just" eaLnBrk="1" hangingPunct="1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但不是满射，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σ(G)=Z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是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G1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</a:t>
            </a:r>
          </a:p>
          <a:p>
            <a:pPr eaLnBrk="1" hangingPunct="1"/>
            <a:endParaRPr lang="zh-CN" altLang="en-US" dirty="0" smtClean="0"/>
          </a:p>
        </p:txBody>
      </p:sp>
      <p:sp>
        <p:nvSpPr>
          <p:cNvPr id="2457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5223D9D-1883-4E6A-8591-2B9C81B24FD4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同态映射的例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8300" y="1268413"/>
            <a:ext cx="8596313" cy="51054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(G,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是一个群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(K,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•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是一个代数系统，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中的一个同态映射，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G′=σ(G)  ，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(1)(G′ ,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•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是一个群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(2)G′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的单位元1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就是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的单位元1的映像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σ(1)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，</a:t>
            </a:r>
            <a:b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即1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σ(1)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(3)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∈G，(σ(a))</a:t>
            </a:r>
            <a:r>
              <a:rPr lang="en-US" altLang="zh-CN" sz="32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σ(a</a:t>
            </a:r>
            <a:r>
              <a:rPr lang="en-US" altLang="zh-CN" sz="32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。 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同态，记为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G～G′。</a:t>
            </a:r>
            <a:endParaRPr lang="zh-CN" altLang="en-US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560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BC1657-9E21-4734-B274-8C203C70C9DC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lang="en-US" altLang="zh-CN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6.4.1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2"/>
          <p:cNvSpPr>
            <a:spLocks noGrp="1" noChangeArrowheads="1"/>
          </p:cNvSpPr>
          <p:nvPr>
            <p:ph idx="1"/>
          </p:nvPr>
        </p:nvSpPr>
        <p:spPr>
          <a:xfrm>
            <a:off x="566738" y="1268413"/>
            <a:ext cx="8301037" cy="518477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对群(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Z，+)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和(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，若令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σ：n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i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n ∈ Z，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其中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的虚数单位。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内的一个映射，且对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m,n∈Z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m+n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baseline="30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m+n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baseline="30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·i</a:t>
            </a:r>
            <a:r>
              <a:rPr lang="en-US" altLang="zh-CN" sz="3000" baseline="30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=σ(m)·σ(n)。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是(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Z，+)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到(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的同态映射，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Z～σ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(Z)。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σ(Z)={1，-1，i，-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的一个子群。 </a:t>
            </a:r>
          </a:p>
          <a:p>
            <a:pPr eaLnBrk="1" hangingPunct="1"/>
            <a:endParaRPr lang="zh-CN" altLang="en-US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765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F0256F-5CB5-445E-8B93-595DDE14A458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lang="en-US" altLang="zh-CN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6.4.1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的例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451850" cy="5111750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证明：</a:t>
            </a:r>
            <a:endParaRPr lang="en-US" altLang="zh-CN" sz="3000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(1)</a:t>
            </a: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因为群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非空，</a:t>
            </a:r>
            <a:r>
              <a:rPr lang="zh-CN" altLang="en-US" sz="3000" dirty="0" smtClean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至少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∈G，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故至少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σ(1)∈G′，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非空。</a:t>
            </a: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 </a:t>
            </a:r>
            <a:r>
              <a:rPr lang="zh-CN" altLang="en-US" sz="3000" dirty="0" smtClean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a′∈G′，b′∈G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′，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往证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a′b′∈G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′。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因有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b∈G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  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a′=σ(a),  b′=σ(b)，</a:t>
            </a:r>
            <a:b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故按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的同态性，</a:t>
            </a:r>
            <a:b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   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′= σ(a)σ(b)=σ(ab)，</a:t>
            </a:r>
            <a:b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 ∈G,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中元素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的映像，因而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b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 ∈G′。</a:t>
            </a:r>
            <a:endParaRPr lang="zh-CN" altLang="en-US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867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06271E3-E208-4496-8365-44B8917F28A7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lang="en-US" altLang="zh-CN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6.4.1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42913" y="1292225"/>
            <a:ext cx="8424862" cy="5184775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9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en-US" sz="29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中有</a:t>
            </a:r>
            <a:r>
              <a:rPr lang="zh-CN" altLang="en-US" sz="2900" dirty="0" smtClean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结合律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成立：</a:t>
            </a:r>
            <a:b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</a:t>
            </a:r>
            <a:r>
              <a:rPr lang="en-US" altLang="zh-CN" sz="29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,c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∈G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  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</a:t>
            </a:r>
            <a:r>
              <a:rPr lang="en-US" altLang="zh-CN" sz="29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</a:t>
            </a:r>
            <a:r>
              <a:rPr lang="en-US" altLang="zh-CN" sz="29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)c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因有</a:t>
            </a:r>
            <a:r>
              <a:rPr lang="en-US" altLang="zh-CN" sz="29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a,b,c∈G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 </a:t>
            </a:r>
            <a:b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   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=σ(a),  b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=σ(b),  c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=σ(c)，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故按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的同态性，</a:t>
            </a:r>
            <a:b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(b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c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σ(a)(σ(b)σ(c))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σ(a(</a:t>
            </a:r>
            <a:r>
              <a:rPr lang="en-US" altLang="zh-CN" sz="29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bc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))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en-US" altLang="zh-CN" sz="29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9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)c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(σ(a)σ(b))σ(c) = σ((ab)c) 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因群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中有结合律成立,所以 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a(</a:t>
            </a:r>
            <a:r>
              <a:rPr lang="en-US" altLang="zh-CN" sz="29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bc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)=(ab)c。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于是</a:t>
            </a:r>
            <a:b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σ(a(</a:t>
            </a:r>
            <a:r>
              <a:rPr lang="en-US" altLang="zh-CN" sz="29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bc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))=σ((ab)c)。</a:t>
            </a:r>
            <a:b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 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(b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c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</a:t>
            </a:r>
            <a:r>
              <a:rPr lang="en-US" altLang="zh-CN" sz="29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)c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en-US" sz="29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969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A39AE95-8D7D-4CC8-9A3F-3D8A051CCACA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lang="en-US" altLang="zh-CN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6.4.1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6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6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6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351837" cy="5111750"/>
          </a:xfrm>
        </p:spPr>
        <p:txBody>
          <a:bodyPr/>
          <a:lstStyle/>
          <a:p>
            <a:pPr marL="514350" indent="-514350" eaLnBrk="1" hangingPunct="1">
              <a:lnSpc>
                <a:spcPct val="114000"/>
              </a:lnSpc>
              <a:buClr>
                <a:srgbClr val="0000FF"/>
              </a:buClr>
              <a:buFont typeface="Wingdings" panose="05000000000000000000" pitchFamily="2" charset="2"/>
              <a:buAutoNum type="arabicParenBoth" startAt="4"/>
              <a:defRPr/>
            </a:pP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有左壹而且就是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σ(1)，</a:t>
            </a:r>
            <a:b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即证对于任意的</a:t>
            </a:r>
            <a:r>
              <a:rPr lang="en-US" altLang="zh-CN" sz="29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σ(1)a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因有</a:t>
            </a:r>
            <a:r>
              <a:rPr lang="en-US" altLang="zh-CN" sz="29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a∈G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，使得 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=σ(a) ，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按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的同态性</a:t>
            </a:r>
            <a:b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σ(1)a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σ(1)σ(a)=σ(1a)=σ(a)=a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9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(5) 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σ(a) 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有左逆且就是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σ(a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)。</a:t>
            </a: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29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a∈G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是群，知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∈G，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 a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</a:t>
            </a:r>
            <a:r>
              <a:rPr lang="en-US" altLang="zh-CN" sz="29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∈G’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b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的同态性    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σ(a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)σ(a)=σ(a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a)=σ(1)。</a:t>
            </a:r>
            <a:b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做成一个群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的壹1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σ(1)，</a:t>
            </a: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σ(a)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的逆是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σ(a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)。</a:t>
            </a:r>
            <a:r>
              <a:rPr lang="en-US" altLang="zh-CN" sz="26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072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D3AB0E-95E3-4E59-86AD-5AF4CE96FB8F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lang="en-US" altLang="zh-CN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6.4.1</a:t>
            </a:r>
            <a:r>
              <a:rPr lang="zh-CN" altLang="en-US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7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7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7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7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7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2"/>
          <p:cNvSpPr>
            <a:spLocks noGrp="1"/>
          </p:cNvSpPr>
          <p:nvPr>
            <p:ph idx="1"/>
          </p:nvPr>
        </p:nvSpPr>
        <p:spPr>
          <a:xfrm>
            <a:off x="468313" y="1412875"/>
            <a:ext cx="8301037" cy="4681538"/>
          </a:xfrm>
        </p:spPr>
        <p:txBody>
          <a:bodyPr/>
          <a:lstStyle/>
          <a:p>
            <a:pPr marL="0" indent="0" eaLnBrk="1" hangingPunct="1">
              <a:spcBef>
                <a:spcPts val="4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在定理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6.4.1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前提下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如果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中两个元素在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G’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中的映像相同，则它们的逆元在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G’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中的映像仍相同。即若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σ(a)= σ(b) , 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σ(a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)=σ(b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ts val="4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证明：</a:t>
            </a:r>
            <a:endParaRPr lang="en-US" altLang="zh-CN" sz="3000" dirty="0">
              <a:solidFill>
                <a:srgbClr val="0000FF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ts val="4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σ(a)= σ(b)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(σ(a))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=(σ(b))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  </a:t>
            </a:r>
          </a:p>
          <a:p>
            <a:pPr eaLnBrk="1" hangingPunct="1">
              <a:spcBef>
                <a:spcPts val="4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由定理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6.4.1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知</a:t>
            </a:r>
            <a:endParaRPr lang="en-US" altLang="zh-CN" sz="3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ts val="4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(σ(a))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=σ(a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ts val="4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(σ(b))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=σ(b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ts val="4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故，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σ(a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)=σ(b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ts val="400"/>
              </a:spcBef>
              <a:buFont typeface="Wingdings" panose="05000000000000000000" pitchFamily="2" charset="2"/>
              <a:buNone/>
              <a:defRPr/>
            </a:pPr>
            <a:endParaRPr lang="zh-CN" altLang="zh-CN" sz="32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zh-CN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3174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B4BE1F1-19A3-4F42-9E50-5026590E2388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结论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ctr" eaLnBrk="1" hangingPunct="1">
              <a:lnSpc>
                <a:spcPct val="125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设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是一个群，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</a:t>
            </a: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代数系统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内的一个同态映射，如果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σ(G)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上的1-1映射，则称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是同构映射。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σ(G)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同构，记成</a:t>
            </a:r>
            <a:r>
              <a:rPr lang="en-US" altLang="zh-CN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  </a:t>
            </a: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</a:t>
            </a: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σ(G)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r>
              <a:rPr lang="en-US" altLang="zh-CN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zh-CN" altLang="en-US" sz="3200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277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6C50E27-A3C9-42DA-AF02-30148261CF88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en-US" altLang="zh-CN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6.4.2  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同构映射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1475" y="1190102"/>
            <a:ext cx="8496300" cy="5256212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: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(R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·)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是正实数乘法群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(R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+)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是实数加法群。</a:t>
            </a:r>
            <a:b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令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σ:x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logx,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xR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则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的映射，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证明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上的同构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映射。</a:t>
            </a:r>
            <a:endParaRPr lang="en-US" altLang="zh-CN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Clr>
                <a:srgbClr val="0000FF"/>
              </a:buClr>
              <a:buNone/>
              <a:defRPr/>
            </a:pPr>
            <a:r>
              <a:rPr lang="zh-CN" altLang="en-US" sz="28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证明：</a:t>
            </a:r>
            <a:endParaRPr lang="en-US" altLang="zh-CN" sz="2800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Clr>
                <a:srgbClr val="0000FF"/>
              </a:buClr>
              <a:buNone/>
              <a:defRPr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1.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单射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: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任取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x1,x2R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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x2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logx1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logx2.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Clr>
                <a:srgbClr val="0000FF"/>
              </a:buClr>
              <a:buNone/>
              <a:defRPr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2.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满射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: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任取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，存在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R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满足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loge</a:t>
            </a:r>
            <a:r>
              <a:rPr lang="en-US" altLang="zh-CN" sz="2800" baseline="30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 x.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Clr>
                <a:srgbClr val="0000FF"/>
              </a:buClr>
              <a:buNone/>
              <a:defRPr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3.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对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a,bR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 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a·b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)=log(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a·b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)=log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a+log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=σ(a)+σ(b)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故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到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上的同构映射。</a:t>
            </a:r>
            <a:endParaRPr lang="en-US" altLang="zh-CN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Log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是以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为底的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的对数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若取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σ(x)=log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，或若取</a:t>
            </a:r>
            <a:b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σ(x)=log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10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，则得到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上的不同的同构映射。可见，群间可存在好多个甚至是无限多个同构映射。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379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28E05BC-B82A-4225-8D9D-AEBA37306483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同构映射的例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96888" y="1225894"/>
            <a:ext cx="8370887" cy="4979987"/>
          </a:xfrm>
        </p:spPr>
        <p:txBody>
          <a:bodyPr/>
          <a:lstStyle/>
          <a:p>
            <a:pPr algn="just" eaLnBrk="1" hangingPunct="1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(R，+)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不可能同构。</a:t>
            </a:r>
          </a:p>
          <a:p>
            <a:pPr marL="0" indent="0"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用反证法。假设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(R，+)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同构，可设映射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上的一个同构映射，于是必有</a:t>
            </a:r>
          </a:p>
          <a:p>
            <a:pPr marL="0" indent="0"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σ：1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0，</a:t>
            </a:r>
          </a:p>
          <a:p>
            <a:pPr marL="0" indent="0"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a，  a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≠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0。</a:t>
            </a:r>
          </a:p>
          <a:p>
            <a:pPr marL="0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从而，</a:t>
            </a:r>
          </a:p>
          <a:p>
            <a:pPr marL="0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σ(1)=σ((-1)·(-1))</a:t>
            </a:r>
          </a:p>
          <a:p>
            <a:pPr marL="0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=σ(-1)+σ(-1)=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=2a。</a:t>
            </a:r>
          </a:p>
          <a:p>
            <a:pPr marL="0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则有2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a=0，a=0，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矛盾。故，原假设不对，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(R，+)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不可能同构。 </a:t>
            </a:r>
          </a:p>
        </p:txBody>
      </p:sp>
      <p:sp>
        <p:nvSpPr>
          <p:cNvPr id="3481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8F83B7D-3A52-4254-A2FE-AD1083E5C137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同构映射的例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596312" cy="5113337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无限循环群同构于整数加法群。</a:t>
            </a:r>
          </a:p>
          <a:p>
            <a:pPr marL="0" indent="0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G=(g)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是无限循环群，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为整数加法群，则对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a∈G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n∈ Z，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f：a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n。</a:t>
            </a:r>
          </a:p>
          <a:p>
            <a:pPr marL="0" indent="0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单射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a=g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b=g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且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ab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知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n1  n2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f(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)=n1, f(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)=n2, 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故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f(a)  f(b)</a:t>
            </a:r>
          </a:p>
          <a:p>
            <a:pPr marL="0" indent="0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满射：任取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n∈ Z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，存在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，满足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f(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)=n</a:t>
            </a:r>
          </a:p>
          <a:p>
            <a:pPr marL="0" indent="0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(3)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a,b∈G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则存在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j∈Z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b=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algn="ctr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f(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i+j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i+j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=f(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 f(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),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上的同构映射，即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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  <a:endParaRPr lang="zh-CN" altLang="en-US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86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D5DD245-DA40-4796-9DE1-4C4A53E0EDD3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同构映射的例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9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9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9563" y="1268412"/>
                <a:ext cx="8821737" cy="4979987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3000" dirty="0" smtClean="0">
                    <a:solidFill>
                      <a:srgbClr val="0000FF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证明整数加法群</a:t>
                </a:r>
                <a:r>
                  <a:rPr lang="en-US" altLang="zh-CN" sz="3000" dirty="0">
                    <a:solidFill>
                      <a:srgbClr val="0000FF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(Z,+)</a:t>
                </a:r>
                <a:r>
                  <a:rPr lang="zh-CN" altLang="en-US" sz="3000" dirty="0">
                    <a:solidFill>
                      <a:srgbClr val="0000FF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同构于偶数加法群</a:t>
                </a:r>
                <a:r>
                  <a:rPr lang="en-US" altLang="zh-CN" sz="3000" dirty="0">
                    <a:solidFill>
                      <a:srgbClr val="0000FF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(B,+)</a:t>
                </a:r>
                <a:r>
                  <a:rPr lang="zh-CN" altLang="en-US" sz="3000" dirty="0">
                    <a:solidFill>
                      <a:srgbClr val="0000FF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。</a:t>
                </a:r>
                <a:endParaRPr lang="en-US" altLang="zh-CN" sz="3000" dirty="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Font typeface="Wingdings" panose="05000000000000000000" pitchFamily="2" charset="2"/>
                  <a:buNone/>
                  <a:defRPr/>
                </a:pP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证明：令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f: n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 2n</a:t>
                </a: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， 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nZ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Font typeface="Wingdings" panose="05000000000000000000" pitchFamily="2" charset="2"/>
                  <a:buNone/>
                  <a:defRPr/>
                </a:pP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 f</a:t>
                </a: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是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Z</a:t>
                </a: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到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B</a:t>
                </a: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的映射，</a:t>
                </a:r>
                <a:endParaRPr lang="en-US" altLang="zh-CN" sz="3000" dirty="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Font typeface="Wingdings" panose="05000000000000000000" pitchFamily="2" charset="2"/>
                  <a:buNone/>
                  <a:defRPr/>
                </a:pP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(1)f</a:t>
                </a: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是单射 ：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m,nZ , f(m)=f(n),</a:t>
                </a: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即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2m=2n</a:t>
                </a: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，则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m=n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  <a:defRPr/>
                </a:pP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(2)f</a:t>
                </a: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是</a:t>
                </a:r>
                <a:r>
                  <a:rPr lang="zh-CN" altLang="en-US" sz="3000" dirty="0" smtClean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满射</a:t>
                </a:r>
                <a:r>
                  <a:rPr lang="en-US" altLang="zh-CN" sz="3000" dirty="0" smtClean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:</a:t>
                </a:r>
                <a:r>
                  <a:rPr lang="zh-CN" altLang="en-US" sz="3000" dirty="0" smtClean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</a:t>
                </a:r>
                <a:r>
                  <a:rPr lang="en-US" altLang="zh-CN" sz="3000" dirty="0" err="1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kB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3000" dirty="0" smtClean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,</a:t>
                </a:r>
                <a:r>
                  <a:rPr lang="zh-CN" altLang="en-US" sz="3000" dirty="0" smtClean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存在</a:t>
                </a:r>
                <a:r>
                  <a:rPr lang="en-US" altLang="zh-CN" sz="3000" dirty="0" smtClean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m=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000" dirty="0" smtClean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k 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Z, f(m</a:t>
                </a:r>
                <a:r>
                  <a:rPr lang="en-US" altLang="zh-CN" sz="3000" dirty="0" smtClean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)=2m=2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k </a:t>
                </a:r>
                <a:r>
                  <a:rPr lang="en-US" altLang="zh-CN" sz="3000" dirty="0" smtClean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=k</a:t>
                </a:r>
                <a:endParaRPr lang="en-US" altLang="zh-CN" sz="3000" dirty="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Font typeface="Wingdings" panose="05000000000000000000" pitchFamily="2" charset="2"/>
                  <a:buNone/>
                  <a:defRPr/>
                </a:pP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(3)f</a:t>
                </a: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是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Z</a:t>
                </a: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到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B</a:t>
                </a: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的同态映射：对任意</a:t>
                </a:r>
                <a:r>
                  <a:rPr lang="en-US" altLang="zh-CN" sz="3000" dirty="0" err="1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m,n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 Z,                     f(</a:t>
                </a:r>
                <a:r>
                  <a:rPr lang="en-US" altLang="zh-CN" sz="3000" dirty="0" err="1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m+n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)=2(</a:t>
                </a:r>
                <a:r>
                  <a:rPr lang="en-US" altLang="zh-CN" sz="3000" dirty="0" err="1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m+n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)=2m+2n=f(m)+f(n)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Font typeface="Wingdings" panose="05000000000000000000" pitchFamily="2" charset="2"/>
                  <a:buNone/>
                  <a:defRPr/>
                </a:pP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综上：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f</a:t>
                </a: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  <a:sym typeface="Symbol" panose="05050102010706020507" pitchFamily="18" charset="2"/>
                  </a:rPr>
                  <a:t>是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(Z,+)</a:t>
                </a: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到（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B</a:t>
                </a: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，</a:t>
                </a:r>
                <a:r>
                  <a:rPr lang="en-US" altLang="zh-CN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+</a:t>
                </a:r>
                <a:r>
                  <a:rPr lang="zh-CN" altLang="en-US" sz="3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）的同构映射。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563" y="1268412"/>
                <a:ext cx="8821737" cy="4979987"/>
              </a:xfrm>
              <a:blipFill rotWithShape="0">
                <a:blip r:embed="rId2"/>
                <a:stretch>
                  <a:fillRect l="-1659" t="-1102" r="-3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同构映射的例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38265B-BBAC-45B8-B9AF-DF8212210D01}" type="slidenum">
              <a:rPr lang="ko-KR" altLang="en-US" sz="1400">
                <a:solidFill>
                  <a:srgbClr val="000000"/>
                </a:solidFill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400">
              <a:solidFill>
                <a:srgbClr val="000000"/>
              </a:solidFill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341438"/>
            <a:ext cx="8451850" cy="5256212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是一个群，若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上的同构映射，则称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为自同构映射。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恒等映射，称为恒等自同构映射。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(Z，+)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是整数加法群，令</a:t>
            </a:r>
          </a:p>
          <a:p>
            <a:pPr marL="0" indent="0"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σ：n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-n，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n∈Z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，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的一个自同构映射。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8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91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2BDC5D2-7A5F-4038-9EFD-EEA524A2FFF0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自同构映射 </a:t>
            </a:r>
            <a:endParaRPr lang="en-US" altLang="zh-CN" b="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设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群，将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的每个元素都映到其逆元素的映射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σ：a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</a:t>
            </a:r>
            <a:r>
              <a:rPr lang="en-US" altLang="zh-CN" sz="3000" baseline="30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baseline="30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a∈G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的一个自同构映射:</a:t>
            </a:r>
          </a:p>
          <a:p>
            <a:pPr marL="0" indent="0" eaLnBrk="1" hangingPunct="1">
              <a:lnSpc>
                <a:spcPct val="110000"/>
              </a:lnSpc>
              <a:buClr>
                <a:srgbClr val="800000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ab)= (ab)</a:t>
            </a:r>
            <a:r>
              <a:rPr lang="en-US" altLang="zh-CN" sz="3000" baseline="30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b</a:t>
            </a:r>
            <a:r>
              <a:rPr lang="en-US" altLang="zh-CN" sz="3000" baseline="30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-1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=a</a:t>
            </a:r>
            <a:r>
              <a:rPr lang="en-US" altLang="zh-CN" sz="3000" baseline="30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000" baseline="30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-1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=σ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a)σ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b) </a:t>
            </a:r>
          </a:p>
          <a:p>
            <a:pPr marL="0" indent="0" eaLnBrk="1" hangingPunct="1">
              <a:lnSpc>
                <a:spcPct val="110000"/>
              </a:lnSpc>
              <a:buClr>
                <a:srgbClr val="800000"/>
              </a:buClr>
              <a:buFont typeface="Wingdings" panose="05000000000000000000" pitchFamily="2" charset="2"/>
              <a:buNone/>
            </a:pPr>
            <a:endParaRPr lang="en-US" altLang="zh-CN" sz="30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10000"/>
              </a:lnSpc>
              <a:buClr>
                <a:srgbClr val="800000"/>
              </a:buClr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注：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此例包含上例为特例。当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的元数</a:t>
            </a: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大于</a:t>
            </a: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时，该同构映射不一定是恒等自同构映射。</a:t>
            </a:r>
            <a:endParaRPr lang="en-US" altLang="zh-CN" sz="30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993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E191CCD-E428-4B48-9C91-F595D5FF1795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自同构映射的例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2"/>
          <p:cNvSpPr>
            <a:spLocks noGrp="1" noChangeArrowheads="1"/>
          </p:cNvSpPr>
          <p:nvPr>
            <p:ph idx="1"/>
          </p:nvPr>
        </p:nvSpPr>
        <p:spPr>
          <a:xfrm>
            <a:off x="323528" y="1196975"/>
            <a:ext cx="8712968" cy="5256213"/>
          </a:xfrm>
        </p:spPr>
        <p:txBody>
          <a:bodyPr/>
          <a:lstStyle/>
          <a:p>
            <a:pPr marL="0" indent="0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是群，证明对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aG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:xaxa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xG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的自同构映射，称为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的内自同构映射。</a:t>
            </a:r>
            <a:endParaRPr lang="en-US" altLang="zh-CN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证明：</a:t>
            </a:r>
            <a:endParaRPr lang="en-US" altLang="zh-CN" sz="2800" b="1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任取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xG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，都有唯一确定元素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axa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G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到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的映射</a:t>
            </a:r>
            <a:endParaRPr lang="en-US" altLang="zh-CN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任取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x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x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G, x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x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得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ax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ax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故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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是单射</a:t>
            </a:r>
            <a:endParaRPr lang="en-US" altLang="zh-CN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(3)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任取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xG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，都有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xaG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，满足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xa)=x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，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是满射。</a:t>
            </a:r>
            <a:endParaRPr lang="en-US" altLang="zh-CN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(4)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任取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x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x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G, 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(x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)=ax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=ax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ax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=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(x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 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(x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综上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为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到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上的同构映射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即为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的自同构映射。</a:t>
            </a:r>
            <a:endParaRPr lang="en-US" altLang="zh-CN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6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40C03B5-63C6-4260-A249-020C4273FCC4}" type="slidenum">
              <a:rPr lang="en-US" altLang="ko-KR" sz="1400">
                <a:solidFill>
                  <a:srgbClr val="000000"/>
                </a:solidFill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ko-KR" sz="1400">
              <a:solidFill>
                <a:srgbClr val="000000"/>
              </a:solidFill>
              <a:latin typeface="-윤명조140" charset="-127"/>
              <a:ea typeface="-윤명조140" charset="-127"/>
            </a:endParaRP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自同构映射的例</a:t>
            </a:r>
            <a:r>
              <a:rPr lang="en-US" altLang="zh-CN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习题</a:t>
            </a:r>
            <a:r>
              <a:rPr lang="en-US" altLang="zh-CN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6.4-7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7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7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1268413"/>
            <a:ext cx="8353425" cy="5040312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定义.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的一个同态映射，命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中所有映射到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中1′的元素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的集合，记为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(1′)，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  <a:b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N=σ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1′)={g∣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g∈G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,σ(g)=1′ }</a:t>
            </a:r>
            <a:b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则称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的核。</a:t>
            </a:r>
          </a:p>
          <a:p>
            <a:pPr marL="0" indent="0" algn="just" eaLnBrk="1" hangingPunct="1">
              <a:lnSpc>
                <a:spcPct val="125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是整数加法群，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是模3加法群：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{0，1，2}，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σ：x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x(mod 3)，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x∈G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，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上的同态映射。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的核为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3G。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198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F23D52E-680D-42A7-8340-5064FC5047A8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en-US" altLang="zh-CN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6.4.3 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同态核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71600"/>
            <a:ext cx="8523287" cy="47244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定理6.</a:t>
            </a:r>
            <a:r>
              <a:rPr lang="en-US" altLang="zh-CN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4.2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是群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的一个同态映射，于是，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的核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的一个正规子群，  对于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的任意元素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a′，</a:t>
            </a:r>
          </a:p>
          <a:p>
            <a:pPr marL="0" indent="0" algn="ctr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2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a′)={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x|x∈G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,σ(x)= a′}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中的一个陪集，因此，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中的陪集一一对应。 </a:t>
            </a:r>
          </a:p>
        </p:txBody>
      </p:sp>
      <p:sp>
        <p:nvSpPr>
          <p:cNvPr id="4301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C279514-150E-4398-946F-C6174C34B296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群的第一同态定理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523287" cy="4751387"/>
          </a:xfrm>
        </p:spPr>
        <p:txBody>
          <a:bodyPr/>
          <a:lstStyle/>
          <a:p>
            <a:pPr marL="0" indent="0" algn="just" eaLnBrk="1" hangingPunct="1">
              <a:lnSpc>
                <a:spcPct val="115000"/>
              </a:lnSpc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先证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</a:t>
            </a:r>
          </a:p>
          <a:p>
            <a:pPr marL="0" indent="0" algn="just" eaLnBrk="1" hangingPunct="1">
              <a:lnSpc>
                <a:spcPct val="115000"/>
              </a:lnSpc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1）证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非空。因为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σ(1)=1′，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所以1∈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 eaLnBrk="1" hangingPunct="1">
              <a:lnSpc>
                <a:spcPct val="115000"/>
              </a:lnSpc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2）若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a∈N，b∈N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∈N。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</a:p>
          <a:p>
            <a:pPr marL="0" indent="0" algn="ctr" eaLnBrk="1" hangingPunct="1">
              <a:lnSpc>
                <a:spcPct val="115000"/>
              </a:lnSpc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σ(a)=1′，σ(b)=1′，</a:t>
            </a:r>
          </a:p>
          <a:p>
            <a:pPr marL="0" indent="0" algn="just" eaLnBrk="1" hangingPunct="1">
              <a:lnSpc>
                <a:spcPct val="115000"/>
              </a:lnSpc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可得</a:t>
            </a:r>
          </a:p>
          <a:p>
            <a:pPr marL="0" indent="0" algn="just" eaLnBrk="1" hangingPunct="1">
              <a:lnSpc>
                <a:spcPct val="115000"/>
              </a:lnSpc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σ(ab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)=σ(a)σ(b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)=σ(a)(σ(b))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</a:p>
          <a:p>
            <a:pPr marL="0" indent="0" algn="just" eaLnBrk="1" hangingPunct="1">
              <a:lnSpc>
                <a:spcPct val="115000"/>
              </a:lnSpc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                              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=1′ (1′)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=1′，</a:t>
            </a:r>
          </a:p>
          <a:p>
            <a:pPr marL="0" indent="0" eaLnBrk="1" hangingPunct="1">
              <a:lnSpc>
                <a:spcPct val="115000"/>
              </a:lnSpc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∈N。 </a:t>
            </a:r>
            <a:endParaRPr lang="zh-CN" altLang="en-US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403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4B259C8-BC4E-4A22-97F3-43062FB9B1A7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群的第一同态定理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1975" y="1348346"/>
            <a:ext cx="8208144" cy="467995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再证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的正规子群，即证对于任意的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g∈G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algn="just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gNg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N。</a:t>
            </a:r>
          </a:p>
          <a:p>
            <a:pPr marL="0" indent="0" algn="just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 gNg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 ∈N，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</a:p>
          <a:p>
            <a:pPr marL="0" indent="0" algn="ctr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 gng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故</a:t>
            </a:r>
          </a:p>
          <a:p>
            <a:pPr marL="0" indent="0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σ(x)=σ(gng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(σ(g)σ(n)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σ(g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b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=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(σ(g)1′)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σ(g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)=σ(g)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(σ(g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′，</a:t>
            </a:r>
          </a:p>
          <a:p>
            <a:pPr marL="0" indent="0" algn="just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 N。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505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8D10CC8-AD82-4A4B-BD45-1BDB61D6F859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群的第一同态定理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368125"/>
            <a:ext cx="8113713" cy="4687887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最后证明：</a:t>
            </a:r>
            <a:endParaRPr lang="en-US" altLang="zh-CN" sz="29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29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a′∈G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σ(a)=a′,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 ： 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Na。</a:t>
            </a: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事实上，对任意的</a:t>
            </a:r>
            <a:r>
              <a:rPr lang="en-US" altLang="zh-CN" sz="29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b∈G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b∈σ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 </a:t>
            </a:r>
            <a:r>
              <a:rPr lang="en-US" altLang="zh-CN" sz="29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iff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σ(b)=a′</a:t>
            </a: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</a:t>
            </a:r>
            <a:r>
              <a:rPr lang="en-US" altLang="zh-CN" sz="29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iff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σ(b)(a′)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=1′</a:t>
            </a: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</a:t>
            </a:r>
            <a:r>
              <a:rPr lang="en-US" altLang="zh-CN" sz="29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iff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σ(b)(σ(a))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σ(b)σ(a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)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=σ(ba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endParaRPr lang="en-US" altLang="zh-CN" sz="29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</a:t>
            </a:r>
            <a:r>
              <a:rPr lang="en-US" altLang="zh-CN" sz="29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iff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ba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∈N</a:t>
            </a: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</a:t>
            </a:r>
            <a:r>
              <a:rPr lang="en-US" altLang="zh-CN" sz="29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iff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9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b∈Na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zh-CN" altLang="en-US" sz="29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608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870CDE0-28FE-4D65-AD73-47131831A5CE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群的第一同态定理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596312" cy="5287962"/>
          </a:xfrm>
        </p:spPr>
        <p:txBody>
          <a:bodyPr/>
          <a:lstStyle/>
          <a:p>
            <a:pPr marL="0" indent="0" algn="just" eaLnBrk="1" hangingPunct="1">
              <a:lnSpc>
                <a:spcPct val="115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是群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的正规子群。若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A，B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的陪集，则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也是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的陪集。</a:t>
            </a:r>
          </a:p>
          <a:p>
            <a:pPr marL="0" indent="0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是正规子群，故</a:t>
            </a:r>
          </a:p>
          <a:p>
            <a:pPr marL="0" indent="0" algn="ctr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Nb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bN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今设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aN，B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bN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</a:p>
          <a:p>
            <a:pPr marL="0" indent="0" algn="ctr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AB=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aNbN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abNN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abN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也是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的陪集。</a:t>
            </a:r>
          </a:p>
        </p:txBody>
      </p:sp>
      <p:sp>
        <p:nvSpPr>
          <p:cNvPr id="4710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B411EB7-4A3B-4100-9D19-06A16CECCCF9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引理</a:t>
            </a:r>
            <a:r>
              <a:rPr lang="en-US" altLang="zh-CN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568183" cy="4968875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定理6.</a:t>
            </a:r>
            <a:r>
              <a:rPr lang="en-US" altLang="zh-CN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4.3 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是群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的正规子群，于是按照陪集的乘法，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的所有陪集作成一个群     。</a:t>
            </a:r>
          </a:p>
          <a:p>
            <a:pPr marL="0" indent="0"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命            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σ：a→aN，a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∈G,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    上的一个同态映射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的核就是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N。 </a:t>
            </a:r>
          </a:p>
          <a:p>
            <a:pPr marL="0" indent="0" eaLnBrk="1" hangingPunct="1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称为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对于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的商群，记为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 ∕ N。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是有限群，则商群中元素个数等于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中的指数，即等于陪集的个数。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zh-CN" altLang="en-US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48131" name="Object 7"/>
          <p:cNvGraphicFramePr>
            <a:graphicFrameLocks noChangeAspect="1"/>
          </p:cNvGraphicFramePr>
          <p:nvPr/>
        </p:nvGraphicFramePr>
        <p:xfrm>
          <a:off x="2411413" y="3284538"/>
          <a:ext cx="404812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6" name="Equation" r:id="rId3" imgW="177569" imgH="202936" progId="Equation.3">
                  <p:embed/>
                </p:oleObj>
              </mc:Choice>
              <mc:Fallback>
                <p:oleObj name="Equation" r:id="rId3" imgW="177569" imgH="20293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284538"/>
                        <a:ext cx="404812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901380"/>
              </p:ext>
            </p:extLst>
          </p:nvPr>
        </p:nvGraphicFramePr>
        <p:xfrm>
          <a:off x="1259632" y="4005064"/>
          <a:ext cx="404812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7" name="Equation" r:id="rId5" imgW="177569" imgH="202936" progId="Equation.3">
                  <p:embed/>
                </p:oleObj>
              </mc:Choice>
              <mc:Fallback>
                <p:oleObj name="Equation" r:id="rId5" imgW="177569" imgH="20293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005064"/>
                        <a:ext cx="404812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342766"/>
              </p:ext>
            </p:extLst>
          </p:nvPr>
        </p:nvGraphicFramePr>
        <p:xfrm>
          <a:off x="7092280" y="1978142"/>
          <a:ext cx="404813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8" name="Equation" r:id="rId6" imgW="177569" imgH="202936" progId="Equation.3">
                  <p:embed/>
                </p:oleObj>
              </mc:Choice>
              <mc:Fallback>
                <p:oleObj name="Equation" r:id="rId6" imgW="177569" imgH="20293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280" y="1978142"/>
                        <a:ext cx="404813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E2B06E5-595A-4514-BF1C-3169D5F49A7D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8135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群的第二同态定理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596312" cy="5256212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首先证明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G～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1)显然，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    上的映射。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2）任取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a,b∈G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σ(ab) 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aNbN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=σ(a)σ(b)，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     上的同态映射。因此，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一个群。</a:t>
            </a:r>
          </a:p>
          <a:p>
            <a:pPr eaLnBrk="1" hangingPunct="1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再证明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的核是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N。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     单位元就是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本身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核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g∣g∈G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σ(g)=N}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={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g∣g∈G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=N}={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g∣g∈N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}=N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9155" name="Object 6"/>
          <p:cNvGraphicFramePr>
            <a:graphicFrameLocks noChangeAspect="1"/>
          </p:cNvGraphicFramePr>
          <p:nvPr/>
        </p:nvGraphicFramePr>
        <p:xfrm>
          <a:off x="4514850" y="3276600"/>
          <a:ext cx="114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63" name="Equation" r:id="rId3" imgW="114201" imgH="304536" progId="Equation.3">
                  <p:embed/>
                </p:oleObj>
              </mc:Choice>
              <mc:Fallback>
                <p:oleObj name="Equation" r:id="rId3" imgW="114201" imgH="30453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276600"/>
                        <a:ext cx="1143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6" name="Object 7"/>
          <p:cNvGraphicFramePr>
            <a:graphicFrameLocks noChangeAspect="1"/>
          </p:cNvGraphicFramePr>
          <p:nvPr/>
        </p:nvGraphicFramePr>
        <p:xfrm>
          <a:off x="3059113" y="1341438"/>
          <a:ext cx="4254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64" name="Equation" r:id="rId5" imgW="177569" imgH="202936" progId="Equation.3">
                  <p:embed/>
                </p:oleObj>
              </mc:Choice>
              <mc:Fallback>
                <p:oleObj name="Equation" r:id="rId5" imgW="177569" imgH="20293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341438"/>
                        <a:ext cx="4254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8"/>
          <p:cNvGraphicFramePr>
            <a:graphicFrameLocks noChangeAspect="1"/>
          </p:cNvGraphicFramePr>
          <p:nvPr/>
        </p:nvGraphicFramePr>
        <p:xfrm>
          <a:off x="3348038" y="1916113"/>
          <a:ext cx="4254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65" name="Equation" r:id="rId7" imgW="177569" imgH="202936" progId="Equation.3">
                  <p:embed/>
                </p:oleObj>
              </mc:Choice>
              <mc:Fallback>
                <p:oleObj name="Equation" r:id="rId7" imgW="177569" imgH="20293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916113"/>
                        <a:ext cx="4254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9"/>
          <p:cNvGraphicFramePr>
            <a:graphicFrameLocks noChangeAspect="1"/>
          </p:cNvGraphicFramePr>
          <p:nvPr/>
        </p:nvGraphicFramePr>
        <p:xfrm>
          <a:off x="2268538" y="3716338"/>
          <a:ext cx="4254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66" name="Equation" r:id="rId8" imgW="177569" imgH="202936" progId="Equation.3">
                  <p:embed/>
                </p:oleObj>
              </mc:Choice>
              <mc:Fallback>
                <p:oleObj name="Equation" r:id="rId8" imgW="177569" imgH="20293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716338"/>
                        <a:ext cx="4254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9" name="Object 10"/>
          <p:cNvGraphicFramePr>
            <a:graphicFrameLocks noChangeAspect="1"/>
          </p:cNvGraphicFramePr>
          <p:nvPr/>
        </p:nvGraphicFramePr>
        <p:xfrm>
          <a:off x="4416425" y="4298950"/>
          <a:ext cx="4254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67" name="Equation" r:id="rId9" imgW="177569" imgH="202936" progId="Equation.3">
                  <p:embed/>
                </p:oleObj>
              </mc:Choice>
              <mc:Fallback>
                <p:oleObj name="Equation" r:id="rId9" imgW="177569" imgH="20293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425" y="4298950"/>
                        <a:ext cx="4254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0" name="Object 11"/>
          <p:cNvGraphicFramePr>
            <a:graphicFrameLocks noChangeAspect="1"/>
          </p:cNvGraphicFramePr>
          <p:nvPr/>
        </p:nvGraphicFramePr>
        <p:xfrm>
          <a:off x="6227763" y="3667125"/>
          <a:ext cx="4254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68" name="Equation" r:id="rId10" imgW="177569" imgH="202936" progId="Equation.3">
                  <p:embed/>
                </p:oleObj>
              </mc:Choice>
              <mc:Fallback>
                <p:oleObj name="Equation" r:id="rId10" imgW="177569" imgH="20293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3667125"/>
                        <a:ext cx="4254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7083F49-87FF-4948-9FA5-C5FC1E21A2A9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9162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群的第二同态定理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0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620713"/>
            <a:ext cx="8443912" cy="56308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例.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是整数加法群，</a:t>
            </a:r>
          </a:p>
          <a:p>
            <a:pPr marL="0" indent="0" algn="ctr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N=5G=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{…,-10,-5,0,5,10, …}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，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正规子群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。令     为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的所有陪集作成的集合：                                          </a:t>
            </a:r>
          </a:p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zh-CN" altLang="en-US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={…,-10,-5,0,5,10, …}=N=0+N，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={…,-9,-4,1,6,11,…}=1+N，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……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用⊕表示陪集间的加法，则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⊕     =(1+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(4+N)=(1+4)+N=N=    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在陪集加法下是一个群，若命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σ：a→a+N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     上的同态映射, 且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的核就是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50179" name="Object 8"/>
          <p:cNvGraphicFramePr>
            <a:graphicFrameLocks noChangeAspect="1"/>
          </p:cNvGraphicFramePr>
          <p:nvPr/>
        </p:nvGraphicFramePr>
        <p:xfrm>
          <a:off x="6227763" y="4797425"/>
          <a:ext cx="2698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39" name="Equation" r:id="rId4" imgW="126835" imgH="202936" progId="Equation.3">
                  <p:embed/>
                </p:oleObj>
              </mc:Choice>
              <mc:Fallback>
                <p:oleObj name="Equation" r:id="rId4" imgW="126835" imgH="20293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4797425"/>
                        <a:ext cx="2698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Object 10"/>
          <p:cNvGraphicFramePr>
            <a:graphicFrameLocks noChangeAspect="1"/>
          </p:cNvGraphicFramePr>
          <p:nvPr/>
        </p:nvGraphicFramePr>
        <p:xfrm>
          <a:off x="2771775" y="1989138"/>
          <a:ext cx="187166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40" name="Equation" r:id="rId6" imgW="723586" imgH="304668" progId="Equation.DSMT4">
                  <p:embed/>
                </p:oleObj>
              </mc:Choice>
              <mc:Fallback>
                <p:oleObj name="Equation" r:id="rId6" imgW="723586" imgH="30466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989138"/>
                        <a:ext cx="1871663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13"/>
          <p:cNvGraphicFramePr>
            <a:graphicFrameLocks noChangeAspect="1"/>
          </p:cNvGraphicFramePr>
          <p:nvPr/>
        </p:nvGraphicFramePr>
        <p:xfrm>
          <a:off x="539750" y="3357563"/>
          <a:ext cx="2873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41" name="Equation" r:id="rId8" imgW="126890" imgH="190335" progId="Equation.3">
                  <p:embed/>
                </p:oleObj>
              </mc:Choice>
              <mc:Fallback>
                <p:oleObj name="Equation" r:id="rId8" imgW="126890" imgH="19033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357563"/>
                        <a:ext cx="2873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15"/>
          <p:cNvGraphicFramePr>
            <a:graphicFrameLocks noChangeAspect="1"/>
          </p:cNvGraphicFramePr>
          <p:nvPr/>
        </p:nvGraphicFramePr>
        <p:xfrm>
          <a:off x="4284663" y="1557338"/>
          <a:ext cx="3778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42" name="Equation" r:id="rId10" imgW="177569" imgH="202936" progId="Equation.3">
                  <p:embed/>
                </p:oleObj>
              </mc:Choice>
              <mc:Fallback>
                <p:oleObj name="Equation" r:id="rId10" imgW="177569" imgH="202936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1557338"/>
                        <a:ext cx="3778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16"/>
          <p:cNvGraphicFramePr>
            <a:graphicFrameLocks noChangeAspect="1"/>
          </p:cNvGraphicFramePr>
          <p:nvPr/>
        </p:nvGraphicFramePr>
        <p:xfrm>
          <a:off x="539750" y="4797425"/>
          <a:ext cx="3349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43" name="Equation" r:id="rId12" imgW="126890" imgH="190335" progId="Equation.3">
                  <p:embed/>
                </p:oleObj>
              </mc:Choice>
              <mc:Fallback>
                <p:oleObj name="Equation" r:id="rId12" imgW="126890" imgH="19033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797425"/>
                        <a:ext cx="33496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17"/>
          <p:cNvGraphicFramePr>
            <a:graphicFrameLocks noChangeAspect="1"/>
          </p:cNvGraphicFramePr>
          <p:nvPr/>
        </p:nvGraphicFramePr>
        <p:xfrm>
          <a:off x="1187450" y="4759325"/>
          <a:ext cx="360363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44" name="Equation" r:id="rId13" imgW="126890" imgH="190335" progId="Equation.3">
                  <p:embed/>
                </p:oleObj>
              </mc:Choice>
              <mc:Fallback>
                <p:oleObj name="Equation" r:id="rId13" imgW="126890" imgH="19033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759325"/>
                        <a:ext cx="360363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18"/>
          <p:cNvGraphicFramePr>
            <a:graphicFrameLocks noChangeAspect="1"/>
          </p:cNvGraphicFramePr>
          <p:nvPr/>
        </p:nvGraphicFramePr>
        <p:xfrm>
          <a:off x="539750" y="2852738"/>
          <a:ext cx="2698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45" name="Equation" r:id="rId15" imgW="126835" imgH="202936" progId="Equation.3">
                  <p:embed/>
                </p:oleObj>
              </mc:Choice>
              <mc:Fallback>
                <p:oleObj name="Equation" r:id="rId15" imgW="126835" imgH="20293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852738"/>
                        <a:ext cx="2698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19"/>
          <p:cNvGraphicFramePr>
            <a:graphicFrameLocks noChangeAspect="1"/>
          </p:cNvGraphicFramePr>
          <p:nvPr/>
        </p:nvGraphicFramePr>
        <p:xfrm>
          <a:off x="539750" y="5300663"/>
          <a:ext cx="379413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46" name="Equation" r:id="rId16" imgW="177569" imgH="202936" progId="Equation.3">
                  <p:embed/>
                </p:oleObj>
              </mc:Choice>
              <mc:Fallback>
                <p:oleObj name="Equation" r:id="rId16" imgW="177569" imgH="202936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300663"/>
                        <a:ext cx="379413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7" name="Object 20"/>
          <p:cNvGraphicFramePr>
            <a:graphicFrameLocks noChangeAspect="1"/>
          </p:cNvGraphicFramePr>
          <p:nvPr/>
        </p:nvGraphicFramePr>
        <p:xfrm>
          <a:off x="2051050" y="5734050"/>
          <a:ext cx="3778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47" name="Equation" r:id="rId17" imgW="177569" imgH="202936" progId="Equation.DSMT4">
                  <p:embed/>
                </p:oleObj>
              </mc:Choice>
              <mc:Fallback>
                <p:oleObj name="Equation" r:id="rId17" imgW="177569" imgH="202936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734050"/>
                        <a:ext cx="3778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F554BF-94E1-40B7-9EF4-886ABEA04D4C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596312" cy="5360987"/>
          </a:xfrm>
        </p:spPr>
        <p:txBody>
          <a:bodyPr/>
          <a:lstStyle/>
          <a:p>
            <a:pPr marL="0" indent="0" algn="just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定理6.</a:t>
            </a:r>
            <a:r>
              <a:rPr lang="en-US" altLang="zh-CN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4.4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是群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上的一个同态映射，若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的核为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N，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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G/N。</a:t>
            </a:r>
          </a:p>
          <a:p>
            <a:pPr marL="0" indent="0" algn="just" eaLnBrk="1" hangingPunct="1">
              <a:lnSpc>
                <a:spcPct val="115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是整数加法群，</a:t>
            </a:r>
          </a:p>
          <a:p>
            <a:pPr marL="0" indent="0" algn="just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σ：x→x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(mod 5)，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x∈G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，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</a:p>
          <a:p>
            <a:pPr marL="0" indent="0" algn="just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G′=σ(G)={0，1，2，3，4}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是模5的加法群，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上的同态映射。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的核为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N=5G，</a:t>
            </a:r>
          </a:p>
          <a:p>
            <a:pPr marL="0" indent="0" algn="just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                                  </a:t>
            </a:r>
          </a:p>
          <a:p>
            <a:pPr marL="0" indent="0" algn="just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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G/N。 </a:t>
            </a:r>
            <a:r>
              <a:rPr lang="en-US" altLang="zh-CN" sz="3200" dirty="0" smtClean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zh-CN" altLang="en-US" sz="3200" dirty="0" smtClean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52227" name="Object 8"/>
          <p:cNvGraphicFramePr>
            <a:graphicFrameLocks noChangeAspect="1"/>
          </p:cNvGraphicFramePr>
          <p:nvPr/>
        </p:nvGraphicFramePr>
        <p:xfrm>
          <a:off x="2339975" y="5013325"/>
          <a:ext cx="33115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0" name="Equation" r:id="rId4" imgW="1193800" imgH="241300" progId="Equation.DSMT4">
                  <p:embed/>
                </p:oleObj>
              </mc:Choice>
              <mc:Fallback>
                <p:oleObj name="Equation" r:id="rId4" imgW="1193800" imgH="241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013325"/>
                        <a:ext cx="331152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2B0266-AA3B-46D7-AFA2-9D55DFBFF2A8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群的第三同态定理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275393"/>
            <a:ext cx="8596312" cy="4968875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G/N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的元素一一对应，设在这个一一对应之下，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分别对应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G/N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bN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a′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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b′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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bN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于是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a′=σ(a)，b′=σ(b),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而且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′=σ(ab),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可见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所对应的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G/N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的元素是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abN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aNbN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  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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aNbN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G/N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同构。 </a:t>
            </a:r>
          </a:p>
        </p:txBody>
      </p:sp>
      <p:sp>
        <p:nvSpPr>
          <p:cNvPr id="5427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BB6D12-1351-4D58-BB21-B94E0505A877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群的第三同态定理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596312" cy="5216525"/>
          </a:xfrm>
        </p:spPr>
        <p:txBody>
          <a:bodyPr/>
          <a:lstStyle/>
          <a:p>
            <a:pPr marL="0" indent="0" eaLnBrk="1" hangingPunct="1">
              <a:lnSpc>
                <a:spcPct val="118000"/>
              </a:lnSpc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为群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上的同态映射。</a:t>
            </a:r>
          </a:p>
          <a:p>
            <a:pPr marL="0" indent="0" eaLnBrk="1" hangingPunct="1">
              <a:lnSpc>
                <a:spcPct val="118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结论1.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若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之子群，则</a:t>
            </a:r>
          </a:p>
          <a:p>
            <a:pPr marL="0" indent="0" eaLnBrk="1" hangingPunct="1">
              <a:lnSpc>
                <a:spcPct val="118000"/>
              </a:lnSpc>
              <a:buFont typeface="Wingdings" panose="05000000000000000000" pitchFamily="2" charset="2"/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H′=σ(H)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亦为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之子群。 </a:t>
            </a:r>
          </a:p>
          <a:p>
            <a:pPr marL="0" indent="0" eaLnBrk="1" hangingPunct="1">
              <a:lnSpc>
                <a:spcPct val="118000"/>
              </a:lnSpc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证明：由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之子群，知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为群，再由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为群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上的同态映射知，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为群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上的同态映射。由定理6.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.1知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亦为群，而</a:t>
            </a:r>
            <a:r>
              <a:rPr lang="en-US" altLang="zh-CN" sz="32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σ(H)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G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故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之子群。</a:t>
            </a:r>
          </a:p>
        </p:txBody>
      </p:sp>
      <p:sp>
        <p:nvSpPr>
          <p:cNvPr id="5529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A46FB2-387F-49D4-9482-2A38029E12F5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en-US" altLang="zh-CN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中子群与</a:t>
            </a:r>
            <a:r>
              <a:rPr lang="en-US" altLang="zh-CN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G’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中子群的关系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47688" y="1412875"/>
            <a:ext cx="8596312" cy="4968875"/>
          </a:xfrm>
        </p:spPr>
        <p:txBody>
          <a:bodyPr/>
          <a:lstStyle/>
          <a:p>
            <a:pPr eaLnBrk="1" hangingPunct="1">
              <a:lnSpc>
                <a:spcPct val="102000"/>
              </a:lnSpc>
              <a:spcBef>
                <a:spcPts val="5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结论2. 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H′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为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之子群，则</a:t>
            </a:r>
          </a:p>
          <a:p>
            <a:pPr eaLnBrk="1" hangingPunct="1">
              <a:lnSpc>
                <a:spcPct val="102000"/>
              </a:lnSpc>
              <a:spcBef>
                <a:spcPts val="5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          H=σ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(H′)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亦必为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之子群，</a:t>
            </a:r>
          </a:p>
          <a:p>
            <a:pPr eaLnBrk="1" hangingPunct="1">
              <a:lnSpc>
                <a:spcPct val="102000"/>
              </a:lnSpc>
              <a:spcBef>
                <a:spcPts val="5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其中</a:t>
            </a:r>
          </a:p>
          <a:p>
            <a:pPr eaLnBrk="1" hangingPunct="1">
              <a:lnSpc>
                <a:spcPct val="102000"/>
              </a:lnSpc>
              <a:spcBef>
                <a:spcPts val="5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σ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(H′)= {x| </a:t>
            </a:r>
            <a:r>
              <a:rPr lang="en-US" altLang="zh-CN" sz="3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x∈G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, σ(x)∈H′}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。</a:t>
            </a:r>
          </a:p>
          <a:p>
            <a:pPr eaLnBrk="1" hangingPunct="1">
              <a:lnSpc>
                <a:spcPct val="102000"/>
              </a:lnSpc>
              <a:spcBef>
                <a:spcPts val="5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证明：</a:t>
            </a:r>
          </a:p>
          <a:p>
            <a:pPr eaLnBrk="1" hangingPunct="1">
              <a:lnSpc>
                <a:spcPct val="110000"/>
              </a:lnSpc>
              <a:spcBef>
                <a:spcPts val="5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σ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(H′)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非空，因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σ(1)=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′∈H′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所以1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∈σ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(H′)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；</a:t>
            </a:r>
          </a:p>
          <a:p>
            <a:pPr marL="84138" indent="-84138" eaLnBrk="1" hangingPunct="1">
              <a:lnSpc>
                <a:spcPct val="110000"/>
              </a:lnSpc>
              <a:spcBef>
                <a:spcPts val="5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a，b∈σ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H′)，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即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σ(a), σ(b)∈H′，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故               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σ(ab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)=σ(a)σ(b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)=σ(a)σ(b)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∈H′  (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因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H′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为子群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b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</a:b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ab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∈σ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(H′)。 </a:t>
            </a:r>
            <a:endParaRPr lang="zh-CN" altLang="en-US" sz="3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5632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69F245-4382-4462-89BE-4FCEEFD23ECD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en-US" altLang="zh-CN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中子群与</a:t>
            </a:r>
            <a:r>
              <a:rPr lang="en-US" altLang="zh-CN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G’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中子群的关系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2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(H′))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等于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吗 ？</a:t>
            </a:r>
          </a:p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zh-CN" altLang="en-US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2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(σ(H))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等于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吗 ？</a:t>
            </a:r>
          </a:p>
        </p:txBody>
      </p:sp>
      <p:sp>
        <p:nvSpPr>
          <p:cNvPr id="5734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A6E8CB7-D3CD-453F-BE32-9E96CF34661A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思考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523287" cy="49831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是模12的整数加法群，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G={0,1,…,11},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G’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是模4的整数加法群，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G’={0,1,2,3},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σ:x 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x(mod 4), </a:t>
            </a:r>
            <a:r>
              <a:rPr lang="en-US" altLang="zh-CN" sz="29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x∈G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G’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上的同态映射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σ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的核为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N={0,4,8}。</a:t>
            </a:r>
          </a:p>
          <a:p>
            <a:pPr eaLnBrk="1" hangingPunct="1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若取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H’={0,2}， σ</a:t>
            </a:r>
            <a:r>
              <a:rPr lang="en-US" altLang="zh-CN" sz="29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(H’)=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{0,4,8,2,6,10},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29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(H’))= {0,2}= H’。</a:t>
            </a:r>
          </a:p>
          <a:p>
            <a:pPr eaLnBrk="1" hangingPunct="1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取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H={0,6}，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H’=σ(H)={0,2}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G’</a:t>
            </a: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29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(σ(H))=σ</a:t>
            </a:r>
            <a:r>
              <a:rPr lang="en-US" altLang="zh-CN" sz="29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{0,2} 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                  ={0,4,8,2,6,10}=H</a:t>
            </a:r>
            <a:r>
              <a:rPr lang="en-US" altLang="zh-CN" sz="29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zh-CN" sz="29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N={0,6}+{0,4,8}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837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0DBB1DC-CF06-479D-83EF-26F62E08640C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8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8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8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8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052736"/>
            <a:ext cx="8839200" cy="5484366"/>
          </a:xfrm>
        </p:spPr>
        <p:txBody>
          <a:bodyPr/>
          <a:lstStyle/>
          <a:p>
            <a:pPr eaLnBrk="1" hangingPunct="1">
              <a:lnSpc>
                <a:spcPct val="105000"/>
              </a:lnSpc>
              <a:spcBef>
                <a:spcPts val="1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结论3.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(σ(H))=</a:t>
            </a:r>
            <a:r>
              <a:rPr lang="en-US" altLang="zh-CN" sz="2800" dirty="0" smtClean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HN</a:t>
            </a:r>
          </a:p>
          <a:p>
            <a:pPr eaLnBrk="1" hangingPunct="1">
              <a:lnSpc>
                <a:spcPct val="105000"/>
              </a:lnSpc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</a:p>
          <a:p>
            <a:pPr eaLnBrk="1" hangingPunct="1">
              <a:lnSpc>
                <a:spcPct val="110000"/>
              </a:lnSpc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a∈HN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则有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h∈H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， 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n∈N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hn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 </a:t>
            </a:r>
          </a:p>
          <a:p>
            <a:pPr algn="ctr" eaLnBrk="1" hangingPunct="1">
              <a:lnSpc>
                <a:spcPct val="110000"/>
              </a:lnSpc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σ(a)=σ(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hn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)=σ(h)σ(n)=σ(h)∈σ(H)，</a:t>
            </a:r>
          </a:p>
          <a:p>
            <a:pPr eaLnBrk="1" hangingPunct="1">
              <a:lnSpc>
                <a:spcPct val="110000"/>
              </a:lnSpc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a∈σ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(σ(H))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HN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(σ(H))；</a:t>
            </a:r>
          </a:p>
          <a:p>
            <a:pPr eaLnBrk="1" hangingPunct="1">
              <a:lnSpc>
                <a:spcPct val="110000"/>
              </a:lnSpc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 任取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a∈σ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(σ(H))，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a∈HN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eaLnBrk="1" hangingPunct="1">
              <a:lnSpc>
                <a:spcPct val="110000"/>
              </a:lnSpc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σ(a)=</a:t>
            </a:r>
            <a:r>
              <a:rPr lang="en-US" altLang="zh-CN" sz="2800" dirty="0" err="1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h′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∈σ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(H)，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又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σ(H)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之映像，故</a:t>
            </a:r>
          </a:p>
          <a:p>
            <a:pPr eaLnBrk="1" hangingPunct="1">
              <a:lnSpc>
                <a:spcPct val="110000"/>
              </a:lnSpc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必有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h∈H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σ(h)=h′=σ(a)， 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</a:p>
          <a:p>
            <a:pPr algn="ctr" eaLnBrk="1" hangingPunct="1">
              <a:lnSpc>
                <a:spcPct val="110000"/>
              </a:lnSpc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σ(h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a)=σ(h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)σ(a)=σ(h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)σ(h)=σ(1)=1’，</a:t>
            </a:r>
          </a:p>
          <a:p>
            <a:pPr eaLnBrk="1" hangingPunct="1">
              <a:lnSpc>
                <a:spcPct val="110000"/>
              </a:lnSpc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故，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a∈N，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即有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n∈N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a=n， 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hn∈HN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</a:p>
          <a:p>
            <a:pPr eaLnBrk="1" hangingPunct="1">
              <a:lnSpc>
                <a:spcPct val="110000"/>
              </a:lnSpc>
              <a:spcBef>
                <a:spcPts val="100"/>
              </a:spcBef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(σ(H))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HN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总之 ,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(σ(H))=HN。 </a:t>
            </a:r>
            <a:endParaRPr lang="zh-CN" altLang="en-US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939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975184D-028B-4F7D-8101-CF75D9F463AD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04589"/>
            <a:ext cx="8020050" cy="792163"/>
          </a:xfrm>
        </p:spPr>
        <p:txBody>
          <a:bodyPr/>
          <a:lstStyle/>
          <a:p>
            <a:pPr eaLnBrk="1" hangingPunct="1"/>
            <a:r>
              <a:rPr lang="en-US" altLang="zh-CN" b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b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中子群与</a:t>
            </a:r>
            <a:r>
              <a:rPr lang="en-US" altLang="zh-CN" b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G’</a:t>
            </a:r>
            <a:r>
              <a:rPr lang="zh-CN" altLang="en-US" b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中子群的关系 </a:t>
            </a:r>
            <a:endParaRPr lang="en-US" altLang="zh-CN" b="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8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8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68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8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541463"/>
            <a:ext cx="8497887" cy="3903662"/>
          </a:xfrm>
        </p:spPr>
        <p:txBody>
          <a:bodyPr/>
          <a:lstStyle/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结论4.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N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H ，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HN=H,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σ</a:t>
            </a:r>
            <a:r>
              <a:rPr lang="en-US" altLang="zh-CN" sz="32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(σ(H))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</a:t>
            </a: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：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（1）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因1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∈N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，故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 =H{1}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HN。</a:t>
            </a:r>
            <a:endParaRPr lang="zh-CN" altLang="en-US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（2）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N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H ，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HN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HH=H。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HN=H。</a:t>
            </a:r>
            <a:endParaRPr lang="zh-CN" altLang="en-US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041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A68E610-5CDD-42EC-A361-42ED1C76A775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en-US" altLang="zh-CN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中子群与</a:t>
            </a:r>
            <a:r>
              <a:rPr lang="en-US" altLang="zh-CN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G’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中子群的关系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(G,*)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是群，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的子群，问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的所有右陪集中，有几个是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的子群？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2.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的正规子群，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HN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的元素乘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的元素所得的所有元素的集合，问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HN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是否是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的子群？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3.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的子群，问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是否一定是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的子群？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44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F520860-C1F0-426A-A939-FF1FB84AB9A8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思考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596312" cy="5426075"/>
          </a:xfrm>
        </p:spPr>
        <p:txBody>
          <a:bodyPr/>
          <a:lstStyle/>
          <a:p>
            <a:pPr eaLnBrk="1" hangingPunct="1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200" dirty="0" smtClean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200" dirty="0" smtClean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之间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的子群一一对应，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大群对应大群，小群对应小群，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正规子群对应正规子群。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endParaRPr lang="zh-CN" altLang="en-US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一一对应已证: </a:t>
            </a:r>
          </a:p>
          <a:p>
            <a:pPr eaLnBrk="1" hangingPunct="1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N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 ，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2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(σ(H))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H。</a:t>
            </a:r>
            <a:endParaRPr lang="zh-CN" altLang="en-US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2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(H′))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H′。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只需证明大群对应大群，小群对应小群，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正规子群对应正规子群</a:t>
            </a:r>
            <a:r>
              <a:rPr lang="zh-CN" altLang="en-US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6246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2B3E7EA-50F1-4019-88D6-D59A63FBD4A5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lang="en-US" altLang="zh-CN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6.4.5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550275" cy="5383213"/>
          </a:xfrm>
        </p:spPr>
        <p:txBody>
          <a:bodyPr/>
          <a:lstStyle/>
          <a:p>
            <a:pPr eaLnBrk="1" hangingPunct="1">
              <a:spcBef>
                <a:spcPts val="5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latin typeface="Times New Roman" panose="02020603050405020304" pitchFamily="18" charset="0"/>
              </a:rPr>
              <a:t>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是群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的子群，且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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eaLnBrk="1" hangingPunct="1"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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eaLnBrk="1" hangingPunct="1"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)，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则有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</a:p>
          <a:p>
            <a:pPr eaLnBrk="1" hangingPunct="1"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)=h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.由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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，知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</a:p>
          <a:p>
            <a:pPr eaLnBrk="1" hangingPunct="1"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)，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)。</a:t>
            </a:r>
            <a:endParaRPr lang="zh-CN" altLang="en-US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ts val="5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是群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G’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的子群，且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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eaLnBrk="1" hangingPunct="1"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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eaLnBrk="1" hangingPunct="1"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)，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于是有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σ(h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eaLnBrk="1" hangingPunct="1"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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，故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σ(h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</a:t>
            </a:r>
          </a:p>
          <a:p>
            <a:pPr eaLnBrk="1" hangingPunct="1">
              <a:spcBef>
                <a:spcPts val="500"/>
              </a:spcBef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)，σ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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6349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C3E9EC8-EF8B-461B-ADD7-B69176CB6E73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lang="en-US" altLang="zh-CN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6.4.5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99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99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9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9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 noChangeArrowheads="1"/>
          </p:cNvSpPr>
          <p:nvPr>
            <p:ph idx="1"/>
          </p:nvPr>
        </p:nvSpPr>
        <p:spPr>
          <a:xfrm>
            <a:off x="395536" y="1153319"/>
            <a:ext cx="8569325" cy="5283200"/>
          </a:xfrm>
        </p:spPr>
        <p:txBody>
          <a:bodyPr/>
          <a:lstStyle/>
          <a:p>
            <a:pPr eaLnBrk="1" hangingPunct="1">
              <a:spcBef>
                <a:spcPts val="5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的正规子群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则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=(H)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的正规子群。</a:t>
            </a:r>
          </a:p>
          <a:p>
            <a:pPr algn="just">
              <a:spcBef>
                <a:spcPct val="0"/>
              </a:spcBef>
              <a:buFontTx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证明：对任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G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往证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latinLnBrk="0" hangingPunct="1">
              <a:buClr>
                <a:srgbClr val="FFCC00"/>
              </a:buClr>
              <a:buSzPct val="85000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  </a:t>
            </a:r>
            <a:r>
              <a:rPr lang="zh-CN" altLang="en-US" sz="3000" kern="1200" dirty="0">
                <a:solidFill>
                  <a:srgbClr val="000066">
                    <a:lumMod val="50000"/>
                  </a:srgbClr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任取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 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，不妨设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x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= </a:t>
            </a:r>
            <a:r>
              <a:rPr lang="en-US" altLang="zh-CN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h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 </a:t>
            </a:r>
            <a:r>
              <a:rPr lang="zh-CN" altLang="en-US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，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则</a:t>
            </a:r>
            <a:endParaRPr lang="en-US" altLang="zh-CN" sz="3000" kern="1200" dirty="0">
              <a:latin typeface="Arial" panose="020B0604020202020204" pitchFamily="34" charset="0"/>
              <a:ea typeface="宋体"/>
              <a:cs typeface="Arial" panose="020B0604020202020204" pitchFamily="34" charset="0"/>
            </a:endParaRPr>
          </a:p>
          <a:p>
            <a:pPr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x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=g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28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 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=σ(g)σ(h)(σ(g))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</a:t>
            </a:r>
          </a:p>
          <a:p>
            <a:pPr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        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=</a:t>
            </a:r>
            <a:r>
              <a:rPr lang="en-US" altLang="zh-CN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σ(g)σ(h)σ(g</a:t>
            </a:r>
            <a:r>
              <a:rPr lang="en-US" altLang="zh-CN" sz="3000" kern="1200" baseline="300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)=</a:t>
            </a:r>
            <a:r>
              <a:rPr lang="en-US" altLang="zh-CN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σ(ghg</a:t>
            </a:r>
            <a:r>
              <a:rPr lang="en-US" altLang="zh-CN" sz="3000" kern="1200" baseline="300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 </a:t>
            </a:r>
          </a:p>
          <a:p>
            <a:pPr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由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H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是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的正规子群，知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gHg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H，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而</a:t>
            </a:r>
          </a:p>
          <a:p>
            <a:pPr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ghg</a:t>
            </a:r>
            <a:r>
              <a:rPr lang="en-US" altLang="zh-CN" sz="3000" kern="1200" baseline="300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</a:t>
            </a:r>
            <a:r>
              <a:rPr lang="zh-CN" altLang="en-US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gHg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故</a:t>
            </a:r>
            <a:r>
              <a:rPr lang="en-US" altLang="zh-CN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ghg</a:t>
            </a:r>
            <a:r>
              <a:rPr lang="en-US" altLang="zh-CN" sz="3000" kern="1200" baseline="300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 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 。因此，</a:t>
            </a:r>
          </a:p>
          <a:p>
            <a:pPr algn="ctr" eaLnBrk="1" latinLnBrk="0" hangingPunct="1">
              <a:buClr>
                <a:srgbClr val="FFCC00"/>
              </a:buClr>
              <a:buSzPct val="85000"/>
              <a:buNone/>
              <a:defRPr/>
            </a:pPr>
            <a:r>
              <a:rPr lang="en-US" altLang="zh-CN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2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=</a:t>
            </a:r>
            <a:r>
              <a:rPr lang="en-US" altLang="zh-CN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σ(ghg</a:t>
            </a:r>
            <a:r>
              <a:rPr lang="en-US" altLang="zh-CN" sz="3000" kern="1200" baseline="300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</a:t>
            </a:r>
            <a:r>
              <a:rPr lang="en-US" altLang="zh-CN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</a:t>
            </a:r>
            <a:r>
              <a:rPr lang="en-US" altLang="zh-CN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 =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h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</a:t>
            </a:r>
            <a:r>
              <a:rPr lang="en-US" altLang="zh-CN" sz="3200" kern="1200" baseline="300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1</a:t>
            </a:r>
            <a:r>
              <a:rPr lang="zh-CN" altLang="en-US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kern="1200" dirty="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σ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(H) =H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.</a:t>
            </a:r>
          </a:p>
          <a:p>
            <a:pPr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即，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H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,H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=σ(H)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是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的正规子群。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</a:p>
          <a:p>
            <a:pPr>
              <a:defRPr/>
            </a:pPr>
            <a:endParaRPr lang="zh-CN" altLang="en-US" sz="2800" dirty="0"/>
          </a:p>
        </p:txBody>
      </p:sp>
      <p:sp>
        <p:nvSpPr>
          <p:cNvPr id="6451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90EF708-20B8-4F06-A71C-BD759997B3F7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lang="en-US" altLang="zh-CN" b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6.4.5</a:t>
            </a:r>
            <a:r>
              <a:rPr lang="zh-CN" altLang="en-US" b="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b="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196975"/>
            <a:ext cx="8301038" cy="5256213"/>
          </a:xfrm>
        </p:spPr>
        <p:txBody>
          <a:bodyPr/>
          <a:lstStyle/>
          <a:p>
            <a:pPr marL="0" indent="0" algn="just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若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H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是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G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的正规子群，则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H=</a:t>
            </a:r>
            <a:r>
              <a:rPr lang="en-US" altLang="zh-CN" sz="3000" baseline="30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-1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(H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)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是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G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的正规子群。</a:t>
            </a:r>
            <a:endParaRPr lang="en-US" altLang="zh-CN" sz="3000" dirty="0">
              <a:solidFill>
                <a:srgbClr val="0000FF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marL="0" indent="0" algn="just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 证明：对任</a:t>
            </a:r>
            <a:r>
              <a:rPr lang="en-US" altLang="zh-CN" sz="3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gG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  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往证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gHg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H</a:t>
            </a:r>
          </a:p>
          <a:p>
            <a:pPr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任取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gHg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 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，设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x=ghg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 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，则</a:t>
            </a:r>
          </a:p>
          <a:p>
            <a:pPr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σ(x) 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σ(ghg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 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= σ(g) σ (h) σ (g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 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</a:t>
            </a:r>
          </a:p>
          <a:p>
            <a:pPr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         </a:t>
            </a:r>
            <a:r>
              <a:rPr lang="en-US" altLang="zh-CN" sz="3000" kern="120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= </a:t>
            </a:r>
            <a:r>
              <a:rPr lang="en-US" altLang="zh-CN" sz="3000" kern="1200" smtClean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σ(g)σ(h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)(σ(g) )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 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=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 </a:t>
            </a:r>
            <a:endParaRPr lang="en-US" altLang="zh-CN" sz="3000" kern="1200" dirty="0">
              <a:latin typeface="Arial" panose="020B0604020202020204" pitchFamily="34" charset="0"/>
              <a:ea typeface="宋体"/>
              <a:cs typeface="Arial" panose="020B0604020202020204" pitchFamily="34" charset="0"/>
            </a:endParaRPr>
          </a:p>
          <a:p>
            <a:pPr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由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是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的正规子群，知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H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而</a:t>
            </a:r>
          </a:p>
          <a:p>
            <a:pPr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 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故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σ(x) =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 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  <a:endParaRPr lang="zh-CN" altLang="en-US" sz="3000" kern="1200" dirty="0">
              <a:latin typeface="Arial" panose="020B0604020202020204" pitchFamily="34" charset="0"/>
              <a:ea typeface="宋体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因此，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σ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(H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)。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由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N 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H ，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则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σ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 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(σ(H))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=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H，</a:t>
            </a:r>
          </a:p>
          <a:p>
            <a:pPr marL="0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所以， 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H ，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即，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gHg</a:t>
            </a:r>
            <a:r>
              <a:rPr lang="en-US" altLang="zh-CN" sz="30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  <a:sym typeface="Symbol" panose="05050102010706020507" pitchFamily="18" charset="2"/>
              </a:rPr>
              <a:t>H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, H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是</a:t>
            </a:r>
            <a:r>
              <a:rPr lang="en-US" altLang="zh-CN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zh-CN" altLang="en-US" sz="30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的正规子群。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53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696A468-C65A-4BC3-BF2A-45CC8EAA34EC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549275"/>
            <a:ext cx="8020050" cy="792163"/>
          </a:xfrm>
        </p:spPr>
        <p:txBody>
          <a:bodyPr/>
          <a:lstStyle/>
          <a:p>
            <a:pPr eaLnBrk="1" hangingPunct="1"/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lang="en-US" altLang="zh-CN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6.4.5</a:t>
            </a:r>
            <a:r>
              <a:rPr lang="zh-CN" altLang="en-US" b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b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 noChangeArrowheads="1"/>
          </p:cNvSpPr>
          <p:nvPr>
            <p:ph type="title"/>
          </p:nvPr>
        </p:nvSpPr>
        <p:spPr>
          <a:xfrm>
            <a:off x="395288" y="404813"/>
            <a:ext cx="8164512" cy="889000"/>
          </a:xfrm>
        </p:spPr>
        <p:txBody>
          <a:bodyPr/>
          <a:lstStyle/>
          <a:p>
            <a:r>
              <a:rPr lang="en-US" altLang="zh-CN" sz="3200" b="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b="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中子群与</a:t>
            </a:r>
            <a:r>
              <a:rPr lang="en-US" altLang="zh-CN" sz="3200" b="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200" b="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中子群的关系示意图</a:t>
            </a:r>
            <a:r>
              <a:rPr lang="en-US" altLang="zh-CN" sz="3200" b="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endParaRPr lang="zh-CN" altLang="en-US" sz="3200" b="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66563" name="内容占位符 3"/>
          <p:cNvGrpSpPr>
            <a:grpSpLocks noGrp="1"/>
          </p:cNvGrpSpPr>
          <p:nvPr/>
        </p:nvGrpSpPr>
        <p:grpSpPr bwMode="auto">
          <a:xfrm>
            <a:off x="577850" y="1760538"/>
            <a:ext cx="8301038" cy="4572000"/>
            <a:chOff x="762000" y="1600200"/>
            <a:chExt cx="7924800" cy="5029200"/>
          </a:xfrm>
        </p:grpSpPr>
        <p:sp>
          <p:nvSpPr>
            <p:cNvPr id="66573" name="Oval 1028"/>
            <p:cNvSpPr>
              <a:spLocks noChangeArrowheads="1"/>
            </p:cNvSpPr>
            <p:nvPr/>
          </p:nvSpPr>
          <p:spPr bwMode="auto">
            <a:xfrm>
              <a:off x="762000" y="2438400"/>
              <a:ext cx="3276600" cy="4191000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74" name="Oval 1029"/>
            <p:cNvSpPr>
              <a:spLocks noChangeArrowheads="1"/>
            </p:cNvSpPr>
            <p:nvPr/>
          </p:nvSpPr>
          <p:spPr bwMode="auto">
            <a:xfrm>
              <a:off x="6248400" y="2362200"/>
              <a:ext cx="2438400" cy="4038600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75" name="Oval 1030"/>
            <p:cNvSpPr>
              <a:spLocks noChangeArrowheads="1"/>
            </p:cNvSpPr>
            <p:nvPr/>
          </p:nvSpPr>
          <p:spPr bwMode="auto">
            <a:xfrm>
              <a:off x="1219200" y="2971800"/>
              <a:ext cx="2514600" cy="2895600"/>
            </a:xfrm>
            <a:prstGeom prst="ellipse">
              <a:avLst/>
            </a:prstGeom>
            <a:solidFill>
              <a:srgbClr val="ECFF3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76" name="Oval 1031"/>
            <p:cNvSpPr>
              <a:spLocks noChangeArrowheads="1"/>
            </p:cNvSpPr>
            <p:nvPr/>
          </p:nvSpPr>
          <p:spPr bwMode="auto">
            <a:xfrm>
              <a:off x="1752600" y="3124200"/>
              <a:ext cx="1295400" cy="1447800"/>
            </a:xfrm>
            <a:prstGeom prst="ellipse">
              <a:avLst/>
            </a:prstGeom>
            <a:solidFill>
              <a:srgbClr val="463DFB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66577" name="Oval 1032"/>
            <p:cNvSpPr>
              <a:spLocks noChangeArrowheads="1"/>
            </p:cNvSpPr>
            <p:nvPr/>
          </p:nvSpPr>
          <p:spPr bwMode="auto">
            <a:xfrm>
              <a:off x="2057400" y="3962400"/>
              <a:ext cx="914400" cy="137160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66578" name="Line 1034"/>
            <p:cNvSpPr>
              <a:spLocks noChangeShapeType="1"/>
            </p:cNvSpPr>
            <p:nvPr/>
          </p:nvSpPr>
          <p:spPr bwMode="auto">
            <a:xfrm>
              <a:off x="914400" y="1600200"/>
              <a:ext cx="762000" cy="12954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79" name="Line 1035"/>
            <p:cNvSpPr>
              <a:spLocks noChangeShapeType="1"/>
            </p:cNvSpPr>
            <p:nvPr/>
          </p:nvSpPr>
          <p:spPr bwMode="auto">
            <a:xfrm flipH="1">
              <a:off x="3104910" y="2179558"/>
              <a:ext cx="609600" cy="1371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80" name="Oval 1036"/>
            <p:cNvSpPr>
              <a:spLocks noChangeArrowheads="1"/>
            </p:cNvSpPr>
            <p:nvPr/>
          </p:nvSpPr>
          <p:spPr bwMode="auto">
            <a:xfrm>
              <a:off x="6858000" y="3276600"/>
              <a:ext cx="1219200" cy="2133600"/>
            </a:xfrm>
            <a:prstGeom prst="ellipse">
              <a:avLst/>
            </a:prstGeom>
            <a:solidFill>
              <a:srgbClr val="ECFF3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′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′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81" name="Line 1037"/>
            <p:cNvSpPr>
              <a:spLocks noChangeShapeType="1"/>
            </p:cNvSpPr>
            <p:nvPr/>
          </p:nvSpPr>
          <p:spPr bwMode="auto">
            <a:xfrm flipV="1">
              <a:off x="5279775" y="5215287"/>
              <a:ext cx="2031099" cy="3817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82" name="Line 1038"/>
            <p:cNvSpPr>
              <a:spLocks noChangeShapeType="1"/>
            </p:cNvSpPr>
            <p:nvPr/>
          </p:nvSpPr>
          <p:spPr bwMode="auto">
            <a:xfrm>
              <a:off x="2514600" y="3429000"/>
              <a:ext cx="4876800" cy="30480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83" name="Line 1039"/>
            <p:cNvSpPr>
              <a:spLocks noChangeShapeType="1"/>
            </p:cNvSpPr>
            <p:nvPr/>
          </p:nvSpPr>
          <p:spPr bwMode="auto">
            <a:xfrm>
              <a:off x="2857500" y="4072317"/>
              <a:ext cx="4572000" cy="22860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84" name="Line 1040"/>
            <p:cNvSpPr>
              <a:spLocks noChangeShapeType="1"/>
            </p:cNvSpPr>
            <p:nvPr/>
          </p:nvSpPr>
          <p:spPr bwMode="auto">
            <a:xfrm>
              <a:off x="2514600" y="4343400"/>
              <a:ext cx="4876800" cy="1524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85" name="Line 1042"/>
            <p:cNvSpPr>
              <a:spLocks noChangeShapeType="1"/>
            </p:cNvSpPr>
            <p:nvPr/>
          </p:nvSpPr>
          <p:spPr bwMode="auto">
            <a:xfrm flipV="1">
              <a:off x="2133600" y="4648200"/>
              <a:ext cx="5562600" cy="7620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86" name="Line 1043"/>
            <p:cNvSpPr>
              <a:spLocks noChangeShapeType="1"/>
            </p:cNvSpPr>
            <p:nvPr/>
          </p:nvSpPr>
          <p:spPr bwMode="auto">
            <a:xfrm flipV="1">
              <a:off x="2286000" y="4953000"/>
              <a:ext cx="5410200" cy="6858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87" name="Line 1037"/>
            <p:cNvSpPr>
              <a:spLocks noChangeShapeType="1"/>
            </p:cNvSpPr>
            <p:nvPr/>
          </p:nvSpPr>
          <p:spPr bwMode="auto">
            <a:xfrm flipV="1">
              <a:off x="2390456" y="2362200"/>
              <a:ext cx="5000943" cy="7620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6588" name="Line 1037"/>
            <p:cNvSpPr>
              <a:spLocks noChangeShapeType="1"/>
            </p:cNvSpPr>
            <p:nvPr/>
          </p:nvSpPr>
          <p:spPr bwMode="auto">
            <a:xfrm flipV="1">
              <a:off x="2839990" y="6400799"/>
              <a:ext cx="4470884" cy="101442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66564" name="TextBox 19"/>
          <p:cNvSpPr txBox="1">
            <a:spLocks noChangeArrowheads="1"/>
          </p:cNvSpPr>
          <p:nvPr/>
        </p:nvSpPr>
        <p:spPr bwMode="auto">
          <a:xfrm>
            <a:off x="395288" y="1311275"/>
            <a:ext cx="504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5" name="TextBox 20"/>
          <p:cNvSpPr txBox="1">
            <a:spLocks noChangeArrowheads="1"/>
          </p:cNvSpPr>
          <p:nvPr/>
        </p:nvSpPr>
        <p:spPr bwMode="auto">
          <a:xfrm>
            <a:off x="1116013" y="1125538"/>
            <a:ext cx="31686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000" u="sng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若</a:t>
            </a:r>
            <a:r>
              <a:rPr lang="en-US" altLang="zh-CN" sz="3000" u="sng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zh-CN" altLang="en-US" sz="3000" u="sng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不包含</a:t>
            </a:r>
            <a:r>
              <a:rPr lang="en-US" altLang="zh-CN" sz="3000" u="sng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zh-CN" altLang="en-US" sz="3000" u="sng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566" name="TextBox 23"/>
          <p:cNvSpPr txBox="1">
            <a:spLocks noChangeArrowheads="1"/>
          </p:cNvSpPr>
          <p:nvPr/>
        </p:nvSpPr>
        <p:spPr bwMode="auto">
          <a:xfrm>
            <a:off x="3203575" y="1773238"/>
            <a:ext cx="2520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-1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 (H))=HN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7" name="TextBox 24"/>
          <p:cNvSpPr txBox="1">
            <a:spLocks noChangeArrowheads="1"/>
          </p:cNvSpPr>
          <p:nvPr/>
        </p:nvSpPr>
        <p:spPr bwMode="auto">
          <a:xfrm>
            <a:off x="3924300" y="5084763"/>
            <a:ext cx="16557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′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(H)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8" name="TextBox 25"/>
          <p:cNvSpPr txBox="1">
            <a:spLocks noChangeArrowheads="1"/>
          </p:cNvSpPr>
          <p:nvPr/>
        </p:nvSpPr>
        <p:spPr bwMode="auto">
          <a:xfrm>
            <a:off x="7812088" y="1382713"/>
            <a:ext cx="720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′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9" name="Line 1035"/>
          <p:cNvSpPr>
            <a:spLocks noChangeShapeType="1"/>
          </p:cNvSpPr>
          <p:nvPr/>
        </p:nvSpPr>
        <p:spPr bwMode="auto">
          <a:xfrm flipH="1">
            <a:off x="7380288" y="1773238"/>
            <a:ext cx="638175" cy="12461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6570" name="Line 1034"/>
          <p:cNvSpPr>
            <a:spLocks noChangeShapeType="1"/>
          </p:cNvSpPr>
          <p:nvPr/>
        </p:nvSpPr>
        <p:spPr bwMode="auto">
          <a:xfrm flipV="1">
            <a:off x="2555875" y="4365625"/>
            <a:ext cx="4968875" cy="431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stealth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6571" name="文本框 1"/>
          <p:cNvSpPr txBox="1">
            <a:spLocks noChangeArrowheads="1"/>
          </p:cNvSpPr>
          <p:nvPr/>
        </p:nvSpPr>
        <p:spPr bwMode="auto">
          <a:xfrm>
            <a:off x="4211638" y="5516563"/>
            <a:ext cx="10334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00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endParaRPr lang="zh-CN" altLang="en-US" sz="360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7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10A907-8EDD-460C-A0F1-1484B4058F23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 noChangeArrowheads="1"/>
          </p:cNvSpPr>
          <p:nvPr>
            <p:ph type="title"/>
          </p:nvPr>
        </p:nvSpPr>
        <p:spPr>
          <a:xfrm>
            <a:off x="611188" y="404813"/>
            <a:ext cx="8020050" cy="806450"/>
          </a:xfrm>
        </p:spPr>
        <p:txBody>
          <a:bodyPr/>
          <a:lstStyle/>
          <a:p>
            <a:r>
              <a:rPr lang="en-US" altLang="zh-CN" sz="3200" b="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b="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中子群与</a:t>
            </a:r>
            <a:r>
              <a:rPr lang="en-US" altLang="zh-CN" sz="3200" b="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G′</a:t>
            </a:r>
            <a:r>
              <a:rPr lang="zh-CN" altLang="en-US" sz="3200" b="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中子群的关系示意图</a:t>
            </a:r>
            <a:r>
              <a:rPr lang="en-US" altLang="zh-CN" sz="3200" b="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endParaRPr lang="zh-CN" altLang="en-US" sz="3200" b="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68611" name="内容占位符 3"/>
          <p:cNvGrpSpPr>
            <a:grpSpLocks noGrp="1"/>
          </p:cNvGrpSpPr>
          <p:nvPr/>
        </p:nvGrpSpPr>
        <p:grpSpPr bwMode="auto">
          <a:xfrm>
            <a:off x="539750" y="1700213"/>
            <a:ext cx="8301038" cy="4681537"/>
            <a:chOff x="762000" y="1404628"/>
            <a:chExt cx="7620000" cy="5148572"/>
          </a:xfrm>
        </p:grpSpPr>
        <p:sp>
          <p:nvSpPr>
            <p:cNvPr id="68621" name="Oval 4"/>
            <p:cNvSpPr>
              <a:spLocks noChangeArrowheads="1"/>
            </p:cNvSpPr>
            <p:nvPr/>
          </p:nvSpPr>
          <p:spPr bwMode="auto">
            <a:xfrm>
              <a:off x="762000" y="2209800"/>
              <a:ext cx="2743200" cy="4343400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22" name="Oval 5"/>
            <p:cNvSpPr>
              <a:spLocks noChangeArrowheads="1"/>
            </p:cNvSpPr>
            <p:nvPr/>
          </p:nvSpPr>
          <p:spPr bwMode="auto">
            <a:xfrm>
              <a:off x="1066800" y="2971800"/>
              <a:ext cx="2057400" cy="2743200"/>
            </a:xfrm>
            <a:prstGeom prst="ellipse">
              <a:avLst/>
            </a:prstGeom>
            <a:solidFill>
              <a:srgbClr val="ECFF3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          H</a:t>
              </a:r>
            </a:p>
          </p:txBody>
        </p:sp>
        <p:sp>
          <p:nvSpPr>
            <p:cNvPr id="68623" name="Oval 6"/>
            <p:cNvSpPr>
              <a:spLocks noChangeArrowheads="1"/>
            </p:cNvSpPr>
            <p:nvPr/>
          </p:nvSpPr>
          <p:spPr bwMode="auto">
            <a:xfrm>
              <a:off x="1356903" y="3505200"/>
              <a:ext cx="1219200" cy="1676400"/>
            </a:xfrm>
            <a:prstGeom prst="ellipse">
              <a:avLst/>
            </a:prstGeom>
            <a:solidFill>
              <a:srgbClr val="463DFB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68624" name="Oval 7"/>
            <p:cNvSpPr>
              <a:spLocks noChangeArrowheads="1"/>
            </p:cNvSpPr>
            <p:nvPr/>
          </p:nvSpPr>
          <p:spPr bwMode="auto">
            <a:xfrm>
              <a:off x="5791200" y="2286000"/>
              <a:ext cx="2590800" cy="3962400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25" name="Oval 8"/>
            <p:cNvSpPr>
              <a:spLocks noChangeArrowheads="1"/>
            </p:cNvSpPr>
            <p:nvPr/>
          </p:nvSpPr>
          <p:spPr bwMode="auto">
            <a:xfrm>
              <a:off x="6400800" y="3048000"/>
              <a:ext cx="1295400" cy="2286000"/>
            </a:xfrm>
            <a:prstGeom prst="ellipse">
              <a:avLst/>
            </a:prstGeom>
            <a:solidFill>
              <a:srgbClr val="ECFF3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charset="-122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′</a:t>
              </a:r>
              <a:endPara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26" name="Line 9"/>
            <p:cNvSpPr>
              <a:spLocks noChangeShapeType="1"/>
            </p:cNvSpPr>
            <p:nvPr/>
          </p:nvSpPr>
          <p:spPr bwMode="auto">
            <a:xfrm flipH="1">
              <a:off x="1423003" y="1404628"/>
              <a:ext cx="330501" cy="15841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27" name="Line 10"/>
            <p:cNvSpPr>
              <a:spLocks noChangeShapeType="1"/>
            </p:cNvSpPr>
            <p:nvPr/>
          </p:nvSpPr>
          <p:spPr bwMode="auto">
            <a:xfrm>
              <a:off x="5256819" y="2117507"/>
              <a:ext cx="1524981" cy="16162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28" name="Line 11"/>
            <p:cNvSpPr>
              <a:spLocks noChangeShapeType="1"/>
            </p:cNvSpPr>
            <p:nvPr/>
          </p:nvSpPr>
          <p:spPr bwMode="auto">
            <a:xfrm>
              <a:off x="6324600" y="1676400"/>
              <a:ext cx="685800" cy="9144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29" name="Line 12"/>
            <p:cNvSpPr>
              <a:spLocks noChangeShapeType="1"/>
            </p:cNvSpPr>
            <p:nvPr/>
          </p:nvSpPr>
          <p:spPr bwMode="auto">
            <a:xfrm>
              <a:off x="1981200" y="3886200"/>
              <a:ext cx="5029200" cy="3048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30" name="Line 13"/>
            <p:cNvSpPr>
              <a:spLocks noChangeShapeType="1"/>
            </p:cNvSpPr>
            <p:nvPr/>
          </p:nvSpPr>
          <p:spPr bwMode="auto">
            <a:xfrm flipV="1">
              <a:off x="1981200" y="4191000"/>
              <a:ext cx="4953000" cy="1524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31" name="Line 14"/>
            <p:cNvSpPr>
              <a:spLocks noChangeShapeType="1"/>
            </p:cNvSpPr>
            <p:nvPr/>
          </p:nvSpPr>
          <p:spPr bwMode="auto">
            <a:xfrm flipV="1">
              <a:off x="1981200" y="4191000"/>
              <a:ext cx="4876800" cy="6096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32" name="Line 15"/>
            <p:cNvSpPr>
              <a:spLocks noChangeShapeType="1"/>
            </p:cNvSpPr>
            <p:nvPr/>
          </p:nvSpPr>
          <p:spPr bwMode="auto">
            <a:xfrm>
              <a:off x="2133600" y="3429000"/>
              <a:ext cx="4953000" cy="3048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33" name="Line 16"/>
            <p:cNvSpPr>
              <a:spLocks noChangeShapeType="1"/>
            </p:cNvSpPr>
            <p:nvPr/>
          </p:nvSpPr>
          <p:spPr bwMode="auto">
            <a:xfrm flipV="1">
              <a:off x="2057400" y="4648200"/>
              <a:ext cx="5029200" cy="7620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stealth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34" name="Line 14"/>
            <p:cNvSpPr>
              <a:spLocks noChangeShapeType="1"/>
            </p:cNvSpPr>
            <p:nvPr/>
          </p:nvSpPr>
          <p:spPr bwMode="auto">
            <a:xfrm flipV="1">
              <a:off x="2414325" y="6248400"/>
              <a:ext cx="4825321" cy="299148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35" name="Line 14"/>
            <p:cNvSpPr>
              <a:spLocks noChangeShapeType="1"/>
            </p:cNvSpPr>
            <p:nvPr/>
          </p:nvSpPr>
          <p:spPr bwMode="auto">
            <a:xfrm>
              <a:off x="2283857" y="2250725"/>
              <a:ext cx="4823042" cy="45203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68612" name="TextBox 17"/>
          <p:cNvSpPr txBox="1">
            <a:spLocks noChangeArrowheads="1"/>
          </p:cNvSpPr>
          <p:nvPr/>
        </p:nvSpPr>
        <p:spPr bwMode="auto">
          <a:xfrm>
            <a:off x="7451725" y="3573463"/>
            <a:ext cx="657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′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3" name="TextBox 18"/>
          <p:cNvSpPr txBox="1">
            <a:spLocks noChangeArrowheads="1"/>
          </p:cNvSpPr>
          <p:nvPr/>
        </p:nvSpPr>
        <p:spPr bwMode="auto">
          <a:xfrm>
            <a:off x="1403350" y="1311275"/>
            <a:ext cx="576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4" name="TextBox 19"/>
          <p:cNvSpPr txBox="1">
            <a:spLocks noChangeArrowheads="1"/>
          </p:cNvSpPr>
          <p:nvPr/>
        </p:nvSpPr>
        <p:spPr bwMode="auto">
          <a:xfrm>
            <a:off x="6300788" y="1527175"/>
            <a:ext cx="720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′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5" name="TextBox 20"/>
          <p:cNvSpPr txBox="1">
            <a:spLocks noChangeArrowheads="1"/>
          </p:cNvSpPr>
          <p:nvPr/>
        </p:nvSpPr>
        <p:spPr bwMode="auto">
          <a:xfrm>
            <a:off x="4787900" y="1989138"/>
            <a:ext cx="1296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(H)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6" name="Line 9"/>
          <p:cNvSpPr>
            <a:spLocks noChangeShapeType="1"/>
          </p:cNvSpPr>
          <p:nvPr/>
        </p:nvSpPr>
        <p:spPr bwMode="auto">
          <a:xfrm flipH="1">
            <a:off x="2051050" y="2205038"/>
            <a:ext cx="720725" cy="12239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8617" name="TextBox 22"/>
          <p:cNvSpPr txBox="1">
            <a:spLocks noChangeArrowheads="1"/>
          </p:cNvSpPr>
          <p:nvPr/>
        </p:nvSpPr>
        <p:spPr bwMode="auto">
          <a:xfrm>
            <a:off x="1908175" y="1806575"/>
            <a:ext cx="19431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-1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 (H))=H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8" name="TextBox 23"/>
          <p:cNvSpPr txBox="1">
            <a:spLocks noChangeArrowheads="1"/>
          </p:cNvSpPr>
          <p:nvPr/>
        </p:nvSpPr>
        <p:spPr bwMode="auto">
          <a:xfrm>
            <a:off x="3419475" y="1052513"/>
            <a:ext cx="16573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N</a:t>
            </a:r>
            <a:endParaRPr lang="zh-CN" altLang="en-US" sz="3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619" name="矩形 1"/>
          <p:cNvSpPr>
            <a:spLocks noChangeArrowheads="1"/>
          </p:cNvSpPr>
          <p:nvPr/>
        </p:nvSpPr>
        <p:spPr bwMode="auto">
          <a:xfrm>
            <a:off x="4457700" y="5653088"/>
            <a:ext cx="4651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00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endParaRPr lang="zh-CN" altLang="en-US" sz="360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2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03BFDB7-CEBE-4B86-BC51-494A02CB780E}" type="slidenum">
              <a:rPr lang="ko-KR" altLang="en-US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075">
  <a:themeElements>
    <a:clrScheme name="B075 9">
      <a:dk1>
        <a:srgbClr val="000000"/>
      </a:dk1>
      <a:lt1>
        <a:srgbClr val="FFFFFF"/>
      </a:lt1>
      <a:dk2>
        <a:srgbClr val="800000"/>
      </a:dk2>
      <a:lt2>
        <a:srgbClr val="666633"/>
      </a:lt2>
      <a:accent1>
        <a:srgbClr val="339933"/>
      </a:accent1>
      <a:accent2>
        <a:srgbClr val="800000"/>
      </a:accent2>
      <a:accent3>
        <a:srgbClr val="FFFFFF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8">
        <a:dk1>
          <a:srgbClr val="000000"/>
        </a:dk1>
        <a:lt1>
          <a:srgbClr val="FFFFFF"/>
        </a:lt1>
        <a:dk2>
          <a:srgbClr val="0000CC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FF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9">
        <a:dk1>
          <a:srgbClr val="000000"/>
        </a:dk1>
        <a:lt1>
          <a:srgbClr val="FFFFFF"/>
        </a:lt1>
        <a:dk2>
          <a:srgbClr val="800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FF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075">
  <a:themeElements>
    <a:clrScheme name="B075 9">
      <a:dk1>
        <a:srgbClr val="000000"/>
      </a:dk1>
      <a:lt1>
        <a:srgbClr val="FFFFFF"/>
      </a:lt1>
      <a:dk2>
        <a:srgbClr val="800000"/>
      </a:dk2>
      <a:lt2>
        <a:srgbClr val="666633"/>
      </a:lt2>
      <a:accent1>
        <a:srgbClr val="339933"/>
      </a:accent1>
      <a:accent2>
        <a:srgbClr val="800000"/>
      </a:accent2>
      <a:accent3>
        <a:srgbClr val="FFFFFF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8">
        <a:dk1>
          <a:srgbClr val="000000"/>
        </a:dk1>
        <a:lt1>
          <a:srgbClr val="FFFFFF"/>
        </a:lt1>
        <a:dk2>
          <a:srgbClr val="0000CC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FF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9">
        <a:dk1>
          <a:srgbClr val="000000"/>
        </a:dk1>
        <a:lt1>
          <a:srgbClr val="FFFFFF"/>
        </a:lt1>
        <a:dk2>
          <a:srgbClr val="800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FF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12786</TotalTime>
  <Words>3800</Words>
  <Application>Microsoft Office PowerPoint</Application>
  <PresentationFormat>全屏显示(4:3)</PresentationFormat>
  <Paragraphs>407</Paragraphs>
  <Slides>44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黑体</vt:lpstr>
      <vt:lpstr>华文中宋</vt:lpstr>
      <vt:lpstr>楷体_GB2312</vt:lpstr>
      <vt:lpstr>宋体</vt:lpstr>
      <vt:lpstr>-윤명조140</vt:lpstr>
      <vt:lpstr>Arial</vt:lpstr>
      <vt:lpstr>Cambria Math</vt:lpstr>
      <vt:lpstr>Symbol</vt:lpstr>
      <vt:lpstr>Times New Roman</vt:lpstr>
      <vt:lpstr>Wingdings</vt:lpstr>
      <vt:lpstr>B075</vt:lpstr>
      <vt:lpstr>3_B075</vt:lpstr>
      <vt:lpstr>1_B075</vt:lpstr>
      <vt:lpstr>Equation</vt:lpstr>
      <vt:lpstr>公式</vt:lpstr>
      <vt:lpstr>第六章   群 、环、域</vt:lpstr>
      <vt:lpstr>§6.4   群的同态及同构</vt:lpstr>
      <vt:lpstr>6.4.1  同态映射 </vt:lpstr>
      <vt:lpstr>同态映射的例 </vt:lpstr>
      <vt:lpstr>同态映射的例 </vt:lpstr>
      <vt:lpstr>同态映射的例 </vt:lpstr>
      <vt:lpstr>定理6.4.1 </vt:lpstr>
      <vt:lpstr>定理6.4.1的例 </vt:lpstr>
      <vt:lpstr>定理6.4.1 </vt:lpstr>
      <vt:lpstr>定理6.4.1 </vt:lpstr>
      <vt:lpstr>定理6.4.1 </vt:lpstr>
      <vt:lpstr>结论 </vt:lpstr>
      <vt:lpstr>6.4.2  同构映射 </vt:lpstr>
      <vt:lpstr>同构映射的例 </vt:lpstr>
      <vt:lpstr>同构映射的例 </vt:lpstr>
      <vt:lpstr>同构映射的例 </vt:lpstr>
      <vt:lpstr>同构映射的例 </vt:lpstr>
      <vt:lpstr>自同构映射 </vt:lpstr>
      <vt:lpstr>自同构映射的例 </vt:lpstr>
      <vt:lpstr>自同构映射的例—习题6.4-7 </vt:lpstr>
      <vt:lpstr>6.4.3 同态核</vt:lpstr>
      <vt:lpstr>群的第一同态定理 </vt:lpstr>
      <vt:lpstr>群的第一同态定理 </vt:lpstr>
      <vt:lpstr>群的第一同态定理 </vt:lpstr>
      <vt:lpstr>群的第一同态定理 </vt:lpstr>
      <vt:lpstr>引理1 </vt:lpstr>
      <vt:lpstr>群的第二同态定理 </vt:lpstr>
      <vt:lpstr>群的第二同态定理 </vt:lpstr>
      <vt:lpstr>PowerPoint 演示文稿</vt:lpstr>
      <vt:lpstr>群的第三同态定理 </vt:lpstr>
      <vt:lpstr>群的第三同态定理 </vt:lpstr>
      <vt:lpstr>G中子群与G’中子群的关系 </vt:lpstr>
      <vt:lpstr>G中子群与G’中子群的关系 </vt:lpstr>
      <vt:lpstr>思考</vt:lpstr>
      <vt:lpstr>例</vt:lpstr>
      <vt:lpstr>G中子群与G’中子群的关系 </vt:lpstr>
      <vt:lpstr>G中子群与G’中子群的关系 </vt:lpstr>
      <vt:lpstr>思考 </vt:lpstr>
      <vt:lpstr>定理6.4.5 </vt:lpstr>
      <vt:lpstr>定理6.4.5 </vt:lpstr>
      <vt:lpstr>定理6.4.5 </vt:lpstr>
      <vt:lpstr>定理6.4.5 </vt:lpstr>
      <vt:lpstr>G中子群与G′中子群的关系示意图1</vt:lpstr>
      <vt:lpstr>G中子群与G′中子群的关系示意图2</vt:lpstr>
    </vt:vector>
  </TitlesOfParts>
  <Company>jlu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同构及同态</dc:title>
  <dc:creator>Administrator</dc:creator>
  <cp:lastModifiedBy>Windows 用户</cp:lastModifiedBy>
  <cp:revision>752</cp:revision>
  <cp:lastPrinted>1601-01-01T00:00:00Z</cp:lastPrinted>
  <dcterms:created xsi:type="dcterms:W3CDTF">2002-08-19T06:25:27Z</dcterms:created>
  <dcterms:modified xsi:type="dcterms:W3CDTF">2025-09-28T14:18:27Z</dcterms:modified>
</cp:coreProperties>
</file>